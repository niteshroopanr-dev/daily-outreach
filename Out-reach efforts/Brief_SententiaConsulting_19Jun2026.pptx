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profit-pulse.com.au/full-suite-of-products" TargetMode="External"/><Relationship Id="rId3" Type="http://schemas.openxmlformats.org/officeDocument/2006/relationships/hyperlink" Target="https://buy.stripe.com/eVqdRad9e66cftK23Z3ks0h" TargetMode="External"/><Relationship Id="rId4" Type="http://schemas.openxmlformats.org/officeDocument/2006/relationships/hyperlink" Target="https://bookings.cloud.microsoft/book/ProfitPulse1@profit-pulse.com.au/?ismsaljsauthenabled=true" TargetMode="Externa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91440" cy="6858000"/>
          </a:xfrm>
          <a:prstGeom prst="rect">
            <a:avLst/>
          </a:prstGeom>
          <a:solidFill>
            <a:srgbClr val="F6A10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91440" y="0"/>
            <a:ext cx="12100255" cy="804672"/>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256032" y="201168"/>
            <a:ext cx="6400800" cy="365760"/>
          </a:xfrm>
          <a:prstGeom prst="rect">
            <a:avLst/>
          </a:prstGeom>
          <a:noFill/>
        </p:spPr>
        <p:txBody>
          <a:bodyPr wrap="square">
            <a:spAutoFit/>
          </a:bodyPr>
          <a:lstStyle/>
          <a:p>
            <a:pPr algn="l"/>
            <a:r>
              <a:rPr sz="1100" b="1" i="0">
                <a:solidFill>
                  <a:srgbClr val="E6E5DE"/>
                </a:solidFill>
                <a:latin typeface="Arial"/>
              </a:rPr>
              <a:t>COMMERCIAL INTELLIGENCE BRIEF</a:t>
            </a:r>
          </a:p>
        </p:txBody>
      </p:sp>
      <p:sp>
        <p:nvSpPr>
          <p:cNvPr id="5" name="TextBox 4"/>
          <p:cNvSpPr txBox="1"/>
          <p:nvPr/>
        </p:nvSpPr>
        <p:spPr>
          <a:xfrm>
            <a:off x="8686800" y="201168"/>
            <a:ext cx="3383280" cy="365760"/>
          </a:xfrm>
          <a:prstGeom prst="rect">
            <a:avLst/>
          </a:prstGeom>
          <a:noFill/>
        </p:spPr>
        <p:txBody>
          <a:bodyPr wrap="square">
            <a:spAutoFit/>
          </a:bodyPr>
          <a:lstStyle/>
          <a:p>
            <a:pPr algn="r"/>
            <a:r>
              <a:rPr sz="1100" b="1" i="0">
                <a:solidFill>
                  <a:srgbClr val="E6E5DE"/>
                </a:solidFill>
                <a:latin typeface="Arial"/>
              </a:rPr>
              <a:t>PROFITPULSE</a:t>
            </a:r>
          </a:p>
        </p:txBody>
      </p:sp>
      <p:sp>
        <p:nvSpPr>
          <p:cNvPr id="6" name="TextBox 5"/>
          <p:cNvSpPr txBox="1"/>
          <p:nvPr/>
        </p:nvSpPr>
        <p:spPr>
          <a:xfrm>
            <a:off x="256032" y="850392"/>
            <a:ext cx="9144000" cy="685800"/>
          </a:xfrm>
          <a:prstGeom prst="rect">
            <a:avLst/>
          </a:prstGeom>
          <a:noFill/>
        </p:spPr>
        <p:txBody>
          <a:bodyPr wrap="square">
            <a:spAutoFit/>
          </a:bodyPr>
          <a:lstStyle/>
          <a:p>
            <a:pPr algn="l"/>
            <a:r>
              <a:rPr sz="4000" b="1" i="0">
                <a:solidFill>
                  <a:srgbClr val="000000"/>
                </a:solidFill>
                <a:latin typeface="Georgia"/>
              </a:rPr>
              <a:t>Sententia Consulting</a:t>
            </a:r>
          </a:p>
        </p:txBody>
      </p:sp>
      <p:sp>
        <p:nvSpPr>
          <p:cNvPr id="7" name="TextBox 6"/>
          <p:cNvSpPr txBox="1"/>
          <p:nvPr/>
        </p:nvSpPr>
        <p:spPr>
          <a:xfrm>
            <a:off x="256032" y="1536192"/>
            <a:ext cx="9144000" cy="320040"/>
          </a:xfrm>
          <a:prstGeom prst="rect">
            <a:avLst/>
          </a:prstGeom>
          <a:noFill/>
        </p:spPr>
        <p:txBody>
          <a:bodyPr wrap="square">
            <a:spAutoFit/>
          </a:bodyPr>
          <a:lstStyle/>
          <a:p>
            <a:pPr algn="l"/>
            <a:r>
              <a:rPr sz="1200" b="0" i="0">
                <a:solidFill>
                  <a:srgbClr val="01A296"/>
                </a:solidFill>
                <a:latin typeface="Arial"/>
              </a:rPr>
              <a:t>Government and public sector management consultancy  |  Canberra ACT</a:t>
            </a:r>
          </a:p>
        </p:txBody>
      </p:sp>
      <p:sp>
        <p:nvSpPr>
          <p:cNvPr id="8" name="Rectangle 7"/>
          <p:cNvSpPr/>
          <p:nvPr/>
        </p:nvSpPr>
        <p:spPr>
          <a:xfrm>
            <a:off x="256032" y="1920240"/>
            <a:ext cx="1947672" cy="50800"/>
          </a:xfrm>
          <a:prstGeom prst="rect">
            <a:avLst/>
          </a:prstGeom>
          <a:solidFill>
            <a:srgbClr val="01A2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256032" y="1971040"/>
            <a:ext cx="1947672" cy="1064768"/>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65760" y="1965960"/>
            <a:ext cx="1728216" cy="411480"/>
          </a:xfrm>
          <a:prstGeom prst="rect">
            <a:avLst/>
          </a:prstGeom>
          <a:noFill/>
        </p:spPr>
        <p:txBody>
          <a:bodyPr wrap="square">
            <a:spAutoFit/>
          </a:bodyPr>
          <a:lstStyle/>
          <a:p>
            <a:pPr algn="l"/>
            <a:r>
              <a:rPr sz="2600" b="1" i="0">
                <a:solidFill>
                  <a:srgbClr val="F8C806"/>
                </a:solidFill>
                <a:latin typeface="Arial"/>
              </a:rPr>
              <a:t>Over $10M</a:t>
            </a:r>
          </a:p>
        </p:txBody>
      </p:sp>
      <p:sp>
        <p:nvSpPr>
          <p:cNvPr id="11" name="TextBox 10"/>
          <p:cNvSpPr txBox="1"/>
          <p:nvPr/>
        </p:nvSpPr>
        <p:spPr>
          <a:xfrm>
            <a:off x="365760" y="2395728"/>
            <a:ext cx="1728216" cy="201168"/>
          </a:xfrm>
          <a:prstGeom prst="rect">
            <a:avLst/>
          </a:prstGeom>
          <a:noFill/>
        </p:spPr>
        <p:txBody>
          <a:bodyPr wrap="square">
            <a:spAutoFit/>
          </a:bodyPr>
          <a:lstStyle/>
          <a:p>
            <a:pPr algn="l"/>
            <a:r>
              <a:rPr sz="900" b="0" i="0">
                <a:solidFill>
                  <a:srgbClr val="E6E5DE"/>
                </a:solidFill>
                <a:latin typeface="Arial"/>
              </a:rPr>
              <a:t>Annual revenue</a:t>
            </a:r>
          </a:p>
        </p:txBody>
      </p:sp>
      <p:sp>
        <p:nvSpPr>
          <p:cNvPr id="12" name="TextBox 11"/>
          <p:cNvSpPr txBox="1"/>
          <p:nvPr/>
        </p:nvSpPr>
        <p:spPr>
          <a:xfrm>
            <a:off x="365760" y="2578608"/>
            <a:ext cx="1728216" cy="201168"/>
          </a:xfrm>
          <a:prstGeom prst="rect">
            <a:avLst/>
          </a:prstGeom>
          <a:noFill/>
        </p:spPr>
        <p:txBody>
          <a:bodyPr wrap="square">
            <a:spAutoFit/>
          </a:bodyPr>
          <a:lstStyle/>
          <a:p>
            <a:pPr algn="l"/>
            <a:r>
              <a:rPr sz="900" b="0" i="0">
                <a:solidFill>
                  <a:srgbClr val="E6E5DE"/>
                </a:solidFill>
                <a:latin typeface="Arial"/>
              </a:rPr>
              <a:t>surpassed</a:t>
            </a:r>
          </a:p>
        </p:txBody>
      </p:sp>
      <p:sp>
        <p:nvSpPr>
          <p:cNvPr id="13" name="TextBox 12"/>
          <p:cNvSpPr txBox="1"/>
          <p:nvPr/>
        </p:nvSpPr>
        <p:spPr>
          <a:xfrm>
            <a:off x="365760" y="2779776"/>
            <a:ext cx="1728216" cy="182880"/>
          </a:xfrm>
          <a:prstGeom prst="rect">
            <a:avLst/>
          </a:prstGeom>
          <a:noFill/>
        </p:spPr>
        <p:txBody>
          <a:bodyPr wrap="square">
            <a:spAutoFit/>
          </a:bodyPr>
          <a:lstStyle/>
          <a:p>
            <a:pPr algn="l"/>
            <a:r>
              <a:rPr sz="700" b="0" i="1">
                <a:solidFill>
                  <a:srgbClr val="888888"/>
                </a:solidFill>
                <a:latin typeface="Arial"/>
              </a:rPr>
              <a:t>AFR Fast 100 2025 #45</a:t>
            </a:r>
          </a:p>
        </p:txBody>
      </p:sp>
      <p:sp>
        <p:nvSpPr>
          <p:cNvPr id="14" name="Rectangle 13"/>
          <p:cNvSpPr/>
          <p:nvPr/>
        </p:nvSpPr>
        <p:spPr>
          <a:xfrm>
            <a:off x="2221992" y="1920240"/>
            <a:ext cx="1947672" cy="50800"/>
          </a:xfrm>
          <a:prstGeom prst="rect">
            <a:avLst/>
          </a:prstGeom>
          <a:solidFill>
            <a:srgbClr val="01A2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2221992" y="1971040"/>
            <a:ext cx="1947672" cy="1064768"/>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2331720" y="1965960"/>
            <a:ext cx="1728216" cy="411480"/>
          </a:xfrm>
          <a:prstGeom prst="rect">
            <a:avLst/>
          </a:prstGeom>
          <a:noFill/>
        </p:spPr>
        <p:txBody>
          <a:bodyPr wrap="square">
            <a:spAutoFit/>
          </a:bodyPr>
          <a:lstStyle/>
          <a:p>
            <a:pPr algn="l"/>
            <a:r>
              <a:rPr sz="2600" b="1" i="0">
                <a:solidFill>
                  <a:srgbClr val="F8C806"/>
                </a:solidFill>
                <a:latin typeface="Arial"/>
              </a:rPr>
              <a:t>60.20%</a:t>
            </a:r>
          </a:p>
        </p:txBody>
      </p:sp>
      <p:sp>
        <p:nvSpPr>
          <p:cNvPr id="17" name="TextBox 16"/>
          <p:cNvSpPr txBox="1"/>
          <p:nvPr/>
        </p:nvSpPr>
        <p:spPr>
          <a:xfrm>
            <a:off x="2331720" y="2395728"/>
            <a:ext cx="1728216" cy="201168"/>
          </a:xfrm>
          <a:prstGeom prst="rect">
            <a:avLst/>
          </a:prstGeom>
          <a:noFill/>
        </p:spPr>
        <p:txBody>
          <a:bodyPr wrap="square">
            <a:spAutoFit/>
          </a:bodyPr>
          <a:lstStyle/>
          <a:p>
            <a:pPr algn="l"/>
            <a:r>
              <a:rPr sz="900" b="0" i="0">
                <a:solidFill>
                  <a:srgbClr val="E6E5DE"/>
                </a:solidFill>
                <a:latin typeface="Arial"/>
              </a:rPr>
              <a:t>Three year CAGR</a:t>
            </a:r>
          </a:p>
        </p:txBody>
      </p:sp>
      <p:sp>
        <p:nvSpPr>
          <p:cNvPr id="18" name="TextBox 17"/>
          <p:cNvSpPr txBox="1"/>
          <p:nvPr/>
        </p:nvSpPr>
        <p:spPr>
          <a:xfrm>
            <a:off x="2331720" y="2578608"/>
            <a:ext cx="1728216" cy="201168"/>
          </a:xfrm>
          <a:prstGeom prst="rect">
            <a:avLst/>
          </a:prstGeom>
          <a:noFill/>
        </p:spPr>
        <p:txBody>
          <a:bodyPr wrap="square">
            <a:spAutoFit/>
          </a:bodyPr>
          <a:lstStyle/>
          <a:p>
            <a:pPr algn="l"/>
            <a:r>
              <a:rPr sz="900" b="0" i="0">
                <a:solidFill>
                  <a:srgbClr val="E6E5DE"/>
                </a:solidFill>
                <a:latin typeface="Arial"/>
              </a:rPr>
              <a:t>compound annual</a:t>
            </a:r>
          </a:p>
        </p:txBody>
      </p:sp>
      <p:sp>
        <p:nvSpPr>
          <p:cNvPr id="19" name="TextBox 18"/>
          <p:cNvSpPr txBox="1"/>
          <p:nvPr/>
        </p:nvSpPr>
        <p:spPr>
          <a:xfrm>
            <a:off x="2331720" y="2779776"/>
            <a:ext cx="1728216" cy="182880"/>
          </a:xfrm>
          <a:prstGeom prst="rect">
            <a:avLst/>
          </a:prstGeom>
          <a:noFill/>
        </p:spPr>
        <p:txBody>
          <a:bodyPr wrap="square">
            <a:spAutoFit/>
          </a:bodyPr>
          <a:lstStyle/>
          <a:p>
            <a:pPr algn="l"/>
            <a:r>
              <a:rPr sz="700" b="0" i="1">
                <a:solidFill>
                  <a:srgbClr val="888888"/>
                </a:solidFill>
                <a:latin typeface="Arial"/>
              </a:rPr>
              <a:t>AFR Fast 100 2025</a:t>
            </a:r>
          </a:p>
        </p:txBody>
      </p:sp>
      <p:sp>
        <p:nvSpPr>
          <p:cNvPr id="20" name="Rectangle 19"/>
          <p:cNvSpPr/>
          <p:nvPr/>
        </p:nvSpPr>
        <p:spPr>
          <a:xfrm>
            <a:off x="4187952" y="1920240"/>
            <a:ext cx="1947672" cy="50800"/>
          </a:xfrm>
          <a:prstGeom prst="rect">
            <a:avLst/>
          </a:prstGeom>
          <a:solidFill>
            <a:srgbClr val="01A2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4187952" y="1971040"/>
            <a:ext cx="1947672" cy="1064768"/>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4297680" y="1965960"/>
            <a:ext cx="1728216" cy="411480"/>
          </a:xfrm>
          <a:prstGeom prst="rect">
            <a:avLst/>
          </a:prstGeom>
          <a:noFill/>
        </p:spPr>
        <p:txBody>
          <a:bodyPr wrap="square">
            <a:spAutoFit/>
          </a:bodyPr>
          <a:lstStyle/>
          <a:p>
            <a:pPr algn="l"/>
            <a:r>
              <a:rPr sz="2600" b="1" i="0">
                <a:solidFill>
                  <a:srgbClr val="F8C806"/>
                </a:solidFill>
                <a:latin typeface="Arial"/>
              </a:rPr>
              <a:t>#45</a:t>
            </a:r>
          </a:p>
        </p:txBody>
      </p:sp>
      <p:sp>
        <p:nvSpPr>
          <p:cNvPr id="23" name="TextBox 22"/>
          <p:cNvSpPr txBox="1"/>
          <p:nvPr/>
        </p:nvSpPr>
        <p:spPr>
          <a:xfrm>
            <a:off x="4297680" y="2395728"/>
            <a:ext cx="1728216" cy="201168"/>
          </a:xfrm>
          <a:prstGeom prst="rect">
            <a:avLst/>
          </a:prstGeom>
          <a:noFill/>
        </p:spPr>
        <p:txBody>
          <a:bodyPr wrap="square">
            <a:spAutoFit/>
          </a:bodyPr>
          <a:lstStyle/>
          <a:p>
            <a:pPr algn="l"/>
            <a:r>
              <a:rPr sz="900" b="0" i="0">
                <a:solidFill>
                  <a:srgbClr val="E6E5DE"/>
                </a:solidFill>
                <a:latin typeface="Arial"/>
              </a:rPr>
              <a:t>AFR Fast 100</a:t>
            </a:r>
          </a:p>
        </p:txBody>
      </p:sp>
      <p:sp>
        <p:nvSpPr>
          <p:cNvPr id="24" name="TextBox 23"/>
          <p:cNvSpPr txBox="1"/>
          <p:nvPr/>
        </p:nvSpPr>
        <p:spPr>
          <a:xfrm>
            <a:off x="4297680" y="2578608"/>
            <a:ext cx="1728216" cy="201168"/>
          </a:xfrm>
          <a:prstGeom prst="rect">
            <a:avLst/>
          </a:prstGeom>
          <a:noFill/>
        </p:spPr>
        <p:txBody>
          <a:bodyPr wrap="square">
            <a:spAutoFit/>
          </a:bodyPr>
          <a:lstStyle/>
          <a:p>
            <a:pPr algn="l"/>
            <a:r>
              <a:rPr sz="900" b="0" i="0">
                <a:solidFill>
                  <a:srgbClr val="E6E5DE"/>
                </a:solidFill>
                <a:latin typeface="Arial"/>
              </a:rPr>
              <a:t>rank 2025</a:t>
            </a:r>
          </a:p>
        </p:txBody>
      </p:sp>
      <p:sp>
        <p:nvSpPr>
          <p:cNvPr id="25" name="TextBox 24"/>
          <p:cNvSpPr txBox="1"/>
          <p:nvPr/>
        </p:nvSpPr>
        <p:spPr>
          <a:xfrm>
            <a:off x="4297680" y="2779776"/>
            <a:ext cx="1728216" cy="182880"/>
          </a:xfrm>
          <a:prstGeom prst="rect">
            <a:avLst/>
          </a:prstGeom>
          <a:noFill/>
        </p:spPr>
        <p:txBody>
          <a:bodyPr wrap="square">
            <a:spAutoFit/>
          </a:bodyPr>
          <a:lstStyle/>
          <a:p>
            <a:pPr algn="l"/>
            <a:r>
              <a:rPr sz="700" b="0" i="1">
                <a:solidFill>
                  <a:srgbClr val="888888"/>
                </a:solidFill>
                <a:latin typeface="Arial"/>
              </a:rPr>
              <a:t>AFR Fast 100 2025</a:t>
            </a:r>
          </a:p>
        </p:txBody>
      </p:sp>
      <p:sp>
        <p:nvSpPr>
          <p:cNvPr id="26" name="Rectangle 25"/>
          <p:cNvSpPr/>
          <p:nvPr/>
        </p:nvSpPr>
        <p:spPr>
          <a:xfrm>
            <a:off x="6153912" y="1920240"/>
            <a:ext cx="1947672" cy="50800"/>
          </a:xfrm>
          <a:prstGeom prst="rect">
            <a:avLst/>
          </a:prstGeom>
          <a:solidFill>
            <a:srgbClr val="01A2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6153912" y="1971040"/>
            <a:ext cx="1947672" cy="1064768"/>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263640" y="1965960"/>
            <a:ext cx="1728216" cy="411480"/>
          </a:xfrm>
          <a:prstGeom prst="rect">
            <a:avLst/>
          </a:prstGeom>
          <a:noFill/>
        </p:spPr>
        <p:txBody>
          <a:bodyPr wrap="square">
            <a:spAutoFit/>
          </a:bodyPr>
          <a:lstStyle/>
          <a:p>
            <a:pPr algn="l"/>
            <a:r>
              <a:rPr sz="2600" b="1" i="0">
                <a:solidFill>
                  <a:srgbClr val="F8C806"/>
                </a:solidFill>
                <a:latin typeface="Arial"/>
              </a:rPr>
              <a:t>2020</a:t>
            </a:r>
          </a:p>
        </p:txBody>
      </p:sp>
      <p:sp>
        <p:nvSpPr>
          <p:cNvPr id="29" name="TextBox 28"/>
          <p:cNvSpPr txBox="1"/>
          <p:nvPr/>
        </p:nvSpPr>
        <p:spPr>
          <a:xfrm>
            <a:off x="6263640" y="2395728"/>
            <a:ext cx="1728216" cy="201168"/>
          </a:xfrm>
          <a:prstGeom prst="rect">
            <a:avLst/>
          </a:prstGeom>
          <a:noFill/>
        </p:spPr>
        <p:txBody>
          <a:bodyPr wrap="square">
            <a:spAutoFit/>
          </a:bodyPr>
          <a:lstStyle/>
          <a:p>
            <a:pPr algn="l"/>
            <a:r>
              <a:rPr sz="900" b="0" i="0">
                <a:solidFill>
                  <a:srgbClr val="E6E5DE"/>
                </a:solidFill>
                <a:latin typeface="Arial"/>
              </a:rPr>
              <a:t>Year founded</a:t>
            </a:r>
          </a:p>
        </p:txBody>
      </p:sp>
      <p:sp>
        <p:nvSpPr>
          <p:cNvPr id="30" name="TextBox 29"/>
          <p:cNvSpPr txBox="1"/>
          <p:nvPr/>
        </p:nvSpPr>
        <p:spPr>
          <a:xfrm>
            <a:off x="6263640" y="2578608"/>
            <a:ext cx="1728216" cy="201168"/>
          </a:xfrm>
          <a:prstGeom prst="rect">
            <a:avLst/>
          </a:prstGeom>
          <a:noFill/>
        </p:spPr>
        <p:txBody>
          <a:bodyPr wrap="square">
            <a:spAutoFit/>
          </a:bodyPr>
          <a:lstStyle/>
          <a:p>
            <a:pPr algn="l"/>
            <a:r>
              <a:rPr sz="900" b="0" i="0">
                <a:solidFill>
                  <a:srgbClr val="E6E5DE"/>
                </a:solidFill>
                <a:latin typeface="Arial"/>
              </a:rPr>
              <a:t>two person start</a:t>
            </a:r>
          </a:p>
        </p:txBody>
      </p:sp>
      <p:sp>
        <p:nvSpPr>
          <p:cNvPr id="31" name="TextBox 30"/>
          <p:cNvSpPr txBox="1"/>
          <p:nvPr/>
        </p:nvSpPr>
        <p:spPr>
          <a:xfrm>
            <a:off x="6263640" y="2779776"/>
            <a:ext cx="1728216" cy="182880"/>
          </a:xfrm>
          <a:prstGeom prst="rect">
            <a:avLst/>
          </a:prstGeom>
          <a:noFill/>
        </p:spPr>
        <p:txBody>
          <a:bodyPr wrap="square">
            <a:spAutoFit/>
          </a:bodyPr>
          <a:lstStyle/>
          <a:p>
            <a:pPr algn="l"/>
            <a:r>
              <a:rPr sz="700" b="0" i="1">
                <a:solidFill>
                  <a:srgbClr val="888888"/>
                </a:solidFill>
                <a:latin typeface="Arial"/>
              </a:rPr>
              <a:t>Company history</a:t>
            </a:r>
          </a:p>
        </p:txBody>
      </p:sp>
      <p:sp>
        <p:nvSpPr>
          <p:cNvPr id="32" name="Rectangle 31"/>
          <p:cNvSpPr/>
          <p:nvPr/>
        </p:nvSpPr>
        <p:spPr>
          <a:xfrm>
            <a:off x="8119872" y="1920240"/>
            <a:ext cx="1947672" cy="50800"/>
          </a:xfrm>
          <a:prstGeom prst="rect">
            <a:avLst/>
          </a:prstGeom>
          <a:solidFill>
            <a:srgbClr val="01A2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8119872" y="1971040"/>
            <a:ext cx="1947672" cy="1064768"/>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8229600" y="1965960"/>
            <a:ext cx="1728216" cy="411480"/>
          </a:xfrm>
          <a:prstGeom prst="rect">
            <a:avLst/>
          </a:prstGeom>
          <a:noFill/>
        </p:spPr>
        <p:txBody>
          <a:bodyPr wrap="square">
            <a:spAutoFit/>
          </a:bodyPr>
          <a:lstStyle/>
          <a:p>
            <a:pPr algn="l"/>
            <a:r>
              <a:rPr sz="2600" b="1" i="0">
                <a:solidFill>
                  <a:srgbClr val="F8C806"/>
                </a:solidFill>
                <a:latin typeface="Arial"/>
              </a:rPr>
              <a:t>50+</a:t>
            </a:r>
          </a:p>
        </p:txBody>
      </p:sp>
      <p:sp>
        <p:nvSpPr>
          <p:cNvPr id="35" name="TextBox 34"/>
          <p:cNvSpPr txBox="1"/>
          <p:nvPr/>
        </p:nvSpPr>
        <p:spPr>
          <a:xfrm>
            <a:off x="8229600" y="2395728"/>
            <a:ext cx="1728216" cy="201168"/>
          </a:xfrm>
          <a:prstGeom prst="rect">
            <a:avLst/>
          </a:prstGeom>
          <a:noFill/>
        </p:spPr>
        <p:txBody>
          <a:bodyPr wrap="square">
            <a:spAutoFit/>
          </a:bodyPr>
          <a:lstStyle/>
          <a:p>
            <a:pPr algn="l"/>
            <a:r>
              <a:rPr sz="900" b="0" i="0">
                <a:solidFill>
                  <a:srgbClr val="E6E5DE"/>
                </a:solidFill>
                <a:latin typeface="Arial"/>
              </a:rPr>
              <a:t>Government and</a:t>
            </a:r>
          </a:p>
        </p:txBody>
      </p:sp>
      <p:sp>
        <p:nvSpPr>
          <p:cNvPr id="36" name="TextBox 35"/>
          <p:cNvSpPr txBox="1"/>
          <p:nvPr/>
        </p:nvSpPr>
        <p:spPr>
          <a:xfrm>
            <a:off x="8229600" y="2578608"/>
            <a:ext cx="1728216" cy="201168"/>
          </a:xfrm>
          <a:prstGeom prst="rect">
            <a:avLst/>
          </a:prstGeom>
          <a:noFill/>
        </p:spPr>
        <p:txBody>
          <a:bodyPr wrap="square">
            <a:spAutoFit/>
          </a:bodyPr>
          <a:lstStyle/>
          <a:p>
            <a:pPr algn="l"/>
            <a:r>
              <a:rPr sz="900" b="0" i="0">
                <a:solidFill>
                  <a:srgbClr val="E6E5DE"/>
                </a:solidFill>
                <a:latin typeface="Arial"/>
              </a:rPr>
              <a:t>sector clients</a:t>
            </a:r>
          </a:p>
        </p:txBody>
      </p:sp>
      <p:sp>
        <p:nvSpPr>
          <p:cNvPr id="37" name="TextBox 36"/>
          <p:cNvSpPr txBox="1"/>
          <p:nvPr/>
        </p:nvSpPr>
        <p:spPr>
          <a:xfrm>
            <a:off x="8229600" y="2779776"/>
            <a:ext cx="1728216" cy="182880"/>
          </a:xfrm>
          <a:prstGeom prst="rect">
            <a:avLst/>
          </a:prstGeom>
          <a:noFill/>
        </p:spPr>
        <p:txBody>
          <a:bodyPr wrap="square">
            <a:spAutoFit/>
          </a:bodyPr>
          <a:lstStyle/>
          <a:p>
            <a:pPr algn="l"/>
            <a:r>
              <a:rPr sz="700" b="0" i="1">
                <a:solidFill>
                  <a:srgbClr val="888888"/>
                </a:solidFill>
                <a:latin typeface="Arial"/>
              </a:rPr>
              <a:t>sententiaconsulting.com.au</a:t>
            </a:r>
          </a:p>
        </p:txBody>
      </p:sp>
      <p:sp>
        <p:nvSpPr>
          <p:cNvPr id="38" name="Rectangle 37"/>
          <p:cNvSpPr/>
          <p:nvPr/>
        </p:nvSpPr>
        <p:spPr>
          <a:xfrm>
            <a:off x="10085832" y="1920240"/>
            <a:ext cx="1947672" cy="50800"/>
          </a:xfrm>
          <a:prstGeom prst="rect">
            <a:avLst/>
          </a:prstGeom>
          <a:solidFill>
            <a:srgbClr val="01A2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ectangle 38"/>
          <p:cNvSpPr/>
          <p:nvPr/>
        </p:nvSpPr>
        <p:spPr>
          <a:xfrm>
            <a:off x="10085832" y="1971040"/>
            <a:ext cx="1947672" cy="1064768"/>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10195560" y="1965960"/>
            <a:ext cx="1728216" cy="411480"/>
          </a:xfrm>
          <a:prstGeom prst="rect">
            <a:avLst/>
          </a:prstGeom>
          <a:noFill/>
        </p:spPr>
        <p:txBody>
          <a:bodyPr wrap="square">
            <a:spAutoFit/>
          </a:bodyPr>
          <a:lstStyle/>
          <a:p>
            <a:pPr algn="l"/>
            <a:r>
              <a:rPr sz="2600" b="1" i="0">
                <a:solidFill>
                  <a:srgbClr val="F8C806"/>
                </a:solidFill>
                <a:latin typeface="Arial"/>
              </a:rPr>
              <a:t>#28</a:t>
            </a:r>
          </a:p>
        </p:txBody>
      </p:sp>
      <p:sp>
        <p:nvSpPr>
          <p:cNvPr id="41" name="TextBox 40"/>
          <p:cNvSpPr txBox="1"/>
          <p:nvPr/>
        </p:nvSpPr>
        <p:spPr>
          <a:xfrm>
            <a:off x="10195560" y="2395728"/>
            <a:ext cx="1728216" cy="201168"/>
          </a:xfrm>
          <a:prstGeom prst="rect">
            <a:avLst/>
          </a:prstGeom>
          <a:noFill/>
        </p:spPr>
        <p:txBody>
          <a:bodyPr wrap="square">
            <a:spAutoFit/>
          </a:bodyPr>
          <a:lstStyle/>
          <a:p>
            <a:pPr algn="l"/>
            <a:r>
              <a:rPr sz="900" b="0" i="0">
                <a:solidFill>
                  <a:srgbClr val="E6E5DE"/>
                </a:solidFill>
                <a:latin typeface="Arial"/>
              </a:rPr>
              <a:t>AFR Fast Starters</a:t>
            </a:r>
          </a:p>
        </p:txBody>
      </p:sp>
      <p:sp>
        <p:nvSpPr>
          <p:cNvPr id="42" name="TextBox 41"/>
          <p:cNvSpPr txBox="1"/>
          <p:nvPr/>
        </p:nvSpPr>
        <p:spPr>
          <a:xfrm>
            <a:off x="10195560" y="2578608"/>
            <a:ext cx="1728216" cy="201168"/>
          </a:xfrm>
          <a:prstGeom prst="rect">
            <a:avLst/>
          </a:prstGeom>
          <a:noFill/>
        </p:spPr>
        <p:txBody>
          <a:bodyPr wrap="square">
            <a:spAutoFit/>
          </a:bodyPr>
          <a:lstStyle/>
          <a:p>
            <a:pPr algn="l"/>
            <a:r>
              <a:rPr sz="900" b="0" i="0">
                <a:solidFill>
                  <a:srgbClr val="E6E5DE"/>
                </a:solidFill>
                <a:latin typeface="Arial"/>
              </a:rPr>
              <a:t>rank 2022</a:t>
            </a:r>
          </a:p>
        </p:txBody>
      </p:sp>
      <p:sp>
        <p:nvSpPr>
          <p:cNvPr id="43" name="TextBox 42"/>
          <p:cNvSpPr txBox="1"/>
          <p:nvPr/>
        </p:nvSpPr>
        <p:spPr>
          <a:xfrm>
            <a:off x="10195560" y="2779776"/>
            <a:ext cx="1728216" cy="182880"/>
          </a:xfrm>
          <a:prstGeom prst="rect">
            <a:avLst/>
          </a:prstGeom>
          <a:noFill/>
        </p:spPr>
        <p:txBody>
          <a:bodyPr wrap="square">
            <a:spAutoFit/>
          </a:bodyPr>
          <a:lstStyle/>
          <a:p>
            <a:pPr algn="l"/>
            <a:r>
              <a:rPr sz="700" b="0" i="1">
                <a:solidFill>
                  <a:srgbClr val="888888"/>
                </a:solidFill>
                <a:latin typeface="Arial"/>
              </a:rPr>
              <a:t>AFR Fast Starters 2022</a:t>
            </a:r>
          </a:p>
        </p:txBody>
      </p:sp>
      <p:sp>
        <p:nvSpPr>
          <p:cNvPr id="44" name="TextBox 43"/>
          <p:cNvSpPr txBox="1"/>
          <p:nvPr/>
        </p:nvSpPr>
        <p:spPr>
          <a:xfrm>
            <a:off x="256032" y="3127248"/>
            <a:ext cx="9144000" cy="274320"/>
          </a:xfrm>
          <a:prstGeom prst="rect">
            <a:avLst/>
          </a:prstGeom>
          <a:noFill/>
        </p:spPr>
        <p:txBody>
          <a:bodyPr wrap="square">
            <a:spAutoFit/>
          </a:bodyPr>
          <a:lstStyle/>
          <a:p>
            <a:pPr algn="l"/>
            <a:r>
              <a:rPr sz="1000" b="1" i="0">
                <a:solidFill>
                  <a:srgbClr val="01A296"/>
                </a:solidFill>
                <a:latin typeface="Arial"/>
              </a:rPr>
              <a:t>KEY COMMERCIAL SIGNALS</a:t>
            </a:r>
          </a:p>
        </p:txBody>
      </p:sp>
      <p:sp>
        <p:nvSpPr>
          <p:cNvPr id="45" name="Rectangle 44"/>
          <p:cNvSpPr/>
          <p:nvPr/>
        </p:nvSpPr>
        <p:spPr>
          <a:xfrm>
            <a:off x="256032" y="3520440"/>
            <a:ext cx="54864" cy="54864"/>
          </a:xfrm>
          <a:prstGeom prst="rect">
            <a:avLst/>
          </a:prstGeom>
          <a:solidFill>
            <a:srgbClr val="01A2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384048" y="3447288"/>
            <a:ext cx="9601200" cy="256032"/>
          </a:xfrm>
          <a:prstGeom prst="rect">
            <a:avLst/>
          </a:prstGeom>
          <a:noFill/>
        </p:spPr>
        <p:txBody>
          <a:bodyPr wrap="square">
            <a:spAutoFit/>
          </a:bodyPr>
          <a:lstStyle/>
          <a:p>
            <a:pPr algn="l"/>
            <a:r>
              <a:rPr sz="1100" b="0" i="0">
                <a:solidFill>
                  <a:srgbClr val="000000"/>
                </a:solidFill>
                <a:latin typeface="Arial"/>
              </a:rPr>
              <a:t>Revenue tripled in under five years via 240% jump in government contract value</a:t>
            </a:r>
          </a:p>
        </p:txBody>
      </p:sp>
      <p:sp>
        <p:nvSpPr>
          <p:cNvPr id="47" name="TextBox 46"/>
          <p:cNvSpPr txBox="1"/>
          <p:nvPr/>
        </p:nvSpPr>
        <p:spPr>
          <a:xfrm>
            <a:off x="384048" y="3703320"/>
            <a:ext cx="9601200" cy="164592"/>
          </a:xfrm>
          <a:prstGeom prst="rect">
            <a:avLst/>
          </a:prstGeom>
          <a:noFill/>
        </p:spPr>
        <p:txBody>
          <a:bodyPr wrap="square">
            <a:spAutoFit/>
          </a:bodyPr>
          <a:lstStyle/>
          <a:p>
            <a:pPr algn="l"/>
            <a:r>
              <a:rPr sz="800" b="0" i="1">
                <a:solidFill>
                  <a:srgbClr val="888888"/>
                </a:solidFill>
                <a:latin typeface="Arial"/>
              </a:rPr>
              <a:t>Source: consultancy.com.au</a:t>
            </a:r>
          </a:p>
        </p:txBody>
      </p:sp>
      <p:sp>
        <p:nvSpPr>
          <p:cNvPr id="48" name="Rectangle 47"/>
          <p:cNvSpPr/>
          <p:nvPr/>
        </p:nvSpPr>
        <p:spPr>
          <a:xfrm>
            <a:off x="256032" y="3977640"/>
            <a:ext cx="54864" cy="54864"/>
          </a:xfrm>
          <a:prstGeom prst="rect">
            <a:avLst/>
          </a:prstGeom>
          <a:solidFill>
            <a:srgbClr val="01A2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384048" y="3904488"/>
            <a:ext cx="9601200" cy="256032"/>
          </a:xfrm>
          <a:prstGeom prst="rect">
            <a:avLst/>
          </a:prstGeom>
          <a:noFill/>
        </p:spPr>
        <p:txBody>
          <a:bodyPr wrap="square">
            <a:spAutoFit/>
          </a:bodyPr>
          <a:lstStyle/>
          <a:p>
            <a:pPr algn="l"/>
            <a:r>
              <a:rPr sz="1100" b="0" i="0">
                <a:solidFill>
                  <a:srgbClr val="000000"/>
                </a:solidFill>
                <a:latin typeface="Arial"/>
              </a:rPr>
              <a:t>AFR Fast 100 2025 rank 45 with 60.20% CAGR, following AFR Fast Starters 2022 rank 28</a:t>
            </a:r>
          </a:p>
        </p:txBody>
      </p:sp>
      <p:sp>
        <p:nvSpPr>
          <p:cNvPr id="50" name="TextBox 49"/>
          <p:cNvSpPr txBox="1"/>
          <p:nvPr/>
        </p:nvSpPr>
        <p:spPr>
          <a:xfrm>
            <a:off x="384048" y="4160520"/>
            <a:ext cx="9601200" cy="164592"/>
          </a:xfrm>
          <a:prstGeom prst="rect">
            <a:avLst/>
          </a:prstGeom>
          <a:noFill/>
        </p:spPr>
        <p:txBody>
          <a:bodyPr wrap="square">
            <a:spAutoFit/>
          </a:bodyPr>
          <a:lstStyle/>
          <a:p>
            <a:pPr algn="l"/>
            <a:r>
              <a:rPr sz="800" b="0" i="1">
                <a:solidFill>
                  <a:srgbClr val="888888"/>
                </a:solidFill>
                <a:latin typeface="Arial"/>
              </a:rPr>
              <a:t>Source: AFR award citations</a:t>
            </a:r>
          </a:p>
        </p:txBody>
      </p:sp>
      <p:sp>
        <p:nvSpPr>
          <p:cNvPr id="51" name="Rectangle 50"/>
          <p:cNvSpPr/>
          <p:nvPr/>
        </p:nvSpPr>
        <p:spPr>
          <a:xfrm>
            <a:off x="256032" y="4434840"/>
            <a:ext cx="54864" cy="54864"/>
          </a:xfrm>
          <a:prstGeom prst="rect">
            <a:avLst/>
          </a:prstGeom>
          <a:solidFill>
            <a:srgbClr val="01A2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384048" y="4361688"/>
            <a:ext cx="9601200" cy="256032"/>
          </a:xfrm>
          <a:prstGeom prst="rect">
            <a:avLst/>
          </a:prstGeom>
          <a:noFill/>
        </p:spPr>
        <p:txBody>
          <a:bodyPr wrap="square">
            <a:spAutoFit/>
          </a:bodyPr>
          <a:lstStyle/>
          <a:p>
            <a:pPr algn="l"/>
            <a:r>
              <a:rPr sz="1100" b="0" i="0">
                <a:solidFill>
                  <a:srgbClr val="000000"/>
                </a:solidFill>
                <a:latin typeface="Arial"/>
              </a:rPr>
              <a:t>National expansion: Melbourne office open, dedicated Managing Director appointed</a:t>
            </a:r>
          </a:p>
        </p:txBody>
      </p:sp>
      <p:sp>
        <p:nvSpPr>
          <p:cNvPr id="53" name="TextBox 52"/>
          <p:cNvSpPr txBox="1"/>
          <p:nvPr/>
        </p:nvSpPr>
        <p:spPr>
          <a:xfrm>
            <a:off x="384048" y="4617720"/>
            <a:ext cx="9601200" cy="164592"/>
          </a:xfrm>
          <a:prstGeom prst="rect">
            <a:avLst/>
          </a:prstGeom>
          <a:noFill/>
        </p:spPr>
        <p:txBody>
          <a:bodyPr wrap="square">
            <a:spAutoFit/>
          </a:bodyPr>
          <a:lstStyle/>
          <a:p>
            <a:pPr algn="l"/>
            <a:r>
              <a:rPr sz="800" b="0" i="1">
                <a:solidFill>
                  <a:srgbClr val="888888"/>
                </a:solidFill>
                <a:latin typeface="Arial"/>
              </a:rPr>
              <a:t>Source: consultancy.com.au</a:t>
            </a:r>
          </a:p>
        </p:txBody>
      </p:sp>
      <p:sp>
        <p:nvSpPr>
          <p:cNvPr id="54" name="Rectangle 53"/>
          <p:cNvSpPr/>
          <p:nvPr/>
        </p:nvSpPr>
        <p:spPr>
          <a:xfrm>
            <a:off x="256032" y="4892040"/>
            <a:ext cx="54864" cy="54864"/>
          </a:xfrm>
          <a:prstGeom prst="rect">
            <a:avLst/>
          </a:prstGeom>
          <a:solidFill>
            <a:srgbClr val="01A2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384048" y="4818888"/>
            <a:ext cx="9601200" cy="256032"/>
          </a:xfrm>
          <a:prstGeom prst="rect">
            <a:avLst/>
          </a:prstGeom>
          <a:noFill/>
        </p:spPr>
        <p:txBody>
          <a:bodyPr wrap="square">
            <a:spAutoFit/>
          </a:bodyPr>
          <a:lstStyle/>
          <a:p>
            <a:pPr algn="l"/>
            <a:r>
              <a:rPr sz="1100" b="0" i="0">
                <a:solidFill>
                  <a:srgbClr val="000000"/>
                </a:solidFill>
                <a:latin typeface="Arial"/>
              </a:rPr>
              <a:t>Major recruitment drive including professionals from Protiviti and other firms</a:t>
            </a:r>
          </a:p>
        </p:txBody>
      </p:sp>
      <p:sp>
        <p:nvSpPr>
          <p:cNvPr id="56" name="TextBox 55"/>
          <p:cNvSpPr txBox="1"/>
          <p:nvPr/>
        </p:nvSpPr>
        <p:spPr>
          <a:xfrm>
            <a:off x="384048" y="5074920"/>
            <a:ext cx="9601200" cy="164592"/>
          </a:xfrm>
          <a:prstGeom prst="rect">
            <a:avLst/>
          </a:prstGeom>
          <a:noFill/>
        </p:spPr>
        <p:txBody>
          <a:bodyPr wrap="square">
            <a:spAutoFit/>
          </a:bodyPr>
          <a:lstStyle/>
          <a:p>
            <a:pPr algn="l"/>
            <a:r>
              <a:rPr sz="800" b="0" i="1">
                <a:solidFill>
                  <a:srgbClr val="888888"/>
                </a:solidFill>
                <a:latin typeface="Arial"/>
              </a:rPr>
              <a:t>Source: consultancy.com.au</a:t>
            </a:r>
          </a:p>
        </p:txBody>
      </p:sp>
      <p:sp>
        <p:nvSpPr>
          <p:cNvPr id="57" name="Rectangle 56"/>
          <p:cNvSpPr/>
          <p:nvPr/>
        </p:nvSpPr>
        <p:spPr>
          <a:xfrm>
            <a:off x="256032" y="5349240"/>
            <a:ext cx="54864" cy="54864"/>
          </a:xfrm>
          <a:prstGeom prst="rect">
            <a:avLst/>
          </a:prstGeom>
          <a:solidFill>
            <a:srgbClr val="01A2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TextBox 57"/>
          <p:cNvSpPr txBox="1"/>
          <p:nvPr/>
        </p:nvSpPr>
        <p:spPr>
          <a:xfrm>
            <a:off x="384048" y="5276088"/>
            <a:ext cx="9601200" cy="256032"/>
          </a:xfrm>
          <a:prstGeom prst="rect">
            <a:avLst/>
          </a:prstGeom>
          <a:noFill/>
        </p:spPr>
        <p:txBody>
          <a:bodyPr wrap="square">
            <a:spAutoFit/>
          </a:bodyPr>
          <a:lstStyle/>
          <a:p>
            <a:pPr algn="l"/>
            <a:r>
              <a:rPr sz="1100" b="0" i="0">
                <a:solidFill>
                  <a:srgbClr val="000000"/>
                </a:solidFill>
                <a:latin typeface="Arial"/>
              </a:rPr>
              <a:t>Active 2025 Graduate Program with applications open, sustained team scaling</a:t>
            </a:r>
          </a:p>
        </p:txBody>
      </p:sp>
      <p:sp>
        <p:nvSpPr>
          <p:cNvPr id="59" name="TextBox 58"/>
          <p:cNvSpPr txBox="1"/>
          <p:nvPr/>
        </p:nvSpPr>
        <p:spPr>
          <a:xfrm>
            <a:off x="384048" y="5532120"/>
            <a:ext cx="9601200" cy="164592"/>
          </a:xfrm>
          <a:prstGeom prst="rect">
            <a:avLst/>
          </a:prstGeom>
          <a:noFill/>
        </p:spPr>
        <p:txBody>
          <a:bodyPr wrap="square">
            <a:spAutoFit/>
          </a:bodyPr>
          <a:lstStyle/>
          <a:p>
            <a:pPr algn="l"/>
            <a:r>
              <a:rPr sz="800" b="0" i="1">
                <a:solidFill>
                  <a:srgbClr val="888888"/>
                </a:solidFill>
                <a:latin typeface="Arial"/>
              </a:rPr>
              <a:t>Source: sententiaconsulting.com.au</a:t>
            </a:r>
          </a:p>
        </p:txBody>
      </p:sp>
      <p:sp>
        <p:nvSpPr>
          <p:cNvPr id="60" name="Rectangle 59"/>
          <p:cNvSpPr/>
          <p:nvPr/>
        </p:nvSpPr>
        <p:spPr>
          <a:xfrm>
            <a:off x="256032" y="5806440"/>
            <a:ext cx="54864" cy="54864"/>
          </a:xfrm>
          <a:prstGeom prst="rect">
            <a:avLst/>
          </a:prstGeom>
          <a:solidFill>
            <a:srgbClr val="01A2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TextBox 60"/>
          <p:cNvSpPr txBox="1"/>
          <p:nvPr/>
        </p:nvSpPr>
        <p:spPr>
          <a:xfrm>
            <a:off x="384048" y="5733288"/>
            <a:ext cx="9601200" cy="256032"/>
          </a:xfrm>
          <a:prstGeom prst="rect">
            <a:avLst/>
          </a:prstGeom>
          <a:noFill/>
        </p:spPr>
        <p:txBody>
          <a:bodyPr wrap="square">
            <a:spAutoFit/>
          </a:bodyPr>
          <a:lstStyle/>
          <a:p>
            <a:pPr algn="l"/>
            <a:r>
              <a:rPr sz="1100" b="0" i="0">
                <a:solidFill>
                  <a:srgbClr val="000000"/>
                </a:solidFill>
                <a:latin typeface="Arial"/>
              </a:rPr>
              <a:t>50+ clients across federal, state, and territory government and sector</a:t>
            </a:r>
          </a:p>
        </p:txBody>
      </p:sp>
      <p:sp>
        <p:nvSpPr>
          <p:cNvPr id="62" name="TextBox 61"/>
          <p:cNvSpPr txBox="1"/>
          <p:nvPr/>
        </p:nvSpPr>
        <p:spPr>
          <a:xfrm>
            <a:off x="384048" y="5989320"/>
            <a:ext cx="9601200" cy="164592"/>
          </a:xfrm>
          <a:prstGeom prst="rect">
            <a:avLst/>
          </a:prstGeom>
          <a:noFill/>
        </p:spPr>
        <p:txBody>
          <a:bodyPr wrap="square">
            <a:spAutoFit/>
          </a:bodyPr>
          <a:lstStyle/>
          <a:p>
            <a:pPr algn="l"/>
            <a:r>
              <a:rPr sz="800" b="0" i="1">
                <a:solidFill>
                  <a:srgbClr val="888888"/>
                </a:solidFill>
                <a:latin typeface="Arial"/>
              </a:rPr>
              <a:t>Source: sententiaconsulting.com.au</a:t>
            </a:r>
          </a:p>
        </p:txBody>
      </p:sp>
      <p:sp>
        <p:nvSpPr>
          <p:cNvPr id="63" name="Rectangle 62"/>
          <p:cNvSpPr/>
          <p:nvPr/>
        </p:nvSpPr>
        <p:spPr>
          <a:xfrm>
            <a:off x="256032" y="6355080"/>
            <a:ext cx="11844223" cy="12700"/>
          </a:xfrm>
          <a:prstGeom prst="rect">
            <a:avLst/>
          </a:prstGeom>
          <a:solidFill>
            <a:srgbClr val="CCCC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TextBox 63"/>
          <p:cNvSpPr txBox="1"/>
          <p:nvPr/>
        </p:nvSpPr>
        <p:spPr>
          <a:xfrm>
            <a:off x="256032" y="6400800"/>
            <a:ext cx="8229600" cy="347472"/>
          </a:xfrm>
          <a:prstGeom prst="rect">
            <a:avLst/>
          </a:prstGeom>
          <a:noFill/>
        </p:spPr>
        <p:txBody>
          <a:bodyPr wrap="square">
            <a:spAutoFit/>
          </a:bodyPr>
          <a:lstStyle/>
          <a:p>
            <a:pPr algn="l"/>
            <a:r>
              <a:rPr sz="800" b="0" i="0">
                <a:solidFill>
                  <a:srgbClr val="444444"/>
                </a:solidFill>
                <a:latin typeface="Arial"/>
              </a:rPr>
              <a:t>Prepared by Nitesh Roopa CA, Managing Partner and Founder, ProfitPulse, Profit-Pulse.com.au</a:t>
            </a:r>
          </a:p>
        </p:txBody>
      </p:sp>
      <p:sp>
        <p:nvSpPr>
          <p:cNvPr id="65" name="TextBox 64"/>
          <p:cNvSpPr txBox="1"/>
          <p:nvPr/>
        </p:nvSpPr>
        <p:spPr>
          <a:xfrm>
            <a:off x="9601200" y="6400800"/>
            <a:ext cx="2377440" cy="347472"/>
          </a:xfrm>
          <a:prstGeom prst="rect">
            <a:avLst/>
          </a:prstGeom>
          <a:noFill/>
        </p:spPr>
        <p:txBody>
          <a:bodyPr wrap="square">
            <a:spAutoFit/>
          </a:bodyPr>
          <a:lstStyle/>
          <a:p>
            <a:pPr algn="r"/>
            <a:r>
              <a:rPr sz="800" b="0" i="0">
                <a:solidFill>
                  <a:srgbClr val="444444"/>
                </a:solidFill>
                <a:latin typeface="Arial"/>
              </a:rPr>
              <a:t>19 Jun 2026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91440" cy="6858000"/>
          </a:xfrm>
          <a:prstGeom prst="rect">
            <a:avLst/>
          </a:prstGeom>
          <a:solidFill>
            <a:srgbClr val="F6A10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91440" y="0"/>
            <a:ext cx="12100255" cy="804672"/>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256032" y="201168"/>
            <a:ext cx="6400800" cy="365760"/>
          </a:xfrm>
          <a:prstGeom prst="rect">
            <a:avLst/>
          </a:prstGeom>
          <a:noFill/>
        </p:spPr>
        <p:txBody>
          <a:bodyPr wrap="square">
            <a:spAutoFit/>
          </a:bodyPr>
          <a:lstStyle/>
          <a:p>
            <a:pPr algn="l"/>
            <a:r>
              <a:rPr sz="1100" b="1" i="0">
                <a:solidFill>
                  <a:srgbClr val="E6E5DE"/>
                </a:solidFill>
                <a:latin typeface="Arial"/>
              </a:rPr>
              <a:t>THE OPPORTUNITY</a:t>
            </a:r>
          </a:p>
        </p:txBody>
      </p:sp>
      <p:sp>
        <p:nvSpPr>
          <p:cNvPr id="5" name="TextBox 4"/>
          <p:cNvSpPr txBox="1"/>
          <p:nvPr/>
        </p:nvSpPr>
        <p:spPr>
          <a:xfrm>
            <a:off x="8686800" y="201168"/>
            <a:ext cx="3383280" cy="365760"/>
          </a:xfrm>
          <a:prstGeom prst="rect">
            <a:avLst/>
          </a:prstGeom>
          <a:noFill/>
        </p:spPr>
        <p:txBody>
          <a:bodyPr wrap="square">
            <a:spAutoFit/>
          </a:bodyPr>
          <a:lstStyle/>
          <a:p>
            <a:pPr algn="r"/>
            <a:r>
              <a:rPr sz="1100" b="1" i="0">
                <a:solidFill>
                  <a:srgbClr val="E6E5DE"/>
                </a:solidFill>
                <a:latin typeface="Arial"/>
              </a:rPr>
              <a:t>SENTENTIA CONSULTING</a:t>
            </a:r>
          </a:p>
        </p:txBody>
      </p:sp>
      <p:sp>
        <p:nvSpPr>
          <p:cNvPr id="6" name="TextBox 5"/>
          <p:cNvSpPr txBox="1"/>
          <p:nvPr/>
        </p:nvSpPr>
        <p:spPr>
          <a:xfrm>
            <a:off x="256032" y="841248"/>
            <a:ext cx="11430000" cy="347472"/>
          </a:xfrm>
          <a:prstGeom prst="rect">
            <a:avLst/>
          </a:prstGeom>
          <a:noFill/>
        </p:spPr>
        <p:txBody>
          <a:bodyPr wrap="square">
            <a:spAutoFit/>
          </a:bodyPr>
          <a:lstStyle/>
          <a:p>
            <a:pPr algn="l"/>
            <a:r>
              <a:rPr sz="1200" b="0" i="0">
                <a:solidFill>
                  <a:srgbClr val="000000"/>
                </a:solidFill>
                <a:latin typeface="Arial"/>
              </a:rPr>
              <a:t>Sententia Consulting  |  Three commercial observations from ProfitPulse</a:t>
            </a:r>
          </a:p>
        </p:txBody>
      </p:sp>
      <p:sp>
        <p:nvSpPr>
          <p:cNvPr id="7" name="Rectangle 6"/>
          <p:cNvSpPr/>
          <p:nvPr/>
        </p:nvSpPr>
        <p:spPr>
          <a:xfrm>
            <a:off x="256032" y="1280160"/>
            <a:ext cx="3954170" cy="4892040"/>
          </a:xfrm>
          <a:prstGeom prst="rect">
            <a:avLst/>
          </a:prstGeom>
          <a:solidFill>
            <a:srgbClr val="01A2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20624" y="1444752"/>
            <a:ext cx="3624986" cy="502920"/>
          </a:xfrm>
          <a:prstGeom prst="rect">
            <a:avLst/>
          </a:prstGeom>
          <a:noFill/>
        </p:spPr>
        <p:txBody>
          <a:bodyPr wrap="square">
            <a:spAutoFit/>
          </a:bodyPr>
          <a:lstStyle/>
          <a:p>
            <a:pPr algn="l"/>
            <a:r>
              <a:rPr sz="3600" b="1" i="0">
                <a:solidFill>
                  <a:srgbClr val="FFFFFF"/>
                </a:solidFill>
                <a:latin typeface="Georgia"/>
              </a:rPr>
              <a:t>01</a:t>
            </a:r>
          </a:p>
        </p:txBody>
      </p:sp>
      <p:sp>
        <p:nvSpPr>
          <p:cNvPr id="9" name="TextBox 8"/>
          <p:cNvSpPr txBox="1"/>
          <p:nvPr/>
        </p:nvSpPr>
        <p:spPr>
          <a:xfrm>
            <a:off x="420624" y="1965960"/>
            <a:ext cx="3624986" cy="685800"/>
          </a:xfrm>
          <a:prstGeom prst="rect">
            <a:avLst/>
          </a:prstGeom>
          <a:noFill/>
        </p:spPr>
        <p:txBody>
          <a:bodyPr wrap="square">
            <a:spAutoFit/>
          </a:bodyPr>
          <a:lstStyle/>
          <a:p>
            <a:pPr algn="l"/>
            <a:r>
              <a:rPr sz="1200" b="1" i="0">
                <a:solidFill>
                  <a:srgbClr val="FFFFFF"/>
                </a:solidFill>
                <a:latin typeface="Arial"/>
              </a:rPr>
              <a:t>Financial architecture has not kept pace with the growth</a:t>
            </a:r>
          </a:p>
        </p:txBody>
      </p:sp>
      <p:sp>
        <p:nvSpPr>
          <p:cNvPr id="10" name="TextBox 9"/>
          <p:cNvSpPr txBox="1"/>
          <p:nvPr/>
        </p:nvSpPr>
        <p:spPr>
          <a:xfrm>
            <a:off x="420624" y="2651760"/>
            <a:ext cx="3624986" cy="3291840"/>
          </a:xfrm>
          <a:prstGeom prst="rect">
            <a:avLst/>
          </a:prstGeom>
          <a:noFill/>
        </p:spPr>
        <p:txBody>
          <a:bodyPr wrap="square">
            <a:spAutoFit/>
          </a:bodyPr>
          <a:lstStyle/>
          <a:p>
            <a:pPr algn="l"/>
            <a:r>
              <a:rPr sz="1050" b="0" i="0">
                <a:solidFill>
                  <a:srgbClr val="000000"/>
                </a:solidFill>
                <a:latin typeface="Arial"/>
              </a:rPr>
              <a:t>Sententia has tripled its revenue on the back of government contract wins. That is the momentum. The question a senior finance professional asks next is whether the business knows which contracts produce the best margin after full cost allocation. At $10 million in government consulting revenue, the difference between a high margin engagement and a breakeven one is rarely visible without a deliberate diagnostic. The Strategic Growth Diagnostic maps exactly that.</a:t>
            </a:r>
          </a:p>
        </p:txBody>
      </p:sp>
      <p:sp>
        <p:nvSpPr>
          <p:cNvPr id="11" name="Rectangle 10"/>
          <p:cNvSpPr/>
          <p:nvPr/>
        </p:nvSpPr>
        <p:spPr>
          <a:xfrm>
            <a:off x="4210202" y="1280160"/>
            <a:ext cx="3954170" cy="489204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374794" y="1444752"/>
            <a:ext cx="3624986" cy="502920"/>
          </a:xfrm>
          <a:prstGeom prst="rect">
            <a:avLst/>
          </a:prstGeom>
          <a:noFill/>
        </p:spPr>
        <p:txBody>
          <a:bodyPr wrap="square">
            <a:spAutoFit/>
          </a:bodyPr>
          <a:lstStyle/>
          <a:p>
            <a:pPr algn="l"/>
            <a:r>
              <a:rPr sz="3600" b="1" i="0">
                <a:solidFill>
                  <a:srgbClr val="F8C806"/>
                </a:solidFill>
                <a:latin typeface="Georgia"/>
              </a:rPr>
              <a:t>02</a:t>
            </a:r>
          </a:p>
        </p:txBody>
      </p:sp>
      <p:sp>
        <p:nvSpPr>
          <p:cNvPr id="13" name="TextBox 12"/>
          <p:cNvSpPr txBox="1"/>
          <p:nvPr/>
        </p:nvSpPr>
        <p:spPr>
          <a:xfrm>
            <a:off x="4374794" y="1965960"/>
            <a:ext cx="3624986" cy="685800"/>
          </a:xfrm>
          <a:prstGeom prst="rect">
            <a:avLst/>
          </a:prstGeom>
          <a:noFill/>
        </p:spPr>
        <p:txBody>
          <a:bodyPr wrap="square">
            <a:spAutoFit/>
          </a:bodyPr>
          <a:lstStyle/>
          <a:p>
            <a:pPr algn="l"/>
            <a:r>
              <a:rPr sz="1200" b="1" i="0">
                <a:solidFill>
                  <a:srgbClr val="F8C806"/>
                </a:solidFill>
                <a:latin typeface="Arial"/>
              </a:rPr>
              <a:t>Geographic expansion introduces new structural cost questions</a:t>
            </a:r>
          </a:p>
        </p:txBody>
      </p:sp>
      <p:sp>
        <p:nvSpPr>
          <p:cNvPr id="14" name="TextBox 13"/>
          <p:cNvSpPr txBox="1"/>
          <p:nvPr/>
        </p:nvSpPr>
        <p:spPr>
          <a:xfrm>
            <a:off x="4374794" y="2651760"/>
            <a:ext cx="3624986" cy="3291840"/>
          </a:xfrm>
          <a:prstGeom prst="rect">
            <a:avLst/>
          </a:prstGeom>
          <a:noFill/>
        </p:spPr>
        <p:txBody>
          <a:bodyPr wrap="square">
            <a:spAutoFit/>
          </a:bodyPr>
          <a:lstStyle/>
          <a:p>
            <a:pPr algn="l"/>
            <a:r>
              <a:rPr sz="1050" b="0" i="0">
                <a:solidFill>
                  <a:srgbClr val="FFFFFF"/>
                </a:solidFill>
                <a:latin typeface="Arial"/>
              </a:rPr>
              <a:t>A Melbourne office with its own Managing Director creates real overhead and delivery complexity. Without a financial model for the Melbourne contribution alongside Canberra, expansion can dilute overall margin in the short term before it scales. Understanding how the national footprint changes the cost base, and planning the revenue ramp required to absorb it, is the work that belongs in the next financial planning cycle. That planning cycle is what the Strategic Growth Diagnostic produces.</a:t>
            </a:r>
          </a:p>
        </p:txBody>
      </p:sp>
      <p:sp>
        <p:nvSpPr>
          <p:cNvPr id="15" name="Rectangle 14"/>
          <p:cNvSpPr/>
          <p:nvPr/>
        </p:nvSpPr>
        <p:spPr>
          <a:xfrm>
            <a:off x="8164372" y="1280160"/>
            <a:ext cx="3954170" cy="4892040"/>
          </a:xfrm>
          <a:prstGeom prst="rect">
            <a:avLst/>
          </a:prstGeom>
          <a:solidFill>
            <a:srgbClr val="E3A7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328964" y="1444752"/>
            <a:ext cx="3624986" cy="502920"/>
          </a:xfrm>
          <a:prstGeom prst="rect">
            <a:avLst/>
          </a:prstGeom>
          <a:noFill/>
        </p:spPr>
        <p:txBody>
          <a:bodyPr wrap="square">
            <a:spAutoFit/>
          </a:bodyPr>
          <a:lstStyle/>
          <a:p>
            <a:pPr algn="l"/>
            <a:r>
              <a:rPr sz="3600" b="1" i="0">
                <a:solidFill>
                  <a:srgbClr val="000000"/>
                </a:solidFill>
                <a:latin typeface="Georgia"/>
              </a:rPr>
              <a:t>03</a:t>
            </a:r>
          </a:p>
        </p:txBody>
      </p:sp>
      <p:sp>
        <p:nvSpPr>
          <p:cNvPr id="17" name="TextBox 16"/>
          <p:cNvSpPr txBox="1"/>
          <p:nvPr/>
        </p:nvSpPr>
        <p:spPr>
          <a:xfrm>
            <a:off x="8328964" y="1965960"/>
            <a:ext cx="3624986" cy="685800"/>
          </a:xfrm>
          <a:prstGeom prst="rect">
            <a:avLst/>
          </a:prstGeom>
          <a:noFill/>
        </p:spPr>
        <p:txBody>
          <a:bodyPr wrap="square">
            <a:spAutoFit/>
          </a:bodyPr>
          <a:lstStyle/>
          <a:p>
            <a:pPr algn="l"/>
            <a:r>
              <a:rPr sz="1200" b="1" i="0">
                <a:solidFill>
                  <a:srgbClr val="000000"/>
                </a:solidFill>
                <a:latin typeface="Arial"/>
              </a:rPr>
              <a:t>Workforce utilisation is the lever that scales with headcount growth</a:t>
            </a:r>
          </a:p>
        </p:txBody>
      </p:sp>
      <p:sp>
        <p:nvSpPr>
          <p:cNvPr id="18" name="TextBox 17"/>
          <p:cNvSpPr txBox="1"/>
          <p:nvPr/>
        </p:nvSpPr>
        <p:spPr>
          <a:xfrm>
            <a:off x="8328964" y="2651760"/>
            <a:ext cx="3624986" cy="3291840"/>
          </a:xfrm>
          <a:prstGeom prst="rect">
            <a:avLst/>
          </a:prstGeom>
          <a:noFill/>
        </p:spPr>
        <p:txBody>
          <a:bodyPr wrap="square">
            <a:spAutoFit/>
          </a:bodyPr>
          <a:lstStyle/>
          <a:p>
            <a:pPr algn="l"/>
            <a:r>
              <a:rPr sz="1050" b="0" i="0">
                <a:solidFill>
                  <a:srgbClr val="000000"/>
                </a:solidFill>
                <a:latin typeface="Arial"/>
              </a:rPr>
              <a:t>As Sententia grows its team through senior hires and a graduate cohort, revenue per person and billable utilisation become the efficiency measures that define profitability. In a professional services firm at this scale, a five percentage point improvement in utilisation across 30 people can move margin materially. Without visibility into how team time translates to revenue, headcount growth does not guarantee margin growth. The Workforce Capacity and Utilisation Review is the instrument for this.</a:t>
            </a:r>
          </a:p>
        </p:txBody>
      </p:sp>
      <p:sp>
        <p:nvSpPr>
          <p:cNvPr id="19" name="TextBox 18"/>
          <p:cNvSpPr txBox="1"/>
          <p:nvPr/>
        </p:nvSpPr>
        <p:spPr>
          <a:xfrm>
            <a:off x="256032" y="6236208"/>
            <a:ext cx="11612880" cy="365760"/>
          </a:xfrm>
          <a:prstGeom prst="rect">
            <a:avLst/>
          </a:prstGeom>
          <a:noFill/>
        </p:spPr>
        <p:txBody>
          <a:bodyPr wrap="square">
            <a:spAutoFit/>
          </a:bodyPr>
          <a:lstStyle/>
          <a:p>
            <a:pPr algn="l"/>
            <a:r>
              <a:rPr sz="1000" b="0" i="1">
                <a:solidFill>
                  <a:srgbClr val="444444"/>
                </a:solidFill>
                <a:latin typeface="Arial"/>
              </a:rPr>
              <a:t>These observations are offered in good faith. Sententia Consulting has built something genuinely impressive. The question is simply whether the financial architecture matches the ambition.</a:t>
            </a:r>
          </a:p>
        </p:txBody>
      </p:sp>
      <p:sp>
        <p:nvSpPr>
          <p:cNvPr id="20" name="Rectangle 19"/>
          <p:cNvSpPr/>
          <p:nvPr/>
        </p:nvSpPr>
        <p:spPr>
          <a:xfrm>
            <a:off x="256032" y="6601968"/>
            <a:ext cx="11844223" cy="12700"/>
          </a:xfrm>
          <a:prstGeom prst="rect">
            <a:avLst/>
          </a:prstGeom>
          <a:solidFill>
            <a:srgbClr val="CCCC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256032" y="6647688"/>
            <a:ext cx="8229600" cy="182880"/>
          </a:xfrm>
          <a:prstGeom prst="rect">
            <a:avLst/>
          </a:prstGeom>
          <a:noFill/>
        </p:spPr>
        <p:txBody>
          <a:bodyPr wrap="square">
            <a:spAutoFit/>
          </a:bodyPr>
          <a:lstStyle/>
          <a:p>
            <a:pPr algn="l"/>
            <a:r>
              <a:rPr sz="800" b="0" i="0">
                <a:solidFill>
                  <a:srgbClr val="444444"/>
                </a:solidFill>
                <a:latin typeface="Arial"/>
              </a:rPr>
              <a:t>Prepared by Nitesh Roopa CA, Managing Partner, ProfitPulse, Profit-Pulse.com.au</a:t>
            </a:r>
          </a:p>
        </p:txBody>
      </p:sp>
      <p:sp>
        <p:nvSpPr>
          <p:cNvPr id="22" name="TextBox 21"/>
          <p:cNvSpPr txBox="1"/>
          <p:nvPr/>
        </p:nvSpPr>
        <p:spPr>
          <a:xfrm>
            <a:off x="9601200" y="6647688"/>
            <a:ext cx="2377440" cy="182880"/>
          </a:xfrm>
          <a:prstGeom prst="rect">
            <a:avLst/>
          </a:prstGeom>
          <a:noFill/>
        </p:spPr>
        <p:txBody>
          <a:bodyPr wrap="square">
            <a:spAutoFit/>
          </a:bodyPr>
          <a:lstStyle/>
          <a:p>
            <a:pPr algn="r"/>
            <a:r>
              <a:rPr sz="800" b="0" i="0">
                <a:solidFill>
                  <a:srgbClr val="444444"/>
                </a:solidFill>
                <a:latin typeface="Arial"/>
              </a:rPr>
              <a:t>19 Jun 2026</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91440" cy="6858000"/>
          </a:xfrm>
          <a:prstGeom prst="rect">
            <a:avLst/>
          </a:prstGeom>
          <a:solidFill>
            <a:srgbClr val="F6A10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91440" y="0"/>
            <a:ext cx="12100255" cy="804672"/>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256032" y="201168"/>
            <a:ext cx="6400800" cy="365760"/>
          </a:xfrm>
          <a:prstGeom prst="rect">
            <a:avLst/>
          </a:prstGeom>
          <a:noFill/>
        </p:spPr>
        <p:txBody>
          <a:bodyPr wrap="square">
            <a:spAutoFit/>
          </a:bodyPr>
          <a:lstStyle/>
          <a:p>
            <a:pPr algn="l"/>
            <a:r>
              <a:rPr sz="1100" b="1" i="0">
                <a:solidFill>
                  <a:srgbClr val="E6E5DE"/>
                </a:solidFill>
                <a:latin typeface="Arial"/>
              </a:rPr>
              <a:t>THE RECOMMENDATION</a:t>
            </a:r>
          </a:p>
        </p:txBody>
      </p:sp>
      <p:sp>
        <p:nvSpPr>
          <p:cNvPr id="5" name="TextBox 4"/>
          <p:cNvSpPr txBox="1"/>
          <p:nvPr/>
        </p:nvSpPr>
        <p:spPr>
          <a:xfrm>
            <a:off x="8686800" y="201168"/>
            <a:ext cx="3383280" cy="365760"/>
          </a:xfrm>
          <a:prstGeom prst="rect">
            <a:avLst/>
          </a:prstGeom>
          <a:noFill/>
        </p:spPr>
        <p:txBody>
          <a:bodyPr wrap="square">
            <a:spAutoFit/>
          </a:bodyPr>
          <a:lstStyle/>
          <a:p>
            <a:pPr algn="r"/>
            <a:r>
              <a:rPr sz="1100" b="1" i="0">
                <a:solidFill>
                  <a:srgbClr val="E6E5DE"/>
                </a:solidFill>
                <a:latin typeface="Arial"/>
              </a:rPr>
              <a:t>SENTENTIA CONSULTING</a:t>
            </a:r>
          </a:p>
        </p:txBody>
      </p:sp>
      <p:sp>
        <p:nvSpPr>
          <p:cNvPr id="6" name="TextBox 5"/>
          <p:cNvSpPr txBox="1"/>
          <p:nvPr/>
        </p:nvSpPr>
        <p:spPr>
          <a:xfrm>
            <a:off x="256032" y="914400"/>
            <a:ext cx="7498079" cy="594360"/>
          </a:xfrm>
          <a:prstGeom prst="rect">
            <a:avLst/>
          </a:prstGeom>
          <a:noFill/>
        </p:spPr>
        <p:txBody>
          <a:bodyPr wrap="square">
            <a:spAutoFit/>
          </a:bodyPr>
          <a:lstStyle/>
          <a:p>
            <a:pPr algn="l"/>
            <a:r>
              <a:rPr sz="2800" b="1" i="0">
                <a:solidFill>
                  <a:srgbClr val="000000"/>
                </a:solidFill>
                <a:latin typeface="Georgia"/>
              </a:rPr>
              <a:t>Strategic Growth Diagnostic</a:t>
            </a:r>
          </a:p>
        </p:txBody>
      </p:sp>
      <p:sp>
        <p:nvSpPr>
          <p:cNvPr id="7" name="TextBox 6"/>
          <p:cNvSpPr txBox="1"/>
          <p:nvPr/>
        </p:nvSpPr>
        <p:spPr>
          <a:xfrm>
            <a:off x="256032" y="1508760"/>
            <a:ext cx="7498079" cy="320040"/>
          </a:xfrm>
          <a:prstGeom prst="rect">
            <a:avLst/>
          </a:prstGeom>
          <a:noFill/>
        </p:spPr>
        <p:txBody>
          <a:bodyPr wrap="square">
            <a:spAutoFit/>
          </a:bodyPr>
          <a:lstStyle/>
          <a:p>
            <a:pPr algn="l"/>
            <a:r>
              <a:rPr sz="1500" b="1" i="0">
                <a:solidFill>
                  <a:srgbClr val="01A296"/>
                </a:solidFill>
                <a:latin typeface="Arial"/>
              </a:rPr>
              <a:t>$5,000 one off</a:t>
            </a:r>
          </a:p>
        </p:txBody>
      </p:sp>
      <p:sp>
        <p:nvSpPr>
          <p:cNvPr id="8" name="TextBox 7"/>
          <p:cNvSpPr txBox="1"/>
          <p:nvPr/>
        </p:nvSpPr>
        <p:spPr>
          <a:xfrm>
            <a:off x="256032" y="1874519"/>
            <a:ext cx="7498079" cy="685800"/>
          </a:xfrm>
          <a:prstGeom prst="rect">
            <a:avLst/>
          </a:prstGeom>
          <a:noFill/>
        </p:spPr>
        <p:txBody>
          <a:bodyPr wrap="square">
            <a:spAutoFit/>
          </a:bodyPr>
          <a:lstStyle/>
          <a:p>
            <a:pPr algn="l"/>
            <a:r>
              <a:rPr sz="1100" b="0" i="0">
                <a:solidFill>
                  <a:srgbClr val="000000"/>
                </a:solidFill>
                <a:latin typeface="Arial"/>
              </a:rPr>
              <a:t>A six week engagement mapping revenue, capacity, and margin headroom, then producing a 12 month growth plan with funding and capital allocation steps across three scenarios. For Sententia, this clarifies which contracts earn the best margin and builds the financial model for the next growth phase.</a:t>
            </a:r>
          </a:p>
        </p:txBody>
      </p:sp>
      <p:sp>
        <p:nvSpPr>
          <p:cNvPr id="9" name="Rectangle 8"/>
          <p:cNvSpPr/>
          <p:nvPr/>
        </p:nvSpPr>
        <p:spPr>
          <a:xfrm>
            <a:off x="256032" y="2606040"/>
            <a:ext cx="7498079" cy="12700"/>
          </a:xfrm>
          <a:prstGeom prst="rect">
            <a:avLst/>
          </a:prstGeom>
          <a:solidFill>
            <a:srgbClr val="CCCC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56032" y="2697480"/>
            <a:ext cx="7498079" cy="274320"/>
          </a:xfrm>
          <a:prstGeom prst="rect">
            <a:avLst/>
          </a:prstGeom>
          <a:noFill/>
        </p:spPr>
        <p:txBody>
          <a:bodyPr wrap="square">
            <a:spAutoFit/>
          </a:bodyPr>
          <a:lstStyle/>
          <a:p>
            <a:pPr algn="l"/>
            <a:r>
              <a:rPr sz="1000" b="1" i="0">
                <a:solidFill>
                  <a:srgbClr val="01A296"/>
                </a:solidFill>
                <a:latin typeface="Arial"/>
              </a:rPr>
              <a:t>STEP ONE</a:t>
            </a:r>
          </a:p>
        </p:txBody>
      </p:sp>
      <p:sp>
        <p:nvSpPr>
          <p:cNvPr id="11" name="TextBox 10"/>
          <p:cNvSpPr txBox="1"/>
          <p:nvPr/>
        </p:nvSpPr>
        <p:spPr>
          <a:xfrm>
            <a:off x="256032" y="2999232"/>
            <a:ext cx="7498079" cy="274320"/>
          </a:xfrm>
          <a:prstGeom prst="rect">
            <a:avLst/>
          </a:prstGeom>
          <a:noFill/>
        </p:spPr>
        <p:txBody>
          <a:bodyPr wrap="square">
            <a:spAutoFit/>
          </a:bodyPr>
          <a:lstStyle/>
          <a:p>
            <a:pPr algn="l"/>
            <a:r>
              <a:rPr sz="1300" b="1" i="0">
                <a:solidFill>
                  <a:srgbClr val="000000"/>
                </a:solidFill>
                <a:latin typeface="Arial"/>
              </a:rPr>
              <a:t>Answer a few quick questions</a:t>
            </a:r>
          </a:p>
        </p:txBody>
      </p:sp>
      <p:sp>
        <p:nvSpPr>
          <p:cNvPr id="12" name="TextBox 11"/>
          <p:cNvSpPr txBox="1"/>
          <p:nvPr/>
        </p:nvSpPr>
        <p:spPr>
          <a:xfrm>
            <a:off x="256032" y="3291840"/>
            <a:ext cx="7498079" cy="256032"/>
          </a:xfrm>
          <a:prstGeom prst="rect">
            <a:avLst/>
          </a:prstGeom>
          <a:noFill/>
        </p:spPr>
        <p:txBody>
          <a:bodyPr wrap="square">
            <a:spAutoFit/>
          </a:bodyPr>
          <a:lstStyle/>
          <a:p>
            <a:pPr algn="l"/>
            <a:r>
              <a:rPr sz="1100" b="0" i="0">
                <a:solidFill>
                  <a:srgbClr val="000000"/>
                </a:solidFill>
                <a:latin typeface="Arial"/>
              </a:rPr>
              <a:t>See the solutions matched to your size and industry.</a:t>
            </a:r>
          </a:p>
        </p:txBody>
      </p:sp>
      <p:sp>
        <p:nvSpPr>
          <p:cNvPr id="13" name="TextBox 12"/>
          <p:cNvSpPr txBox="1"/>
          <p:nvPr/>
        </p:nvSpPr>
        <p:spPr>
          <a:xfrm>
            <a:off x="256032" y="3566160"/>
            <a:ext cx="7498079" cy="292608"/>
          </a:xfrm>
          <a:prstGeom prst="rect">
            <a:avLst/>
          </a:prstGeom>
          <a:noFill/>
        </p:spPr>
        <p:txBody>
          <a:bodyPr wrap="square">
            <a:spAutoFit/>
          </a:bodyPr>
          <a:lstStyle/>
          <a:p>
            <a:pPr algn="l"/>
            <a:r>
              <a:rPr sz="1200" b="1" i="0">
                <a:solidFill>
                  <a:srgbClr val="01A296"/>
                </a:solidFill>
                <a:latin typeface="Arial"/>
              </a:rPr>
              <a:t/>
            </a:r>
            <a:r>
              <a:rPr sz="1200" b="1">
                <a:solidFill>
                  <a:srgbClr val="01A296"/>
                </a:solidFill>
                <a:latin typeface="Arial"/>
                <a:hlinkClick r:id="rId2"/>
              </a:rPr>
              <a:t>profit-pulse.com.au/full-suite-of-products</a:t>
            </a:r>
          </a:p>
        </p:txBody>
      </p:sp>
      <p:sp>
        <p:nvSpPr>
          <p:cNvPr id="14" name="Rectangle 13"/>
          <p:cNvSpPr/>
          <p:nvPr/>
        </p:nvSpPr>
        <p:spPr>
          <a:xfrm>
            <a:off x="256032" y="3931920"/>
            <a:ext cx="7498079" cy="457200"/>
          </a:xfrm>
          <a:prstGeom prst="rect">
            <a:avLst/>
          </a:prstGeom>
          <a:solidFill>
            <a:srgbClr val="01A2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20624" y="3995928"/>
            <a:ext cx="7168895" cy="329184"/>
          </a:xfrm>
          <a:prstGeom prst="rect">
            <a:avLst/>
          </a:prstGeom>
          <a:noFill/>
        </p:spPr>
        <p:txBody>
          <a:bodyPr wrap="square">
            <a:spAutoFit/>
          </a:bodyPr>
          <a:lstStyle/>
          <a:p>
            <a:pPr algn="ctr"/>
            <a:r>
              <a:rPr sz="1200" b="1" i="0">
                <a:solidFill>
                  <a:srgbClr val="FFFFFF"/>
                </a:solidFill>
                <a:latin typeface="Arial"/>
              </a:rPr>
              <a:t/>
            </a:r>
            <a:r>
              <a:rPr sz="1200" b="1">
                <a:solidFill>
                  <a:srgbClr val="FFFFFF"/>
                </a:solidFill>
                <a:latin typeface="Arial"/>
                <a:hlinkClick r:id="rId3"/>
              </a:rPr>
              <a:t>Purchase the suggested product now to get started</a:t>
            </a:r>
          </a:p>
        </p:txBody>
      </p:sp>
      <p:sp>
        <p:nvSpPr>
          <p:cNvPr id="16" name="Rectangle 15"/>
          <p:cNvSpPr/>
          <p:nvPr/>
        </p:nvSpPr>
        <p:spPr>
          <a:xfrm>
            <a:off x="256032" y="4480560"/>
            <a:ext cx="7498079" cy="12700"/>
          </a:xfrm>
          <a:prstGeom prst="rect">
            <a:avLst/>
          </a:prstGeom>
          <a:solidFill>
            <a:srgbClr val="CCCC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256032" y="4572000"/>
            <a:ext cx="7498079" cy="256032"/>
          </a:xfrm>
          <a:prstGeom prst="rect">
            <a:avLst/>
          </a:prstGeom>
          <a:noFill/>
        </p:spPr>
        <p:txBody>
          <a:bodyPr wrap="square">
            <a:spAutoFit/>
          </a:bodyPr>
          <a:lstStyle/>
          <a:p>
            <a:pPr algn="l"/>
            <a:r>
              <a:rPr sz="1100" b="0" i="0">
                <a:solidFill>
                  <a:srgbClr val="000000"/>
                </a:solidFill>
                <a:latin typeface="Arial"/>
              </a:rPr>
              <a:t>Prefer a conversation first?</a:t>
            </a:r>
          </a:p>
        </p:txBody>
      </p:sp>
      <p:sp>
        <p:nvSpPr>
          <p:cNvPr id="18" name="TextBox 17"/>
          <p:cNvSpPr txBox="1"/>
          <p:nvPr/>
        </p:nvSpPr>
        <p:spPr>
          <a:xfrm>
            <a:off x="256032" y="4846320"/>
            <a:ext cx="7498079" cy="256032"/>
          </a:xfrm>
          <a:prstGeom prst="rect">
            <a:avLst/>
          </a:prstGeom>
          <a:noFill/>
        </p:spPr>
        <p:txBody>
          <a:bodyPr wrap="square">
            <a:spAutoFit/>
          </a:bodyPr>
          <a:lstStyle/>
          <a:p>
            <a:pPr algn="l"/>
            <a:r>
              <a:rPr sz="1100" b="0" i="0">
                <a:solidFill>
                  <a:srgbClr val="01A296"/>
                </a:solidFill>
                <a:latin typeface="Arial"/>
              </a:rPr>
              <a:t/>
            </a:r>
            <a:r>
              <a:rPr sz="1100" b="0">
                <a:solidFill>
                  <a:srgbClr val="01A296"/>
                </a:solidFill>
                <a:latin typeface="Arial"/>
                <a:hlinkClick r:id="rId4"/>
              </a:rPr>
              <a:t>Book a complimentary discovery call</a:t>
            </a:r>
          </a:p>
        </p:txBody>
      </p:sp>
      <p:sp>
        <p:nvSpPr>
          <p:cNvPr id="19" name="Rectangle 18"/>
          <p:cNvSpPr/>
          <p:nvPr/>
        </p:nvSpPr>
        <p:spPr>
          <a:xfrm>
            <a:off x="8001000" y="914400"/>
            <a:ext cx="4005072" cy="5376672"/>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183880" y="1024128"/>
            <a:ext cx="3730752" cy="411480"/>
          </a:xfrm>
          <a:prstGeom prst="rect">
            <a:avLst/>
          </a:prstGeom>
          <a:noFill/>
        </p:spPr>
        <p:txBody>
          <a:bodyPr wrap="square">
            <a:spAutoFit/>
          </a:bodyPr>
          <a:lstStyle/>
          <a:p>
            <a:pPr algn="l"/>
            <a:r>
              <a:rPr sz="1600" b="1" i="0">
                <a:solidFill>
                  <a:srgbClr val="F8C806"/>
                </a:solidFill>
                <a:latin typeface="Arial"/>
              </a:rPr>
              <a:t>NITESH ROOPA</a:t>
            </a:r>
          </a:p>
        </p:txBody>
      </p:sp>
      <p:sp>
        <p:nvSpPr>
          <p:cNvPr id="21" name="TextBox 20"/>
          <p:cNvSpPr txBox="1"/>
          <p:nvPr/>
        </p:nvSpPr>
        <p:spPr>
          <a:xfrm>
            <a:off x="8183880" y="1435608"/>
            <a:ext cx="3730752" cy="274320"/>
          </a:xfrm>
          <a:prstGeom prst="rect">
            <a:avLst/>
          </a:prstGeom>
          <a:noFill/>
        </p:spPr>
        <p:txBody>
          <a:bodyPr wrap="square">
            <a:spAutoFit/>
          </a:bodyPr>
          <a:lstStyle/>
          <a:p>
            <a:pPr algn="l"/>
            <a:r>
              <a:rPr sz="1100" b="0" i="0">
                <a:solidFill>
                  <a:srgbClr val="FFFFFF"/>
                </a:solidFill>
                <a:latin typeface="Arial"/>
              </a:rPr>
              <a:t>CA, Managing Partner</a:t>
            </a:r>
          </a:p>
        </p:txBody>
      </p:sp>
      <p:sp>
        <p:nvSpPr>
          <p:cNvPr id="22" name="TextBox 21"/>
          <p:cNvSpPr txBox="1"/>
          <p:nvPr/>
        </p:nvSpPr>
        <p:spPr>
          <a:xfrm>
            <a:off x="8183880" y="1709928"/>
            <a:ext cx="3730752" cy="365760"/>
          </a:xfrm>
          <a:prstGeom prst="rect">
            <a:avLst/>
          </a:prstGeom>
          <a:noFill/>
        </p:spPr>
        <p:txBody>
          <a:bodyPr wrap="square">
            <a:spAutoFit/>
          </a:bodyPr>
          <a:lstStyle/>
          <a:p>
            <a:pPr algn="l"/>
            <a:r>
              <a:rPr sz="1600" b="1" i="0">
                <a:solidFill>
                  <a:srgbClr val="01A296"/>
                </a:solidFill>
                <a:latin typeface="Arial"/>
              </a:rPr>
              <a:t>ProfitPulse</a:t>
            </a:r>
          </a:p>
        </p:txBody>
      </p:sp>
      <p:sp>
        <p:nvSpPr>
          <p:cNvPr id="23" name="Rectangle 22"/>
          <p:cNvSpPr/>
          <p:nvPr/>
        </p:nvSpPr>
        <p:spPr>
          <a:xfrm>
            <a:off x="8183880" y="2103120"/>
            <a:ext cx="3639312" cy="19050"/>
          </a:xfrm>
          <a:prstGeom prst="rect">
            <a:avLst/>
          </a:prstGeom>
          <a:solidFill>
            <a:srgbClr val="01A2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8183880" y="2176272"/>
            <a:ext cx="3730752" cy="1234440"/>
          </a:xfrm>
          <a:prstGeom prst="rect">
            <a:avLst/>
          </a:prstGeom>
          <a:noFill/>
        </p:spPr>
        <p:txBody>
          <a:bodyPr wrap="square">
            <a:spAutoFit/>
          </a:bodyPr>
          <a:lstStyle/>
          <a:p>
            <a:pPr algn="l"/>
            <a:r>
              <a:rPr sz="1000" b="0" i="0">
                <a:solidFill>
                  <a:srgbClr val="888888"/>
                </a:solidFill>
                <a:latin typeface="Arial"/>
              </a:rPr>
              <a:t>16 years across 4 countries</a:t>
            </a:r>
          </a:p>
          <a:p>
            <a:pPr algn="l"/>
            <a:r>
              <a:rPr sz="1000" b="0" i="0">
                <a:solidFill>
                  <a:srgbClr val="888888"/>
                </a:solidFill>
                <a:latin typeface="Arial"/>
              </a:rPr>
              <a:t>52 deals executed and managed</a:t>
            </a:r>
          </a:p>
          <a:p>
            <a:pPr algn="l"/>
            <a:r>
              <a:rPr sz="1000" b="0" i="0">
                <a:solidFill>
                  <a:srgbClr val="888888"/>
                </a:solidFill>
                <a:latin typeface="Arial"/>
              </a:rPr>
              <a:t>Largest deal: USD 1.3B Cahora Bassa</a:t>
            </a:r>
          </a:p>
          <a:p>
            <a:pPr algn="l"/>
            <a:r>
              <a:rPr sz="1000" b="0" i="0">
                <a:solidFill>
                  <a:srgbClr val="888888"/>
                </a:solidFill>
                <a:latin typeface="Arial"/>
              </a:rPr>
              <a:t>QLD GRBT project value AUD 10B</a:t>
            </a:r>
          </a:p>
          <a:p>
            <a:pPr algn="l"/>
            <a:r>
              <a:rPr sz="1000" b="0" i="0">
                <a:solidFill>
                  <a:srgbClr val="888888"/>
                </a:solidFill>
                <a:latin typeface="Arial"/>
              </a:rPr>
              <a:t>CA qualification: SAICA South Africa</a:t>
            </a:r>
          </a:p>
        </p:txBody>
      </p:sp>
      <p:sp>
        <p:nvSpPr>
          <p:cNvPr id="25" name="Rectangle 24"/>
          <p:cNvSpPr/>
          <p:nvPr/>
        </p:nvSpPr>
        <p:spPr>
          <a:xfrm>
            <a:off x="8183880" y="3456432"/>
            <a:ext cx="3639312" cy="12700"/>
          </a:xfrm>
          <a:prstGeom prst="rect">
            <a:avLst/>
          </a:prstGeom>
          <a:solidFill>
            <a:srgbClr val="3333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183880" y="3529584"/>
            <a:ext cx="3730752" cy="2011680"/>
          </a:xfrm>
          <a:prstGeom prst="rect">
            <a:avLst/>
          </a:prstGeom>
          <a:noFill/>
        </p:spPr>
        <p:txBody>
          <a:bodyPr wrap="square">
            <a:spAutoFit/>
          </a:bodyPr>
          <a:lstStyle/>
          <a:p>
            <a:pPr algn="l"/>
            <a:r>
              <a:rPr sz="1100" b="0" i="0">
                <a:solidFill>
                  <a:srgbClr val="E6E5DE"/>
                </a:solidFill>
                <a:latin typeface="Arial"/>
              </a:rPr>
              <a:t>Profit-Pulse.com.au</a:t>
            </a:r>
          </a:p>
          <a:p>
            <a:pPr algn="l"/>
            <a:r>
              <a:rPr sz="1100" b="0" i="0">
                <a:solidFill>
                  <a:srgbClr val="01A296"/>
                </a:solidFill>
                <a:latin typeface="Arial"/>
              </a:rPr>
              <a:t>Nitesh@Profit-Pulse.com.au</a:t>
            </a:r>
          </a:p>
          <a:p>
            <a:pPr algn="l"/>
            <a:r>
              <a:rPr sz="1100" b="0" i="0">
                <a:solidFill>
                  <a:srgbClr val="E6E5DE"/>
                </a:solidFill>
                <a:latin typeface="Arial"/>
              </a:rPr>
              <a:t>+61 411 876 267</a:t>
            </a:r>
          </a:p>
          <a:p>
            <a:pPr algn="l"/>
            <a:r>
              <a:rPr sz="600" b="0" i="0">
                <a:solidFill>
                  <a:srgbClr val="FFFFFF"/>
                </a:solidFill>
                <a:latin typeface="Arial"/>
              </a:rPr>
              <a:t/>
            </a:r>
          </a:p>
          <a:p>
            <a:pPr algn="l"/>
            <a:r>
              <a:rPr sz="900" b="0" i="0">
                <a:solidFill>
                  <a:srgbClr val="888888"/>
                </a:solidFill>
                <a:latin typeface="Arial"/>
              </a:rPr>
              <a:t>linkedin.com/in/nitesh-roopa-77594163</a:t>
            </a:r>
          </a:p>
          <a:p>
            <a:pPr algn="l"/>
            <a:r>
              <a:rPr sz="900" b="0" i="0">
                <a:solidFill>
                  <a:srgbClr val="888888"/>
                </a:solidFill>
                <a:latin typeface="Arial"/>
              </a:rPr>
              <a:t>Brisbane, Australia</a:t>
            </a:r>
          </a:p>
        </p:txBody>
      </p:sp>
      <p:sp>
        <p:nvSpPr>
          <p:cNvPr id="27" name="Rectangle 26"/>
          <p:cNvSpPr/>
          <p:nvPr/>
        </p:nvSpPr>
        <p:spPr>
          <a:xfrm>
            <a:off x="256032" y="6355080"/>
            <a:ext cx="11844223" cy="12700"/>
          </a:xfrm>
          <a:prstGeom prst="rect">
            <a:avLst/>
          </a:prstGeom>
          <a:solidFill>
            <a:srgbClr val="CCCC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256032" y="6400800"/>
            <a:ext cx="8229600" cy="347472"/>
          </a:xfrm>
          <a:prstGeom prst="rect">
            <a:avLst/>
          </a:prstGeom>
          <a:noFill/>
        </p:spPr>
        <p:txBody>
          <a:bodyPr wrap="square">
            <a:spAutoFit/>
          </a:bodyPr>
          <a:lstStyle/>
          <a:p>
            <a:pPr algn="l"/>
            <a:r>
              <a:rPr sz="800" b="0" i="0">
                <a:solidFill>
                  <a:srgbClr val="444444"/>
                </a:solidFill>
                <a:latin typeface="Arial"/>
              </a:rPr>
              <a:t>Prepared by Nitesh Roopa CA, Managing Partner, ProfitPulse, Profit-Pulse.com.au</a:t>
            </a:r>
          </a:p>
        </p:txBody>
      </p:sp>
      <p:sp>
        <p:nvSpPr>
          <p:cNvPr id="29" name="TextBox 28"/>
          <p:cNvSpPr txBox="1"/>
          <p:nvPr/>
        </p:nvSpPr>
        <p:spPr>
          <a:xfrm>
            <a:off x="9601200" y="6400800"/>
            <a:ext cx="2377440" cy="347472"/>
          </a:xfrm>
          <a:prstGeom prst="rect">
            <a:avLst/>
          </a:prstGeom>
          <a:noFill/>
        </p:spPr>
        <p:txBody>
          <a:bodyPr wrap="square">
            <a:spAutoFit/>
          </a:bodyPr>
          <a:lstStyle/>
          <a:p>
            <a:pPr algn="r"/>
            <a:r>
              <a:rPr sz="800" b="0" i="0">
                <a:solidFill>
                  <a:srgbClr val="444444"/>
                </a:solidFill>
                <a:latin typeface="Arial"/>
              </a:rPr>
              <a:t>19 Jun 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