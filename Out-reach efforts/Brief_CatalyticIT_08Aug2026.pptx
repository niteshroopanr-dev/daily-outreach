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AUD millions</c:v>
                </c:pt>
              </c:strCache>
            </c:strRef>
          </c:tx>
          <c:spPr>
            <a:solidFill>
              <a:srgbClr val="01A296"/>
            </a:solidFill>
            <a:effectLst/>
          </c:spPr>
          <c:invertIfNegative val="0"/>
          <c:dLbls>
            <c:numFmt formatCode="#,##0" sourceLinked="0"/>
            <c:txPr>
              <a:bodyPr/>
              <a:lstStyle/>
              <a:p>
                <a:pPr>
                  <a:defRPr b="0" i="0" strike="noStrike" sz="1000" u="none">
                    <a:solidFill>
                      <a:srgbClr val="00000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FY2021</c:v>
                  </c:pt>
                  <c:pt idx="1">
                    <c:v>Smart50 2023</c:v>
                  </c:pt>
                  <c:pt idx="2">
                    <c:v>Smart50 2025</c:v>
                  </c:pt>
                </c:lvl>
              </c:multiLvlStrCache>
            </c:multiLvlStrRef>
          </c:cat>
          <c:val>
            <c:numRef>
              <c:f>Sheet1!$B$2:$B$4</c:f>
              <c:numCache>
                <c:formatCode>General</c:formatCode>
                <c:ptCount val="3"/>
                <c:pt idx="0">
                  <c:v>2.5</c:v>
                </c:pt>
                <c:pt idx="1">
                  <c:v>4.46</c:v>
                </c:pt>
                <c:pt idx="2">
                  <c:v>7.4</c:v>
                </c:pt>
              </c:numCache>
            </c:numRef>
          </c:val>
        </c:ser>
        <c:dLbls>
          <c:numFmt formatCode="#,##0" sourceLinked="0"/>
          <c:txPr>
            <a:bodyPr/>
            <a:lstStyle/>
            <a:p>
              <a:pPr>
                <a:defRPr b="0" i="0" strike="noStrike" sz="1000" u="none">
                  <a:solidFill>
                    <a:srgbClr val="000000"/>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profit-pulse.com.au/services/find-your-fit/" TargetMode="External"/><Relationship Id="rId2" Type="http://schemas.openxmlformats.org/officeDocument/2006/relationships/hyperlink" Target="https://bookings.cloud.microsoft/book/ProfitPulse1@profit-pulse.com.au/?ismsaljsauthenabled=true" TargetMode="External"/><Relationship Id="rId3" Type="http://schemas.openxmlformats.org/officeDocument/2006/relationships/hyperlink" Target="https://buy.stripe.com/28E4gA0msgKQchy5gb3ks0g" TargetMode="External"/><Relationship Id="rId4" Type="http://schemas.openxmlformats.org/officeDocument/2006/relationships/hyperlink" Target="https://buy.stripe.com/28E4gA0msgKQchy5gb3ks0g" TargetMode="External"/><Relationship Id="rId5" Type="http://schemas.openxmlformats.org/officeDocument/2006/relationships/hyperlink" Target="https://profit-pulse.com.au" TargetMode="External"/><Relationship Id="rId6" Type="http://schemas.openxmlformats.org/officeDocument/2006/relationships/hyperlink" Target="mailto:Nitesh@Profit-Pulse.com.au" TargetMode="External"/><Relationship Id="rId7" Type="http://schemas.openxmlformats.org/officeDocument/2006/relationships/hyperlink" Target="https://www.linkedin.com/in/nitesh-roopa-77594163" TargetMode="External"/><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COMMERCIAL INTELLIGENCE BRIEF</a:t>
            </a:r>
            <a:endParaRPr lang="en-US" sz="1200" dirty="0"/>
          </a:p>
        </p:txBody>
      </p:sp>
      <p:sp>
        <p:nvSpPr>
          <p:cNvPr id="5" name="Text 3"/>
          <p:cNvSpPr/>
          <p:nvPr/>
        </p:nvSpPr>
        <p:spPr>
          <a:xfrm>
            <a:off x="859536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7772400" cy="274320"/>
          </a:xfrm>
          <a:prstGeom prst="rect">
            <a:avLst/>
          </a:prstGeom>
          <a:noFill/>
          <a:ln/>
        </p:spPr>
        <p:txBody>
          <a:bodyPr wrap="square" lIns="0" tIns="0" rIns="0" bIns="0" rtlCol="0" anchor="ctr"/>
          <a:lstStyle/>
          <a:p>
            <a:pPr algn="l" indent="0" marL="0">
              <a:buNone/>
            </a:pPr>
            <a:r>
              <a:rPr lang="en-US" sz="800" dirty="0">
                <a:solidFill>
                  <a:srgbClr val="000000">
                    <a:alpha val="60000"/>
                  </a:srgbClr>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8595360" y="6446520"/>
            <a:ext cx="3200400" cy="274320"/>
          </a:xfrm>
          <a:prstGeom prst="rect">
            <a:avLst/>
          </a:prstGeom>
          <a:noFill/>
          <a:ln/>
        </p:spPr>
        <p:txBody>
          <a:bodyPr wrap="square" lIns="0" tIns="0" rIns="0" bIns="0" rtlCol="0" anchor="ctr"/>
          <a:lstStyle/>
          <a:p>
            <a:pPr algn="r" indent="0" marL="0">
              <a:buNone/>
            </a:pPr>
            <a:r>
              <a:rPr lang="en-US" sz="800" dirty="0">
                <a:solidFill>
                  <a:srgbClr val="000000">
                    <a:alpha val="60000"/>
                  </a:srgbClr>
                </a:solidFill>
                <a:latin typeface="Calibri" pitchFamily="34" charset="0"/>
                <a:ea typeface="Calibri" pitchFamily="34" charset="-122"/>
                <a:cs typeface="Calibri" pitchFamily="34" charset="-120"/>
              </a:rPr>
              <a:t>08 Aug 2026</a:t>
            </a:r>
            <a:endParaRPr lang="en-US" sz="800" dirty="0"/>
          </a:p>
        </p:txBody>
      </p:sp>
      <p:sp>
        <p:nvSpPr>
          <p:cNvPr id="8" name="Text 6"/>
          <p:cNvSpPr/>
          <p:nvPr/>
        </p:nvSpPr>
        <p:spPr>
          <a:xfrm>
            <a:off x="365760" y="1051560"/>
            <a:ext cx="8686800" cy="685800"/>
          </a:xfrm>
          <a:prstGeom prst="rect">
            <a:avLst/>
          </a:prstGeom>
          <a:noFill/>
          <a:ln/>
        </p:spPr>
        <p:txBody>
          <a:bodyPr wrap="square" lIns="0" tIns="0" rIns="0" bIns="0" rtlCol="0" anchor="ctr"/>
          <a:lstStyle/>
          <a:p>
            <a:pPr algn="l" indent="0" marL="0">
              <a:buNone/>
            </a:pPr>
            <a:r>
              <a:rPr lang="en-US" sz="4200" b="1" dirty="0">
                <a:solidFill>
                  <a:srgbClr val="000000"/>
                </a:solidFill>
                <a:latin typeface="Cambria" pitchFamily="34" charset="0"/>
                <a:ea typeface="Cambria" pitchFamily="34" charset="-122"/>
                <a:cs typeface="Cambria" pitchFamily="34" charset="-120"/>
              </a:rPr>
              <a:t>Catalytic IT</a:t>
            </a:r>
            <a:endParaRPr lang="en-US" sz="4200" dirty="0"/>
          </a:p>
        </p:txBody>
      </p:sp>
      <p:sp>
        <p:nvSpPr>
          <p:cNvPr id="9" name="Text 7"/>
          <p:cNvSpPr/>
          <p:nvPr/>
        </p:nvSpPr>
        <p:spPr>
          <a:xfrm>
            <a:off x="365760" y="1755648"/>
            <a:ext cx="9601200" cy="320040"/>
          </a:xfrm>
          <a:prstGeom prst="rect">
            <a:avLst/>
          </a:prstGeom>
          <a:noFill/>
          <a:ln/>
        </p:spPr>
        <p:txBody>
          <a:bodyPr wrap="square" lIns="0" tIns="0" rIns="0" bIns="0" rtlCol="0" anchor="ctr"/>
          <a:lstStyle/>
          <a:p>
            <a:pPr algn="l" indent="0" marL="0">
              <a:buNone/>
            </a:pPr>
            <a:r>
              <a:rPr lang="en-US" sz="1300" dirty="0">
                <a:solidFill>
                  <a:srgbClr val="000000">
                    <a:alpha val="80000"/>
                  </a:srgbClr>
                </a:solidFill>
                <a:latin typeface="Calibri" pitchFamily="34" charset="0"/>
                <a:ea typeface="Calibri" pitchFamily="34" charset="-122"/>
                <a:cs typeface="Calibri" pitchFamily="34" charset="-120"/>
              </a:rPr>
              <a:t>IT managed services and cybersecurity, Perth WA</a:t>
            </a:r>
            <a:endParaRPr lang="en-US" sz="1300" dirty="0"/>
          </a:p>
        </p:txBody>
      </p:sp>
      <p:sp>
        <p:nvSpPr>
          <p:cNvPr id="10" name="Shape 8"/>
          <p:cNvSpPr/>
          <p:nvPr/>
        </p:nvSpPr>
        <p:spPr>
          <a:xfrm>
            <a:off x="365760" y="2194560"/>
            <a:ext cx="2103120" cy="1463040"/>
          </a:xfrm>
          <a:prstGeom prst="rect">
            <a:avLst/>
          </a:prstGeom>
          <a:solidFill>
            <a:srgbClr val="000000"/>
          </a:solidFill>
          <a:ln/>
        </p:spPr>
      </p:sp>
      <p:sp>
        <p:nvSpPr>
          <p:cNvPr id="11" name="Shape 9"/>
          <p:cNvSpPr/>
          <p:nvPr/>
        </p:nvSpPr>
        <p:spPr>
          <a:xfrm>
            <a:off x="365760" y="2194560"/>
            <a:ext cx="2103120" cy="54864"/>
          </a:xfrm>
          <a:prstGeom prst="rect">
            <a:avLst/>
          </a:prstGeom>
          <a:solidFill>
            <a:srgbClr val="01A296"/>
          </a:solidFill>
          <a:ln/>
        </p:spPr>
      </p:sp>
      <p:sp>
        <p:nvSpPr>
          <p:cNvPr id="12" name="Text 10"/>
          <p:cNvSpPr/>
          <p:nvPr/>
        </p:nvSpPr>
        <p:spPr>
          <a:xfrm>
            <a:off x="475488" y="2359152"/>
            <a:ext cx="1883664" cy="502920"/>
          </a:xfrm>
          <a:prstGeom prst="rect">
            <a:avLst/>
          </a:prstGeom>
          <a:noFill/>
          <a:ln/>
        </p:spPr>
        <p:txBody>
          <a:bodyPr wrap="square" lIns="0" tIns="0" rIns="0" bIns="0" rtlCol="0" anchor="ctr"/>
          <a:lstStyle/>
          <a:p>
            <a:pPr algn="l" indent="0" marL="0">
              <a:buNone/>
            </a:pPr>
            <a:r>
              <a:rPr lang="en-US" sz="2800" b="1" dirty="0">
                <a:solidFill>
                  <a:srgbClr val="F8C806"/>
                </a:solidFill>
                <a:latin typeface="Cambria" pitchFamily="34" charset="0"/>
                <a:ea typeface="Cambria" pitchFamily="34" charset="-122"/>
                <a:cs typeface="Cambria" pitchFamily="34" charset="-120"/>
              </a:rPr>
              <a:t>$7.4M</a:t>
            </a:r>
            <a:endParaRPr lang="en-US" sz="2800" dirty="0"/>
          </a:p>
        </p:txBody>
      </p:sp>
      <p:sp>
        <p:nvSpPr>
          <p:cNvPr id="13" name="Text 11"/>
          <p:cNvSpPr/>
          <p:nvPr/>
        </p:nvSpPr>
        <p:spPr>
          <a:xfrm>
            <a:off x="475488" y="2880360"/>
            <a:ext cx="1883664"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FY2025 revenue</a:t>
            </a:r>
            <a:endParaRPr lang="en-US" sz="1100" dirty="0"/>
          </a:p>
        </p:txBody>
      </p:sp>
      <p:sp>
        <p:nvSpPr>
          <p:cNvPr id="14" name="Text 12"/>
          <p:cNvSpPr/>
          <p:nvPr/>
        </p:nvSpPr>
        <p:spPr>
          <a:xfrm>
            <a:off x="475488" y="3364992"/>
            <a:ext cx="1883664" cy="237744"/>
          </a:xfrm>
          <a:prstGeom prst="rect">
            <a:avLst/>
          </a:prstGeom>
          <a:noFill/>
          <a:ln/>
        </p:spPr>
        <p:txBody>
          <a:bodyPr wrap="square" lIns="0" tIns="0" rIns="0" bIns="0" rtlCol="0" anchor="ctr"/>
          <a:lstStyle/>
          <a:p>
            <a:pPr algn="l" indent="0" marL="0">
              <a:buNone/>
            </a:pPr>
            <a:r>
              <a:rPr lang="en-US" sz="800" dirty="0">
                <a:solidFill>
                  <a:srgbClr val="E6E5DE">
                    <a:alpha val="65000"/>
                  </a:srgbClr>
                </a:solidFill>
                <a:latin typeface="Calibri" pitchFamily="34" charset="0"/>
                <a:ea typeface="Calibri" pitchFamily="34" charset="-122"/>
                <a:cs typeface="Calibri" pitchFamily="34" charset="-120"/>
              </a:rPr>
              <a:t>SmartCompany Smart50 2025</a:t>
            </a:r>
            <a:endParaRPr lang="en-US" sz="800" dirty="0"/>
          </a:p>
        </p:txBody>
      </p:sp>
      <p:sp>
        <p:nvSpPr>
          <p:cNvPr id="15" name="Shape 13"/>
          <p:cNvSpPr/>
          <p:nvPr/>
        </p:nvSpPr>
        <p:spPr>
          <a:xfrm>
            <a:off x="2606040" y="2194560"/>
            <a:ext cx="2103120" cy="1463040"/>
          </a:xfrm>
          <a:prstGeom prst="rect">
            <a:avLst/>
          </a:prstGeom>
          <a:solidFill>
            <a:srgbClr val="000000"/>
          </a:solidFill>
          <a:ln/>
        </p:spPr>
      </p:sp>
      <p:sp>
        <p:nvSpPr>
          <p:cNvPr id="16" name="Shape 14"/>
          <p:cNvSpPr/>
          <p:nvPr/>
        </p:nvSpPr>
        <p:spPr>
          <a:xfrm>
            <a:off x="2606040" y="2194560"/>
            <a:ext cx="2103120" cy="54864"/>
          </a:xfrm>
          <a:prstGeom prst="rect">
            <a:avLst/>
          </a:prstGeom>
          <a:solidFill>
            <a:srgbClr val="01A296"/>
          </a:solidFill>
          <a:ln/>
        </p:spPr>
      </p:sp>
      <p:sp>
        <p:nvSpPr>
          <p:cNvPr id="17" name="Text 15"/>
          <p:cNvSpPr/>
          <p:nvPr/>
        </p:nvSpPr>
        <p:spPr>
          <a:xfrm>
            <a:off x="2715768" y="2359152"/>
            <a:ext cx="1883664" cy="502920"/>
          </a:xfrm>
          <a:prstGeom prst="rect">
            <a:avLst/>
          </a:prstGeom>
          <a:noFill/>
          <a:ln/>
        </p:spPr>
        <p:txBody>
          <a:bodyPr wrap="square" lIns="0" tIns="0" rIns="0" bIns="0" rtlCol="0" anchor="ctr"/>
          <a:lstStyle/>
          <a:p>
            <a:pPr algn="l" indent="0" marL="0">
              <a:buNone/>
            </a:pPr>
            <a:r>
              <a:rPr lang="en-US" sz="2800" b="1" dirty="0">
                <a:solidFill>
                  <a:srgbClr val="F8C806"/>
                </a:solidFill>
                <a:latin typeface="Cambria" pitchFamily="34" charset="0"/>
                <a:ea typeface="Cambria" pitchFamily="34" charset="-122"/>
                <a:cs typeface="Cambria" pitchFamily="34" charset="-120"/>
              </a:rPr>
              <a:t>28%</a:t>
            </a:r>
            <a:endParaRPr lang="en-US" sz="2800" dirty="0"/>
          </a:p>
        </p:txBody>
      </p:sp>
      <p:sp>
        <p:nvSpPr>
          <p:cNvPr id="18" name="Text 16"/>
          <p:cNvSpPr/>
          <p:nvPr/>
        </p:nvSpPr>
        <p:spPr>
          <a:xfrm>
            <a:off x="2715768" y="2880360"/>
            <a:ext cx="1883664"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Revenue growth, FY2025</a:t>
            </a:r>
            <a:endParaRPr lang="en-US" sz="1100" dirty="0"/>
          </a:p>
        </p:txBody>
      </p:sp>
      <p:sp>
        <p:nvSpPr>
          <p:cNvPr id="19" name="Text 17"/>
          <p:cNvSpPr/>
          <p:nvPr/>
        </p:nvSpPr>
        <p:spPr>
          <a:xfrm>
            <a:off x="2715768" y="3364992"/>
            <a:ext cx="1883664" cy="237744"/>
          </a:xfrm>
          <a:prstGeom prst="rect">
            <a:avLst/>
          </a:prstGeom>
          <a:noFill/>
          <a:ln/>
        </p:spPr>
        <p:txBody>
          <a:bodyPr wrap="square" lIns="0" tIns="0" rIns="0" bIns="0" rtlCol="0" anchor="ctr"/>
          <a:lstStyle/>
          <a:p>
            <a:pPr algn="l" indent="0" marL="0">
              <a:buNone/>
            </a:pPr>
            <a:r>
              <a:rPr lang="en-US" sz="800" dirty="0">
                <a:solidFill>
                  <a:srgbClr val="E6E5DE">
                    <a:alpha val="65000"/>
                  </a:srgbClr>
                </a:solidFill>
                <a:latin typeface="Calibri" pitchFamily="34" charset="0"/>
                <a:ea typeface="Calibri" pitchFamily="34" charset="-122"/>
                <a:cs typeface="Calibri" pitchFamily="34" charset="-120"/>
              </a:rPr>
              <a:t>SmartCompany Smart50 2025</a:t>
            </a:r>
            <a:endParaRPr lang="en-US" sz="800" dirty="0"/>
          </a:p>
        </p:txBody>
      </p:sp>
      <p:sp>
        <p:nvSpPr>
          <p:cNvPr id="20" name="Shape 18"/>
          <p:cNvSpPr/>
          <p:nvPr/>
        </p:nvSpPr>
        <p:spPr>
          <a:xfrm>
            <a:off x="4846320" y="2194560"/>
            <a:ext cx="2103120" cy="1463040"/>
          </a:xfrm>
          <a:prstGeom prst="rect">
            <a:avLst/>
          </a:prstGeom>
          <a:solidFill>
            <a:srgbClr val="000000"/>
          </a:solidFill>
          <a:ln/>
        </p:spPr>
      </p:sp>
      <p:sp>
        <p:nvSpPr>
          <p:cNvPr id="21" name="Shape 19"/>
          <p:cNvSpPr/>
          <p:nvPr/>
        </p:nvSpPr>
        <p:spPr>
          <a:xfrm>
            <a:off x="4846320" y="2194560"/>
            <a:ext cx="2103120" cy="54864"/>
          </a:xfrm>
          <a:prstGeom prst="rect">
            <a:avLst/>
          </a:prstGeom>
          <a:solidFill>
            <a:srgbClr val="01A296"/>
          </a:solidFill>
          <a:ln/>
        </p:spPr>
      </p:sp>
      <p:sp>
        <p:nvSpPr>
          <p:cNvPr id="22" name="Text 20"/>
          <p:cNvSpPr/>
          <p:nvPr/>
        </p:nvSpPr>
        <p:spPr>
          <a:xfrm>
            <a:off x="4956048" y="2359152"/>
            <a:ext cx="1883664" cy="502920"/>
          </a:xfrm>
          <a:prstGeom prst="rect">
            <a:avLst/>
          </a:prstGeom>
          <a:noFill/>
          <a:ln/>
        </p:spPr>
        <p:txBody>
          <a:bodyPr wrap="square" lIns="0" tIns="0" rIns="0" bIns="0" rtlCol="0" anchor="ctr"/>
          <a:lstStyle/>
          <a:p>
            <a:pPr algn="l" indent="0" marL="0">
              <a:buNone/>
            </a:pPr>
            <a:r>
              <a:rPr lang="en-US" sz="2800" b="1" dirty="0">
                <a:solidFill>
                  <a:srgbClr val="F8C806"/>
                </a:solidFill>
                <a:latin typeface="Cambria" pitchFamily="34" charset="0"/>
                <a:ea typeface="Cambria" pitchFamily="34" charset="-122"/>
                <a:cs typeface="Cambria" pitchFamily="34" charset="-120"/>
              </a:rPr>
              <a:t>23</a:t>
            </a:r>
            <a:endParaRPr lang="en-US" sz="2800" dirty="0"/>
          </a:p>
        </p:txBody>
      </p:sp>
      <p:sp>
        <p:nvSpPr>
          <p:cNvPr id="23" name="Text 21"/>
          <p:cNvSpPr/>
          <p:nvPr/>
        </p:nvSpPr>
        <p:spPr>
          <a:xfrm>
            <a:off x="4956048" y="2880360"/>
            <a:ext cx="1883664"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Team size, Perth HQ</a:t>
            </a:r>
            <a:endParaRPr lang="en-US" sz="1100" dirty="0"/>
          </a:p>
        </p:txBody>
      </p:sp>
      <p:sp>
        <p:nvSpPr>
          <p:cNvPr id="24" name="Text 22"/>
          <p:cNvSpPr/>
          <p:nvPr/>
        </p:nvSpPr>
        <p:spPr>
          <a:xfrm>
            <a:off x="4956048" y="3364992"/>
            <a:ext cx="1883664" cy="237744"/>
          </a:xfrm>
          <a:prstGeom prst="rect">
            <a:avLst/>
          </a:prstGeom>
          <a:noFill/>
          <a:ln/>
        </p:spPr>
        <p:txBody>
          <a:bodyPr wrap="square" lIns="0" tIns="0" rIns="0" bIns="0" rtlCol="0" anchor="ctr"/>
          <a:lstStyle/>
          <a:p>
            <a:pPr algn="l" indent="0" marL="0">
              <a:buNone/>
            </a:pPr>
            <a:r>
              <a:rPr lang="en-US" sz="800" dirty="0">
                <a:solidFill>
                  <a:srgbClr val="E6E5DE">
                    <a:alpha val="65000"/>
                  </a:srgbClr>
                </a:solidFill>
                <a:latin typeface="Calibri" pitchFamily="34" charset="0"/>
                <a:ea typeface="Calibri" pitchFamily="34" charset="-122"/>
                <a:cs typeface="Calibri" pitchFamily="34" charset="-120"/>
              </a:rPr>
              <a:t>Smart50 2025 profile</a:t>
            </a:r>
            <a:endParaRPr lang="en-US" sz="800" dirty="0"/>
          </a:p>
        </p:txBody>
      </p:sp>
      <p:sp>
        <p:nvSpPr>
          <p:cNvPr id="25" name="Shape 23"/>
          <p:cNvSpPr/>
          <p:nvPr/>
        </p:nvSpPr>
        <p:spPr>
          <a:xfrm>
            <a:off x="7086600" y="2194560"/>
            <a:ext cx="2103120" cy="1463040"/>
          </a:xfrm>
          <a:prstGeom prst="rect">
            <a:avLst/>
          </a:prstGeom>
          <a:solidFill>
            <a:srgbClr val="000000"/>
          </a:solidFill>
          <a:ln/>
        </p:spPr>
      </p:sp>
      <p:sp>
        <p:nvSpPr>
          <p:cNvPr id="26" name="Shape 24"/>
          <p:cNvSpPr/>
          <p:nvPr/>
        </p:nvSpPr>
        <p:spPr>
          <a:xfrm>
            <a:off x="7086600" y="2194560"/>
            <a:ext cx="2103120" cy="54864"/>
          </a:xfrm>
          <a:prstGeom prst="rect">
            <a:avLst/>
          </a:prstGeom>
          <a:solidFill>
            <a:srgbClr val="01A296"/>
          </a:solidFill>
          <a:ln/>
        </p:spPr>
      </p:sp>
      <p:sp>
        <p:nvSpPr>
          <p:cNvPr id="27" name="Text 25"/>
          <p:cNvSpPr/>
          <p:nvPr/>
        </p:nvSpPr>
        <p:spPr>
          <a:xfrm>
            <a:off x="7196328" y="2359152"/>
            <a:ext cx="1883664" cy="502920"/>
          </a:xfrm>
          <a:prstGeom prst="rect">
            <a:avLst/>
          </a:prstGeom>
          <a:noFill/>
          <a:ln/>
        </p:spPr>
        <p:txBody>
          <a:bodyPr wrap="square" lIns="0" tIns="0" rIns="0" bIns="0" rtlCol="0" anchor="ctr"/>
          <a:lstStyle/>
          <a:p>
            <a:pPr algn="l" indent="0" marL="0">
              <a:buNone/>
            </a:pPr>
            <a:r>
              <a:rPr lang="en-US" sz="2800" b="1" dirty="0">
                <a:solidFill>
                  <a:srgbClr val="F8C806"/>
                </a:solidFill>
                <a:latin typeface="Cambria" pitchFamily="34" charset="0"/>
                <a:ea typeface="Cambria" pitchFamily="34" charset="-122"/>
                <a:cs typeface="Cambria" pitchFamily="34" charset="-120"/>
              </a:rPr>
              <a:t>2013</a:t>
            </a:r>
            <a:endParaRPr lang="en-US" sz="2800" dirty="0"/>
          </a:p>
        </p:txBody>
      </p:sp>
      <p:sp>
        <p:nvSpPr>
          <p:cNvPr id="28" name="Text 26"/>
          <p:cNvSpPr/>
          <p:nvPr/>
        </p:nvSpPr>
        <p:spPr>
          <a:xfrm>
            <a:off x="7196328" y="2880360"/>
            <a:ext cx="1883664"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Founded, Perth WA</a:t>
            </a:r>
            <a:endParaRPr lang="en-US" sz="1100" dirty="0"/>
          </a:p>
        </p:txBody>
      </p:sp>
      <p:sp>
        <p:nvSpPr>
          <p:cNvPr id="29" name="Text 27"/>
          <p:cNvSpPr/>
          <p:nvPr/>
        </p:nvSpPr>
        <p:spPr>
          <a:xfrm>
            <a:off x="7196328" y="3364992"/>
            <a:ext cx="1883664" cy="237744"/>
          </a:xfrm>
          <a:prstGeom prst="rect">
            <a:avLst/>
          </a:prstGeom>
          <a:noFill/>
          <a:ln/>
        </p:spPr>
        <p:txBody>
          <a:bodyPr wrap="square" lIns="0" tIns="0" rIns="0" bIns="0" rtlCol="0" anchor="ctr"/>
          <a:lstStyle/>
          <a:p>
            <a:pPr algn="l" indent="0" marL="0">
              <a:buNone/>
            </a:pPr>
            <a:r>
              <a:rPr lang="en-US" sz="800" dirty="0">
                <a:solidFill>
                  <a:srgbClr val="E6E5DE">
                    <a:alpha val="65000"/>
                  </a:srgbClr>
                </a:solidFill>
                <a:latin typeface="Calibri" pitchFamily="34" charset="0"/>
                <a:ea typeface="Calibri" pitchFamily="34" charset="-122"/>
                <a:cs typeface="Calibri" pitchFamily="34" charset="-120"/>
              </a:rPr>
              <a:t>Company About page</a:t>
            </a:r>
            <a:endParaRPr lang="en-US" sz="800" dirty="0"/>
          </a:p>
        </p:txBody>
      </p:sp>
      <p:sp>
        <p:nvSpPr>
          <p:cNvPr id="30" name="Shape 28"/>
          <p:cNvSpPr/>
          <p:nvPr/>
        </p:nvSpPr>
        <p:spPr>
          <a:xfrm>
            <a:off x="9326880" y="2194560"/>
            <a:ext cx="2103120" cy="1463040"/>
          </a:xfrm>
          <a:prstGeom prst="rect">
            <a:avLst/>
          </a:prstGeom>
          <a:solidFill>
            <a:srgbClr val="000000"/>
          </a:solidFill>
          <a:ln/>
        </p:spPr>
      </p:sp>
      <p:sp>
        <p:nvSpPr>
          <p:cNvPr id="31" name="Shape 29"/>
          <p:cNvSpPr/>
          <p:nvPr/>
        </p:nvSpPr>
        <p:spPr>
          <a:xfrm>
            <a:off x="9326880" y="2194560"/>
            <a:ext cx="2103120" cy="54864"/>
          </a:xfrm>
          <a:prstGeom prst="rect">
            <a:avLst/>
          </a:prstGeom>
          <a:solidFill>
            <a:srgbClr val="01A296"/>
          </a:solidFill>
          <a:ln/>
        </p:spPr>
      </p:sp>
      <p:sp>
        <p:nvSpPr>
          <p:cNvPr id="32" name="Text 30"/>
          <p:cNvSpPr/>
          <p:nvPr/>
        </p:nvSpPr>
        <p:spPr>
          <a:xfrm>
            <a:off x="9436608" y="2359152"/>
            <a:ext cx="1883664" cy="502920"/>
          </a:xfrm>
          <a:prstGeom prst="rect">
            <a:avLst/>
          </a:prstGeom>
          <a:noFill/>
          <a:ln/>
        </p:spPr>
        <p:txBody>
          <a:bodyPr wrap="square" lIns="0" tIns="0" rIns="0" bIns="0" rtlCol="0" anchor="ctr"/>
          <a:lstStyle/>
          <a:p>
            <a:pPr algn="l" indent="0" marL="0">
              <a:buNone/>
            </a:pPr>
            <a:r>
              <a:rPr lang="en-US" sz="2800" b="1" dirty="0">
                <a:solidFill>
                  <a:srgbClr val="F8C806"/>
                </a:solidFill>
                <a:latin typeface="Cambria" pitchFamily="34" charset="0"/>
                <a:ea typeface="Cambria" pitchFamily="34" charset="-122"/>
                <a:cs typeface="Cambria" pitchFamily="34" charset="-120"/>
              </a:rPr>
              <a:t>#40</a:t>
            </a:r>
            <a:endParaRPr lang="en-US" sz="2800" dirty="0"/>
          </a:p>
        </p:txBody>
      </p:sp>
      <p:sp>
        <p:nvSpPr>
          <p:cNvPr id="33" name="Text 31"/>
          <p:cNvSpPr/>
          <p:nvPr/>
        </p:nvSpPr>
        <p:spPr>
          <a:xfrm>
            <a:off x="9436608" y="2880360"/>
            <a:ext cx="1883664" cy="457200"/>
          </a:xfrm>
          <a:prstGeom prst="rect">
            <a:avLst/>
          </a:prstGeom>
          <a:noFill/>
          <a:ln/>
        </p:spPr>
        <p:txBody>
          <a:bodyPr wrap="square" lIns="0" tIns="0" rIns="0" bIns="0" rtlCol="0" anchor="t"/>
          <a:lstStyle/>
          <a:p>
            <a:pPr algn="l" indent="0" marL="0">
              <a:buNone/>
            </a:pPr>
            <a:r>
              <a:rPr lang="en-US" sz="1100" dirty="0">
                <a:solidFill>
                  <a:srgbClr val="E6E5DE"/>
                </a:solidFill>
                <a:latin typeface="Calibri" pitchFamily="34" charset="0"/>
                <a:ea typeface="Calibri" pitchFamily="34" charset="-122"/>
                <a:cs typeface="Calibri" pitchFamily="34" charset="-120"/>
              </a:rPr>
              <a:t>Smart50 2025 rank of 50</a:t>
            </a:r>
            <a:endParaRPr lang="en-US" sz="1100" dirty="0"/>
          </a:p>
        </p:txBody>
      </p:sp>
      <p:sp>
        <p:nvSpPr>
          <p:cNvPr id="34" name="Text 32"/>
          <p:cNvSpPr/>
          <p:nvPr/>
        </p:nvSpPr>
        <p:spPr>
          <a:xfrm>
            <a:off x="9436608" y="3364992"/>
            <a:ext cx="1883664" cy="237744"/>
          </a:xfrm>
          <a:prstGeom prst="rect">
            <a:avLst/>
          </a:prstGeom>
          <a:noFill/>
          <a:ln/>
        </p:spPr>
        <p:txBody>
          <a:bodyPr wrap="square" lIns="0" tIns="0" rIns="0" bIns="0" rtlCol="0" anchor="ctr"/>
          <a:lstStyle/>
          <a:p>
            <a:pPr algn="l" indent="0" marL="0">
              <a:buNone/>
            </a:pPr>
            <a:r>
              <a:rPr lang="en-US" sz="800" dirty="0">
                <a:solidFill>
                  <a:srgbClr val="E6E5DE">
                    <a:alpha val="65000"/>
                  </a:srgbClr>
                </a:solidFill>
                <a:latin typeface="Calibri" pitchFamily="34" charset="0"/>
                <a:ea typeface="Calibri" pitchFamily="34" charset="-122"/>
                <a:cs typeface="Calibri" pitchFamily="34" charset="-120"/>
              </a:rPr>
              <a:t>SmartCompany Smart50 2025</a:t>
            </a:r>
            <a:endParaRPr lang="en-US" sz="800" dirty="0"/>
          </a:p>
        </p:txBody>
      </p:sp>
      <p:sp>
        <p:nvSpPr>
          <p:cNvPr id="35" name="Text 33"/>
          <p:cNvSpPr/>
          <p:nvPr/>
        </p:nvSpPr>
        <p:spPr>
          <a:xfrm>
            <a:off x="365760" y="3794760"/>
            <a:ext cx="5029200" cy="274320"/>
          </a:xfrm>
          <a:prstGeom prst="rect">
            <a:avLst/>
          </a:prstGeom>
          <a:noFill/>
          <a:ln/>
        </p:spPr>
        <p:txBody>
          <a:bodyPr wrap="square" lIns="0" tIns="0" rIns="0" bIns="0" rtlCol="0" anchor="ctr"/>
          <a:lstStyle/>
          <a:p>
            <a:pPr algn="l" indent="0" marL="0">
              <a:buNone/>
            </a:pPr>
            <a:r>
              <a:rPr lang="en-US" sz="1100" b="1" dirty="0">
                <a:solidFill>
                  <a:srgbClr val="01A296"/>
                </a:solidFill>
                <a:latin typeface="Calibri" pitchFamily="34" charset="0"/>
                <a:ea typeface="Calibri" pitchFamily="34" charset="-122"/>
                <a:cs typeface="Calibri" pitchFamily="34" charset="-120"/>
              </a:rPr>
              <a:t>REVENUE TRAJECTORY</a:t>
            </a:r>
            <a:endParaRPr lang="en-US" sz="1100" dirty="0"/>
          </a:p>
        </p:txBody>
      </p:sp>
      <p:graphicFrame>
        <p:nvGraphicFramePr>
          <p:cNvPr id="36" name="Chart 0" descr=""/>
          <p:cNvGraphicFramePr/>
          <p:nvPr/>
        </p:nvGraphicFramePr>
        <p:xfrm>
          <a:off x="365760" y="4114800"/>
          <a:ext cx="5029200" cy="1920240"/>
        </p:xfrm>
        <a:graphic xmlns:a="http://schemas.openxmlformats.org/drawingml/2006/main">
          <a:graphicData uri="http://schemas.openxmlformats.org/drawingml/2006/chart">
            <c:chart xmlns:c="http://schemas.openxmlformats.org/drawingml/2006/chart" r:id="rId1"/>
          </a:graphicData>
        </a:graphic>
      </p:graphicFrame>
      <p:sp>
        <p:nvSpPr>
          <p:cNvPr id="37" name="Text 34"/>
          <p:cNvSpPr/>
          <p:nvPr/>
        </p:nvSpPr>
        <p:spPr>
          <a:xfrm>
            <a:off x="365760" y="6199632"/>
            <a:ext cx="5029200" cy="228600"/>
          </a:xfrm>
          <a:prstGeom prst="rect">
            <a:avLst/>
          </a:prstGeom>
          <a:noFill/>
          <a:ln/>
        </p:spPr>
        <p:txBody>
          <a:bodyPr wrap="square" lIns="0" tIns="0" rIns="0" bIns="0" rtlCol="0" anchor="ctr"/>
          <a:lstStyle/>
          <a:p>
            <a:pPr algn="l" indent="0" marL="0">
              <a:buNone/>
            </a:pPr>
            <a:r>
              <a:rPr lang="en-US" sz="800" dirty="0">
                <a:solidFill>
                  <a:srgbClr val="000000">
                    <a:alpha val="60000"/>
                  </a:srgbClr>
                </a:solidFill>
                <a:latin typeface="Calibri" pitchFamily="34" charset="0"/>
                <a:ea typeface="Calibri" pitchFamily="34" charset="-122"/>
                <a:cs typeface="Calibri" pitchFamily="34" charset="-120"/>
              </a:rPr>
              <a:t>SmartCompany Smart50 2023 and 2025 profiles</a:t>
            </a:r>
            <a:endParaRPr lang="en-US" sz="800" dirty="0"/>
          </a:p>
        </p:txBody>
      </p:sp>
      <p:sp>
        <p:nvSpPr>
          <p:cNvPr id="38" name="Text 35"/>
          <p:cNvSpPr/>
          <p:nvPr/>
        </p:nvSpPr>
        <p:spPr>
          <a:xfrm>
            <a:off x="5715000" y="3794760"/>
            <a:ext cx="6080760" cy="274320"/>
          </a:xfrm>
          <a:prstGeom prst="rect">
            <a:avLst/>
          </a:prstGeom>
          <a:noFill/>
          <a:ln/>
        </p:spPr>
        <p:txBody>
          <a:bodyPr wrap="square" lIns="0" tIns="0" rIns="0" bIns="0" rtlCol="0" anchor="ctr"/>
          <a:lstStyle/>
          <a:p>
            <a:pPr algn="l" indent="0" marL="0">
              <a:buNone/>
            </a:pPr>
            <a:r>
              <a:rPr lang="en-US" sz="1100" b="1" dirty="0">
                <a:solidFill>
                  <a:srgbClr val="01A296"/>
                </a:solidFill>
                <a:latin typeface="Calibri" pitchFamily="34" charset="0"/>
                <a:ea typeface="Calibri" pitchFamily="34" charset="-122"/>
                <a:cs typeface="Calibri" pitchFamily="34" charset="-120"/>
              </a:rPr>
              <a:t>KEY COMMERCIAL SIGNALS</a:t>
            </a:r>
            <a:endParaRPr lang="en-US" sz="1100" dirty="0"/>
          </a:p>
        </p:txBody>
      </p:sp>
      <p:sp>
        <p:nvSpPr>
          <p:cNvPr id="39" name="Text 36"/>
          <p:cNvSpPr/>
          <p:nvPr/>
        </p:nvSpPr>
        <p:spPr>
          <a:xfrm>
            <a:off x="5715000" y="4114800"/>
            <a:ext cx="6080760" cy="210312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Ranked 40th in the 2025 Smart50, up from 20th in 2023, per SmartCompany citations.</a:t>
            </a:r>
            <a:endParaRPr lang="en-US" sz="1100" dirty="0"/>
          </a:p>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Revenue rose from 4.46 million to 7.4 million in two years, a 28 percent rise.</a:t>
            </a:r>
            <a:endParaRPr lang="en-US" sz="1100" dirty="0"/>
          </a:p>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Also named in the 2025 techpartner.news Fast50 list of growing Australian IT firms.</a:t>
            </a:r>
            <a:endParaRPr lang="en-US" sz="1100" dirty="0"/>
          </a:p>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States a plan to build a new sales team over the next 12 months, per Smart50 2025.</a:t>
            </a:r>
            <a:endParaRPr lang="en-US" sz="1100" dirty="0"/>
          </a:p>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Opened a Devonport, Tasmania office and plans a Kuala Lumpur market entry next.</a:t>
            </a:r>
            <a:endParaRPr lang="en-US" sz="1100" dirty="0"/>
          </a:p>
          <a:p>
            <a:pPr marL="342900" indent="-342900">
              <a:spcAft>
                <a:spcPts val="800"/>
              </a:spcAft>
              <a:buSzPct val="100000"/>
              <a:buChar char="•"/>
            </a:pPr>
            <a:r>
              <a:rPr lang="en-US" sz="1100" dirty="0">
                <a:solidFill>
                  <a:srgbClr val="000000"/>
                </a:solidFill>
                <a:latin typeface="Calibri" pitchFamily="34" charset="0"/>
                <a:ea typeface="Calibri" pitchFamily="34" charset="-122"/>
                <a:cs typeface="Calibri" pitchFamily="34" charset="-120"/>
              </a:rPr>
              <a:t>Great Place To Work Australia certified, per the company's Great Place To Work profile.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THE OPPORTUNITY</a:t>
            </a:r>
            <a:endParaRPr lang="en-US" sz="1200" dirty="0"/>
          </a:p>
        </p:txBody>
      </p:sp>
      <p:sp>
        <p:nvSpPr>
          <p:cNvPr id="5" name="Text 3"/>
          <p:cNvSpPr/>
          <p:nvPr/>
        </p:nvSpPr>
        <p:spPr>
          <a:xfrm>
            <a:off x="859536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7772400" cy="274320"/>
          </a:xfrm>
          <a:prstGeom prst="rect">
            <a:avLst/>
          </a:prstGeom>
          <a:noFill/>
          <a:ln/>
        </p:spPr>
        <p:txBody>
          <a:bodyPr wrap="square" lIns="0" tIns="0" rIns="0" bIns="0" rtlCol="0" anchor="ctr"/>
          <a:lstStyle/>
          <a:p>
            <a:pPr algn="l" indent="0" marL="0">
              <a:buNone/>
            </a:pPr>
            <a:r>
              <a:rPr lang="en-US" sz="800" dirty="0">
                <a:solidFill>
                  <a:srgbClr val="000000">
                    <a:alpha val="60000"/>
                  </a:srgbClr>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8595360" y="6446520"/>
            <a:ext cx="3200400" cy="274320"/>
          </a:xfrm>
          <a:prstGeom prst="rect">
            <a:avLst/>
          </a:prstGeom>
          <a:noFill/>
          <a:ln/>
        </p:spPr>
        <p:txBody>
          <a:bodyPr wrap="square" lIns="0" tIns="0" rIns="0" bIns="0" rtlCol="0" anchor="ctr"/>
          <a:lstStyle/>
          <a:p>
            <a:pPr algn="r" indent="0" marL="0">
              <a:buNone/>
            </a:pPr>
            <a:r>
              <a:rPr lang="en-US" sz="800" dirty="0">
                <a:solidFill>
                  <a:srgbClr val="000000">
                    <a:alpha val="60000"/>
                  </a:srgbClr>
                </a:solidFill>
                <a:latin typeface="Calibri" pitchFamily="34" charset="0"/>
                <a:ea typeface="Calibri" pitchFamily="34" charset="-122"/>
                <a:cs typeface="Calibri" pitchFamily="34" charset="-120"/>
              </a:rPr>
              <a:t>08 Aug 2026</a:t>
            </a:r>
            <a:endParaRPr lang="en-US" sz="800" dirty="0"/>
          </a:p>
        </p:txBody>
      </p:sp>
      <p:sp>
        <p:nvSpPr>
          <p:cNvPr id="8" name="Text 6"/>
          <p:cNvSpPr/>
          <p:nvPr/>
        </p:nvSpPr>
        <p:spPr>
          <a:xfrm>
            <a:off x="365760" y="1051560"/>
            <a:ext cx="11430000" cy="365760"/>
          </a:xfrm>
          <a:prstGeom prst="rect">
            <a:avLst/>
          </a:prstGeom>
          <a:noFill/>
          <a:ln/>
        </p:spPr>
        <p:txBody>
          <a:bodyPr wrap="square" lIns="0" tIns="0" rIns="0" bIns="0" rtlCol="0" anchor="ctr"/>
          <a:lstStyle/>
          <a:p>
            <a:pPr algn="l" indent="0" marL="0">
              <a:buNone/>
            </a:pPr>
            <a:r>
              <a:rPr lang="en-US" sz="1300" b="1" spc="100" kern="0" dirty="0">
                <a:solidFill>
                  <a:srgbClr val="01A296"/>
                </a:solidFill>
                <a:latin typeface="Calibri" pitchFamily="34" charset="0"/>
                <a:ea typeface="Calibri" pitchFamily="34" charset="-122"/>
                <a:cs typeface="Calibri" pitchFamily="34" charset="-120"/>
              </a:rPr>
              <a:t>Catalytic IT: three commercial observations from ProfitPulse</a:t>
            </a:r>
            <a:endParaRPr lang="en-US" sz="1300" dirty="0"/>
          </a:p>
        </p:txBody>
      </p:sp>
      <p:sp>
        <p:nvSpPr>
          <p:cNvPr id="9" name="Shape 7"/>
          <p:cNvSpPr/>
          <p:nvPr/>
        </p:nvSpPr>
        <p:spPr>
          <a:xfrm>
            <a:off x="365760" y="1508760"/>
            <a:ext cx="3657600" cy="3429000"/>
          </a:xfrm>
          <a:prstGeom prst="rect">
            <a:avLst/>
          </a:prstGeom>
          <a:solidFill>
            <a:srgbClr val="01A296"/>
          </a:solidFill>
          <a:ln/>
        </p:spPr>
      </p:sp>
      <p:sp>
        <p:nvSpPr>
          <p:cNvPr id="10" name="Text 8"/>
          <p:cNvSpPr/>
          <p:nvPr/>
        </p:nvSpPr>
        <p:spPr>
          <a:xfrm>
            <a:off x="621792" y="1709928"/>
            <a:ext cx="3145536" cy="731520"/>
          </a:xfrm>
          <a:prstGeom prst="rect">
            <a:avLst/>
          </a:prstGeom>
          <a:noFill/>
          <a:ln/>
        </p:spPr>
        <p:txBody>
          <a:bodyPr wrap="square" lIns="0" tIns="0" rIns="0" bIns="0" rtlCol="0" anchor="ctr"/>
          <a:lstStyle/>
          <a:p>
            <a:pPr algn="l" indent="0" marL="0">
              <a:buNone/>
            </a:pPr>
            <a:r>
              <a:rPr lang="en-US" sz="4600" b="1" dirty="0">
                <a:solidFill>
                  <a:srgbClr val="000000">
                    <a:alpha val="65000"/>
                  </a:srgbClr>
                </a:solidFill>
                <a:latin typeface="Cambria" pitchFamily="34" charset="0"/>
                <a:ea typeface="Cambria" pitchFamily="34" charset="-122"/>
                <a:cs typeface="Cambria" pitchFamily="34" charset="-120"/>
              </a:rPr>
              <a:t>01</a:t>
            </a:r>
            <a:endParaRPr lang="en-US" sz="4600" dirty="0"/>
          </a:p>
        </p:txBody>
      </p:sp>
      <p:sp>
        <p:nvSpPr>
          <p:cNvPr id="11" name="Text 9"/>
          <p:cNvSpPr/>
          <p:nvPr/>
        </p:nvSpPr>
        <p:spPr>
          <a:xfrm>
            <a:off x="621792" y="2468880"/>
            <a:ext cx="3145536" cy="685800"/>
          </a:xfrm>
          <a:prstGeom prst="rect">
            <a:avLst/>
          </a:prstGeom>
          <a:noFill/>
          <a:ln/>
        </p:spPr>
        <p:txBody>
          <a:bodyPr wrap="square" lIns="0" tIns="0" rIns="0" bIns="0" rtlCol="0" anchor="t"/>
          <a:lstStyle/>
          <a:p>
            <a:pPr algn="l" indent="0" marL="0">
              <a:buNone/>
            </a:pPr>
            <a:r>
              <a:rPr lang="en-US" sz="1600" b="1" dirty="0">
                <a:solidFill>
                  <a:srgbClr val="000000"/>
                </a:solidFill>
                <a:latin typeface="Cambria" pitchFamily="34" charset="0"/>
                <a:ea typeface="Cambria" pitchFamily="34" charset="-122"/>
                <a:cs typeface="Cambria" pitchFamily="34" charset="-120"/>
              </a:rPr>
              <a:t>Growth funded without outside capital</a:t>
            </a:r>
            <a:endParaRPr lang="en-US" sz="1600" dirty="0"/>
          </a:p>
        </p:txBody>
      </p:sp>
      <p:sp>
        <p:nvSpPr>
          <p:cNvPr id="12" name="Text 10"/>
          <p:cNvSpPr/>
          <p:nvPr/>
        </p:nvSpPr>
        <p:spPr>
          <a:xfrm>
            <a:off x="621792" y="3200400"/>
            <a:ext cx="3145536" cy="1554480"/>
          </a:xfrm>
          <a:prstGeom prst="rect">
            <a:avLst/>
          </a:prstGeom>
          <a:noFill/>
          <a:ln/>
        </p:spPr>
        <p:txBody>
          <a:bodyPr wrap="square" lIns="0" tIns="0" rIns="0" bIns="0" rtlCol="0" anchor="t"/>
          <a:lstStyle/>
          <a:p>
            <a:pPr algn="l" indent="0" marL="0">
              <a:lnSpc>
                <a:spcPct val="125000"/>
              </a:lnSpc>
              <a:buNone/>
            </a:pPr>
            <a:r>
              <a:rPr lang="en-US" sz="1100" dirty="0">
                <a:solidFill>
                  <a:srgbClr val="000000"/>
                </a:solidFill>
                <a:latin typeface="Calibri" pitchFamily="34" charset="0"/>
                <a:ea typeface="Calibri" pitchFamily="34" charset="-122"/>
                <a:cs typeface="Calibri" pitchFamily="34" charset="-120"/>
              </a:rPr>
              <a:t>Revenue moved from 2.5 million to 4.46 million to 7.4 million dollars across three Smart50 cycles, roughly tripling, with no raise, facility or equity round found anywhere in the public record. Before a new sales team and a second country are added, it is worth knowing exactly how much balance sheet headroom remains.</a:t>
            </a:r>
            <a:endParaRPr lang="en-US" sz="1100" dirty="0"/>
          </a:p>
        </p:txBody>
      </p:sp>
      <p:sp>
        <p:nvSpPr>
          <p:cNvPr id="13" name="Shape 11"/>
          <p:cNvSpPr/>
          <p:nvPr/>
        </p:nvSpPr>
        <p:spPr>
          <a:xfrm>
            <a:off x="4160520" y="1508760"/>
            <a:ext cx="3657600" cy="3429000"/>
          </a:xfrm>
          <a:prstGeom prst="rect">
            <a:avLst/>
          </a:prstGeom>
          <a:solidFill>
            <a:srgbClr val="000000"/>
          </a:solidFill>
          <a:ln/>
        </p:spPr>
      </p:sp>
      <p:sp>
        <p:nvSpPr>
          <p:cNvPr id="14" name="Text 12"/>
          <p:cNvSpPr/>
          <p:nvPr/>
        </p:nvSpPr>
        <p:spPr>
          <a:xfrm>
            <a:off x="4416552" y="1709928"/>
            <a:ext cx="3145536" cy="731520"/>
          </a:xfrm>
          <a:prstGeom prst="rect">
            <a:avLst/>
          </a:prstGeom>
          <a:noFill/>
          <a:ln/>
        </p:spPr>
        <p:txBody>
          <a:bodyPr wrap="square" lIns="0" tIns="0" rIns="0" bIns="0" rtlCol="0" anchor="ctr"/>
          <a:lstStyle/>
          <a:p>
            <a:pPr algn="l" indent="0" marL="0">
              <a:buNone/>
            </a:pPr>
            <a:r>
              <a:rPr lang="en-US" sz="4600" b="1" dirty="0">
                <a:solidFill>
                  <a:srgbClr val="E6E5DE">
                    <a:alpha val="65000"/>
                  </a:srgbClr>
                </a:solidFill>
                <a:latin typeface="Cambria" pitchFamily="34" charset="0"/>
                <a:ea typeface="Cambria" pitchFamily="34" charset="-122"/>
                <a:cs typeface="Cambria" pitchFamily="34" charset="-120"/>
              </a:rPr>
              <a:t>02</a:t>
            </a:r>
            <a:endParaRPr lang="en-US" sz="4600" dirty="0"/>
          </a:p>
        </p:txBody>
      </p:sp>
      <p:sp>
        <p:nvSpPr>
          <p:cNvPr id="15" name="Text 13"/>
          <p:cNvSpPr/>
          <p:nvPr/>
        </p:nvSpPr>
        <p:spPr>
          <a:xfrm>
            <a:off x="4416552" y="2468880"/>
            <a:ext cx="3145536" cy="685800"/>
          </a:xfrm>
          <a:prstGeom prst="rect">
            <a:avLst/>
          </a:prstGeom>
          <a:noFill/>
          <a:ln/>
        </p:spPr>
        <p:txBody>
          <a:bodyPr wrap="square" lIns="0" tIns="0" rIns="0" bIns="0" rtlCol="0" anchor="t"/>
          <a:lstStyle/>
          <a:p>
            <a:pPr algn="l" indent="0" marL="0">
              <a:buNone/>
            </a:pPr>
            <a:r>
              <a:rPr lang="en-US" sz="1600" b="1" dirty="0">
                <a:solidFill>
                  <a:srgbClr val="E6E5DE"/>
                </a:solidFill>
                <a:latin typeface="Cambria" pitchFamily="34" charset="0"/>
                <a:ea typeface="Cambria" pitchFamily="34" charset="-122"/>
                <a:cs typeface="Cambria" pitchFamily="34" charset="-120"/>
              </a:rPr>
              <a:t>Flat headcount, tripling revenue</a:t>
            </a:r>
            <a:endParaRPr lang="en-US" sz="1600" dirty="0"/>
          </a:p>
        </p:txBody>
      </p:sp>
      <p:sp>
        <p:nvSpPr>
          <p:cNvPr id="16" name="Text 14"/>
          <p:cNvSpPr/>
          <p:nvPr/>
        </p:nvSpPr>
        <p:spPr>
          <a:xfrm>
            <a:off x="4416552" y="3200400"/>
            <a:ext cx="3145536" cy="1554480"/>
          </a:xfrm>
          <a:prstGeom prst="rect">
            <a:avLst/>
          </a:prstGeom>
          <a:noFill/>
          <a:ln/>
        </p:spPr>
        <p:txBody>
          <a:bodyPr wrap="square" lIns="0" tIns="0" rIns="0" bIns="0" rtlCol="0" anchor="t"/>
          <a:lstStyle/>
          <a:p>
            <a:pPr algn="l" indent="0" marL="0">
              <a:lnSpc>
                <a:spcPct val="125000"/>
              </a:lnSpc>
              <a:buNone/>
            </a:pPr>
            <a:r>
              <a:rPr lang="en-US" sz="1100" dirty="0">
                <a:solidFill>
                  <a:srgbClr val="E6E5DE"/>
                </a:solidFill>
                <a:latin typeface="Calibri" pitchFamily="34" charset="0"/>
                <a:ea typeface="Calibri" pitchFamily="34" charset="-122"/>
                <a:cs typeface="Calibri" pitchFamily="34" charset="-120"/>
              </a:rPr>
              <a:t>Two separate Smart50 profiles, 2023 and 2025, both cite 23 employees while revenue climbed from 4.46 million to 7.4 million dollars, a real productivity story. A sales led expansion is a different kind of hire, and the rhythm that suited 23 technical people may not suit a new sales function.</a:t>
            </a:r>
            <a:endParaRPr lang="en-US" sz="1100" dirty="0"/>
          </a:p>
        </p:txBody>
      </p:sp>
      <p:sp>
        <p:nvSpPr>
          <p:cNvPr id="17" name="Shape 15"/>
          <p:cNvSpPr/>
          <p:nvPr/>
        </p:nvSpPr>
        <p:spPr>
          <a:xfrm>
            <a:off x="7955280" y="1508760"/>
            <a:ext cx="3657600" cy="3429000"/>
          </a:xfrm>
          <a:prstGeom prst="rect">
            <a:avLst/>
          </a:prstGeom>
          <a:solidFill>
            <a:srgbClr val="E3A712"/>
          </a:solidFill>
          <a:ln/>
        </p:spPr>
      </p:sp>
      <p:sp>
        <p:nvSpPr>
          <p:cNvPr id="18" name="Text 16"/>
          <p:cNvSpPr/>
          <p:nvPr/>
        </p:nvSpPr>
        <p:spPr>
          <a:xfrm>
            <a:off x="8211312" y="1709928"/>
            <a:ext cx="3145536" cy="731520"/>
          </a:xfrm>
          <a:prstGeom prst="rect">
            <a:avLst/>
          </a:prstGeom>
          <a:noFill/>
          <a:ln/>
        </p:spPr>
        <p:txBody>
          <a:bodyPr wrap="square" lIns="0" tIns="0" rIns="0" bIns="0" rtlCol="0" anchor="ctr"/>
          <a:lstStyle/>
          <a:p>
            <a:pPr algn="l" indent="0" marL="0">
              <a:buNone/>
            </a:pPr>
            <a:r>
              <a:rPr lang="en-US" sz="4600" b="1" dirty="0">
                <a:solidFill>
                  <a:srgbClr val="000000">
                    <a:alpha val="65000"/>
                  </a:srgbClr>
                </a:solidFill>
                <a:latin typeface="Cambria" pitchFamily="34" charset="0"/>
                <a:ea typeface="Cambria" pitchFamily="34" charset="-122"/>
                <a:cs typeface="Cambria" pitchFamily="34" charset="-120"/>
              </a:rPr>
              <a:t>03</a:t>
            </a:r>
            <a:endParaRPr lang="en-US" sz="4600" dirty="0"/>
          </a:p>
        </p:txBody>
      </p:sp>
      <p:sp>
        <p:nvSpPr>
          <p:cNvPr id="19" name="Text 17"/>
          <p:cNvSpPr/>
          <p:nvPr/>
        </p:nvSpPr>
        <p:spPr>
          <a:xfrm>
            <a:off x="8211312" y="2468880"/>
            <a:ext cx="3145536" cy="685800"/>
          </a:xfrm>
          <a:prstGeom prst="rect">
            <a:avLst/>
          </a:prstGeom>
          <a:noFill/>
          <a:ln/>
        </p:spPr>
        <p:txBody>
          <a:bodyPr wrap="square" lIns="0" tIns="0" rIns="0" bIns="0" rtlCol="0" anchor="t"/>
          <a:lstStyle/>
          <a:p>
            <a:pPr algn="l" indent="0" marL="0">
              <a:buNone/>
            </a:pPr>
            <a:r>
              <a:rPr lang="en-US" sz="1600" b="1" dirty="0">
                <a:solidFill>
                  <a:srgbClr val="000000"/>
                </a:solidFill>
                <a:latin typeface="Cambria" pitchFamily="34" charset="0"/>
                <a:ea typeface="Cambria" pitchFamily="34" charset="-122"/>
                <a:cs typeface="Cambria" pitchFamily="34" charset="-120"/>
              </a:rPr>
              <a:t>A growth plan that is not yet costed</a:t>
            </a:r>
            <a:endParaRPr lang="en-US" sz="1600" dirty="0"/>
          </a:p>
        </p:txBody>
      </p:sp>
      <p:sp>
        <p:nvSpPr>
          <p:cNvPr id="20" name="Text 18"/>
          <p:cNvSpPr/>
          <p:nvPr/>
        </p:nvSpPr>
        <p:spPr>
          <a:xfrm>
            <a:off x="8211312" y="3200400"/>
            <a:ext cx="3145536" cy="1554480"/>
          </a:xfrm>
          <a:prstGeom prst="rect">
            <a:avLst/>
          </a:prstGeom>
          <a:noFill/>
          <a:ln/>
        </p:spPr>
        <p:txBody>
          <a:bodyPr wrap="square" lIns="0" tIns="0" rIns="0" bIns="0" rtlCol="0" anchor="t"/>
          <a:lstStyle/>
          <a:p>
            <a:pPr algn="l" indent="0" marL="0">
              <a:lnSpc>
                <a:spcPct val="125000"/>
              </a:lnSpc>
              <a:buNone/>
            </a:pPr>
            <a:r>
              <a:rPr lang="en-US" sz="1100" dirty="0">
                <a:solidFill>
                  <a:srgbClr val="000000"/>
                </a:solidFill>
                <a:latin typeface="Calibri" pitchFamily="34" charset="0"/>
                <a:ea typeface="Calibri" pitchFamily="34" charset="-122"/>
                <a:cs typeface="Calibri" pitchFamily="34" charset="-120"/>
              </a:rPr>
              <a:t>The Smart50 2025 profile states a plan to build a new sales team over the next 12 months, plus a Devonport office already open and a planned Kuala Lumpur entry. None of that is costed publicly, and each piece competes for the same cash. A Strategic Growth Diagnostic turns intent into a funded plan.</a:t>
            </a:r>
            <a:endParaRPr lang="en-US" sz="1100" dirty="0"/>
          </a:p>
        </p:txBody>
      </p:sp>
      <p:sp>
        <p:nvSpPr>
          <p:cNvPr id="21" name="Text 19"/>
          <p:cNvSpPr/>
          <p:nvPr/>
        </p:nvSpPr>
        <p:spPr>
          <a:xfrm>
            <a:off x="365760" y="5166360"/>
            <a:ext cx="11430000" cy="502920"/>
          </a:xfrm>
          <a:prstGeom prst="rect">
            <a:avLst/>
          </a:prstGeom>
          <a:noFill/>
          <a:ln/>
        </p:spPr>
        <p:txBody>
          <a:bodyPr wrap="square" lIns="0" tIns="0" rIns="0" bIns="0" rtlCol="0" anchor="t"/>
          <a:lstStyle/>
          <a:p>
            <a:pPr algn="l" indent="0" marL="0">
              <a:buNone/>
            </a:pPr>
            <a:r>
              <a:rPr lang="en-US" sz="1100" i="1" dirty="0">
                <a:solidFill>
                  <a:srgbClr val="000000">
                    <a:alpha val="85000"/>
                  </a:srgbClr>
                </a:solidFill>
                <a:latin typeface="Calibri" pitchFamily="34" charset="0"/>
                <a:ea typeface="Calibri" pitchFamily="34" charset="-122"/>
                <a:cs typeface="Calibri" pitchFamily="34" charset="-120"/>
              </a:rPr>
              <a:t>These observations are offered in good faith. Catalytic IT has built something genuinely strong. The question is simply whether the financial architecture keeps pace with the ambition.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F6A102"/>
          </a:solidFill>
          <a:ln/>
        </p:spPr>
      </p:sp>
      <p:sp>
        <p:nvSpPr>
          <p:cNvPr id="3" name="Shape 1"/>
          <p:cNvSpPr/>
          <p:nvPr/>
        </p:nvSpPr>
        <p:spPr>
          <a:xfrm>
            <a:off x="0" y="0"/>
            <a:ext cx="12191695" cy="914400"/>
          </a:xfrm>
          <a:prstGeom prst="rect">
            <a:avLst/>
          </a:prstGeom>
          <a:solidFill>
            <a:srgbClr val="000000"/>
          </a:solidFill>
          <a:ln/>
        </p:spPr>
      </p:sp>
      <p:sp>
        <p:nvSpPr>
          <p:cNvPr id="4" name="Text 2"/>
          <p:cNvSpPr/>
          <p:nvPr/>
        </p:nvSpPr>
        <p:spPr>
          <a:xfrm>
            <a:off x="274320" y="292608"/>
            <a:ext cx="6858000" cy="365760"/>
          </a:xfrm>
          <a:prstGeom prst="rect">
            <a:avLst/>
          </a:prstGeom>
          <a:noFill/>
          <a:ln/>
        </p:spPr>
        <p:txBody>
          <a:bodyPr wrap="square" lIns="0" tIns="0" rIns="0" bIns="0" rtlCol="0" anchor="ctr"/>
          <a:lstStyle/>
          <a:p>
            <a:pPr algn="l" indent="0" marL="0">
              <a:buNone/>
            </a:pPr>
            <a:r>
              <a:rPr lang="en-US" sz="1200" b="1" dirty="0">
                <a:solidFill>
                  <a:srgbClr val="E6E5DE"/>
                </a:solidFill>
                <a:latin typeface="Calibri" pitchFamily="34" charset="0"/>
                <a:ea typeface="Calibri" pitchFamily="34" charset="-122"/>
                <a:cs typeface="Calibri" pitchFamily="34" charset="-120"/>
              </a:rPr>
              <a:t>THE RECOMMENDATION</a:t>
            </a:r>
            <a:endParaRPr lang="en-US" sz="1200" dirty="0"/>
          </a:p>
        </p:txBody>
      </p:sp>
      <p:sp>
        <p:nvSpPr>
          <p:cNvPr id="5" name="Text 3"/>
          <p:cNvSpPr/>
          <p:nvPr/>
        </p:nvSpPr>
        <p:spPr>
          <a:xfrm>
            <a:off x="8595360" y="292608"/>
            <a:ext cx="3200400" cy="365760"/>
          </a:xfrm>
          <a:prstGeom prst="rect">
            <a:avLst/>
          </a:prstGeom>
          <a:noFill/>
          <a:ln/>
        </p:spPr>
        <p:txBody>
          <a:bodyPr wrap="square" lIns="0" tIns="0" rIns="0" bIns="0" rtlCol="0" anchor="ctr"/>
          <a:lstStyle/>
          <a:p>
            <a:pPr algn="r" indent="0" marL="0">
              <a:buNone/>
            </a:pPr>
            <a:r>
              <a:rPr lang="en-US" sz="1200" b="1" dirty="0">
                <a:solidFill>
                  <a:srgbClr val="01A296"/>
                </a:solidFill>
                <a:latin typeface="Calibri" pitchFamily="34" charset="0"/>
                <a:ea typeface="Calibri" pitchFamily="34" charset="-122"/>
                <a:cs typeface="Calibri" pitchFamily="34" charset="-120"/>
              </a:rPr>
              <a:t>PROFITPULSE</a:t>
            </a:r>
            <a:endParaRPr lang="en-US" sz="1200" dirty="0"/>
          </a:p>
        </p:txBody>
      </p:sp>
      <p:sp>
        <p:nvSpPr>
          <p:cNvPr id="6" name="Text 4"/>
          <p:cNvSpPr/>
          <p:nvPr/>
        </p:nvSpPr>
        <p:spPr>
          <a:xfrm>
            <a:off x="274320" y="6446520"/>
            <a:ext cx="7772400" cy="274320"/>
          </a:xfrm>
          <a:prstGeom prst="rect">
            <a:avLst/>
          </a:prstGeom>
          <a:noFill/>
          <a:ln/>
        </p:spPr>
        <p:txBody>
          <a:bodyPr wrap="square" lIns="0" tIns="0" rIns="0" bIns="0" rtlCol="0" anchor="ctr"/>
          <a:lstStyle/>
          <a:p>
            <a:pPr algn="l" indent="0" marL="0">
              <a:buNone/>
            </a:pPr>
            <a:r>
              <a:rPr lang="en-US" sz="800" dirty="0">
                <a:solidFill>
                  <a:srgbClr val="000000">
                    <a:alpha val="60000"/>
                  </a:srgbClr>
                </a:solidFill>
                <a:latin typeface="Calibri" pitchFamily="34" charset="0"/>
                <a:ea typeface="Calibri" pitchFamily="34" charset="-122"/>
                <a:cs typeface="Calibri" pitchFamily="34" charset="-120"/>
              </a:rPr>
              <a:t>Prepared by Nitesh Roopa CA, Managing Partner, ProfitPulse, Profit-Pulse.com.au</a:t>
            </a:r>
            <a:endParaRPr lang="en-US" sz="800" dirty="0"/>
          </a:p>
        </p:txBody>
      </p:sp>
      <p:sp>
        <p:nvSpPr>
          <p:cNvPr id="7" name="Text 5"/>
          <p:cNvSpPr/>
          <p:nvPr/>
        </p:nvSpPr>
        <p:spPr>
          <a:xfrm>
            <a:off x="8595360" y="6446520"/>
            <a:ext cx="3200400" cy="274320"/>
          </a:xfrm>
          <a:prstGeom prst="rect">
            <a:avLst/>
          </a:prstGeom>
          <a:noFill/>
          <a:ln/>
        </p:spPr>
        <p:txBody>
          <a:bodyPr wrap="square" lIns="0" tIns="0" rIns="0" bIns="0" rtlCol="0" anchor="ctr"/>
          <a:lstStyle/>
          <a:p>
            <a:pPr algn="r" indent="0" marL="0">
              <a:buNone/>
            </a:pPr>
            <a:r>
              <a:rPr lang="en-US" sz="800" dirty="0">
                <a:solidFill>
                  <a:srgbClr val="000000">
                    <a:alpha val="60000"/>
                  </a:srgbClr>
                </a:solidFill>
                <a:latin typeface="Calibri" pitchFamily="34" charset="0"/>
                <a:ea typeface="Calibri" pitchFamily="34" charset="-122"/>
                <a:cs typeface="Calibri" pitchFamily="34" charset="-120"/>
              </a:rPr>
              <a:t>08 Aug 2026</a:t>
            </a:r>
            <a:endParaRPr lang="en-US" sz="800" dirty="0"/>
          </a:p>
        </p:txBody>
      </p:sp>
      <p:sp>
        <p:nvSpPr>
          <p:cNvPr id="8" name="Text 6"/>
          <p:cNvSpPr/>
          <p:nvPr/>
        </p:nvSpPr>
        <p:spPr>
          <a:xfrm>
            <a:off x="365760" y="1051560"/>
            <a:ext cx="6720840" cy="502920"/>
          </a:xfrm>
          <a:prstGeom prst="rect">
            <a:avLst/>
          </a:prstGeom>
          <a:noFill/>
          <a:ln/>
        </p:spPr>
        <p:txBody>
          <a:bodyPr wrap="square" lIns="0" tIns="0" rIns="0" bIns="0" rtlCol="0" anchor="ctr"/>
          <a:lstStyle/>
          <a:p>
            <a:pPr algn="l" indent="0" marL="0">
              <a:buNone/>
            </a:pPr>
            <a:r>
              <a:rPr lang="en-US" sz="2600" b="1" dirty="0">
                <a:solidFill>
                  <a:srgbClr val="000000"/>
                </a:solidFill>
                <a:latin typeface="Cambria" pitchFamily="34" charset="0"/>
                <a:ea typeface="Cambria" pitchFamily="34" charset="-122"/>
                <a:cs typeface="Cambria" pitchFamily="34" charset="-120"/>
              </a:rPr>
              <a:t>Strategic Growth Diagnostic</a:t>
            </a:r>
            <a:endParaRPr lang="en-US" sz="2600" dirty="0"/>
          </a:p>
        </p:txBody>
      </p:sp>
      <p:sp>
        <p:nvSpPr>
          <p:cNvPr id="9" name="Text 7"/>
          <p:cNvSpPr/>
          <p:nvPr/>
        </p:nvSpPr>
        <p:spPr>
          <a:xfrm>
            <a:off x="365760" y="1572768"/>
            <a:ext cx="6720840" cy="365760"/>
          </a:xfrm>
          <a:prstGeom prst="rect">
            <a:avLst/>
          </a:prstGeom>
          <a:noFill/>
          <a:ln/>
        </p:spPr>
        <p:txBody>
          <a:bodyPr wrap="square" lIns="0" tIns="0" rIns="0" bIns="0" rtlCol="0" anchor="ctr"/>
          <a:lstStyle/>
          <a:p>
            <a:pPr algn="l" indent="0" marL="0">
              <a:buNone/>
            </a:pPr>
            <a:r>
              <a:rPr lang="en-US" sz="2000" b="1" dirty="0">
                <a:solidFill>
                  <a:srgbClr val="F6A102"/>
                </a:solidFill>
                <a:latin typeface="Cambria" pitchFamily="34" charset="0"/>
                <a:ea typeface="Cambria" pitchFamily="34" charset="-122"/>
                <a:cs typeface="Cambria" pitchFamily="34" charset="-120"/>
              </a:rPr>
              <a:t>$3,950 </a:t>
            </a:r>
            <a:pPr algn="l" indent="0" marL="0">
              <a:buNone/>
            </a:pPr>
            <a:r>
              <a:rPr lang="en-US" sz="1300" dirty="0">
                <a:solidFill>
                  <a:srgbClr val="000000">
                    <a:alpha val="70000"/>
                  </a:srgbClr>
                </a:solidFill>
                <a:latin typeface="Calibri" pitchFamily="34" charset="0"/>
                <a:ea typeface="Calibri" pitchFamily="34" charset="-122"/>
                <a:cs typeface="Calibri" pitchFamily="34" charset="-120"/>
              </a:rPr>
              <a:t>one off</a:t>
            </a:r>
            <a:endParaRPr lang="en-US" sz="2000" dirty="0"/>
          </a:p>
        </p:txBody>
      </p:sp>
      <p:sp>
        <p:nvSpPr>
          <p:cNvPr id="10" name="Text 8"/>
          <p:cNvSpPr/>
          <p:nvPr/>
        </p:nvSpPr>
        <p:spPr>
          <a:xfrm>
            <a:off x="365760" y="1993392"/>
            <a:ext cx="6720840" cy="548640"/>
          </a:xfrm>
          <a:prstGeom prst="rect">
            <a:avLst/>
          </a:prstGeom>
          <a:noFill/>
          <a:ln/>
        </p:spPr>
        <p:txBody>
          <a:bodyPr wrap="square" lIns="0" tIns="0" rIns="0" bIns="0" rtlCol="0" anchor="t"/>
          <a:lstStyle/>
          <a:p>
            <a:pPr algn="l" indent="0" marL="0">
              <a:buNone/>
            </a:pPr>
            <a:r>
              <a:rPr lang="en-US" sz="1200" dirty="0">
                <a:solidFill>
                  <a:srgbClr val="000000"/>
                </a:solidFill>
                <a:latin typeface="Calibri" pitchFamily="34" charset="0"/>
                <a:ea typeface="Calibri" pitchFamily="34" charset="-122"/>
                <a:cs typeface="Calibri" pitchFamily="34" charset="-120"/>
              </a:rPr>
              <a:t>A six week engagement mapping revenue, capacity and margin headroom into a funded 12 month growth plan for the new sales team and market entry.</a:t>
            </a:r>
            <a:endParaRPr lang="en-US" sz="1200" dirty="0"/>
          </a:p>
        </p:txBody>
      </p:sp>
      <p:sp>
        <p:nvSpPr>
          <p:cNvPr id="11" name="Shape 9"/>
          <p:cNvSpPr/>
          <p:nvPr/>
        </p:nvSpPr>
        <p:spPr>
          <a:xfrm>
            <a:off x="365760" y="2651760"/>
            <a:ext cx="6720840" cy="1417320"/>
          </a:xfrm>
          <a:prstGeom prst="rect">
            <a:avLst/>
          </a:prstGeom>
          <a:solidFill>
            <a:srgbClr val="000000"/>
          </a:solidFill>
          <a:ln/>
        </p:spPr>
      </p:sp>
      <p:sp>
        <p:nvSpPr>
          <p:cNvPr id="12" name="Text 10"/>
          <p:cNvSpPr/>
          <p:nvPr/>
        </p:nvSpPr>
        <p:spPr>
          <a:xfrm>
            <a:off x="594360" y="2788920"/>
            <a:ext cx="6263640" cy="320040"/>
          </a:xfrm>
          <a:prstGeom prst="rect">
            <a:avLst/>
          </a:prstGeom>
          <a:noFill/>
          <a:ln/>
        </p:spPr>
        <p:txBody>
          <a:bodyPr wrap="square" lIns="0" tIns="0" rIns="0" bIns="0" rtlCol="0" anchor="ctr"/>
          <a:lstStyle/>
          <a:p>
            <a:pPr algn="l" indent="0" marL="0">
              <a:buNone/>
            </a:pPr>
            <a:r>
              <a:rPr lang="en-US" sz="1400" b="1" dirty="0">
                <a:solidFill>
                  <a:srgbClr val="F8C806"/>
                </a:solidFill>
                <a:latin typeface="Calibri" pitchFamily="34" charset="0"/>
                <a:ea typeface="Calibri" pitchFamily="34" charset="-122"/>
                <a:cs typeface="Calibri" pitchFamily="34" charset="-120"/>
              </a:rPr>
              <a:t>Step one, answer a few quick questions</a:t>
            </a:r>
            <a:endParaRPr lang="en-US" sz="1400" dirty="0"/>
          </a:p>
        </p:txBody>
      </p:sp>
      <p:sp>
        <p:nvSpPr>
          <p:cNvPr id="13" name="Text 11"/>
          <p:cNvSpPr/>
          <p:nvPr/>
        </p:nvSpPr>
        <p:spPr>
          <a:xfrm>
            <a:off x="594360" y="3127248"/>
            <a:ext cx="6263640" cy="292608"/>
          </a:xfrm>
          <a:prstGeom prst="rect">
            <a:avLst/>
          </a:prstGeom>
          <a:noFill/>
          <a:ln/>
        </p:spPr>
        <p:txBody>
          <a:bodyPr wrap="square" lIns="0" tIns="0" rIns="0" bIns="0" rtlCol="0" anchor="ctr"/>
          <a:lstStyle/>
          <a:p>
            <a:pPr algn="l" indent="0" marL="0">
              <a:buNone/>
            </a:pPr>
            <a:r>
              <a:rPr lang="en-US" sz="1100" dirty="0">
                <a:solidFill>
                  <a:srgbClr val="E6E5DE"/>
                </a:solidFill>
                <a:latin typeface="Calibri" pitchFamily="34" charset="0"/>
                <a:ea typeface="Calibri" pitchFamily="34" charset="-122"/>
                <a:cs typeface="Calibri" pitchFamily="34" charset="-120"/>
              </a:rPr>
              <a:t>See the solutions matched to your size and industry.</a:t>
            </a:r>
            <a:endParaRPr lang="en-US" sz="1100" dirty="0"/>
          </a:p>
        </p:txBody>
      </p:sp>
      <p:sp>
        <p:nvSpPr>
          <p:cNvPr id="14" name="Text 12">
            <a:hlinkClick r:id="rId1" tooltip=""/>
          </p:cNvPr>
          <p:cNvSpPr/>
          <p:nvPr/>
        </p:nvSpPr>
        <p:spPr>
          <a:xfrm>
            <a:off x="594360" y="3456432"/>
            <a:ext cx="6263640" cy="292608"/>
          </a:xfrm>
          <a:prstGeom prst="rect">
            <a:avLst/>
          </a:prstGeom>
          <a:noFill/>
          <a:ln/>
        </p:spPr>
        <p:txBody>
          <a:bodyPr wrap="square" lIns="0" tIns="0" rIns="0" bIns="0" rtlCol="0" anchor="ctr"/>
          <a:lstStyle/>
          <a:p>
            <a:pPr algn="l" indent="0" marL="0">
              <a:buNone/>
            </a:pPr>
            <a:r>
              <a:rPr lang="en-US" sz="1200" b="1" u="sng" dirty="0">
                <a:solidFill>
                  <a:srgbClr val="01A29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profit-pulse.com.au/services/find-your-fit</a:t>
            </a:r>
            <a:endParaRPr lang="en-US" sz="1200" dirty="0"/>
          </a:p>
        </p:txBody>
      </p:sp>
      <p:sp>
        <p:nvSpPr>
          <p:cNvPr id="15" name="Text 13">
            <a:hlinkClick r:id="rId2" tooltip=""/>
          </p:cNvPr>
          <p:cNvSpPr/>
          <p:nvPr/>
        </p:nvSpPr>
        <p:spPr>
          <a:xfrm>
            <a:off x="594360" y="3794760"/>
            <a:ext cx="6263640" cy="256032"/>
          </a:xfrm>
          <a:prstGeom prst="rect">
            <a:avLst/>
          </a:prstGeom>
          <a:noFill/>
          <a:ln/>
        </p:spPr>
        <p:txBody>
          <a:bodyPr wrap="square" lIns="0" tIns="0" rIns="0" bIns="0" rtlCol="0" anchor="ctr"/>
          <a:lstStyle/>
          <a:p>
            <a:pPr algn="l" indent="0" marL="0">
              <a:buNone/>
            </a:pPr>
            <a:r>
              <a:rPr lang="en-US" sz="1000" u="sng" dirty="0">
                <a:solidFill>
                  <a:srgbClr val="E6E5D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Prefer a conversation first? Book a complimentary discovery call.</a:t>
            </a:r>
            <a:endParaRPr lang="en-US" sz="1000" dirty="0"/>
          </a:p>
        </p:txBody>
      </p:sp>
      <p:sp>
        <p:nvSpPr>
          <p:cNvPr id="16" name="Shape 14">
            <a:hlinkClick r:id="rId3" tooltip=""/>
          </p:cNvPr>
          <p:cNvSpPr/>
          <p:nvPr/>
        </p:nvSpPr>
        <p:spPr>
          <a:xfrm>
            <a:off x="365760" y="4297680"/>
            <a:ext cx="4206240" cy="566928"/>
          </a:xfrm>
          <a:prstGeom prst="roundRect">
            <a:avLst>
              <a:gd name="adj" fmla="val 50000"/>
            </a:avLst>
          </a:prstGeom>
          <a:solidFill>
            <a:srgbClr val="01A296"/>
          </a:solidFill>
          <a:ln/>
        </p:spPr>
      </p:sp>
      <p:sp>
        <p:nvSpPr>
          <p:cNvPr id="17" name="Text 15">
            <a:hlinkClick r:id="rId4" tooltip=""/>
          </p:cNvPr>
          <p:cNvSpPr/>
          <p:nvPr/>
        </p:nvSpPr>
        <p:spPr>
          <a:xfrm>
            <a:off x="502920" y="4297680"/>
            <a:ext cx="3931920" cy="566928"/>
          </a:xfrm>
          <a:prstGeom prst="rect">
            <a:avLst/>
          </a:prstGeom>
          <a:noFill/>
          <a:ln/>
        </p:spPr>
        <p:txBody>
          <a:bodyPr wrap="square" lIns="0" tIns="0" rIns="0" bIns="0" rtlCol="0" anchor="ctr"/>
          <a:lstStyle/>
          <a:p>
            <a:pPr algn="ctr" indent="0" marL="0">
              <a:buNone/>
            </a:pPr>
            <a:r>
              <a:rPr lang="en-US" sz="1200" b="1" u="sng" dirty="0">
                <a:solidFill>
                  <a:srgbClr val="FFFF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Purchase the suggested product now to get started</a:t>
            </a:r>
            <a:endParaRPr lang="en-US" sz="1200" dirty="0"/>
          </a:p>
        </p:txBody>
      </p:sp>
      <p:sp>
        <p:nvSpPr>
          <p:cNvPr id="18" name="Text 16"/>
          <p:cNvSpPr/>
          <p:nvPr/>
        </p:nvSpPr>
        <p:spPr>
          <a:xfrm>
            <a:off x="365760" y="5010912"/>
            <a:ext cx="6720840" cy="457200"/>
          </a:xfrm>
          <a:prstGeom prst="rect">
            <a:avLst/>
          </a:prstGeom>
          <a:noFill/>
          <a:ln/>
        </p:spPr>
        <p:txBody>
          <a:bodyPr wrap="square" lIns="0" tIns="0" rIns="0" bIns="0" rtlCol="0" anchor="t"/>
          <a:lstStyle/>
          <a:p>
            <a:pPr algn="l" indent="0" marL="0">
              <a:buNone/>
            </a:pPr>
            <a:r>
              <a:rPr lang="en-US" sz="1000" dirty="0">
                <a:solidFill>
                  <a:srgbClr val="000000">
                    <a:alpha val="60000"/>
                  </a:srgbClr>
                </a:solidFill>
                <a:latin typeface="Calibri" pitchFamily="34" charset="0"/>
                <a:ea typeface="Calibri" pitchFamily="34" charset="-122"/>
                <a:cs typeface="Calibri" pitchFamily="34" charset="-120"/>
              </a:rPr>
              <a:t>The button above opens the direct checkout for the recommended service at the price shown. The questionnaire confirms the exact fit first if preferred.</a:t>
            </a:r>
            <a:endParaRPr lang="en-US" sz="1000" dirty="0"/>
          </a:p>
        </p:txBody>
      </p:sp>
      <p:sp>
        <p:nvSpPr>
          <p:cNvPr id="19" name="Text 17"/>
          <p:cNvSpPr/>
          <p:nvPr/>
        </p:nvSpPr>
        <p:spPr>
          <a:xfrm>
            <a:off x="365760" y="5614416"/>
            <a:ext cx="6720840" cy="228600"/>
          </a:xfrm>
          <a:prstGeom prst="rect">
            <a:avLst/>
          </a:prstGeom>
          <a:noFill/>
          <a:ln/>
        </p:spPr>
        <p:txBody>
          <a:bodyPr wrap="square" lIns="0" tIns="0" rIns="0" bIns="0" rtlCol="0" anchor="ctr"/>
          <a:lstStyle/>
          <a:p>
            <a:pPr algn="l" indent="0" marL="0">
              <a:buNone/>
            </a:pPr>
            <a:r>
              <a:rPr lang="en-US" sz="1000" b="1" dirty="0">
                <a:solidFill>
                  <a:srgbClr val="01A296"/>
                </a:solidFill>
                <a:latin typeface="Calibri" pitchFamily="34" charset="0"/>
                <a:ea typeface="Calibri" pitchFamily="34" charset="-122"/>
                <a:cs typeface="Calibri" pitchFamily="34" charset="-120"/>
              </a:rPr>
              <a:t>SUPPORTING SERVICE</a:t>
            </a:r>
            <a:endParaRPr lang="en-US" sz="1000" dirty="0"/>
          </a:p>
        </p:txBody>
      </p:sp>
      <p:sp>
        <p:nvSpPr>
          <p:cNvPr id="20" name="Text 18"/>
          <p:cNvSpPr/>
          <p:nvPr/>
        </p:nvSpPr>
        <p:spPr>
          <a:xfrm>
            <a:off x="365760" y="5852160"/>
            <a:ext cx="6720840" cy="457200"/>
          </a:xfrm>
          <a:prstGeom prst="rect">
            <a:avLst/>
          </a:prstGeom>
          <a:noFill/>
          <a:ln/>
        </p:spPr>
        <p:txBody>
          <a:bodyPr wrap="square" lIns="0" tIns="0" rIns="0" bIns="0" rtlCol="0" anchor="t"/>
          <a:lstStyle/>
          <a:p>
            <a:pPr algn="l" indent="0" marL="0">
              <a:buNone/>
            </a:pPr>
            <a:r>
              <a:rPr lang="en-US" sz="1000" dirty="0">
                <a:solidFill>
                  <a:srgbClr val="000000">
                    <a:alpha val="75000"/>
                  </a:srgbClr>
                </a:solidFill>
                <a:latin typeface="Calibri" pitchFamily="34" charset="0"/>
                <a:ea typeface="Calibri" pitchFamily="34" charset="-122"/>
                <a:cs typeface="Calibri" pitchFamily="34" charset="-120"/>
              </a:rPr>
              <a:t>Capital Allocation Review, to decide how much of the new capital goes to the sales team, the Kuala Lumpur entry and the existing delivery team once the growth plan is set.</a:t>
            </a:r>
            <a:endParaRPr lang="en-US" sz="1000" dirty="0"/>
          </a:p>
        </p:txBody>
      </p:sp>
      <p:sp>
        <p:nvSpPr>
          <p:cNvPr id="21" name="Shape 19"/>
          <p:cNvSpPr/>
          <p:nvPr/>
        </p:nvSpPr>
        <p:spPr>
          <a:xfrm>
            <a:off x="7360920" y="1051560"/>
            <a:ext cx="4480560" cy="4672584"/>
          </a:xfrm>
          <a:prstGeom prst="rect">
            <a:avLst/>
          </a:prstGeom>
          <a:solidFill>
            <a:srgbClr val="000000"/>
          </a:solidFill>
          <a:ln/>
        </p:spPr>
      </p:sp>
      <p:sp>
        <p:nvSpPr>
          <p:cNvPr id="22" name="Text 20"/>
          <p:cNvSpPr/>
          <p:nvPr/>
        </p:nvSpPr>
        <p:spPr>
          <a:xfrm>
            <a:off x="7635240" y="1280160"/>
            <a:ext cx="3931920" cy="411480"/>
          </a:xfrm>
          <a:prstGeom prst="rect">
            <a:avLst/>
          </a:prstGeom>
          <a:noFill/>
          <a:ln/>
        </p:spPr>
        <p:txBody>
          <a:bodyPr wrap="square" lIns="0" tIns="0" rIns="0" bIns="0" rtlCol="0" anchor="ctr"/>
          <a:lstStyle/>
          <a:p>
            <a:pPr algn="l" indent="0" marL="0">
              <a:buNone/>
            </a:pPr>
            <a:r>
              <a:rPr lang="en-US" sz="1900" b="1" dirty="0">
                <a:solidFill>
                  <a:srgbClr val="F8C806"/>
                </a:solidFill>
                <a:latin typeface="Cambria" pitchFamily="34" charset="0"/>
                <a:ea typeface="Cambria" pitchFamily="34" charset="-122"/>
                <a:cs typeface="Cambria" pitchFamily="34" charset="-120"/>
              </a:rPr>
              <a:t>NITESH ROOPA</a:t>
            </a:r>
            <a:endParaRPr lang="en-US" sz="1900" dirty="0"/>
          </a:p>
        </p:txBody>
      </p:sp>
      <p:sp>
        <p:nvSpPr>
          <p:cNvPr id="23" name="Text 21"/>
          <p:cNvSpPr/>
          <p:nvPr/>
        </p:nvSpPr>
        <p:spPr>
          <a:xfrm>
            <a:off x="7635240" y="1700784"/>
            <a:ext cx="3931920" cy="3200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 Managing Partner, ProfitPulse</a:t>
            </a:r>
            <a:endParaRPr lang="en-US" sz="1200" dirty="0"/>
          </a:p>
        </p:txBody>
      </p:sp>
      <p:sp>
        <p:nvSpPr>
          <p:cNvPr id="24" name="Shape 22"/>
          <p:cNvSpPr/>
          <p:nvPr/>
        </p:nvSpPr>
        <p:spPr>
          <a:xfrm>
            <a:off x="7635240" y="2121408"/>
            <a:ext cx="3931920" cy="18288"/>
          </a:xfrm>
          <a:prstGeom prst="rect">
            <a:avLst/>
          </a:prstGeom>
          <a:solidFill>
            <a:srgbClr val="01A296"/>
          </a:solidFill>
          <a:ln/>
        </p:spPr>
      </p:sp>
      <p:sp>
        <p:nvSpPr>
          <p:cNvPr id="25" name="Text 23"/>
          <p:cNvSpPr/>
          <p:nvPr/>
        </p:nvSpPr>
        <p:spPr>
          <a:xfrm>
            <a:off x="7635240" y="2286000"/>
            <a:ext cx="3931920" cy="15544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E6E5DE"/>
                </a:solidFill>
                <a:latin typeface="Calibri" pitchFamily="34" charset="0"/>
                <a:ea typeface="Calibri" pitchFamily="34" charset="-122"/>
                <a:cs typeface="Calibri" pitchFamily="34" charset="-120"/>
              </a:rPr>
              <a:t>16 years across 4 countries</a:t>
            </a:r>
            <a:endParaRPr lang="en-US" sz="1100" dirty="0"/>
          </a:p>
          <a:p>
            <a:pPr marL="342900" indent="-342900">
              <a:spcAft>
                <a:spcPts val="800"/>
              </a:spcAft>
              <a:buSzPct val="100000"/>
              <a:buChar char="•"/>
            </a:pPr>
            <a:r>
              <a:rPr lang="en-US" sz="1100" dirty="0">
                <a:solidFill>
                  <a:srgbClr val="E6E5DE"/>
                </a:solidFill>
                <a:latin typeface="Calibri" pitchFamily="34" charset="0"/>
                <a:ea typeface="Calibri" pitchFamily="34" charset="-122"/>
                <a:cs typeface="Calibri" pitchFamily="34" charset="-120"/>
              </a:rPr>
              <a:t>52 deals executed and managed</a:t>
            </a:r>
            <a:endParaRPr lang="en-US" sz="1100" dirty="0"/>
          </a:p>
          <a:p>
            <a:pPr marL="342900" indent="-342900">
              <a:spcAft>
                <a:spcPts val="800"/>
              </a:spcAft>
              <a:buSzPct val="100000"/>
              <a:buChar char="•"/>
            </a:pPr>
            <a:r>
              <a:rPr lang="en-US" sz="1100" dirty="0">
                <a:solidFill>
                  <a:srgbClr val="E6E5DE"/>
                </a:solidFill>
                <a:latin typeface="Calibri" pitchFamily="34" charset="0"/>
                <a:ea typeface="Calibri" pitchFamily="34" charset="-122"/>
                <a:cs typeface="Calibri" pitchFamily="34" charset="-120"/>
              </a:rPr>
              <a:t>Largest single deal USD 1.3 billion, Cahora Bassa</a:t>
            </a:r>
            <a:endParaRPr lang="en-US" sz="1100" dirty="0"/>
          </a:p>
          <a:p>
            <a:pPr marL="342900" indent="-342900">
              <a:spcAft>
                <a:spcPts val="800"/>
              </a:spcAft>
              <a:buSzPct val="100000"/>
              <a:buChar char="•"/>
            </a:pPr>
            <a:r>
              <a:rPr lang="en-US" sz="1100" dirty="0">
                <a:solidFill>
                  <a:srgbClr val="E6E5DE"/>
                </a:solidFill>
                <a:latin typeface="Calibri" pitchFamily="34" charset="0"/>
                <a:ea typeface="Calibri" pitchFamily="34" charset="-122"/>
                <a:cs typeface="Calibri" pitchFamily="34" charset="-120"/>
              </a:rPr>
              <a:t>Total GRBT project value over AUD 10 billion</a:t>
            </a:r>
            <a:endParaRPr lang="en-US" sz="1100" dirty="0"/>
          </a:p>
        </p:txBody>
      </p:sp>
      <p:sp>
        <p:nvSpPr>
          <p:cNvPr id="26" name="Shape 24"/>
          <p:cNvSpPr/>
          <p:nvPr/>
        </p:nvSpPr>
        <p:spPr>
          <a:xfrm>
            <a:off x="7635240" y="3931920"/>
            <a:ext cx="3931920" cy="18288"/>
          </a:xfrm>
          <a:prstGeom prst="rect">
            <a:avLst/>
          </a:prstGeom>
          <a:solidFill>
            <a:srgbClr val="01A296"/>
          </a:solidFill>
          <a:ln/>
        </p:spPr>
      </p:sp>
      <p:sp>
        <p:nvSpPr>
          <p:cNvPr id="27" name="Text 25">
            <a:hlinkClick r:id="rId5" tooltip=""/>
          </p:cNvPr>
          <p:cNvSpPr/>
          <p:nvPr/>
        </p:nvSpPr>
        <p:spPr>
          <a:xfrm>
            <a:off x="7635240" y="4096512"/>
            <a:ext cx="3931920" cy="292608"/>
          </a:xfrm>
          <a:prstGeom prst="rect">
            <a:avLst/>
          </a:prstGeom>
          <a:noFill/>
          <a:ln/>
        </p:spPr>
        <p:txBody>
          <a:bodyPr wrap="square" lIns="0" tIns="0" rIns="0" bIns="0" rtlCol="0" anchor="ctr"/>
          <a:lstStyle/>
          <a:p>
            <a:pPr algn="l" indent="0" marL="0">
              <a:buNone/>
            </a:pPr>
            <a:r>
              <a:rPr lang="en-US" sz="1100" u="sng" dirty="0">
                <a:solidFill>
                  <a:srgbClr val="01A29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Profit-Pulse.com.au</a:t>
            </a:r>
            <a:endParaRPr lang="en-US" sz="1100" dirty="0"/>
          </a:p>
        </p:txBody>
      </p:sp>
      <p:sp>
        <p:nvSpPr>
          <p:cNvPr id="28" name="Text 26">
            <a:hlinkClick r:id="rId6" tooltip=""/>
          </p:cNvPr>
          <p:cNvSpPr/>
          <p:nvPr/>
        </p:nvSpPr>
        <p:spPr>
          <a:xfrm>
            <a:off x="7635240" y="4407408"/>
            <a:ext cx="3931920" cy="292608"/>
          </a:xfrm>
          <a:prstGeom prst="rect">
            <a:avLst/>
          </a:prstGeom>
          <a:noFill/>
          <a:ln/>
        </p:spPr>
        <p:txBody>
          <a:bodyPr wrap="square" lIns="0" tIns="0" rIns="0" bIns="0" rtlCol="0" anchor="ctr"/>
          <a:lstStyle/>
          <a:p>
            <a:pPr algn="l" indent="0" marL="0">
              <a:buNone/>
            </a:pPr>
            <a:r>
              <a:rPr lang="en-US" sz="1100" u="sng" dirty="0">
                <a:solidFill>
                  <a:srgbClr val="01A29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Nitesh@Profit-Pulse.com.au</a:t>
            </a:r>
            <a:endParaRPr lang="en-US" sz="1100" dirty="0"/>
          </a:p>
        </p:txBody>
      </p:sp>
      <p:sp>
        <p:nvSpPr>
          <p:cNvPr id="29" name="Text 27"/>
          <p:cNvSpPr/>
          <p:nvPr/>
        </p:nvSpPr>
        <p:spPr>
          <a:xfrm>
            <a:off x="7635240" y="4718304"/>
            <a:ext cx="3931920" cy="292608"/>
          </a:xfrm>
          <a:prstGeom prst="rect">
            <a:avLst/>
          </a:prstGeom>
          <a:noFill/>
          <a:ln/>
        </p:spPr>
        <p:txBody>
          <a:bodyPr wrap="square" lIns="0" tIns="0" rIns="0" bIns="0" rtlCol="0" anchor="ctr"/>
          <a:lstStyle/>
          <a:p>
            <a:pPr algn="l" indent="0" marL="0">
              <a:buNone/>
            </a:pPr>
            <a:r>
              <a:rPr lang="en-US" sz="1100" dirty="0">
                <a:solidFill>
                  <a:srgbClr val="E6E5DE"/>
                </a:solidFill>
                <a:latin typeface="Calibri" pitchFamily="34" charset="0"/>
                <a:ea typeface="Calibri" pitchFamily="34" charset="-122"/>
                <a:cs typeface="Calibri" pitchFamily="34" charset="-120"/>
              </a:rPr>
              <a:t>+61 411 876 267</a:t>
            </a:r>
            <a:endParaRPr lang="en-US" sz="1100" dirty="0"/>
          </a:p>
        </p:txBody>
      </p:sp>
      <p:sp>
        <p:nvSpPr>
          <p:cNvPr id="30" name="Text 28">
            <a:hlinkClick r:id="rId7" tooltip=""/>
          </p:cNvPr>
          <p:cNvSpPr/>
          <p:nvPr/>
        </p:nvSpPr>
        <p:spPr>
          <a:xfrm>
            <a:off x="7635240" y="5029200"/>
            <a:ext cx="3931920" cy="292608"/>
          </a:xfrm>
          <a:prstGeom prst="rect">
            <a:avLst/>
          </a:prstGeom>
          <a:noFill/>
          <a:ln/>
        </p:spPr>
        <p:txBody>
          <a:bodyPr wrap="square" lIns="0" tIns="0" rIns="0" bIns="0" rtlCol="0" anchor="ctr"/>
          <a:lstStyle/>
          <a:p>
            <a:pPr algn="l" indent="0" marL="0">
              <a:buNone/>
            </a:pPr>
            <a:r>
              <a:rPr lang="en-US" sz="1100" u="sng" dirty="0">
                <a:solidFill>
                  <a:srgbClr val="01A29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linkedin.com/in/nitesh-roopa-77594163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2026-08-07T13:31:16Z</dcterms:created>
  <dcterms:modified xsi:type="dcterms:W3CDTF">2026-08-07T13:31:16Z</dcterms:modified>
</cp:coreProperties>
</file>