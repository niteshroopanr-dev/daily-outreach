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00w4gA7OUfGM5TadMH3ks0z"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56032"/>
            <a:ext cx="7772400" cy="411480"/>
          </a:xfrm>
          <a:prstGeom prst="rect">
            <a:avLst/>
          </a:prstGeom>
          <a:noFill/>
        </p:spPr>
        <p:txBody>
          <a:bodyPr wrap="square">
            <a:noAutofit/>
          </a:bodyPr>
          <a:lstStyle/>
          <a:p>
            <a:pPr algn="l"/>
            <a:r>
              <a:rPr sz="1200" b="1" i="0">
                <a:solidFill>
                  <a:srgbClr val="E6E5DE"/>
                </a:solidFill>
                <a:latin typeface="Georgia"/>
              </a:rPr>
              <a:t>COMMERCIAL INTELLIGENCE BRIEF</a:t>
            </a:r>
          </a:p>
        </p:txBody>
      </p:sp>
      <p:sp>
        <p:nvSpPr>
          <p:cNvPr id="5" name="TextBox 4"/>
          <p:cNvSpPr txBox="1"/>
          <p:nvPr/>
        </p:nvSpPr>
        <p:spPr>
          <a:xfrm>
            <a:off x="7772400" y="256032"/>
            <a:ext cx="4160520" cy="411480"/>
          </a:xfrm>
          <a:prstGeom prst="rect">
            <a:avLst/>
          </a:prstGeom>
          <a:noFill/>
        </p:spPr>
        <p:txBody>
          <a:bodyPr wrap="square">
            <a:noAutofit/>
          </a:bodyPr>
          <a:lstStyle/>
          <a:p>
            <a:pPr algn="r"/>
            <a:r>
              <a:rPr sz="1200" b="1" i="0">
                <a:solidFill>
                  <a:srgbClr val="01A296"/>
                </a:solidFill>
                <a:latin typeface="Georgia"/>
              </a:rPr>
              <a:t>PROFITPULSE</a:t>
            </a:r>
          </a:p>
        </p:txBody>
      </p:sp>
      <p:sp>
        <p:nvSpPr>
          <p:cNvPr id="6" name="TextBox 5"/>
          <p:cNvSpPr txBox="1"/>
          <p:nvPr/>
        </p:nvSpPr>
        <p:spPr>
          <a:xfrm>
            <a:off x="320040" y="6446520"/>
            <a:ext cx="8686800" cy="27432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7" name="TextBox 6"/>
          <p:cNvSpPr txBox="1"/>
          <p:nvPr/>
        </p:nvSpPr>
        <p:spPr>
          <a:xfrm>
            <a:off x="9601200" y="6446520"/>
            <a:ext cx="2331720" cy="274320"/>
          </a:xfrm>
          <a:prstGeom prst="rect">
            <a:avLst/>
          </a:prstGeom>
          <a:noFill/>
        </p:spPr>
        <p:txBody>
          <a:bodyPr wrap="square">
            <a:noAutofit/>
          </a:bodyPr>
          <a:lstStyle/>
          <a:p>
            <a:pPr algn="r"/>
            <a:r>
              <a:rPr sz="800" b="0" i="0">
                <a:solidFill>
                  <a:srgbClr val="000000"/>
                </a:solidFill>
                <a:latin typeface="Calibri"/>
              </a:rPr>
              <a:t>30 Jul 2026</a:t>
            </a:r>
          </a:p>
        </p:txBody>
      </p:sp>
      <p:sp>
        <p:nvSpPr>
          <p:cNvPr id="8" name="TextBox 7"/>
          <p:cNvSpPr txBox="1"/>
          <p:nvPr/>
        </p:nvSpPr>
        <p:spPr>
          <a:xfrm>
            <a:off x="320040" y="1051560"/>
            <a:ext cx="8686800" cy="685800"/>
          </a:xfrm>
          <a:prstGeom prst="rect">
            <a:avLst/>
          </a:prstGeom>
          <a:noFill/>
        </p:spPr>
        <p:txBody>
          <a:bodyPr wrap="square">
            <a:noAutofit/>
          </a:bodyPr>
          <a:lstStyle/>
          <a:p>
            <a:pPr algn="l"/>
            <a:r>
              <a:rPr sz="4000" b="1" i="0">
                <a:solidFill>
                  <a:srgbClr val="000000"/>
                </a:solidFill>
                <a:latin typeface="Georgia"/>
              </a:rPr>
              <a:t>Taskforce Australia</a:t>
            </a:r>
          </a:p>
        </p:txBody>
      </p:sp>
      <p:sp>
        <p:nvSpPr>
          <p:cNvPr id="9" name="TextBox 8"/>
          <p:cNvSpPr txBox="1"/>
          <p:nvPr/>
        </p:nvSpPr>
        <p:spPr>
          <a:xfrm>
            <a:off x="320040" y="1691640"/>
            <a:ext cx="10515600" cy="365760"/>
          </a:xfrm>
          <a:prstGeom prst="rect">
            <a:avLst/>
          </a:prstGeom>
          <a:noFill/>
        </p:spPr>
        <p:txBody>
          <a:bodyPr wrap="square">
            <a:noAutofit/>
          </a:bodyPr>
          <a:lstStyle/>
          <a:p>
            <a:pPr algn="l"/>
            <a:r>
              <a:rPr sz="1400" b="0" i="0">
                <a:solidFill>
                  <a:srgbClr val="01A296"/>
                </a:solidFill>
                <a:latin typeface="Calibri"/>
              </a:rPr>
              <a:t>Property compliance and repair platform, Burnley, Melbourne VIC</a:t>
            </a:r>
          </a:p>
        </p:txBody>
      </p:sp>
      <p:sp>
        <p:nvSpPr>
          <p:cNvPr id="10" name="Rectangle 9"/>
          <p:cNvSpPr/>
          <p:nvPr/>
        </p:nvSpPr>
        <p:spPr>
          <a:xfrm>
            <a:off x="32004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359152"/>
            <a:ext cx="1828800" cy="502920"/>
          </a:xfrm>
          <a:prstGeom prst="rect">
            <a:avLst/>
          </a:prstGeom>
          <a:noFill/>
        </p:spPr>
        <p:txBody>
          <a:bodyPr wrap="square">
            <a:noAutofit/>
          </a:bodyPr>
          <a:lstStyle/>
          <a:p>
            <a:pPr algn="l"/>
            <a:r>
              <a:rPr sz="2800" b="1" i="0">
                <a:solidFill>
                  <a:srgbClr val="FFFFFF"/>
                </a:solidFill>
                <a:latin typeface="Georgia"/>
              </a:rPr>
              <a:t>$12.8M</a:t>
            </a:r>
          </a:p>
        </p:txBody>
      </p:sp>
      <p:sp>
        <p:nvSpPr>
          <p:cNvPr id="13" name="TextBox 12"/>
          <p:cNvSpPr txBox="1"/>
          <p:nvPr/>
        </p:nvSpPr>
        <p:spPr>
          <a:xfrm>
            <a:off x="457200" y="2907792"/>
            <a:ext cx="1828800" cy="457200"/>
          </a:xfrm>
          <a:prstGeom prst="rect">
            <a:avLst/>
          </a:prstGeom>
          <a:noFill/>
        </p:spPr>
        <p:txBody>
          <a:bodyPr wrap="square">
            <a:noAutofit/>
          </a:bodyPr>
          <a:lstStyle/>
          <a:p>
            <a:pPr algn="l"/>
            <a:r>
              <a:rPr sz="1100" b="0" i="0">
                <a:solidFill>
                  <a:srgbClr val="E6E5DE"/>
                </a:solidFill>
                <a:latin typeface="Calibri"/>
              </a:rPr>
              <a:t>FY25 revenue</a:t>
            </a:r>
          </a:p>
        </p:txBody>
      </p:sp>
      <p:sp>
        <p:nvSpPr>
          <p:cNvPr id="14" name="TextBox 13"/>
          <p:cNvSpPr txBox="1"/>
          <p:nvPr/>
        </p:nvSpPr>
        <p:spPr>
          <a:xfrm>
            <a:off x="457200" y="3364992"/>
            <a:ext cx="1828800" cy="256032"/>
          </a:xfrm>
          <a:prstGeom prst="rect">
            <a:avLst/>
          </a:prstGeom>
          <a:noFill/>
        </p:spPr>
        <p:txBody>
          <a:bodyPr wrap="square">
            <a:noAutofit/>
          </a:bodyPr>
          <a:lstStyle/>
          <a:p>
            <a:pPr algn="l"/>
            <a:r>
              <a:rPr sz="800" b="0" i="1">
                <a:solidFill>
                  <a:srgbClr val="E6E5DE"/>
                </a:solidFill>
                <a:latin typeface="Calibri"/>
              </a:rPr>
              <a:t>SmartCompany Smart50 2025</a:t>
            </a:r>
          </a:p>
        </p:txBody>
      </p:sp>
      <p:sp>
        <p:nvSpPr>
          <p:cNvPr id="15" name="Rectangle 14"/>
          <p:cNvSpPr/>
          <p:nvPr/>
        </p:nvSpPr>
        <p:spPr>
          <a:xfrm>
            <a:off x="256032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6032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97480" y="2359152"/>
            <a:ext cx="1828800" cy="502920"/>
          </a:xfrm>
          <a:prstGeom prst="rect">
            <a:avLst/>
          </a:prstGeom>
          <a:noFill/>
        </p:spPr>
        <p:txBody>
          <a:bodyPr wrap="square">
            <a:noAutofit/>
          </a:bodyPr>
          <a:lstStyle/>
          <a:p>
            <a:pPr algn="l"/>
            <a:r>
              <a:rPr sz="2800" b="1" i="0">
                <a:solidFill>
                  <a:srgbClr val="FFFFFF"/>
                </a:solidFill>
                <a:latin typeface="Georgia"/>
              </a:rPr>
              <a:t>31%</a:t>
            </a:r>
          </a:p>
        </p:txBody>
      </p:sp>
      <p:sp>
        <p:nvSpPr>
          <p:cNvPr id="18" name="TextBox 17"/>
          <p:cNvSpPr txBox="1"/>
          <p:nvPr/>
        </p:nvSpPr>
        <p:spPr>
          <a:xfrm>
            <a:off x="2697480" y="2907792"/>
            <a:ext cx="1828800" cy="457200"/>
          </a:xfrm>
          <a:prstGeom prst="rect">
            <a:avLst/>
          </a:prstGeom>
          <a:noFill/>
        </p:spPr>
        <p:txBody>
          <a:bodyPr wrap="square">
            <a:noAutofit/>
          </a:bodyPr>
          <a:lstStyle/>
          <a:p>
            <a:pPr algn="l"/>
            <a:r>
              <a:rPr sz="1100" b="0" i="0">
                <a:solidFill>
                  <a:srgbClr val="E6E5DE"/>
                </a:solidFill>
                <a:latin typeface="Calibri"/>
              </a:rPr>
              <a:t>FY25 revenue growth</a:t>
            </a:r>
          </a:p>
        </p:txBody>
      </p:sp>
      <p:sp>
        <p:nvSpPr>
          <p:cNvPr id="19" name="TextBox 18"/>
          <p:cNvSpPr txBox="1"/>
          <p:nvPr/>
        </p:nvSpPr>
        <p:spPr>
          <a:xfrm>
            <a:off x="2697480" y="3364992"/>
            <a:ext cx="1828800" cy="256032"/>
          </a:xfrm>
          <a:prstGeom prst="rect">
            <a:avLst/>
          </a:prstGeom>
          <a:noFill/>
        </p:spPr>
        <p:txBody>
          <a:bodyPr wrap="square">
            <a:noAutofit/>
          </a:bodyPr>
          <a:lstStyle/>
          <a:p>
            <a:pPr algn="l"/>
            <a:r>
              <a:rPr sz="800" b="0" i="1">
                <a:solidFill>
                  <a:srgbClr val="E6E5DE"/>
                </a:solidFill>
                <a:latin typeface="Calibri"/>
              </a:rPr>
              <a:t>SmartCompany Smart50 2025</a:t>
            </a:r>
          </a:p>
        </p:txBody>
      </p:sp>
      <p:sp>
        <p:nvSpPr>
          <p:cNvPr id="20" name="Rectangle 19"/>
          <p:cNvSpPr/>
          <p:nvPr/>
        </p:nvSpPr>
        <p:spPr>
          <a:xfrm>
            <a:off x="480060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0060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0" y="2359152"/>
            <a:ext cx="1828800" cy="502920"/>
          </a:xfrm>
          <a:prstGeom prst="rect">
            <a:avLst/>
          </a:prstGeom>
          <a:noFill/>
        </p:spPr>
        <p:txBody>
          <a:bodyPr wrap="square">
            <a:noAutofit/>
          </a:bodyPr>
          <a:lstStyle/>
          <a:p>
            <a:pPr algn="l"/>
            <a:r>
              <a:rPr sz="2800" b="1" i="0">
                <a:solidFill>
                  <a:srgbClr val="FFFFFF"/>
                </a:solidFill>
                <a:latin typeface="Georgia"/>
              </a:rPr>
              <a:t>#37</a:t>
            </a:r>
          </a:p>
        </p:txBody>
      </p:sp>
      <p:sp>
        <p:nvSpPr>
          <p:cNvPr id="23" name="TextBox 22"/>
          <p:cNvSpPr txBox="1"/>
          <p:nvPr/>
        </p:nvSpPr>
        <p:spPr>
          <a:xfrm>
            <a:off x="4937760" y="2907792"/>
            <a:ext cx="1828800" cy="457200"/>
          </a:xfrm>
          <a:prstGeom prst="rect">
            <a:avLst/>
          </a:prstGeom>
          <a:noFill/>
        </p:spPr>
        <p:txBody>
          <a:bodyPr wrap="square">
            <a:noAutofit/>
          </a:bodyPr>
          <a:lstStyle/>
          <a:p>
            <a:pPr algn="l"/>
            <a:r>
              <a:rPr sz="1100" b="0" i="0">
                <a:solidFill>
                  <a:srgbClr val="E6E5DE"/>
                </a:solidFill>
                <a:latin typeface="Calibri"/>
              </a:rPr>
              <a:t>Smart50 national rank</a:t>
            </a:r>
          </a:p>
        </p:txBody>
      </p:sp>
      <p:sp>
        <p:nvSpPr>
          <p:cNvPr id="24" name="TextBox 23"/>
          <p:cNvSpPr txBox="1"/>
          <p:nvPr/>
        </p:nvSpPr>
        <p:spPr>
          <a:xfrm>
            <a:off x="4937760" y="3364992"/>
            <a:ext cx="1828800" cy="256032"/>
          </a:xfrm>
          <a:prstGeom prst="rect">
            <a:avLst/>
          </a:prstGeom>
          <a:noFill/>
        </p:spPr>
        <p:txBody>
          <a:bodyPr wrap="square">
            <a:noAutofit/>
          </a:bodyPr>
          <a:lstStyle/>
          <a:p>
            <a:pPr algn="l"/>
            <a:r>
              <a:rPr sz="800" b="0" i="1">
                <a:solidFill>
                  <a:srgbClr val="E6E5DE"/>
                </a:solidFill>
                <a:latin typeface="Calibri"/>
              </a:rPr>
              <a:t>SmartCompany Smart50 2025</a:t>
            </a:r>
          </a:p>
        </p:txBody>
      </p:sp>
      <p:sp>
        <p:nvSpPr>
          <p:cNvPr id="25" name="Rectangle 24"/>
          <p:cNvSpPr/>
          <p:nvPr/>
        </p:nvSpPr>
        <p:spPr>
          <a:xfrm>
            <a:off x="704088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4088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78040" y="2359152"/>
            <a:ext cx="1828800" cy="502920"/>
          </a:xfrm>
          <a:prstGeom prst="rect">
            <a:avLst/>
          </a:prstGeom>
          <a:noFill/>
        </p:spPr>
        <p:txBody>
          <a:bodyPr wrap="square">
            <a:noAutofit/>
          </a:bodyPr>
          <a:lstStyle/>
          <a:p>
            <a:pPr algn="l"/>
            <a:r>
              <a:rPr sz="2800" b="1" i="0">
                <a:solidFill>
                  <a:srgbClr val="FFFFFF"/>
                </a:solidFill>
                <a:latin typeface="Georgia"/>
              </a:rPr>
              <a:t>20</a:t>
            </a:r>
          </a:p>
        </p:txBody>
      </p:sp>
      <p:sp>
        <p:nvSpPr>
          <p:cNvPr id="28" name="TextBox 27"/>
          <p:cNvSpPr txBox="1"/>
          <p:nvPr/>
        </p:nvSpPr>
        <p:spPr>
          <a:xfrm>
            <a:off x="7178040" y="2907792"/>
            <a:ext cx="1828800" cy="457200"/>
          </a:xfrm>
          <a:prstGeom prst="rect">
            <a:avLst/>
          </a:prstGeom>
          <a:noFill/>
        </p:spPr>
        <p:txBody>
          <a:bodyPr wrap="square">
            <a:noAutofit/>
          </a:bodyPr>
          <a:lstStyle/>
          <a:p>
            <a:pPr algn="l"/>
            <a:r>
              <a:rPr sz="1100" b="0" i="0">
                <a:solidFill>
                  <a:srgbClr val="E6E5DE"/>
                </a:solidFill>
                <a:latin typeface="Calibri"/>
              </a:rPr>
              <a:t>People, Melbourne team</a:t>
            </a:r>
          </a:p>
        </p:txBody>
      </p:sp>
      <p:sp>
        <p:nvSpPr>
          <p:cNvPr id="29" name="TextBox 28"/>
          <p:cNvSpPr txBox="1"/>
          <p:nvPr/>
        </p:nvSpPr>
        <p:spPr>
          <a:xfrm>
            <a:off x="7178040" y="3364992"/>
            <a:ext cx="1828800" cy="256032"/>
          </a:xfrm>
          <a:prstGeom prst="rect">
            <a:avLst/>
          </a:prstGeom>
          <a:noFill/>
        </p:spPr>
        <p:txBody>
          <a:bodyPr wrap="square">
            <a:noAutofit/>
          </a:bodyPr>
          <a:lstStyle/>
          <a:p>
            <a:pPr algn="l"/>
            <a:r>
              <a:rPr sz="800" b="0" i="1">
                <a:solidFill>
                  <a:srgbClr val="E6E5DE"/>
                </a:solidFill>
                <a:latin typeface="Calibri"/>
              </a:rPr>
              <a:t>LinkedIn company page</a:t>
            </a:r>
          </a:p>
        </p:txBody>
      </p:sp>
      <p:sp>
        <p:nvSpPr>
          <p:cNvPr id="30" name="Rectangle 29"/>
          <p:cNvSpPr/>
          <p:nvPr/>
        </p:nvSpPr>
        <p:spPr>
          <a:xfrm>
            <a:off x="928116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81160" y="2194560"/>
            <a:ext cx="210312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20" y="2359152"/>
            <a:ext cx="1828800" cy="502920"/>
          </a:xfrm>
          <a:prstGeom prst="rect">
            <a:avLst/>
          </a:prstGeom>
          <a:noFill/>
        </p:spPr>
        <p:txBody>
          <a:bodyPr wrap="square">
            <a:noAutofit/>
          </a:bodyPr>
          <a:lstStyle/>
          <a:p>
            <a:pPr algn="l"/>
            <a:r>
              <a:rPr sz="2800" b="1" i="0">
                <a:solidFill>
                  <a:srgbClr val="FFFFFF"/>
                </a:solidFill>
                <a:latin typeface="Georgia"/>
              </a:rPr>
              <a:t>2014</a:t>
            </a:r>
          </a:p>
        </p:txBody>
      </p:sp>
      <p:sp>
        <p:nvSpPr>
          <p:cNvPr id="33" name="TextBox 32"/>
          <p:cNvSpPr txBox="1"/>
          <p:nvPr/>
        </p:nvSpPr>
        <p:spPr>
          <a:xfrm>
            <a:off x="9418320" y="2907792"/>
            <a:ext cx="1828800" cy="457200"/>
          </a:xfrm>
          <a:prstGeom prst="rect">
            <a:avLst/>
          </a:prstGeom>
          <a:noFill/>
        </p:spPr>
        <p:txBody>
          <a:bodyPr wrap="square">
            <a:noAutofit/>
          </a:bodyPr>
          <a:lstStyle/>
          <a:p>
            <a:pPr algn="l"/>
            <a:r>
              <a:rPr sz="1100" b="0" i="0">
                <a:solidFill>
                  <a:srgbClr val="E6E5DE"/>
                </a:solidFill>
                <a:latin typeface="Calibri"/>
              </a:rPr>
              <a:t>Year founded</a:t>
            </a:r>
          </a:p>
        </p:txBody>
      </p:sp>
      <p:sp>
        <p:nvSpPr>
          <p:cNvPr id="34" name="TextBox 33"/>
          <p:cNvSpPr txBox="1"/>
          <p:nvPr/>
        </p:nvSpPr>
        <p:spPr>
          <a:xfrm>
            <a:off x="9418320" y="3364992"/>
            <a:ext cx="1828800" cy="256032"/>
          </a:xfrm>
          <a:prstGeom prst="rect">
            <a:avLst/>
          </a:prstGeom>
          <a:noFill/>
        </p:spPr>
        <p:txBody>
          <a:bodyPr wrap="square">
            <a:noAutofit/>
          </a:bodyPr>
          <a:lstStyle/>
          <a:p>
            <a:pPr algn="l"/>
            <a:r>
              <a:rPr sz="800" b="0" i="1">
                <a:solidFill>
                  <a:srgbClr val="E6E5DE"/>
                </a:solidFill>
                <a:latin typeface="Calibri"/>
              </a:rPr>
              <a:t>Smart50 award profile</a:t>
            </a:r>
          </a:p>
        </p:txBody>
      </p:sp>
      <p:sp>
        <p:nvSpPr>
          <p:cNvPr id="35" name="TextBox 34"/>
          <p:cNvSpPr txBox="1"/>
          <p:nvPr/>
        </p:nvSpPr>
        <p:spPr>
          <a:xfrm>
            <a:off x="320040" y="3886200"/>
            <a:ext cx="5486400" cy="274320"/>
          </a:xfrm>
          <a:prstGeom prst="rect">
            <a:avLst/>
          </a:prstGeom>
          <a:noFill/>
        </p:spPr>
        <p:txBody>
          <a:bodyPr wrap="square">
            <a:noAutofit/>
          </a:bodyPr>
          <a:lstStyle/>
          <a:p>
            <a:pPr algn="l"/>
            <a:r>
              <a:rPr sz="1200" b="1" i="0">
                <a:solidFill>
                  <a:srgbClr val="01A296"/>
                </a:solidFill>
                <a:latin typeface="Calibri"/>
              </a:rPr>
              <a:t>KEY COMMERCIAL SIGNALS</a:t>
            </a:r>
          </a:p>
        </p:txBody>
      </p:sp>
      <p:sp>
        <p:nvSpPr>
          <p:cNvPr id="36" name="TextBox 35"/>
          <p:cNvSpPr txBox="1"/>
          <p:nvPr/>
        </p:nvSpPr>
        <p:spPr>
          <a:xfrm>
            <a:off x="320040" y="4206240"/>
            <a:ext cx="11521440" cy="2148840"/>
          </a:xfrm>
          <a:prstGeom prst="rect">
            <a:avLst/>
          </a:prstGeom>
          <a:noFill/>
        </p:spPr>
        <p:txBody>
          <a:bodyPr wrap="square">
            <a:noAutofit/>
          </a:bodyPr>
          <a:lstStyle/>
          <a:p>
            <a:pPr algn="l">
              <a:spcAft>
                <a:spcPts val="600"/>
              </a:spcAft>
            </a:pPr>
            <a:r>
              <a:rPr sz="1200" b="0" i="0">
                <a:solidFill>
                  <a:srgbClr val="000000"/>
                </a:solidFill>
                <a:latin typeface="Calibri"/>
              </a:rPr>
              <a:t>•  Revenue grew $7.43M to $12.8M, FY23 to FY25, three straight Smart50 profiles.</a:t>
            </a:r>
          </a:p>
          <a:p>
            <a:pPr algn="l">
              <a:spcAft>
                <a:spcPts val="600"/>
              </a:spcAft>
            </a:pPr>
            <a:r>
              <a:rPr sz="1200" b="0" i="0">
                <a:solidFill>
                  <a:srgbClr val="000000"/>
                </a:solidFill>
                <a:latin typeface="Calibri"/>
              </a:rPr>
              <a:t>•  Victorian State Winner, Outstanding Growth, 2024 Telstra Best of Business Awards.</a:t>
            </a:r>
          </a:p>
          <a:p>
            <a:pPr algn="l">
              <a:spcAft>
                <a:spcPts val="600"/>
              </a:spcAft>
            </a:pPr>
            <a:r>
              <a:rPr sz="1200" b="0" i="0">
                <a:solidFill>
                  <a:srgbClr val="000000"/>
                </a:solidFill>
                <a:latin typeface="Calibri"/>
              </a:rPr>
              <a:t>•  RentSafe has completed over 140,000 jobs across 180 real estate brands, 300 offices.</a:t>
            </a:r>
          </a:p>
          <a:p>
            <a:pPr algn="l">
              <a:spcAft>
                <a:spcPts val="600"/>
              </a:spcAft>
            </a:pPr>
            <a:r>
              <a:rPr sz="1200" b="0" i="0">
                <a:solidFill>
                  <a:srgbClr val="000000"/>
                </a:solidFill>
                <a:latin typeface="Calibri"/>
              </a:rPr>
              <a:t>•  About 4,500 to 5,000 vetted, insured tradespeople deliver RentSafe and RentRepair jobs.</a:t>
            </a:r>
          </a:p>
          <a:p>
            <a:pPr algn="l">
              <a:spcAft>
                <a:spcPts val="600"/>
              </a:spcAft>
            </a:pPr>
            <a:r>
              <a:rPr sz="1200" b="0" i="0">
                <a:solidFill>
                  <a:srgbClr val="000000"/>
                </a:solidFill>
                <a:latin typeface="Calibri"/>
              </a:rPr>
              <a:t>•  New distribution partnership announced with Real+ to expand into agency channels.</a:t>
            </a:r>
          </a:p>
          <a:p>
            <a:pPr algn="l">
              <a:spcAft>
                <a:spcPts val="600"/>
              </a:spcAft>
            </a:pPr>
            <a:r>
              <a:rPr sz="1200" b="0" i="0">
                <a:solidFill>
                  <a:srgbClr val="000000"/>
                </a:solidFill>
                <a:latin typeface="Calibri"/>
              </a:rPr>
              <a:t>•  Stated target: 50 to 60 percent compound growth over three years, no external capital.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56032"/>
            <a:ext cx="7772400" cy="411480"/>
          </a:xfrm>
          <a:prstGeom prst="rect">
            <a:avLst/>
          </a:prstGeom>
          <a:noFill/>
        </p:spPr>
        <p:txBody>
          <a:bodyPr wrap="square">
            <a:noAutofit/>
          </a:bodyPr>
          <a:lstStyle/>
          <a:p>
            <a:pPr algn="l"/>
            <a:r>
              <a:rPr sz="1200" b="1" i="0">
                <a:solidFill>
                  <a:srgbClr val="E6E5DE"/>
                </a:solidFill>
                <a:latin typeface="Georgia"/>
              </a:rPr>
              <a:t>THE OPPORTUNITY</a:t>
            </a:r>
          </a:p>
        </p:txBody>
      </p:sp>
      <p:sp>
        <p:nvSpPr>
          <p:cNvPr id="5" name="TextBox 4"/>
          <p:cNvSpPr txBox="1"/>
          <p:nvPr/>
        </p:nvSpPr>
        <p:spPr>
          <a:xfrm>
            <a:off x="7772400" y="256032"/>
            <a:ext cx="4160520" cy="411480"/>
          </a:xfrm>
          <a:prstGeom prst="rect">
            <a:avLst/>
          </a:prstGeom>
          <a:noFill/>
        </p:spPr>
        <p:txBody>
          <a:bodyPr wrap="square">
            <a:noAutofit/>
          </a:bodyPr>
          <a:lstStyle/>
          <a:p>
            <a:pPr algn="r"/>
            <a:r>
              <a:rPr sz="1200" b="1" i="0">
                <a:solidFill>
                  <a:srgbClr val="01A296"/>
                </a:solidFill>
                <a:latin typeface="Georgia"/>
              </a:rPr>
              <a:t>TASKFORCE AUSTRALIA</a:t>
            </a:r>
          </a:p>
        </p:txBody>
      </p:sp>
      <p:sp>
        <p:nvSpPr>
          <p:cNvPr id="6" name="TextBox 5"/>
          <p:cNvSpPr txBox="1"/>
          <p:nvPr/>
        </p:nvSpPr>
        <p:spPr>
          <a:xfrm>
            <a:off x="320040" y="6446520"/>
            <a:ext cx="8686800" cy="27432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7" name="TextBox 6"/>
          <p:cNvSpPr txBox="1"/>
          <p:nvPr/>
        </p:nvSpPr>
        <p:spPr>
          <a:xfrm>
            <a:off x="9601200" y="6446520"/>
            <a:ext cx="2331720" cy="274320"/>
          </a:xfrm>
          <a:prstGeom prst="rect">
            <a:avLst/>
          </a:prstGeom>
          <a:noFill/>
        </p:spPr>
        <p:txBody>
          <a:bodyPr wrap="square">
            <a:noAutofit/>
          </a:bodyPr>
          <a:lstStyle/>
          <a:p>
            <a:pPr algn="r"/>
            <a:r>
              <a:rPr sz="800" b="0" i="0">
                <a:solidFill>
                  <a:srgbClr val="000000"/>
                </a:solidFill>
                <a:latin typeface="Calibri"/>
              </a:rPr>
              <a:t>30 Jul 2026</a:t>
            </a:r>
          </a:p>
        </p:txBody>
      </p:sp>
      <p:sp>
        <p:nvSpPr>
          <p:cNvPr id="8" name="TextBox 7"/>
          <p:cNvSpPr txBox="1"/>
          <p:nvPr/>
        </p:nvSpPr>
        <p:spPr>
          <a:xfrm>
            <a:off x="320040" y="1024128"/>
            <a:ext cx="11521440" cy="365760"/>
          </a:xfrm>
          <a:prstGeom prst="rect">
            <a:avLst/>
          </a:prstGeom>
          <a:noFill/>
        </p:spPr>
        <p:txBody>
          <a:bodyPr wrap="square">
            <a:noAutofit/>
          </a:bodyPr>
          <a:lstStyle/>
          <a:p>
            <a:pPr algn="l"/>
            <a:r>
              <a:rPr sz="1400" b="1" i="0">
                <a:solidFill>
                  <a:srgbClr val="000000"/>
                </a:solidFill>
                <a:latin typeface="Georgia"/>
              </a:rPr>
              <a:t>Three commercial observations from ProfitPulse, for Taskforce Australia</a:t>
            </a:r>
          </a:p>
        </p:txBody>
      </p:sp>
      <p:sp>
        <p:nvSpPr>
          <p:cNvPr id="9" name="Rectangle 8"/>
          <p:cNvSpPr/>
          <p:nvPr/>
        </p:nvSpPr>
        <p:spPr>
          <a:xfrm>
            <a:off x="320040" y="1508760"/>
            <a:ext cx="3776472" cy="356616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91640"/>
            <a:ext cx="3319272" cy="548640"/>
          </a:xfrm>
          <a:prstGeom prst="rect">
            <a:avLst/>
          </a:prstGeom>
          <a:noFill/>
        </p:spPr>
        <p:txBody>
          <a:bodyPr wrap="square">
            <a:noAutofit/>
          </a:bodyPr>
          <a:lstStyle/>
          <a:p>
            <a:pPr algn="l"/>
            <a:r>
              <a:rPr sz="3000" b="1" i="0">
                <a:solidFill>
                  <a:srgbClr val="000000"/>
                </a:solidFill>
                <a:latin typeface="Georgia"/>
              </a:rPr>
              <a:t>01</a:t>
            </a:r>
          </a:p>
        </p:txBody>
      </p:sp>
      <p:sp>
        <p:nvSpPr>
          <p:cNvPr id="11" name="TextBox 10"/>
          <p:cNvSpPr txBox="1"/>
          <p:nvPr/>
        </p:nvSpPr>
        <p:spPr>
          <a:xfrm>
            <a:off x="548640" y="2286000"/>
            <a:ext cx="3319272" cy="777240"/>
          </a:xfrm>
          <a:prstGeom prst="rect">
            <a:avLst/>
          </a:prstGeom>
          <a:noFill/>
        </p:spPr>
        <p:txBody>
          <a:bodyPr wrap="square">
            <a:noAutofit/>
          </a:bodyPr>
          <a:lstStyle/>
          <a:p>
            <a:pPr algn="l"/>
            <a:r>
              <a:rPr sz="1400" b="1" i="0">
                <a:solidFill>
                  <a:srgbClr val="000000"/>
                </a:solidFill>
                <a:latin typeface="Georgia"/>
              </a:rPr>
              <a:t>Self funded growth is a cash strategy, not a slogan</a:t>
            </a:r>
          </a:p>
        </p:txBody>
      </p:sp>
      <p:sp>
        <p:nvSpPr>
          <p:cNvPr id="12" name="TextBox 11"/>
          <p:cNvSpPr txBox="1"/>
          <p:nvPr/>
        </p:nvSpPr>
        <p:spPr>
          <a:xfrm>
            <a:off x="548640" y="3108960"/>
            <a:ext cx="3319272" cy="1828800"/>
          </a:xfrm>
          <a:prstGeom prst="rect">
            <a:avLst/>
          </a:prstGeom>
          <a:noFill/>
        </p:spPr>
        <p:txBody>
          <a:bodyPr wrap="square">
            <a:noAutofit/>
          </a:bodyPr>
          <a:lstStyle/>
          <a:p>
            <a:pPr algn="l"/>
            <a:r>
              <a:rPr sz="1100" b="0" i="0">
                <a:solidFill>
                  <a:srgbClr val="000000"/>
                </a:solidFill>
                <a:latin typeface="Calibri"/>
              </a:rPr>
              <a:t>Taskforce has told the market it plans fifty to sixty percent compound growth over three years without raising external capital. That target means the working capital cycle, how fast agency clients pay against how fast the trade network is paid, is now doing the job a capital raise would otherwise do. A Working Capital Unlock maps where cash sits across debtors, supplier terms and facilities, and prioritises what releases it fastest.</a:t>
            </a:r>
          </a:p>
        </p:txBody>
      </p:sp>
      <p:sp>
        <p:nvSpPr>
          <p:cNvPr id="13" name="Rectangle 12"/>
          <p:cNvSpPr/>
          <p:nvPr/>
        </p:nvSpPr>
        <p:spPr>
          <a:xfrm>
            <a:off x="4160520" y="1508760"/>
            <a:ext cx="3776472" cy="35661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1691640"/>
            <a:ext cx="3319272" cy="548640"/>
          </a:xfrm>
          <a:prstGeom prst="rect">
            <a:avLst/>
          </a:prstGeom>
          <a:noFill/>
        </p:spPr>
        <p:txBody>
          <a:bodyPr wrap="square">
            <a:noAutofit/>
          </a:bodyPr>
          <a:lstStyle/>
          <a:p>
            <a:pPr algn="l"/>
            <a:r>
              <a:rPr sz="3000" b="1" i="0">
                <a:solidFill>
                  <a:srgbClr val="FFFFFF"/>
                </a:solidFill>
                <a:latin typeface="Georgia"/>
              </a:rPr>
              <a:t>02</a:t>
            </a:r>
          </a:p>
        </p:txBody>
      </p:sp>
      <p:sp>
        <p:nvSpPr>
          <p:cNvPr id="15" name="TextBox 14"/>
          <p:cNvSpPr txBox="1"/>
          <p:nvPr/>
        </p:nvSpPr>
        <p:spPr>
          <a:xfrm>
            <a:off x="4389120" y="2286000"/>
            <a:ext cx="3319272" cy="777240"/>
          </a:xfrm>
          <a:prstGeom prst="rect">
            <a:avLst/>
          </a:prstGeom>
          <a:noFill/>
        </p:spPr>
        <p:txBody>
          <a:bodyPr wrap="square">
            <a:noAutofit/>
          </a:bodyPr>
          <a:lstStyle/>
          <a:p>
            <a:pPr algn="l"/>
            <a:r>
              <a:rPr sz="1400" b="1" i="0">
                <a:solidFill>
                  <a:srgbClr val="FFFFFF"/>
                </a:solidFill>
                <a:latin typeface="Georgia"/>
              </a:rPr>
              <a:t>Revenue nearly doubled while the team barely grew</a:t>
            </a:r>
          </a:p>
        </p:txBody>
      </p:sp>
      <p:sp>
        <p:nvSpPr>
          <p:cNvPr id="16" name="TextBox 15"/>
          <p:cNvSpPr txBox="1"/>
          <p:nvPr/>
        </p:nvSpPr>
        <p:spPr>
          <a:xfrm>
            <a:off x="4389120" y="3108960"/>
            <a:ext cx="3319272" cy="1828800"/>
          </a:xfrm>
          <a:prstGeom prst="rect">
            <a:avLst/>
          </a:prstGeom>
          <a:noFill/>
        </p:spPr>
        <p:txBody>
          <a:bodyPr wrap="square">
            <a:noAutofit/>
          </a:bodyPr>
          <a:lstStyle/>
          <a:p>
            <a:pPr algn="l"/>
            <a:r>
              <a:rPr sz="1100" b="0" i="0">
                <a:solidFill>
                  <a:srgbClr val="FFFFFF"/>
                </a:solidFill>
                <a:latin typeface="Calibri"/>
              </a:rPr>
              <a:t>Revenue rose from $7.43 million in FY23 to $12.8 million in FY25, over seventy percent, while headcount held near nineteen to twenty people per Smart50 and LinkedIn. That is strong productivity, and a sign the finance function built for a seven million dollar business is now running one worth nearly double. A 13 Week Cash Flow Build gives the next stage a forward view it currently runs without.</a:t>
            </a:r>
          </a:p>
        </p:txBody>
      </p:sp>
      <p:sp>
        <p:nvSpPr>
          <p:cNvPr id="17" name="Rectangle 16"/>
          <p:cNvSpPr/>
          <p:nvPr/>
        </p:nvSpPr>
        <p:spPr>
          <a:xfrm>
            <a:off x="8001000" y="1508760"/>
            <a:ext cx="3776472" cy="356616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691640"/>
            <a:ext cx="3319272" cy="548640"/>
          </a:xfrm>
          <a:prstGeom prst="rect">
            <a:avLst/>
          </a:prstGeom>
          <a:noFill/>
        </p:spPr>
        <p:txBody>
          <a:bodyPr wrap="square">
            <a:noAutofit/>
          </a:bodyPr>
          <a:lstStyle/>
          <a:p>
            <a:pPr algn="l"/>
            <a:r>
              <a:rPr sz="3000" b="1" i="0">
                <a:solidFill>
                  <a:srgbClr val="000000"/>
                </a:solidFill>
                <a:latin typeface="Georgia"/>
              </a:rPr>
              <a:t>03</a:t>
            </a:r>
          </a:p>
        </p:txBody>
      </p:sp>
      <p:sp>
        <p:nvSpPr>
          <p:cNvPr id="19" name="TextBox 18"/>
          <p:cNvSpPr txBox="1"/>
          <p:nvPr/>
        </p:nvSpPr>
        <p:spPr>
          <a:xfrm>
            <a:off x="8229600" y="2286000"/>
            <a:ext cx="3319272" cy="777240"/>
          </a:xfrm>
          <a:prstGeom prst="rect">
            <a:avLst/>
          </a:prstGeom>
          <a:noFill/>
        </p:spPr>
        <p:txBody>
          <a:bodyPr wrap="square">
            <a:noAutofit/>
          </a:bodyPr>
          <a:lstStyle/>
          <a:p>
            <a:pPr algn="l"/>
            <a:r>
              <a:rPr sz="1400" b="1" i="0">
                <a:solidFill>
                  <a:srgbClr val="000000"/>
                </a:solidFill>
                <a:latin typeface="Georgia"/>
              </a:rPr>
              <a:t>A national contractor network is a timing problem</a:t>
            </a:r>
          </a:p>
        </p:txBody>
      </p:sp>
      <p:sp>
        <p:nvSpPr>
          <p:cNvPr id="20" name="TextBox 19"/>
          <p:cNvSpPr txBox="1"/>
          <p:nvPr/>
        </p:nvSpPr>
        <p:spPr>
          <a:xfrm>
            <a:off x="8229600" y="3108960"/>
            <a:ext cx="3319272" cy="1828800"/>
          </a:xfrm>
          <a:prstGeom prst="rect">
            <a:avLst/>
          </a:prstGeom>
          <a:noFill/>
        </p:spPr>
        <p:txBody>
          <a:bodyPr wrap="square">
            <a:noAutofit/>
          </a:bodyPr>
          <a:lstStyle/>
          <a:p>
            <a:pPr algn="l"/>
            <a:r>
              <a:rPr sz="1100" b="0" i="0">
                <a:solidFill>
                  <a:srgbClr val="000000"/>
                </a:solidFill>
                <a:latin typeface="Calibri"/>
              </a:rPr>
              <a:t>RentSafe and RentRepair route work through roughly 4,500 to 5,000 vetted tradespeople to serve 180 real estate brands and 300 offices. Every job creates two clocks, one for paying the tradesperson and one for collecting from the client, and the gap between them is where growth capital quietly leaks. A Fractional CFO Partnership keeps a senior finance voice on that gap every month, not just at each award cycle.</a:t>
            </a:r>
          </a:p>
        </p:txBody>
      </p:sp>
      <p:sp>
        <p:nvSpPr>
          <p:cNvPr id="21" name="TextBox 20"/>
          <p:cNvSpPr txBox="1"/>
          <p:nvPr/>
        </p:nvSpPr>
        <p:spPr>
          <a:xfrm>
            <a:off x="320040" y="5349240"/>
            <a:ext cx="11521440" cy="384048"/>
          </a:xfrm>
          <a:prstGeom prst="rect">
            <a:avLst/>
          </a:prstGeom>
          <a:noFill/>
        </p:spPr>
        <p:txBody>
          <a:bodyPr wrap="square">
            <a:noAutofit/>
          </a:bodyPr>
          <a:lstStyle/>
          <a:p>
            <a:pPr algn="l"/>
            <a:r>
              <a:rPr sz="1000" b="0" i="1">
                <a:solidFill>
                  <a:srgbClr val="01A296"/>
                </a:solidFill>
                <a:latin typeface="Calibri"/>
              </a:rPr>
              <a:t>These are observations offered in good faith. Taskforce has built something genuinely impressive in a short time. The question is simply whether the financial architecture keeps pace with the growth target.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56032"/>
            <a:ext cx="7772400" cy="411480"/>
          </a:xfrm>
          <a:prstGeom prst="rect">
            <a:avLst/>
          </a:prstGeom>
          <a:noFill/>
        </p:spPr>
        <p:txBody>
          <a:bodyPr wrap="square">
            <a:noAutofit/>
          </a:bodyPr>
          <a:lstStyle/>
          <a:p>
            <a:pPr algn="l"/>
            <a:r>
              <a:rPr sz="1200" b="1" i="0">
                <a:solidFill>
                  <a:srgbClr val="E6E5DE"/>
                </a:solidFill>
                <a:latin typeface="Georgia"/>
              </a:rPr>
              <a:t>THE RECOMMENDATION</a:t>
            </a:r>
          </a:p>
        </p:txBody>
      </p:sp>
      <p:sp>
        <p:nvSpPr>
          <p:cNvPr id="5" name="TextBox 4"/>
          <p:cNvSpPr txBox="1"/>
          <p:nvPr/>
        </p:nvSpPr>
        <p:spPr>
          <a:xfrm>
            <a:off x="7772400" y="256032"/>
            <a:ext cx="4160520" cy="411480"/>
          </a:xfrm>
          <a:prstGeom prst="rect">
            <a:avLst/>
          </a:prstGeom>
          <a:noFill/>
        </p:spPr>
        <p:txBody>
          <a:bodyPr wrap="square">
            <a:noAutofit/>
          </a:bodyPr>
          <a:lstStyle/>
          <a:p>
            <a:pPr algn="r"/>
            <a:r>
              <a:rPr sz="1200" b="1" i="0">
                <a:solidFill>
                  <a:srgbClr val="01A296"/>
                </a:solidFill>
                <a:latin typeface="Georgia"/>
              </a:rPr>
              <a:t>TASKFORCE AUSTRALIA</a:t>
            </a:r>
          </a:p>
        </p:txBody>
      </p:sp>
      <p:sp>
        <p:nvSpPr>
          <p:cNvPr id="6" name="TextBox 5"/>
          <p:cNvSpPr txBox="1"/>
          <p:nvPr/>
        </p:nvSpPr>
        <p:spPr>
          <a:xfrm>
            <a:off x="320040" y="6446520"/>
            <a:ext cx="8686800" cy="27432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7" name="TextBox 6"/>
          <p:cNvSpPr txBox="1"/>
          <p:nvPr/>
        </p:nvSpPr>
        <p:spPr>
          <a:xfrm>
            <a:off x="9601200" y="6446520"/>
            <a:ext cx="2331720" cy="274320"/>
          </a:xfrm>
          <a:prstGeom prst="rect">
            <a:avLst/>
          </a:prstGeom>
          <a:noFill/>
        </p:spPr>
        <p:txBody>
          <a:bodyPr wrap="square">
            <a:noAutofit/>
          </a:bodyPr>
          <a:lstStyle/>
          <a:p>
            <a:pPr algn="r"/>
            <a:r>
              <a:rPr sz="800" b="0" i="0">
                <a:solidFill>
                  <a:srgbClr val="000000"/>
                </a:solidFill>
                <a:latin typeface="Calibri"/>
              </a:rPr>
              <a:t>30 Jul 2026</a:t>
            </a:r>
          </a:p>
        </p:txBody>
      </p:sp>
      <p:sp>
        <p:nvSpPr>
          <p:cNvPr id="8" name="TextBox 7"/>
          <p:cNvSpPr txBox="1"/>
          <p:nvPr/>
        </p:nvSpPr>
        <p:spPr>
          <a:xfrm>
            <a:off x="320040" y="1051560"/>
            <a:ext cx="6949440" cy="502920"/>
          </a:xfrm>
          <a:prstGeom prst="rect">
            <a:avLst/>
          </a:prstGeom>
          <a:noFill/>
        </p:spPr>
        <p:txBody>
          <a:bodyPr wrap="square">
            <a:noAutofit/>
          </a:bodyPr>
          <a:lstStyle/>
          <a:p>
            <a:pPr algn="l"/>
            <a:r>
              <a:rPr sz="2600" b="1" i="0">
                <a:solidFill>
                  <a:srgbClr val="000000"/>
                </a:solidFill>
                <a:latin typeface="Georgia"/>
              </a:rPr>
              <a:t>Working Capital Unlock</a:t>
            </a:r>
          </a:p>
        </p:txBody>
      </p:sp>
      <p:sp>
        <p:nvSpPr>
          <p:cNvPr id="9" name="TextBox 8"/>
          <p:cNvSpPr txBox="1"/>
          <p:nvPr/>
        </p:nvSpPr>
        <p:spPr>
          <a:xfrm>
            <a:off x="320040" y="1536192"/>
            <a:ext cx="6949440" cy="365760"/>
          </a:xfrm>
          <a:prstGeom prst="rect">
            <a:avLst/>
          </a:prstGeom>
          <a:noFill/>
        </p:spPr>
        <p:txBody>
          <a:bodyPr wrap="square">
            <a:noAutofit/>
          </a:bodyPr>
          <a:lstStyle/>
          <a:p>
            <a:pPr algn="l"/>
            <a:r>
              <a:rPr sz="1800" b="1" i="0">
                <a:solidFill>
                  <a:srgbClr val="F6A102"/>
                </a:solidFill>
                <a:latin typeface="Georgia"/>
              </a:rPr>
              <a:t>$6,000 one off</a:t>
            </a:r>
          </a:p>
        </p:txBody>
      </p:sp>
      <p:sp>
        <p:nvSpPr>
          <p:cNvPr id="10" name="TextBox 9"/>
          <p:cNvSpPr txBox="1"/>
          <p:nvPr/>
        </p:nvSpPr>
        <p:spPr>
          <a:xfrm>
            <a:off x="320040" y="1965960"/>
            <a:ext cx="6949440" cy="594360"/>
          </a:xfrm>
          <a:prstGeom prst="rect">
            <a:avLst/>
          </a:prstGeom>
          <a:noFill/>
        </p:spPr>
        <p:txBody>
          <a:bodyPr wrap="square">
            <a:noAutofit/>
          </a:bodyPr>
          <a:lstStyle/>
          <a:p>
            <a:pPr algn="l"/>
            <a:r>
              <a:rPr sz="1150" b="0" i="0">
                <a:solidFill>
                  <a:srgbClr val="000000"/>
                </a:solidFill>
                <a:latin typeface="Calibri"/>
              </a:rPr>
              <a:t>Maps cash trapped in debtors, contractor terms and facilities, with a prioritised list to release it, funding growth without external capital.</a:t>
            </a:r>
          </a:p>
        </p:txBody>
      </p:sp>
      <p:sp>
        <p:nvSpPr>
          <p:cNvPr id="11" name="Rectangle 10"/>
          <p:cNvSpPr/>
          <p:nvPr/>
        </p:nvSpPr>
        <p:spPr>
          <a:xfrm>
            <a:off x="320040" y="2651760"/>
            <a:ext cx="6949440" cy="169164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779776"/>
            <a:ext cx="6583680" cy="320040"/>
          </a:xfrm>
          <a:prstGeom prst="rect">
            <a:avLst/>
          </a:prstGeom>
          <a:noFill/>
        </p:spPr>
        <p:txBody>
          <a:bodyPr wrap="square">
            <a:noAutofit/>
          </a:bodyPr>
          <a:lstStyle/>
          <a:p>
            <a:pPr algn="l"/>
            <a:r>
              <a:rPr sz="1300" b="1" i="0">
                <a:solidFill>
                  <a:srgbClr val="000000"/>
                </a:solidFill>
                <a:latin typeface="Georgia"/>
              </a:rPr>
              <a:t>Step one, answer a few quick questions</a:t>
            </a:r>
          </a:p>
        </p:txBody>
      </p:sp>
      <p:sp>
        <p:nvSpPr>
          <p:cNvPr id="13" name="TextBox 12"/>
          <p:cNvSpPr txBox="1"/>
          <p:nvPr/>
        </p:nvSpPr>
        <p:spPr>
          <a:xfrm>
            <a:off x="502920" y="3127248"/>
            <a:ext cx="6583680" cy="320040"/>
          </a:xfrm>
          <a:prstGeom prst="rect">
            <a:avLst/>
          </a:prstGeom>
          <a:noFill/>
        </p:spPr>
        <p:txBody>
          <a:bodyPr wrap="square">
            <a:noAutofit/>
          </a:bodyPr>
          <a:lstStyle/>
          <a:p>
            <a:pPr algn="l"/>
            <a:r>
              <a:rPr sz="1100" b="0" i="0">
                <a:solidFill>
                  <a:srgbClr val="000000"/>
                </a:solidFill>
                <a:latin typeface="Calibri"/>
              </a:rPr>
              <a:t>See the solutions matched to your size and industry.</a:t>
            </a:r>
          </a:p>
        </p:txBody>
      </p:sp>
      <p:sp>
        <p:nvSpPr>
          <p:cNvPr id="14" name="TextBox 13"/>
          <p:cNvSpPr txBox="1"/>
          <p:nvPr/>
        </p:nvSpPr>
        <p:spPr>
          <a:xfrm>
            <a:off x="502920" y="3474720"/>
            <a:ext cx="6583680" cy="365760"/>
          </a:xfrm>
          <a:prstGeom prst="rect">
            <a:avLst/>
          </a:prstGeom>
          <a:noFill/>
        </p:spPr>
        <p:txBody>
          <a:bodyPr wrap="square">
            <a:noAutofit/>
          </a:bodyPr>
          <a:lstStyle/>
          <a:p>
            <a:pPr algn="l"/>
            <a:r>
              <a:rPr sz="1300" b="1" i="0" u="none">
                <a:solidFill>
                  <a:srgbClr val="000000"/>
                </a:solidFill>
                <a:latin typeface="Calibri"/>
                <a:hlinkClick r:id="rId2"/>
              </a:rPr>
              <a:t>profit-pulse.com.au/services/find-your-fit</a:t>
            </a:r>
          </a:p>
        </p:txBody>
      </p:sp>
      <p:sp>
        <p:nvSpPr>
          <p:cNvPr id="15" name="TextBox 14"/>
          <p:cNvSpPr txBox="1"/>
          <p:nvPr/>
        </p:nvSpPr>
        <p:spPr>
          <a:xfrm>
            <a:off x="502920" y="3858768"/>
            <a:ext cx="6583680" cy="320040"/>
          </a:xfrm>
          <a:prstGeom prst="rect">
            <a:avLst/>
          </a:prstGeom>
          <a:noFill/>
        </p:spPr>
        <p:txBody>
          <a:bodyPr wrap="square">
            <a:noAutofit/>
          </a:bodyPr>
          <a:lstStyle/>
          <a:p>
            <a:pPr algn="l"/>
            <a:r>
              <a:rPr sz="1100" b="1" i="0" u="none">
                <a:solidFill>
                  <a:srgbClr val="000000"/>
                </a:solidFill>
                <a:latin typeface="Calibri"/>
                <a:hlinkClick r:id="rId3"/>
              </a:rPr>
              <a:t>Purchase the suggested product now to get started</a:t>
            </a:r>
          </a:p>
        </p:txBody>
      </p:sp>
      <p:sp>
        <p:nvSpPr>
          <p:cNvPr id="16" name="TextBox 15"/>
          <p:cNvSpPr txBox="1"/>
          <p:nvPr/>
        </p:nvSpPr>
        <p:spPr>
          <a:xfrm>
            <a:off x="320040" y="4572000"/>
            <a:ext cx="6949440" cy="320040"/>
          </a:xfrm>
          <a:prstGeom prst="rect">
            <a:avLst/>
          </a:prstGeom>
          <a:noFill/>
        </p:spPr>
        <p:txBody>
          <a:bodyPr wrap="square">
            <a:noAutofit/>
          </a:bodyPr>
          <a:lstStyle/>
          <a:p>
            <a:pPr algn="l"/>
            <a:r>
              <a:rPr sz="1100" b="0" i="0">
                <a:solidFill>
                  <a:srgbClr val="000000"/>
                </a:solidFill>
                <a:latin typeface="Calibri"/>
              </a:rPr>
              <a:t>Prefer a conversation first?</a:t>
            </a:r>
          </a:p>
        </p:txBody>
      </p:sp>
      <p:sp>
        <p:nvSpPr>
          <p:cNvPr id="17" name="TextBox 16"/>
          <p:cNvSpPr txBox="1"/>
          <p:nvPr/>
        </p:nvSpPr>
        <p:spPr>
          <a:xfrm>
            <a:off x="320040" y="4892040"/>
            <a:ext cx="6949440" cy="320040"/>
          </a:xfrm>
          <a:prstGeom prst="rect">
            <a:avLst/>
          </a:prstGeom>
          <a:noFill/>
        </p:spPr>
        <p:txBody>
          <a:bodyPr wrap="square">
            <a:noAutofit/>
          </a:bodyPr>
          <a:lstStyle/>
          <a:p>
            <a:pPr algn="l"/>
            <a:r>
              <a:rPr sz="1200" b="1" i="0" u="none">
                <a:solidFill>
                  <a:srgbClr val="000000"/>
                </a:solidFill>
                <a:latin typeface="Calibri"/>
                <a:hlinkClick r:id="rId4"/>
              </a:rPr>
              <a:t>Book a complimentary discovery call</a:t>
            </a:r>
          </a:p>
        </p:txBody>
      </p:sp>
      <p:sp>
        <p:nvSpPr>
          <p:cNvPr id="18" name="Rectangle 17"/>
          <p:cNvSpPr/>
          <p:nvPr/>
        </p:nvSpPr>
        <p:spPr>
          <a:xfrm>
            <a:off x="7543800" y="1051560"/>
            <a:ext cx="4343400" cy="4343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43800" y="1051560"/>
            <a:ext cx="434340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1280160"/>
            <a:ext cx="3886200" cy="457200"/>
          </a:xfrm>
          <a:prstGeom prst="rect">
            <a:avLst/>
          </a:prstGeom>
          <a:noFill/>
        </p:spPr>
        <p:txBody>
          <a:bodyPr wrap="square">
            <a:noAutofit/>
          </a:bodyPr>
          <a:lstStyle/>
          <a:p>
            <a:pPr algn="l"/>
            <a:r>
              <a:rPr sz="1800" b="1" i="0">
                <a:solidFill>
                  <a:srgbClr val="F8C806"/>
                </a:solidFill>
                <a:latin typeface="Georgia"/>
              </a:rPr>
              <a:t>Nitesh Roopa</a:t>
            </a:r>
          </a:p>
        </p:txBody>
      </p:sp>
      <p:sp>
        <p:nvSpPr>
          <p:cNvPr id="21" name="TextBox 20"/>
          <p:cNvSpPr txBox="1"/>
          <p:nvPr/>
        </p:nvSpPr>
        <p:spPr>
          <a:xfrm>
            <a:off x="7772400" y="1691640"/>
            <a:ext cx="3886200" cy="320040"/>
          </a:xfrm>
          <a:prstGeom prst="rect">
            <a:avLst/>
          </a:prstGeom>
          <a:noFill/>
        </p:spPr>
        <p:txBody>
          <a:bodyPr wrap="square">
            <a:noAutofit/>
          </a:bodyPr>
          <a:lstStyle/>
          <a:p>
            <a:pPr algn="l"/>
            <a:r>
              <a:rPr sz="1200" b="0" i="0">
                <a:solidFill>
                  <a:srgbClr val="FFFFFF"/>
                </a:solidFill>
                <a:latin typeface="Calibri"/>
              </a:rPr>
              <a:t>CA, Managing Partner, ProfitPulse</a:t>
            </a:r>
          </a:p>
        </p:txBody>
      </p:sp>
      <p:sp>
        <p:nvSpPr>
          <p:cNvPr id="22" name="TextBox 21"/>
          <p:cNvSpPr txBox="1"/>
          <p:nvPr/>
        </p:nvSpPr>
        <p:spPr>
          <a:xfrm>
            <a:off x="7772400" y="2148840"/>
            <a:ext cx="3886200" cy="1371600"/>
          </a:xfrm>
          <a:prstGeom prst="rect">
            <a:avLst/>
          </a:prstGeom>
          <a:noFill/>
        </p:spPr>
        <p:txBody>
          <a:bodyPr wrap="square">
            <a:noAutofit/>
          </a:bodyPr>
          <a:lstStyle/>
          <a:p>
            <a:pPr algn="l">
              <a:spcAft>
                <a:spcPts val="600"/>
              </a:spcAft>
            </a:pPr>
            <a:r>
              <a:rPr sz="1100" b="0" i="0">
                <a:solidFill>
                  <a:srgbClr val="E6E5DE"/>
                </a:solidFill>
                <a:latin typeface="Calibri"/>
              </a:rPr>
              <a:t>•  16 years across 4 countries</a:t>
            </a:r>
          </a:p>
          <a:p>
            <a:pPr algn="l">
              <a:spcAft>
                <a:spcPts val="600"/>
              </a:spcAft>
            </a:pPr>
            <a:r>
              <a:rPr sz="1100" b="0" i="0">
                <a:solidFill>
                  <a:srgbClr val="E6E5DE"/>
                </a:solidFill>
                <a:latin typeface="Calibri"/>
              </a:rPr>
              <a:t>•  52 deals executed and managed</a:t>
            </a:r>
          </a:p>
          <a:p>
            <a:pPr algn="l">
              <a:spcAft>
                <a:spcPts val="600"/>
              </a:spcAft>
            </a:pPr>
            <a:r>
              <a:rPr sz="1100" b="0" i="0">
                <a:solidFill>
                  <a:srgbClr val="E6E5DE"/>
                </a:solidFill>
                <a:latin typeface="Calibri"/>
              </a:rPr>
              <a:t>•  Largest deal USD 1.3 billion, Cahora Bassa</a:t>
            </a:r>
          </a:p>
          <a:p>
            <a:pPr algn="l">
              <a:spcAft>
                <a:spcPts val="600"/>
              </a:spcAft>
            </a:pPr>
            <a:r>
              <a:rPr sz="1100" b="0" i="0">
                <a:solidFill>
                  <a:srgbClr val="E6E5DE"/>
                </a:solidFill>
                <a:latin typeface="Calibri"/>
              </a:rPr>
              <a:t>•  Over AUD 10 billion in GRBT project value</a:t>
            </a:r>
          </a:p>
        </p:txBody>
      </p:sp>
      <p:sp>
        <p:nvSpPr>
          <p:cNvPr id="23" name="Rectangle 22"/>
          <p:cNvSpPr/>
          <p:nvPr/>
        </p:nvSpPr>
        <p:spPr>
          <a:xfrm>
            <a:off x="7772400" y="3657600"/>
            <a:ext cx="3886200"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0" y="3840480"/>
            <a:ext cx="3886200" cy="1463040"/>
          </a:xfrm>
          <a:prstGeom prst="rect">
            <a:avLst/>
          </a:prstGeom>
          <a:noFill/>
        </p:spPr>
        <p:txBody>
          <a:bodyPr wrap="square">
            <a:noAutofit/>
          </a:bodyPr>
          <a:lstStyle/>
          <a:p>
            <a:pPr algn="l">
              <a:spcAft>
                <a:spcPts val="600"/>
              </a:spcAft>
            </a:pPr>
            <a:r>
              <a:rPr sz="1200" b="1" i="0">
                <a:solidFill>
                  <a:srgbClr val="01A296"/>
                </a:solidFill>
                <a:latin typeface="Calibri"/>
              </a:rPr>
              <a:t>Profit-Pulse.com.au</a:t>
            </a:r>
          </a:p>
          <a:p>
            <a:pPr algn="l">
              <a:spcAft>
                <a:spcPts val="600"/>
              </a:spcAft>
            </a:pPr>
            <a:r>
              <a:rPr sz="1200" b="0" i="0">
                <a:solidFill>
                  <a:srgbClr val="E6E5DE"/>
                </a:solidFill>
                <a:latin typeface="Calibri"/>
              </a:rPr>
              <a:t>Nitesh@Profit-Pulse.com.au</a:t>
            </a:r>
          </a:p>
          <a:p>
            <a:pPr algn="l">
              <a:spcAft>
                <a:spcPts val="600"/>
              </a:spcAft>
            </a:pPr>
            <a:r>
              <a:rPr sz="1200" b="0" i="0">
                <a:solidFill>
                  <a:srgbClr val="E6E5DE"/>
                </a:solidFill>
                <a:latin typeface="Calibri"/>
              </a:rPr>
              <a:t>+61 411 876 267</a:t>
            </a:r>
          </a:p>
          <a:p>
            <a:pPr algn="l">
              <a:spcAft>
                <a:spcPts val="600"/>
              </a:spcAft>
            </a:pPr>
            <a:r>
              <a:rPr sz="1000" b="0" i="0">
                <a:solidFill>
                  <a:srgbClr val="E6E5DE"/>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