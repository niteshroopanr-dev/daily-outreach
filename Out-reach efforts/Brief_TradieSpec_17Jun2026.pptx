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5kQ9AU7OU9io95m8sn3ks0l"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7315200" cy="457200"/>
          </a:xfrm>
          <a:prstGeom prst="rect">
            <a:avLst/>
          </a:prstGeom>
          <a:noFill/>
        </p:spPr>
        <p:txBody>
          <a:bodyPr wrap="square">
            <a:spAutoFit/>
          </a:bodyPr>
          <a:lstStyle/>
          <a:p>
            <a:pPr algn="l"/>
            <a:r>
              <a:rPr sz="1100" b="1" i="0">
                <a:solidFill>
                  <a:srgbClr val="E6E5DE"/>
                </a:solidFill>
                <a:latin typeface="Arial"/>
              </a:rPr>
              <a:t>COMMERCIAL INTELLIGENCE BRIEF</a:t>
            </a:r>
          </a:p>
        </p:txBody>
      </p:sp>
      <p:sp>
        <p:nvSpPr>
          <p:cNvPr id="5" name="TextBox 4"/>
          <p:cNvSpPr txBox="1"/>
          <p:nvPr/>
        </p:nvSpPr>
        <p:spPr>
          <a:xfrm>
            <a:off x="8686800" y="182880"/>
            <a:ext cx="3291840" cy="457200"/>
          </a:xfrm>
          <a:prstGeom prst="rect">
            <a:avLst/>
          </a:prstGeom>
          <a:noFill/>
        </p:spPr>
        <p:txBody>
          <a:bodyPr wrap="square">
            <a:spAutoFit/>
          </a:bodyPr>
          <a:lstStyle/>
          <a:p>
            <a:pPr algn="r"/>
            <a:r>
              <a:rPr sz="1100" b="1" i="0">
                <a:solidFill>
                  <a:srgbClr val="E6E5DE"/>
                </a:solidFill>
                <a:latin typeface="Arial"/>
              </a:rPr>
              <a:t>PROFITPULSE</a:t>
            </a:r>
          </a:p>
        </p:txBody>
      </p:sp>
      <p:sp>
        <p:nvSpPr>
          <p:cNvPr id="6" name="TextBox 5"/>
          <p:cNvSpPr txBox="1"/>
          <p:nvPr/>
        </p:nvSpPr>
        <p:spPr>
          <a:xfrm>
            <a:off x="182880" y="868680"/>
            <a:ext cx="8229600" cy="777240"/>
          </a:xfrm>
          <a:prstGeom prst="rect">
            <a:avLst/>
          </a:prstGeom>
          <a:noFill/>
        </p:spPr>
        <p:txBody>
          <a:bodyPr wrap="square">
            <a:spAutoFit/>
          </a:bodyPr>
          <a:lstStyle/>
          <a:p>
            <a:pPr algn="l"/>
            <a:r>
              <a:rPr sz="4400" b="1" i="0">
                <a:solidFill>
                  <a:srgbClr val="000000"/>
                </a:solidFill>
                <a:latin typeface="Georgia"/>
              </a:rPr>
              <a:t>TradieSpec</a:t>
            </a:r>
          </a:p>
        </p:txBody>
      </p:sp>
      <p:sp>
        <p:nvSpPr>
          <p:cNvPr id="7" name="TextBox 6"/>
          <p:cNvSpPr txBox="1"/>
          <p:nvPr/>
        </p:nvSpPr>
        <p:spPr>
          <a:xfrm>
            <a:off x="182880" y="1627632"/>
            <a:ext cx="9144000" cy="320040"/>
          </a:xfrm>
          <a:prstGeom prst="rect">
            <a:avLst/>
          </a:prstGeom>
          <a:noFill/>
        </p:spPr>
        <p:txBody>
          <a:bodyPr wrap="square">
            <a:spAutoFit/>
          </a:bodyPr>
          <a:lstStyle/>
          <a:p>
            <a:pPr algn="l"/>
            <a:r>
              <a:rPr sz="1200" b="0" i="0">
                <a:solidFill>
                  <a:srgbClr val="01A296"/>
                </a:solidFill>
                <a:latin typeface="Arial"/>
              </a:rPr>
              <a:t>Rent to own and flexible trade vehicle hire  |  Peakhurst, Sydney NSW</a:t>
            </a:r>
          </a:p>
        </p:txBody>
      </p:sp>
      <p:sp>
        <p:nvSpPr>
          <p:cNvPr id="8" name="Rectangle 7"/>
          <p:cNvSpPr/>
          <p:nvPr/>
        </p:nvSpPr>
        <p:spPr>
          <a:xfrm>
            <a:off x="182880"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2148840"/>
            <a:ext cx="1719072" cy="548640"/>
          </a:xfrm>
          <a:prstGeom prst="rect">
            <a:avLst/>
          </a:prstGeom>
          <a:noFill/>
        </p:spPr>
        <p:txBody>
          <a:bodyPr wrap="square">
            <a:spAutoFit/>
          </a:bodyPr>
          <a:lstStyle/>
          <a:p>
            <a:pPr algn="l"/>
            <a:r>
              <a:rPr sz="2600" b="1" i="0">
                <a:solidFill>
                  <a:srgbClr val="FFFFFF"/>
                </a:solidFill>
                <a:latin typeface="Georgia"/>
              </a:rPr>
              <a:t>$15.3M</a:t>
            </a:r>
          </a:p>
        </p:txBody>
      </p:sp>
      <p:sp>
        <p:nvSpPr>
          <p:cNvPr id="11" name="TextBox 10"/>
          <p:cNvSpPr txBox="1"/>
          <p:nvPr/>
        </p:nvSpPr>
        <p:spPr>
          <a:xfrm>
            <a:off x="292608" y="2670048"/>
            <a:ext cx="1719072" cy="256032"/>
          </a:xfrm>
          <a:prstGeom prst="rect">
            <a:avLst/>
          </a:prstGeom>
          <a:noFill/>
        </p:spPr>
        <p:txBody>
          <a:bodyPr wrap="square">
            <a:spAutoFit/>
          </a:bodyPr>
          <a:lstStyle/>
          <a:p>
            <a:pPr algn="l"/>
            <a:r>
              <a:rPr sz="1000" b="0" i="0">
                <a:solidFill>
                  <a:srgbClr val="E6E5DE"/>
                </a:solidFill>
                <a:latin typeface="Arial"/>
              </a:rPr>
              <a:t>Revenue</a:t>
            </a:r>
          </a:p>
        </p:txBody>
      </p:sp>
      <p:sp>
        <p:nvSpPr>
          <p:cNvPr id="12" name="TextBox 11"/>
          <p:cNvSpPr txBox="1"/>
          <p:nvPr/>
        </p:nvSpPr>
        <p:spPr>
          <a:xfrm>
            <a:off x="292608" y="2907792"/>
            <a:ext cx="1719072" cy="228600"/>
          </a:xfrm>
          <a:prstGeom prst="rect">
            <a:avLst/>
          </a:prstGeom>
          <a:noFill/>
        </p:spPr>
        <p:txBody>
          <a:bodyPr wrap="square">
            <a:spAutoFit/>
          </a:bodyPr>
          <a:lstStyle/>
          <a:p>
            <a:pPr algn="l"/>
            <a:r>
              <a:rPr sz="700" b="0" i="1">
                <a:solidFill>
                  <a:srgbClr val="016E65"/>
                </a:solidFill>
                <a:latin typeface="Arial"/>
              </a:rPr>
              <a:t>Smart50 2025, SmartCompany</a:t>
            </a:r>
          </a:p>
        </p:txBody>
      </p:sp>
      <p:sp>
        <p:nvSpPr>
          <p:cNvPr id="13" name="Rectangle 12"/>
          <p:cNvSpPr/>
          <p:nvPr/>
        </p:nvSpPr>
        <p:spPr>
          <a:xfrm>
            <a:off x="2180844"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80844"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90572" y="2148840"/>
            <a:ext cx="1719072" cy="548640"/>
          </a:xfrm>
          <a:prstGeom prst="rect">
            <a:avLst/>
          </a:prstGeom>
          <a:noFill/>
        </p:spPr>
        <p:txBody>
          <a:bodyPr wrap="square">
            <a:spAutoFit/>
          </a:bodyPr>
          <a:lstStyle/>
          <a:p>
            <a:pPr algn="l"/>
            <a:r>
              <a:rPr sz="2600" b="1" i="0">
                <a:solidFill>
                  <a:srgbClr val="FFFFFF"/>
                </a:solidFill>
                <a:latin typeface="Georgia"/>
              </a:rPr>
              <a:t>57%</a:t>
            </a:r>
          </a:p>
        </p:txBody>
      </p:sp>
      <p:sp>
        <p:nvSpPr>
          <p:cNvPr id="16" name="TextBox 15"/>
          <p:cNvSpPr txBox="1"/>
          <p:nvPr/>
        </p:nvSpPr>
        <p:spPr>
          <a:xfrm>
            <a:off x="2290572" y="2670048"/>
            <a:ext cx="1719072" cy="256032"/>
          </a:xfrm>
          <a:prstGeom prst="rect">
            <a:avLst/>
          </a:prstGeom>
          <a:noFill/>
        </p:spPr>
        <p:txBody>
          <a:bodyPr wrap="square">
            <a:spAutoFit/>
          </a:bodyPr>
          <a:lstStyle/>
          <a:p>
            <a:pPr algn="l"/>
            <a:r>
              <a:rPr sz="1000" b="0" i="0">
                <a:solidFill>
                  <a:srgbClr val="E6E5DE"/>
                </a:solidFill>
                <a:latin typeface="Arial"/>
              </a:rPr>
              <a:t>Three year average</a:t>
            </a:r>
          </a:p>
        </p:txBody>
      </p:sp>
      <p:sp>
        <p:nvSpPr>
          <p:cNvPr id="17" name="TextBox 16"/>
          <p:cNvSpPr txBox="1"/>
          <p:nvPr/>
        </p:nvSpPr>
        <p:spPr>
          <a:xfrm>
            <a:off x="2290572" y="2907792"/>
            <a:ext cx="1719072" cy="228600"/>
          </a:xfrm>
          <a:prstGeom prst="rect">
            <a:avLst/>
          </a:prstGeom>
          <a:noFill/>
        </p:spPr>
        <p:txBody>
          <a:bodyPr wrap="square">
            <a:spAutoFit/>
          </a:bodyPr>
          <a:lstStyle/>
          <a:p>
            <a:pPr algn="l"/>
            <a:r>
              <a:rPr sz="900" b="0" i="0">
                <a:solidFill>
                  <a:srgbClr val="E6E5DE"/>
                </a:solidFill>
                <a:latin typeface="Arial"/>
              </a:rPr>
              <a:t>revenue growth</a:t>
            </a:r>
          </a:p>
        </p:txBody>
      </p:sp>
      <p:sp>
        <p:nvSpPr>
          <p:cNvPr id="18" name="TextBox 17"/>
          <p:cNvSpPr txBox="1"/>
          <p:nvPr/>
        </p:nvSpPr>
        <p:spPr>
          <a:xfrm>
            <a:off x="2290572" y="3127248"/>
            <a:ext cx="1719072" cy="228600"/>
          </a:xfrm>
          <a:prstGeom prst="rect">
            <a:avLst/>
          </a:prstGeom>
          <a:noFill/>
        </p:spPr>
        <p:txBody>
          <a:bodyPr wrap="square">
            <a:spAutoFit/>
          </a:bodyPr>
          <a:lstStyle/>
          <a:p>
            <a:pPr algn="l"/>
            <a:r>
              <a:rPr sz="700" b="0" i="1">
                <a:solidFill>
                  <a:srgbClr val="016E65"/>
                </a:solidFill>
                <a:latin typeface="Arial"/>
              </a:rPr>
              <a:t>Smart50 2025, SmartCompany</a:t>
            </a:r>
          </a:p>
        </p:txBody>
      </p:sp>
      <p:sp>
        <p:nvSpPr>
          <p:cNvPr id="19" name="Rectangle 18"/>
          <p:cNvSpPr/>
          <p:nvPr/>
        </p:nvSpPr>
        <p:spPr>
          <a:xfrm>
            <a:off x="4178808"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78808"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8536" y="2148840"/>
            <a:ext cx="1719072" cy="548640"/>
          </a:xfrm>
          <a:prstGeom prst="rect">
            <a:avLst/>
          </a:prstGeom>
          <a:noFill/>
        </p:spPr>
        <p:txBody>
          <a:bodyPr wrap="square">
            <a:spAutoFit/>
          </a:bodyPr>
          <a:lstStyle/>
          <a:p>
            <a:pPr algn="l"/>
            <a:r>
              <a:rPr sz="2600" b="1" i="0">
                <a:solidFill>
                  <a:srgbClr val="FFFFFF"/>
                </a:solidFill>
                <a:latin typeface="Georgia"/>
              </a:rPr>
              <a:t>#18</a:t>
            </a:r>
          </a:p>
        </p:txBody>
      </p:sp>
      <p:sp>
        <p:nvSpPr>
          <p:cNvPr id="22" name="TextBox 21"/>
          <p:cNvSpPr txBox="1"/>
          <p:nvPr/>
        </p:nvSpPr>
        <p:spPr>
          <a:xfrm>
            <a:off x="4288536" y="2670048"/>
            <a:ext cx="1719072" cy="256032"/>
          </a:xfrm>
          <a:prstGeom prst="rect">
            <a:avLst/>
          </a:prstGeom>
          <a:noFill/>
        </p:spPr>
        <p:txBody>
          <a:bodyPr wrap="square">
            <a:spAutoFit/>
          </a:bodyPr>
          <a:lstStyle/>
          <a:p>
            <a:pPr algn="l"/>
            <a:r>
              <a:rPr sz="1000" b="0" i="0">
                <a:solidFill>
                  <a:srgbClr val="E6E5DE"/>
                </a:solidFill>
                <a:latin typeface="Arial"/>
              </a:rPr>
              <a:t>Smart50 2025</a:t>
            </a:r>
          </a:p>
        </p:txBody>
      </p:sp>
      <p:sp>
        <p:nvSpPr>
          <p:cNvPr id="23" name="TextBox 22"/>
          <p:cNvSpPr txBox="1"/>
          <p:nvPr/>
        </p:nvSpPr>
        <p:spPr>
          <a:xfrm>
            <a:off x="4288536" y="2907792"/>
            <a:ext cx="1719072" cy="228600"/>
          </a:xfrm>
          <a:prstGeom prst="rect">
            <a:avLst/>
          </a:prstGeom>
          <a:noFill/>
        </p:spPr>
        <p:txBody>
          <a:bodyPr wrap="square">
            <a:spAutoFit/>
          </a:bodyPr>
          <a:lstStyle/>
          <a:p>
            <a:pPr algn="l"/>
            <a:r>
              <a:rPr sz="900" b="0" i="0">
                <a:solidFill>
                  <a:srgbClr val="E6E5DE"/>
                </a:solidFill>
                <a:latin typeface="Arial"/>
              </a:rPr>
              <a:t>rank of 50</a:t>
            </a:r>
          </a:p>
        </p:txBody>
      </p:sp>
      <p:sp>
        <p:nvSpPr>
          <p:cNvPr id="24" name="TextBox 23"/>
          <p:cNvSpPr txBox="1"/>
          <p:nvPr/>
        </p:nvSpPr>
        <p:spPr>
          <a:xfrm>
            <a:off x="4288536" y="3127248"/>
            <a:ext cx="1719072" cy="228600"/>
          </a:xfrm>
          <a:prstGeom prst="rect">
            <a:avLst/>
          </a:prstGeom>
          <a:noFill/>
        </p:spPr>
        <p:txBody>
          <a:bodyPr wrap="square">
            <a:spAutoFit/>
          </a:bodyPr>
          <a:lstStyle/>
          <a:p>
            <a:pPr algn="l"/>
            <a:r>
              <a:rPr sz="700" b="0" i="1">
                <a:solidFill>
                  <a:srgbClr val="016E65"/>
                </a:solidFill>
                <a:latin typeface="Arial"/>
              </a:rPr>
              <a:t>SmartCompany, Nov 2025</a:t>
            </a:r>
          </a:p>
        </p:txBody>
      </p:sp>
      <p:sp>
        <p:nvSpPr>
          <p:cNvPr id="25" name="Rectangle 24"/>
          <p:cNvSpPr/>
          <p:nvPr/>
        </p:nvSpPr>
        <p:spPr>
          <a:xfrm>
            <a:off x="6176772"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6772"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6500" y="2148840"/>
            <a:ext cx="1719072" cy="548640"/>
          </a:xfrm>
          <a:prstGeom prst="rect">
            <a:avLst/>
          </a:prstGeom>
          <a:noFill/>
        </p:spPr>
        <p:txBody>
          <a:bodyPr wrap="square">
            <a:spAutoFit/>
          </a:bodyPr>
          <a:lstStyle/>
          <a:p>
            <a:pPr algn="l"/>
            <a:r>
              <a:rPr sz="2600" b="1" i="0">
                <a:solidFill>
                  <a:srgbClr val="FFFFFF"/>
                </a:solidFill>
                <a:latin typeface="Georgia"/>
              </a:rPr>
              <a:t>22</a:t>
            </a:r>
          </a:p>
        </p:txBody>
      </p:sp>
      <p:sp>
        <p:nvSpPr>
          <p:cNvPr id="28" name="TextBox 27"/>
          <p:cNvSpPr txBox="1"/>
          <p:nvPr/>
        </p:nvSpPr>
        <p:spPr>
          <a:xfrm>
            <a:off x="6286500" y="2670048"/>
            <a:ext cx="1719072" cy="256032"/>
          </a:xfrm>
          <a:prstGeom prst="rect">
            <a:avLst/>
          </a:prstGeom>
          <a:noFill/>
        </p:spPr>
        <p:txBody>
          <a:bodyPr wrap="square">
            <a:spAutoFit/>
          </a:bodyPr>
          <a:lstStyle/>
          <a:p>
            <a:pPr algn="l"/>
            <a:r>
              <a:rPr sz="1000" b="0" i="0">
                <a:solidFill>
                  <a:srgbClr val="E6E5DE"/>
                </a:solidFill>
                <a:latin typeface="Arial"/>
              </a:rPr>
              <a:t>Team members</a:t>
            </a:r>
          </a:p>
        </p:txBody>
      </p:sp>
      <p:sp>
        <p:nvSpPr>
          <p:cNvPr id="29" name="TextBox 28"/>
          <p:cNvSpPr txBox="1"/>
          <p:nvPr/>
        </p:nvSpPr>
        <p:spPr>
          <a:xfrm>
            <a:off x="6286500" y="2907792"/>
            <a:ext cx="1719072" cy="228600"/>
          </a:xfrm>
          <a:prstGeom prst="rect">
            <a:avLst/>
          </a:prstGeom>
          <a:noFill/>
        </p:spPr>
        <p:txBody>
          <a:bodyPr wrap="square">
            <a:spAutoFit/>
          </a:bodyPr>
          <a:lstStyle/>
          <a:p>
            <a:pPr algn="l"/>
            <a:r>
              <a:rPr sz="700" b="0" i="1">
                <a:solidFill>
                  <a:srgbClr val="016E65"/>
                </a:solidFill>
                <a:latin typeface="Arial"/>
              </a:rPr>
              <a:t>Smart50 2025, SmartCompany</a:t>
            </a:r>
          </a:p>
        </p:txBody>
      </p:sp>
      <p:sp>
        <p:nvSpPr>
          <p:cNvPr id="30" name="Rectangle 29"/>
          <p:cNvSpPr/>
          <p:nvPr/>
        </p:nvSpPr>
        <p:spPr>
          <a:xfrm>
            <a:off x="8174736"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74736"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2148840"/>
            <a:ext cx="1719072" cy="548640"/>
          </a:xfrm>
          <a:prstGeom prst="rect">
            <a:avLst/>
          </a:prstGeom>
          <a:noFill/>
        </p:spPr>
        <p:txBody>
          <a:bodyPr wrap="square">
            <a:spAutoFit/>
          </a:bodyPr>
          <a:lstStyle/>
          <a:p>
            <a:pPr algn="l"/>
            <a:r>
              <a:rPr sz="2600" b="1" i="0">
                <a:solidFill>
                  <a:srgbClr val="FFFFFF"/>
                </a:solidFill>
                <a:latin typeface="Georgia"/>
              </a:rPr>
              <a:t>600+</a:t>
            </a:r>
          </a:p>
        </p:txBody>
      </p:sp>
      <p:sp>
        <p:nvSpPr>
          <p:cNvPr id="33" name="TextBox 32"/>
          <p:cNvSpPr txBox="1"/>
          <p:nvPr/>
        </p:nvSpPr>
        <p:spPr>
          <a:xfrm>
            <a:off x="8284464" y="2670048"/>
            <a:ext cx="1719072" cy="256032"/>
          </a:xfrm>
          <a:prstGeom prst="rect">
            <a:avLst/>
          </a:prstGeom>
          <a:noFill/>
        </p:spPr>
        <p:txBody>
          <a:bodyPr wrap="square">
            <a:spAutoFit/>
          </a:bodyPr>
          <a:lstStyle/>
          <a:p>
            <a:pPr algn="l"/>
            <a:r>
              <a:rPr sz="1000" b="0" i="0">
                <a:solidFill>
                  <a:srgbClr val="E6E5DE"/>
                </a:solidFill>
                <a:latin typeface="Arial"/>
              </a:rPr>
              <a:t>Trade vehicles</a:t>
            </a:r>
          </a:p>
        </p:txBody>
      </p:sp>
      <p:sp>
        <p:nvSpPr>
          <p:cNvPr id="34" name="TextBox 33"/>
          <p:cNvSpPr txBox="1"/>
          <p:nvPr/>
        </p:nvSpPr>
        <p:spPr>
          <a:xfrm>
            <a:off x="8284464" y="2907792"/>
            <a:ext cx="1719072" cy="228600"/>
          </a:xfrm>
          <a:prstGeom prst="rect">
            <a:avLst/>
          </a:prstGeom>
          <a:noFill/>
        </p:spPr>
        <p:txBody>
          <a:bodyPr wrap="square">
            <a:spAutoFit/>
          </a:bodyPr>
          <a:lstStyle/>
          <a:p>
            <a:pPr algn="l"/>
            <a:r>
              <a:rPr sz="900" b="0" i="0">
                <a:solidFill>
                  <a:srgbClr val="E6E5DE"/>
                </a:solidFill>
                <a:latin typeface="Arial"/>
              </a:rPr>
              <a:t>in fleet</a:t>
            </a:r>
          </a:p>
        </p:txBody>
      </p:sp>
      <p:sp>
        <p:nvSpPr>
          <p:cNvPr id="35" name="TextBox 34"/>
          <p:cNvSpPr txBox="1"/>
          <p:nvPr/>
        </p:nvSpPr>
        <p:spPr>
          <a:xfrm>
            <a:off x="8284464" y="3127248"/>
            <a:ext cx="1719072" cy="228600"/>
          </a:xfrm>
          <a:prstGeom prst="rect">
            <a:avLst/>
          </a:prstGeom>
          <a:noFill/>
        </p:spPr>
        <p:txBody>
          <a:bodyPr wrap="square">
            <a:spAutoFit/>
          </a:bodyPr>
          <a:lstStyle/>
          <a:p>
            <a:pPr algn="l"/>
            <a:r>
              <a:rPr sz="700" b="0" i="1">
                <a:solidFill>
                  <a:srgbClr val="016E65"/>
                </a:solidFill>
                <a:latin typeface="Arial"/>
              </a:rPr>
              <a:t>Company public statements</a:t>
            </a:r>
          </a:p>
        </p:txBody>
      </p:sp>
      <p:sp>
        <p:nvSpPr>
          <p:cNvPr id="36" name="Rectangle 35"/>
          <p:cNvSpPr/>
          <p:nvPr/>
        </p:nvSpPr>
        <p:spPr>
          <a:xfrm>
            <a:off x="10172700" y="2011680"/>
            <a:ext cx="1938528" cy="14813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72700" y="2011680"/>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82428" y="2148840"/>
            <a:ext cx="1719072" cy="548640"/>
          </a:xfrm>
          <a:prstGeom prst="rect">
            <a:avLst/>
          </a:prstGeom>
          <a:noFill/>
        </p:spPr>
        <p:txBody>
          <a:bodyPr wrap="square">
            <a:spAutoFit/>
          </a:bodyPr>
          <a:lstStyle/>
          <a:p>
            <a:pPr algn="l"/>
            <a:r>
              <a:rPr sz="2600" b="1" i="0">
                <a:solidFill>
                  <a:srgbClr val="FFFFFF"/>
                </a:solidFill>
                <a:latin typeface="Georgia"/>
              </a:rPr>
              <a:t>2,500+</a:t>
            </a:r>
          </a:p>
        </p:txBody>
      </p:sp>
      <p:sp>
        <p:nvSpPr>
          <p:cNvPr id="39" name="TextBox 38"/>
          <p:cNvSpPr txBox="1"/>
          <p:nvPr/>
        </p:nvSpPr>
        <p:spPr>
          <a:xfrm>
            <a:off x="10282428" y="2670048"/>
            <a:ext cx="1719072" cy="256032"/>
          </a:xfrm>
          <a:prstGeom prst="rect">
            <a:avLst/>
          </a:prstGeom>
          <a:noFill/>
        </p:spPr>
        <p:txBody>
          <a:bodyPr wrap="square">
            <a:spAutoFit/>
          </a:bodyPr>
          <a:lstStyle/>
          <a:p>
            <a:pPr algn="l"/>
            <a:r>
              <a:rPr sz="1000" b="0" i="0">
                <a:solidFill>
                  <a:srgbClr val="E6E5DE"/>
                </a:solidFill>
                <a:latin typeface="Arial"/>
              </a:rPr>
              <a:t>Trade businesses</a:t>
            </a:r>
          </a:p>
        </p:txBody>
      </p:sp>
      <p:sp>
        <p:nvSpPr>
          <p:cNvPr id="40" name="TextBox 39"/>
          <p:cNvSpPr txBox="1"/>
          <p:nvPr/>
        </p:nvSpPr>
        <p:spPr>
          <a:xfrm>
            <a:off x="10282428" y="2907792"/>
            <a:ext cx="1719072" cy="228600"/>
          </a:xfrm>
          <a:prstGeom prst="rect">
            <a:avLst/>
          </a:prstGeom>
          <a:noFill/>
        </p:spPr>
        <p:txBody>
          <a:bodyPr wrap="square">
            <a:spAutoFit/>
          </a:bodyPr>
          <a:lstStyle/>
          <a:p>
            <a:pPr algn="l"/>
            <a:r>
              <a:rPr sz="900" b="0" i="0">
                <a:solidFill>
                  <a:srgbClr val="E6E5DE"/>
                </a:solidFill>
                <a:latin typeface="Arial"/>
              </a:rPr>
              <a:t>served since 2018</a:t>
            </a:r>
          </a:p>
        </p:txBody>
      </p:sp>
      <p:sp>
        <p:nvSpPr>
          <p:cNvPr id="41" name="TextBox 40"/>
          <p:cNvSpPr txBox="1"/>
          <p:nvPr/>
        </p:nvSpPr>
        <p:spPr>
          <a:xfrm>
            <a:off x="10282428" y="3127248"/>
            <a:ext cx="1719072" cy="228600"/>
          </a:xfrm>
          <a:prstGeom prst="rect">
            <a:avLst/>
          </a:prstGeom>
          <a:noFill/>
        </p:spPr>
        <p:txBody>
          <a:bodyPr wrap="square">
            <a:spAutoFit/>
          </a:bodyPr>
          <a:lstStyle/>
          <a:p>
            <a:pPr algn="l"/>
            <a:r>
              <a:rPr sz="700" b="0" i="1">
                <a:solidFill>
                  <a:srgbClr val="016E65"/>
                </a:solidFill>
                <a:latin typeface="Arial"/>
              </a:rPr>
              <a:t>Company public statements</a:t>
            </a:r>
          </a:p>
        </p:txBody>
      </p:sp>
      <p:sp>
        <p:nvSpPr>
          <p:cNvPr id="42" name="TextBox 41"/>
          <p:cNvSpPr txBox="1"/>
          <p:nvPr/>
        </p:nvSpPr>
        <p:spPr>
          <a:xfrm>
            <a:off x="182880" y="3611880"/>
            <a:ext cx="4572000" cy="256032"/>
          </a:xfrm>
          <a:prstGeom prst="rect">
            <a:avLst/>
          </a:prstGeom>
          <a:noFill/>
        </p:spPr>
        <p:txBody>
          <a:bodyPr wrap="square">
            <a:spAutoFit/>
          </a:bodyPr>
          <a:lstStyle/>
          <a:p>
            <a:pPr algn="l"/>
            <a:r>
              <a:rPr sz="1000" b="1" i="0">
                <a:solidFill>
                  <a:srgbClr val="01A296"/>
                </a:solidFill>
                <a:latin typeface="Arial"/>
              </a:rPr>
              <a:t>KEY COMMERCIAL SIGNALS</a:t>
            </a:r>
          </a:p>
        </p:txBody>
      </p:sp>
      <p:sp>
        <p:nvSpPr>
          <p:cNvPr id="43" name="Rectangle 42"/>
          <p:cNvSpPr/>
          <p:nvPr/>
        </p:nvSpPr>
        <p:spPr>
          <a:xfrm>
            <a:off x="182880" y="398678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3904488"/>
            <a:ext cx="7040880" cy="246888"/>
          </a:xfrm>
          <a:prstGeom prst="rect">
            <a:avLst/>
          </a:prstGeom>
          <a:noFill/>
        </p:spPr>
        <p:txBody>
          <a:bodyPr wrap="square">
            <a:spAutoFit/>
          </a:bodyPr>
          <a:lstStyle/>
          <a:p>
            <a:pPr algn="l"/>
            <a:r>
              <a:rPr sz="1000" b="0" i="0">
                <a:solidFill>
                  <a:srgbClr val="000000"/>
                </a:solidFill>
                <a:latin typeface="Arial"/>
              </a:rPr>
              <a:t>$13 million raised to fund national fleet expansion, with stated goal to double the fleet within 12 months</a:t>
            </a:r>
          </a:p>
        </p:txBody>
      </p:sp>
      <p:sp>
        <p:nvSpPr>
          <p:cNvPr id="45" name="TextBox 44"/>
          <p:cNvSpPr txBox="1"/>
          <p:nvPr/>
        </p:nvSpPr>
        <p:spPr>
          <a:xfrm>
            <a:off x="7498079" y="3941064"/>
            <a:ext cx="4480560" cy="219456"/>
          </a:xfrm>
          <a:prstGeom prst="rect">
            <a:avLst/>
          </a:prstGeom>
          <a:noFill/>
        </p:spPr>
        <p:txBody>
          <a:bodyPr wrap="square">
            <a:spAutoFit/>
          </a:bodyPr>
          <a:lstStyle/>
          <a:p>
            <a:pPr algn="l"/>
            <a:r>
              <a:rPr sz="800" b="0" i="1">
                <a:solidFill>
                  <a:srgbClr val="999999"/>
                </a:solidFill>
                <a:latin typeface="Arial"/>
              </a:rPr>
              <a:t>Source: Business Daily Media, 2023</a:t>
            </a:r>
          </a:p>
        </p:txBody>
      </p:sp>
      <p:sp>
        <p:nvSpPr>
          <p:cNvPr id="46" name="Rectangle 45"/>
          <p:cNvSpPr/>
          <p:nvPr/>
        </p:nvSpPr>
        <p:spPr>
          <a:xfrm>
            <a:off x="182880" y="442569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4343400"/>
            <a:ext cx="7040880" cy="246888"/>
          </a:xfrm>
          <a:prstGeom prst="rect">
            <a:avLst/>
          </a:prstGeom>
          <a:noFill/>
        </p:spPr>
        <p:txBody>
          <a:bodyPr wrap="square">
            <a:spAutoFit/>
          </a:bodyPr>
          <a:lstStyle/>
          <a:p>
            <a:pPr algn="l"/>
            <a:r>
              <a:rPr sz="1000" b="0" i="0">
                <a:solidFill>
                  <a:srgbClr val="000000"/>
                </a:solidFill>
                <a:latin typeface="Arial"/>
              </a:rPr>
              <a:t>National operations now span Sydney, Melbourne, Brisbane, Perth, Central Coast and Newcastle</a:t>
            </a:r>
          </a:p>
        </p:txBody>
      </p:sp>
      <p:sp>
        <p:nvSpPr>
          <p:cNvPr id="48" name="TextBox 47"/>
          <p:cNvSpPr txBox="1"/>
          <p:nvPr/>
        </p:nvSpPr>
        <p:spPr>
          <a:xfrm>
            <a:off x="7498079" y="4379976"/>
            <a:ext cx="4480560" cy="219456"/>
          </a:xfrm>
          <a:prstGeom prst="rect">
            <a:avLst/>
          </a:prstGeom>
          <a:noFill/>
        </p:spPr>
        <p:txBody>
          <a:bodyPr wrap="square">
            <a:spAutoFit/>
          </a:bodyPr>
          <a:lstStyle/>
          <a:p>
            <a:pPr algn="l"/>
            <a:r>
              <a:rPr sz="800" b="0" i="1">
                <a:solidFill>
                  <a:srgbClr val="999999"/>
                </a:solidFill>
                <a:latin typeface="Arial"/>
              </a:rPr>
              <a:t>Source: tradiespec.com.au</a:t>
            </a:r>
          </a:p>
        </p:txBody>
      </p:sp>
      <p:sp>
        <p:nvSpPr>
          <p:cNvPr id="49" name="Rectangle 48"/>
          <p:cNvSpPr/>
          <p:nvPr/>
        </p:nvSpPr>
        <p:spPr>
          <a:xfrm>
            <a:off x="182880" y="486460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0040" y="4782312"/>
            <a:ext cx="7040880" cy="246888"/>
          </a:xfrm>
          <a:prstGeom prst="rect">
            <a:avLst/>
          </a:prstGeom>
          <a:noFill/>
        </p:spPr>
        <p:txBody>
          <a:bodyPr wrap="square">
            <a:spAutoFit/>
          </a:bodyPr>
          <a:lstStyle/>
          <a:p>
            <a:pPr algn="l"/>
            <a:r>
              <a:rPr sz="1000" b="0" i="0">
                <a:solidFill>
                  <a:srgbClr val="000000"/>
                </a:solidFill>
                <a:latin typeface="Arial"/>
              </a:rPr>
              <a:t>CEO Tim Cullen publicly stated ambition to make TradieSpec Australia's largest trade vehicle provider</a:t>
            </a:r>
          </a:p>
        </p:txBody>
      </p:sp>
      <p:sp>
        <p:nvSpPr>
          <p:cNvPr id="51" name="TextBox 50"/>
          <p:cNvSpPr txBox="1"/>
          <p:nvPr/>
        </p:nvSpPr>
        <p:spPr>
          <a:xfrm>
            <a:off x="7498079" y="4818888"/>
            <a:ext cx="4480560" cy="219456"/>
          </a:xfrm>
          <a:prstGeom prst="rect">
            <a:avLst/>
          </a:prstGeom>
          <a:noFill/>
        </p:spPr>
        <p:txBody>
          <a:bodyPr wrap="square">
            <a:spAutoFit/>
          </a:bodyPr>
          <a:lstStyle/>
          <a:p>
            <a:pPr algn="l"/>
            <a:r>
              <a:rPr sz="800" b="0" i="1">
                <a:solidFill>
                  <a:srgbClr val="999999"/>
                </a:solidFill>
                <a:latin typeface="Arial"/>
              </a:rPr>
              <a:t>Source: Business Daily Media, 2023</a:t>
            </a:r>
          </a:p>
        </p:txBody>
      </p:sp>
      <p:sp>
        <p:nvSpPr>
          <p:cNvPr id="52" name="Rectangle 51"/>
          <p:cNvSpPr/>
          <p:nvPr/>
        </p:nvSpPr>
        <p:spPr>
          <a:xfrm>
            <a:off x="182880" y="530352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040" y="5221224"/>
            <a:ext cx="7040880" cy="246888"/>
          </a:xfrm>
          <a:prstGeom prst="rect">
            <a:avLst/>
          </a:prstGeom>
          <a:noFill/>
        </p:spPr>
        <p:txBody>
          <a:bodyPr wrap="square">
            <a:spAutoFit/>
          </a:bodyPr>
          <a:lstStyle/>
          <a:p>
            <a:pPr algn="l"/>
            <a:r>
              <a:rPr sz="1000" b="0" i="0">
                <a:solidFill>
                  <a:srgbClr val="000000"/>
                </a:solidFill>
                <a:latin typeface="Arial"/>
              </a:rPr>
              <a:t>57% three year average growth places TradieSpec among Australia's top 20 fastest growing SMEs</a:t>
            </a:r>
          </a:p>
        </p:txBody>
      </p:sp>
      <p:sp>
        <p:nvSpPr>
          <p:cNvPr id="54" name="TextBox 53"/>
          <p:cNvSpPr txBox="1"/>
          <p:nvPr/>
        </p:nvSpPr>
        <p:spPr>
          <a:xfrm>
            <a:off x="7498079" y="5257800"/>
            <a:ext cx="4480560" cy="219456"/>
          </a:xfrm>
          <a:prstGeom prst="rect">
            <a:avLst/>
          </a:prstGeom>
          <a:noFill/>
        </p:spPr>
        <p:txBody>
          <a:bodyPr wrap="square">
            <a:spAutoFit/>
          </a:bodyPr>
          <a:lstStyle/>
          <a:p>
            <a:pPr algn="l"/>
            <a:r>
              <a:rPr sz="800" b="0" i="1">
                <a:solidFill>
                  <a:srgbClr val="999999"/>
                </a:solidFill>
                <a:latin typeface="Arial"/>
              </a:rPr>
              <a:t>Source: SmartCompany Smart50 2025</a:t>
            </a:r>
          </a:p>
        </p:txBody>
      </p:sp>
      <p:sp>
        <p:nvSpPr>
          <p:cNvPr id="55" name="Rectangle 54"/>
          <p:cNvSpPr/>
          <p:nvPr/>
        </p:nvSpPr>
        <p:spPr>
          <a:xfrm>
            <a:off x="182880" y="574243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5660136"/>
            <a:ext cx="7040880" cy="246888"/>
          </a:xfrm>
          <a:prstGeom prst="rect">
            <a:avLst/>
          </a:prstGeom>
          <a:noFill/>
        </p:spPr>
        <p:txBody>
          <a:bodyPr wrap="square">
            <a:spAutoFit/>
          </a:bodyPr>
          <a:lstStyle/>
          <a:p>
            <a:pPr algn="l"/>
            <a:r>
              <a:rPr sz="1000" b="0" i="0">
                <a:solidFill>
                  <a:srgbClr val="000000"/>
                </a:solidFill>
                <a:latin typeface="Arial"/>
              </a:rPr>
              <a:t>Also ranked 9th in SmartCompany Smart50 in 2022, confirming a sustained high growth trajectory</a:t>
            </a:r>
          </a:p>
        </p:txBody>
      </p:sp>
      <p:sp>
        <p:nvSpPr>
          <p:cNvPr id="57" name="TextBox 56"/>
          <p:cNvSpPr txBox="1"/>
          <p:nvPr/>
        </p:nvSpPr>
        <p:spPr>
          <a:xfrm>
            <a:off x="7498079" y="5696712"/>
            <a:ext cx="4480560" cy="219456"/>
          </a:xfrm>
          <a:prstGeom prst="rect">
            <a:avLst/>
          </a:prstGeom>
          <a:noFill/>
        </p:spPr>
        <p:txBody>
          <a:bodyPr wrap="square">
            <a:spAutoFit/>
          </a:bodyPr>
          <a:lstStyle/>
          <a:p>
            <a:pPr algn="l"/>
            <a:r>
              <a:rPr sz="800" b="0" i="1">
                <a:solidFill>
                  <a:srgbClr val="999999"/>
                </a:solidFill>
                <a:latin typeface="Arial"/>
              </a:rPr>
              <a:t>Source: SmartCompany Smart50 2022</a:t>
            </a:r>
          </a:p>
        </p:txBody>
      </p:sp>
      <p:sp>
        <p:nvSpPr>
          <p:cNvPr id="58" name="Rectangle 57"/>
          <p:cNvSpPr/>
          <p:nvPr/>
        </p:nvSpPr>
        <p:spPr>
          <a:xfrm>
            <a:off x="182880" y="618134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0040" y="6099048"/>
            <a:ext cx="7040880" cy="246888"/>
          </a:xfrm>
          <a:prstGeom prst="rect">
            <a:avLst/>
          </a:prstGeom>
          <a:noFill/>
        </p:spPr>
        <p:txBody>
          <a:bodyPr wrap="square">
            <a:spAutoFit/>
          </a:bodyPr>
          <a:lstStyle/>
          <a:p>
            <a:pPr algn="l"/>
            <a:r>
              <a:rPr sz="1000" b="0" i="0">
                <a:solidFill>
                  <a:srgbClr val="000000"/>
                </a:solidFill>
                <a:latin typeface="Arial"/>
              </a:rPr>
              <a:t>Founded November 2018 and now serves over 2,500 trade businesses across four Australian states</a:t>
            </a:r>
          </a:p>
        </p:txBody>
      </p:sp>
      <p:sp>
        <p:nvSpPr>
          <p:cNvPr id="60" name="TextBox 59"/>
          <p:cNvSpPr txBox="1"/>
          <p:nvPr/>
        </p:nvSpPr>
        <p:spPr>
          <a:xfrm>
            <a:off x="7498079" y="6135624"/>
            <a:ext cx="4480560" cy="219456"/>
          </a:xfrm>
          <a:prstGeom prst="rect">
            <a:avLst/>
          </a:prstGeom>
          <a:noFill/>
        </p:spPr>
        <p:txBody>
          <a:bodyPr wrap="square">
            <a:spAutoFit/>
          </a:bodyPr>
          <a:lstStyle/>
          <a:p>
            <a:pPr algn="l"/>
            <a:r>
              <a:rPr sz="800" b="0" i="1">
                <a:solidFill>
                  <a:srgbClr val="999999"/>
                </a:solidFill>
                <a:latin typeface="Arial"/>
              </a:rPr>
              <a:t>Source: Company public statements</a:t>
            </a:r>
          </a:p>
        </p:txBody>
      </p:sp>
      <p:sp>
        <p:nvSpPr>
          <p:cNvPr id="61" name="Rectangle 60"/>
          <p:cNvSpPr/>
          <p:nvPr/>
        </p:nvSpPr>
        <p:spPr>
          <a:xfrm>
            <a:off x="91440" y="6565392"/>
            <a:ext cx="12100255" cy="127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2880" y="6601968"/>
            <a:ext cx="8229600" cy="256032"/>
          </a:xfrm>
          <a:prstGeom prst="rect">
            <a:avLst/>
          </a:prstGeom>
          <a:noFill/>
        </p:spPr>
        <p:txBody>
          <a:bodyPr wrap="square">
            <a:spAutoFit/>
          </a:bodyPr>
          <a:lstStyle/>
          <a:p>
            <a:pPr algn="l"/>
            <a:r>
              <a:rPr sz="800" b="0" i="0">
                <a:solidFill>
                  <a:srgbClr val="666666"/>
                </a:solidFill>
                <a:latin typeface="Arial"/>
              </a:rPr>
              <a:t>Prepared by Nitesh Roopa CA, Managing Partner and Founder, ProfitPulse, Profit-Pulse.com.au</a:t>
            </a:r>
          </a:p>
        </p:txBody>
      </p:sp>
      <p:sp>
        <p:nvSpPr>
          <p:cNvPr id="63" name="TextBox 62"/>
          <p:cNvSpPr txBox="1"/>
          <p:nvPr/>
        </p:nvSpPr>
        <p:spPr>
          <a:xfrm>
            <a:off x="9601200" y="6601968"/>
            <a:ext cx="2377440" cy="256032"/>
          </a:xfrm>
          <a:prstGeom prst="rect">
            <a:avLst/>
          </a:prstGeom>
          <a:noFill/>
        </p:spPr>
        <p:txBody>
          <a:bodyPr wrap="square">
            <a:spAutoFit/>
          </a:bodyPr>
          <a:lstStyle/>
          <a:p>
            <a:pPr algn="r"/>
            <a:r>
              <a:rPr sz="800" b="0" i="0">
                <a:solidFill>
                  <a:srgbClr val="666666"/>
                </a:solidFill>
                <a:latin typeface="Arial"/>
              </a:rPr>
              <a:t>17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7315200" cy="457200"/>
          </a:xfrm>
          <a:prstGeom prst="rect">
            <a:avLst/>
          </a:prstGeom>
          <a:noFill/>
        </p:spPr>
        <p:txBody>
          <a:bodyPr wrap="square">
            <a:spAutoFit/>
          </a:bodyPr>
          <a:lstStyle/>
          <a:p>
            <a:pPr algn="l"/>
            <a:r>
              <a:rPr sz="1100" b="1" i="0">
                <a:solidFill>
                  <a:srgbClr val="E6E5DE"/>
                </a:solidFill>
                <a:latin typeface="Arial"/>
              </a:rPr>
              <a:t>THE OPPORTUNITY</a:t>
            </a:r>
          </a:p>
        </p:txBody>
      </p:sp>
      <p:sp>
        <p:nvSpPr>
          <p:cNvPr id="5" name="TextBox 4"/>
          <p:cNvSpPr txBox="1"/>
          <p:nvPr/>
        </p:nvSpPr>
        <p:spPr>
          <a:xfrm>
            <a:off x="8686800" y="182880"/>
            <a:ext cx="3291840" cy="457200"/>
          </a:xfrm>
          <a:prstGeom prst="rect">
            <a:avLst/>
          </a:prstGeom>
          <a:noFill/>
        </p:spPr>
        <p:txBody>
          <a:bodyPr wrap="square">
            <a:spAutoFit/>
          </a:bodyPr>
          <a:lstStyle/>
          <a:p>
            <a:pPr algn="r"/>
            <a:r>
              <a:rPr sz="1100" b="1" i="0">
                <a:solidFill>
                  <a:srgbClr val="E6E5DE"/>
                </a:solidFill>
                <a:latin typeface="Arial"/>
              </a:rPr>
              <a:t>TradieSpec</a:t>
            </a:r>
          </a:p>
        </p:txBody>
      </p:sp>
      <p:sp>
        <p:nvSpPr>
          <p:cNvPr id="6" name="TextBox 5"/>
          <p:cNvSpPr txBox="1"/>
          <p:nvPr/>
        </p:nvSpPr>
        <p:spPr>
          <a:xfrm>
            <a:off x="182880" y="850392"/>
            <a:ext cx="9144000" cy="320040"/>
          </a:xfrm>
          <a:prstGeom prst="rect">
            <a:avLst/>
          </a:prstGeom>
          <a:noFill/>
        </p:spPr>
        <p:txBody>
          <a:bodyPr wrap="square">
            <a:spAutoFit/>
          </a:bodyPr>
          <a:lstStyle/>
          <a:p>
            <a:pPr algn="l"/>
            <a:r>
              <a:rPr sz="1200" b="0" i="1">
                <a:solidFill>
                  <a:srgbClr val="666666"/>
                </a:solidFill>
                <a:latin typeface="Arial"/>
              </a:rPr>
              <a:t>Three commercial observations from ProfitPulse</a:t>
            </a:r>
          </a:p>
        </p:txBody>
      </p:sp>
      <p:sp>
        <p:nvSpPr>
          <p:cNvPr id="7" name="Rectangle 6"/>
          <p:cNvSpPr/>
          <p:nvPr/>
        </p:nvSpPr>
        <p:spPr>
          <a:xfrm>
            <a:off x="118872" y="1234440"/>
            <a:ext cx="3886200" cy="48463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 y="1399032"/>
            <a:ext cx="3611880" cy="502920"/>
          </a:xfrm>
          <a:prstGeom prst="rect">
            <a:avLst/>
          </a:prstGeom>
          <a:noFill/>
        </p:spPr>
        <p:txBody>
          <a:bodyPr wrap="square">
            <a:spAutoFit/>
          </a:bodyPr>
          <a:lstStyle/>
          <a:p>
            <a:pPr algn="l"/>
            <a:r>
              <a:rPr sz="3000" b="1" i="0">
                <a:solidFill>
                  <a:srgbClr val="FFFFFF"/>
                </a:solidFill>
                <a:latin typeface="Georgia"/>
              </a:rPr>
              <a:t>01</a:t>
            </a:r>
          </a:p>
        </p:txBody>
      </p:sp>
      <p:sp>
        <p:nvSpPr>
          <p:cNvPr id="9" name="TextBox 8"/>
          <p:cNvSpPr txBox="1"/>
          <p:nvPr/>
        </p:nvSpPr>
        <p:spPr>
          <a:xfrm>
            <a:off x="283464" y="1947672"/>
            <a:ext cx="3611880" cy="594360"/>
          </a:xfrm>
          <a:prstGeom prst="rect">
            <a:avLst/>
          </a:prstGeom>
          <a:noFill/>
        </p:spPr>
        <p:txBody>
          <a:bodyPr wrap="square">
            <a:spAutoFit/>
          </a:bodyPr>
          <a:lstStyle/>
          <a:p>
            <a:pPr algn="l"/>
            <a:r>
              <a:rPr sz="1300" b="1" i="0">
                <a:solidFill>
                  <a:srgbClr val="FFFFFF"/>
                </a:solidFill>
                <a:latin typeface="Georgia"/>
              </a:rPr>
              <a:t>Capital allocated at scale without a return map</a:t>
            </a:r>
          </a:p>
        </p:txBody>
      </p:sp>
      <p:sp>
        <p:nvSpPr>
          <p:cNvPr id="10" name="Rectangle 9"/>
          <p:cNvSpPr/>
          <p:nvPr/>
        </p:nvSpPr>
        <p:spPr>
          <a:xfrm>
            <a:off x="283464" y="2569464"/>
            <a:ext cx="3557016"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 y="2679192"/>
            <a:ext cx="3611880" cy="3246120"/>
          </a:xfrm>
          <a:prstGeom prst="rect">
            <a:avLst/>
          </a:prstGeom>
          <a:noFill/>
        </p:spPr>
        <p:txBody>
          <a:bodyPr wrap="square">
            <a:spAutoFit/>
          </a:bodyPr>
          <a:lstStyle/>
          <a:p>
            <a:pPr algn="l"/>
            <a:r>
              <a:rPr sz="1000" b="0" i="0">
                <a:solidFill>
                  <a:srgbClr val="FFFFFF"/>
                </a:solidFill>
                <a:latin typeface="Arial"/>
              </a:rPr>
              <a:t>TradieSpec has raised $13 million and deployed it across a fleet of over 600 vehicles in four capital cities. Revenue sits at $15.3 million with 22 people running operations across six locations.
The central financial question is not how fast to grow but where each dollar of fleet capital generates the strongest return. Which markets lead on utilisation? Which vehicle categories carry the highest margin? Which customer segments convert from hire to ownership most often?
Without a formal capital allocation map, the risk in the next expansion round is investing in the next city rather than the best city. A Capital Allocation Review produces exactly that map before the next commitment.</a:t>
            </a:r>
          </a:p>
        </p:txBody>
      </p:sp>
      <p:sp>
        <p:nvSpPr>
          <p:cNvPr id="12" name="Rectangle 11"/>
          <p:cNvSpPr/>
          <p:nvPr/>
        </p:nvSpPr>
        <p:spPr>
          <a:xfrm>
            <a:off x="4123944" y="1234440"/>
            <a:ext cx="3886200" cy="4846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88536" y="1399032"/>
            <a:ext cx="3611880" cy="502920"/>
          </a:xfrm>
          <a:prstGeom prst="rect">
            <a:avLst/>
          </a:prstGeom>
          <a:noFill/>
        </p:spPr>
        <p:txBody>
          <a:bodyPr wrap="square">
            <a:spAutoFit/>
          </a:bodyPr>
          <a:lstStyle/>
          <a:p>
            <a:pPr algn="l"/>
            <a:r>
              <a:rPr sz="3000" b="1" i="0">
                <a:solidFill>
                  <a:srgbClr val="FFFFFF"/>
                </a:solidFill>
                <a:latin typeface="Georgia"/>
              </a:rPr>
              <a:t>02</a:t>
            </a:r>
          </a:p>
        </p:txBody>
      </p:sp>
      <p:sp>
        <p:nvSpPr>
          <p:cNvPr id="14" name="TextBox 13"/>
          <p:cNvSpPr txBox="1"/>
          <p:nvPr/>
        </p:nvSpPr>
        <p:spPr>
          <a:xfrm>
            <a:off x="4288536" y="1947672"/>
            <a:ext cx="3611880" cy="594360"/>
          </a:xfrm>
          <a:prstGeom prst="rect">
            <a:avLst/>
          </a:prstGeom>
          <a:noFill/>
        </p:spPr>
        <p:txBody>
          <a:bodyPr wrap="square">
            <a:spAutoFit/>
          </a:bodyPr>
          <a:lstStyle/>
          <a:p>
            <a:pPr algn="l"/>
            <a:r>
              <a:rPr sz="1300" b="1" i="0">
                <a:solidFill>
                  <a:srgbClr val="F8C806"/>
                </a:solidFill>
                <a:latin typeface="Georgia"/>
              </a:rPr>
              <a:t>Working capital dynamics compound at growth pace</a:t>
            </a:r>
          </a:p>
        </p:txBody>
      </p:sp>
      <p:sp>
        <p:nvSpPr>
          <p:cNvPr id="15" name="Rectangle 14"/>
          <p:cNvSpPr/>
          <p:nvPr/>
        </p:nvSpPr>
        <p:spPr>
          <a:xfrm>
            <a:off x="4288536" y="2569464"/>
            <a:ext cx="3557016" cy="127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88536" y="2679192"/>
            <a:ext cx="3611880" cy="3246120"/>
          </a:xfrm>
          <a:prstGeom prst="rect">
            <a:avLst/>
          </a:prstGeom>
          <a:noFill/>
        </p:spPr>
        <p:txBody>
          <a:bodyPr wrap="square">
            <a:spAutoFit/>
          </a:bodyPr>
          <a:lstStyle/>
          <a:p>
            <a:pPr algn="l"/>
            <a:r>
              <a:rPr sz="1000" b="0" i="0">
                <a:solidFill>
                  <a:srgbClr val="E6E5DE"/>
                </a:solidFill>
                <a:latin typeface="Arial"/>
              </a:rPr>
              <a:t>The rent to own model creates a layered cash flow structure that grows harder to manage as scale increases. Fleet acquisition is a large upfront outflow. Rental income is recurring but spread across over 2,500 accounts at varying intervals. Ownership transitions shift the cash profile of each account at the point of conversion.
With $13 million in fleet financing likely carrying covenants and the business growing at 57 percent, the gap between reported profit and available cash can widen quickly if the 13 week cash flow view is not actively managed.
A Fractional CFO Partnership or a 13 Week Cash Flow Build gives the team a clear view of the cash cycle before the next fleet tranche is drawn.</a:t>
            </a:r>
          </a:p>
        </p:txBody>
      </p:sp>
      <p:sp>
        <p:nvSpPr>
          <p:cNvPr id="17" name="Rectangle 16"/>
          <p:cNvSpPr/>
          <p:nvPr/>
        </p:nvSpPr>
        <p:spPr>
          <a:xfrm>
            <a:off x="8129016" y="1234440"/>
            <a:ext cx="3886200" cy="484632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399032"/>
            <a:ext cx="3611880" cy="502920"/>
          </a:xfrm>
          <a:prstGeom prst="rect">
            <a:avLst/>
          </a:prstGeom>
          <a:noFill/>
        </p:spPr>
        <p:txBody>
          <a:bodyPr wrap="square">
            <a:spAutoFit/>
          </a:bodyPr>
          <a:lstStyle/>
          <a:p>
            <a:pPr algn="l"/>
            <a:r>
              <a:rPr sz="3000" b="1" i="0">
                <a:solidFill>
                  <a:srgbClr val="000000"/>
                </a:solidFill>
                <a:latin typeface="Georgia"/>
              </a:rPr>
              <a:t>03</a:t>
            </a:r>
          </a:p>
        </p:txBody>
      </p:sp>
      <p:sp>
        <p:nvSpPr>
          <p:cNvPr id="19" name="TextBox 18"/>
          <p:cNvSpPr txBox="1"/>
          <p:nvPr/>
        </p:nvSpPr>
        <p:spPr>
          <a:xfrm>
            <a:off x="8293608" y="1947672"/>
            <a:ext cx="3611880" cy="594360"/>
          </a:xfrm>
          <a:prstGeom prst="rect">
            <a:avLst/>
          </a:prstGeom>
          <a:noFill/>
        </p:spPr>
        <p:txBody>
          <a:bodyPr wrap="square">
            <a:spAutoFit/>
          </a:bodyPr>
          <a:lstStyle/>
          <a:p>
            <a:pPr algn="l"/>
            <a:r>
              <a:rPr sz="1300" b="1" i="0">
                <a:solidFill>
                  <a:srgbClr val="000000"/>
                </a:solidFill>
                <a:latin typeface="Georgia"/>
              </a:rPr>
              <a:t>Senior financial leadership absent at a decisive stage</a:t>
            </a:r>
          </a:p>
        </p:txBody>
      </p:sp>
      <p:sp>
        <p:nvSpPr>
          <p:cNvPr id="20" name="Rectangle 19"/>
          <p:cNvSpPr/>
          <p:nvPr/>
        </p:nvSpPr>
        <p:spPr>
          <a:xfrm>
            <a:off x="8293608" y="2569464"/>
            <a:ext cx="3557016"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2679192"/>
            <a:ext cx="3611880" cy="3246120"/>
          </a:xfrm>
          <a:prstGeom prst="rect">
            <a:avLst/>
          </a:prstGeom>
          <a:noFill/>
        </p:spPr>
        <p:txBody>
          <a:bodyPr wrap="square">
            <a:spAutoFit/>
          </a:bodyPr>
          <a:lstStyle/>
          <a:p>
            <a:pPr algn="l"/>
            <a:r>
              <a:rPr sz="1000" b="0" i="0">
                <a:solidFill>
                  <a:srgbClr val="000000"/>
                </a:solidFill>
                <a:latin typeface="Arial"/>
              </a:rPr>
              <a:t>At $15.3 million in revenue, $13 million in fleet financing, and an ambition to become Australia's largest trade vehicle provider, TradieSpec is making decisions that carry material financial consequence. Market entry sequencing, covenant management, fleet doubling, and a potential next capital raise all require senior financial thinking.
With 22 employees, a full time CFO hire is premature. But leaving those decisions to the founding team without a senior finance voice at the table carries its own risk.
The Fractional CFO Partnership places a senior financial partner at the table on a monthly cadence, at exactly the stage where it matters most.</a:t>
            </a:r>
          </a:p>
        </p:txBody>
      </p:sp>
      <p:sp>
        <p:nvSpPr>
          <p:cNvPr id="22" name="TextBox 21"/>
          <p:cNvSpPr txBox="1"/>
          <p:nvPr/>
        </p:nvSpPr>
        <p:spPr>
          <a:xfrm>
            <a:off x="182880" y="6153912"/>
            <a:ext cx="11887200" cy="347472"/>
          </a:xfrm>
          <a:prstGeom prst="rect">
            <a:avLst/>
          </a:prstGeom>
          <a:noFill/>
        </p:spPr>
        <p:txBody>
          <a:bodyPr wrap="square">
            <a:spAutoFit/>
          </a:bodyPr>
          <a:lstStyle/>
          <a:p>
            <a:pPr algn="l"/>
            <a:r>
              <a:rPr sz="1000" b="0" i="1">
                <a:solidFill>
                  <a:srgbClr val="666666"/>
                </a:solidFill>
                <a:latin typeface="Arial"/>
              </a:rPr>
              <a:t>These are observations offered in good faith. TradieSpec has built something genuinely impressive. The question is simply whether the financial architecture matches the ambition.</a:t>
            </a:r>
          </a:p>
        </p:txBody>
      </p:sp>
      <p:sp>
        <p:nvSpPr>
          <p:cNvPr id="23" name="Rectangle 22"/>
          <p:cNvSpPr/>
          <p:nvPr/>
        </p:nvSpPr>
        <p:spPr>
          <a:xfrm>
            <a:off x="91440" y="6565392"/>
            <a:ext cx="12100255" cy="127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6601968"/>
            <a:ext cx="8229600" cy="256032"/>
          </a:xfrm>
          <a:prstGeom prst="rect">
            <a:avLst/>
          </a:prstGeom>
          <a:noFill/>
        </p:spPr>
        <p:txBody>
          <a:bodyPr wrap="square">
            <a:spAutoFit/>
          </a:bodyPr>
          <a:lstStyle/>
          <a:p>
            <a:pPr algn="l"/>
            <a:r>
              <a:rPr sz="800" b="0" i="0">
                <a:solidFill>
                  <a:srgbClr val="666666"/>
                </a:solidFill>
                <a:latin typeface="Arial"/>
              </a:rPr>
              <a:t>Prepared by Nitesh Roopa CA, Managing Partner and Founder, ProfitPulse, Profit-Pulse.com.au</a:t>
            </a:r>
          </a:p>
        </p:txBody>
      </p:sp>
      <p:sp>
        <p:nvSpPr>
          <p:cNvPr id="25" name="TextBox 24"/>
          <p:cNvSpPr txBox="1"/>
          <p:nvPr/>
        </p:nvSpPr>
        <p:spPr>
          <a:xfrm>
            <a:off x="9601200" y="6601968"/>
            <a:ext cx="2377440" cy="256032"/>
          </a:xfrm>
          <a:prstGeom prst="rect">
            <a:avLst/>
          </a:prstGeom>
          <a:noFill/>
        </p:spPr>
        <p:txBody>
          <a:bodyPr wrap="square">
            <a:spAutoFit/>
          </a:bodyPr>
          <a:lstStyle/>
          <a:p>
            <a:pPr algn="r"/>
            <a:r>
              <a:rPr sz="800" b="0" i="0">
                <a:solidFill>
                  <a:srgbClr val="666666"/>
                </a:solidFill>
                <a:latin typeface="Arial"/>
              </a:rPr>
              <a:t>17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7315200" cy="457200"/>
          </a:xfrm>
          <a:prstGeom prst="rect">
            <a:avLst/>
          </a:prstGeom>
          <a:noFill/>
        </p:spPr>
        <p:txBody>
          <a:bodyPr wrap="square">
            <a:spAutoFit/>
          </a:bodyPr>
          <a:lstStyle/>
          <a:p>
            <a:pPr algn="l"/>
            <a:r>
              <a:rPr sz="1100" b="1" i="0">
                <a:solidFill>
                  <a:srgbClr val="E6E5DE"/>
                </a:solidFill>
                <a:latin typeface="Arial"/>
              </a:rPr>
              <a:t>THE RECOMMENDATION</a:t>
            </a:r>
          </a:p>
        </p:txBody>
      </p:sp>
      <p:sp>
        <p:nvSpPr>
          <p:cNvPr id="5" name="TextBox 4"/>
          <p:cNvSpPr txBox="1"/>
          <p:nvPr/>
        </p:nvSpPr>
        <p:spPr>
          <a:xfrm>
            <a:off x="8686800" y="182880"/>
            <a:ext cx="3291840" cy="457200"/>
          </a:xfrm>
          <a:prstGeom prst="rect">
            <a:avLst/>
          </a:prstGeom>
          <a:noFill/>
        </p:spPr>
        <p:txBody>
          <a:bodyPr wrap="square">
            <a:spAutoFit/>
          </a:bodyPr>
          <a:lstStyle/>
          <a:p>
            <a:pPr algn="r"/>
            <a:r>
              <a:rPr sz="1100" b="1" i="0">
                <a:solidFill>
                  <a:srgbClr val="E6E5DE"/>
                </a:solidFill>
                <a:latin typeface="Arial"/>
              </a:rPr>
              <a:t>TradieSpec</a:t>
            </a:r>
          </a:p>
        </p:txBody>
      </p:sp>
      <p:sp>
        <p:nvSpPr>
          <p:cNvPr id="6" name="TextBox 5"/>
          <p:cNvSpPr txBox="1"/>
          <p:nvPr/>
        </p:nvSpPr>
        <p:spPr>
          <a:xfrm>
            <a:off x="182880" y="886968"/>
            <a:ext cx="7223760" cy="530352"/>
          </a:xfrm>
          <a:prstGeom prst="rect">
            <a:avLst/>
          </a:prstGeom>
          <a:noFill/>
        </p:spPr>
        <p:txBody>
          <a:bodyPr wrap="square">
            <a:spAutoFit/>
          </a:bodyPr>
          <a:lstStyle/>
          <a:p>
            <a:pPr algn="l"/>
            <a:r>
              <a:rPr sz="2200" b="1" i="0">
                <a:solidFill>
                  <a:srgbClr val="000000"/>
                </a:solidFill>
                <a:latin typeface="Georgia"/>
              </a:rPr>
              <a:t>Capital Allocation Review</a:t>
            </a:r>
          </a:p>
        </p:txBody>
      </p:sp>
      <p:sp>
        <p:nvSpPr>
          <p:cNvPr id="7" name="TextBox 6"/>
          <p:cNvSpPr txBox="1"/>
          <p:nvPr/>
        </p:nvSpPr>
        <p:spPr>
          <a:xfrm>
            <a:off x="182880" y="1389888"/>
            <a:ext cx="7223760" cy="320040"/>
          </a:xfrm>
          <a:prstGeom prst="rect">
            <a:avLst/>
          </a:prstGeom>
          <a:noFill/>
        </p:spPr>
        <p:txBody>
          <a:bodyPr wrap="square">
            <a:spAutoFit/>
          </a:bodyPr>
          <a:lstStyle/>
          <a:p>
            <a:pPr algn="l"/>
            <a:r>
              <a:rPr sz="1400" b="1" i="0">
                <a:solidFill>
                  <a:srgbClr val="01A296"/>
                </a:solidFill>
                <a:latin typeface="Arial"/>
              </a:rPr>
              <a:t>$7,500 one off</a:t>
            </a:r>
          </a:p>
        </p:txBody>
      </p:sp>
      <p:sp>
        <p:nvSpPr>
          <p:cNvPr id="8" name="TextBox 7"/>
          <p:cNvSpPr txBox="1"/>
          <p:nvPr/>
        </p:nvSpPr>
        <p:spPr>
          <a:xfrm>
            <a:off x="182880" y="1764792"/>
            <a:ext cx="7223760" cy="822960"/>
          </a:xfrm>
          <a:prstGeom prst="rect">
            <a:avLst/>
          </a:prstGeom>
          <a:noFill/>
        </p:spPr>
        <p:txBody>
          <a:bodyPr wrap="square">
            <a:spAutoFit/>
          </a:bodyPr>
          <a:lstStyle/>
          <a:p>
            <a:pPr algn="l"/>
            <a:r>
              <a:rPr sz="1100" b="0" i="0">
                <a:solidFill>
                  <a:srgbClr val="333333"/>
                </a:solidFill>
                <a:latin typeface="Arial"/>
              </a:rPr>
              <a:t>An independent review of where capital is deployed across the vehicle fleet, markets, and customer segments, against the return each generates. Produces a prioritised redeployment plan with expected ROI on each move, giving the team a clear investment thesis before committing the next round of fleet capital.</a:t>
            </a:r>
          </a:p>
        </p:txBody>
      </p:sp>
      <p:sp>
        <p:nvSpPr>
          <p:cNvPr id="9" name="Rectangle 8"/>
          <p:cNvSpPr/>
          <p:nvPr/>
        </p:nvSpPr>
        <p:spPr>
          <a:xfrm>
            <a:off x="182880" y="2651760"/>
            <a:ext cx="722376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2724912"/>
            <a:ext cx="7223760" cy="1417320"/>
          </a:xfrm>
          <a:prstGeom prst="rect">
            <a:avLst/>
          </a:prstGeom>
          <a:solidFill>
            <a:srgbClr val="F2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724912"/>
            <a:ext cx="50800" cy="14173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779776"/>
            <a:ext cx="6949440" cy="320040"/>
          </a:xfrm>
          <a:prstGeom prst="rect">
            <a:avLst/>
          </a:prstGeom>
          <a:noFill/>
        </p:spPr>
        <p:txBody>
          <a:bodyPr wrap="square">
            <a:spAutoFit/>
          </a:bodyPr>
          <a:lstStyle/>
          <a:p>
            <a:pPr algn="l"/>
            <a:r>
              <a:rPr sz="1200" b="1" i="0">
                <a:solidFill>
                  <a:srgbClr val="000000"/>
                </a:solidFill>
                <a:latin typeface="Arial"/>
              </a:rPr>
              <a:t>Step one: answer a few quick questions</a:t>
            </a:r>
          </a:p>
        </p:txBody>
      </p:sp>
      <p:sp>
        <p:nvSpPr>
          <p:cNvPr id="13" name="TextBox 12"/>
          <p:cNvSpPr txBox="1"/>
          <p:nvPr/>
        </p:nvSpPr>
        <p:spPr>
          <a:xfrm>
            <a:off x="320040" y="3108960"/>
            <a:ext cx="6949440" cy="256032"/>
          </a:xfrm>
          <a:prstGeom prst="rect">
            <a:avLst/>
          </a:prstGeom>
          <a:noFill/>
        </p:spPr>
        <p:txBody>
          <a:bodyPr wrap="square">
            <a:spAutoFit/>
          </a:bodyPr>
          <a:lstStyle/>
          <a:p>
            <a:pPr algn="l"/>
            <a:r>
              <a:rPr sz="1100" b="0" i="0">
                <a:solidFill>
                  <a:srgbClr val="333333"/>
                </a:solidFill>
                <a:latin typeface="Arial"/>
              </a:rPr>
              <a:t>See the solutions matched to your size and industry.</a:t>
            </a:r>
          </a:p>
        </p:txBody>
      </p:sp>
      <p:sp>
        <p:nvSpPr>
          <p:cNvPr id="14" name="TextBox 13"/>
          <p:cNvSpPr txBox="1"/>
          <p:nvPr/>
        </p:nvSpPr>
        <p:spPr>
          <a:xfrm>
            <a:off x="320040" y="3383280"/>
            <a:ext cx="6949440" cy="274320"/>
          </a:xfrm>
          <a:prstGeom prst="rect">
            <a:avLst/>
          </a:prstGeom>
          <a:noFill/>
        </p:spPr>
        <p:txBody>
          <a:bodyPr wrap="square">
            <a:spAutoFit/>
          </a:bodyPr>
          <a:lstStyle/>
          <a:p>
            <a:pPr algn="l"/>
            <a:r>
              <a:rPr sz="1100" b="0">
                <a:solidFill>
                  <a:srgbClr val="01A296"/>
                </a:solidFill>
                <a:latin typeface="Arial"/>
                <a:hlinkClick r:id="rId2"/>
              </a:rPr>
              <a:t>profit-pulse.com.au/full-suite-of-products</a:t>
            </a:r>
          </a:p>
        </p:txBody>
      </p:sp>
      <p:sp>
        <p:nvSpPr>
          <p:cNvPr id="15" name="Rectangle 14"/>
          <p:cNvSpPr/>
          <p:nvPr/>
        </p:nvSpPr>
        <p:spPr>
          <a:xfrm>
            <a:off x="182880" y="4206240"/>
            <a:ext cx="7223760" cy="1905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 y="4270248"/>
            <a:ext cx="7223760" cy="457200"/>
          </a:xfrm>
          <a:prstGeom prst="rect">
            <a:avLst/>
          </a:prstGeom>
          <a:noFill/>
        </p:spPr>
        <p:txBody>
          <a:bodyPr wrap="square">
            <a:spAutoFit/>
          </a:bodyPr>
          <a:lstStyle/>
          <a:p>
            <a:pPr algn="l"/>
            <a:r>
              <a:rPr sz="1200" b="0" i="0">
                <a:solidFill>
                  <a:srgbClr val="000000"/>
                </a:solidFill>
                <a:latin typeface="Arial"/>
              </a:rPr>
              <a:t/>
            </a:r>
            <a:r>
              <a:rPr sz="1200" b="1">
                <a:solidFill>
                  <a:srgbClr val="F6A102"/>
                </a:solidFill>
                <a:latin typeface="Arial"/>
                <a:hlinkClick r:id="rId3"/>
              </a:rPr>
              <a:t>Purchase the suggested product now to get started</a:t>
            </a:r>
          </a:p>
        </p:txBody>
      </p:sp>
      <p:sp>
        <p:nvSpPr>
          <p:cNvPr id="17" name="TextBox 16"/>
          <p:cNvSpPr txBox="1"/>
          <p:nvPr/>
        </p:nvSpPr>
        <p:spPr>
          <a:xfrm>
            <a:off x="182880" y="4736592"/>
            <a:ext cx="7223760" cy="256032"/>
          </a:xfrm>
          <a:prstGeom prst="rect">
            <a:avLst/>
          </a:prstGeom>
          <a:noFill/>
        </p:spPr>
        <p:txBody>
          <a:bodyPr wrap="square">
            <a:spAutoFit/>
          </a:bodyPr>
          <a:lstStyle/>
          <a:p>
            <a:pPr algn="l"/>
            <a:r>
              <a:rPr sz="900" b="0" i="1">
                <a:solidFill>
                  <a:srgbClr val="999999"/>
                </a:solidFill>
                <a:latin typeface="Arial"/>
              </a:rPr>
              <a:t>Capital Allocation Review  |  $7,500 one off  |  ProfitPulse verified price</a:t>
            </a:r>
          </a:p>
        </p:txBody>
      </p:sp>
      <p:sp>
        <p:nvSpPr>
          <p:cNvPr id="18" name="TextBox 17"/>
          <p:cNvSpPr txBox="1"/>
          <p:nvPr/>
        </p:nvSpPr>
        <p:spPr>
          <a:xfrm>
            <a:off x="182880" y="5074920"/>
            <a:ext cx="7223760" cy="256032"/>
          </a:xfrm>
          <a:prstGeom prst="rect">
            <a:avLst/>
          </a:prstGeom>
          <a:noFill/>
        </p:spPr>
        <p:txBody>
          <a:bodyPr wrap="square">
            <a:spAutoFit/>
          </a:bodyPr>
          <a:lstStyle/>
          <a:p>
            <a:pPr algn="l"/>
            <a:r>
              <a:rPr sz="1100" b="0" i="0">
                <a:solidFill>
                  <a:srgbClr val="333333"/>
                </a:solidFill>
                <a:latin typeface="Arial"/>
              </a:rPr>
              <a:t>Prefer a conversation first?</a:t>
            </a:r>
          </a:p>
        </p:txBody>
      </p:sp>
      <p:sp>
        <p:nvSpPr>
          <p:cNvPr id="19" name="TextBox 18"/>
          <p:cNvSpPr txBox="1"/>
          <p:nvPr/>
        </p:nvSpPr>
        <p:spPr>
          <a:xfrm>
            <a:off x="182880" y="5340096"/>
            <a:ext cx="7223760" cy="274320"/>
          </a:xfrm>
          <a:prstGeom prst="rect">
            <a:avLst/>
          </a:prstGeom>
          <a:noFill/>
        </p:spPr>
        <p:txBody>
          <a:bodyPr wrap="square">
            <a:spAutoFit/>
          </a:bodyPr>
          <a:lstStyle/>
          <a:p>
            <a:pPr algn="l"/>
            <a:r>
              <a:rPr sz="1100" b="1">
                <a:solidFill>
                  <a:srgbClr val="01A296"/>
                </a:solidFill>
                <a:latin typeface="Arial"/>
                <a:hlinkClick r:id="rId4"/>
              </a:rPr>
              <a:t>Book a complimentary discovery call</a:t>
            </a:r>
          </a:p>
        </p:txBody>
      </p:sp>
      <p:sp>
        <p:nvSpPr>
          <p:cNvPr id="20" name="TextBox 19"/>
          <p:cNvSpPr txBox="1"/>
          <p:nvPr/>
        </p:nvSpPr>
        <p:spPr>
          <a:xfrm>
            <a:off x="182880" y="5742432"/>
            <a:ext cx="7223760" cy="256032"/>
          </a:xfrm>
          <a:prstGeom prst="rect">
            <a:avLst/>
          </a:prstGeom>
          <a:noFill/>
        </p:spPr>
        <p:txBody>
          <a:bodyPr wrap="square">
            <a:spAutoFit/>
          </a:bodyPr>
          <a:lstStyle/>
          <a:p>
            <a:pPr algn="l"/>
            <a:r>
              <a:rPr sz="800" b="0" i="1">
                <a:solidFill>
                  <a:srgbClr val="999999"/>
                </a:solidFill>
                <a:latin typeface="Arial"/>
              </a:rPr>
              <a:t>Supporting services identified: B1 Fractional CFO Partnership  |  F1 Capital Raise Feasibility</a:t>
            </a:r>
          </a:p>
        </p:txBody>
      </p:sp>
      <p:sp>
        <p:nvSpPr>
          <p:cNvPr id="21" name="Rectangle 20"/>
          <p:cNvSpPr/>
          <p:nvPr/>
        </p:nvSpPr>
        <p:spPr>
          <a:xfrm>
            <a:off x="7635240" y="868680"/>
            <a:ext cx="4389120" cy="5623560"/>
          </a:xfrm>
          <a:prstGeom prst="rect">
            <a:avLst/>
          </a:prstGeom>
          <a:solidFill>
            <a:srgbClr val="F7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35240" y="868680"/>
            <a:ext cx="50800" cy="562356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960120"/>
            <a:ext cx="4114800" cy="502920"/>
          </a:xfrm>
          <a:prstGeom prst="rect">
            <a:avLst/>
          </a:prstGeom>
          <a:noFill/>
        </p:spPr>
        <p:txBody>
          <a:bodyPr wrap="square">
            <a:spAutoFit/>
          </a:bodyPr>
          <a:lstStyle/>
          <a:p>
            <a:pPr algn="l"/>
            <a:r>
              <a:rPr sz="2000" b="1" i="0">
                <a:solidFill>
                  <a:srgbClr val="000000"/>
                </a:solidFill>
                <a:latin typeface="Georgia"/>
              </a:rPr>
              <a:t>Nitesh Roopa</a:t>
            </a:r>
          </a:p>
        </p:txBody>
      </p:sp>
      <p:sp>
        <p:nvSpPr>
          <p:cNvPr id="24" name="TextBox 23"/>
          <p:cNvSpPr txBox="1"/>
          <p:nvPr/>
        </p:nvSpPr>
        <p:spPr>
          <a:xfrm>
            <a:off x="7818120" y="1444752"/>
            <a:ext cx="4114800" cy="292608"/>
          </a:xfrm>
          <a:prstGeom prst="rect">
            <a:avLst/>
          </a:prstGeom>
          <a:noFill/>
        </p:spPr>
        <p:txBody>
          <a:bodyPr wrap="square">
            <a:spAutoFit/>
          </a:bodyPr>
          <a:lstStyle/>
          <a:p>
            <a:pPr algn="l"/>
            <a:r>
              <a:rPr sz="1100" b="0" i="0">
                <a:solidFill>
                  <a:srgbClr val="01A296"/>
                </a:solidFill>
                <a:latin typeface="Arial"/>
              </a:rPr>
              <a:t>CA, Managing Partner  |  ProfitPulse</a:t>
            </a:r>
          </a:p>
        </p:txBody>
      </p:sp>
      <p:sp>
        <p:nvSpPr>
          <p:cNvPr id="25" name="Rectangle 24"/>
          <p:cNvSpPr/>
          <p:nvPr/>
        </p:nvSpPr>
        <p:spPr>
          <a:xfrm>
            <a:off x="7818120" y="1792224"/>
            <a:ext cx="402336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1901952"/>
            <a:ext cx="4114800" cy="274320"/>
          </a:xfrm>
          <a:prstGeom prst="rect">
            <a:avLst/>
          </a:prstGeom>
          <a:noFill/>
        </p:spPr>
        <p:txBody>
          <a:bodyPr wrap="square">
            <a:spAutoFit/>
          </a:bodyPr>
          <a:lstStyle/>
          <a:p>
            <a:pPr algn="l"/>
            <a:r>
              <a:rPr sz="1000" b="0" i="0">
                <a:solidFill>
                  <a:srgbClr val="333333"/>
                </a:solidFill>
                <a:latin typeface="Arial"/>
              </a:rPr>
              <a:t>16 years across 4 countries</a:t>
            </a:r>
          </a:p>
        </p:txBody>
      </p:sp>
      <p:sp>
        <p:nvSpPr>
          <p:cNvPr id="27" name="TextBox 26"/>
          <p:cNvSpPr txBox="1"/>
          <p:nvPr/>
        </p:nvSpPr>
        <p:spPr>
          <a:xfrm>
            <a:off x="7818120" y="2176272"/>
            <a:ext cx="4114800" cy="274320"/>
          </a:xfrm>
          <a:prstGeom prst="rect">
            <a:avLst/>
          </a:prstGeom>
          <a:noFill/>
        </p:spPr>
        <p:txBody>
          <a:bodyPr wrap="square">
            <a:spAutoFit/>
          </a:bodyPr>
          <a:lstStyle/>
          <a:p>
            <a:pPr algn="l"/>
            <a:r>
              <a:rPr sz="1000" b="0" i="0">
                <a:solidFill>
                  <a:srgbClr val="333333"/>
                </a:solidFill>
                <a:latin typeface="Arial"/>
              </a:rPr>
              <a:t>52 deals executed and managed</a:t>
            </a:r>
          </a:p>
        </p:txBody>
      </p:sp>
      <p:sp>
        <p:nvSpPr>
          <p:cNvPr id="28" name="TextBox 27"/>
          <p:cNvSpPr txBox="1"/>
          <p:nvPr/>
        </p:nvSpPr>
        <p:spPr>
          <a:xfrm>
            <a:off x="7818120" y="2450592"/>
            <a:ext cx="4114800" cy="274320"/>
          </a:xfrm>
          <a:prstGeom prst="rect">
            <a:avLst/>
          </a:prstGeom>
          <a:noFill/>
        </p:spPr>
        <p:txBody>
          <a:bodyPr wrap="square">
            <a:spAutoFit/>
          </a:bodyPr>
          <a:lstStyle/>
          <a:p>
            <a:pPr algn="l"/>
            <a:r>
              <a:rPr sz="1000" b="0" i="0">
                <a:solidFill>
                  <a:srgbClr val="333333"/>
                </a:solidFill>
                <a:latin typeface="Arial"/>
              </a:rPr>
              <a:t>Largest single deal: USD 1.3 billion,</a:t>
            </a:r>
          </a:p>
        </p:txBody>
      </p:sp>
      <p:sp>
        <p:nvSpPr>
          <p:cNvPr id="29" name="TextBox 28"/>
          <p:cNvSpPr txBox="1"/>
          <p:nvPr/>
        </p:nvSpPr>
        <p:spPr>
          <a:xfrm>
            <a:off x="7818120" y="2724912"/>
            <a:ext cx="4114800" cy="274320"/>
          </a:xfrm>
          <a:prstGeom prst="rect">
            <a:avLst/>
          </a:prstGeom>
          <a:noFill/>
        </p:spPr>
        <p:txBody>
          <a:bodyPr wrap="square">
            <a:spAutoFit/>
          </a:bodyPr>
          <a:lstStyle/>
          <a:p>
            <a:pPr algn="l"/>
            <a:r>
              <a:rPr sz="1000" b="0" i="0">
                <a:solidFill>
                  <a:srgbClr val="333333"/>
                </a:solidFill>
                <a:latin typeface="Arial"/>
              </a:rPr>
              <a:t>  Cahora Bassa, Mozambique Government</a:t>
            </a:r>
          </a:p>
        </p:txBody>
      </p:sp>
      <p:sp>
        <p:nvSpPr>
          <p:cNvPr id="30" name="TextBox 29"/>
          <p:cNvSpPr txBox="1"/>
          <p:nvPr/>
        </p:nvSpPr>
        <p:spPr>
          <a:xfrm>
            <a:off x="7818120" y="2999232"/>
            <a:ext cx="4114800" cy="274320"/>
          </a:xfrm>
          <a:prstGeom prst="rect">
            <a:avLst/>
          </a:prstGeom>
          <a:noFill/>
        </p:spPr>
        <p:txBody>
          <a:bodyPr wrap="square">
            <a:spAutoFit/>
          </a:bodyPr>
          <a:lstStyle/>
          <a:p>
            <a:pPr algn="l"/>
            <a:r>
              <a:rPr sz="1000" b="0" i="0">
                <a:solidFill>
                  <a:srgbClr val="333333"/>
                </a:solidFill>
                <a:latin typeface="Arial"/>
              </a:rPr>
              <a:t>Total GRBT value in Queensland:</a:t>
            </a:r>
          </a:p>
        </p:txBody>
      </p:sp>
      <p:sp>
        <p:nvSpPr>
          <p:cNvPr id="31" name="TextBox 30"/>
          <p:cNvSpPr txBox="1"/>
          <p:nvPr/>
        </p:nvSpPr>
        <p:spPr>
          <a:xfrm>
            <a:off x="7818120" y="3273552"/>
            <a:ext cx="4114800" cy="274320"/>
          </a:xfrm>
          <a:prstGeom prst="rect">
            <a:avLst/>
          </a:prstGeom>
          <a:noFill/>
        </p:spPr>
        <p:txBody>
          <a:bodyPr wrap="square">
            <a:spAutoFit/>
          </a:bodyPr>
          <a:lstStyle/>
          <a:p>
            <a:pPr algn="l"/>
            <a:r>
              <a:rPr sz="1000" b="0" i="0">
                <a:solidFill>
                  <a:srgbClr val="333333"/>
                </a:solidFill>
                <a:latin typeface="Arial"/>
              </a:rPr>
              <a:t>  over AUD 10 billion</a:t>
            </a:r>
          </a:p>
        </p:txBody>
      </p:sp>
      <p:sp>
        <p:nvSpPr>
          <p:cNvPr id="32" name="Rectangle 31"/>
          <p:cNvSpPr/>
          <p:nvPr/>
        </p:nvSpPr>
        <p:spPr>
          <a:xfrm>
            <a:off x="7818120" y="3602736"/>
            <a:ext cx="4023360" cy="1905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18120" y="3749040"/>
            <a:ext cx="4114800" cy="274320"/>
          </a:xfrm>
          <a:prstGeom prst="rect">
            <a:avLst/>
          </a:prstGeom>
          <a:noFill/>
        </p:spPr>
        <p:txBody>
          <a:bodyPr wrap="square">
            <a:spAutoFit/>
          </a:bodyPr>
          <a:lstStyle/>
          <a:p>
            <a:pPr algn="l"/>
            <a:r>
              <a:rPr sz="1000" b="0" i="0">
                <a:solidFill>
                  <a:srgbClr val="000000"/>
                </a:solidFill>
                <a:latin typeface="Arial"/>
              </a:rPr>
              <a:t>Profit-Pulse.com.au</a:t>
            </a:r>
          </a:p>
        </p:txBody>
      </p:sp>
      <p:sp>
        <p:nvSpPr>
          <p:cNvPr id="34" name="TextBox 33"/>
          <p:cNvSpPr txBox="1"/>
          <p:nvPr/>
        </p:nvSpPr>
        <p:spPr>
          <a:xfrm>
            <a:off x="7818120" y="4023360"/>
            <a:ext cx="4114800" cy="274320"/>
          </a:xfrm>
          <a:prstGeom prst="rect">
            <a:avLst/>
          </a:prstGeom>
          <a:noFill/>
        </p:spPr>
        <p:txBody>
          <a:bodyPr wrap="square">
            <a:spAutoFit/>
          </a:bodyPr>
          <a:lstStyle/>
          <a:p>
            <a:pPr algn="l"/>
            <a:r>
              <a:rPr sz="1000" b="0" i="0">
                <a:solidFill>
                  <a:srgbClr val="01A296"/>
                </a:solidFill>
                <a:latin typeface="Arial"/>
              </a:rPr>
              <a:t>Nitesh@Profit-Pulse.com.au</a:t>
            </a:r>
          </a:p>
        </p:txBody>
      </p:sp>
      <p:sp>
        <p:nvSpPr>
          <p:cNvPr id="35" name="TextBox 34"/>
          <p:cNvSpPr txBox="1"/>
          <p:nvPr/>
        </p:nvSpPr>
        <p:spPr>
          <a:xfrm>
            <a:off x="7818120" y="4297680"/>
            <a:ext cx="4114800" cy="274320"/>
          </a:xfrm>
          <a:prstGeom prst="rect">
            <a:avLst/>
          </a:prstGeom>
          <a:noFill/>
        </p:spPr>
        <p:txBody>
          <a:bodyPr wrap="square">
            <a:spAutoFit/>
          </a:bodyPr>
          <a:lstStyle/>
          <a:p>
            <a:pPr algn="l"/>
            <a:r>
              <a:rPr sz="1000" b="0" i="0">
                <a:solidFill>
                  <a:srgbClr val="000000"/>
                </a:solidFill>
                <a:latin typeface="Arial"/>
              </a:rPr>
              <a:t>+61 411 876 267</a:t>
            </a:r>
          </a:p>
        </p:txBody>
      </p:sp>
      <p:sp>
        <p:nvSpPr>
          <p:cNvPr id="36" name="TextBox 35"/>
          <p:cNvSpPr txBox="1"/>
          <p:nvPr/>
        </p:nvSpPr>
        <p:spPr>
          <a:xfrm>
            <a:off x="7818120" y="4572000"/>
            <a:ext cx="4114800" cy="274320"/>
          </a:xfrm>
          <a:prstGeom prst="rect">
            <a:avLst/>
          </a:prstGeom>
          <a:noFill/>
        </p:spPr>
        <p:txBody>
          <a:bodyPr wrap="square">
            <a:spAutoFit/>
          </a:bodyPr>
          <a:lstStyle/>
          <a:p>
            <a:pPr algn="l"/>
            <a:r>
              <a:rPr sz="1000" b="0" i="0">
                <a:solidFill>
                  <a:srgbClr val="666666"/>
                </a:solidFill>
                <a:latin typeface="Arial"/>
              </a:rPr>
              <a:t>linkedin.com/in/nitesh-roopa-77594163</a:t>
            </a:r>
          </a:p>
        </p:txBody>
      </p:sp>
      <p:sp>
        <p:nvSpPr>
          <p:cNvPr id="37" name="Rectangle 36"/>
          <p:cNvSpPr/>
          <p:nvPr/>
        </p:nvSpPr>
        <p:spPr>
          <a:xfrm>
            <a:off x="91440" y="6565392"/>
            <a:ext cx="12100255" cy="127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2880" y="6601968"/>
            <a:ext cx="8229600" cy="256032"/>
          </a:xfrm>
          <a:prstGeom prst="rect">
            <a:avLst/>
          </a:prstGeom>
          <a:noFill/>
        </p:spPr>
        <p:txBody>
          <a:bodyPr wrap="square">
            <a:spAutoFit/>
          </a:bodyPr>
          <a:lstStyle/>
          <a:p>
            <a:pPr algn="l"/>
            <a:r>
              <a:rPr sz="800" b="0" i="0">
                <a:solidFill>
                  <a:srgbClr val="666666"/>
                </a:solidFill>
                <a:latin typeface="Arial"/>
              </a:rPr>
              <a:t>Prepared by Nitesh Roopa CA, Managing Partner and Founder, ProfitPulse, Profit-Pulse.com.au</a:t>
            </a:r>
          </a:p>
        </p:txBody>
      </p:sp>
      <p:sp>
        <p:nvSpPr>
          <p:cNvPr id="39" name="TextBox 38"/>
          <p:cNvSpPr txBox="1"/>
          <p:nvPr/>
        </p:nvSpPr>
        <p:spPr>
          <a:xfrm>
            <a:off x="9601200" y="6601968"/>
            <a:ext cx="2377440" cy="256032"/>
          </a:xfrm>
          <a:prstGeom prst="rect">
            <a:avLst/>
          </a:prstGeom>
          <a:noFill/>
        </p:spPr>
        <p:txBody>
          <a:bodyPr wrap="square">
            <a:spAutoFit/>
          </a:bodyPr>
          <a:lstStyle/>
          <a:p>
            <a:pPr algn="r"/>
            <a:r>
              <a:rPr sz="800" b="0" i="0">
                <a:solidFill>
                  <a:srgbClr val="666666"/>
                </a:solidFill>
                <a:latin typeface="Arial"/>
              </a:rPr>
              <a:t>17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