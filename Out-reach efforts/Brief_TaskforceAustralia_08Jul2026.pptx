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services/find-your-fit/" TargetMode="External"/><Relationship Id="rId3" Type="http://schemas.openxmlformats.org/officeDocument/2006/relationships/hyperlink" Target="https://buy.stripe.com/28EbJ2edi0LSbdugYT3ks1D"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oAutofit/>
          </a:bodyPr>
          <a:lstStyle/>
          <a:p>
            <a:pPr algn="l"/>
            <a:r>
              <a:rPr sz="1200" b="1" i="0">
                <a:solidFill>
                  <a:srgbClr val="E6E5DE"/>
                </a:solidFill>
                <a:latin typeface="Calibri"/>
              </a:rPr>
              <a:t>COMMERCIAL INTELLIGENCE BRIEF</a:t>
            </a:r>
          </a:p>
        </p:txBody>
      </p:sp>
      <p:sp>
        <p:nvSpPr>
          <p:cNvPr id="5" name="TextBox 4"/>
          <p:cNvSpPr txBox="1"/>
          <p:nvPr/>
        </p:nvSpPr>
        <p:spPr>
          <a:xfrm>
            <a:off x="8686800" y="292608"/>
            <a:ext cx="3291840" cy="365760"/>
          </a:xfrm>
          <a:prstGeom prst="rect">
            <a:avLst/>
          </a:prstGeom>
          <a:noFill/>
        </p:spPr>
        <p:txBody>
          <a:bodyPr wrap="square">
            <a:noAutofit/>
          </a:bodyPr>
          <a:lstStyle/>
          <a:p>
            <a:pPr algn="r"/>
            <a:r>
              <a:rPr sz="1200" b="1" i="0">
                <a:solidFill>
                  <a:srgbClr val="01A296"/>
                </a:solidFill>
                <a:latin typeface="Calibri"/>
              </a:rPr>
              <a:t>PROFITPULSE</a:t>
            </a:r>
          </a:p>
        </p:txBody>
      </p:sp>
      <p:sp>
        <p:nvSpPr>
          <p:cNvPr id="6" name="Rectangle 5"/>
          <p:cNvSpPr/>
          <p:nvPr/>
        </p:nvSpPr>
        <p:spPr>
          <a:xfrm>
            <a:off x="274320" y="6419088"/>
            <a:ext cx="11640312" cy="952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473952"/>
            <a:ext cx="8686800" cy="320040"/>
          </a:xfrm>
          <a:prstGeom prst="rect">
            <a:avLst/>
          </a:prstGeom>
          <a:noFill/>
        </p:spPr>
        <p:txBody>
          <a:bodyPr wrap="square">
            <a:noAutofit/>
          </a:bodyPr>
          <a:lstStyle/>
          <a:p>
            <a:pPr algn="l"/>
            <a:r>
              <a:rPr sz="800" b="0" i="0">
                <a:solidFill>
                  <a:srgbClr val="000000"/>
                </a:solidFill>
                <a:latin typeface="Calibri"/>
              </a:rPr>
              <a:t>Prepared by Nitesh Roopa CA, Managing Partner and Founder, ProfitPulse, Profit-Pulse.com.au</a:t>
            </a:r>
          </a:p>
        </p:txBody>
      </p:sp>
      <p:sp>
        <p:nvSpPr>
          <p:cNvPr id="8" name="TextBox 7"/>
          <p:cNvSpPr txBox="1"/>
          <p:nvPr/>
        </p:nvSpPr>
        <p:spPr>
          <a:xfrm>
            <a:off x="9601200" y="6473952"/>
            <a:ext cx="2313432" cy="320040"/>
          </a:xfrm>
          <a:prstGeom prst="rect">
            <a:avLst/>
          </a:prstGeom>
          <a:noFill/>
        </p:spPr>
        <p:txBody>
          <a:bodyPr wrap="square">
            <a:noAutofit/>
          </a:bodyPr>
          <a:lstStyle/>
          <a:p>
            <a:pPr algn="r"/>
            <a:r>
              <a:rPr sz="800" b="0" i="0">
                <a:solidFill>
                  <a:srgbClr val="000000"/>
                </a:solidFill>
                <a:latin typeface="Calibri"/>
              </a:rPr>
              <a:t>08 Jul 2026</a:t>
            </a:r>
          </a:p>
        </p:txBody>
      </p:sp>
      <p:sp>
        <p:nvSpPr>
          <p:cNvPr id="9" name="TextBox 8"/>
          <p:cNvSpPr txBox="1"/>
          <p:nvPr/>
        </p:nvSpPr>
        <p:spPr>
          <a:xfrm>
            <a:off x="274320" y="1005840"/>
            <a:ext cx="9144000" cy="658368"/>
          </a:xfrm>
          <a:prstGeom prst="rect">
            <a:avLst/>
          </a:prstGeom>
          <a:noFill/>
        </p:spPr>
        <p:txBody>
          <a:bodyPr wrap="square">
            <a:noAutofit/>
          </a:bodyPr>
          <a:lstStyle/>
          <a:p>
            <a:pPr algn="l"/>
            <a:r>
              <a:rPr sz="4000" b="1" i="0">
                <a:solidFill>
                  <a:srgbClr val="000000"/>
                </a:solidFill>
                <a:latin typeface="Georgia"/>
              </a:rPr>
              <a:t>Taskforce Australia</a:t>
            </a:r>
          </a:p>
        </p:txBody>
      </p:sp>
      <p:sp>
        <p:nvSpPr>
          <p:cNvPr id="10" name="TextBox 9"/>
          <p:cNvSpPr txBox="1"/>
          <p:nvPr/>
        </p:nvSpPr>
        <p:spPr>
          <a:xfrm>
            <a:off x="274320" y="1664208"/>
            <a:ext cx="10515600" cy="301752"/>
          </a:xfrm>
          <a:prstGeom prst="rect">
            <a:avLst/>
          </a:prstGeom>
          <a:noFill/>
        </p:spPr>
        <p:txBody>
          <a:bodyPr wrap="square">
            <a:noAutofit/>
          </a:bodyPr>
          <a:lstStyle/>
          <a:p>
            <a:pPr algn="l"/>
            <a:r>
              <a:rPr sz="1300" b="1" i="0">
                <a:solidFill>
                  <a:srgbClr val="01A296"/>
                </a:solidFill>
                <a:latin typeface="Calibri"/>
              </a:rPr>
              <a:t>Property technology and trade services platform, Burnley, Melbourne VIC</a:t>
            </a:r>
          </a:p>
        </p:txBody>
      </p:sp>
      <p:sp>
        <p:nvSpPr>
          <p:cNvPr id="11" name="Rectangle 10"/>
          <p:cNvSpPr/>
          <p:nvPr/>
        </p:nvSpPr>
        <p:spPr>
          <a:xfrm>
            <a:off x="274320" y="2084831"/>
            <a:ext cx="1826209" cy="15727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084831"/>
            <a:ext cx="1826209"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231135"/>
            <a:ext cx="1643329" cy="438912"/>
          </a:xfrm>
          <a:prstGeom prst="rect">
            <a:avLst/>
          </a:prstGeom>
          <a:noFill/>
        </p:spPr>
        <p:txBody>
          <a:bodyPr wrap="none">
            <a:noAutofit/>
          </a:bodyPr>
          <a:lstStyle/>
          <a:p>
            <a:r>
              <a:rPr sz="2700" b="1">
                <a:solidFill>
                  <a:srgbClr val="F8C806"/>
                </a:solidFill>
                <a:latin typeface="Calibri"/>
              </a:rPr>
              <a:t>$12.8M</a:t>
            </a:r>
          </a:p>
        </p:txBody>
      </p:sp>
      <p:sp>
        <p:nvSpPr>
          <p:cNvPr id="14" name="TextBox 13"/>
          <p:cNvSpPr txBox="1"/>
          <p:nvPr/>
        </p:nvSpPr>
        <p:spPr>
          <a:xfrm>
            <a:off x="402336" y="2679191"/>
            <a:ext cx="1570177" cy="502920"/>
          </a:xfrm>
          <a:prstGeom prst="rect">
            <a:avLst/>
          </a:prstGeom>
          <a:noFill/>
        </p:spPr>
        <p:txBody>
          <a:bodyPr wrap="square">
            <a:noAutofit/>
          </a:bodyPr>
          <a:lstStyle/>
          <a:p>
            <a:pPr algn="l">
              <a:lnSpc>
                <a:spcPct val="105000"/>
              </a:lnSpc>
              <a:spcAft>
                <a:spcPts val="0"/>
              </a:spcAft>
            </a:pPr>
            <a:r>
              <a:rPr sz="1100" b="0">
                <a:solidFill>
                  <a:srgbClr val="E6E5DE"/>
                </a:solidFill>
                <a:latin typeface="Calibri"/>
              </a:rPr>
              <a:t>Verified 2025 revenue</a:t>
            </a:r>
          </a:p>
        </p:txBody>
      </p:sp>
      <p:sp>
        <p:nvSpPr>
          <p:cNvPr id="15" name="TextBox 14"/>
          <p:cNvSpPr txBox="1"/>
          <p:nvPr/>
        </p:nvSpPr>
        <p:spPr>
          <a:xfrm>
            <a:off x="402336" y="3346703"/>
            <a:ext cx="1570177" cy="237744"/>
          </a:xfrm>
          <a:prstGeom prst="rect">
            <a:avLst/>
          </a:prstGeom>
          <a:noFill/>
        </p:spPr>
        <p:txBody>
          <a:bodyPr wrap="square">
            <a:noAutofit/>
          </a:bodyPr>
          <a:lstStyle/>
          <a:p>
            <a:pPr algn="l"/>
            <a:r>
              <a:rPr sz="800" b="0" i="0">
                <a:solidFill>
                  <a:srgbClr val="E6E5DE"/>
                </a:solidFill>
                <a:latin typeface="Calibri"/>
              </a:rPr>
              <a:t>SmartCompany Smart50</a:t>
            </a:r>
          </a:p>
        </p:txBody>
      </p:sp>
      <p:sp>
        <p:nvSpPr>
          <p:cNvPr id="16" name="Rectangle 15"/>
          <p:cNvSpPr/>
          <p:nvPr/>
        </p:nvSpPr>
        <p:spPr>
          <a:xfrm>
            <a:off x="2237689" y="2084831"/>
            <a:ext cx="1826209" cy="15727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37689" y="2084831"/>
            <a:ext cx="1826209"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29129" y="2231135"/>
            <a:ext cx="1643329" cy="438912"/>
          </a:xfrm>
          <a:prstGeom prst="rect">
            <a:avLst/>
          </a:prstGeom>
          <a:noFill/>
        </p:spPr>
        <p:txBody>
          <a:bodyPr wrap="none">
            <a:noAutofit/>
          </a:bodyPr>
          <a:lstStyle/>
          <a:p>
            <a:r>
              <a:rPr sz="2700" b="1">
                <a:solidFill>
                  <a:srgbClr val="F8C806"/>
                </a:solidFill>
                <a:latin typeface="Calibri"/>
              </a:rPr>
              <a:t>31%</a:t>
            </a:r>
          </a:p>
        </p:txBody>
      </p:sp>
      <p:sp>
        <p:nvSpPr>
          <p:cNvPr id="19" name="TextBox 18"/>
          <p:cNvSpPr txBox="1"/>
          <p:nvPr/>
        </p:nvSpPr>
        <p:spPr>
          <a:xfrm>
            <a:off x="2365705" y="2679191"/>
            <a:ext cx="1570177" cy="502920"/>
          </a:xfrm>
          <a:prstGeom prst="rect">
            <a:avLst/>
          </a:prstGeom>
          <a:noFill/>
        </p:spPr>
        <p:txBody>
          <a:bodyPr wrap="square">
            <a:noAutofit/>
          </a:bodyPr>
          <a:lstStyle/>
          <a:p>
            <a:pPr algn="l">
              <a:lnSpc>
                <a:spcPct val="105000"/>
              </a:lnSpc>
              <a:spcAft>
                <a:spcPts val="0"/>
              </a:spcAft>
            </a:pPr>
            <a:r>
              <a:rPr sz="1100" b="0">
                <a:solidFill>
                  <a:srgbClr val="E6E5DE"/>
                </a:solidFill>
                <a:latin typeface="Calibri"/>
              </a:rPr>
              <a:t>One year revenue growth</a:t>
            </a:r>
          </a:p>
        </p:txBody>
      </p:sp>
      <p:sp>
        <p:nvSpPr>
          <p:cNvPr id="20" name="TextBox 19"/>
          <p:cNvSpPr txBox="1"/>
          <p:nvPr/>
        </p:nvSpPr>
        <p:spPr>
          <a:xfrm>
            <a:off x="2365705" y="3346703"/>
            <a:ext cx="1570177" cy="237744"/>
          </a:xfrm>
          <a:prstGeom prst="rect">
            <a:avLst/>
          </a:prstGeom>
          <a:noFill/>
        </p:spPr>
        <p:txBody>
          <a:bodyPr wrap="square">
            <a:noAutofit/>
          </a:bodyPr>
          <a:lstStyle/>
          <a:p>
            <a:pPr algn="l"/>
            <a:r>
              <a:rPr sz="800" b="0" i="0">
                <a:solidFill>
                  <a:srgbClr val="E6E5DE"/>
                </a:solidFill>
                <a:latin typeface="Calibri"/>
              </a:rPr>
              <a:t>SmartCompany Smart50</a:t>
            </a:r>
          </a:p>
        </p:txBody>
      </p:sp>
      <p:sp>
        <p:nvSpPr>
          <p:cNvPr id="21" name="Rectangle 20"/>
          <p:cNvSpPr/>
          <p:nvPr/>
        </p:nvSpPr>
        <p:spPr>
          <a:xfrm>
            <a:off x="4201058" y="2084831"/>
            <a:ext cx="1826209" cy="15727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01058" y="2084831"/>
            <a:ext cx="1826209"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2498" y="2231135"/>
            <a:ext cx="1643329" cy="438912"/>
          </a:xfrm>
          <a:prstGeom prst="rect">
            <a:avLst/>
          </a:prstGeom>
          <a:noFill/>
        </p:spPr>
        <p:txBody>
          <a:bodyPr wrap="none">
            <a:noAutofit/>
          </a:bodyPr>
          <a:lstStyle/>
          <a:p>
            <a:r>
              <a:rPr sz="2700" b="1">
                <a:solidFill>
                  <a:srgbClr val="F8C806"/>
                </a:solidFill>
                <a:latin typeface="Calibri"/>
              </a:rPr>
              <a:t>19</a:t>
            </a:r>
          </a:p>
        </p:txBody>
      </p:sp>
      <p:sp>
        <p:nvSpPr>
          <p:cNvPr id="24" name="TextBox 23"/>
          <p:cNvSpPr txBox="1"/>
          <p:nvPr/>
        </p:nvSpPr>
        <p:spPr>
          <a:xfrm>
            <a:off x="4329074" y="2679191"/>
            <a:ext cx="1570177" cy="502920"/>
          </a:xfrm>
          <a:prstGeom prst="rect">
            <a:avLst/>
          </a:prstGeom>
          <a:noFill/>
        </p:spPr>
        <p:txBody>
          <a:bodyPr wrap="square">
            <a:noAutofit/>
          </a:bodyPr>
          <a:lstStyle/>
          <a:p>
            <a:pPr algn="l">
              <a:lnSpc>
                <a:spcPct val="105000"/>
              </a:lnSpc>
              <a:spcAft>
                <a:spcPts val="0"/>
              </a:spcAft>
            </a:pPr>
            <a:r>
              <a:rPr sz="1100" b="0">
                <a:solidFill>
                  <a:srgbClr val="E6E5DE"/>
                </a:solidFill>
                <a:latin typeface="Calibri"/>
              </a:rPr>
              <a:t>Employees, flat two years</a:t>
            </a:r>
          </a:p>
        </p:txBody>
      </p:sp>
      <p:sp>
        <p:nvSpPr>
          <p:cNvPr id="25" name="TextBox 24"/>
          <p:cNvSpPr txBox="1"/>
          <p:nvPr/>
        </p:nvSpPr>
        <p:spPr>
          <a:xfrm>
            <a:off x="4329074" y="3346703"/>
            <a:ext cx="1570177" cy="237744"/>
          </a:xfrm>
          <a:prstGeom prst="rect">
            <a:avLst/>
          </a:prstGeom>
          <a:noFill/>
        </p:spPr>
        <p:txBody>
          <a:bodyPr wrap="square">
            <a:noAutofit/>
          </a:bodyPr>
          <a:lstStyle/>
          <a:p>
            <a:pPr algn="l"/>
            <a:r>
              <a:rPr sz="800" b="0" i="0">
                <a:solidFill>
                  <a:srgbClr val="E6E5DE"/>
                </a:solidFill>
                <a:latin typeface="Calibri"/>
              </a:rPr>
              <a:t>SmartCompany Smart50</a:t>
            </a:r>
          </a:p>
        </p:txBody>
      </p:sp>
      <p:sp>
        <p:nvSpPr>
          <p:cNvPr id="26" name="Rectangle 25"/>
          <p:cNvSpPr/>
          <p:nvPr/>
        </p:nvSpPr>
        <p:spPr>
          <a:xfrm>
            <a:off x="6164427" y="2084831"/>
            <a:ext cx="1826209" cy="15727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4427" y="2084831"/>
            <a:ext cx="1826209"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55867" y="2231135"/>
            <a:ext cx="1643329" cy="438912"/>
          </a:xfrm>
          <a:prstGeom prst="rect">
            <a:avLst/>
          </a:prstGeom>
          <a:noFill/>
        </p:spPr>
        <p:txBody>
          <a:bodyPr wrap="none">
            <a:noAutofit/>
          </a:bodyPr>
          <a:lstStyle/>
          <a:p>
            <a:r>
              <a:rPr sz="2700" b="1">
                <a:solidFill>
                  <a:srgbClr val="F8C806"/>
                </a:solidFill>
                <a:latin typeface="Calibri"/>
              </a:rPr>
              <a:t>#37</a:t>
            </a:r>
          </a:p>
        </p:txBody>
      </p:sp>
      <p:sp>
        <p:nvSpPr>
          <p:cNvPr id="29" name="TextBox 28"/>
          <p:cNvSpPr txBox="1"/>
          <p:nvPr/>
        </p:nvSpPr>
        <p:spPr>
          <a:xfrm>
            <a:off x="6292443" y="2679191"/>
            <a:ext cx="1570177" cy="502920"/>
          </a:xfrm>
          <a:prstGeom prst="rect">
            <a:avLst/>
          </a:prstGeom>
          <a:noFill/>
        </p:spPr>
        <p:txBody>
          <a:bodyPr wrap="square">
            <a:noAutofit/>
          </a:bodyPr>
          <a:lstStyle/>
          <a:p>
            <a:pPr algn="l">
              <a:lnSpc>
                <a:spcPct val="105000"/>
              </a:lnSpc>
              <a:spcAft>
                <a:spcPts val="0"/>
              </a:spcAft>
            </a:pPr>
            <a:r>
              <a:rPr sz="1100" b="0">
                <a:solidFill>
                  <a:srgbClr val="E6E5DE"/>
                </a:solidFill>
                <a:latin typeface="Calibri"/>
              </a:rPr>
              <a:t>Smart50 2025 national rank</a:t>
            </a:r>
          </a:p>
        </p:txBody>
      </p:sp>
      <p:sp>
        <p:nvSpPr>
          <p:cNvPr id="30" name="TextBox 29"/>
          <p:cNvSpPr txBox="1"/>
          <p:nvPr/>
        </p:nvSpPr>
        <p:spPr>
          <a:xfrm>
            <a:off x="6292443" y="3346703"/>
            <a:ext cx="1570177" cy="237744"/>
          </a:xfrm>
          <a:prstGeom prst="rect">
            <a:avLst/>
          </a:prstGeom>
          <a:noFill/>
        </p:spPr>
        <p:txBody>
          <a:bodyPr wrap="square">
            <a:noAutofit/>
          </a:bodyPr>
          <a:lstStyle/>
          <a:p>
            <a:pPr algn="l"/>
            <a:r>
              <a:rPr sz="800" b="0" i="0">
                <a:solidFill>
                  <a:srgbClr val="E6E5DE"/>
                </a:solidFill>
                <a:latin typeface="Calibri"/>
              </a:rPr>
              <a:t>SmartCompany Smart50</a:t>
            </a:r>
          </a:p>
        </p:txBody>
      </p:sp>
      <p:sp>
        <p:nvSpPr>
          <p:cNvPr id="31" name="Rectangle 30"/>
          <p:cNvSpPr/>
          <p:nvPr/>
        </p:nvSpPr>
        <p:spPr>
          <a:xfrm>
            <a:off x="8127796" y="2084831"/>
            <a:ext cx="1826209" cy="15727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27796" y="2084831"/>
            <a:ext cx="1826209"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19236" y="2231135"/>
            <a:ext cx="1643329" cy="438912"/>
          </a:xfrm>
          <a:prstGeom prst="rect">
            <a:avLst/>
          </a:prstGeom>
          <a:noFill/>
        </p:spPr>
        <p:txBody>
          <a:bodyPr wrap="none">
            <a:noAutofit/>
          </a:bodyPr>
          <a:lstStyle/>
          <a:p>
            <a:r>
              <a:rPr sz="2700" b="1">
                <a:solidFill>
                  <a:srgbClr val="F8C806"/>
                </a:solidFill>
                <a:latin typeface="Calibri"/>
              </a:rPr>
              <a:t>4,500</a:t>
            </a:r>
          </a:p>
        </p:txBody>
      </p:sp>
      <p:sp>
        <p:nvSpPr>
          <p:cNvPr id="34" name="TextBox 33"/>
          <p:cNvSpPr txBox="1"/>
          <p:nvPr/>
        </p:nvSpPr>
        <p:spPr>
          <a:xfrm>
            <a:off x="8255812" y="2679191"/>
            <a:ext cx="1570177" cy="502920"/>
          </a:xfrm>
          <a:prstGeom prst="rect">
            <a:avLst/>
          </a:prstGeom>
          <a:noFill/>
        </p:spPr>
        <p:txBody>
          <a:bodyPr wrap="square">
            <a:noAutofit/>
          </a:bodyPr>
          <a:lstStyle/>
          <a:p>
            <a:pPr algn="l">
              <a:lnSpc>
                <a:spcPct val="105000"/>
              </a:lnSpc>
              <a:spcAft>
                <a:spcPts val="0"/>
              </a:spcAft>
            </a:pPr>
            <a:r>
              <a:rPr sz="1100" b="0">
                <a:solidFill>
                  <a:srgbClr val="E6E5DE"/>
                </a:solidFill>
                <a:latin typeface="Calibri"/>
              </a:rPr>
              <a:t>Tradespeople in the network</a:t>
            </a:r>
          </a:p>
        </p:txBody>
      </p:sp>
      <p:sp>
        <p:nvSpPr>
          <p:cNvPr id="35" name="TextBox 34"/>
          <p:cNvSpPr txBox="1"/>
          <p:nvPr/>
        </p:nvSpPr>
        <p:spPr>
          <a:xfrm>
            <a:off x="8255812" y="3346703"/>
            <a:ext cx="1570177" cy="237744"/>
          </a:xfrm>
          <a:prstGeom prst="rect">
            <a:avLst/>
          </a:prstGeom>
          <a:noFill/>
        </p:spPr>
        <p:txBody>
          <a:bodyPr wrap="square">
            <a:noAutofit/>
          </a:bodyPr>
          <a:lstStyle/>
          <a:p>
            <a:pPr algn="l"/>
            <a:r>
              <a:rPr sz="800" b="0" i="0">
                <a:solidFill>
                  <a:srgbClr val="E6E5DE"/>
                </a:solidFill>
                <a:latin typeface="Calibri"/>
              </a:rPr>
              <a:t>taskforce.com.au</a:t>
            </a:r>
          </a:p>
        </p:txBody>
      </p:sp>
      <p:sp>
        <p:nvSpPr>
          <p:cNvPr id="36" name="Rectangle 35"/>
          <p:cNvSpPr/>
          <p:nvPr/>
        </p:nvSpPr>
        <p:spPr>
          <a:xfrm>
            <a:off x="10091166" y="2084831"/>
            <a:ext cx="1826209" cy="157276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091166" y="2084831"/>
            <a:ext cx="1826209"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82606" y="2231135"/>
            <a:ext cx="1643329" cy="438912"/>
          </a:xfrm>
          <a:prstGeom prst="rect">
            <a:avLst/>
          </a:prstGeom>
          <a:noFill/>
        </p:spPr>
        <p:txBody>
          <a:bodyPr wrap="none">
            <a:noAutofit/>
          </a:bodyPr>
          <a:lstStyle/>
          <a:p>
            <a:r>
              <a:rPr sz="2700" b="1">
                <a:solidFill>
                  <a:srgbClr val="F8C806"/>
                </a:solidFill>
                <a:latin typeface="Calibri"/>
              </a:rPr>
              <a:t>2014</a:t>
            </a:r>
          </a:p>
        </p:txBody>
      </p:sp>
      <p:sp>
        <p:nvSpPr>
          <p:cNvPr id="39" name="TextBox 38"/>
          <p:cNvSpPr txBox="1"/>
          <p:nvPr/>
        </p:nvSpPr>
        <p:spPr>
          <a:xfrm>
            <a:off x="10219182" y="2679191"/>
            <a:ext cx="1570177" cy="502920"/>
          </a:xfrm>
          <a:prstGeom prst="rect">
            <a:avLst/>
          </a:prstGeom>
          <a:noFill/>
        </p:spPr>
        <p:txBody>
          <a:bodyPr wrap="square">
            <a:noAutofit/>
          </a:bodyPr>
          <a:lstStyle/>
          <a:p>
            <a:pPr algn="l">
              <a:lnSpc>
                <a:spcPct val="105000"/>
              </a:lnSpc>
              <a:spcAft>
                <a:spcPts val="0"/>
              </a:spcAft>
            </a:pPr>
            <a:r>
              <a:rPr sz="1100" b="0">
                <a:solidFill>
                  <a:srgbClr val="E6E5DE"/>
                </a:solidFill>
                <a:latin typeface="Calibri"/>
              </a:rPr>
              <a:t>Year founded in Melbourne</a:t>
            </a:r>
          </a:p>
        </p:txBody>
      </p:sp>
      <p:sp>
        <p:nvSpPr>
          <p:cNvPr id="40" name="TextBox 39"/>
          <p:cNvSpPr txBox="1"/>
          <p:nvPr/>
        </p:nvSpPr>
        <p:spPr>
          <a:xfrm>
            <a:off x="10219182" y="3346703"/>
            <a:ext cx="1570177" cy="237744"/>
          </a:xfrm>
          <a:prstGeom prst="rect">
            <a:avLst/>
          </a:prstGeom>
          <a:noFill/>
        </p:spPr>
        <p:txBody>
          <a:bodyPr wrap="square">
            <a:noAutofit/>
          </a:bodyPr>
          <a:lstStyle/>
          <a:p>
            <a:pPr algn="l"/>
            <a:r>
              <a:rPr sz="800" b="0" i="0">
                <a:solidFill>
                  <a:srgbClr val="E6E5DE"/>
                </a:solidFill>
                <a:latin typeface="Calibri"/>
              </a:rPr>
              <a:t>SmartCompany Smart50</a:t>
            </a:r>
          </a:p>
        </p:txBody>
      </p:sp>
      <p:sp>
        <p:nvSpPr>
          <p:cNvPr id="41" name="TextBox 40"/>
          <p:cNvSpPr txBox="1"/>
          <p:nvPr/>
        </p:nvSpPr>
        <p:spPr>
          <a:xfrm>
            <a:off x="274320" y="3950208"/>
            <a:ext cx="7315200" cy="274320"/>
          </a:xfrm>
          <a:prstGeom prst="rect">
            <a:avLst/>
          </a:prstGeom>
          <a:noFill/>
        </p:spPr>
        <p:txBody>
          <a:bodyPr wrap="square">
            <a:noAutofit/>
          </a:bodyPr>
          <a:lstStyle/>
          <a:p>
            <a:pPr algn="l"/>
            <a:r>
              <a:rPr sz="1200" b="1" i="0">
                <a:solidFill>
                  <a:srgbClr val="01A296"/>
                </a:solidFill>
                <a:latin typeface="Calibri"/>
              </a:rPr>
              <a:t>KEY COMMERCIAL SIGNALS</a:t>
            </a:r>
          </a:p>
        </p:txBody>
      </p:sp>
      <p:sp>
        <p:nvSpPr>
          <p:cNvPr id="42" name="TextBox 41"/>
          <p:cNvSpPr txBox="1"/>
          <p:nvPr/>
        </p:nvSpPr>
        <p:spPr>
          <a:xfrm>
            <a:off x="274320" y="4297680"/>
            <a:ext cx="11640312" cy="1965960"/>
          </a:xfrm>
          <a:prstGeom prst="rect">
            <a:avLst/>
          </a:prstGeom>
          <a:noFill/>
        </p:spPr>
        <p:txBody>
          <a:bodyPr wrap="square">
            <a:noAutofit/>
          </a:bodyPr>
          <a:lstStyle/>
          <a:p>
            <a:pPr>
              <a:lnSpc>
                <a:spcPct val="105000"/>
              </a:lnSpc>
              <a:spcAft>
                <a:spcPts val="600"/>
              </a:spcAft>
            </a:pPr>
            <a:r>
              <a:rPr sz="1200" b="1">
                <a:solidFill>
                  <a:srgbClr val="F6A102"/>
                </a:solidFill>
              </a:rPr>
              <a:t>•  </a:t>
            </a:r>
            <a:r>
              <a:rPr sz="1200">
                <a:solidFill>
                  <a:srgbClr val="000000"/>
                </a:solidFill>
              </a:rPr>
              <a:t>Revenue nearly doubled, 7.43 million to 12.8 million, in two years on flat headcount of 19.</a:t>
            </a:r>
          </a:p>
          <a:p>
            <a:pPr>
              <a:lnSpc>
                <a:spcPct val="105000"/>
              </a:lnSpc>
              <a:spcAft>
                <a:spcPts val="600"/>
              </a:spcAft>
            </a:pPr>
            <a:r>
              <a:rPr sz="1200" b="1">
                <a:solidFill>
                  <a:srgbClr val="F6A102"/>
                </a:solidFill>
              </a:rPr>
              <a:t>•  </a:t>
            </a:r>
            <a:r>
              <a:rPr sz="1200">
                <a:solidFill>
                  <a:srgbClr val="000000"/>
                </a:solidFill>
              </a:rPr>
              <a:t>Public target of 50 to 60 percent revenue growth a year for three years, funded organically.</a:t>
            </a:r>
          </a:p>
          <a:p>
            <a:pPr>
              <a:lnSpc>
                <a:spcPct val="105000"/>
              </a:lnSpc>
              <a:spcAft>
                <a:spcPts val="600"/>
              </a:spcAft>
            </a:pPr>
            <a:r>
              <a:rPr sz="1200" b="1">
                <a:solidFill>
                  <a:srgbClr val="F6A102"/>
                </a:solidFill>
              </a:rPr>
              <a:t>•  </a:t>
            </a:r>
            <a:r>
              <a:rPr sz="1200">
                <a:solidFill>
                  <a:srgbClr val="000000"/>
                </a:solidFill>
              </a:rPr>
              <a:t>RentSafe has completed over 140,000 jobs across 20 consumer brands and 300 real estate offices.</a:t>
            </a:r>
          </a:p>
          <a:p>
            <a:pPr>
              <a:lnSpc>
                <a:spcPct val="105000"/>
              </a:lnSpc>
              <a:spcAft>
                <a:spcPts val="600"/>
              </a:spcAft>
            </a:pPr>
            <a:r>
              <a:rPr sz="1200" b="1">
                <a:solidFill>
                  <a:srgbClr val="F6A102"/>
                </a:solidFill>
              </a:rPr>
              <a:t>•  </a:t>
            </a:r>
            <a:r>
              <a:rPr sz="1200">
                <a:solidFill>
                  <a:srgbClr val="000000"/>
                </a:solidFill>
              </a:rPr>
              <a:t>RentRepair adds a new subscription revenue line at 59 dollars a month per property.</a:t>
            </a:r>
          </a:p>
          <a:p>
            <a:pPr>
              <a:lnSpc>
                <a:spcPct val="105000"/>
              </a:lnSpc>
              <a:spcAft>
                <a:spcPts val="600"/>
              </a:spcAft>
            </a:pPr>
            <a:r>
              <a:rPr sz="1200" b="1">
                <a:solidFill>
                  <a:srgbClr val="F6A102"/>
                </a:solidFill>
              </a:rPr>
              <a:t>•  </a:t>
            </a:r>
            <a:r>
              <a:rPr sz="1200">
                <a:solidFill>
                  <a:srgbClr val="000000"/>
                </a:solidFill>
              </a:rPr>
              <a:t>Victorian State Winner, Outstanding Growth, 2024 Telstra Best of Business Awards.</a:t>
            </a:r>
          </a:p>
          <a:p>
            <a:pPr>
              <a:lnSpc>
                <a:spcPct val="105000"/>
              </a:lnSpc>
              <a:spcAft>
                <a:spcPts val="600"/>
              </a:spcAft>
            </a:pPr>
            <a:r>
              <a:rPr sz="1200" b="1">
                <a:solidFill>
                  <a:srgbClr val="F6A102"/>
                </a:solidFill>
              </a:rPr>
              <a:t>•  </a:t>
            </a:r>
            <a:r>
              <a:rPr sz="1200">
                <a:solidFill>
                  <a:srgbClr val="000000"/>
                </a:solidFill>
              </a:rPr>
              <a:t>Winner, 2024 Proptech Association Awards, among 125 competing companies nationally.</a:t>
            </a:r>
          </a:p>
        </p:txBody>
      </p:sp>
      <p:sp>
        <p:nvSpPr>
          <p:cNvPr id="43" name="TextBox 42"/>
          <p:cNvSpPr txBox="1"/>
          <p:nvPr/>
        </p:nvSpPr>
        <p:spPr>
          <a:xfrm>
            <a:off x="274320" y="6144768"/>
            <a:ext cx="11640312" cy="228600"/>
          </a:xfrm>
          <a:prstGeom prst="rect">
            <a:avLst/>
          </a:prstGeom>
          <a:noFill/>
        </p:spPr>
        <p:txBody>
          <a:bodyPr wrap="square">
            <a:noAutofit/>
          </a:bodyPr>
          <a:lstStyle/>
          <a:p>
            <a:pPr algn="l"/>
            <a:r>
              <a:rPr sz="750" b="0" i="0">
                <a:solidFill>
                  <a:srgbClr val="000000"/>
                </a:solidFill>
                <a:latin typeface="Calibri"/>
              </a:rPr>
              <a:t>Source: SmartCompany Smart50 award citations 2023 to 2025; Telstra Best of Business Awards 2024; taskforce.com.au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oAutofit/>
          </a:bodyPr>
          <a:lstStyle/>
          <a:p>
            <a:pPr algn="l"/>
            <a:r>
              <a:rPr sz="1200" b="1" i="0">
                <a:solidFill>
                  <a:srgbClr val="E6E5DE"/>
                </a:solidFill>
                <a:latin typeface="Calibri"/>
              </a:rPr>
              <a:t>THE OPPORTUNITY</a:t>
            </a:r>
          </a:p>
        </p:txBody>
      </p:sp>
      <p:sp>
        <p:nvSpPr>
          <p:cNvPr id="5" name="TextBox 4"/>
          <p:cNvSpPr txBox="1"/>
          <p:nvPr/>
        </p:nvSpPr>
        <p:spPr>
          <a:xfrm>
            <a:off x="8686800" y="292608"/>
            <a:ext cx="3291840" cy="365760"/>
          </a:xfrm>
          <a:prstGeom prst="rect">
            <a:avLst/>
          </a:prstGeom>
          <a:noFill/>
        </p:spPr>
        <p:txBody>
          <a:bodyPr wrap="square">
            <a:noAutofit/>
          </a:bodyPr>
          <a:lstStyle/>
          <a:p>
            <a:pPr algn="r"/>
            <a:r>
              <a:rPr sz="1200" b="1" i="0">
                <a:solidFill>
                  <a:srgbClr val="01A296"/>
                </a:solidFill>
                <a:latin typeface="Calibri"/>
              </a:rPr>
              <a:t>PROFITPULSE</a:t>
            </a:r>
          </a:p>
        </p:txBody>
      </p:sp>
      <p:sp>
        <p:nvSpPr>
          <p:cNvPr id="6" name="Rectangle 5"/>
          <p:cNvSpPr/>
          <p:nvPr/>
        </p:nvSpPr>
        <p:spPr>
          <a:xfrm>
            <a:off x="274320" y="6419088"/>
            <a:ext cx="11640312" cy="952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473952"/>
            <a:ext cx="8686800" cy="320040"/>
          </a:xfrm>
          <a:prstGeom prst="rect">
            <a:avLst/>
          </a:prstGeom>
          <a:noFill/>
        </p:spPr>
        <p:txBody>
          <a:bodyPr wrap="square">
            <a:noAutofit/>
          </a:bodyPr>
          <a:lstStyle/>
          <a:p>
            <a:pPr algn="l"/>
            <a:r>
              <a:rPr sz="800" b="0" i="0">
                <a:solidFill>
                  <a:srgbClr val="000000"/>
                </a:solidFill>
                <a:latin typeface="Calibri"/>
              </a:rPr>
              <a:t>Prepared by Nitesh Roopa CA, Managing Partner and Founder, ProfitPulse, Profit-Pulse.com.au</a:t>
            </a:r>
          </a:p>
        </p:txBody>
      </p:sp>
      <p:sp>
        <p:nvSpPr>
          <p:cNvPr id="8" name="TextBox 7"/>
          <p:cNvSpPr txBox="1"/>
          <p:nvPr/>
        </p:nvSpPr>
        <p:spPr>
          <a:xfrm>
            <a:off x="9601200" y="6473952"/>
            <a:ext cx="2313432" cy="320040"/>
          </a:xfrm>
          <a:prstGeom prst="rect">
            <a:avLst/>
          </a:prstGeom>
          <a:noFill/>
        </p:spPr>
        <p:txBody>
          <a:bodyPr wrap="square">
            <a:noAutofit/>
          </a:bodyPr>
          <a:lstStyle/>
          <a:p>
            <a:pPr algn="r"/>
            <a:r>
              <a:rPr sz="800" b="0" i="0">
                <a:solidFill>
                  <a:srgbClr val="000000"/>
                </a:solidFill>
                <a:latin typeface="Calibri"/>
              </a:rPr>
              <a:t>08 Jul 2026</a:t>
            </a:r>
          </a:p>
        </p:txBody>
      </p:sp>
      <p:sp>
        <p:nvSpPr>
          <p:cNvPr id="9" name="TextBox 8"/>
          <p:cNvSpPr txBox="1"/>
          <p:nvPr/>
        </p:nvSpPr>
        <p:spPr>
          <a:xfrm>
            <a:off x="274320" y="1051560"/>
            <a:ext cx="11612880" cy="365760"/>
          </a:xfrm>
          <a:prstGeom prst="rect">
            <a:avLst/>
          </a:prstGeom>
          <a:noFill/>
        </p:spPr>
        <p:txBody>
          <a:bodyPr wrap="square">
            <a:noAutofit/>
          </a:bodyPr>
          <a:lstStyle/>
          <a:p>
            <a:pPr algn="l"/>
            <a:r>
              <a:rPr sz="1500" b="1" i="0">
                <a:solidFill>
                  <a:srgbClr val="000000"/>
                </a:solidFill>
                <a:latin typeface="Georgia"/>
              </a:rPr>
              <a:t>Taskforce Australia: three commercial observations from ProfitPulse</a:t>
            </a:r>
          </a:p>
        </p:txBody>
      </p:sp>
      <p:sp>
        <p:nvSpPr>
          <p:cNvPr id="10" name="Rectangle 9"/>
          <p:cNvSpPr/>
          <p:nvPr/>
        </p:nvSpPr>
        <p:spPr>
          <a:xfrm>
            <a:off x="274320" y="1600200"/>
            <a:ext cx="3795674" cy="416052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801368"/>
            <a:ext cx="3338474" cy="685800"/>
          </a:xfrm>
          <a:prstGeom prst="rect">
            <a:avLst/>
          </a:prstGeom>
          <a:noFill/>
        </p:spPr>
        <p:txBody>
          <a:bodyPr wrap="square">
            <a:noAutofit/>
          </a:bodyPr>
          <a:lstStyle/>
          <a:p>
            <a:pPr algn="l"/>
            <a:r>
              <a:rPr sz="4000" b="1" i="0">
                <a:solidFill>
                  <a:srgbClr val="000000"/>
                </a:solidFill>
                <a:latin typeface="Calibri"/>
              </a:rPr>
              <a:t>01</a:t>
            </a:r>
          </a:p>
        </p:txBody>
      </p:sp>
      <p:sp>
        <p:nvSpPr>
          <p:cNvPr id="12" name="TextBox 11"/>
          <p:cNvSpPr txBox="1"/>
          <p:nvPr/>
        </p:nvSpPr>
        <p:spPr>
          <a:xfrm>
            <a:off x="502920" y="2514600"/>
            <a:ext cx="3338474" cy="685800"/>
          </a:xfrm>
          <a:prstGeom prst="rect">
            <a:avLst/>
          </a:prstGeom>
          <a:noFill/>
        </p:spPr>
        <p:txBody>
          <a:bodyPr wrap="square">
            <a:noAutofit/>
          </a:bodyPr>
          <a:lstStyle/>
          <a:p>
            <a:pPr algn="l">
              <a:lnSpc>
                <a:spcPct val="105000"/>
              </a:lnSpc>
            </a:pPr>
            <a:r>
              <a:rPr sz="1500" b="1" i="0">
                <a:solidFill>
                  <a:srgbClr val="000000"/>
                </a:solidFill>
                <a:latin typeface="Calibri"/>
              </a:rPr>
              <a:t>Three products, one blended number</a:t>
            </a:r>
          </a:p>
        </p:txBody>
      </p:sp>
      <p:sp>
        <p:nvSpPr>
          <p:cNvPr id="13" name="TextBox 12"/>
          <p:cNvSpPr txBox="1"/>
          <p:nvPr/>
        </p:nvSpPr>
        <p:spPr>
          <a:xfrm>
            <a:off x="502920" y="3200400"/>
            <a:ext cx="3338474" cy="2377440"/>
          </a:xfrm>
          <a:prstGeom prst="rect">
            <a:avLst/>
          </a:prstGeom>
          <a:noFill/>
        </p:spPr>
        <p:txBody>
          <a:bodyPr wrap="square">
            <a:noAutofit/>
          </a:bodyPr>
          <a:lstStyle/>
          <a:p>
            <a:pPr algn="l">
              <a:lnSpc>
                <a:spcPct val="118000"/>
              </a:lnSpc>
              <a:spcAft>
                <a:spcPts val="0"/>
              </a:spcAft>
            </a:pPr>
            <a:r>
              <a:rPr sz="1100" b="0">
                <a:solidFill>
                  <a:srgbClr val="000000"/>
                </a:solidFill>
                <a:latin typeface="Calibri"/>
              </a:rPr>
              <a:t>TradieConnect prices by the job, RentSafe runs on real estate office contracts, and RentRepair charges a flat 59 dollars a month. The Smart50 citation reports one blended figure across all three, 12.8 million dollars and 31 percent growth. That number cannot show which line is funding the next stage, and which is being carried by the other two.</a:t>
            </a:r>
          </a:p>
        </p:txBody>
      </p:sp>
      <p:sp>
        <p:nvSpPr>
          <p:cNvPr id="14" name="Rectangle 13"/>
          <p:cNvSpPr/>
          <p:nvPr/>
        </p:nvSpPr>
        <p:spPr>
          <a:xfrm>
            <a:off x="4198010" y="1600200"/>
            <a:ext cx="3795674" cy="41605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6610" y="1801368"/>
            <a:ext cx="3338474" cy="685800"/>
          </a:xfrm>
          <a:prstGeom prst="rect">
            <a:avLst/>
          </a:prstGeom>
          <a:noFill/>
        </p:spPr>
        <p:txBody>
          <a:bodyPr wrap="square">
            <a:noAutofit/>
          </a:bodyPr>
          <a:lstStyle/>
          <a:p>
            <a:pPr algn="l"/>
            <a:r>
              <a:rPr sz="4000" b="1" i="0">
                <a:solidFill>
                  <a:srgbClr val="E6E5DE"/>
                </a:solidFill>
                <a:latin typeface="Calibri"/>
              </a:rPr>
              <a:t>02</a:t>
            </a:r>
          </a:p>
        </p:txBody>
      </p:sp>
      <p:sp>
        <p:nvSpPr>
          <p:cNvPr id="16" name="TextBox 15"/>
          <p:cNvSpPr txBox="1"/>
          <p:nvPr/>
        </p:nvSpPr>
        <p:spPr>
          <a:xfrm>
            <a:off x="4426610" y="2514600"/>
            <a:ext cx="3338474" cy="685800"/>
          </a:xfrm>
          <a:prstGeom prst="rect">
            <a:avLst/>
          </a:prstGeom>
          <a:noFill/>
        </p:spPr>
        <p:txBody>
          <a:bodyPr wrap="square">
            <a:noAutofit/>
          </a:bodyPr>
          <a:lstStyle/>
          <a:p>
            <a:pPr algn="l">
              <a:lnSpc>
                <a:spcPct val="105000"/>
              </a:lnSpc>
            </a:pPr>
            <a:r>
              <a:rPr sz="1500" b="1" i="0">
                <a:solidFill>
                  <a:srgbClr val="E6E5DE"/>
                </a:solidFill>
                <a:latin typeface="Calibri"/>
              </a:rPr>
              <a:t>Flat headcount, rising revenue</a:t>
            </a:r>
          </a:p>
        </p:txBody>
      </p:sp>
      <p:sp>
        <p:nvSpPr>
          <p:cNvPr id="17" name="TextBox 16"/>
          <p:cNvSpPr txBox="1"/>
          <p:nvPr/>
        </p:nvSpPr>
        <p:spPr>
          <a:xfrm>
            <a:off x="4426610" y="3200400"/>
            <a:ext cx="3338474" cy="2377440"/>
          </a:xfrm>
          <a:prstGeom prst="rect">
            <a:avLst/>
          </a:prstGeom>
          <a:noFill/>
        </p:spPr>
        <p:txBody>
          <a:bodyPr wrap="square">
            <a:noAutofit/>
          </a:bodyPr>
          <a:lstStyle/>
          <a:p>
            <a:pPr algn="l">
              <a:lnSpc>
                <a:spcPct val="118000"/>
              </a:lnSpc>
              <a:spcAft>
                <a:spcPts val="0"/>
              </a:spcAft>
            </a:pPr>
            <a:r>
              <a:rPr sz="1100" b="0">
                <a:solidFill>
                  <a:srgbClr val="E6E5DE"/>
                </a:solidFill>
                <a:latin typeface="Calibri"/>
              </a:rPr>
              <a:t>Revenue rose from 7.43 million in 2023 to 12.8 million in 2025 while Smart50 citations show headcount unchanged at 19. That is a genuine productivity gain, but those same 19 people now run three product lines instead of one. Without a line by line view, it is hard to know if that gain is spread evenly or concentrated in a single line.</a:t>
            </a:r>
          </a:p>
        </p:txBody>
      </p:sp>
      <p:sp>
        <p:nvSpPr>
          <p:cNvPr id="18" name="Rectangle 17"/>
          <p:cNvSpPr/>
          <p:nvPr/>
        </p:nvSpPr>
        <p:spPr>
          <a:xfrm>
            <a:off x="8121700" y="1600200"/>
            <a:ext cx="3795674" cy="4160520"/>
          </a:xfrm>
          <a:prstGeom prst="rect">
            <a:avLst/>
          </a:prstGeom>
          <a:solidFill>
            <a:srgbClr val="E3A7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50300" y="1801368"/>
            <a:ext cx="3338474" cy="685800"/>
          </a:xfrm>
          <a:prstGeom prst="rect">
            <a:avLst/>
          </a:prstGeom>
          <a:noFill/>
        </p:spPr>
        <p:txBody>
          <a:bodyPr wrap="square">
            <a:noAutofit/>
          </a:bodyPr>
          <a:lstStyle/>
          <a:p>
            <a:pPr algn="l"/>
            <a:r>
              <a:rPr sz="4000" b="1" i="0">
                <a:solidFill>
                  <a:srgbClr val="000000"/>
                </a:solidFill>
                <a:latin typeface="Calibri"/>
              </a:rPr>
              <a:t>03</a:t>
            </a:r>
          </a:p>
        </p:txBody>
      </p:sp>
      <p:sp>
        <p:nvSpPr>
          <p:cNvPr id="20" name="TextBox 19"/>
          <p:cNvSpPr txBox="1"/>
          <p:nvPr/>
        </p:nvSpPr>
        <p:spPr>
          <a:xfrm>
            <a:off x="8350300" y="2514600"/>
            <a:ext cx="3338474" cy="685800"/>
          </a:xfrm>
          <a:prstGeom prst="rect">
            <a:avLst/>
          </a:prstGeom>
          <a:noFill/>
        </p:spPr>
        <p:txBody>
          <a:bodyPr wrap="square">
            <a:noAutofit/>
          </a:bodyPr>
          <a:lstStyle/>
          <a:p>
            <a:pPr algn="l">
              <a:lnSpc>
                <a:spcPct val="105000"/>
              </a:lnSpc>
            </a:pPr>
            <a:r>
              <a:rPr sz="1500" b="1" i="0">
                <a:solidFill>
                  <a:srgbClr val="000000"/>
                </a:solidFill>
                <a:latin typeface="Calibri"/>
              </a:rPr>
              <a:t>A target without a stated plan</a:t>
            </a:r>
          </a:p>
        </p:txBody>
      </p:sp>
      <p:sp>
        <p:nvSpPr>
          <p:cNvPr id="21" name="TextBox 20"/>
          <p:cNvSpPr txBox="1"/>
          <p:nvPr/>
        </p:nvSpPr>
        <p:spPr>
          <a:xfrm>
            <a:off x="8350300" y="3200400"/>
            <a:ext cx="3338474" cy="2377440"/>
          </a:xfrm>
          <a:prstGeom prst="rect">
            <a:avLst/>
          </a:prstGeom>
          <a:noFill/>
        </p:spPr>
        <p:txBody>
          <a:bodyPr wrap="square">
            <a:noAutofit/>
          </a:bodyPr>
          <a:lstStyle/>
          <a:p>
            <a:pPr algn="l">
              <a:lnSpc>
                <a:spcPct val="118000"/>
              </a:lnSpc>
              <a:spcAft>
                <a:spcPts val="0"/>
              </a:spcAft>
            </a:pPr>
            <a:r>
              <a:rPr sz="1100" b="0">
                <a:solidFill>
                  <a:srgbClr val="000000"/>
                </a:solidFill>
                <a:latin typeface="Calibri"/>
              </a:rPr>
              <a:t>Taskforce has told SmartCompany it is targeting 50 to 60 percent revenue growth a year for three years, funded organically rather than through a further raise. No public source breaks that target down by product line or states where the investment goes first. A costed, line by line view would turn the public ambition into a working plan.</a:t>
            </a:r>
          </a:p>
        </p:txBody>
      </p:sp>
      <p:sp>
        <p:nvSpPr>
          <p:cNvPr id="22" name="TextBox 21"/>
          <p:cNvSpPr txBox="1"/>
          <p:nvPr/>
        </p:nvSpPr>
        <p:spPr>
          <a:xfrm>
            <a:off x="274320" y="5852160"/>
            <a:ext cx="11640312" cy="502920"/>
          </a:xfrm>
          <a:prstGeom prst="rect">
            <a:avLst/>
          </a:prstGeom>
          <a:noFill/>
        </p:spPr>
        <p:txBody>
          <a:bodyPr wrap="square">
            <a:noAutofit/>
          </a:bodyPr>
          <a:lstStyle/>
          <a:p>
            <a:pPr algn="l">
              <a:lnSpc>
                <a:spcPct val="110000"/>
              </a:lnSpc>
              <a:spcAft>
                <a:spcPts val="600"/>
              </a:spcAft>
            </a:pPr>
            <a:r>
              <a:rPr sz="1100" b="0">
                <a:solidFill>
                  <a:srgbClr val="000000"/>
                </a:solidFill>
                <a:latin typeface="Calibri"/>
              </a:rPr>
              <a:t>These observations are offered in good faith. Taskforce has built something genuinely fast growing. The question is simply whether the margin behind each line matches the ambition in front of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292608"/>
            <a:ext cx="7772400" cy="365760"/>
          </a:xfrm>
          <a:prstGeom prst="rect">
            <a:avLst/>
          </a:prstGeom>
          <a:noFill/>
        </p:spPr>
        <p:txBody>
          <a:bodyPr wrap="square">
            <a:noAutofit/>
          </a:bodyPr>
          <a:lstStyle/>
          <a:p>
            <a:pPr algn="l"/>
            <a:r>
              <a:rPr sz="1200" b="1" i="0">
                <a:solidFill>
                  <a:srgbClr val="E6E5DE"/>
                </a:solidFill>
                <a:latin typeface="Calibri"/>
              </a:rPr>
              <a:t>THE RECOMMENDATION</a:t>
            </a:r>
          </a:p>
        </p:txBody>
      </p:sp>
      <p:sp>
        <p:nvSpPr>
          <p:cNvPr id="5" name="TextBox 4"/>
          <p:cNvSpPr txBox="1"/>
          <p:nvPr/>
        </p:nvSpPr>
        <p:spPr>
          <a:xfrm>
            <a:off x="8686800" y="292608"/>
            <a:ext cx="3291840" cy="365760"/>
          </a:xfrm>
          <a:prstGeom prst="rect">
            <a:avLst/>
          </a:prstGeom>
          <a:noFill/>
        </p:spPr>
        <p:txBody>
          <a:bodyPr wrap="square">
            <a:noAutofit/>
          </a:bodyPr>
          <a:lstStyle/>
          <a:p>
            <a:pPr algn="r"/>
            <a:r>
              <a:rPr sz="1200" b="1" i="0">
                <a:solidFill>
                  <a:srgbClr val="01A296"/>
                </a:solidFill>
                <a:latin typeface="Calibri"/>
              </a:rPr>
              <a:t>PROFITPULSE</a:t>
            </a:r>
          </a:p>
        </p:txBody>
      </p:sp>
      <p:sp>
        <p:nvSpPr>
          <p:cNvPr id="6" name="Rectangle 5"/>
          <p:cNvSpPr/>
          <p:nvPr/>
        </p:nvSpPr>
        <p:spPr>
          <a:xfrm>
            <a:off x="274320" y="6419088"/>
            <a:ext cx="11640312" cy="9525"/>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473952"/>
            <a:ext cx="8686800" cy="320040"/>
          </a:xfrm>
          <a:prstGeom prst="rect">
            <a:avLst/>
          </a:prstGeom>
          <a:noFill/>
        </p:spPr>
        <p:txBody>
          <a:bodyPr wrap="square">
            <a:noAutofit/>
          </a:bodyPr>
          <a:lstStyle/>
          <a:p>
            <a:pPr algn="l"/>
            <a:r>
              <a:rPr sz="800" b="0" i="0">
                <a:solidFill>
                  <a:srgbClr val="000000"/>
                </a:solidFill>
                <a:latin typeface="Calibri"/>
              </a:rPr>
              <a:t>Prepared by Nitesh Roopa CA, Managing Partner and Founder, ProfitPulse, Profit-Pulse.com.au</a:t>
            </a:r>
          </a:p>
        </p:txBody>
      </p:sp>
      <p:sp>
        <p:nvSpPr>
          <p:cNvPr id="8" name="TextBox 7"/>
          <p:cNvSpPr txBox="1"/>
          <p:nvPr/>
        </p:nvSpPr>
        <p:spPr>
          <a:xfrm>
            <a:off x="9601200" y="6473952"/>
            <a:ext cx="2313432" cy="320040"/>
          </a:xfrm>
          <a:prstGeom prst="rect">
            <a:avLst/>
          </a:prstGeom>
          <a:noFill/>
        </p:spPr>
        <p:txBody>
          <a:bodyPr wrap="square">
            <a:noAutofit/>
          </a:bodyPr>
          <a:lstStyle/>
          <a:p>
            <a:pPr algn="r"/>
            <a:r>
              <a:rPr sz="800" b="0" i="0">
                <a:solidFill>
                  <a:srgbClr val="000000"/>
                </a:solidFill>
                <a:latin typeface="Calibri"/>
              </a:rPr>
              <a:t>08 Jul 2026</a:t>
            </a:r>
          </a:p>
        </p:txBody>
      </p:sp>
      <p:sp>
        <p:nvSpPr>
          <p:cNvPr id="9" name="TextBox 8"/>
          <p:cNvSpPr txBox="1"/>
          <p:nvPr/>
        </p:nvSpPr>
        <p:spPr>
          <a:xfrm>
            <a:off x="274320" y="1051560"/>
            <a:ext cx="6949440" cy="502920"/>
          </a:xfrm>
          <a:prstGeom prst="rect">
            <a:avLst/>
          </a:prstGeom>
          <a:noFill/>
        </p:spPr>
        <p:txBody>
          <a:bodyPr wrap="square">
            <a:noAutofit/>
          </a:bodyPr>
          <a:lstStyle/>
          <a:p>
            <a:pPr algn="l"/>
            <a:r>
              <a:rPr sz="2200" b="1" i="0">
                <a:solidFill>
                  <a:srgbClr val="000000"/>
                </a:solidFill>
                <a:latin typeface="Georgia"/>
              </a:rPr>
              <a:t>Product and Service Line Profitability</a:t>
            </a:r>
          </a:p>
        </p:txBody>
      </p:sp>
      <p:sp>
        <p:nvSpPr>
          <p:cNvPr id="10" name="TextBox 9"/>
          <p:cNvSpPr txBox="1"/>
          <p:nvPr/>
        </p:nvSpPr>
        <p:spPr>
          <a:xfrm>
            <a:off x="274320" y="1536192"/>
            <a:ext cx="6949440" cy="365760"/>
          </a:xfrm>
          <a:prstGeom prst="rect">
            <a:avLst/>
          </a:prstGeom>
          <a:noFill/>
        </p:spPr>
        <p:txBody>
          <a:bodyPr wrap="square">
            <a:noAutofit/>
          </a:bodyPr>
          <a:lstStyle/>
          <a:p>
            <a:pPr algn="l"/>
            <a:r>
              <a:rPr sz="1800" b="1" i="0">
                <a:solidFill>
                  <a:srgbClr val="F6A102"/>
                </a:solidFill>
                <a:latin typeface="Calibri"/>
              </a:rPr>
              <a:t>$3,950 one off</a:t>
            </a:r>
          </a:p>
        </p:txBody>
      </p:sp>
      <p:sp>
        <p:nvSpPr>
          <p:cNvPr id="11" name="TextBox 10"/>
          <p:cNvSpPr txBox="1"/>
          <p:nvPr/>
        </p:nvSpPr>
        <p:spPr>
          <a:xfrm>
            <a:off x="274320" y="1938528"/>
            <a:ext cx="6949440" cy="685800"/>
          </a:xfrm>
          <a:prstGeom prst="rect">
            <a:avLst/>
          </a:prstGeom>
          <a:noFill/>
        </p:spPr>
        <p:txBody>
          <a:bodyPr wrap="square">
            <a:noAutofit/>
          </a:bodyPr>
          <a:lstStyle/>
          <a:p>
            <a:pPr algn="l">
              <a:lnSpc>
                <a:spcPct val="115000"/>
              </a:lnSpc>
              <a:spcAft>
                <a:spcPts val="600"/>
              </a:spcAft>
            </a:pPr>
            <a:r>
              <a:rPr sz="1200" b="0">
                <a:solidFill>
                  <a:srgbClr val="000000"/>
                </a:solidFill>
                <a:latin typeface="Calibri"/>
              </a:rPr>
              <a:t>Ranks TradieConnect, RentSafe and RentRepair by gross margin, contribution margin and operational drag, so growth effort follows the line that actually pays.</a:t>
            </a:r>
          </a:p>
        </p:txBody>
      </p:sp>
      <p:sp>
        <p:nvSpPr>
          <p:cNvPr id="12" name="Rectangle 11"/>
          <p:cNvSpPr/>
          <p:nvPr/>
        </p:nvSpPr>
        <p:spPr>
          <a:xfrm>
            <a:off x="274320" y="2697480"/>
            <a:ext cx="6949440" cy="1417320"/>
          </a:xfrm>
          <a:prstGeom prst="rect">
            <a:avLst/>
          </a:prstGeom>
          <a:solidFill>
            <a:srgbClr val="E6E5DE"/>
          </a:solidFill>
          <a:ln w="12700">
            <a:solidFill>
              <a:srgbClr val="01A2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825496"/>
            <a:ext cx="6583680" cy="320040"/>
          </a:xfrm>
          <a:prstGeom prst="rect">
            <a:avLst/>
          </a:prstGeom>
          <a:noFill/>
        </p:spPr>
        <p:txBody>
          <a:bodyPr wrap="square">
            <a:noAutofit/>
          </a:bodyPr>
          <a:lstStyle/>
          <a:p>
            <a:pPr algn="l"/>
            <a:r>
              <a:rPr sz="1300" b="1" i="0">
                <a:solidFill>
                  <a:srgbClr val="01A296"/>
                </a:solidFill>
                <a:latin typeface="Calibri"/>
              </a:rPr>
              <a:t>Step one, answer a few quick questions</a:t>
            </a:r>
          </a:p>
        </p:txBody>
      </p:sp>
      <p:sp>
        <p:nvSpPr>
          <p:cNvPr id="14" name="TextBox 13"/>
          <p:cNvSpPr txBox="1"/>
          <p:nvPr/>
        </p:nvSpPr>
        <p:spPr>
          <a:xfrm>
            <a:off x="457200" y="3172968"/>
            <a:ext cx="6583680" cy="274320"/>
          </a:xfrm>
          <a:prstGeom prst="rect">
            <a:avLst/>
          </a:prstGeom>
          <a:noFill/>
        </p:spPr>
        <p:txBody>
          <a:bodyPr wrap="square">
            <a:noAutofit/>
          </a:bodyPr>
          <a:lstStyle/>
          <a:p>
            <a:pPr algn="l"/>
            <a:r>
              <a:rPr sz="1100" b="0" i="0">
                <a:solidFill>
                  <a:srgbClr val="000000"/>
                </a:solidFill>
                <a:latin typeface="Calibri"/>
              </a:rPr>
              <a:t>See the solutions matched to your size and industry.</a:t>
            </a:r>
          </a:p>
        </p:txBody>
      </p:sp>
      <p:sp>
        <p:nvSpPr>
          <p:cNvPr id="15" name="TextBox 14"/>
          <p:cNvSpPr txBox="1"/>
          <p:nvPr/>
        </p:nvSpPr>
        <p:spPr>
          <a:xfrm>
            <a:off x="457200" y="3502152"/>
            <a:ext cx="6583680" cy="320040"/>
          </a:xfrm>
          <a:prstGeom prst="rect">
            <a:avLst/>
          </a:prstGeom>
          <a:noFill/>
        </p:spPr>
        <p:txBody>
          <a:bodyPr wrap="square">
            <a:noAutofit/>
          </a:bodyPr>
          <a:lstStyle/>
          <a:p>
            <a:pPr algn="l"/>
            <a:r>
              <a:rPr sz="1300" b="1" i="0">
                <a:solidFill>
                  <a:srgbClr val="01A296"/>
                </a:solidFill>
                <a:latin typeface="Calibri"/>
              </a:rPr>
              <a:t>profit-pulse.com.au/services/find-your-fit</a:t>
            </a:r>
          </a:p>
        </p:txBody>
      </p:sp>
      <p:sp>
        <p:nvSpPr>
          <p:cNvPr id="16" name="Rectangle 15">
            <a:hlinkClick r:id="rId2"/>
          </p:cNvPr>
          <p:cNvSpPr/>
          <p:nvPr/>
        </p:nvSpPr>
        <p:spPr>
          <a:xfrm>
            <a:off x="457200" y="3502152"/>
            <a:ext cx="658368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279392"/>
            <a:ext cx="6949440"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535424"/>
            <a:ext cx="6492240" cy="365760"/>
          </a:xfrm>
          <a:prstGeom prst="rect">
            <a:avLst/>
          </a:prstGeom>
          <a:noFill/>
        </p:spPr>
        <p:txBody>
          <a:bodyPr wrap="square">
            <a:noAutofit/>
          </a:bodyPr>
          <a:lstStyle/>
          <a:p>
            <a:pPr algn="l"/>
            <a:r>
              <a:rPr sz="1400" b="1" i="0">
                <a:solidFill>
                  <a:srgbClr val="F8C806"/>
                </a:solidFill>
                <a:latin typeface="Calibri"/>
              </a:rPr>
              <a:t>Purchase the suggested product now to get started</a:t>
            </a:r>
          </a:p>
        </p:txBody>
      </p:sp>
      <p:sp>
        <p:nvSpPr>
          <p:cNvPr id="19" name="Rectangle 18">
            <a:hlinkClick r:id="rId3"/>
          </p:cNvPr>
          <p:cNvSpPr/>
          <p:nvPr/>
        </p:nvSpPr>
        <p:spPr>
          <a:xfrm>
            <a:off x="502920" y="4535424"/>
            <a:ext cx="64922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5349240"/>
            <a:ext cx="6949440" cy="292608"/>
          </a:xfrm>
          <a:prstGeom prst="rect">
            <a:avLst/>
          </a:prstGeom>
          <a:noFill/>
        </p:spPr>
        <p:txBody>
          <a:bodyPr wrap="square">
            <a:noAutofit/>
          </a:bodyPr>
          <a:lstStyle/>
          <a:p>
            <a:pPr algn="l"/>
            <a:r>
              <a:rPr sz="1200" b="0" i="0">
                <a:solidFill>
                  <a:srgbClr val="000000"/>
                </a:solidFill>
                <a:latin typeface="Calibri"/>
              </a:rPr>
              <a:t>Prefer a conversation first?</a:t>
            </a:r>
          </a:p>
        </p:txBody>
      </p:sp>
      <p:sp>
        <p:nvSpPr>
          <p:cNvPr id="21" name="TextBox 20"/>
          <p:cNvSpPr txBox="1"/>
          <p:nvPr/>
        </p:nvSpPr>
        <p:spPr>
          <a:xfrm>
            <a:off x="274320" y="5650992"/>
            <a:ext cx="6949440" cy="320040"/>
          </a:xfrm>
          <a:prstGeom prst="rect">
            <a:avLst/>
          </a:prstGeom>
          <a:noFill/>
        </p:spPr>
        <p:txBody>
          <a:bodyPr wrap="square">
            <a:noAutofit/>
          </a:bodyPr>
          <a:lstStyle/>
          <a:p>
            <a:pPr algn="l"/>
            <a:r>
              <a:rPr sz="1200" b="1" i="0">
                <a:solidFill>
                  <a:srgbClr val="01A296"/>
                </a:solidFill>
                <a:latin typeface="Calibri"/>
              </a:rPr>
              <a:t>Book a complimentary discovery call</a:t>
            </a:r>
          </a:p>
        </p:txBody>
      </p:sp>
      <p:sp>
        <p:nvSpPr>
          <p:cNvPr id="22" name="Rectangle 21">
            <a:hlinkClick r:id="rId4"/>
          </p:cNvPr>
          <p:cNvSpPr/>
          <p:nvPr/>
        </p:nvSpPr>
        <p:spPr>
          <a:xfrm>
            <a:off x="274320" y="5650992"/>
            <a:ext cx="69494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52360" y="1051560"/>
            <a:ext cx="4462272" cy="43434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452360" y="1051560"/>
            <a:ext cx="4462272" cy="508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0" y="1280160"/>
            <a:ext cx="4005072" cy="411480"/>
          </a:xfrm>
          <a:prstGeom prst="rect">
            <a:avLst/>
          </a:prstGeom>
          <a:noFill/>
        </p:spPr>
        <p:txBody>
          <a:bodyPr wrap="square">
            <a:noAutofit/>
          </a:bodyPr>
          <a:lstStyle/>
          <a:p>
            <a:pPr algn="l"/>
            <a:r>
              <a:rPr sz="1900" b="1" i="0">
                <a:solidFill>
                  <a:srgbClr val="F8C806"/>
                </a:solidFill>
                <a:latin typeface="Georgia"/>
              </a:rPr>
              <a:t>Nitesh Roopa</a:t>
            </a:r>
          </a:p>
        </p:txBody>
      </p:sp>
      <p:sp>
        <p:nvSpPr>
          <p:cNvPr id="26" name="TextBox 25"/>
          <p:cNvSpPr txBox="1"/>
          <p:nvPr/>
        </p:nvSpPr>
        <p:spPr>
          <a:xfrm>
            <a:off x="7680960" y="1719072"/>
            <a:ext cx="4005072" cy="320040"/>
          </a:xfrm>
          <a:prstGeom prst="rect">
            <a:avLst/>
          </a:prstGeom>
          <a:noFill/>
        </p:spPr>
        <p:txBody>
          <a:bodyPr wrap="square">
            <a:noAutofit/>
          </a:bodyPr>
          <a:lstStyle/>
          <a:p>
            <a:pPr algn="l"/>
            <a:r>
              <a:rPr sz="1200" b="0" i="0">
                <a:solidFill>
                  <a:srgbClr val="FFFFFF"/>
                </a:solidFill>
                <a:latin typeface="Calibri"/>
              </a:rPr>
              <a:t>CA, Managing Partner, ProfitPulse</a:t>
            </a:r>
          </a:p>
        </p:txBody>
      </p:sp>
      <p:sp>
        <p:nvSpPr>
          <p:cNvPr id="27" name="TextBox 26"/>
          <p:cNvSpPr txBox="1"/>
          <p:nvPr/>
        </p:nvSpPr>
        <p:spPr>
          <a:xfrm>
            <a:off x="7680960" y="2212848"/>
            <a:ext cx="4005072" cy="320040"/>
          </a:xfrm>
          <a:prstGeom prst="rect">
            <a:avLst/>
          </a:prstGeom>
          <a:noFill/>
        </p:spPr>
        <p:txBody>
          <a:bodyPr wrap="square">
            <a:noAutofit/>
          </a:bodyPr>
          <a:lstStyle/>
          <a:p>
            <a:pPr algn="l"/>
            <a:r>
              <a:rPr sz="1100" b="0" i="0">
                <a:solidFill>
                  <a:srgbClr val="E6E5DE"/>
                </a:solidFill>
                <a:latin typeface="Calibri"/>
              </a:rPr>
              <a:t>16 years across 4 countries</a:t>
            </a:r>
          </a:p>
        </p:txBody>
      </p:sp>
      <p:sp>
        <p:nvSpPr>
          <p:cNvPr id="28" name="TextBox 27"/>
          <p:cNvSpPr txBox="1"/>
          <p:nvPr/>
        </p:nvSpPr>
        <p:spPr>
          <a:xfrm>
            <a:off x="7680960" y="2560320"/>
            <a:ext cx="4005072" cy="320040"/>
          </a:xfrm>
          <a:prstGeom prst="rect">
            <a:avLst/>
          </a:prstGeom>
          <a:noFill/>
        </p:spPr>
        <p:txBody>
          <a:bodyPr wrap="square">
            <a:noAutofit/>
          </a:bodyPr>
          <a:lstStyle/>
          <a:p>
            <a:pPr algn="l"/>
            <a:r>
              <a:rPr sz="1100" b="0" i="0">
                <a:solidFill>
                  <a:srgbClr val="E6E5DE"/>
                </a:solidFill>
                <a:latin typeface="Calibri"/>
              </a:rPr>
              <a:t>52 deals executed and managed</a:t>
            </a:r>
          </a:p>
        </p:txBody>
      </p:sp>
      <p:sp>
        <p:nvSpPr>
          <p:cNvPr id="29" name="TextBox 28"/>
          <p:cNvSpPr txBox="1"/>
          <p:nvPr/>
        </p:nvSpPr>
        <p:spPr>
          <a:xfrm>
            <a:off x="7680960" y="2907792"/>
            <a:ext cx="4005072" cy="320040"/>
          </a:xfrm>
          <a:prstGeom prst="rect">
            <a:avLst/>
          </a:prstGeom>
          <a:noFill/>
        </p:spPr>
        <p:txBody>
          <a:bodyPr wrap="square">
            <a:noAutofit/>
          </a:bodyPr>
          <a:lstStyle/>
          <a:p>
            <a:pPr algn="l"/>
            <a:r>
              <a:rPr sz="1100" b="0" i="0">
                <a:solidFill>
                  <a:srgbClr val="E6E5DE"/>
                </a:solidFill>
                <a:latin typeface="Calibri"/>
              </a:rPr>
              <a:t>Largest deal, USD 1.3 billion, Cahora Bassa</a:t>
            </a:r>
          </a:p>
        </p:txBody>
      </p:sp>
      <p:sp>
        <p:nvSpPr>
          <p:cNvPr id="30" name="TextBox 29"/>
          <p:cNvSpPr txBox="1"/>
          <p:nvPr/>
        </p:nvSpPr>
        <p:spPr>
          <a:xfrm>
            <a:off x="7680960" y="3255264"/>
            <a:ext cx="4005072" cy="320040"/>
          </a:xfrm>
          <a:prstGeom prst="rect">
            <a:avLst/>
          </a:prstGeom>
          <a:noFill/>
        </p:spPr>
        <p:txBody>
          <a:bodyPr wrap="square">
            <a:noAutofit/>
          </a:bodyPr>
          <a:lstStyle/>
          <a:p>
            <a:pPr algn="l"/>
            <a:r>
              <a:rPr sz="1100" b="0" i="0">
                <a:solidFill>
                  <a:srgbClr val="E6E5DE"/>
                </a:solidFill>
                <a:latin typeface="Calibri"/>
              </a:rPr>
              <a:t>Total GRBT project value over AUD 10 billion</a:t>
            </a:r>
          </a:p>
        </p:txBody>
      </p:sp>
      <p:sp>
        <p:nvSpPr>
          <p:cNvPr id="31" name="Rectangle 30"/>
          <p:cNvSpPr/>
          <p:nvPr/>
        </p:nvSpPr>
        <p:spPr>
          <a:xfrm>
            <a:off x="7680960" y="3657600"/>
            <a:ext cx="4005072" cy="12700"/>
          </a:xfrm>
          <a:prstGeom prst="rect">
            <a:avLst/>
          </a:prstGeom>
          <a:solidFill>
            <a:srgbClr val="01A2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0" y="3895344"/>
            <a:ext cx="4005072" cy="320040"/>
          </a:xfrm>
          <a:prstGeom prst="rect">
            <a:avLst/>
          </a:prstGeom>
          <a:noFill/>
        </p:spPr>
        <p:txBody>
          <a:bodyPr wrap="square">
            <a:noAutofit/>
          </a:bodyPr>
          <a:lstStyle/>
          <a:p>
            <a:pPr algn="l"/>
            <a:r>
              <a:rPr sz="1100" b="0" i="0">
                <a:solidFill>
                  <a:srgbClr val="E6E5DE"/>
                </a:solidFill>
                <a:latin typeface="Calibri"/>
              </a:rPr>
              <a:t>Profit-Pulse.com.au</a:t>
            </a:r>
          </a:p>
        </p:txBody>
      </p:sp>
      <p:sp>
        <p:nvSpPr>
          <p:cNvPr id="33" name="TextBox 32"/>
          <p:cNvSpPr txBox="1"/>
          <p:nvPr/>
        </p:nvSpPr>
        <p:spPr>
          <a:xfrm>
            <a:off x="7680960" y="4206240"/>
            <a:ext cx="4005072" cy="320040"/>
          </a:xfrm>
          <a:prstGeom prst="rect">
            <a:avLst/>
          </a:prstGeom>
          <a:noFill/>
        </p:spPr>
        <p:txBody>
          <a:bodyPr wrap="square">
            <a:noAutofit/>
          </a:bodyPr>
          <a:lstStyle/>
          <a:p>
            <a:pPr algn="l"/>
            <a:r>
              <a:rPr sz="1100" b="0" i="0">
                <a:solidFill>
                  <a:srgbClr val="E6E5DE"/>
                </a:solidFill>
                <a:latin typeface="Calibri"/>
              </a:rPr>
              <a:t>Nitesh@Profit-Pulse.com.au</a:t>
            </a:r>
          </a:p>
        </p:txBody>
      </p:sp>
      <p:sp>
        <p:nvSpPr>
          <p:cNvPr id="34" name="TextBox 33"/>
          <p:cNvSpPr txBox="1"/>
          <p:nvPr/>
        </p:nvSpPr>
        <p:spPr>
          <a:xfrm>
            <a:off x="7680960" y="4517136"/>
            <a:ext cx="4005072" cy="320040"/>
          </a:xfrm>
          <a:prstGeom prst="rect">
            <a:avLst/>
          </a:prstGeom>
          <a:noFill/>
        </p:spPr>
        <p:txBody>
          <a:bodyPr wrap="square">
            <a:noAutofit/>
          </a:bodyPr>
          <a:lstStyle/>
          <a:p>
            <a:pPr algn="l"/>
            <a:r>
              <a:rPr sz="1100" b="0" i="0">
                <a:solidFill>
                  <a:srgbClr val="E6E5DE"/>
                </a:solidFill>
                <a:latin typeface="Calibri"/>
              </a:rPr>
              <a:t>+61 411 876 267</a:t>
            </a:r>
          </a:p>
        </p:txBody>
      </p:sp>
      <p:sp>
        <p:nvSpPr>
          <p:cNvPr id="35" name="TextBox 34"/>
          <p:cNvSpPr txBox="1"/>
          <p:nvPr/>
        </p:nvSpPr>
        <p:spPr>
          <a:xfrm>
            <a:off x="7680960" y="4828032"/>
            <a:ext cx="4005072" cy="320040"/>
          </a:xfrm>
          <a:prstGeom prst="rect">
            <a:avLst/>
          </a:prstGeom>
          <a:noFill/>
        </p:spPr>
        <p:txBody>
          <a:bodyPr wrap="square">
            <a:noAutofit/>
          </a:bodyPr>
          <a:lstStyle/>
          <a:p>
            <a:pPr algn="l"/>
            <a:r>
              <a:rPr sz="1100" b="0" i="0">
                <a:solidFill>
                  <a:srgbClr val="E6E5DE"/>
                </a:solidFill>
                <a:latin typeface="Calibri"/>
              </a:rPr>
              <a:t>linkedin.com/in/nitesh-roopa-77594163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