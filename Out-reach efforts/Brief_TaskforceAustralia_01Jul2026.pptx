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rofit-pulse.com.au/full-suite-of-products" TargetMode="External"/><Relationship Id="rId3" Type="http://schemas.openxmlformats.org/officeDocument/2006/relationships/hyperlink" Target="https://buy.stripe.com/eVqdRad9e66cftK23Z3ks0h" TargetMode="External"/><Relationship Id="rId4" Type="http://schemas.openxmlformats.org/officeDocument/2006/relationships/hyperlink" Target="https://bookings.cloud.microsoft/book/ProfitPulse1@profit-pulse.com.au/?ismsaljsauthenabled=true"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F8C8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0"/>
            <a:ext cx="12100255" cy="8686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201168"/>
            <a:ext cx="8229600" cy="457200"/>
          </a:xfrm>
          <a:prstGeom prst="rect">
            <a:avLst/>
          </a:prstGeom>
          <a:noFill/>
        </p:spPr>
        <p:txBody>
          <a:bodyPr wrap="square">
            <a:spAutoFit/>
          </a:bodyPr>
          <a:lstStyle/>
          <a:p>
            <a:pPr algn="l"/>
            <a:r>
              <a:rPr sz="1100" b="1" i="0">
                <a:solidFill>
                  <a:srgbClr val="E6E5DE"/>
                </a:solidFill>
                <a:latin typeface="Arial"/>
              </a:rPr>
              <a:t>COMMERCIAL INTELLIGENCE BRIEF</a:t>
            </a:r>
          </a:p>
        </p:txBody>
      </p:sp>
      <p:sp>
        <p:nvSpPr>
          <p:cNvPr id="5" name="TextBox 4"/>
          <p:cNvSpPr txBox="1"/>
          <p:nvPr/>
        </p:nvSpPr>
        <p:spPr>
          <a:xfrm>
            <a:off x="9144000" y="201168"/>
            <a:ext cx="2834640" cy="457200"/>
          </a:xfrm>
          <a:prstGeom prst="rect">
            <a:avLst/>
          </a:prstGeom>
          <a:noFill/>
        </p:spPr>
        <p:txBody>
          <a:bodyPr wrap="square">
            <a:spAutoFit/>
          </a:bodyPr>
          <a:lstStyle/>
          <a:p>
            <a:pPr algn="r"/>
            <a:r>
              <a:rPr sz="1100" b="1" i="0">
                <a:solidFill>
                  <a:srgbClr val="E6E5DE"/>
                </a:solidFill>
                <a:latin typeface="Arial"/>
              </a:rPr>
              <a:t>PROFITPULSE</a:t>
            </a:r>
          </a:p>
        </p:txBody>
      </p:sp>
      <p:sp>
        <p:nvSpPr>
          <p:cNvPr id="6" name="TextBox 5"/>
          <p:cNvSpPr txBox="1"/>
          <p:nvPr/>
        </p:nvSpPr>
        <p:spPr>
          <a:xfrm>
            <a:off x="228600" y="932688"/>
            <a:ext cx="8686800" cy="658368"/>
          </a:xfrm>
          <a:prstGeom prst="rect">
            <a:avLst/>
          </a:prstGeom>
          <a:noFill/>
        </p:spPr>
        <p:txBody>
          <a:bodyPr wrap="square">
            <a:spAutoFit/>
          </a:bodyPr>
          <a:lstStyle/>
          <a:p>
            <a:pPr algn="l"/>
            <a:r>
              <a:rPr sz="4400" b="1" i="0">
                <a:solidFill>
                  <a:srgbClr val="000000"/>
                </a:solidFill>
                <a:latin typeface="Cambria"/>
              </a:rPr>
              <a:t>Taskforce Australia</a:t>
            </a:r>
          </a:p>
        </p:txBody>
      </p:sp>
      <p:sp>
        <p:nvSpPr>
          <p:cNvPr id="7" name="TextBox 6"/>
          <p:cNvSpPr txBox="1"/>
          <p:nvPr/>
        </p:nvSpPr>
        <p:spPr>
          <a:xfrm>
            <a:off x="228600" y="1618488"/>
            <a:ext cx="8686800" cy="292608"/>
          </a:xfrm>
          <a:prstGeom prst="rect">
            <a:avLst/>
          </a:prstGeom>
          <a:noFill/>
        </p:spPr>
        <p:txBody>
          <a:bodyPr wrap="square">
            <a:spAutoFit/>
          </a:bodyPr>
          <a:lstStyle/>
          <a:p>
            <a:pPr algn="l"/>
            <a:r>
              <a:rPr sz="1200" b="0" i="1">
                <a:solidFill>
                  <a:srgbClr val="01A296"/>
                </a:solidFill>
                <a:latin typeface="Arial"/>
              </a:rPr>
              <a:t>Technology enabled property maintenance and compliance platform     Burnley, Melbourne VIC</a:t>
            </a:r>
          </a:p>
        </p:txBody>
      </p:sp>
      <p:sp>
        <p:nvSpPr>
          <p:cNvPr id="8" name="Rectangle 7"/>
          <p:cNvSpPr/>
          <p:nvPr/>
        </p:nvSpPr>
        <p:spPr>
          <a:xfrm>
            <a:off x="164592" y="1965960"/>
            <a:ext cx="11887200" cy="25400"/>
          </a:xfrm>
          <a:prstGeom prst="rect">
            <a:avLst/>
          </a:prstGeom>
          <a:solidFill>
            <a:srgbClr val="01A2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4592" y="2029968"/>
            <a:ext cx="2286000" cy="12344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4592" y="2029968"/>
            <a:ext cx="2286000" cy="38100"/>
          </a:xfrm>
          <a:prstGeom prst="rect">
            <a:avLst/>
          </a:prstGeom>
          <a:solidFill>
            <a:srgbClr val="01A2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6032" y="2093976"/>
            <a:ext cx="2103120" cy="457200"/>
          </a:xfrm>
          <a:prstGeom prst="rect">
            <a:avLst/>
          </a:prstGeom>
          <a:noFill/>
        </p:spPr>
        <p:txBody>
          <a:bodyPr wrap="square">
            <a:spAutoFit/>
          </a:bodyPr>
          <a:lstStyle/>
          <a:p>
            <a:pPr algn="l"/>
            <a:r>
              <a:rPr sz="2600" b="1" i="0">
                <a:solidFill>
                  <a:srgbClr val="F8C806"/>
                </a:solidFill>
                <a:latin typeface="Cambria"/>
              </a:rPr>
              <a:t>$12.8M</a:t>
            </a:r>
          </a:p>
        </p:txBody>
      </p:sp>
      <p:sp>
        <p:nvSpPr>
          <p:cNvPr id="12" name="TextBox 11"/>
          <p:cNvSpPr txBox="1"/>
          <p:nvPr/>
        </p:nvSpPr>
        <p:spPr>
          <a:xfrm>
            <a:off x="256032" y="2560320"/>
            <a:ext cx="2103120" cy="420624"/>
          </a:xfrm>
          <a:prstGeom prst="rect">
            <a:avLst/>
          </a:prstGeom>
          <a:noFill/>
        </p:spPr>
        <p:txBody>
          <a:bodyPr wrap="square">
            <a:spAutoFit/>
          </a:bodyPr>
          <a:lstStyle/>
          <a:p>
            <a:pPr algn="l"/>
            <a:r>
              <a:rPr sz="1000" b="0" i="0">
                <a:solidFill>
                  <a:srgbClr val="E6E5DE"/>
                </a:solidFill>
                <a:latin typeface="Arial"/>
              </a:rPr>
              <a:t>Revenue</a:t>
            </a:r>
          </a:p>
          <a:p>
            <a:pPr algn="l"/>
            <a:r>
              <a:rPr sz="1000" b="0" i="0">
                <a:solidFill>
                  <a:srgbClr val="E6E5DE"/>
                </a:solidFill>
                <a:latin typeface="Arial"/>
              </a:rPr>
              <a:t>FY2025</a:t>
            </a:r>
          </a:p>
        </p:txBody>
      </p:sp>
      <p:sp>
        <p:nvSpPr>
          <p:cNvPr id="13" name="TextBox 12"/>
          <p:cNvSpPr txBox="1"/>
          <p:nvPr/>
        </p:nvSpPr>
        <p:spPr>
          <a:xfrm>
            <a:off x="256032" y="2990088"/>
            <a:ext cx="2103120" cy="246888"/>
          </a:xfrm>
          <a:prstGeom prst="rect">
            <a:avLst/>
          </a:prstGeom>
          <a:noFill/>
        </p:spPr>
        <p:txBody>
          <a:bodyPr wrap="square">
            <a:spAutoFit/>
          </a:bodyPr>
          <a:lstStyle/>
          <a:p>
            <a:pPr algn="l"/>
            <a:r>
              <a:rPr sz="700" b="0" i="1">
                <a:solidFill>
                  <a:srgbClr val="E6E5DE"/>
                </a:solidFill>
                <a:latin typeface="Arial"/>
              </a:rPr>
              <a:t>Smart50 2025 citation, SmartCompany</a:t>
            </a:r>
          </a:p>
        </p:txBody>
      </p:sp>
      <p:sp>
        <p:nvSpPr>
          <p:cNvPr id="14" name="Rectangle 13"/>
          <p:cNvSpPr/>
          <p:nvPr/>
        </p:nvSpPr>
        <p:spPr>
          <a:xfrm>
            <a:off x="2526487" y="2029968"/>
            <a:ext cx="2286000" cy="12344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26487" y="2029968"/>
            <a:ext cx="2286000" cy="38100"/>
          </a:xfrm>
          <a:prstGeom prst="rect">
            <a:avLst/>
          </a:prstGeom>
          <a:solidFill>
            <a:srgbClr val="01A2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17927" y="2093976"/>
            <a:ext cx="2103120" cy="457200"/>
          </a:xfrm>
          <a:prstGeom prst="rect">
            <a:avLst/>
          </a:prstGeom>
          <a:noFill/>
        </p:spPr>
        <p:txBody>
          <a:bodyPr wrap="square">
            <a:spAutoFit/>
          </a:bodyPr>
          <a:lstStyle/>
          <a:p>
            <a:pPr algn="l"/>
            <a:r>
              <a:rPr sz="2600" b="1" i="0">
                <a:solidFill>
                  <a:srgbClr val="F8C806"/>
                </a:solidFill>
                <a:latin typeface="Cambria"/>
              </a:rPr>
              <a:t>31%</a:t>
            </a:r>
          </a:p>
        </p:txBody>
      </p:sp>
      <p:sp>
        <p:nvSpPr>
          <p:cNvPr id="17" name="TextBox 16"/>
          <p:cNvSpPr txBox="1"/>
          <p:nvPr/>
        </p:nvSpPr>
        <p:spPr>
          <a:xfrm>
            <a:off x="2617927" y="2560320"/>
            <a:ext cx="2103120" cy="420624"/>
          </a:xfrm>
          <a:prstGeom prst="rect">
            <a:avLst/>
          </a:prstGeom>
          <a:noFill/>
        </p:spPr>
        <p:txBody>
          <a:bodyPr wrap="square">
            <a:spAutoFit/>
          </a:bodyPr>
          <a:lstStyle/>
          <a:p>
            <a:pPr algn="l"/>
            <a:r>
              <a:rPr sz="1000" b="0" i="0">
                <a:solidFill>
                  <a:srgbClr val="E6E5DE"/>
                </a:solidFill>
                <a:latin typeface="Arial"/>
              </a:rPr>
              <a:t>Growth Rate</a:t>
            </a:r>
          </a:p>
          <a:p>
            <a:pPr algn="l"/>
            <a:r>
              <a:rPr sz="1000" b="0" i="0">
                <a:solidFill>
                  <a:srgbClr val="E6E5DE"/>
                </a:solidFill>
                <a:latin typeface="Arial"/>
              </a:rPr>
              <a:t>Smart50 2025</a:t>
            </a:r>
          </a:p>
        </p:txBody>
      </p:sp>
      <p:sp>
        <p:nvSpPr>
          <p:cNvPr id="18" name="TextBox 17"/>
          <p:cNvSpPr txBox="1"/>
          <p:nvPr/>
        </p:nvSpPr>
        <p:spPr>
          <a:xfrm>
            <a:off x="2617927" y="2990088"/>
            <a:ext cx="2103120" cy="246888"/>
          </a:xfrm>
          <a:prstGeom prst="rect">
            <a:avLst/>
          </a:prstGeom>
          <a:noFill/>
        </p:spPr>
        <p:txBody>
          <a:bodyPr wrap="square">
            <a:spAutoFit/>
          </a:bodyPr>
          <a:lstStyle/>
          <a:p>
            <a:pPr algn="l"/>
            <a:r>
              <a:rPr sz="700" b="0" i="1">
                <a:solidFill>
                  <a:srgbClr val="E6E5DE"/>
                </a:solidFill>
                <a:latin typeface="Arial"/>
              </a:rPr>
              <a:t>SmartCompany Smart50 2025</a:t>
            </a:r>
          </a:p>
        </p:txBody>
      </p:sp>
      <p:sp>
        <p:nvSpPr>
          <p:cNvPr id="19" name="Rectangle 18"/>
          <p:cNvSpPr/>
          <p:nvPr/>
        </p:nvSpPr>
        <p:spPr>
          <a:xfrm>
            <a:off x="4888382" y="2029968"/>
            <a:ext cx="2286000" cy="12344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88382" y="2029968"/>
            <a:ext cx="2286000" cy="38100"/>
          </a:xfrm>
          <a:prstGeom prst="rect">
            <a:avLst/>
          </a:prstGeom>
          <a:solidFill>
            <a:srgbClr val="01A2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79822" y="2093976"/>
            <a:ext cx="2103120" cy="457200"/>
          </a:xfrm>
          <a:prstGeom prst="rect">
            <a:avLst/>
          </a:prstGeom>
          <a:noFill/>
        </p:spPr>
        <p:txBody>
          <a:bodyPr wrap="square">
            <a:spAutoFit/>
          </a:bodyPr>
          <a:lstStyle/>
          <a:p>
            <a:pPr algn="l"/>
            <a:r>
              <a:rPr sz="2600" b="1" i="0">
                <a:solidFill>
                  <a:srgbClr val="F8C806"/>
                </a:solidFill>
                <a:latin typeface="Cambria"/>
              </a:rPr>
              <a:t>19</a:t>
            </a:r>
          </a:p>
        </p:txBody>
      </p:sp>
      <p:sp>
        <p:nvSpPr>
          <p:cNvPr id="22" name="TextBox 21"/>
          <p:cNvSpPr txBox="1"/>
          <p:nvPr/>
        </p:nvSpPr>
        <p:spPr>
          <a:xfrm>
            <a:off x="4979822" y="2560320"/>
            <a:ext cx="2103120" cy="420624"/>
          </a:xfrm>
          <a:prstGeom prst="rect">
            <a:avLst/>
          </a:prstGeom>
          <a:noFill/>
        </p:spPr>
        <p:txBody>
          <a:bodyPr wrap="square">
            <a:spAutoFit/>
          </a:bodyPr>
          <a:lstStyle/>
          <a:p>
            <a:pPr algn="l"/>
            <a:r>
              <a:rPr sz="1000" b="0" i="0">
                <a:solidFill>
                  <a:srgbClr val="E6E5DE"/>
                </a:solidFill>
                <a:latin typeface="Arial"/>
              </a:rPr>
              <a:t>Team</a:t>
            </a:r>
          </a:p>
          <a:p>
            <a:pPr algn="l"/>
            <a:r>
              <a:rPr sz="1000" b="0" i="0">
                <a:solidFill>
                  <a:srgbClr val="E6E5DE"/>
                </a:solidFill>
                <a:latin typeface="Arial"/>
              </a:rPr>
              <a:t>Members</a:t>
            </a:r>
          </a:p>
        </p:txBody>
      </p:sp>
      <p:sp>
        <p:nvSpPr>
          <p:cNvPr id="23" name="TextBox 22"/>
          <p:cNvSpPr txBox="1"/>
          <p:nvPr/>
        </p:nvSpPr>
        <p:spPr>
          <a:xfrm>
            <a:off x="4979822" y="2990088"/>
            <a:ext cx="2103120" cy="246888"/>
          </a:xfrm>
          <a:prstGeom prst="rect">
            <a:avLst/>
          </a:prstGeom>
          <a:noFill/>
        </p:spPr>
        <p:txBody>
          <a:bodyPr wrap="square">
            <a:spAutoFit/>
          </a:bodyPr>
          <a:lstStyle/>
          <a:p>
            <a:pPr algn="l"/>
            <a:r>
              <a:rPr sz="700" b="0" i="1">
                <a:solidFill>
                  <a:srgbClr val="E6E5DE"/>
                </a:solidFill>
                <a:latin typeface="Arial"/>
              </a:rPr>
              <a:t>Smart50 2025 citation, SmartCompany</a:t>
            </a:r>
          </a:p>
        </p:txBody>
      </p:sp>
      <p:sp>
        <p:nvSpPr>
          <p:cNvPr id="24" name="Rectangle 23"/>
          <p:cNvSpPr/>
          <p:nvPr/>
        </p:nvSpPr>
        <p:spPr>
          <a:xfrm>
            <a:off x="7250277" y="2029968"/>
            <a:ext cx="2286000" cy="12344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50277" y="2029968"/>
            <a:ext cx="2286000" cy="38100"/>
          </a:xfrm>
          <a:prstGeom prst="rect">
            <a:avLst/>
          </a:prstGeom>
          <a:solidFill>
            <a:srgbClr val="01A2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1717" y="2093976"/>
            <a:ext cx="2103120" cy="457200"/>
          </a:xfrm>
          <a:prstGeom prst="rect">
            <a:avLst/>
          </a:prstGeom>
          <a:noFill/>
        </p:spPr>
        <p:txBody>
          <a:bodyPr wrap="square">
            <a:spAutoFit/>
          </a:bodyPr>
          <a:lstStyle/>
          <a:p>
            <a:pPr algn="l"/>
            <a:r>
              <a:rPr sz="2600" b="1" i="0">
                <a:solidFill>
                  <a:srgbClr val="F8C806"/>
                </a:solidFill>
                <a:latin typeface="Cambria"/>
              </a:rPr>
              <a:t>5,500</a:t>
            </a:r>
          </a:p>
        </p:txBody>
      </p:sp>
      <p:sp>
        <p:nvSpPr>
          <p:cNvPr id="27" name="TextBox 26"/>
          <p:cNvSpPr txBox="1"/>
          <p:nvPr/>
        </p:nvSpPr>
        <p:spPr>
          <a:xfrm>
            <a:off x="7341717" y="2560320"/>
            <a:ext cx="2103120" cy="420624"/>
          </a:xfrm>
          <a:prstGeom prst="rect">
            <a:avLst/>
          </a:prstGeom>
          <a:noFill/>
        </p:spPr>
        <p:txBody>
          <a:bodyPr wrap="square">
            <a:spAutoFit/>
          </a:bodyPr>
          <a:lstStyle/>
          <a:p>
            <a:pPr algn="l"/>
            <a:r>
              <a:rPr sz="1000" b="0" i="0">
                <a:solidFill>
                  <a:srgbClr val="E6E5DE"/>
                </a:solidFill>
                <a:latin typeface="Arial"/>
              </a:rPr>
              <a:t>Tradie</a:t>
            </a:r>
          </a:p>
          <a:p>
            <a:pPr algn="l"/>
            <a:r>
              <a:rPr sz="1000" b="0" i="0">
                <a:solidFill>
                  <a:srgbClr val="E6E5DE"/>
                </a:solidFill>
                <a:latin typeface="Arial"/>
              </a:rPr>
              <a:t>Network</a:t>
            </a:r>
          </a:p>
        </p:txBody>
      </p:sp>
      <p:sp>
        <p:nvSpPr>
          <p:cNvPr id="28" name="TextBox 27"/>
          <p:cNvSpPr txBox="1"/>
          <p:nvPr/>
        </p:nvSpPr>
        <p:spPr>
          <a:xfrm>
            <a:off x="7341717" y="2990088"/>
            <a:ext cx="2103120" cy="246888"/>
          </a:xfrm>
          <a:prstGeom prst="rect">
            <a:avLst/>
          </a:prstGeom>
          <a:noFill/>
        </p:spPr>
        <p:txBody>
          <a:bodyPr wrap="square">
            <a:spAutoFit/>
          </a:bodyPr>
          <a:lstStyle/>
          <a:p>
            <a:pPr algn="l"/>
            <a:r>
              <a:rPr sz="700" b="0" i="1">
                <a:solidFill>
                  <a:srgbClr val="E6E5DE"/>
                </a:solidFill>
                <a:latin typeface="Arial"/>
              </a:rPr>
              <a:t>Smart50 2025 citation, SmartCompany</a:t>
            </a:r>
          </a:p>
        </p:txBody>
      </p:sp>
      <p:sp>
        <p:nvSpPr>
          <p:cNvPr id="29" name="Rectangle 28"/>
          <p:cNvSpPr/>
          <p:nvPr/>
        </p:nvSpPr>
        <p:spPr>
          <a:xfrm>
            <a:off x="9612172" y="2029968"/>
            <a:ext cx="2286000" cy="12344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612172" y="2029968"/>
            <a:ext cx="2286000" cy="38100"/>
          </a:xfrm>
          <a:prstGeom prst="rect">
            <a:avLst/>
          </a:prstGeom>
          <a:solidFill>
            <a:srgbClr val="01A2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03612" y="2093976"/>
            <a:ext cx="2103120" cy="457200"/>
          </a:xfrm>
          <a:prstGeom prst="rect">
            <a:avLst/>
          </a:prstGeom>
          <a:noFill/>
        </p:spPr>
        <p:txBody>
          <a:bodyPr wrap="square">
            <a:spAutoFit/>
          </a:bodyPr>
          <a:lstStyle/>
          <a:p>
            <a:pPr algn="l"/>
            <a:r>
              <a:rPr sz="2600" b="1" i="0">
                <a:solidFill>
                  <a:srgbClr val="F8C806"/>
                </a:solidFill>
                <a:latin typeface="Cambria"/>
              </a:rPr>
              <a:t>Rank 37</a:t>
            </a:r>
          </a:p>
        </p:txBody>
      </p:sp>
      <p:sp>
        <p:nvSpPr>
          <p:cNvPr id="32" name="TextBox 31"/>
          <p:cNvSpPr txBox="1"/>
          <p:nvPr/>
        </p:nvSpPr>
        <p:spPr>
          <a:xfrm>
            <a:off x="9703612" y="2560320"/>
            <a:ext cx="2103120" cy="420624"/>
          </a:xfrm>
          <a:prstGeom prst="rect">
            <a:avLst/>
          </a:prstGeom>
          <a:noFill/>
        </p:spPr>
        <p:txBody>
          <a:bodyPr wrap="square">
            <a:spAutoFit/>
          </a:bodyPr>
          <a:lstStyle/>
          <a:p>
            <a:pPr algn="l"/>
            <a:r>
              <a:rPr sz="1000" b="0" i="0">
                <a:solidFill>
                  <a:srgbClr val="E6E5DE"/>
                </a:solidFill>
                <a:latin typeface="Arial"/>
              </a:rPr>
              <a:t>Smart50</a:t>
            </a:r>
          </a:p>
          <a:p>
            <a:pPr algn="l"/>
            <a:r>
              <a:rPr sz="1000" b="0" i="0">
                <a:solidFill>
                  <a:srgbClr val="E6E5DE"/>
                </a:solidFill>
                <a:latin typeface="Arial"/>
              </a:rPr>
              <a:t>2025</a:t>
            </a:r>
          </a:p>
        </p:txBody>
      </p:sp>
      <p:sp>
        <p:nvSpPr>
          <p:cNvPr id="33" name="TextBox 32"/>
          <p:cNvSpPr txBox="1"/>
          <p:nvPr/>
        </p:nvSpPr>
        <p:spPr>
          <a:xfrm>
            <a:off x="9703612" y="2990088"/>
            <a:ext cx="2103120" cy="246888"/>
          </a:xfrm>
          <a:prstGeom prst="rect">
            <a:avLst/>
          </a:prstGeom>
          <a:noFill/>
        </p:spPr>
        <p:txBody>
          <a:bodyPr wrap="square">
            <a:spAutoFit/>
          </a:bodyPr>
          <a:lstStyle/>
          <a:p>
            <a:pPr algn="l"/>
            <a:r>
              <a:rPr sz="700" b="0" i="1">
                <a:solidFill>
                  <a:srgbClr val="E6E5DE"/>
                </a:solidFill>
                <a:latin typeface="Arial"/>
              </a:rPr>
              <a:t>SmartCompany Smart50 2025</a:t>
            </a:r>
          </a:p>
        </p:txBody>
      </p:sp>
      <p:sp>
        <p:nvSpPr>
          <p:cNvPr id="34" name="TextBox 33"/>
          <p:cNvSpPr txBox="1"/>
          <p:nvPr/>
        </p:nvSpPr>
        <p:spPr>
          <a:xfrm>
            <a:off x="228600" y="3383280"/>
            <a:ext cx="6858000" cy="274320"/>
          </a:xfrm>
          <a:prstGeom prst="rect">
            <a:avLst/>
          </a:prstGeom>
          <a:noFill/>
        </p:spPr>
        <p:txBody>
          <a:bodyPr wrap="square">
            <a:spAutoFit/>
          </a:bodyPr>
          <a:lstStyle/>
          <a:p>
            <a:pPr algn="l"/>
            <a:r>
              <a:rPr sz="1100" b="1" i="0">
                <a:solidFill>
                  <a:srgbClr val="01A296"/>
                </a:solidFill>
                <a:latin typeface="Arial"/>
              </a:rPr>
              <a:t>KEY COMMERCIAL SIGNALS</a:t>
            </a:r>
          </a:p>
        </p:txBody>
      </p:sp>
      <p:sp>
        <p:nvSpPr>
          <p:cNvPr id="35" name="TextBox 34"/>
          <p:cNvSpPr txBox="1"/>
          <p:nvPr/>
        </p:nvSpPr>
        <p:spPr>
          <a:xfrm>
            <a:off x="228600" y="3712463"/>
            <a:ext cx="6903720" cy="329184"/>
          </a:xfrm>
          <a:prstGeom prst="rect">
            <a:avLst/>
          </a:prstGeom>
          <a:noFill/>
        </p:spPr>
        <p:txBody>
          <a:bodyPr wrap="square">
            <a:spAutoFit/>
          </a:bodyPr>
          <a:lstStyle/>
          <a:p>
            <a:pPr algn="l"/>
            <a:r>
              <a:rPr sz="900" b="0" i="0">
                <a:solidFill>
                  <a:srgbClr val="000000"/>
                </a:solidFill>
                <a:latin typeface="Arial"/>
              </a:rPr>
              <a:t>Smart50 consecutive listings: 2023, rank 46 in 2024, rank 37 in 2025  |  Source: SmartCompany Smart50 2023/2024/2025</a:t>
            </a:r>
          </a:p>
        </p:txBody>
      </p:sp>
      <p:sp>
        <p:nvSpPr>
          <p:cNvPr id="36" name="TextBox 35"/>
          <p:cNvSpPr txBox="1"/>
          <p:nvPr/>
        </p:nvSpPr>
        <p:spPr>
          <a:xfrm>
            <a:off x="228600" y="4050791"/>
            <a:ext cx="6903720" cy="329184"/>
          </a:xfrm>
          <a:prstGeom prst="rect">
            <a:avLst/>
          </a:prstGeom>
          <a:noFill/>
        </p:spPr>
        <p:txBody>
          <a:bodyPr wrap="square">
            <a:spAutoFit/>
          </a:bodyPr>
          <a:lstStyle/>
          <a:p>
            <a:pPr algn="l"/>
            <a:r>
              <a:rPr sz="900" b="0" i="0">
                <a:solidFill>
                  <a:srgbClr val="000000"/>
                </a:solidFill>
                <a:latin typeface="Arial"/>
              </a:rPr>
              <a:t>Revenue grew from $9.7M to $12.8M year on year (31 per cent)  |  Source: SmartCompany Smart50 2024 and 2025</a:t>
            </a:r>
          </a:p>
        </p:txBody>
      </p:sp>
      <p:sp>
        <p:nvSpPr>
          <p:cNvPr id="37" name="TextBox 36"/>
          <p:cNvSpPr txBox="1"/>
          <p:nvPr/>
        </p:nvSpPr>
        <p:spPr>
          <a:xfrm>
            <a:off x="228600" y="4389119"/>
            <a:ext cx="6903720" cy="329184"/>
          </a:xfrm>
          <a:prstGeom prst="rect">
            <a:avLst/>
          </a:prstGeom>
          <a:noFill/>
        </p:spPr>
        <p:txBody>
          <a:bodyPr wrap="square">
            <a:spAutoFit/>
          </a:bodyPr>
          <a:lstStyle/>
          <a:p>
            <a:pPr algn="l"/>
            <a:r>
              <a:rPr sz="900" b="0" i="0">
                <a:solidFill>
                  <a:srgbClr val="000000"/>
                </a:solidFill>
                <a:latin typeface="Arial"/>
              </a:rPr>
              <a:t>RentRepair subscription launched 2023, from $59 per month  |  Source: Taskforce Australia website</a:t>
            </a:r>
          </a:p>
        </p:txBody>
      </p:sp>
      <p:sp>
        <p:nvSpPr>
          <p:cNvPr id="38" name="TextBox 37"/>
          <p:cNvSpPr txBox="1"/>
          <p:nvPr/>
        </p:nvSpPr>
        <p:spPr>
          <a:xfrm>
            <a:off x="228600" y="4727447"/>
            <a:ext cx="6903720" cy="329184"/>
          </a:xfrm>
          <a:prstGeom prst="rect">
            <a:avLst/>
          </a:prstGeom>
          <a:noFill/>
        </p:spPr>
        <p:txBody>
          <a:bodyPr wrap="square">
            <a:spAutoFit/>
          </a:bodyPr>
          <a:lstStyle/>
          <a:p>
            <a:pPr algn="l"/>
            <a:r>
              <a:rPr sz="900" b="0" i="0">
                <a:solidFill>
                  <a:srgbClr val="000000"/>
                </a:solidFill>
                <a:latin typeface="Arial"/>
              </a:rPr>
              <a:t>HousingSolutions: preferred supplier to community housing organisations  |  Source: Smart50 2025 and Taskforce website</a:t>
            </a:r>
          </a:p>
        </p:txBody>
      </p:sp>
      <p:sp>
        <p:nvSpPr>
          <p:cNvPr id="39" name="TextBox 38"/>
          <p:cNvSpPr txBox="1"/>
          <p:nvPr/>
        </p:nvSpPr>
        <p:spPr>
          <a:xfrm>
            <a:off x="228600" y="5065775"/>
            <a:ext cx="6903720" cy="329184"/>
          </a:xfrm>
          <a:prstGeom prst="rect">
            <a:avLst/>
          </a:prstGeom>
          <a:noFill/>
        </p:spPr>
        <p:txBody>
          <a:bodyPr wrap="square">
            <a:spAutoFit/>
          </a:bodyPr>
          <a:lstStyle/>
          <a:p>
            <a:pPr algn="l"/>
            <a:r>
              <a:rPr sz="900" b="0" i="0">
                <a:solidFill>
                  <a:srgbClr val="000000"/>
                </a:solidFill>
                <a:latin typeface="Arial"/>
              </a:rPr>
              <a:t>Real+ partnership announced March 2025  |  Source: Taskforce Australia website (March 2025)</a:t>
            </a:r>
          </a:p>
        </p:txBody>
      </p:sp>
      <p:sp>
        <p:nvSpPr>
          <p:cNvPr id="40" name="TextBox 39"/>
          <p:cNvSpPr txBox="1"/>
          <p:nvPr/>
        </p:nvSpPr>
        <p:spPr>
          <a:xfrm>
            <a:off x="228600" y="5404103"/>
            <a:ext cx="6903720" cy="329184"/>
          </a:xfrm>
          <a:prstGeom prst="rect">
            <a:avLst/>
          </a:prstGeom>
          <a:noFill/>
        </p:spPr>
        <p:txBody>
          <a:bodyPr wrap="square">
            <a:spAutoFit/>
          </a:bodyPr>
          <a:lstStyle/>
          <a:p>
            <a:pPr algn="l"/>
            <a:r>
              <a:rPr sz="900" b="0" i="0">
                <a:solidFill>
                  <a:srgbClr val="000000"/>
                </a:solidFill>
                <a:latin typeface="Arial"/>
              </a:rPr>
              <a:t>Telstra Best of Business Awards Victorian State Winner  |  Source: Elite Agent publication</a:t>
            </a:r>
          </a:p>
        </p:txBody>
      </p:sp>
      <p:sp>
        <p:nvSpPr>
          <p:cNvPr id="41" name="TextBox 40"/>
          <p:cNvSpPr txBox="1"/>
          <p:nvPr/>
        </p:nvSpPr>
        <p:spPr>
          <a:xfrm>
            <a:off x="7452360" y="3383280"/>
            <a:ext cx="4480560" cy="274320"/>
          </a:xfrm>
          <a:prstGeom prst="rect">
            <a:avLst/>
          </a:prstGeom>
          <a:noFill/>
        </p:spPr>
        <p:txBody>
          <a:bodyPr wrap="square">
            <a:spAutoFit/>
          </a:bodyPr>
          <a:lstStyle/>
          <a:p>
            <a:pPr algn="l"/>
            <a:r>
              <a:rPr sz="1100" b="1" i="0">
                <a:solidFill>
                  <a:srgbClr val="01A296"/>
                </a:solidFill>
                <a:latin typeface="Arial"/>
              </a:rPr>
              <a:t>Revenue Growth</a:t>
            </a:r>
          </a:p>
        </p:txBody>
      </p:sp>
      <p:sp>
        <p:nvSpPr>
          <p:cNvPr id="42" name="Rectangle 41"/>
          <p:cNvSpPr/>
          <p:nvPr/>
        </p:nvSpPr>
        <p:spPr>
          <a:xfrm>
            <a:off x="7635240" y="4256961"/>
            <a:ext cx="1371600" cy="1732359"/>
          </a:xfrm>
          <a:prstGeom prst="rect">
            <a:avLst/>
          </a:prstGeom>
          <a:solidFill>
            <a:srgbClr val="F6A1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35240" y="3982641"/>
            <a:ext cx="1371600" cy="246888"/>
          </a:xfrm>
          <a:prstGeom prst="rect">
            <a:avLst/>
          </a:prstGeom>
          <a:noFill/>
        </p:spPr>
        <p:txBody>
          <a:bodyPr wrap="square">
            <a:spAutoFit/>
          </a:bodyPr>
          <a:lstStyle/>
          <a:p>
            <a:pPr algn="ctr"/>
            <a:r>
              <a:rPr sz="1000" b="1" i="0">
                <a:solidFill>
                  <a:srgbClr val="000000"/>
                </a:solidFill>
                <a:latin typeface="Arial"/>
              </a:rPr>
              <a:t>$9.7M</a:t>
            </a:r>
          </a:p>
        </p:txBody>
      </p:sp>
      <p:sp>
        <p:nvSpPr>
          <p:cNvPr id="44" name="TextBox 43"/>
          <p:cNvSpPr txBox="1"/>
          <p:nvPr/>
        </p:nvSpPr>
        <p:spPr>
          <a:xfrm>
            <a:off x="7635240" y="6044184"/>
            <a:ext cx="1371600" cy="228600"/>
          </a:xfrm>
          <a:prstGeom prst="rect">
            <a:avLst/>
          </a:prstGeom>
          <a:noFill/>
        </p:spPr>
        <p:txBody>
          <a:bodyPr wrap="square">
            <a:spAutoFit/>
          </a:bodyPr>
          <a:lstStyle/>
          <a:p>
            <a:pPr algn="ctr"/>
            <a:r>
              <a:rPr sz="900" b="0" i="0">
                <a:solidFill>
                  <a:srgbClr val="000000"/>
                </a:solidFill>
                <a:latin typeface="Arial"/>
              </a:rPr>
              <a:t>FY2024</a:t>
            </a:r>
          </a:p>
        </p:txBody>
      </p:sp>
      <p:sp>
        <p:nvSpPr>
          <p:cNvPr id="45" name="Rectangle 44"/>
          <p:cNvSpPr/>
          <p:nvPr/>
        </p:nvSpPr>
        <p:spPr>
          <a:xfrm>
            <a:off x="9372600" y="3703320"/>
            <a:ext cx="1371600" cy="2286000"/>
          </a:xfrm>
          <a:prstGeom prst="rect">
            <a:avLst/>
          </a:prstGeom>
          <a:solidFill>
            <a:srgbClr val="01A2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72600" y="3429000"/>
            <a:ext cx="1371600" cy="246888"/>
          </a:xfrm>
          <a:prstGeom prst="rect">
            <a:avLst/>
          </a:prstGeom>
          <a:noFill/>
        </p:spPr>
        <p:txBody>
          <a:bodyPr wrap="square">
            <a:spAutoFit/>
          </a:bodyPr>
          <a:lstStyle/>
          <a:p>
            <a:pPr algn="ctr"/>
            <a:r>
              <a:rPr sz="1000" b="1" i="0">
                <a:solidFill>
                  <a:srgbClr val="000000"/>
                </a:solidFill>
                <a:latin typeface="Arial"/>
              </a:rPr>
              <a:t>$12.8M</a:t>
            </a:r>
          </a:p>
        </p:txBody>
      </p:sp>
      <p:sp>
        <p:nvSpPr>
          <p:cNvPr id="47" name="TextBox 46"/>
          <p:cNvSpPr txBox="1"/>
          <p:nvPr/>
        </p:nvSpPr>
        <p:spPr>
          <a:xfrm>
            <a:off x="9372600" y="6044184"/>
            <a:ext cx="1371600" cy="228600"/>
          </a:xfrm>
          <a:prstGeom prst="rect">
            <a:avLst/>
          </a:prstGeom>
          <a:noFill/>
        </p:spPr>
        <p:txBody>
          <a:bodyPr wrap="square">
            <a:spAutoFit/>
          </a:bodyPr>
          <a:lstStyle/>
          <a:p>
            <a:pPr algn="ctr"/>
            <a:r>
              <a:rPr sz="900" b="0" i="0">
                <a:solidFill>
                  <a:srgbClr val="000000"/>
                </a:solidFill>
                <a:latin typeface="Arial"/>
              </a:rPr>
              <a:t>FY2025</a:t>
            </a:r>
          </a:p>
        </p:txBody>
      </p:sp>
      <p:sp>
        <p:nvSpPr>
          <p:cNvPr id="48" name="Rectangle 47"/>
          <p:cNvSpPr/>
          <p:nvPr/>
        </p:nvSpPr>
        <p:spPr>
          <a:xfrm>
            <a:off x="7543800" y="5989320"/>
            <a:ext cx="4206240" cy="254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52360" y="6327648"/>
            <a:ext cx="4480560" cy="256032"/>
          </a:xfrm>
          <a:prstGeom prst="rect">
            <a:avLst/>
          </a:prstGeom>
          <a:noFill/>
        </p:spPr>
        <p:txBody>
          <a:bodyPr wrap="square">
            <a:spAutoFit/>
          </a:bodyPr>
          <a:lstStyle/>
          <a:p>
            <a:pPr algn="l"/>
            <a:r>
              <a:rPr sz="750" b="0" i="1">
                <a:solidFill>
                  <a:srgbClr val="000000"/>
                </a:solidFill>
                <a:latin typeface="Arial"/>
              </a:rPr>
              <a:t>Source: SmartCompany Smart50 2024 and 2025 award citations</a:t>
            </a:r>
          </a:p>
        </p:txBody>
      </p:sp>
      <p:sp>
        <p:nvSpPr>
          <p:cNvPr id="50" name="Rectangle 49"/>
          <p:cNvSpPr/>
          <p:nvPr/>
        </p:nvSpPr>
        <p:spPr>
          <a:xfrm>
            <a:off x="164592" y="6419088"/>
            <a:ext cx="11887200" cy="127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28600" y="6492240"/>
            <a:ext cx="9144000" cy="274320"/>
          </a:xfrm>
          <a:prstGeom prst="rect">
            <a:avLst/>
          </a:prstGeom>
          <a:noFill/>
        </p:spPr>
        <p:txBody>
          <a:bodyPr wrap="square">
            <a:spAutoFit/>
          </a:bodyPr>
          <a:lstStyle/>
          <a:p>
            <a:pPr algn="l"/>
            <a:r>
              <a:rPr sz="900" b="0" i="0">
                <a:solidFill>
                  <a:srgbClr val="000000"/>
                </a:solidFill>
                <a:latin typeface="Arial"/>
              </a:rPr>
              <a:t>Prepared by Nitesh Roopa CA, Managing Partner and Founder, ProfitPulse, Profit-Pulse.com.au</a:t>
            </a:r>
          </a:p>
        </p:txBody>
      </p:sp>
      <p:sp>
        <p:nvSpPr>
          <p:cNvPr id="52" name="TextBox 51"/>
          <p:cNvSpPr txBox="1"/>
          <p:nvPr/>
        </p:nvSpPr>
        <p:spPr>
          <a:xfrm>
            <a:off x="10058400" y="6492240"/>
            <a:ext cx="1965960" cy="274320"/>
          </a:xfrm>
          <a:prstGeom prst="rect">
            <a:avLst/>
          </a:prstGeom>
          <a:noFill/>
        </p:spPr>
        <p:txBody>
          <a:bodyPr wrap="square">
            <a:spAutoFit/>
          </a:bodyPr>
          <a:lstStyle/>
          <a:p>
            <a:pPr algn="r"/>
            <a:r>
              <a:rPr sz="900" b="0" i="0">
                <a:solidFill>
                  <a:srgbClr val="000000"/>
                </a:solidFill>
                <a:latin typeface="Arial"/>
              </a:rPr>
              <a:t>01 Jul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F8C8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0"/>
            <a:ext cx="12100255" cy="8686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201168"/>
            <a:ext cx="6400800" cy="457200"/>
          </a:xfrm>
          <a:prstGeom prst="rect">
            <a:avLst/>
          </a:prstGeom>
          <a:noFill/>
        </p:spPr>
        <p:txBody>
          <a:bodyPr wrap="square">
            <a:spAutoFit/>
          </a:bodyPr>
          <a:lstStyle/>
          <a:p>
            <a:pPr algn="l"/>
            <a:r>
              <a:rPr sz="1100" b="1" i="0">
                <a:solidFill>
                  <a:srgbClr val="E6E5DE"/>
                </a:solidFill>
                <a:latin typeface="Arial"/>
              </a:rPr>
              <a:t>THE OPPORTUNITY</a:t>
            </a:r>
          </a:p>
        </p:txBody>
      </p:sp>
      <p:sp>
        <p:nvSpPr>
          <p:cNvPr id="5" name="TextBox 4"/>
          <p:cNvSpPr txBox="1"/>
          <p:nvPr/>
        </p:nvSpPr>
        <p:spPr>
          <a:xfrm>
            <a:off x="9144000" y="201168"/>
            <a:ext cx="2834640" cy="457200"/>
          </a:xfrm>
          <a:prstGeom prst="rect">
            <a:avLst/>
          </a:prstGeom>
          <a:noFill/>
        </p:spPr>
        <p:txBody>
          <a:bodyPr wrap="square">
            <a:spAutoFit/>
          </a:bodyPr>
          <a:lstStyle/>
          <a:p>
            <a:pPr algn="r"/>
            <a:r>
              <a:rPr sz="1100" b="1" i="0">
                <a:solidFill>
                  <a:srgbClr val="E6E5DE"/>
                </a:solidFill>
                <a:latin typeface="Arial"/>
              </a:rPr>
              <a:t>PROFITPULSE</a:t>
            </a:r>
          </a:p>
        </p:txBody>
      </p:sp>
      <p:sp>
        <p:nvSpPr>
          <p:cNvPr id="6" name="TextBox 5"/>
          <p:cNvSpPr txBox="1"/>
          <p:nvPr/>
        </p:nvSpPr>
        <p:spPr>
          <a:xfrm>
            <a:off x="228600" y="896112"/>
            <a:ext cx="11430000" cy="292608"/>
          </a:xfrm>
          <a:prstGeom prst="rect">
            <a:avLst/>
          </a:prstGeom>
          <a:noFill/>
        </p:spPr>
        <p:txBody>
          <a:bodyPr wrap="square">
            <a:spAutoFit/>
          </a:bodyPr>
          <a:lstStyle/>
          <a:p>
            <a:pPr algn="l"/>
            <a:r>
              <a:rPr sz="1100" b="0" i="0">
                <a:solidFill>
                  <a:srgbClr val="000000"/>
                </a:solidFill>
                <a:latin typeface="Arial"/>
              </a:rPr>
              <a:t>Taskforce Australia   |   Three commercial observations from ProfitPulse</a:t>
            </a:r>
          </a:p>
        </p:txBody>
      </p:sp>
      <p:sp>
        <p:nvSpPr>
          <p:cNvPr id="7" name="Rectangle 6"/>
          <p:cNvSpPr/>
          <p:nvPr/>
        </p:nvSpPr>
        <p:spPr>
          <a:xfrm>
            <a:off x="91440" y="1234440"/>
            <a:ext cx="4033418" cy="4910328"/>
          </a:xfrm>
          <a:prstGeom prst="rect">
            <a:avLst/>
          </a:prstGeom>
          <a:solidFill>
            <a:srgbClr val="01A2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1399032"/>
            <a:ext cx="3704234" cy="502920"/>
          </a:xfrm>
          <a:prstGeom prst="rect">
            <a:avLst/>
          </a:prstGeom>
          <a:noFill/>
        </p:spPr>
        <p:txBody>
          <a:bodyPr wrap="square">
            <a:spAutoFit/>
          </a:bodyPr>
          <a:lstStyle/>
          <a:p>
            <a:pPr algn="l"/>
            <a:r>
              <a:rPr sz="3600" b="1" i="0">
                <a:solidFill>
                  <a:srgbClr val="FFFFFF"/>
                </a:solidFill>
                <a:latin typeface="Cambria"/>
              </a:rPr>
              <a:t>01</a:t>
            </a:r>
          </a:p>
        </p:txBody>
      </p:sp>
      <p:sp>
        <p:nvSpPr>
          <p:cNvPr id="9" name="Rectangle 8"/>
          <p:cNvSpPr/>
          <p:nvPr/>
        </p:nvSpPr>
        <p:spPr>
          <a:xfrm>
            <a:off x="256032" y="1984248"/>
            <a:ext cx="3704234" cy="190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 y="2057400"/>
            <a:ext cx="3704234" cy="594360"/>
          </a:xfrm>
          <a:prstGeom prst="rect">
            <a:avLst/>
          </a:prstGeom>
          <a:noFill/>
        </p:spPr>
        <p:txBody>
          <a:bodyPr wrap="square">
            <a:spAutoFit/>
          </a:bodyPr>
          <a:lstStyle/>
          <a:p>
            <a:pPr algn="l"/>
            <a:r>
              <a:rPr sz="1300" b="1" i="0">
                <a:solidFill>
                  <a:srgbClr val="FFFFFF"/>
                </a:solidFill>
                <a:latin typeface="Arial"/>
              </a:rPr>
              <a:t>Three products, one financial architecture</a:t>
            </a:r>
          </a:p>
        </p:txBody>
      </p:sp>
      <p:sp>
        <p:nvSpPr>
          <p:cNvPr id="11" name="TextBox 10"/>
          <p:cNvSpPr txBox="1"/>
          <p:nvPr/>
        </p:nvSpPr>
        <p:spPr>
          <a:xfrm>
            <a:off x="256032" y="2697480"/>
            <a:ext cx="3704234" cy="3355848"/>
          </a:xfrm>
          <a:prstGeom prst="rect">
            <a:avLst/>
          </a:prstGeom>
          <a:noFill/>
        </p:spPr>
        <p:txBody>
          <a:bodyPr wrap="square">
            <a:spAutoFit/>
          </a:bodyPr>
          <a:lstStyle/>
          <a:p>
            <a:pPr algn="l"/>
            <a:r>
              <a:rPr sz="1000" b="0" i="0">
                <a:solidFill>
                  <a:srgbClr val="FFFFFF"/>
                </a:solidFill>
                <a:latin typeface="Arial"/>
              </a:rPr>
              <a:t>Taskforce Australia now operates three distinct revenue streams: compliance checks on a transactional model, the RentRepair subscription at $59 per month and above (launched 2023), and HousingSolutions on contract. Each carries a different margin profile, a different customer acquisition cost, and a different claim on the team of nineteen managing $12.8 million in revenue. Allocating that team across three concurrent streams without a clear view of which generates the best return per hour of capacity is the central financial risk of the next growth phase. ProfitPulse's Strategic Growth Diagnostic maps exactly this in six weeks.</a:t>
            </a:r>
          </a:p>
        </p:txBody>
      </p:sp>
      <p:sp>
        <p:nvSpPr>
          <p:cNvPr id="12" name="Rectangle 11"/>
          <p:cNvSpPr/>
          <p:nvPr/>
        </p:nvSpPr>
        <p:spPr>
          <a:xfrm>
            <a:off x="4124858" y="1234440"/>
            <a:ext cx="4033418" cy="4910328"/>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89450" y="1399032"/>
            <a:ext cx="3704234" cy="502920"/>
          </a:xfrm>
          <a:prstGeom prst="rect">
            <a:avLst/>
          </a:prstGeom>
          <a:noFill/>
        </p:spPr>
        <p:txBody>
          <a:bodyPr wrap="square">
            <a:spAutoFit/>
          </a:bodyPr>
          <a:lstStyle/>
          <a:p>
            <a:pPr algn="l"/>
            <a:r>
              <a:rPr sz="3600" b="1" i="0">
                <a:solidFill>
                  <a:srgbClr val="E6E5DE"/>
                </a:solidFill>
                <a:latin typeface="Cambria"/>
              </a:rPr>
              <a:t>02</a:t>
            </a:r>
          </a:p>
        </p:txBody>
      </p:sp>
      <p:sp>
        <p:nvSpPr>
          <p:cNvPr id="14" name="Rectangle 13"/>
          <p:cNvSpPr/>
          <p:nvPr/>
        </p:nvSpPr>
        <p:spPr>
          <a:xfrm>
            <a:off x="4289450" y="1984248"/>
            <a:ext cx="3704234" cy="190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89450" y="2057400"/>
            <a:ext cx="3704234" cy="594360"/>
          </a:xfrm>
          <a:prstGeom prst="rect">
            <a:avLst/>
          </a:prstGeom>
          <a:noFill/>
        </p:spPr>
        <p:txBody>
          <a:bodyPr wrap="square">
            <a:spAutoFit/>
          </a:bodyPr>
          <a:lstStyle/>
          <a:p>
            <a:pPr algn="l"/>
            <a:r>
              <a:rPr sz="1300" b="1" i="0">
                <a:solidFill>
                  <a:srgbClr val="E6E5DE"/>
                </a:solidFill>
                <a:latin typeface="Arial"/>
              </a:rPr>
              <a:t>The software investment needs an ROI number first</a:t>
            </a:r>
          </a:p>
        </p:txBody>
      </p:sp>
      <p:sp>
        <p:nvSpPr>
          <p:cNvPr id="16" name="TextBox 15"/>
          <p:cNvSpPr txBox="1"/>
          <p:nvPr/>
        </p:nvSpPr>
        <p:spPr>
          <a:xfrm>
            <a:off x="4289450" y="2697480"/>
            <a:ext cx="3704234" cy="3355848"/>
          </a:xfrm>
          <a:prstGeom prst="rect">
            <a:avLst/>
          </a:prstGeom>
          <a:noFill/>
        </p:spPr>
        <p:txBody>
          <a:bodyPr wrap="square">
            <a:spAutoFit/>
          </a:bodyPr>
          <a:lstStyle/>
          <a:p>
            <a:pPr algn="l"/>
            <a:r>
              <a:rPr sz="1000" b="0" i="0">
                <a:solidFill>
                  <a:srgbClr val="E6E5DE"/>
                </a:solidFill>
                <a:latin typeface="Arial"/>
              </a:rPr>
              <a:t>The publicly stated plan to expand in house software capabilities is a capital decision that compounds. Every dollar committed before the revenue base can support it is unavailable for scaling RentRepair subscriber acquisition or winning the next social housing contract. At $12.8 million revenue with nineteen employees, the sequencing question is a financial modelling exercise. Three scenario modelling of the software first versus growth first paths produces the cash flow and margin comparison needed to commit with confidence. ProfitPulse builds that model as part of the Strategic Growth Diagnostic.</a:t>
            </a:r>
          </a:p>
        </p:txBody>
      </p:sp>
      <p:sp>
        <p:nvSpPr>
          <p:cNvPr id="17" name="Rectangle 16"/>
          <p:cNvSpPr/>
          <p:nvPr/>
        </p:nvSpPr>
        <p:spPr>
          <a:xfrm>
            <a:off x="8158276" y="1234440"/>
            <a:ext cx="4033418" cy="4910328"/>
          </a:xfrm>
          <a:prstGeom prst="rect">
            <a:avLst/>
          </a:prstGeom>
          <a:solidFill>
            <a:srgbClr val="E3A7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2868" y="1399032"/>
            <a:ext cx="3704234" cy="502920"/>
          </a:xfrm>
          <a:prstGeom prst="rect">
            <a:avLst/>
          </a:prstGeom>
          <a:noFill/>
        </p:spPr>
        <p:txBody>
          <a:bodyPr wrap="square">
            <a:spAutoFit/>
          </a:bodyPr>
          <a:lstStyle/>
          <a:p>
            <a:pPr algn="l"/>
            <a:r>
              <a:rPr sz="3600" b="1" i="0">
                <a:solidFill>
                  <a:srgbClr val="000000"/>
                </a:solidFill>
                <a:latin typeface="Cambria"/>
              </a:rPr>
              <a:t>03</a:t>
            </a:r>
          </a:p>
        </p:txBody>
      </p:sp>
      <p:sp>
        <p:nvSpPr>
          <p:cNvPr id="19" name="Rectangle 18"/>
          <p:cNvSpPr/>
          <p:nvPr/>
        </p:nvSpPr>
        <p:spPr>
          <a:xfrm>
            <a:off x="8322868" y="1984248"/>
            <a:ext cx="3704234" cy="1905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2868" y="2057400"/>
            <a:ext cx="3704234" cy="594360"/>
          </a:xfrm>
          <a:prstGeom prst="rect">
            <a:avLst/>
          </a:prstGeom>
          <a:noFill/>
        </p:spPr>
        <p:txBody>
          <a:bodyPr wrap="square">
            <a:spAutoFit/>
          </a:bodyPr>
          <a:lstStyle/>
          <a:p>
            <a:pPr algn="l"/>
            <a:r>
              <a:rPr sz="1300" b="1" i="0">
                <a:solidFill>
                  <a:srgbClr val="000000"/>
                </a:solidFill>
                <a:latin typeface="Arial"/>
              </a:rPr>
              <a:t>Subscription revenue carries a higher value multiple</a:t>
            </a:r>
          </a:p>
        </p:txBody>
      </p:sp>
      <p:sp>
        <p:nvSpPr>
          <p:cNvPr id="21" name="TextBox 20"/>
          <p:cNvSpPr txBox="1"/>
          <p:nvPr/>
        </p:nvSpPr>
        <p:spPr>
          <a:xfrm>
            <a:off x="8322868" y="2697480"/>
            <a:ext cx="3704234" cy="3355848"/>
          </a:xfrm>
          <a:prstGeom prst="rect">
            <a:avLst/>
          </a:prstGeom>
          <a:noFill/>
        </p:spPr>
        <p:txBody>
          <a:bodyPr wrap="square">
            <a:spAutoFit/>
          </a:bodyPr>
          <a:lstStyle/>
          <a:p>
            <a:pPr algn="l"/>
            <a:r>
              <a:rPr sz="1000" b="0" i="0">
                <a:solidFill>
                  <a:srgbClr val="000000"/>
                </a:solidFill>
                <a:latin typeface="Arial"/>
              </a:rPr>
              <a:t>The shift to RentRepair is more than a product decision. Recurring subscription revenue at scale commands a substantially higher enterprise value multiple than the same dollar of transactional revenue. If RentRepair grows to represent a meaningful share of total revenue, the business carries a very different value story for any future investor or acquirer. The financial reporting structure needs to reflect this division now, so the recurring versus transactional split is visible and defensible when the founders choose to test the market or invite institutional interest.</a:t>
            </a:r>
          </a:p>
        </p:txBody>
      </p:sp>
      <p:sp>
        <p:nvSpPr>
          <p:cNvPr id="22" name="TextBox 21"/>
          <p:cNvSpPr txBox="1"/>
          <p:nvPr/>
        </p:nvSpPr>
        <p:spPr>
          <a:xfrm>
            <a:off x="228600" y="6236208"/>
            <a:ext cx="11430000" cy="457200"/>
          </a:xfrm>
          <a:prstGeom prst="rect">
            <a:avLst/>
          </a:prstGeom>
          <a:noFill/>
        </p:spPr>
        <p:txBody>
          <a:bodyPr wrap="square">
            <a:spAutoFit/>
          </a:bodyPr>
          <a:lstStyle/>
          <a:p>
            <a:pPr algn="l"/>
            <a:r>
              <a:rPr sz="1100" b="0" i="1">
                <a:solidFill>
                  <a:srgbClr val="000000"/>
                </a:solidFill>
                <a:latin typeface="Arial"/>
              </a:rPr>
              <a:t>These are observations offered in good faith. Taskforce Australia has built something genuinely impressive. The question is simply whether the financial architecture now matches the ambition.</a:t>
            </a:r>
          </a:p>
        </p:txBody>
      </p:sp>
      <p:sp>
        <p:nvSpPr>
          <p:cNvPr id="23" name="Rectangle 22"/>
          <p:cNvSpPr/>
          <p:nvPr/>
        </p:nvSpPr>
        <p:spPr>
          <a:xfrm>
            <a:off x="164592" y="6419088"/>
            <a:ext cx="11887200" cy="127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6492240"/>
            <a:ext cx="9144000" cy="274320"/>
          </a:xfrm>
          <a:prstGeom prst="rect">
            <a:avLst/>
          </a:prstGeom>
          <a:noFill/>
        </p:spPr>
        <p:txBody>
          <a:bodyPr wrap="square">
            <a:spAutoFit/>
          </a:bodyPr>
          <a:lstStyle/>
          <a:p>
            <a:pPr algn="l"/>
            <a:r>
              <a:rPr sz="900" b="0" i="0">
                <a:solidFill>
                  <a:srgbClr val="000000"/>
                </a:solidFill>
                <a:latin typeface="Arial"/>
              </a:rPr>
              <a:t>Prepared by Nitesh Roopa CA, Managing Partner and Founder, ProfitPulse, Profit-Pulse.com.au</a:t>
            </a:r>
          </a:p>
        </p:txBody>
      </p:sp>
      <p:sp>
        <p:nvSpPr>
          <p:cNvPr id="25" name="TextBox 24"/>
          <p:cNvSpPr txBox="1"/>
          <p:nvPr/>
        </p:nvSpPr>
        <p:spPr>
          <a:xfrm>
            <a:off x="10058400" y="6492240"/>
            <a:ext cx="1965960" cy="274320"/>
          </a:xfrm>
          <a:prstGeom prst="rect">
            <a:avLst/>
          </a:prstGeom>
          <a:noFill/>
        </p:spPr>
        <p:txBody>
          <a:bodyPr wrap="square">
            <a:spAutoFit/>
          </a:bodyPr>
          <a:lstStyle/>
          <a:p>
            <a:pPr algn="r"/>
            <a:r>
              <a:rPr sz="900" b="0" i="0">
                <a:solidFill>
                  <a:srgbClr val="000000"/>
                </a:solidFill>
                <a:latin typeface="Arial"/>
              </a:rPr>
              <a:t>01 Jul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 cy="6858000"/>
          </a:xfrm>
          <a:prstGeom prst="rect">
            <a:avLst/>
          </a:prstGeom>
          <a:solidFill>
            <a:srgbClr val="F8C8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 y="0"/>
            <a:ext cx="12100255" cy="86868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201168"/>
            <a:ext cx="8229600" cy="457200"/>
          </a:xfrm>
          <a:prstGeom prst="rect">
            <a:avLst/>
          </a:prstGeom>
          <a:noFill/>
        </p:spPr>
        <p:txBody>
          <a:bodyPr wrap="square">
            <a:spAutoFit/>
          </a:bodyPr>
          <a:lstStyle/>
          <a:p>
            <a:pPr algn="l"/>
            <a:r>
              <a:rPr sz="1100" b="1" i="0">
                <a:solidFill>
                  <a:srgbClr val="E6E5DE"/>
                </a:solidFill>
                <a:latin typeface="Arial"/>
              </a:rPr>
              <a:t>THE RECOMMENDATION</a:t>
            </a:r>
          </a:p>
        </p:txBody>
      </p:sp>
      <p:sp>
        <p:nvSpPr>
          <p:cNvPr id="5" name="TextBox 4"/>
          <p:cNvSpPr txBox="1"/>
          <p:nvPr/>
        </p:nvSpPr>
        <p:spPr>
          <a:xfrm>
            <a:off x="9144000" y="201168"/>
            <a:ext cx="2834640" cy="457200"/>
          </a:xfrm>
          <a:prstGeom prst="rect">
            <a:avLst/>
          </a:prstGeom>
          <a:noFill/>
        </p:spPr>
        <p:txBody>
          <a:bodyPr wrap="square">
            <a:spAutoFit/>
          </a:bodyPr>
          <a:lstStyle/>
          <a:p>
            <a:pPr algn="r"/>
            <a:r>
              <a:rPr sz="1100" b="1" i="0">
                <a:solidFill>
                  <a:srgbClr val="E6E5DE"/>
                </a:solidFill>
                <a:latin typeface="Arial"/>
              </a:rPr>
              <a:t>PROFITPULSE</a:t>
            </a:r>
          </a:p>
        </p:txBody>
      </p:sp>
      <p:sp>
        <p:nvSpPr>
          <p:cNvPr id="6" name="TextBox 5"/>
          <p:cNvSpPr txBox="1"/>
          <p:nvPr/>
        </p:nvSpPr>
        <p:spPr>
          <a:xfrm>
            <a:off x="256032" y="1005840"/>
            <a:ext cx="7315200" cy="658368"/>
          </a:xfrm>
          <a:prstGeom prst="rect">
            <a:avLst/>
          </a:prstGeom>
          <a:noFill/>
        </p:spPr>
        <p:txBody>
          <a:bodyPr wrap="square">
            <a:spAutoFit/>
          </a:bodyPr>
          <a:lstStyle/>
          <a:p>
            <a:pPr algn="l"/>
            <a:r>
              <a:rPr sz="3200" b="1" i="0">
                <a:solidFill>
                  <a:srgbClr val="000000"/>
                </a:solidFill>
                <a:latin typeface="Cambria"/>
              </a:rPr>
              <a:t>Strategic Growth Diagnostic</a:t>
            </a:r>
          </a:p>
        </p:txBody>
      </p:sp>
      <p:sp>
        <p:nvSpPr>
          <p:cNvPr id="7" name="TextBox 6"/>
          <p:cNvSpPr txBox="1"/>
          <p:nvPr/>
        </p:nvSpPr>
        <p:spPr>
          <a:xfrm>
            <a:off x="256032" y="1691640"/>
            <a:ext cx="7315200" cy="292608"/>
          </a:xfrm>
          <a:prstGeom prst="rect">
            <a:avLst/>
          </a:prstGeom>
          <a:noFill/>
        </p:spPr>
        <p:txBody>
          <a:bodyPr wrap="square">
            <a:spAutoFit/>
          </a:bodyPr>
          <a:lstStyle/>
          <a:p>
            <a:pPr algn="l"/>
            <a:r>
              <a:rPr sz="1300" b="1" i="0">
                <a:solidFill>
                  <a:srgbClr val="01A296"/>
                </a:solidFill>
                <a:latin typeface="Arial"/>
              </a:rPr>
              <a:t>$5,000 one off   ·   ProfitPulse verified price</a:t>
            </a:r>
          </a:p>
        </p:txBody>
      </p:sp>
      <p:sp>
        <p:nvSpPr>
          <p:cNvPr id="8" name="TextBox 7"/>
          <p:cNvSpPr txBox="1"/>
          <p:nvPr/>
        </p:nvSpPr>
        <p:spPr>
          <a:xfrm>
            <a:off x="256032" y="2039112"/>
            <a:ext cx="7315200" cy="822960"/>
          </a:xfrm>
          <a:prstGeom prst="rect">
            <a:avLst/>
          </a:prstGeom>
          <a:noFill/>
        </p:spPr>
        <p:txBody>
          <a:bodyPr wrap="square">
            <a:spAutoFit/>
          </a:bodyPr>
          <a:lstStyle/>
          <a:p>
            <a:pPr algn="l"/>
            <a:r>
              <a:rPr sz="1100" b="0" i="0">
                <a:solidFill>
                  <a:srgbClr val="000000"/>
                </a:solidFill>
                <a:latin typeface="Arial"/>
              </a:rPr>
              <a:t>A six week engagement mapping revenue, capacity, and margin headroom across all three revenue streams, producing a twelve month growth plan with capital allocation steps and three scenario modelling. Designed for Taskforce's current moment: three concurrent products, a software investment decision pending, and a team of nineteen managing $12.8M.</a:t>
            </a:r>
          </a:p>
        </p:txBody>
      </p:sp>
      <p:sp>
        <p:nvSpPr>
          <p:cNvPr id="9" name="Rectangle 8"/>
          <p:cNvSpPr/>
          <p:nvPr/>
        </p:nvSpPr>
        <p:spPr>
          <a:xfrm>
            <a:off x="256032" y="2916936"/>
            <a:ext cx="7315200" cy="19050"/>
          </a:xfrm>
          <a:prstGeom prst="rect">
            <a:avLst/>
          </a:prstGeom>
          <a:solidFill>
            <a:srgbClr val="01A2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 y="3026664"/>
            <a:ext cx="7315200" cy="320040"/>
          </a:xfrm>
          <a:prstGeom prst="rect">
            <a:avLst/>
          </a:prstGeom>
          <a:noFill/>
        </p:spPr>
        <p:txBody>
          <a:bodyPr wrap="square">
            <a:spAutoFit/>
          </a:bodyPr>
          <a:lstStyle/>
          <a:p>
            <a:pPr algn="l"/>
            <a:r>
              <a:rPr sz="1300" b="1" i="0">
                <a:solidFill>
                  <a:srgbClr val="000000"/>
                </a:solidFill>
                <a:latin typeface="Arial"/>
              </a:rPr>
              <a:t>Step one: answer a few quick questions</a:t>
            </a:r>
          </a:p>
        </p:txBody>
      </p:sp>
      <p:sp>
        <p:nvSpPr>
          <p:cNvPr id="11" name="TextBox 10"/>
          <p:cNvSpPr txBox="1"/>
          <p:nvPr/>
        </p:nvSpPr>
        <p:spPr>
          <a:xfrm>
            <a:off x="256032" y="3374136"/>
            <a:ext cx="7315200" cy="256032"/>
          </a:xfrm>
          <a:prstGeom prst="rect">
            <a:avLst/>
          </a:prstGeom>
          <a:noFill/>
        </p:spPr>
        <p:txBody>
          <a:bodyPr wrap="square">
            <a:spAutoFit/>
          </a:bodyPr>
          <a:lstStyle/>
          <a:p>
            <a:pPr algn="l"/>
            <a:r>
              <a:rPr sz="1100" b="0" i="0">
                <a:solidFill>
                  <a:srgbClr val="000000"/>
                </a:solidFill>
                <a:latin typeface="Arial"/>
              </a:rPr>
              <a:t>See the solutions matched to your size and industry.</a:t>
            </a:r>
          </a:p>
        </p:txBody>
      </p:sp>
      <p:sp>
        <p:nvSpPr>
          <p:cNvPr id="12" name="TextBox 11"/>
          <p:cNvSpPr txBox="1"/>
          <p:nvPr/>
        </p:nvSpPr>
        <p:spPr>
          <a:xfrm>
            <a:off x="256032" y="3666744"/>
            <a:ext cx="7315200" cy="274320"/>
          </a:xfrm>
          <a:prstGeom prst="rect">
            <a:avLst/>
          </a:prstGeom>
          <a:noFill/>
        </p:spPr>
        <p:txBody>
          <a:bodyPr wrap="square">
            <a:spAutoFit/>
          </a:bodyPr>
          <a:lstStyle/>
          <a:p>
            <a:pPr algn="l"/>
            <a:r>
              <a:rPr sz="1200" b="1">
                <a:solidFill>
                  <a:srgbClr val="01A296"/>
                </a:solidFill>
                <a:latin typeface="Arial"/>
                <a:hlinkClick r:id="rId2"/>
              </a:rPr>
              <a:t>profit-pulse.com.au/full-suite-of-products</a:t>
            </a:r>
          </a:p>
        </p:txBody>
      </p:sp>
      <p:sp>
        <p:nvSpPr>
          <p:cNvPr id="13" name="Rectangle 12"/>
          <p:cNvSpPr/>
          <p:nvPr/>
        </p:nvSpPr>
        <p:spPr>
          <a:xfrm>
            <a:off x="256032" y="4014216"/>
            <a:ext cx="7315200" cy="127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6032" y="4142232"/>
            <a:ext cx="7315200" cy="292608"/>
          </a:xfrm>
          <a:prstGeom prst="rect">
            <a:avLst/>
          </a:prstGeom>
          <a:noFill/>
        </p:spPr>
        <p:txBody>
          <a:bodyPr wrap="square">
            <a:spAutoFit/>
          </a:bodyPr>
          <a:lstStyle/>
          <a:p>
            <a:pPr algn="l"/>
            <a:r>
              <a:rPr sz="1200" b="1">
                <a:solidFill>
                  <a:srgbClr val="F6A102"/>
                </a:solidFill>
                <a:latin typeface="Arial"/>
                <a:hlinkClick r:id="rId3"/>
              </a:rPr>
              <a:t>Purchase the suggested product now to get started</a:t>
            </a:r>
          </a:p>
        </p:txBody>
      </p:sp>
      <p:sp>
        <p:nvSpPr>
          <p:cNvPr id="15" name="Rectangle 14"/>
          <p:cNvSpPr/>
          <p:nvPr/>
        </p:nvSpPr>
        <p:spPr>
          <a:xfrm>
            <a:off x="256032" y="4507992"/>
            <a:ext cx="7315200" cy="127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 y="4636008"/>
            <a:ext cx="7315200" cy="256032"/>
          </a:xfrm>
          <a:prstGeom prst="rect">
            <a:avLst/>
          </a:prstGeom>
          <a:noFill/>
        </p:spPr>
        <p:txBody>
          <a:bodyPr wrap="square">
            <a:spAutoFit/>
          </a:bodyPr>
          <a:lstStyle/>
          <a:p>
            <a:pPr algn="l"/>
            <a:r>
              <a:rPr sz="1100" b="0" i="0">
                <a:solidFill>
                  <a:srgbClr val="000000"/>
                </a:solidFill>
                <a:latin typeface="Arial"/>
              </a:rPr>
              <a:t>Prefer a conversation first?</a:t>
            </a:r>
          </a:p>
        </p:txBody>
      </p:sp>
      <p:sp>
        <p:nvSpPr>
          <p:cNvPr id="17" name="TextBox 16"/>
          <p:cNvSpPr txBox="1"/>
          <p:nvPr/>
        </p:nvSpPr>
        <p:spPr>
          <a:xfrm>
            <a:off x="256032" y="4910328"/>
            <a:ext cx="7315200" cy="274320"/>
          </a:xfrm>
          <a:prstGeom prst="rect">
            <a:avLst/>
          </a:prstGeom>
          <a:noFill/>
        </p:spPr>
        <p:txBody>
          <a:bodyPr wrap="square">
            <a:spAutoFit/>
          </a:bodyPr>
          <a:lstStyle/>
          <a:p>
            <a:pPr algn="l"/>
            <a:r>
              <a:rPr sz="1100" b="1">
                <a:solidFill>
                  <a:srgbClr val="01A296"/>
                </a:solidFill>
                <a:latin typeface="Arial"/>
                <a:hlinkClick r:id="rId4"/>
              </a:rPr>
              <a:t>Book a complimentary discovery call</a:t>
            </a:r>
          </a:p>
        </p:txBody>
      </p:sp>
      <p:sp>
        <p:nvSpPr>
          <p:cNvPr id="18" name="Rectangle 17"/>
          <p:cNvSpPr/>
          <p:nvPr/>
        </p:nvSpPr>
        <p:spPr>
          <a:xfrm>
            <a:off x="7818120" y="1005840"/>
            <a:ext cx="4206240" cy="52578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01000" y="1115568"/>
            <a:ext cx="3840480" cy="502920"/>
          </a:xfrm>
          <a:prstGeom prst="rect">
            <a:avLst/>
          </a:prstGeom>
          <a:noFill/>
        </p:spPr>
        <p:txBody>
          <a:bodyPr wrap="square">
            <a:spAutoFit/>
          </a:bodyPr>
          <a:lstStyle/>
          <a:p>
            <a:pPr algn="l"/>
            <a:r>
              <a:rPr sz="2200" b="1" i="0">
                <a:solidFill>
                  <a:srgbClr val="F8C806"/>
                </a:solidFill>
                <a:latin typeface="Cambria"/>
              </a:rPr>
              <a:t>Nitesh Roopa</a:t>
            </a:r>
          </a:p>
        </p:txBody>
      </p:sp>
      <p:sp>
        <p:nvSpPr>
          <p:cNvPr id="20" name="TextBox 19"/>
          <p:cNvSpPr txBox="1"/>
          <p:nvPr/>
        </p:nvSpPr>
        <p:spPr>
          <a:xfrm>
            <a:off x="8001000" y="1618488"/>
            <a:ext cx="3840480" cy="256032"/>
          </a:xfrm>
          <a:prstGeom prst="rect">
            <a:avLst/>
          </a:prstGeom>
          <a:noFill/>
        </p:spPr>
        <p:txBody>
          <a:bodyPr wrap="square">
            <a:spAutoFit/>
          </a:bodyPr>
          <a:lstStyle/>
          <a:p>
            <a:pPr algn="l"/>
            <a:r>
              <a:rPr sz="1200" b="0" i="0">
                <a:solidFill>
                  <a:srgbClr val="FFFFFF"/>
                </a:solidFill>
                <a:latin typeface="Arial"/>
              </a:rPr>
              <a:t>CA, Managing Partner</a:t>
            </a:r>
          </a:p>
        </p:txBody>
      </p:sp>
      <p:sp>
        <p:nvSpPr>
          <p:cNvPr id="21" name="TextBox 20"/>
          <p:cNvSpPr txBox="1"/>
          <p:nvPr/>
        </p:nvSpPr>
        <p:spPr>
          <a:xfrm>
            <a:off x="8001000" y="1874520"/>
            <a:ext cx="3840480" cy="292608"/>
          </a:xfrm>
          <a:prstGeom prst="rect">
            <a:avLst/>
          </a:prstGeom>
          <a:noFill/>
        </p:spPr>
        <p:txBody>
          <a:bodyPr wrap="square">
            <a:spAutoFit/>
          </a:bodyPr>
          <a:lstStyle/>
          <a:p>
            <a:pPr algn="l"/>
            <a:r>
              <a:rPr sz="1400" b="1" i="0">
                <a:solidFill>
                  <a:srgbClr val="01A296"/>
                </a:solidFill>
                <a:latin typeface="Arial"/>
              </a:rPr>
              <a:t>ProfitPulse</a:t>
            </a:r>
          </a:p>
        </p:txBody>
      </p:sp>
      <p:sp>
        <p:nvSpPr>
          <p:cNvPr id="22" name="Rectangle 21"/>
          <p:cNvSpPr/>
          <p:nvPr/>
        </p:nvSpPr>
        <p:spPr>
          <a:xfrm>
            <a:off x="8001000" y="2221992"/>
            <a:ext cx="3840480" cy="19050"/>
          </a:xfrm>
          <a:prstGeom prst="rect">
            <a:avLst/>
          </a:prstGeom>
          <a:solidFill>
            <a:srgbClr val="01A2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01000" y="2368296"/>
            <a:ext cx="3840480" cy="274320"/>
          </a:xfrm>
          <a:prstGeom prst="rect">
            <a:avLst/>
          </a:prstGeom>
          <a:noFill/>
        </p:spPr>
        <p:txBody>
          <a:bodyPr wrap="square">
            <a:spAutoFit/>
          </a:bodyPr>
          <a:lstStyle/>
          <a:p>
            <a:pPr algn="l"/>
            <a:r>
              <a:rPr sz="1000" b="0" i="0">
                <a:solidFill>
                  <a:srgbClr val="E6E5DE"/>
                </a:solidFill>
                <a:latin typeface="Arial"/>
              </a:rPr>
              <a:t>16 years across 4 countries</a:t>
            </a:r>
          </a:p>
        </p:txBody>
      </p:sp>
      <p:sp>
        <p:nvSpPr>
          <p:cNvPr id="24" name="TextBox 23"/>
          <p:cNvSpPr txBox="1"/>
          <p:nvPr/>
        </p:nvSpPr>
        <p:spPr>
          <a:xfrm>
            <a:off x="8001000" y="2642616"/>
            <a:ext cx="3840480" cy="274320"/>
          </a:xfrm>
          <a:prstGeom prst="rect">
            <a:avLst/>
          </a:prstGeom>
          <a:noFill/>
        </p:spPr>
        <p:txBody>
          <a:bodyPr wrap="square">
            <a:spAutoFit/>
          </a:bodyPr>
          <a:lstStyle/>
          <a:p>
            <a:pPr algn="l"/>
            <a:r>
              <a:rPr sz="1000" b="0" i="0">
                <a:solidFill>
                  <a:srgbClr val="E6E5DE"/>
                </a:solidFill>
                <a:latin typeface="Arial"/>
              </a:rPr>
              <a:t>52 deals executed and managed</a:t>
            </a:r>
          </a:p>
        </p:txBody>
      </p:sp>
      <p:sp>
        <p:nvSpPr>
          <p:cNvPr id="25" name="TextBox 24"/>
          <p:cNvSpPr txBox="1"/>
          <p:nvPr/>
        </p:nvSpPr>
        <p:spPr>
          <a:xfrm>
            <a:off x="8001000" y="2916936"/>
            <a:ext cx="3840480" cy="274320"/>
          </a:xfrm>
          <a:prstGeom prst="rect">
            <a:avLst/>
          </a:prstGeom>
          <a:noFill/>
        </p:spPr>
        <p:txBody>
          <a:bodyPr wrap="square">
            <a:spAutoFit/>
          </a:bodyPr>
          <a:lstStyle/>
          <a:p>
            <a:pPr algn="l"/>
            <a:r>
              <a:rPr sz="1000" b="0" i="0">
                <a:solidFill>
                  <a:srgbClr val="E6E5DE"/>
                </a:solidFill>
                <a:latin typeface="Arial"/>
              </a:rPr>
              <a:t>Largest deal: USD 1.3 billion, Cahora Bassa Hydro, Mozambique</a:t>
            </a:r>
          </a:p>
        </p:txBody>
      </p:sp>
      <p:sp>
        <p:nvSpPr>
          <p:cNvPr id="26" name="TextBox 25"/>
          <p:cNvSpPr txBox="1"/>
          <p:nvPr/>
        </p:nvSpPr>
        <p:spPr>
          <a:xfrm>
            <a:off x="8001000" y="3191256"/>
            <a:ext cx="3840480" cy="274320"/>
          </a:xfrm>
          <a:prstGeom prst="rect">
            <a:avLst/>
          </a:prstGeom>
          <a:noFill/>
        </p:spPr>
        <p:txBody>
          <a:bodyPr wrap="square">
            <a:spAutoFit/>
          </a:bodyPr>
          <a:lstStyle/>
          <a:p>
            <a:pPr algn="l"/>
            <a:r>
              <a:rPr sz="1000" b="0" i="0">
                <a:solidFill>
                  <a:srgbClr val="E6E5DE"/>
                </a:solidFill>
                <a:latin typeface="Arial"/>
              </a:rPr>
              <a:t>Total GRBT project value: over AUD 10 billion</a:t>
            </a:r>
          </a:p>
        </p:txBody>
      </p:sp>
      <p:sp>
        <p:nvSpPr>
          <p:cNvPr id="27" name="Rectangle 26"/>
          <p:cNvSpPr/>
          <p:nvPr/>
        </p:nvSpPr>
        <p:spPr>
          <a:xfrm>
            <a:off x="8001000" y="3557016"/>
            <a:ext cx="3840480" cy="19050"/>
          </a:xfrm>
          <a:prstGeom prst="rect">
            <a:avLst/>
          </a:prstGeom>
          <a:solidFill>
            <a:srgbClr val="01A2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01000" y="3703320"/>
            <a:ext cx="3840480" cy="237744"/>
          </a:xfrm>
          <a:prstGeom prst="rect">
            <a:avLst/>
          </a:prstGeom>
          <a:noFill/>
        </p:spPr>
        <p:txBody>
          <a:bodyPr wrap="square">
            <a:spAutoFit/>
          </a:bodyPr>
          <a:lstStyle/>
          <a:p>
            <a:pPr algn="l"/>
            <a:r>
              <a:rPr sz="1100" b="0" i="0">
                <a:solidFill>
                  <a:srgbClr val="E6E5DE"/>
                </a:solidFill>
                <a:latin typeface="Arial"/>
              </a:rPr>
              <a:t>Profit-Pulse.com.au</a:t>
            </a:r>
          </a:p>
        </p:txBody>
      </p:sp>
      <p:sp>
        <p:nvSpPr>
          <p:cNvPr id="29" name="TextBox 28"/>
          <p:cNvSpPr txBox="1"/>
          <p:nvPr/>
        </p:nvSpPr>
        <p:spPr>
          <a:xfrm>
            <a:off x="8001000" y="3950208"/>
            <a:ext cx="3840480" cy="237744"/>
          </a:xfrm>
          <a:prstGeom prst="rect">
            <a:avLst/>
          </a:prstGeom>
          <a:noFill/>
        </p:spPr>
        <p:txBody>
          <a:bodyPr wrap="square">
            <a:spAutoFit/>
          </a:bodyPr>
          <a:lstStyle/>
          <a:p>
            <a:pPr algn="l"/>
            <a:r>
              <a:rPr sz="1100" b="0" i="0">
                <a:solidFill>
                  <a:srgbClr val="01A296"/>
                </a:solidFill>
                <a:latin typeface="Arial"/>
              </a:rPr>
              <a:t>Nitesh@Profit-Pulse.com.au</a:t>
            </a:r>
          </a:p>
        </p:txBody>
      </p:sp>
      <p:sp>
        <p:nvSpPr>
          <p:cNvPr id="30" name="TextBox 29"/>
          <p:cNvSpPr txBox="1"/>
          <p:nvPr/>
        </p:nvSpPr>
        <p:spPr>
          <a:xfrm>
            <a:off x="8001000" y="4197096"/>
            <a:ext cx="3840480" cy="237744"/>
          </a:xfrm>
          <a:prstGeom prst="rect">
            <a:avLst/>
          </a:prstGeom>
          <a:noFill/>
        </p:spPr>
        <p:txBody>
          <a:bodyPr wrap="square">
            <a:spAutoFit/>
          </a:bodyPr>
          <a:lstStyle/>
          <a:p>
            <a:pPr algn="l"/>
            <a:r>
              <a:rPr sz="1100" b="0" i="0">
                <a:solidFill>
                  <a:srgbClr val="E6E5DE"/>
                </a:solidFill>
                <a:latin typeface="Arial"/>
              </a:rPr>
              <a:t>+61 411 876 267</a:t>
            </a:r>
          </a:p>
        </p:txBody>
      </p:sp>
      <p:sp>
        <p:nvSpPr>
          <p:cNvPr id="31" name="TextBox 30"/>
          <p:cNvSpPr txBox="1"/>
          <p:nvPr/>
        </p:nvSpPr>
        <p:spPr>
          <a:xfrm>
            <a:off x="8001000" y="4443984"/>
            <a:ext cx="3840480" cy="237744"/>
          </a:xfrm>
          <a:prstGeom prst="rect">
            <a:avLst/>
          </a:prstGeom>
          <a:noFill/>
        </p:spPr>
        <p:txBody>
          <a:bodyPr wrap="square">
            <a:spAutoFit/>
          </a:bodyPr>
          <a:lstStyle/>
          <a:p>
            <a:pPr algn="l"/>
            <a:r>
              <a:rPr sz="1100" b="0" i="0">
                <a:solidFill>
                  <a:srgbClr val="E6E5DE"/>
                </a:solidFill>
                <a:latin typeface="Arial"/>
              </a:rPr>
              <a:t>linkedin.com/in/nitesh-roopa-77594163</a:t>
            </a:r>
          </a:p>
        </p:txBody>
      </p:sp>
      <p:sp>
        <p:nvSpPr>
          <p:cNvPr id="32" name="Rectangle 31"/>
          <p:cNvSpPr/>
          <p:nvPr/>
        </p:nvSpPr>
        <p:spPr>
          <a:xfrm>
            <a:off x="164592" y="6419088"/>
            <a:ext cx="11887200" cy="127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8600" y="6492240"/>
            <a:ext cx="9144000" cy="274320"/>
          </a:xfrm>
          <a:prstGeom prst="rect">
            <a:avLst/>
          </a:prstGeom>
          <a:noFill/>
        </p:spPr>
        <p:txBody>
          <a:bodyPr wrap="square">
            <a:spAutoFit/>
          </a:bodyPr>
          <a:lstStyle/>
          <a:p>
            <a:pPr algn="l"/>
            <a:r>
              <a:rPr sz="900" b="0" i="0">
                <a:solidFill>
                  <a:srgbClr val="000000"/>
                </a:solidFill>
                <a:latin typeface="Arial"/>
              </a:rPr>
              <a:t>Prepared by Nitesh Roopa CA, Managing Partner and Founder, ProfitPulse, Profit-Pulse.com.au</a:t>
            </a:r>
          </a:p>
        </p:txBody>
      </p:sp>
      <p:sp>
        <p:nvSpPr>
          <p:cNvPr id="34" name="TextBox 33"/>
          <p:cNvSpPr txBox="1"/>
          <p:nvPr/>
        </p:nvSpPr>
        <p:spPr>
          <a:xfrm>
            <a:off x="10058400" y="6492240"/>
            <a:ext cx="1965960" cy="274320"/>
          </a:xfrm>
          <a:prstGeom prst="rect">
            <a:avLst/>
          </a:prstGeom>
          <a:noFill/>
        </p:spPr>
        <p:txBody>
          <a:bodyPr wrap="square">
            <a:spAutoFit/>
          </a:bodyPr>
          <a:lstStyle/>
          <a:p>
            <a:pPr algn="r"/>
            <a:r>
              <a:rPr sz="900" b="0" i="0">
                <a:solidFill>
                  <a:srgbClr val="000000"/>
                </a:solidFill>
                <a:latin typeface="Arial"/>
              </a:rPr>
              <a:t>01 Jul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