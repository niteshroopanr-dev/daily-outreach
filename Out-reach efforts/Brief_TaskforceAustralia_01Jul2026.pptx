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oAutofit/>
          </a:bodyPr>
          <a:lstStyle/>
          <a:p>
            <a:pPr algn="l"/>
            <a:r>
              <a:rPr sz="1200" b="1" i="0">
                <a:solidFill>
                  <a:srgbClr val="E6E5DE"/>
                </a:solidFill>
                <a:latin typeface="Calibri"/>
              </a:rPr>
              <a:t>COMMERCIAL INTELLIGENCE BRIEF</a:t>
            </a:r>
          </a:p>
        </p:txBody>
      </p:sp>
      <p:sp>
        <p:nvSpPr>
          <p:cNvPr id="5" name="TextBox 4"/>
          <p:cNvSpPr txBox="1"/>
          <p:nvPr/>
        </p:nvSpPr>
        <p:spPr>
          <a:xfrm>
            <a:off x="6858000" y="292608"/>
            <a:ext cx="5029200" cy="365760"/>
          </a:xfrm>
          <a:prstGeom prst="rect">
            <a:avLst/>
          </a:prstGeom>
          <a:noFill/>
        </p:spPr>
        <p:txBody>
          <a:bodyPr wrap="square">
            <a:noAutofit/>
          </a:bodyPr>
          <a:lstStyle/>
          <a:p>
            <a:pPr algn="r"/>
            <a:r>
              <a:rPr sz="1200" b="1" i="0">
                <a:solidFill>
                  <a:srgbClr val="F8C806"/>
                </a:solidFill>
                <a:latin typeface="Calibri"/>
              </a:rPr>
              <a:t>PROFITPULSE</a:t>
            </a:r>
          </a:p>
        </p:txBody>
      </p:sp>
      <p:sp>
        <p:nvSpPr>
          <p:cNvPr id="6" name="Rectangle 5"/>
          <p:cNvSpPr/>
          <p:nvPr/>
        </p:nvSpPr>
        <p:spPr>
          <a:xfrm>
            <a:off x="320040" y="6400800"/>
            <a:ext cx="73152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11521440" cy="274320"/>
          </a:xfrm>
          <a:prstGeom prst="rect">
            <a:avLst/>
          </a:prstGeom>
          <a:noFill/>
        </p:spPr>
        <p:txBody>
          <a:bodyPr wrap="square">
            <a:noAutofit/>
          </a:bodyPr>
          <a:lstStyle/>
          <a:p>
            <a:pPr algn="l"/>
            <a:r>
              <a:rPr sz="800" b="0" i="0">
                <a:solidFill>
                  <a:srgbClr val="666666"/>
                </a:solidFill>
                <a:latin typeface="Calibri"/>
              </a:rPr>
              <a:t>Prepared by Nitesh Roopa CA, Managing Partner and Founder, ProfitPulse, Profit-Pulse.com.au    01 Jul 2026</a:t>
            </a:r>
          </a:p>
        </p:txBody>
      </p:sp>
      <p:sp>
        <p:nvSpPr>
          <p:cNvPr id="8" name="TextBox 7"/>
          <p:cNvSpPr txBox="1"/>
          <p:nvPr/>
        </p:nvSpPr>
        <p:spPr>
          <a:xfrm>
            <a:off x="320040" y="1051560"/>
            <a:ext cx="10515600" cy="640080"/>
          </a:xfrm>
          <a:prstGeom prst="rect">
            <a:avLst/>
          </a:prstGeom>
          <a:noFill/>
        </p:spPr>
        <p:txBody>
          <a:bodyPr wrap="square">
            <a:noAutofit/>
          </a:bodyPr>
          <a:lstStyle/>
          <a:p>
            <a:pPr algn="l"/>
            <a:r>
              <a:rPr sz="4000" b="1" i="0">
                <a:solidFill>
                  <a:srgbClr val="000000"/>
                </a:solidFill>
                <a:latin typeface="Cambria"/>
              </a:rPr>
              <a:t>Taskforce Australia</a:t>
            </a:r>
          </a:p>
        </p:txBody>
      </p:sp>
      <p:sp>
        <p:nvSpPr>
          <p:cNvPr id="9" name="TextBox 8"/>
          <p:cNvSpPr txBox="1"/>
          <p:nvPr/>
        </p:nvSpPr>
        <p:spPr>
          <a:xfrm>
            <a:off x="320040" y="1691640"/>
            <a:ext cx="10515600" cy="365760"/>
          </a:xfrm>
          <a:prstGeom prst="rect">
            <a:avLst/>
          </a:prstGeom>
          <a:noFill/>
        </p:spPr>
        <p:txBody>
          <a:bodyPr wrap="square">
            <a:noAutofit/>
          </a:bodyPr>
          <a:lstStyle/>
          <a:p>
            <a:pPr algn="l"/>
            <a:r>
              <a:rPr sz="1400" b="0" i="0">
                <a:solidFill>
                  <a:srgbClr val="333333"/>
                </a:solidFill>
                <a:latin typeface="Calibri"/>
              </a:rPr>
              <a:t>Trade services and SaaS warranty platform, Burnley, Melbourne VIC</a:t>
            </a:r>
          </a:p>
        </p:txBody>
      </p:sp>
      <p:sp>
        <p:nvSpPr>
          <p:cNvPr id="10" name="Rectangle 9"/>
          <p:cNvSpPr/>
          <p:nvPr/>
        </p:nvSpPr>
        <p:spPr>
          <a:xfrm>
            <a:off x="320040"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94560"/>
            <a:ext cx="181096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359152"/>
            <a:ext cx="1536649" cy="457200"/>
          </a:xfrm>
          <a:prstGeom prst="rect">
            <a:avLst/>
          </a:prstGeom>
          <a:noFill/>
        </p:spPr>
        <p:txBody>
          <a:bodyPr wrap="square">
            <a:noAutofit/>
          </a:bodyPr>
          <a:lstStyle/>
          <a:p>
            <a:pPr algn="l"/>
            <a:r>
              <a:rPr sz="2700" b="1" i="0">
                <a:solidFill>
                  <a:srgbClr val="F8C806"/>
                </a:solidFill>
                <a:latin typeface="Cambria"/>
              </a:rPr>
              <a:t>$12.8M</a:t>
            </a:r>
          </a:p>
        </p:txBody>
      </p:sp>
      <p:sp>
        <p:nvSpPr>
          <p:cNvPr id="13" name="TextBox 12"/>
          <p:cNvSpPr txBox="1"/>
          <p:nvPr/>
        </p:nvSpPr>
        <p:spPr>
          <a:xfrm>
            <a:off x="457200" y="2852928"/>
            <a:ext cx="1536649" cy="502920"/>
          </a:xfrm>
          <a:prstGeom prst="rect">
            <a:avLst/>
          </a:prstGeom>
          <a:noFill/>
        </p:spPr>
        <p:txBody>
          <a:bodyPr wrap="square">
            <a:noAutofit/>
          </a:bodyPr>
          <a:lstStyle/>
          <a:p>
            <a:pPr algn="l">
              <a:lnSpc>
                <a:spcPct val="105000"/>
              </a:lnSpc>
            </a:pPr>
            <a:r>
              <a:rPr sz="1100" b="0" i="0">
                <a:solidFill>
                  <a:srgbClr val="E6E5DE"/>
                </a:solidFill>
                <a:latin typeface="Calibri"/>
              </a:rPr>
              <a:t>FY2025 revenue, Smart50 rank 37</a:t>
            </a:r>
          </a:p>
        </p:txBody>
      </p:sp>
      <p:sp>
        <p:nvSpPr>
          <p:cNvPr id="14" name="TextBox 13"/>
          <p:cNvSpPr txBox="1"/>
          <p:nvPr/>
        </p:nvSpPr>
        <p:spPr>
          <a:xfrm>
            <a:off x="457200" y="3364992"/>
            <a:ext cx="1536649" cy="256032"/>
          </a:xfrm>
          <a:prstGeom prst="rect">
            <a:avLst/>
          </a:prstGeom>
          <a:noFill/>
        </p:spPr>
        <p:txBody>
          <a:bodyPr wrap="square">
            <a:noAutofit/>
          </a:bodyPr>
          <a:lstStyle/>
          <a:p>
            <a:pPr algn="l"/>
            <a:r>
              <a:rPr sz="700" b="0" i="1">
                <a:solidFill>
                  <a:srgbClr val="9A9A9A"/>
                </a:solidFill>
                <a:latin typeface="Calibri"/>
              </a:rPr>
              <a:t>SmartCompany Smart50 2025</a:t>
            </a:r>
          </a:p>
        </p:txBody>
      </p:sp>
      <p:sp>
        <p:nvSpPr>
          <p:cNvPr id="15" name="Rectangle 14"/>
          <p:cNvSpPr/>
          <p:nvPr/>
        </p:nvSpPr>
        <p:spPr>
          <a:xfrm>
            <a:off x="2268169"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68169" y="2194560"/>
            <a:ext cx="181096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05329" y="2359152"/>
            <a:ext cx="1536649" cy="457200"/>
          </a:xfrm>
          <a:prstGeom prst="rect">
            <a:avLst/>
          </a:prstGeom>
          <a:noFill/>
        </p:spPr>
        <p:txBody>
          <a:bodyPr wrap="square">
            <a:noAutofit/>
          </a:bodyPr>
          <a:lstStyle/>
          <a:p>
            <a:pPr algn="l"/>
            <a:r>
              <a:rPr sz="2700" b="1" i="0">
                <a:solidFill>
                  <a:srgbClr val="F8C806"/>
                </a:solidFill>
                <a:latin typeface="Cambria"/>
              </a:rPr>
              <a:t>31%</a:t>
            </a:r>
          </a:p>
        </p:txBody>
      </p:sp>
      <p:sp>
        <p:nvSpPr>
          <p:cNvPr id="18" name="TextBox 17"/>
          <p:cNvSpPr txBox="1"/>
          <p:nvPr/>
        </p:nvSpPr>
        <p:spPr>
          <a:xfrm>
            <a:off x="2405329" y="2852928"/>
            <a:ext cx="1536649" cy="502920"/>
          </a:xfrm>
          <a:prstGeom prst="rect">
            <a:avLst/>
          </a:prstGeom>
          <a:noFill/>
        </p:spPr>
        <p:txBody>
          <a:bodyPr wrap="square">
            <a:noAutofit/>
          </a:bodyPr>
          <a:lstStyle/>
          <a:p>
            <a:pPr algn="l">
              <a:lnSpc>
                <a:spcPct val="105000"/>
              </a:lnSpc>
            </a:pPr>
            <a:r>
              <a:rPr sz="1100" b="0" i="0">
                <a:solidFill>
                  <a:srgbClr val="E6E5DE"/>
                </a:solidFill>
                <a:latin typeface="Calibri"/>
              </a:rPr>
              <a:t>FY2025 revenue growth rate</a:t>
            </a:r>
          </a:p>
        </p:txBody>
      </p:sp>
      <p:sp>
        <p:nvSpPr>
          <p:cNvPr id="19" name="TextBox 18"/>
          <p:cNvSpPr txBox="1"/>
          <p:nvPr/>
        </p:nvSpPr>
        <p:spPr>
          <a:xfrm>
            <a:off x="2405329" y="3364992"/>
            <a:ext cx="1536649" cy="256032"/>
          </a:xfrm>
          <a:prstGeom prst="rect">
            <a:avLst/>
          </a:prstGeom>
          <a:noFill/>
        </p:spPr>
        <p:txBody>
          <a:bodyPr wrap="square">
            <a:noAutofit/>
          </a:bodyPr>
          <a:lstStyle/>
          <a:p>
            <a:pPr algn="l"/>
            <a:r>
              <a:rPr sz="700" b="0" i="1">
                <a:solidFill>
                  <a:srgbClr val="9A9A9A"/>
                </a:solidFill>
                <a:latin typeface="Calibri"/>
              </a:rPr>
              <a:t>SmartCompany Smart50 2025</a:t>
            </a:r>
          </a:p>
        </p:txBody>
      </p:sp>
      <p:sp>
        <p:nvSpPr>
          <p:cNvPr id="20" name="Rectangle 19"/>
          <p:cNvSpPr/>
          <p:nvPr/>
        </p:nvSpPr>
        <p:spPr>
          <a:xfrm>
            <a:off x="4216298"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16298" y="2194560"/>
            <a:ext cx="181096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53458" y="2359152"/>
            <a:ext cx="1536649" cy="457200"/>
          </a:xfrm>
          <a:prstGeom prst="rect">
            <a:avLst/>
          </a:prstGeom>
          <a:noFill/>
        </p:spPr>
        <p:txBody>
          <a:bodyPr wrap="square">
            <a:noAutofit/>
          </a:bodyPr>
          <a:lstStyle/>
          <a:p>
            <a:pPr algn="l"/>
            <a:r>
              <a:rPr sz="2700" b="1" i="0">
                <a:solidFill>
                  <a:srgbClr val="F8C806"/>
                </a:solidFill>
                <a:latin typeface="Cambria"/>
              </a:rPr>
              <a:t>19</a:t>
            </a:r>
          </a:p>
        </p:txBody>
      </p:sp>
      <p:sp>
        <p:nvSpPr>
          <p:cNvPr id="23" name="TextBox 22"/>
          <p:cNvSpPr txBox="1"/>
          <p:nvPr/>
        </p:nvSpPr>
        <p:spPr>
          <a:xfrm>
            <a:off x="4353458" y="2852928"/>
            <a:ext cx="1536649" cy="502920"/>
          </a:xfrm>
          <a:prstGeom prst="rect">
            <a:avLst/>
          </a:prstGeom>
          <a:noFill/>
        </p:spPr>
        <p:txBody>
          <a:bodyPr wrap="square">
            <a:noAutofit/>
          </a:bodyPr>
          <a:lstStyle/>
          <a:p>
            <a:pPr algn="l">
              <a:lnSpc>
                <a:spcPct val="105000"/>
              </a:lnSpc>
            </a:pPr>
            <a:r>
              <a:rPr sz="1100" b="0" i="0">
                <a:solidFill>
                  <a:srgbClr val="E6E5DE"/>
                </a:solidFill>
                <a:latin typeface="Calibri"/>
              </a:rPr>
              <a:t>Employees, Smart50 listing</a:t>
            </a:r>
          </a:p>
        </p:txBody>
      </p:sp>
      <p:sp>
        <p:nvSpPr>
          <p:cNvPr id="24" name="TextBox 23"/>
          <p:cNvSpPr txBox="1"/>
          <p:nvPr/>
        </p:nvSpPr>
        <p:spPr>
          <a:xfrm>
            <a:off x="4353458" y="3364992"/>
            <a:ext cx="1536649" cy="256032"/>
          </a:xfrm>
          <a:prstGeom prst="rect">
            <a:avLst/>
          </a:prstGeom>
          <a:noFill/>
        </p:spPr>
        <p:txBody>
          <a:bodyPr wrap="square">
            <a:noAutofit/>
          </a:bodyPr>
          <a:lstStyle/>
          <a:p>
            <a:pPr algn="l"/>
            <a:r>
              <a:rPr sz="700" b="0" i="1">
                <a:solidFill>
                  <a:srgbClr val="9A9A9A"/>
                </a:solidFill>
                <a:latin typeface="Calibri"/>
              </a:rPr>
              <a:t>SmartCompany Smart50 2025</a:t>
            </a:r>
          </a:p>
        </p:txBody>
      </p:sp>
      <p:sp>
        <p:nvSpPr>
          <p:cNvPr id="25" name="Rectangle 24"/>
          <p:cNvSpPr/>
          <p:nvPr/>
        </p:nvSpPr>
        <p:spPr>
          <a:xfrm>
            <a:off x="6164427"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4427" y="2194560"/>
            <a:ext cx="181096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1587" y="2359152"/>
            <a:ext cx="1536649" cy="457200"/>
          </a:xfrm>
          <a:prstGeom prst="rect">
            <a:avLst/>
          </a:prstGeom>
          <a:noFill/>
        </p:spPr>
        <p:txBody>
          <a:bodyPr wrap="square">
            <a:noAutofit/>
          </a:bodyPr>
          <a:lstStyle/>
          <a:p>
            <a:pPr algn="l"/>
            <a:r>
              <a:rPr sz="2700" b="1" i="0">
                <a:solidFill>
                  <a:srgbClr val="F8C806"/>
                </a:solidFill>
                <a:latin typeface="Cambria"/>
              </a:rPr>
              <a:t>2014</a:t>
            </a:r>
          </a:p>
        </p:txBody>
      </p:sp>
      <p:sp>
        <p:nvSpPr>
          <p:cNvPr id="28" name="TextBox 27"/>
          <p:cNvSpPr txBox="1"/>
          <p:nvPr/>
        </p:nvSpPr>
        <p:spPr>
          <a:xfrm>
            <a:off x="6301587" y="2852928"/>
            <a:ext cx="1536649" cy="502920"/>
          </a:xfrm>
          <a:prstGeom prst="rect">
            <a:avLst/>
          </a:prstGeom>
          <a:noFill/>
        </p:spPr>
        <p:txBody>
          <a:bodyPr wrap="square">
            <a:noAutofit/>
          </a:bodyPr>
          <a:lstStyle/>
          <a:p>
            <a:pPr algn="l">
              <a:lnSpc>
                <a:spcPct val="105000"/>
              </a:lnSpc>
            </a:pPr>
            <a:r>
              <a:rPr sz="1100" b="0" i="0">
                <a:solidFill>
                  <a:srgbClr val="E6E5DE"/>
                </a:solidFill>
                <a:latin typeface="Calibri"/>
              </a:rPr>
              <a:t>Year founded, Burnley VIC</a:t>
            </a:r>
          </a:p>
        </p:txBody>
      </p:sp>
      <p:sp>
        <p:nvSpPr>
          <p:cNvPr id="29" name="TextBox 28"/>
          <p:cNvSpPr txBox="1"/>
          <p:nvPr/>
        </p:nvSpPr>
        <p:spPr>
          <a:xfrm>
            <a:off x="6301587" y="3364992"/>
            <a:ext cx="1536649" cy="256032"/>
          </a:xfrm>
          <a:prstGeom prst="rect">
            <a:avLst/>
          </a:prstGeom>
          <a:noFill/>
        </p:spPr>
        <p:txBody>
          <a:bodyPr wrap="square">
            <a:noAutofit/>
          </a:bodyPr>
          <a:lstStyle/>
          <a:p>
            <a:pPr algn="l"/>
            <a:r>
              <a:rPr sz="700" b="0" i="1">
                <a:solidFill>
                  <a:srgbClr val="9A9A9A"/>
                </a:solidFill>
                <a:latin typeface="Calibri"/>
              </a:rPr>
              <a:t>SmartCompany Smart50 2023</a:t>
            </a:r>
          </a:p>
        </p:txBody>
      </p:sp>
      <p:sp>
        <p:nvSpPr>
          <p:cNvPr id="30" name="Rectangle 29"/>
          <p:cNvSpPr/>
          <p:nvPr/>
        </p:nvSpPr>
        <p:spPr>
          <a:xfrm>
            <a:off x="8112556"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12556" y="2194560"/>
            <a:ext cx="181096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9716" y="2359152"/>
            <a:ext cx="1536649" cy="457200"/>
          </a:xfrm>
          <a:prstGeom prst="rect">
            <a:avLst/>
          </a:prstGeom>
          <a:noFill/>
        </p:spPr>
        <p:txBody>
          <a:bodyPr wrap="square">
            <a:noAutofit/>
          </a:bodyPr>
          <a:lstStyle/>
          <a:p>
            <a:pPr algn="l"/>
            <a:r>
              <a:rPr sz="2700" b="1" i="0">
                <a:solidFill>
                  <a:srgbClr val="F8C806"/>
                </a:solidFill>
                <a:latin typeface="Cambria"/>
              </a:rPr>
              <a:t>5,500</a:t>
            </a:r>
          </a:p>
        </p:txBody>
      </p:sp>
      <p:sp>
        <p:nvSpPr>
          <p:cNvPr id="33" name="TextBox 32"/>
          <p:cNvSpPr txBox="1"/>
          <p:nvPr/>
        </p:nvSpPr>
        <p:spPr>
          <a:xfrm>
            <a:off x="8249716" y="2852928"/>
            <a:ext cx="1536649" cy="502920"/>
          </a:xfrm>
          <a:prstGeom prst="rect">
            <a:avLst/>
          </a:prstGeom>
          <a:noFill/>
        </p:spPr>
        <p:txBody>
          <a:bodyPr wrap="square">
            <a:noAutofit/>
          </a:bodyPr>
          <a:lstStyle/>
          <a:p>
            <a:pPr algn="l">
              <a:lnSpc>
                <a:spcPct val="105000"/>
              </a:lnSpc>
            </a:pPr>
            <a:r>
              <a:rPr sz="1100" b="0" i="0">
                <a:solidFill>
                  <a:srgbClr val="E6E5DE"/>
                </a:solidFill>
                <a:latin typeface="Calibri"/>
              </a:rPr>
              <a:t>Tradespeople in active network</a:t>
            </a:r>
          </a:p>
        </p:txBody>
      </p:sp>
      <p:sp>
        <p:nvSpPr>
          <p:cNvPr id="34" name="TextBox 33"/>
          <p:cNvSpPr txBox="1"/>
          <p:nvPr/>
        </p:nvSpPr>
        <p:spPr>
          <a:xfrm>
            <a:off x="8249716" y="3364992"/>
            <a:ext cx="1536649" cy="256032"/>
          </a:xfrm>
          <a:prstGeom prst="rect">
            <a:avLst/>
          </a:prstGeom>
          <a:noFill/>
        </p:spPr>
        <p:txBody>
          <a:bodyPr wrap="square">
            <a:noAutofit/>
          </a:bodyPr>
          <a:lstStyle/>
          <a:p>
            <a:pPr algn="l"/>
            <a:r>
              <a:rPr sz="700" b="0" i="1">
                <a:solidFill>
                  <a:srgbClr val="9A9A9A"/>
                </a:solidFill>
                <a:latin typeface="Calibri"/>
              </a:rPr>
              <a:t>SmartCompany Smart50 2025</a:t>
            </a:r>
          </a:p>
        </p:txBody>
      </p:sp>
      <p:sp>
        <p:nvSpPr>
          <p:cNvPr id="35" name="Rectangle 34"/>
          <p:cNvSpPr/>
          <p:nvPr/>
        </p:nvSpPr>
        <p:spPr>
          <a:xfrm>
            <a:off x="10060685" y="2194560"/>
            <a:ext cx="1810969"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60685" y="2194560"/>
            <a:ext cx="181096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97845" y="2359152"/>
            <a:ext cx="1536649" cy="457200"/>
          </a:xfrm>
          <a:prstGeom prst="rect">
            <a:avLst/>
          </a:prstGeom>
          <a:noFill/>
        </p:spPr>
        <p:txBody>
          <a:bodyPr wrap="square">
            <a:noAutofit/>
          </a:bodyPr>
          <a:lstStyle/>
          <a:p>
            <a:pPr algn="l"/>
            <a:r>
              <a:rPr sz="2700" b="1" i="0">
                <a:solidFill>
                  <a:srgbClr val="F8C806"/>
                </a:solidFill>
                <a:latin typeface="Cambria"/>
              </a:rPr>
              <a:t>$1.5M</a:t>
            </a:r>
          </a:p>
        </p:txBody>
      </p:sp>
      <p:sp>
        <p:nvSpPr>
          <p:cNvPr id="38" name="TextBox 37"/>
          <p:cNvSpPr txBox="1"/>
          <p:nvPr/>
        </p:nvSpPr>
        <p:spPr>
          <a:xfrm>
            <a:off x="10197845" y="2852928"/>
            <a:ext cx="1536649" cy="502920"/>
          </a:xfrm>
          <a:prstGeom prst="rect">
            <a:avLst/>
          </a:prstGeom>
          <a:noFill/>
        </p:spPr>
        <p:txBody>
          <a:bodyPr wrap="square">
            <a:noAutofit/>
          </a:bodyPr>
          <a:lstStyle/>
          <a:p>
            <a:pPr algn="l">
              <a:lnSpc>
                <a:spcPct val="105000"/>
              </a:lnSpc>
            </a:pPr>
            <a:r>
              <a:rPr sz="1100" b="0" i="0">
                <a:solidFill>
                  <a:srgbClr val="E6E5DE"/>
                </a:solidFill>
                <a:latin typeface="Calibri"/>
              </a:rPr>
              <a:t>Capital raised, XSallarate, Futurist</a:t>
            </a:r>
          </a:p>
        </p:txBody>
      </p:sp>
      <p:sp>
        <p:nvSpPr>
          <p:cNvPr id="39" name="TextBox 38"/>
          <p:cNvSpPr txBox="1"/>
          <p:nvPr/>
        </p:nvSpPr>
        <p:spPr>
          <a:xfrm>
            <a:off x="10197845" y="3364992"/>
            <a:ext cx="1536649" cy="256032"/>
          </a:xfrm>
          <a:prstGeom prst="rect">
            <a:avLst/>
          </a:prstGeom>
          <a:noFill/>
        </p:spPr>
        <p:txBody>
          <a:bodyPr wrap="square">
            <a:noAutofit/>
          </a:bodyPr>
          <a:lstStyle/>
          <a:p>
            <a:pPr algn="l"/>
            <a:r>
              <a:rPr sz="700" b="0" i="1">
                <a:solidFill>
                  <a:srgbClr val="9A9A9A"/>
                </a:solidFill>
                <a:latin typeface="Calibri"/>
              </a:rPr>
              <a:t>SmartCompany, 23 Aug 2019</a:t>
            </a:r>
          </a:p>
        </p:txBody>
      </p:sp>
      <p:sp>
        <p:nvSpPr>
          <p:cNvPr id="40" name="TextBox 39"/>
          <p:cNvSpPr txBox="1"/>
          <p:nvPr/>
        </p:nvSpPr>
        <p:spPr>
          <a:xfrm>
            <a:off x="320040" y="3977639"/>
            <a:ext cx="7315200" cy="274320"/>
          </a:xfrm>
          <a:prstGeom prst="rect">
            <a:avLst/>
          </a:prstGeom>
          <a:noFill/>
        </p:spPr>
        <p:txBody>
          <a:bodyPr wrap="square">
            <a:noAutofit/>
          </a:bodyPr>
          <a:lstStyle/>
          <a:p>
            <a:pPr algn="l"/>
            <a:r>
              <a:rPr sz="1200" b="1" i="0">
                <a:solidFill>
                  <a:srgbClr val="01A296"/>
                </a:solidFill>
                <a:latin typeface="Calibri"/>
              </a:rPr>
              <a:t>KEY COMMERCIAL SIGNALS</a:t>
            </a:r>
          </a:p>
        </p:txBody>
      </p:sp>
      <p:sp>
        <p:nvSpPr>
          <p:cNvPr id="41" name="TextBox 40"/>
          <p:cNvSpPr txBox="1"/>
          <p:nvPr/>
        </p:nvSpPr>
        <p:spPr>
          <a:xfrm>
            <a:off x="320040" y="4297680"/>
            <a:ext cx="11521440" cy="2011680"/>
          </a:xfrm>
          <a:prstGeom prst="rect">
            <a:avLst/>
          </a:prstGeom>
          <a:noFill/>
        </p:spPr>
        <p:txBody>
          <a:bodyPr wrap="square">
            <a:noAutofit/>
          </a:bodyPr>
          <a:lstStyle/>
          <a:p>
            <a:pPr algn="l">
              <a:lnSpc>
                <a:spcPct val="108000"/>
              </a:lnSpc>
              <a:spcAft>
                <a:spcPts val="700"/>
              </a:spcAft>
            </a:pPr>
            <a:r>
              <a:rPr sz="1150" b="0" i="0">
                <a:solidFill>
                  <a:srgbClr val="000000"/>
                </a:solidFill>
                <a:latin typeface="Calibri"/>
              </a:rPr>
              <a:t>•  Revenue compounded from $7.43 million to $12.8 million across three Smart50 listings, 2023 to 2025.</a:t>
            </a:r>
          </a:p>
          <a:p>
            <a:pPr algn="l">
              <a:lnSpc>
                <a:spcPct val="108000"/>
              </a:lnSpc>
              <a:spcAft>
                <a:spcPts val="700"/>
              </a:spcAft>
            </a:pPr>
            <a:r>
              <a:rPr sz="1150" b="0" i="0">
                <a:solidFill>
                  <a:srgbClr val="000000"/>
                </a:solidFill>
                <a:latin typeface="Calibri"/>
              </a:rPr>
              <a:t>•  Headcount held close to flat at 19 to 20 people through the full three year run.</a:t>
            </a:r>
          </a:p>
          <a:p>
            <a:pPr algn="l">
              <a:lnSpc>
                <a:spcPct val="108000"/>
              </a:lnSpc>
              <a:spcAft>
                <a:spcPts val="700"/>
              </a:spcAft>
            </a:pPr>
            <a:r>
              <a:rPr sz="1150" b="0" i="0">
                <a:solidFill>
                  <a:srgbClr val="000000"/>
                </a:solidFill>
                <a:latin typeface="Calibri"/>
              </a:rPr>
              <a:t>•  RentSafe SaaS platform has processed over 140,000 jobs across 20 major consumer brands.</a:t>
            </a:r>
          </a:p>
          <a:p>
            <a:pPr algn="l">
              <a:lnSpc>
                <a:spcPct val="108000"/>
              </a:lnSpc>
              <a:spcAft>
                <a:spcPts val="700"/>
              </a:spcAft>
            </a:pPr>
            <a:r>
              <a:rPr sz="1150" b="0" i="0">
                <a:solidFill>
                  <a:srgbClr val="000000"/>
                </a:solidFill>
                <a:latin typeface="Calibri"/>
              </a:rPr>
              <a:t>•  Company's own 2025 listing names its housing division as the most profitable line.</a:t>
            </a:r>
          </a:p>
          <a:p>
            <a:pPr algn="l">
              <a:lnSpc>
                <a:spcPct val="108000"/>
              </a:lnSpc>
              <a:spcAft>
                <a:spcPts val="700"/>
              </a:spcAft>
            </a:pPr>
            <a:r>
              <a:rPr sz="1150" b="0" i="0">
                <a:solidFill>
                  <a:srgbClr val="000000"/>
                </a:solidFill>
                <a:latin typeface="Calibri"/>
              </a:rPr>
              <a:t>•  Named Victorian State Winner, Telstra Best of Business Awards, Outstanding Growth, 2024.</a:t>
            </a:r>
          </a:p>
          <a:p>
            <a:pPr algn="l">
              <a:lnSpc>
                <a:spcPct val="108000"/>
              </a:lnSpc>
              <a:spcAft>
                <a:spcPts val="700"/>
              </a:spcAft>
            </a:pPr>
            <a:r>
              <a:rPr sz="1150" b="0" i="0">
                <a:solidFill>
                  <a:srgbClr val="000000"/>
                </a:solidFill>
                <a:latin typeface="Calibri"/>
              </a:rPr>
              <a:t>•  Raised $1.5 million from XSallarate and Futurist Capital to expand sales and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oAutofit/>
          </a:bodyPr>
          <a:lstStyle/>
          <a:p>
            <a:pPr algn="l"/>
            <a:r>
              <a:rPr sz="1200" b="1" i="0">
                <a:solidFill>
                  <a:srgbClr val="E6E5DE"/>
                </a:solidFill>
                <a:latin typeface="Calibri"/>
              </a:rPr>
              <a:t>THE OPPORTUNITY</a:t>
            </a:r>
          </a:p>
        </p:txBody>
      </p:sp>
      <p:sp>
        <p:nvSpPr>
          <p:cNvPr id="5" name="TextBox 4"/>
          <p:cNvSpPr txBox="1"/>
          <p:nvPr/>
        </p:nvSpPr>
        <p:spPr>
          <a:xfrm>
            <a:off x="6858000" y="292608"/>
            <a:ext cx="5029200" cy="365760"/>
          </a:xfrm>
          <a:prstGeom prst="rect">
            <a:avLst/>
          </a:prstGeom>
          <a:noFill/>
        </p:spPr>
        <p:txBody>
          <a:bodyPr wrap="square">
            <a:noAutofit/>
          </a:bodyPr>
          <a:lstStyle/>
          <a:p>
            <a:pPr algn="r"/>
            <a:r>
              <a:rPr sz="1200" b="1" i="0">
                <a:solidFill>
                  <a:srgbClr val="F8C806"/>
                </a:solidFill>
                <a:latin typeface="Calibri"/>
              </a:rPr>
              <a:t>Taskforce Australia</a:t>
            </a:r>
          </a:p>
        </p:txBody>
      </p:sp>
      <p:sp>
        <p:nvSpPr>
          <p:cNvPr id="6" name="Rectangle 5"/>
          <p:cNvSpPr/>
          <p:nvPr/>
        </p:nvSpPr>
        <p:spPr>
          <a:xfrm>
            <a:off x="320040" y="6400800"/>
            <a:ext cx="73152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11521440" cy="274320"/>
          </a:xfrm>
          <a:prstGeom prst="rect">
            <a:avLst/>
          </a:prstGeom>
          <a:noFill/>
        </p:spPr>
        <p:txBody>
          <a:bodyPr wrap="square">
            <a:noAutofit/>
          </a:bodyPr>
          <a:lstStyle/>
          <a:p>
            <a:pPr algn="l"/>
            <a:r>
              <a:rPr sz="800" b="0" i="0">
                <a:solidFill>
                  <a:srgbClr val="666666"/>
                </a:solidFill>
                <a:latin typeface="Calibri"/>
              </a:rPr>
              <a:t>Prepared by Nitesh Roopa CA, Managing Partner and Founder, ProfitPulse, Profit-Pulse.com.au    01 Jul 2026</a:t>
            </a:r>
          </a:p>
        </p:txBody>
      </p:sp>
      <p:sp>
        <p:nvSpPr>
          <p:cNvPr id="8" name="TextBox 7"/>
          <p:cNvSpPr txBox="1"/>
          <p:nvPr/>
        </p:nvSpPr>
        <p:spPr>
          <a:xfrm>
            <a:off x="320040" y="1024128"/>
            <a:ext cx="11521440" cy="320040"/>
          </a:xfrm>
          <a:prstGeom prst="rect">
            <a:avLst/>
          </a:prstGeom>
          <a:noFill/>
        </p:spPr>
        <p:txBody>
          <a:bodyPr wrap="square">
            <a:noAutofit/>
          </a:bodyPr>
          <a:lstStyle/>
          <a:p>
            <a:pPr algn="l"/>
            <a:r>
              <a:rPr sz="1300" b="0" i="1">
                <a:solidFill>
                  <a:srgbClr val="444444"/>
                </a:solidFill>
                <a:latin typeface="Calibri"/>
              </a:rPr>
              <a:t>Three commercial observations from ProfitPulse</a:t>
            </a:r>
          </a:p>
        </p:txBody>
      </p:sp>
      <p:sp>
        <p:nvSpPr>
          <p:cNvPr id="9" name="Rectangle 8"/>
          <p:cNvSpPr/>
          <p:nvPr/>
        </p:nvSpPr>
        <p:spPr>
          <a:xfrm>
            <a:off x="320040" y="1463040"/>
            <a:ext cx="3703320" cy="30632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1371600" cy="548640"/>
          </a:xfrm>
          <a:prstGeom prst="rect">
            <a:avLst/>
          </a:prstGeom>
          <a:noFill/>
        </p:spPr>
        <p:txBody>
          <a:bodyPr wrap="square">
            <a:noAutofit/>
          </a:bodyPr>
          <a:lstStyle/>
          <a:p>
            <a:pPr algn="l"/>
            <a:r>
              <a:rPr sz="3000" b="1" i="0">
                <a:solidFill>
                  <a:srgbClr val="000000"/>
                </a:solidFill>
                <a:latin typeface="Cambria"/>
              </a:rPr>
              <a:t>01</a:t>
            </a:r>
          </a:p>
        </p:txBody>
      </p:sp>
      <p:sp>
        <p:nvSpPr>
          <p:cNvPr id="11" name="TextBox 10"/>
          <p:cNvSpPr txBox="1"/>
          <p:nvPr/>
        </p:nvSpPr>
        <p:spPr>
          <a:xfrm>
            <a:off x="548640" y="2331720"/>
            <a:ext cx="3246120" cy="640080"/>
          </a:xfrm>
          <a:prstGeom prst="rect">
            <a:avLst/>
          </a:prstGeom>
          <a:noFill/>
        </p:spPr>
        <p:txBody>
          <a:bodyPr wrap="square">
            <a:noAutofit/>
          </a:bodyPr>
          <a:lstStyle/>
          <a:p>
            <a:pPr algn="l">
              <a:lnSpc>
                <a:spcPct val="105000"/>
              </a:lnSpc>
            </a:pPr>
            <a:r>
              <a:rPr sz="1550" b="1" i="0">
                <a:solidFill>
                  <a:srgbClr val="FFFFFF"/>
                </a:solidFill>
                <a:latin typeface="Cambria"/>
              </a:rPr>
              <a:t>Three lines, unproven margins</a:t>
            </a:r>
          </a:p>
        </p:txBody>
      </p:sp>
      <p:sp>
        <p:nvSpPr>
          <p:cNvPr id="12" name="TextBox 11"/>
          <p:cNvSpPr txBox="1"/>
          <p:nvPr/>
        </p:nvSpPr>
        <p:spPr>
          <a:xfrm>
            <a:off x="548640" y="3063240"/>
            <a:ext cx="3246120" cy="1371600"/>
          </a:xfrm>
          <a:prstGeom prst="rect">
            <a:avLst/>
          </a:prstGeom>
          <a:noFill/>
        </p:spPr>
        <p:txBody>
          <a:bodyPr wrap="square">
            <a:noAutofit/>
          </a:bodyPr>
          <a:lstStyle/>
          <a:p>
            <a:pPr algn="l">
              <a:lnSpc>
                <a:spcPct val="118000"/>
              </a:lnSpc>
            </a:pPr>
            <a:r>
              <a:rPr sz="1050" b="0" i="0">
                <a:solidFill>
                  <a:srgbClr val="FFFFFF"/>
                </a:solidFill>
                <a:latin typeface="Calibri"/>
              </a:rPr>
              <a:t>Taskforce runs three lines: the original tradie marketplace, the RentSafe SaaS platform serving 20 major brands, and a housing division the company itself calls its most profitable line. A claim like that, made without published unit economics, usually means the comparison was done by feel, not a formal margin model.</a:t>
            </a:r>
          </a:p>
        </p:txBody>
      </p:sp>
      <p:sp>
        <p:nvSpPr>
          <p:cNvPr id="13" name="Rectangle 12"/>
          <p:cNvSpPr/>
          <p:nvPr/>
        </p:nvSpPr>
        <p:spPr>
          <a:xfrm>
            <a:off x="4133087" y="1463040"/>
            <a:ext cx="3703320" cy="30632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7" y="1645920"/>
            <a:ext cx="1371600" cy="548640"/>
          </a:xfrm>
          <a:prstGeom prst="rect">
            <a:avLst/>
          </a:prstGeom>
          <a:noFill/>
        </p:spPr>
        <p:txBody>
          <a:bodyPr wrap="square">
            <a:noAutofit/>
          </a:bodyPr>
          <a:lstStyle/>
          <a:p>
            <a:pPr algn="l"/>
            <a:r>
              <a:rPr sz="3000" b="1" i="0">
                <a:solidFill>
                  <a:srgbClr val="F8C806"/>
                </a:solidFill>
                <a:latin typeface="Cambria"/>
              </a:rPr>
              <a:t>02</a:t>
            </a:r>
          </a:p>
        </p:txBody>
      </p:sp>
      <p:sp>
        <p:nvSpPr>
          <p:cNvPr id="15" name="TextBox 14"/>
          <p:cNvSpPr txBox="1"/>
          <p:nvPr/>
        </p:nvSpPr>
        <p:spPr>
          <a:xfrm>
            <a:off x="4361687" y="2331720"/>
            <a:ext cx="3246120" cy="640080"/>
          </a:xfrm>
          <a:prstGeom prst="rect">
            <a:avLst/>
          </a:prstGeom>
          <a:noFill/>
        </p:spPr>
        <p:txBody>
          <a:bodyPr wrap="square">
            <a:noAutofit/>
          </a:bodyPr>
          <a:lstStyle/>
          <a:p>
            <a:pPr algn="l">
              <a:lnSpc>
                <a:spcPct val="105000"/>
              </a:lnSpc>
            </a:pPr>
            <a:r>
              <a:rPr sz="1550" b="1" i="0">
                <a:solidFill>
                  <a:srgbClr val="FFFFFF"/>
                </a:solidFill>
                <a:latin typeface="Cambria"/>
              </a:rPr>
              <a:t>Revenue up, headcount flat</a:t>
            </a:r>
          </a:p>
        </p:txBody>
      </p:sp>
      <p:sp>
        <p:nvSpPr>
          <p:cNvPr id="16" name="TextBox 15"/>
          <p:cNvSpPr txBox="1"/>
          <p:nvPr/>
        </p:nvSpPr>
        <p:spPr>
          <a:xfrm>
            <a:off x="4361687" y="3063240"/>
            <a:ext cx="3246120" cy="1371600"/>
          </a:xfrm>
          <a:prstGeom prst="rect">
            <a:avLst/>
          </a:prstGeom>
          <a:noFill/>
        </p:spPr>
        <p:txBody>
          <a:bodyPr wrap="square">
            <a:noAutofit/>
          </a:bodyPr>
          <a:lstStyle/>
          <a:p>
            <a:pPr algn="l">
              <a:lnSpc>
                <a:spcPct val="118000"/>
              </a:lnSpc>
            </a:pPr>
            <a:r>
              <a:rPr sz="1050" b="0" i="0">
                <a:solidFill>
                  <a:srgbClr val="FFFFFF"/>
                </a:solidFill>
                <a:latin typeface="Calibri"/>
              </a:rPr>
              <a:t>Revenue moved from $7.43 million to $12.8 million across three Smart50 cycles while the team held at 19 to 20 people. That is strong apparent productivity, but more lines and bigger brand contracts are now being managed without a matching increase in finance or reporting capacity.</a:t>
            </a:r>
          </a:p>
        </p:txBody>
      </p:sp>
      <p:sp>
        <p:nvSpPr>
          <p:cNvPr id="17" name="Rectangle 16"/>
          <p:cNvSpPr/>
          <p:nvPr/>
        </p:nvSpPr>
        <p:spPr>
          <a:xfrm>
            <a:off x="7946134" y="1463040"/>
            <a:ext cx="3703320" cy="306324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4" y="1645920"/>
            <a:ext cx="1371600" cy="548640"/>
          </a:xfrm>
          <a:prstGeom prst="rect">
            <a:avLst/>
          </a:prstGeom>
          <a:noFill/>
        </p:spPr>
        <p:txBody>
          <a:bodyPr wrap="square">
            <a:noAutofit/>
          </a:bodyPr>
          <a:lstStyle/>
          <a:p>
            <a:pPr algn="l"/>
            <a:r>
              <a:rPr sz="3000" b="1" i="0">
                <a:solidFill>
                  <a:srgbClr val="000000"/>
                </a:solidFill>
                <a:latin typeface="Cambria"/>
              </a:rPr>
              <a:t>03</a:t>
            </a:r>
          </a:p>
        </p:txBody>
      </p:sp>
      <p:sp>
        <p:nvSpPr>
          <p:cNvPr id="19" name="TextBox 18"/>
          <p:cNvSpPr txBox="1"/>
          <p:nvPr/>
        </p:nvSpPr>
        <p:spPr>
          <a:xfrm>
            <a:off x="8174734" y="2331720"/>
            <a:ext cx="3246120" cy="640080"/>
          </a:xfrm>
          <a:prstGeom prst="rect">
            <a:avLst/>
          </a:prstGeom>
          <a:noFill/>
        </p:spPr>
        <p:txBody>
          <a:bodyPr wrap="square">
            <a:noAutofit/>
          </a:bodyPr>
          <a:lstStyle/>
          <a:p>
            <a:pPr algn="l">
              <a:lnSpc>
                <a:spcPct val="105000"/>
              </a:lnSpc>
            </a:pPr>
            <a:r>
              <a:rPr sz="1550" b="1" i="0">
                <a:solidFill>
                  <a:srgbClr val="000000"/>
                </a:solidFill>
                <a:latin typeface="Cambria"/>
              </a:rPr>
              <a:t>A cost signal without a profit map</a:t>
            </a:r>
          </a:p>
        </p:txBody>
      </p:sp>
      <p:sp>
        <p:nvSpPr>
          <p:cNvPr id="20" name="TextBox 19"/>
          <p:cNvSpPr txBox="1"/>
          <p:nvPr/>
        </p:nvSpPr>
        <p:spPr>
          <a:xfrm>
            <a:off x="8174734" y="3063240"/>
            <a:ext cx="3246120" cy="1371600"/>
          </a:xfrm>
          <a:prstGeom prst="rect">
            <a:avLst/>
          </a:prstGeom>
          <a:noFill/>
        </p:spPr>
        <p:txBody>
          <a:bodyPr wrap="square">
            <a:noAutofit/>
          </a:bodyPr>
          <a:lstStyle/>
          <a:p>
            <a:pPr algn="l">
              <a:lnSpc>
                <a:spcPct val="118000"/>
              </a:lnSpc>
            </a:pPr>
            <a:r>
              <a:rPr sz="1050" b="0" i="0">
                <a:solidFill>
                  <a:srgbClr val="000000"/>
                </a:solidFill>
                <a:latin typeface="Calibri"/>
              </a:rPr>
              <a:t>The 2025 listing notes Taskforce is expanding in house software specifically to find more cost effective delivery. That is a profit instinct without yet the profit map. Knowing which line actually carries the margin would show the software team exactly where that investment pays back fastest.</a:t>
            </a:r>
          </a:p>
        </p:txBody>
      </p:sp>
      <p:sp>
        <p:nvSpPr>
          <p:cNvPr id="21" name="TextBox 20"/>
          <p:cNvSpPr txBox="1"/>
          <p:nvPr/>
        </p:nvSpPr>
        <p:spPr>
          <a:xfrm>
            <a:off x="320040" y="4937760"/>
            <a:ext cx="11521440" cy="320040"/>
          </a:xfrm>
          <a:prstGeom prst="rect">
            <a:avLst/>
          </a:prstGeom>
          <a:noFill/>
        </p:spPr>
        <p:txBody>
          <a:bodyPr wrap="square">
            <a:noAutofit/>
          </a:bodyPr>
          <a:lstStyle/>
          <a:p>
            <a:pPr algn="l"/>
            <a:r>
              <a:rPr sz="1050" b="0" i="1">
                <a:solidFill>
                  <a:srgbClr val="444444"/>
                </a:solidFill>
                <a:latin typeface="Calibri"/>
              </a:rPr>
              <a:t>These are observations offered in good faith. Taskforce has built a genuinely differentiated platform business. The question is simply whether the margin map keeps pace with the lines it now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oAutofit/>
          </a:bodyPr>
          <a:lstStyle/>
          <a:p>
            <a:pPr algn="l"/>
            <a:r>
              <a:rPr sz="1200" b="1" i="0">
                <a:solidFill>
                  <a:srgbClr val="E6E5DE"/>
                </a:solidFill>
                <a:latin typeface="Calibri"/>
              </a:rPr>
              <a:t>THE RECOMMENDATION</a:t>
            </a:r>
          </a:p>
        </p:txBody>
      </p:sp>
      <p:sp>
        <p:nvSpPr>
          <p:cNvPr id="5" name="TextBox 4"/>
          <p:cNvSpPr txBox="1"/>
          <p:nvPr/>
        </p:nvSpPr>
        <p:spPr>
          <a:xfrm>
            <a:off x="6858000" y="292608"/>
            <a:ext cx="5029200" cy="365760"/>
          </a:xfrm>
          <a:prstGeom prst="rect">
            <a:avLst/>
          </a:prstGeom>
          <a:noFill/>
        </p:spPr>
        <p:txBody>
          <a:bodyPr wrap="square">
            <a:noAutofit/>
          </a:bodyPr>
          <a:lstStyle/>
          <a:p>
            <a:pPr algn="r"/>
            <a:r>
              <a:rPr sz="1200" b="1" i="0">
                <a:solidFill>
                  <a:srgbClr val="F8C806"/>
                </a:solidFill>
                <a:latin typeface="Calibri"/>
              </a:rPr>
              <a:t>Taskforce Australia</a:t>
            </a:r>
          </a:p>
        </p:txBody>
      </p:sp>
      <p:sp>
        <p:nvSpPr>
          <p:cNvPr id="6" name="Rectangle 5"/>
          <p:cNvSpPr/>
          <p:nvPr/>
        </p:nvSpPr>
        <p:spPr>
          <a:xfrm>
            <a:off x="320040" y="6400800"/>
            <a:ext cx="73152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473952"/>
            <a:ext cx="11521440" cy="274320"/>
          </a:xfrm>
          <a:prstGeom prst="rect">
            <a:avLst/>
          </a:prstGeom>
          <a:noFill/>
        </p:spPr>
        <p:txBody>
          <a:bodyPr wrap="square">
            <a:noAutofit/>
          </a:bodyPr>
          <a:lstStyle/>
          <a:p>
            <a:pPr algn="l"/>
            <a:r>
              <a:rPr sz="800" b="0" i="0">
                <a:solidFill>
                  <a:srgbClr val="666666"/>
                </a:solidFill>
                <a:latin typeface="Calibri"/>
              </a:rPr>
              <a:t>Prepared by Nitesh Roopa CA, Managing Partner and Founder, ProfitPulse, Profit-Pulse.com.au    01 Jul 2026</a:t>
            </a:r>
          </a:p>
        </p:txBody>
      </p:sp>
      <p:sp>
        <p:nvSpPr>
          <p:cNvPr id="8" name="TextBox 7"/>
          <p:cNvSpPr txBox="1"/>
          <p:nvPr/>
        </p:nvSpPr>
        <p:spPr>
          <a:xfrm>
            <a:off x="320040" y="1051560"/>
            <a:ext cx="6949440" cy="594360"/>
          </a:xfrm>
          <a:prstGeom prst="rect">
            <a:avLst/>
          </a:prstGeom>
          <a:noFill/>
        </p:spPr>
        <p:txBody>
          <a:bodyPr wrap="square">
            <a:noAutofit/>
          </a:bodyPr>
          <a:lstStyle/>
          <a:p>
            <a:pPr algn="l">
              <a:lnSpc>
                <a:spcPct val="100000"/>
              </a:lnSpc>
            </a:pPr>
            <a:r>
              <a:rPr sz="2100" b="1" i="0">
                <a:solidFill>
                  <a:srgbClr val="000000"/>
                </a:solidFill>
                <a:latin typeface="Cambria"/>
              </a:rPr>
              <a:t>Product and Service Line Profitability</a:t>
            </a:r>
          </a:p>
        </p:txBody>
      </p:sp>
      <p:sp>
        <p:nvSpPr>
          <p:cNvPr id="9" name="TextBox 8"/>
          <p:cNvSpPr txBox="1"/>
          <p:nvPr/>
        </p:nvSpPr>
        <p:spPr>
          <a:xfrm>
            <a:off x="320040" y="1627632"/>
            <a:ext cx="6949440" cy="320040"/>
          </a:xfrm>
          <a:prstGeom prst="rect">
            <a:avLst/>
          </a:prstGeom>
          <a:noFill/>
        </p:spPr>
        <p:txBody>
          <a:bodyPr wrap="square">
            <a:noAutofit/>
          </a:bodyPr>
          <a:lstStyle/>
          <a:p>
            <a:pPr algn="l"/>
            <a:r>
              <a:rPr sz="1400" b="1" i="0">
                <a:solidFill>
                  <a:srgbClr val="01A296"/>
                </a:solidFill>
                <a:latin typeface="Calibri"/>
              </a:rPr>
              <a:t>$3,950 one off</a:t>
            </a:r>
          </a:p>
        </p:txBody>
      </p:sp>
      <p:sp>
        <p:nvSpPr>
          <p:cNvPr id="10" name="TextBox 9"/>
          <p:cNvSpPr txBox="1"/>
          <p:nvPr/>
        </p:nvSpPr>
        <p:spPr>
          <a:xfrm>
            <a:off x="320040" y="1965960"/>
            <a:ext cx="6949440" cy="777240"/>
          </a:xfrm>
          <a:prstGeom prst="rect">
            <a:avLst/>
          </a:prstGeom>
          <a:noFill/>
        </p:spPr>
        <p:txBody>
          <a:bodyPr wrap="square">
            <a:noAutofit/>
          </a:bodyPr>
          <a:lstStyle/>
          <a:p>
            <a:pPr algn="l">
              <a:lnSpc>
                <a:spcPct val="115000"/>
              </a:lnSpc>
            </a:pPr>
            <a:r>
              <a:rPr sz="1100" b="0" i="0">
                <a:solidFill>
                  <a:srgbClr val="000000"/>
                </a:solidFill>
                <a:latin typeface="Calibri"/>
              </a:rPr>
              <a:t>A three week project ranking marketplace jobs, RentSafe SaaS, and housing by gross margin, contribution margin and operational drag.</a:t>
            </a:r>
          </a:p>
        </p:txBody>
      </p:sp>
      <p:sp>
        <p:nvSpPr>
          <p:cNvPr id="11" name="Rectangle 10"/>
          <p:cNvSpPr/>
          <p:nvPr/>
        </p:nvSpPr>
        <p:spPr>
          <a:xfrm>
            <a:off x="320040" y="2834640"/>
            <a:ext cx="6949440" cy="1371600"/>
          </a:xfrm>
          <a:prstGeom prst="rect">
            <a:avLst/>
          </a:prstGeom>
          <a:solidFill>
            <a:srgbClr val="F4F4F1"/>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971800"/>
            <a:ext cx="6583680" cy="320040"/>
          </a:xfrm>
          <a:prstGeom prst="rect">
            <a:avLst/>
          </a:prstGeom>
          <a:noFill/>
        </p:spPr>
        <p:txBody>
          <a:bodyPr wrap="square">
            <a:noAutofit/>
          </a:bodyPr>
          <a:lstStyle/>
          <a:p>
            <a:pPr algn="l"/>
            <a:r>
              <a:rPr sz="1200" b="1" i="0">
                <a:solidFill>
                  <a:srgbClr val="000000"/>
                </a:solidFill>
                <a:latin typeface="Calibri"/>
              </a:rPr>
              <a:t>Step one, answer a few quick questions</a:t>
            </a:r>
          </a:p>
        </p:txBody>
      </p:sp>
      <p:sp>
        <p:nvSpPr>
          <p:cNvPr id="13" name="TextBox 12"/>
          <p:cNvSpPr txBox="1"/>
          <p:nvPr/>
        </p:nvSpPr>
        <p:spPr>
          <a:xfrm>
            <a:off x="502920" y="3310128"/>
            <a:ext cx="6583680" cy="320040"/>
          </a:xfrm>
          <a:prstGeom prst="rect">
            <a:avLst/>
          </a:prstGeom>
          <a:noFill/>
        </p:spPr>
        <p:txBody>
          <a:bodyPr wrap="square">
            <a:noAutofit/>
          </a:bodyPr>
          <a:lstStyle/>
          <a:p>
            <a:pPr algn="l"/>
            <a:r>
              <a:rPr sz="1050" b="0" i="0">
                <a:solidFill>
                  <a:srgbClr val="333333"/>
                </a:solidFill>
                <a:latin typeface="Calibri"/>
              </a:rPr>
              <a:t>See the solutions matched to your size and industry.</a:t>
            </a:r>
          </a:p>
        </p:txBody>
      </p:sp>
      <p:sp>
        <p:nvSpPr>
          <p:cNvPr id="14" name="TextBox 13"/>
          <p:cNvSpPr txBox="1"/>
          <p:nvPr/>
        </p:nvSpPr>
        <p:spPr>
          <a:xfrm>
            <a:off x="502920" y="3657600"/>
            <a:ext cx="6583680" cy="365760"/>
          </a:xfrm>
          <a:prstGeom prst="rect">
            <a:avLst/>
          </a:prstGeom>
          <a:noFill/>
        </p:spPr>
        <p:txBody>
          <a:bodyPr wrap="square">
            <a:noAutofit/>
          </a:bodyPr>
          <a:lstStyle/>
          <a:p>
            <a:pPr algn="l"/>
            <a:r>
              <a:rPr sz="1200" b="1">
                <a:solidFill>
                  <a:srgbClr val="01A296"/>
                </a:solidFill>
                <a:latin typeface="Calibri"/>
                <a:hlinkClick r:id="rId2"/>
              </a:rPr>
              <a:t>profit-pulse.com.au/full-suite-of-products</a:t>
            </a:r>
          </a:p>
        </p:txBody>
      </p:sp>
      <p:sp>
        <p:nvSpPr>
          <p:cNvPr id="15" name="TextBox 14"/>
          <p:cNvSpPr txBox="1"/>
          <p:nvPr/>
        </p:nvSpPr>
        <p:spPr>
          <a:xfrm>
            <a:off x="320040" y="4434840"/>
            <a:ext cx="6949440" cy="411480"/>
          </a:xfrm>
          <a:prstGeom prst="rect">
            <a:avLst/>
          </a:prstGeom>
          <a:noFill/>
        </p:spPr>
        <p:txBody>
          <a:bodyPr wrap="square">
            <a:noAutofit/>
          </a:bodyPr>
          <a:lstStyle/>
          <a:p>
            <a:pPr algn="l"/>
            <a:r>
              <a:rPr sz="1300" b="1">
                <a:solidFill>
                  <a:srgbClr val="F6A102"/>
                </a:solidFill>
                <a:latin typeface="Calibri"/>
                <a:hlinkClick r:id="rId3"/>
              </a:rPr>
              <a:t>Purchase the suggested product now to get started</a:t>
            </a:r>
          </a:p>
        </p:txBody>
      </p:sp>
      <p:sp>
        <p:nvSpPr>
          <p:cNvPr id="16" name="TextBox 15"/>
          <p:cNvSpPr txBox="1"/>
          <p:nvPr/>
        </p:nvSpPr>
        <p:spPr>
          <a:xfrm>
            <a:off x="320040" y="5074920"/>
            <a:ext cx="6949440" cy="292608"/>
          </a:xfrm>
          <a:prstGeom prst="rect">
            <a:avLst/>
          </a:prstGeom>
          <a:noFill/>
        </p:spPr>
        <p:txBody>
          <a:bodyPr wrap="square">
            <a:noAutofit/>
          </a:bodyPr>
          <a:lstStyle/>
          <a:p>
            <a:pPr algn="l"/>
            <a:r>
              <a:rPr sz="1100" b="0" i="0">
                <a:solidFill>
                  <a:srgbClr val="000000"/>
                </a:solidFill>
                <a:latin typeface="Calibri"/>
              </a:rPr>
              <a:t>Prefer a conversation first?</a:t>
            </a:r>
          </a:p>
        </p:txBody>
      </p:sp>
      <p:sp>
        <p:nvSpPr>
          <p:cNvPr id="17" name="TextBox 16"/>
          <p:cNvSpPr txBox="1"/>
          <p:nvPr/>
        </p:nvSpPr>
        <p:spPr>
          <a:xfrm>
            <a:off x="320040" y="5376672"/>
            <a:ext cx="6949440" cy="320040"/>
          </a:xfrm>
          <a:prstGeom prst="rect">
            <a:avLst/>
          </a:prstGeom>
          <a:noFill/>
        </p:spPr>
        <p:txBody>
          <a:bodyPr wrap="square">
            <a:noAutofit/>
          </a:bodyPr>
          <a:lstStyle/>
          <a:p>
            <a:pPr algn="l"/>
            <a:r>
              <a:rPr sz="1100" b="1">
                <a:solidFill>
                  <a:srgbClr val="01A296"/>
                </a:solidFill>
                <a:latin typeface="Calibri"/>
                <a:hlinkClick r:id="rId4"/>
              </a:rPr>
              <a:t>Book a complimentary discovery call</a:t>
            </a:r>
          </a:p>
        </p:txBody>
      </p:sp>
      <p:sp>
        <p:nvSpPr>
          <p:cNvPr id="18" name="Rectangle 17"/>
          <p:cNvSpPr/>
          <p:nvPr/>
        </p:nvSpPr>
        <p:spPr>
          <a:xfrm>
            <a:off x="7543800" y="1051560"/>
            <a:ext cx="4325112" cy="38862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280160"/>
            <a:ext cx="3867912" cy="365760"/>
          </a:xfrm>
          <a:prstGeom prst="rect">
            <a:avLst/>
          </a:prstGeom>
          <a:noFill/>
        </p:spPr>
        <p:txBody>
          <a:bodyPr wrap="square">
            <a:noAutofit/>
          </a:bodyPr>
          <a:lstStyle/>
          <a:p>
            <a:pPr algn="l"/>
            <a:r>
              <a:rPr sz="1700" b="1" i="0">
                <a:solidFill>
                  <a:srgbClr val="F8C806"/>
                </a:solidFill>
                <a:latin typeface="Cambria"/>
              </a:rPr>
              <a:t>Nitesh Roopa</a:t>
            </a:r>
          </a:p>
        </p:txBody>
      </p:sp>
      <p:sp>
        <p:nvSpPr>
          <p:cNvPr id="20" name="TextBox 19"/>
          <p:cNvSpPr txBox="1"/>
          <p:nvPr/>
        </p:nvSpPr>
        <p:spPr>
          <a:xfrm>
            <a:off x="7772400" y="1664208"/>
            <a:ext cx="3867912" cy="292608"/>
          </a:xfrm>
          <a:prstGeom prst="rect">
            <a:avLst/>
          </a:prstGeom>
          <a:noFill/>
        </p:spPr>
        <p:txBody>
          <a:bodyPr wrap="square">
            <a:noAutofit/>
          </a:bodyPr>
          <a:lstStyle/>
          <a:p>
            <a:pPr algn="l"/>
            <a:r>
              <a:rPr sz="1100" b="0" i="0">
                <a:solidFill>
                  <a:srgbClr val="FFFFFF"/>
                </a:solidFill>
                <a:latin typeface="Calibri"/>
              </a:rPr>
              <a:t>CA, Managing Partner, ProfitPulse</a:t>
            </a:r>
          </a:p>
        </p:txBody>
      </p:sp>
      <p:sp>
        <p:nvSpPr>
          <p:cNvPr id="21" name="TextBox 20"/>
          <p:cNvSpPr txBox="1"/>
          <p:nvPr/>
        </p:nvSpPr>
        <p:spPr>
          <a:xfrm>
            <a:off x="7772400" y="2103120"/>
            <a:ext cx="3867912" cy="1371600"/>
          </a:xfrm>
          <a:prstGeom prst="rect">
            <a:avLst/>
          </a:prstGeom>
          <a:noFill/>
        </p:spPr>
        <p:txBody>
          <a:bodyPr wrap="square">
            <a:noAutofit/>
          </a:bodyPr>
          <a:lstStyle/>
          <a:p>
            <a:pPr algn="l">
              <a:lnSpc>
                <a:spcPct val="110000"/>
              </a:lnSpc>
              <a:spcAft>
                <a:spcPts val="600"/>
              </a:spcAft>
            </a:pPr>
            <a:r>
              <a:rPr sz="1050" b="0" i="0">
                <a:solidFill>
                  <a:srgbClr val="E6E5DE"/>
                </a:solidFill>
                <a:latin typeface="Calibri"/>
              </a:rPr>
              <a:t>•  16 years across 4 countries</a:t>
            </a:r>
          </a:p>
          <a:p>
            <a:pPr algn="l">
              <a:lnSpc>
                <a:spcPct val="110000"/>
              </a:lnSpc>
              <a:spcAft>
                <a:spcPts val="600"/>
              </a:spcAft>
            </a:pPr>
            <a:r>
              <a:rPr sz="1050" b="0" i="0">
                <a:solidFill>
                  <a:srgbClr val="E6E5DE"/>
                </a:solidFill>
                <a:latin typeface="Calibri"/>
              </a:rPr>
              <a:t>•  52 deals executed and managed</a:t>
            </a:r>
          </a:p>
          <a:p>
            <a:pPr algn="l">
              <a:lnSpc>
                <a:spcPct val="110000"/>
              </a:lnSpc>
              <a:spcAft>
                <a:spcPts val="600"/>
              </a:spcAft>
            </a:pPr>
            <a:r>
              <a:rPr sz="1050" b="0" i="0">
                <a:solidFill>
                  <a:srgbClr val="E6E5DE"/>
                </a:solidFill>
                <a:latin typeface="Calibri"/>
              </a:rPr>
              <a:t>•  Largest single deal USD 1.3 billion, Cahora Bassa, Mozambique</a:t>
            </a:r>
          </a:p>
          <a:p>
            <a:pPr algn="l">
              <a:lnSpc>
                <a:spcPct val="110000"/>
              </a:lnSpc>
              <a:spcAft>
                <a:spcPts val="600"/>
              </a:spcAft>
            </a:pPr>
            <a:r>
              <a:rPr sz="1050" b="0" i="0">
                <a:solidFill>
                  <a:srgbClr val="E6E5DE"/>
                </a:solidFill>
                <a:latin typeface="Calibri"/>
              </a:rPr>
              <a:t>•  Total GRBT project value over AUD 10 billion</a:t>
            </a:r>
          </a:p>
        </p:txBody>
      </p:sp>
      <p:sp>
        <p:nvSpPr>
          <p:cNvPr id="22" name="Rectangle 21"/>
          <p:cNvSpPr/>
          <p:nvPr/>
        </p:nvSpPr>
        <p:spPr>
          <a:xfrm>
            <a:off x="7772400" y="3429000"/>
            <a:ext cx="3867912"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611880"/>
            <a:ext cx="3867912" cy="1097280"/>
          </a:xfrm>
          <a:prstGeom prst="rect">
            <a:avLst/>
          </a:prstGeom>
          <a:noFill/>
        </p:spPr>
        <p:txBody>
          <a:bodyPr wrap="square">
            <a:noAutofit/>
          </a:bodyPr>
          <a:lstStyle/>
          <a:p>
            <a:pPr algn="l">
              <a:spcAft>
                <a:spcPts val="400"/>
              </a:spcAft>
            </a:pPr>
            <a:r>
              <a:rPr sz="1050" b="0" i="0">
                <a:solidFill>
                  <a:srgbClr val="E6E5DE"/>
                </a:solidFill>
                <a:latin typeface="Calibri"/>
              </a:rPr>
              <a:t>Profit-Pulse.com.au</a:t>
            </a:r>
          </a:p>
          <a:p>
            <a:pPr algn="l">
              <a:spcAft>
                <a:spcPts val="400"/>
              </a:spcAft>
            </a:pPr>
            <a:r>
              <a:rPr sz="1050" b="0" i="0">
                <a:solidFill>
                  <a:srgbClr val="01A296"/>
                </a:solidFill>
                <a:latin typeface="Calibri"/>
              </a:rPr>
              <a:t>Nitesh@Profit-Pulse.com.au</a:t>
            </a:r>
          </a:p>
          <a:p>
            <a:pPr algn="l">
              <a:spcAft>
                <a:spcPts val="400"/>
              </a:spcAft>
            </a:pPr>
            <a:r>
              <a:rPr sz="1050" b="0" i="0">
                <a:solidFill>
                  <a:srgbClr val="E6E5DE"/>
                </a:solidFill>
                <a:latin typeface="Calibri"/>
              </a:rPr>
              <a:t>+61 411 876 267</a:t>
            </a:r>
          </a:p>
          <a:p>
            <a:pPr algn="l"/>
            <a:r>
              <a:rPr sz="1050" b="0" i="0">
                <a:solidFill>
                  <a:srgbClr val="01A296"/>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