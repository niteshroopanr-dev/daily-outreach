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ofit-pulse.com.au/full-suite-of-products" TargetMode="External"/><Relationship Id="rId3" Type="http://schemas.openxmlformats.org/officeDocument/2006/relationships/hyperlink" Target="https://buy.stripe.com/14AbJ21qw2U0ftK0ZV3ks1A" TargetMode="External"/><Relationship Id="rId4" Type="http://schemas.openxmlformats.org/officeDocument/2006/relationships/hyperlink" Target="https://bookings.cloud.microsoft/book/ProfitPulse1@profit-pulse.com.au/?ismsaljsauthenabled=tru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 y="0"/>
            <a:ext cx="12100255"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 y="164592"/>
            <a:ext cx="7315200" cy="502920"/>
          </a:xfrm>
          <a:prstGeom prst="rect">
            <a:avLst/>
          </a:prstGeom>
          <a:noFill/>
        </p:spPr>
        <p:txBody>
          <a:bodyPr wrap="square"/>
          <a:lstStyle/>
          <a:p>
            <a:pPr algn="l"/>
            <a:r>
              <a:rPr sz="1300" b="1" i="0">
                <a:solidFill>
                  <a:srgbClr val="E6E5DE"/>
                </a:solidFill>
                <a:latin typeface="Calibri"/>
              </a:rPr>
              <a:t>COMMERCIAL INTELLIGENCE BRIEF</a:t>
            </a:r>
          </a:p>
        </p:txBody>
      </p:sp>
      <p:sp>
        <p:nvSpPr>
          <p:cNvPr id="5" name="TextBox 4"/>
          <p:cNvSpPr txBox="1"/>
          <p:nvPr/>
        </p:nvSpPr>
        <p:spPr>
          <a:xfrm>
            <a:off x="9601200" y="164592"/>
            <a:ext cx="2468880" cy="502920"/>
          </a:xfrm>
          <a:prstGeom prst="rect">
            <a:avLst/>
          </a:prstGeom>
          <a:noFill/>
        </p:spPr>
        <p:txBody>
          <a:bodyPr wrap="square"/>
          <a:lstStyle/>
          <a:p>
            <a:pPr algn="r"/>
            <a:r>
              <a:rPr sz="1300" b="1" i="0">
                <a:solidFill>
                  <a:srgbClr val="01A296"/>
                </a:solidFill>
                <a:latin typeface="Calibri"/>
              </a:rPr>
              <a:t>PROFITPULSE</a:t>
            </a:r>
          </a:p>
        </p:txBody>
      </p:sp>
      <p:sp>
        <p:nvSpPr>
          <p:cNvPr id="6" name="TextBox 5"/>
          <p:cNvSpPr txBox="1"/>
          <p:nvPr/>
        </p:nvSpPr>
        <p:spPr>
          <a:xfrm>
            <a:off x="201168" y="987552"/>
            <a:ext cx="9144000" cy="731520"/>
          </a:xfrm>
          <a:prstGeom prst="rect">
            <a:avLst/>
          </a:prstGeom>
          <a:noFill/>
        </p:spPr>
        <p:txBody>
          <a:bodyPr wrap="square"/>
          <a:lstStyle/>
          <a:p>
            <a:pPr algn="l"/>
            <a:r>
              <a:rPr sz="4400" b="1" i="0">
                <a:solidFill>
                  <a:srgbClr val="000000"/>
                </a:solidFill>
                <a:latin typeface="Georgia"/>
              </a:rPr>
              <a:t>TASKFORCE AUSTRALIA</a:t>
            </a:r>
          </a:p>
        </p:txBody>
      </p:sp>
      <p:sp>
        <p:nvSpPr>
          <p:cNvPr id="7" name="TextBox 6"/>
          <p:cNvSpPr txBox="1"/>
          <p:nvPr/>
        </p:nvSpPr>
        <p:spPr>
          <a:xfrm>
            <a:off x="201168" y="1691640"/>
            <a:ext cx="9601200" cy="320040"/>
          </a:xfrm>
          <a:prstGeom prst="rect">
            <a:avLst/>
          </a:prstGeom>
          <a:noFill/>
        </p:spPr>
        <p:txBody>
          <a:bodyPr wrap="square"/>
          <a:lstStyle/>
          <a:p>
            <a:pPr algn="l"/>
            <a:r>
              <a:rPr sz="1200" b="0" i="0">
                <a:solidFill>
                  <a:srgbClr val="000000"/>
                </a:solidFill>
                <a:latin typeface="Calibri"/>
              </a:rPr>
              <a:t>Field service management platform and property safety compliance, Burnley, Melbourne VIC</a:t>
            </a:r>
          </a:p>
        </p:txBody>
      </p:sp>
      <p:sp>
        <p:nvSpPr>
          <p:cNvPr id="8" name="Rectangle 7"/>
          <p:cNvSpPr/>
          <p:nvPr/>
        </p:nvSpPr>
        <p:spPr>
          <a:xfrm>
            <a:off x="201168" y="2084831"/>
            <a:ext cx="1920240" cy="1371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1168" y="2084831"/>
            <a:ext cx="1920240" cy="508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5176" y="2176271"/>
            <a:ext cx="1792224" cy="548640"/>
          </a:xfrm>
          <a:prstGeom prst="rect">
            <a:avLst/>
          </a:prstGeom>
          <a:noFill/>
        </p:spPr>
        <p:txBody>
          <a:bodyPr wrap="square"/>
          <a:lstStyle/>
          <a:p>
            <a:pPr algn="l"/>
            <a:r>
              <a:rPr sz="2600" b="1" i="0">
                <a:solidFill>
                  <a:srgbClr val="F8C806"/>
                </a:solidFill>
                <a:latin typeface="Georgia"/>
              </a:rPr>
              <a:t>$12.8M</a:t>
            </a:r>
          </a:p>
        </p:txBody>
      </p:sp>
      <p:sp>
        <p:nvSpPr>
          <p:cNvPr id="11" name="TextBox 10"/>
          <p:cNvSpPr txBox="1"/>
          <p:nvPr/>
        </p:nvSpPr>
        <p:spPr>
          <a:xfrm>
            <a:off x="265176" y="2743199"/>
            <a:ext cx="1792224" cy="411480"/>
          </a:xfrm>
          <a:prstGeom prst="rect">
            <a:avLst/>
          </a:prstGeom>
          <a:noFill/>
        </p:spPr>
        <p:txBody>
          <a:bodyPr wrap="square"/>
          <a:lstStyle/>
          <a:p>
            <a:pPr algn="l"/>
            <a:r>
              <a:rPr sz="900" b="0" i="0">
                <a:solidFill>
                  <a:srgbClr val="E6E5DE"/>
                </a:solidFill>
                <a:latin typeface="Calibri"/>
              </a:rPr>
              <a:t>Revenue
FY2025</a:t>
            </a:r>
          </a:p>
        </p:txBody>
      </p:sp>
      <p:sp>
        <p:nvSpPr>
          <p:cNvPr id="12" name="TextBox 11"/>
          <p:cNvSpPr txBox="1"/>
          <p:nvPr/>
        </p:nvSpPr>
        <p:spPr>
          <a:xfrm>
            <a:off x="265176" y="3163823"/>
            <a:ext cx="1792224" cy="201168"/>
          </a:xfrm>
          <a:prstGeom prst="rect">
            <a:avLst/>
          </a:prstGeom>
          <a:noFill/>
        </p:spPr>
        <p:txBody>
          <a:bodyPr wrap="square"/>
          <a:lstStyle/>
          <a:p>
            <a:pPr algn="l"/>
            <a:r>
              <a:rPr sz="700" b="0" i="1">
                <a:solidFill>
                  <a:srgbClr val="01A296"/>
                </a:solidFill>
                <a:latin typeface="Calibri"/>
              </a:rPr>
              <a:t>SmartCompany Smart50 2025, rank 37</a:t>
            </a:r>
          </a:p>
        </p:txBody>
      </p:sp>
      <p:sp>
        <p:nvSpPr>
          <p:cNvPr id="13" name="Rectangle 12"/>
          <p:cNvSpPr/>
          <p:nvPr/>
        </p:nvSpPr>
        <p:spPr>
          <a:xfrm>
            <a:off x="2185416" y="2084831"/>
            <a:ext cx="1920240" cy="1371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85416" y="2084831"/>
            <a:ext cx="1920240" cy="508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249424" y="2176271"/>
            <a:ext cx="1792224" cy="548640"/>
          </a:xfrm>
          <a:prstGeom prst="rect">
            <a:avLst/>
          </a:prstGeom>
          <a:noFill/>
        </p:spPr>
        <p:txBody>
          <a:bodyPr wrap="square"/>
          <a:lstStyle/>
          <a:p>
            <a:pPr algn="l"/>
            <a:r>
              <a:rPr sz="2600" b="1" i="0">
                <a:solidFill>
                  <a:srgbClr val="F8C806"/>
                </a:solidFill>
                <a:latin typeface="Georgia"/>
              </a:rPr>
              <a:t>31%</a:t>
            </a:r>
          </a:p>
        </p:txBody>
      </p:sp>
      <p:sp>
        <p:nvSpPr>
          <p:cNvPr id="16" name="TextBox 15"/>
          <p:cNvSpPr txBox="1"/>
          <p:nvPr/>
        </p:nvSpPr>
        <p:spPr>
          <a:xfrm>
            <a:off x="2249424" y="2743199"/>
            <a:ext cx="1792224" cy="411480"/>
          </a:xfrm>
          <a:prstGeom prst="rect">
            <a:avLst/>
          </a:prstGeom>
          <a:noFill/>
        </p:spPr>
        <p:txBody>
          <a:bodyPr wrap="square"/>
          <a:lstStyle/>
          <a:p>
            <a:pPr algn="l"/>
            <a:r>
              <a:rPr sz="900" b="0" i="0">
                <a:solidFill>
                  <a:srgbClr val="E6E5DE"/>
                </a:solidFill>
                <a:latin typeface="Calibri"/>
              </a:rPr>
              <a:t>Three-year avg
revenue growth</a:t>
            </a:r>
          </a:p>
        </p:txBody>
      </p:sp>
      <p:sp>
        <p:nvSpPr>
          <p:cNvPr id="17" name="TextBox 16"/>
          <p:cNvSpPr txBox="1"/>
          <p:nvPr/>
        </p:nvSpPr>
        <p:spPr>
          <a:xfrm>
            <a:off x="2249424" y="3163823"/>
            <a:ext cx="1792224" cy="201168"/>
          </a:xfrm>
          <a:prstGeom prst="rect">
            <a:avLst/>
          </a:prstGeom>
          <a:noFill/>
        </p:spPr>
        <p:txBody>
          <a:bodyPr wrap="square"/>
          <a:lstStyle/>
          <a:p>
            <a:pPr algn="l"/>
            <a:r>
              <a:rPr sz="700" b="0" i="1">
                <a:solidFill>
                  <a:srgbClr val="01A296"/>
                </a:solidFill>
                <a:latin typeface="Calibri"/>
              </a:rPr>
              <a:t>SmartCompany Smart50 2025</a:t>
            </a:r>
          </a:p>
        </p:txBody>
      </p:sp>
      <p:sp>
        <p:nvSpPr>
          <p:cNvPr id="18" name="Rectangle 17"/>
          <p:cNvSpPr/>
          <p:nvPr/>
        </p:nvSpPr>
        <p:spPr>
          <a:xfrm>
            <a:off x="4169664" y="2084831"/>
            <a:ext cx="1920240" cy="1371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169664" y="2084831"/>
            <a:ext cx="1920240" cy="508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33672" y="2176271"/>
            <a:ext cx="1792224" cy="548640"/>
          </a:xfrm>
          <a:prstGeom prst="rect">
            <a:avLst/>
          </a:prstGeom>
          <a:noFill/>
        </p:spPr>
        <p:txBody>
          <a:bodyPr wrap="square"/>
          <a:lstStyle/>
          <a:p>
            <a:pPr algn="l"/>
            <a:r>
              <a:rPr sz="2600" b="1" i="0">
                <a:solidFill>
                  <a:srgbClr val="F8C806"/>
                </a:solidFill>
                <a:latin typeface="Georgia"/>
              </a:rPr>
              <a:t>19</a:t>
            </a:r>
          </a:p>
        </p:txBody>
      </p:sp>
      <p:sp>
        <p:nvSpPr>
          <p:cNvPr id="21" name="TextBox 20"/>
          <p:cNvSpPr txBox="1"/>
          <p:nvPr/>
        </p:nvSpPr>
        <p:spPr>
          <a:xfrm>
            <a:off x="4233672" y="2743199"/>
            <a:ext cx="1792224" cy="411480"/>
          </a:xfrm>
          <a:prstGeom prst="rect">
            <a:avLst/>
          </a:prstGeom>
          <a:noFill/>
        </p:spPr>
        <p:txBody>
          <a:bodyPr wrap="square"/>
          <a:lstStyle/>
          <a:p>
            <a:pPr algn="l"/>
            <a:r>
              <a:rPr sz="900" b="0" i="0">
                <a:solidFill>
                  <a:srgbClr val="E6E5DE"/>
                </a:solidFill>
                <a:latin typeface="Calibri"/>
              </a:rPr>
              <a:t>Team members</a:t>
            </a:r>
          </a:p>
        </p:txBody>
      </p:sp>
      <p:sp>
        <p:nvSpPr>
          <p:cNvPr id="22" name="TextBox 21"/>
          <p:cNvSpPr txBox="1"/>
          <p:nvPr/>
        </p:nvSpPr>
        <p:spPr>
          <a:xfrm>
            <a:off x="4233672" y="3163823"/>
            <a:ext cx="1792224" cy="201168"/>
          </a:xfrm>
          <a:prstGeom prst="rect">
            <a:avLst/>
          </a:prstGeom>
          <a:noFill/>
        </p:spPr>
        <p:txBody>
          <a:bodyPr wrap="square"/>
          <a:lstStyle/>
          <a:p>
            <a:pPr algn="l"/>
            <a:r>
              <a:rPr sz="700" b="0" i="1">
                <a:solidFill>
                  <a:srgbClr val="01A296"/>
                </a:solidFill>
                <a:latin typeface="Calibri"/>
              </a:rPr>
              <a:t>SmartCompany Smart50 2025</a:t>
            </a:r>
          </a:p>
        </p:txBody>
      </p:sp>
      <p:sp>
        <p:nvSpPr>
          <p:cNvPr id="23" name="Rectangle 22"/>
          <p:cNvSpPr/>
          <p:nvPr/>
        </p:nvSpPr>
        <p:spPr>
          <a:xfrm>
            <a:off x="6153912" y="2084831"/>
            <a:ext cx="1920240" cy="1371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53912" y="2084831"/>
            <a:ext cx="1920240" cy="508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17920" y="2176271"/>
            <a:ext cx="1792224" cy="548640"/>
          </a:xfrm>
          <a:prstGeom prst="rect">
            <a:avLst/>
          </a:prstGeom>
          <a:noFill/>
        </p:spPr>
        <p:txBody>
          <a:bodyPr wrap="square"/>
          <a:lstStyle/>
          <a:p>
            <a:pPr algn="l"/>
            <a:r>
              <a:rPr sz="2600" b="1" i="0">
                <a:solidFill>
                  <a:srgbClr val="F8C806"/>
                </a:solidFill>
                <a:latin typeface="Georgia"/>
              </a:rPr>
              <a:t>5,500</a:t>
            </a:r>
          </a:p>
        </p:txBody>
      </p:sp>
      <p:sp>
        <p:nvSpPr>
          <p:cNvPr id="26" name="TextBox 25"/>
          <p:cNvSpPr txBox="1"/>
          <p:nvPr/>
        </p:nvSpPr>
        <p:spPr>
          <a:xfrm>
            <a:off x="6217920" y="2743199"/>
            <a:ext cx="1792224" cy="411480"/>
          </a:xfrm>
          <a:prstGeom prst="rect">
            <a:avLst/>
          </a:prstGeom>
          <a:noFill/>
        </p:spPr>
        <p:txBody>
          <a:bodyPr wrap="square"/>
          <a:lstStyle/>
          <a:p>
            <a:pPr algn="l"/>
            <a:r>
              <a:rPr sz="900" b="0" i="0">
                <a:solidFill>
                  <a:srgbClr val="E6E5DE"/>
                </a:solidFill>
                <a:latin typeface="Calibri"/>
              </a:rPr>
              <a:t>Tradespeople
in platform network</a:t>
            </a:r>
          </a:p>
        </p:txBody>
      </p:sp>
      <p:sp>
        <p:nvSpPr>
          <p:cNvPr id="27" name="TextBox 26"/>
          <p:cNvSpPr txBox="1"/>
          <p:nvPr/>
        </p:nvSpPr>
        <p:spPr>
          <a:xfrm>
            <a:off x="6217920" y="3163823"/>
            <a:ext cx="1792224" cy="201168"/>
          </a:xfrm>
          <a:prstGeom prst="rect">
            <a:avLst/>
          </a:prstGeom>
          <a:noFill/>
        </p:spPr>
        <p:txBody>
          <a:bodyPr wrap="square"/>
          <a:lstStyle/>
          <a:p>
            <a:pPr algn="l"/>
            <a:r>
              <a:rPr sz="700" b="0" i="1">
                <a:solidFill>
                  <a:srgbClr val="01A296"/>
                </a:solidFill>
                <a:latin typeface="Calibri"/>
              </a:rPr>
              <a:t>SmartCompany Smart50 2024</a:t>
            </a:r>
          </a:p>
        </p:txBody>
      </p:sp>
      <p:sp>
        <p:nvSpPr>
          <p:cNvPr id="28" name="Rectangle 27"/>
          <p:cNvSpPr/>
          <p:nvPr/>
        </p:nvSpPr>
        <p:spPr>
          <a:xfrm>
            <a:off x="8138160" y="2084831"/>
            <a:ext cx="1920240" cy="1371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138160" y="2084831"/>
            <a:ext cx="1920240" cy="508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02168" y="2176271"/>
            <a:ext cx="1792224" cy="548640"/>
          </a:xfrm>
          <a:prstGeom prst="rect">
            <a:avLst/>
          </a:prstGeom>
          <a:noFill/>
        </p:spPr>
        <p:txBody>
          <a:bodyPr wrap="square"/>
          <a:lstStyle/>
          <a:p>
            <a:pPr algn="l"/>
            <a:r>
              <a:rPr sz="2600" b="1" i="0">
                <a:solidFill>
                  <a:srgbClr val="F8C806"/>
                </a:solidFill>
                <a:latin typeface="Georgia"/>
              </a:rPr>
              <a:t>140K+</a:t>
            </a:r>
          </a:p>
        </p:txBody>
      </p:sp>
      <p:sp>
        <p:nvSpPr>
          <p:cNvPr id="31" name="TextBox 30"/>
          <p:cNvSpPr txBox="1"/>
          <p:nvPr/>
        </p:nvSpPr>
        <p:spPr>
          <a:xfrm>
            <a:off x="8202168" y="2743199"/>
            <a:ext cx="1792224" cy="411480"/>
          </a:xfrm>
          <a:prstGeom prst="rect">
            <a:avLst/>
          </a:prstGeom>
          <a:noFill/>
        </p:spPr>
        <p:txBody>
          <a:bodyPr wrap="square"/>
          <a:lstStyle/>
          <a:p>
            <a:pPr algn="l"/>
            <a:r>
              <a:rPr sz="900" b="0" i="0">
                <a:solidFill>
                  <a:srgbClr val="E6E5DE"/>
                </a:solidFill>
                <a:latin typeface="Calibri"/>
              </a:rPr>
              <a:t>Jobs delivered
via RentSafe since 2021</a:t>
            </a:r>
          </a:p>
        </p:txBody>
      </p:sp>
      <p:sp>
        <p:nvSpPr>
          <p:cNvPr id="32" name="TextBox 31"/>
          <p:cNvSpPr txBox="1"/>
          <p:nvPr/>
        </p:nvSpPr>
        <p:spPr>
          <a:xfrm>
            <a:off x="8202168" y="3163823"/>
            <a:ext cx="1792224" cy="201168"/>
          </a:xfrm>
          <a:prstGeom prst="rect">
            <a:avLst/>
          </a:prstGeom>
          <a:noFill/>
        </p:spPr>
        <p:txBody>
          <a:bodyPr wrap="square"/>
          <a:lstStyle/>
          <a:p>
            <a:pPr algn="l"/>
            <a:r>
              <a:rPr sz="700" b="0" i="1">
                <a:solidFill>
                  <a:srgbClr val="01A296"/>
                </a:solidFill>
                <a:latin typeface="Calibri"/>
              </a:rPr>
              <a:t>SmartCompany Smart50 2025</a:t>
            </a:r>
          </a:p>
        </p:txBody>
      </p:sp>
      <p:sp>
        <p:nvSpPr>
          <p:cNvPr id="33" name="Rectangle 32"/>
          <p:cNvSpPr/>
          <p:nvPr/>
        </p:nvSpPr>
        <p:spPr>
          <a:xfrm>
            <a:off x="10122408" y="2084831"/>
            <a:ext cx="1920240" cy="1371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0122408" y="2084831"/>
            <a:ext cx="1920240" cy="508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186416" y="2176271"/>
            <a:ext cx="1792224" cy="548640"/>
          </a:xfrm>
          <a:prstGeom prst="rect">
            <a:avLst/>
          </a:prstGeom>
          <a:noFill/>
        </p:spPr>
        <p:txBody>
          <a:bodyPr wrap="square"/>
          <a:lstStyle/>
          <a:p>
            <a:pPr algn="l"/>
            <a:r>
              <a:rPr sz="2600" b="1" i="0">
                <a:solidFill>
                  <a:srgbClr val="F8C806"/>
                </a:solidFill>
                <a:latin typeface="Georgia"/>
              </a:rPr>
              <a:t>2014</a:t>
            </a:r>
          </a:p>
        </p:txBody>
      </p:sp>
      <p:sp>
        <p:nvSpPr>
          <p:cNvPr id="36" name="TextBox 35"/>
          <p:cNvSpPr txBox="1"/>
          <p:nvPr/>
        </p:nvSpPr>
        <p:spPr>
          <a:xfrm>
            <a:off x="10186416" y="2743199"/>
            <a:ext cx="1792224" cy="411480"/>
          </a:xfrm>
          <a:prstGeom prst="rect">
            <a:avLst/>
          </a:prstGeom>
          <a:noFill/>
        </p:spPr>
        <p:txBody>
          <a:bodyPr wrap="square"/>
          <a:lstStyle/>
          <a:p>
            <a:pPr algn="l"/>
            <a:r>
              <a:rPr sz="900" b="0" i="0">
                <a:solidFill>
                  <a:srgbClr val="E6E5DE"/>
                </a:solidFill>
                <a:latin typeface="Calibri"/>
              </a:rPr>
              <a:t>Year founded</a:t>
            </a:r>
          </a:p>
        </p:txBody>
      </p:sp>
      <p:sp>
        <p:nvSpPr>
          <p:cNvPr id="37" name="TextBox 36"/>
          <p:cNvSpPr txBox="1"/>
          <p:nvPr/>
        </p:nvSpPr>
        <p:spPr>
          <a:xfrm>
            <a:off x="10186416" y="3163823"/>
            <a:ext cx="1792224" cy="201168"/>
          </a:xfrm>
          <a:prstGeom prst="rect">
            <a:avLst/>
          </a:prstGeom>
          <a:noFill/>
        </p:spPr>
        <p:txBody>
          <a:bodyPr wrap="square"/>
          <a:lstStyle/>
          <a:p>
            <a:pPr algn="l"/>
            <a:r>
              <a:rPr sz="700" b="0" i="1">
                <a:solidFill>
                  <a:srgbClr val="01A296"/>
                </a:solidFill>
                <a:latin typeface="Calibri"/>
              </a:rPr>
              <a:t>Company records</a:t>
            </a:r>
          </a:p>
        </p:txBody>
      </p:sp>
      <p:sp>
        <p:nvSpPr>
          <p:cNvPr id="38" name="TextBox 37"/>
          <p:cNvSpPr txBox="1"/>
          <p:nvPr/>
        </p:nvSpPr>
        <p:spPr>
          <a:xfrm>
            <a:off x="201168" y="3538728"/>
            <a:ext cx="4572000" cy="201168"/>
          </a:xfrm>
          <a:prstGeom prst="rect">
            <a:avLst/>
          </a:prstGeom>
          <a:noFill/>
        </p:spPr>
        <p:txBody>
          <a:bodyPr wrap="square"/>
          <a:lstStyle/>
          <a:p>
            <a:pPr algn="l"/>
            <a:r>
              <a:rPr sz="900" b="1" i="0">
                <a:solidFill>
                  <a:srgbClr val="01A296"/>
                </a:solidFill>
                <a:latin typeface="Calibri"/>
              </a:rPr>
              <a:t>REVENUE GROWTH  (AUD, verified)</a:t>
            </a:r>
          </a:p>
        </p:txBody>
      </p:sp>
      <p:sp>
        <p:nvSpPr>
          <p:cNvPr id="39" name="Rectangle 38"/>
          <p:cNvSpPr/>
          <p:nvPr/>
        </p:nvSpPr>
        <p:spPr>
          <a:xfrm>
            <a:off x="201168" y="3966638"/>
            <a:ext cx="822960" cy="623649"/>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01168" y="3765470"/>
            <a:ext cx="822960" cy="182880"/>
          </a:xfrm>
          <a:prstGeom prst="rect">
            <a:avLst/>
          </a:prstGeom>
          <a:noFill/>
        </p:spPr>
        <p:txBody>
          <a:bodyPr wrap="square"/>
          <a:lstStyle/>
          <a:p>
            <a:pPr algn="ctr"/>
            <a:r>
              <a:rPr sz="800" b="1" i="0">
                <a:solidFill>
                  <a:srgbClr val="000000"/>
                </a:solidFill>
                <a:latin typeface="Calibri"/>
              </a:rPr>
              <a:t>$9.7M</a:t>
            </a:r>
          </a:p>
        </p:txBody>
      </p:sp>
      <p:sp>
        <p:nvSpPr>
          <p:cNvPr id="41" name="TextBox 40"/>
          <p:cNvSpPr txBox="1"/>
          <p:nvPr/>
        </p:nvSpPr>
        <p:spPr>
          <a:xfrm>
            <a:off x="201168" y="4608576"/>
            <a:ext cx="822960" cy="164592"/>
          </a:xfrm>
          <a:prstGeom prst="rect">
            <a:avLst/>
          </a:prstGeom>
          <a:noFill/>
        </p:spPr>
        <p:txBody>
          <a:bodyPr wrap="square"/>
          <a:lstStyle/>
          <a:p>
            <a:pPr algn="ctr"/>
            <a:r>
              <a:rPr sz="800" b="0" i="0">
                <a:solidFill>
                  <a:srgbClr val="000000"/>
                </a:solidFill>
                <a:latin typeface="Calibri"/>
              </a:rPr>
              <a:t>FY2024</a:t>
            </a:r>
          </a:p>
        </p:txBody>
      </p:sp>
      <p:sp>
        <p:nvSpPr>
          <p:cNvPr id="42" name="Rectangle 41"/>
          <p:cNvSpPr/>
          <p:nvPr/>
        </p:nvSpPr>
        <p:spPr>
          <a:xfrm>
            <a:off x="1161288" y="3767328"/>
            <a:ext cx="822960" cy="82296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161288" y="3566160"/>
            <a:ext cx="822960" cy="182880"/>
          </a:xfrm>
          <a:prstGeom prst="rect">
            <a:avLst/>
          </a:prstGeom>
          <a:noFill/>
        </p:spPr>
        <p:txBody>
          <a:bodyPr wrap="square"/>
          <a:lstStyle/>
          <a:p>
            <a:pPr algn="ctr"/>
            <a:r>
              <a:rPr sz="800" b="1" i="0">
                <a:solidFill>
                  <a:srgbClr val="000000"/>
                </a:solidFill>
                <a:latin typeface="Calibri"/>
              </a:rPr>
              <a:t>$12.8M</a:t>
            </a:r>
          </a:p>
        </p:txBody>
      </p:sp>
      <p:sp>
        <p:nvSpPr>
          <p:cNvPr id="44" name="TextBox 43"/>
          <p:cNvSpPr txBox="1"/>
          <p:nvPr/>
        </p:nvSpPr>
        <p:spPr>
          <a:xfrm>
            <a:off x="1161288" y="4608576"/>
            <a:ext cx="822960" cy="164592"/>
          </a:xfrm>
          <a:prstGeom prst="rect">
            <a:avLst/>
          </a:prstGeom>
          <a:noFill/>
        </p:spPr>
        <p:txBody>
          <a:bodyPr wrap="square"/>
          <a:lstStyle/>
          <a:p>
            <a:pPr algn="ctr"/>
            <a:r>
              <a:rPr sz="800" b="0" i="0">
                <a:solidFill>
                  <a:srgbClr val="000000"/>
                </a:solidFill>
                <a:latin typeface="Calibri"/>
              </a:rPr>
              <a:t>FY2025</a:t>
            </a:r>
          </a:p>
        </p:txBody>
      </p:sp>
      <p:sp>
        <p:nvSpPr>
          <p:cNvPr id="45" name="TextBox 44"/>
          <p:cNvSpPr txBox="1"/>
          <p:nvPr/>
        </p:nvSpPr>
        <p:spPr>
          <a:xfrm>
            <a:off x="201168" y="4800600"/>
            <a:ext cx="3200400" cy="182880"/>
          </a:xfrm>
          <a:prstGeom prst="rect">
            <a:avLst/>
          </a:prstGeom>
          <a:noFill/>
        </p:spPr>
        <p:txBody>
          <a:bodyPr wrap="square"/>
          <a:lstStyle/>
          <a:p>
            <a:pPr algn="l"/>
            <a:r>
              <a:rPr sz="700" b="0" i="1">
                <a:solidFill>
                  <a:srgbClr val="01A296"/>
                </a:solidFill>
                <a:latin typeface="Calibri"/>
              </a:rPr>
              <a:t>Source: SmartCompany Smart50 2024 and 2025 award citations</a:t>
            </a:r>
          </a:p>
        </p:txBody>
      </p:sp>
      <p:sp>
        <p:nvSpPr>
          <p:cNvPr id="46" name="TextBox 45"/>
          <p:cNvSpPr txBox="1"/>
          <p:nvPr/>
        </p:nvSpPr>
        <p:spPr>
          <a:xfrm>
            <a:off x="3657600" y="3538728"/>
            <a:ext cx="8229600" cy="201168"/>
          </a:xfrm>
          <a:prstGeom prst="rect">
            <a:avLst/>
          </a:prstGeom>
          <a:noFill/>
        </p:spPr>
        <p:txBody>
          <a:bodyPr wrap="square"/>
          <a:lstStyle/>
          <a:p>
            <a:pPr algn="l"/>
            <a:r>
              <a:rPr sz="900" b="1" i="0">
                <a:solidFill>
                  <a:srgbClr val="01A296"/>
                </a:solidFill>
                <a:latin typeface="Calibri"/>
              </a:rPr>
              <a:t>KEY COMMERCIAL SIGNALS</a:t>
            </a:r>
          </a:p>
        </p:txBody>
      </p:sp>
      <p:sp>
        <p:nvSpPr>
          <p:cNvPr id="47" name="TextBox 46"/>
          <p:cNvSpPr txBox="1"/>
          <p:nvPr/>
        </p:nvSpPr>
        <p:spPr>
          <a:xfrm>
            <a:off x="3657600" y="3794760"/>
            <a:ext cx="8229600" cy="256032"/>
          </a:xfrm>
          <a:prstGeom prst="rect">
            <a:avLst/>
          </a:prstGeom>
          <a:noFill/>
        </p:spPr>
        <p:txBody>
          <a:bodyPr wrap="square"/>
          <a:lstStyle/>
          <a:p>
            <a:pPr algn="l"/>
            <a:r>
              <a:rPr sz="950" b="1" i="0">
                <a:solidFill>
                  <a:srgbClr val="000000"/>
                </a:solidFill>
                <a:latin typeface="Calibri"/>
              </a:rPr>
              <a:t>•  RentRepair launched as Australia's only complete subscription property maintenance service. Two tiers (Essential and Comprehensive). (taskforce.com.au/rentrepair)</a:t>
            </a:r>
          </a:p>
        </p:txBody>
      </p:sp>
      <p:sp>
        <p:nvSpPr>
          <p:cNvPr id="48" name="TextBox 47"/>
          <p:cNvSpPr txBox="1"/>
          <p:nvPr/>
        </p:nvSpPr>
        <p:spPr>
          <a:xfrm>
            <a:off x="3657600" y="4087368"/>
            <a:ext cx="8229600" cy="256032"/>
          </a:xfrm>
          <a:prstGeom prst="rect">
            <a:avLst/>
          </a:prstGeom>
          <a:noFill/>
        </p:spPr>
        <p:txBody>
          <a:bodyPr wrap="square"/>
          <a:lstStyle/>
          <a:p>
            <a:pPr algn="l"/>
            <a:r>
              <a:rPr sz="950" b="0" i="0">
                <a:solidFill>
                  <a:srgbClr val="000000"/>
                </a:solidFill>
                <a:latin typeface="Calibri"/>
              </a:rPr>
              <a:t>•  140,000+ jobs delivered through RentSafe across 20 major consumer brands since 2021. Brands include Brilliant Lighting, Nero, Universal Fans. (SmartCompany Smart50 2025)</a:t>
            </a:r>
          </a:p>
        </p:txBody>
      </p:sp>
      <p:sp>
        <p:nvSpPr>
          <p:cNvPr id="49" name="TextBox 48"/>
          <p:cNvSpPr txBox="1"/>
          <p:nvPr/>
        </p:nvSpPr>
        <p:spPr>
          <a:xfrm>
            <a:off x="3657600" y="4379976"/>
            <a:ext cx="8229600" cy="256032"/>
          </a:xfrm>
          <a:prstGeom prst="rect">
            <a:avLst/>
          </a:prstGeom>
          <a:noFill/>
        </p:spPr>
        <p:txBody>
          <a:bodyPr wrap="square"/>
          <a:lstStyle/>
          <a:p>
            <a:pPr algn="l"/>
            <a:r>
              <a:rPr sz="950" b="0" i="0">
                <a:solidFill>
                  <a:srgbClr val="000000"/>
                </a:solidFill>
                <a:latin typeface="Calibri"/>
              </a:rPr>
              <a:t>•  Agency clients doubled in 12 months. Over 300 real estate offices and 180 major real estate brands now using the platform. (SmartCompany Smart50 2025)</a:t>
            </a:r>
          </a:p>
        </p:txBody>
      </p:sp>
      <p:sp>
        <p:nvSpPr>
          <p:cNvPr id="50" name="TextBox 49"/>
          <p:cNvSpPr txBox="1"/>
          <p:nvPr/>
        </p:nvSpPr>
        <p:spPr>
          <a:xfrm>
            <a:off x="3657600" y="4672584"/>
            <a:ext cx="8229600" cy="256032"/>
          </a:xfrm>
          <a:prstGeom prst="rect">
            <a:avLst/>
          </a:prstGeom>
          <a:noFill/>
        </p:spPr>
        <p:txBody>
          <a:bodyPr wrap="square"/>
          <a:lstStyle/>
          <a:p>
            <a:pPr algn="l"/>
            <a:r>
              <a:rPr sz="950" b="1" i="0">
                <a:solidFill>
                  <a:srgbClr val="000000"/>
                </a:solidFill>
                <a:latin typeface="Calibri"/>
              </a:rPr>
              <a:t>•  Three consecutive Smart50 appearances: 2023, 2024 rank 46, 2025 rank 37. Revenue climbed from $9.7M to $12.8M year on year. (SmartCompany)</a:t>
            </a:r>
          </a:p>
        </p:txBody>
      </p:sp>
      <p:sp>
        <p:nvSpPr>
          <p:cNvPr id="51" name="TextBox 50"/>
          <p:cNvSpPr txBox="1"/>
          <p:nvPr/>
        </p:nvSpPr>
        <p:spPr>
          <a:xfrm>
            <a:off x="3657600" y="4965192"/>
            <a:ext cx="8229600" cy="256032"/>
          </a:xfrm>
          <a:prstGeom prst="rect">
            <a:avLst/>
          </a:prstGeom>
          <a:noFill/>
        </p:spPr>
        <p:txBody>
          <a:bodyPr wrap="square"/>
          <a:lstStyle/>
          <a:p>
            <a:pPr algn="l"/>
            <a:r>
              <a:rPr sz="950" b="0" i="0">
                <a:solidFill>
                  <a:srgbClr val="000000"/>
                </a:solidFill>
                <a:latin typeface="Calibri"/>
              </a:rPr>
              <a:t>•  Won Most Innovative Proptech at the 2024 Proptech Awards, Sydney. (PropTech Australia 2024 citation)</a:t>
            </a:r>
          </a:p>
        </p:txBody>
      </p:sp>
      <p:sp>
        <p:nvSpPr>
          <p:cNvPr id="52" name="Rectangle 51"/>
          <p:cNvSpPr/>
          <p:nvPr/>
        </p:nvSpPr>
        <p:spPr>
          <a:xfrm>
            <a:off x="91440" y="6446520"/>
            <a:ext cx="12100255" cy="127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01168" y="6537960"/>
            <a:ext cx="8686800" cy="274320"/>
          </a:xfrm>
          <a:prstGeom prst="rect">
            <a:avLst/>
          </a:prstGeom>
          <a:noFill/>
        </p:spPr>
        <p:txBody>
          <a:bodyPr wrap="square"/>
          <a:lstStyle/>
          <a:p>
            <a:pPr algn="l"/>
            <a:r>
              <a:rPr sz="800" b="0" i="0">
                <a:solidFill>
                  <a:srgbClr val="01A296"/>
                </a:solidFill>
                <a:latin typeface="Calibri"/>
              </a:rPr>
              <a:t>Prepared by Nitesh Roopa CA  |  Managing Partner  |  ProfitPulse  |  Profit-Pulse.com.au</a:t>
            </a:r>
          </a:p>
        </p:txBody>
      </p:sp>
      <p:sp>
        <p:nvSpPr>
          <p:cNvPr id="54" name="TextBox 53"/>
          <p:cNvSpPr txBox="1"/>
          <p:nvPr/>
        </p:nvSpPr>
        <p:spPr>
          <a:xfrm>
            <a:off x="9601200" y="6537960"/>
            <a:ext cx="2468880" cy="274320"/>
          </a:xfrm>
          <a:prstGeom prst="rect">
            <a:avLst/>
          </a:prstGeom>
          <a:noFill/>
        </p:spPr>
        <p:txBody>
          <a:bodyPr wrap="square"/>
          <a:lstStyle/>
          <a:p>
            <a:pPr algn="r"/>
            <a:r>
              <a:rPr sz="800" b="0" i="0">
                <a:solidFill>
                  <a:srgbClr val="01A296"/>
                </a:solidFill>
                <a:latin typeface="Calibri"/>
              </a:rPr>
              <a:t>27 Jun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 y="0"/>
            <a:ext cx="12100255"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 y="164592"/>
            <a:ext cx="7315200" cy="502920"/>
          </a:xfrm>
          <a:prstGeom prst="rect">
            <a:avLst/>
          </a:prstGeom>
          <a:noFill/>
        </p:spPr>
        <p:txBody>
          <a:bodyPr wrap="square"/>
          <a:lstStyle/>
          <a:p>
            <a:pPr algn="l"/>
            <a:r>
              <a:rPr sz="1300" b="1" i="0">
                <a:solidFill>
                  <a:srgbClr val="E6E5DE"/>
                </a:solidFill>
                <a:latin typeface="Calibri"/>
              </a:rPr>
              <a:t>THE OPPORTUNITY</a:t>
            </a:r>
          </a:p>
        </p:txBody>
      </p:sp>
      <p:sp>
        <p:nvSpPr>
          <p:cNvPr id="5" name="TextBox 4"/>
          <p:cNvSpPr txBox="1"/>
          <p:nvPr/>
        </p:nvSpPr>
        <p:spPr>
          <a:xfrm>
            <a:off x="9601200" y="164592"/>
            <a:ext cx="2468880" cy="502920"/>
          </a:xfrm>
          <a:prstGeom prst="rect">
            <a:avLst/>
          </a:prstGeom>
          <a:noFill/>
        </p:spPr>
        <p:txBody>
          <a:bodyPr wrap="square"/>
          <a:lstStyle/>
          <a:p>
            <a:pPr algn="r"/>
            <a:r>
              <a:rPr sz="1300" b="1" i="0">
                <a:solidFill>
                  <a:srgbClr val="01A296"/>
                </a:solidFill>
                <a:latin typeface="Calibri"/>
              </a:rPr>
              <a:t>PROFITPULSE</a:t>
            </a:r>
          </a:p>
        </p:txBody>
      </p:sp>
      <p:sp>
        <p:nvSpPr>
          <p:cNvPr id="6" name="TextBox 5"/>
          <p:cNvSpPr txBox="1"/>
          <p:nvPr/>
        </p:nvSpPr>
        <p:spPr>
          <a:xfrm>
            <a:off x="201168" y="987552"/>
            <a:ext cx="11704320" cy="301752"/>
          </a:xfrm>
          <a:prstGeom prst="rect">
            <a:avLst/>
          </a:prstGeom>
          <a:noFill/>
        </p:spPr>
        <p:txBody>
          <a:bodyPr wrap="square"/>
          <a:lstStyle/>
          <a:p>
            <a:pPr algn="l"/>
            <a:r>
              <a:rPr sz="1300" b="0" i="0">
                <a:solidFill>
                  <a:srgbClr val="000000"/>
                </a:solidFill>
                <a:latin typeface="Calibri"/>
              </a:rPr>
              <a:t>Taskforce Australia: Three commercial observations from ProfitPulse</a:t>
            </a:r>
          </a:p>
        </p:txBody>
      </p:sp>
      <p:sp>
        <p:nvSpPr>
          <p:cNvPr id="7" name="Rectangle 6"/>
          <p:cNvSpPr/>
          <p:nvPr/>
        </p:nvSpPr>
        <p:spPr>
          <a:xfrm>
            <a:off x="118872" y="1344168"/>
            <a:ext cx="3858768" cy="493776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3464" y="1481328"/>
            <a:ext cx="3529584" cy="548640"/>
          </a:xfrm>
          <a:prstGeom prst="rect">
            <a:avLst/>
          </a:prstGeom>
          <a:noFill/>
        </p:spPr>
        <p:txBody>
          <a:bodyPr wrap="square"/>
          <a:lstStyle/>
          <a:p>
            <a:pPr algn="l"/>
            <a:r>
              <a:rPr sz="3600" b="1" i="0">
                <a:solidFill>
                  <a:srgbClr val="FFFFFF"/>
                </a:solidFill>
                <a:latin typeface="Georgia"/>
              </a:rPr>
              <a:t>01</a:t>
            </a:r>
          </a:p>
        </p:txBody>
      </p:sp>
      <p:sp>
        <p:nvSpPr>
          <p:cNvPr id="9" name="TextBox 8"/>
          <p:cNvSpPr txBox="1"/>
          <p:nvPr/>
        </p:nvSpPr>
        <p:spPr>
          <a:xfrm>
            <a:off x="283464" y="2057400"/>
            <a:ext cx="3529584" cy="685800"/>
          </a:xfrm>
          <a:prstGeom prst="rect">
            <a:avLst/>
          </a:prstGeom>
          <a:noFill/>
        </p:spPr>
        <p:txBody>
          <a:bodyPr wrap="square"/>
          <a:lstStyle/>
          <a:p>
            <a:pPr algn="l"/>
            <a:r>
              <a:rPr sz="1200" b="1" i="0">
                <a:solidFill>
                  <a:srgbClr val="FFFFFF"/>
                </a:solidFill>
                <a:latin typeface="Georgia"/>
              </a:rPr>
              <a:t>Revenue per person is exceptional. Margin per client is unknown.</a:t>
            </a:r>
          </a:p>
        </p:txBody>
      </p:sp>
      <p:sp>
        <p:nvSpPr>
          <p:cNvPr id="10" name="TextBox 9"/>
          <p:cNvSpPr txBox="1"/>
          <p:nvPr/>
        </p:nvSpPr>
        <p:spPr>
          <a:xfrm>
            <a:off x="283464" y="2779776"/>
            <a:ext cx="3529584" cy="3291840"/>
          </a:xfrm>
          <a:prstGeom prst="rect">
            <a:avLst/>
          </a:prstGeom>
          <a:noFill/>
        </p:spPr>
        <p:txBody>
          <a:bodyPr wrap="square"/>
          <a:lstStyle/>
          <a:p>
            <a:pPr algn="l"/>
            <a:r>
              <a:rPr sz="1050" b="0" i="0">
                <a:solidFill>
                  <a:srgbClr val="FFFFFF"/>
                </a:solidFill>
                <a:latin typeface="Calibri"/>
              </a:rPr>
              <a:t>At $12.8 million across 19 employees, Taskforce generates $674,000 in revenue per person, placing it among the most efficient field service businesses in Australia. But the platform coordinates more than 5,500 external tradespeople, meaning a significant share of revenue flows through to subcontractor fees. Until each manufacturer client and each real estate office is ranked by gross margin contribution and coordination cost, growth is being managed by revenue alone. A Customer Concentration and Profitability Map reveals which accounts to grow, which to reprice, and which consume more than they return.</a:t>
            </a:r>
          </a:p>
        </p:txBody>
      </p:sp>
      <p:sp>
        <p:nvSpPr>
          <p:cNvPr id="11" name="Rectangle 10"/>
          <p:cNvSpPr/>
          <p:nvPr/>
        </p:nvSpPr>
        <p:spPr>
          <a:xfrm>
            <a:off x="4014216" y="1344168"/>
            <a:ext cx="3858768" cy="493776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78808" y="1481328"/>
            <a:ext cx="3529584" cy="548640"/>
          </a:xfrm>
          <a:prstGeom prst="rect">
            <a:avLst/>
          </a:prstGeom>
          <a:noFill/>
        </p:spPr>
        <p:txBody>
          <a:bodyPr wrap="square"/>
          <a:lstStyle/>
          <a:p>
            <a:pPr algn="l"/>
            <a:r>
              <a:rPr sz="3600" b="1" i="0">
                <a:solidFill>
                  <a:srgbClr val="F8C806"/>
                </a:solidFill>
                <a:latin typeface="Georgia"/>
              </a:rPr>
              <a:t>02</a:t>
            </a:r>
          </a:p>
        </p:txBody>
      </p:sp>
      <p:sp>
        <p:nvSpPr>
          <p:cNvPr id="13" name="TextBox 12"/>
          <p:cNvSpPr txBox="1"/>
          <p:nvPr/>
        </p:nvSpPr>
        <p:spPr>
          <a:xfrm>
            <a:off x="4178808" y="2057400"/>
            <a:ext cx="3529584" cy="685800"/>
          </a:xfrm>
          <a:prstGeom prst="rect">
            <a:avLst/>
          </a:prstGeom>
          <a:noFill/>
        </p:spPr>
        <p:txBody>
          <a:bodyPr wrap="square"/>
          <a:lstStyle/>
          <a:p>
            <a:pPr algn="l"/>
            <a:r>
              <a:rPr sz="1200" b="1" i="0">
                <a:solidFill>
                  <a:srgbClr val="E6E5DE"/>
                </a:solidFill>
                <a:latin typeface="Georgia"/>
              </a:rPr>
              <a:t>Two channels with different economics need separate financial discipline.</a:t>
            </a:r>
          </a:p>
        </p:txBody>
      </p:sp>
      <p:sp>
        <p:nvSpPr>
          <p:cNvPr id="14" name="TextBox 13"/>
          <p:cNvSpPr txBox="1"/>
          <p:nvPr/>
        </p:nvSpPr>
        <p:spPr>
          <a:xfrm>
            <a:off x="4178808" y="2779776"/>
            <a:ext cx="3529584" cy="3291840"/>
          </a:xfrm>
          <a:prstGeom prst="rect">
            <a:avLst/>
          </a:prstGeom>
          <a:noFill/>
        </p:spPr>
        <p:txBody>
          <a:bodyPr wrap="square"/>
          <a:lstStyle/>
          <a:p>
            <a:pPr algn="l"/>
            <a:r>
              <a:rPr sz="1050" b="0" i="0">
                <a:solidFill>
                  <a:srgbClr val="E6E5DE"/>
                </a:solidFill>
                <a:latin typeface="Calibri"/>
              </a:rPr>
              <a:t>RentSafe manages compliance for manufacturers and real estate offices on a per-job model. RentRepair offers subscription maintenance at a fixed monthly fee. These are structurally different businesses within one entity: one is volume and frequency driven, the other is recurring revenue with customer lifetime value mechanics. A business that prices both against the same cost base will misread its margins in both directions. Understanding which channel funds growth and which consumes it is the foundational question before the next expansion phase.</a:t>
            </a:r>
          </a:p>
        </p:txBody>
      </p:sp>
      <p:sp>
        <p:nvSpPr>
          <p:cNvPr id="15" name="Rectangle 14"/>
          <p:cNvSpPr/>
          <p:nvPr/>
        </p:nvSpPr>
        <p:spPr>
          <a:xfrm>
            <a:off x="7909560" y="1344168"/>
            <a:ext cx="3858768" cy="4937760"/>
          </a:xfrm>
          <a:prstGeom prst="rect">
            <a:avLst/>
          </a:prstGeom>
          <a:solidFill>
            <a:srgbClr val="E3A7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74152" y="1481328"/>
            <a:ext cx="3529584" cy="548640"/>
          </a:xfrm>
          <a:prstGeom prst="rect">
            <a:avLst/>
          </a:prstGeom>
          <a:noFill/>
        </p:spPr>
        <p:txBody>
          <a:bodyPr wrap="square"/>
          <a:lstStyle/>
          <a:p>
            <a:pPr algn="l"/>
            <a:r>
              <a:rPr sz="3600" b="1" i="0">
                <a:solidFill>
                  <a:srgbClr val="000000"/>
                </a:solidFill>
                <a:latin typeface="Georgia"/>
              </a:rPr>
              <a:t>03</a:t>
            </a:r>
          </a:p>
        </p:txBody>
      </p:sp>
      <p:sp>
        <p:nvSpPr>
          <p:cNvPr id="17" name="TextBox 16"/>
          <p:cNvSpPr txBox="1"/>
          <p:nvPr/>
        </p:nvSpPr>
        <p:spPr>
          <a:xfrm>
            <a:off x="8074152" y="2057400"/>
            <a:ext cx="3529584" cy="685800"/>
          </a:xfrm>
          <a:prstGeom prst="rect">
            <a:avLst/>
          </a:prstGeom>
          <a:noFill/>
        </p:spPr>
        <p:txBody>
          <a:bodyPr wrap="square"/>
          <a:lstStyle/>
          <a:p>
            <a:pPr algn="l"/>
            <a:r>
              <a:rPr sz="1200" b="1" i="0">
                <a:solidFill>
                  <a:srgbClr val="000000"/>
                </a:solidFill>
                <a:latin typeface="Georgia"/>
              </a:rPr>
              <a:t>Doubling agency clients signals growth. Cash timing needs matching attention.</a:t>
            </a:r>
          </a:p>
        </p:txBody>
      </p:sp>
      <p:sp>
        <p:nvSpPr>
          <p:cNvPr id="18" name="TextBox 17"/>
          <p:cNvSpPr txBox="1"/>
          <p:nvPr/>
        </p:nvSpPr>
        <p:spPr>
          <a:xfrm>
            <a:off x="8074152" y="2779776"/>
            <a:ext cx="3529584" cy="3291840"/>
          </a:xfrm>
          <a:prstGeom prst="rect">
            <a:avLst/>
          </a:prstGeom>
          <a:noFill/>
        </p:spPr>
        <p:txBody>
          <a:bodyPr wrap="square"/>
          <a:lstStyle/>
          <a:p>
            <a:pPr algn="l"/>
            <a:r>
              <a:rPr sz="1050" b="0" i="0">
                <a:solidFill>
                  <a:srgbClr val="000000"/>
                </a:solidFill>
                <a:latin typeface="Calibri"/>
              </a:rPr>
              <a:t>Doubling agency clients in a year is a genuine commercial achievement. It also means more work in progress, more debtor cycles, and more subcontractor payments ahead of client settlement. As Taskforce moves into subscription billing through RentRepair, the cash conversion model changes again. A disciplined working capital review and a 13-week cash flow build are the natural next steps for a business that has outgrown its original revenue model and is building a second engine alongside the first.</a:t>
            </a:r>
          </a:p>
        </p:txBody>
      </p:sp>
      <p:sp>
        <p:nvSpPr>
          <p:cNvPr id="19" name="TextBox 18"/>
          <p:cNvSpPr txBox="1"/>
          <p:nvPr/>
        </p:nvSpPr>
        <p:spPr>
          <a:xfrm>
            <a:off x="201168" y="6373368"/>
            <a:ext cx="11704320" cy="292608"/>
          </a:xfrm>
          <a:prstGeom prst="rect">
            <a:avLst/>
          </a:prstGeom>
          <a:noFill/>
        </p:spPr>
        <p:txBody>
          <a:bodyPr wrap="square"/>
          <a:lstStyle/>
          <a:p>
            <a:pPr algn="ctr"/>
            <a:r>
              <a:rPr sz="1000" b="0" i="1">
                <a:solidFill>
                  <a:srgbClr val="000000"/>
                </a:solidFill>
                <a:latin typeface="Calibri"/>
              </a:rPr>
              <a:t>These observations are offered in good faith. Taskforce Australia has built a remarkable platform. The question is simply whether the financial architecture is keeping pace with the commercial ambition.</a:t>
            </a:r>
          </a:p>
        </p:txBody>
      </p:sp>
      <p:sp>
        <p:nvSpPr>
          <p:cNvPr id="20" name="Rectangle 19"/>
          <p:cNvSpPr/>
          <p:nvPr/>
        </p:nvSpPr>
        <p:spPr>
          <a:xfrm>
            <a:off x="91440" y="6446520"/>
            <a:ext cx="12100255" cy="127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01168" y="6537960"/>
            <a:ext cx="8686800" cy="274320"/>
          </a:xfrm>
          <a:prstGeom prst="rect">
            <a:avLst/>
          </a:prstGeom>
          <a:noFill/>
        </p:spPr>
        <p:txBody>
          <a:bodyPr wrap="square"/>
          <a:lstStyle/>
          <a:p>
            <a:pPr algn="l"/>
            <a:r>
              <a:rPr sz="800" b="0" i="0">
                <a:solidFill>
                  <a:srgbClr val="01A296"/>
                </a:solidFill>
                <a:latin typeface="Calibri"/>
              </a:rPr>
              <a:t>Prepared by Nitesh Roopa CA  |  Managing Partner  |  ProfitPulse  |  Profit-Pulse.com.au</a:t>
            </a:r>
          </a:p>
        </p:txBody>
      </p:sp>
      <p:sp>
        <p:nvSpPr>
          <p:cNvPr id="22" name="TextBox 21"/>
          <p:cNvSpPr txBox="1"/>
          <p:nvPr/>
        </p:nvSpPr>
        <p:spPr>
          <a:xfrm>
            <a:off x="9601200" y="6537960"/>
            <a:ext cx="2468880" cy="274320"/>
          </a:xfrm>
          <a:prstGeom prst="rect">
            <a:avLst/>
          </a:prstGeom>
          <a:noFill/>
        </p:spPr>
        <p:txBody>
          <a:bodyPr wrap="square"/>
          <a:lstStyle/>
          <a:p>
            <a:pPr algn="r"/>
            <a:r>
              <a:rPr sz="800" b="0" i="0">
                <a:solidFill>
                  <a:srgbClr val="01A296"/>
                </a:solidFill>
                <a:latin typeface="Calibri"/>
              </a:rPr>
              <a:t>27 Jun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 y="0"/>
            <a:ext cx="12100255"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 y="164592"/>
            <a:ext cx="7315200" cy="502920"/>
          </a:xfrm>
          <a:prstGeom prst="rect">
            <a:avLst/>
          </a:prstGeom>
          <a:noFill/>
        </p:spPr>
        <p:txBody>
          <a:bodyPr wrap="square"/>
          <a:lstStyle/>
          <a:p>
            <a:pPr algn="l"/>
            <a:r>
              <a:rPr sz="1300" b="1" i="0">
                <a:solidFill>
                  <a:srgbClr val="E6E5DE"/>
                </a:solidFill>
                <a:latin typeface="Calibri"/>
              </a:rPr>
              <a:t>THE RECOMMENDATION</a:t>
            </a:r>
          </a:p>
        </p:txBody>
      </p:sp>
      <p:sp>
        <p:nvSpPr>
          <p:cNvPr id="5" name="TextBox 4"/>
          <p:cNvSpPr txBox="1"/>
          <p:nvPr/>
        </p:nvSpPr>
        <p:spPr>
          <a:xfrm>
            <a:off x="9601200" y="164592"/>
            <a:ext cx="2468880" cy="502920"/>
          </a:xfrm>
          <a:prstGeom prst="rect">
            <a:avLst/>
          </a:prstGeom>
          <a:noFill/>
        </p:spPr>
        <p:txBody>
          <a:bodyPr wrap="square"/>
          <a:lstStyle/>
          <a:p>
            <a:pPr algn="r"/>
            <a:r>
              <a:rPr sz="1300" b="1" i="0">
                <a:solidFill>
                  <a:srgbClr val="01A296"/>
                </a:solidFill>
                <a:latin typeface="Calibri"/>
              </a:rPr>
              <a:t>PROFITPULSE</a:t>
            </a:r>
          </a:p>
        </p:txBody>
      </p:sp>
      <p:sp>
        <p:nvSpPr>
          <p:cNvPr id="6" name="TextBox 5"/>
          <p:cNvSpPr txBox="1"/>
          <p:nvPr/>
        </p:nvSpPr>
        <p:spPr>
          <a:xfrm>
            <a:off x="201168" y="1078992"/>
            <a:ext cx="6858000" cy="594360"/>
          </a:xfrm>
          <a:prstGeom prst="rect">
            <a:avLst/>
          </a:prstGeom>
          <a:noFill/>
        </p:spPr>
        <p:txBody>
          <a:bodyPr wrap="square"/>
          <a:lstStyle/>
          <a:p>
            <a:pPr algn="l"/>
            <a:r>
              <a:rPr sz="2000" b="1" i="0">
                <a:solidFill>
                  <a:srgbClr val="000000"/>
                </a:solidFill>
                <a:latin typeface="Georgia"/>
              </a:rPr>
              <a:t>Customer Concentration and Profitability Map</a:t>
            </a:r>
          </a:p>
        </p:txBody>
      </p:sp>
      <p:sp>
        <p:nvSpPr>
          <p:cNvPr id="7" name="TextBox 6"/>
          <p:cNvSpPr txBox="1"/>
          <p:nvPr/>
        </p:nvSpPr>
        <p:spPr>
          <a:xfrm>
            <a:off x="201168" y="1673352"/>
            <a:ext cx="6858000" cy="274320"/>
          </a:xfrm>
          <a:prstGeom prst="rect">
            <a:avLst/>
          </a:prstGeom>
          <a:noFill/>
        </p:spPr>
        <p:txBody>
          <a:bodyPr wrap="square"/>
          <a:lstStyle/>
          <a:p>
            <a:pPr algn="l"/>
            <a:r>
              <a:rPr sz="1300" b="0" i="0">
                <a:solidFill>
                  <a:srgbClr val="01A296"/>
                </a:solidFill>
                <a:latin typeface="Calibri"/>
              </a:rPr>
              <a:t>$3,950  one off  |  ProfitPulse verified price</a:t>
            </a:r>
          </a:p>
        </p:txBody>
      </p:sp>
      <p:sp>
        <p:nvSpPr>
          <p:cNvPr id="8" name="TextBox 7"/>
          <p:cNvSpPr txBox="1"/>
          <p:nvPr/>
        </p:nvSpPr>
        <p:spPr>
          <a:xfrm>
            <a:off x="201168" y="2020824"/>
            <a:ext cx="6858000" cy="1005840"/>
          </a:xfrm>
          <a:prstGeom prst="rect">
            <a:avLst/>
          </a:prstGeom>
          <a:noFill/>
        </p:spPr>
        <p:txBody>
          <a:bodyPr wrap="square"/>
          <a:lstStyle/>
          <a:p>
            <a:pPr algn="l"/>
            <a:r>
              <a:rPr sz="1050" b="0" i="0">
                <a:solidFill>
                  <a:srgbClr val="000000"/>
                </a:solidFill>
                <a:latin typeface="Calibri"/>
              </a:rPr>
              <a:t>A three-week project ranking every customer by revenue, gross margin contribution, and effort to serve. For Taskforce Australia, this maps both manufacturer clients and real estate agency accounts to reveal which drive the real margin after tradie fees, platform costs, and coordination effort are allocated. Output: a clear action list of which accounts to grow, reprice, or reset.</a:t>
            </a:r>
          </a:p>
        </p:txBody>
      </p:sp>
      <p:sp>
        <p:nvSpPr>
          <p:cNvPr id="9" name="Rectangle 8"/>
          <p:cNvSpPr/>
          <p:nvPr/>
        </p:nvSpPr>
        <p:spPr>
          <a:xfrm>
            <a:off x="201168" y="3090672"/>
            <a:ext cx="6858000" cy="254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3163823"/>
            <a:ext cx="6858000" cy="201168"/>
          </a:xfrm>
          <a:prstGeom prst="rect">
            <a:avLst/>
          </a:prstGeom>
          <a:noFill/>
        </p:spPr>
        <p:txBody>
          <a:bodyPr wrap="square"/>
          <a:lstStyle/>
          <a:p>
            <a:pPr algn="l"/>
            <a:r>
              <a:rPr sz="900" b="1" i="0">
                <a:solidFill>
                  <a:srgbClr val="01A296"/>
                </a:solidFill>
                <a:latin typeface="Calibri"/>
              </a:rPr>
              <a:t>STEP ONE</a:t>
            </a:r>
          </a:p>
        </p:txBody>
      </p:sp>
      <p:sp>
        <p:nvSpPr>
          <p:cNvPr id="11" name="TextBox 10"/>
          <p:cNvSpPr txBox="1"/>
          <p:nvPr/>
        </p:nvSpPr>
        <p:spPr>
          <a:xfrm>
            <a:off x="201168" y="3364991"/>
            <a:ext cx="6858000" cy="292608"/>
          </a:xfrm>
          <a:prstGeom prst="rect">
            <a:avLst/>
          </a:prstGeom>
          <a:noFill/>
        </p:spPr>
        <p:txBody>
          <a:bodyPr wrap="square"/>
          <a:lstStyle/>
          <a:p>
            <a:pPr algn="l"/>
            <a:r>
              <a:rPr sz="1400" b="1" i="0">
                <a:solidFill>
                  <a:srgbClr val="000000"/>
                </a:solidFill>
                <a:latin typeface="Calibri"/>
              </a:rPr>
              <a:t>Answer a few quick questions</a:t>
            </a:r>
          </a:p>
        </p:txBody>
      </p:sp>
      <p:sp>
        <p:nvSpPr>
          <p:cNvPr id="12" name="TextBox 11"/>
          <p:cNvSpPr txBox="1"/>
          <p:nvPr/>
        </p:nvSpPr>
        <p:spPr>
          <a:xfrm>
            <a:off x="201168" y="3666743"/>
            <a:ext cx="6858000" cy="228600"/>
          </a:xfrm>
          <a:prstGeom prst="rect">
            <a:avLst/>
          </a:prstGeom>
          <a:noFill/>
        </p:spPr>
        <p:txBody>
          <a:bodyPr wrap="square"/>
          <a:lstStyle/>
          <a:p>
            <a:pPr algn="l"/>
            <a:r>
              <a:rPr sz="1100" b="0" i="0">
                <a:solidFill>
                  <a:srgbClr val="000000"/>
                </a:solidFill>
                <a:latin typeface="Calibri"/>
              </a:rPr>
              <a:t>See the solutions matched to your size and industry</a:t>
            </a:r>
          </a:p>
        </p:txBody>
      </p:sp>
      <p:sp>
        <p:nvSpPr>
          <p:cNvPr id="13" name="TextBox 12"/>
          <p:cNvSpPr txBox="1"/>
          <p:nvPr/>
        </p:nvSpPr>
        <p:spPr>
          <a:xfrm>
            <a:off x="201168" y="3913631"/>
            <a:ext cx="6858000" cy="274320"/>
          </a:xfrm>
          <a:prstGeom prst="rect">
            <a:avLst/>
          </a:prstGeom>
          <a:noFill/>
        </p:spPr>
        <p:txBody>
          <a:bodyPr wrap="square">
            <a:spAutoFit/>
          </a:bodyPr>
          <a:lstStyle/>
          <a:p>
            <a:pPr algn="l"/>
            <a:r>
              <a:rPr sz="1100" b="0">
                <a:solidFill>
                  <a:srgbClr val="01A296"/>
                </a:solidFill>
                <a:latin typeface="Calibri"/>
                <a:hlinkClick r:id="rId2"/>
              </a:rPr>
              <a:t>profit-pulse.com.au/full-suite-of-products</a:t>
            </a:r>
          </a:p>
        </p:txBody>
      </p:sp>
      <p:sp>
        <p:nvSpPr>
          <p:cNvPr id="14" name="Rectangle 13"/>
          <p:cNvSpPr/>
          <p:nvPr/>
        </p:nvSpPr>
        <p:spPr>
          <a:xfrm>
            <a:off x="201168" y="4233671"/>
            <a:ext cx="6858000" cy="1905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01168" y="4279391"/>
            <a:ext cx="6858000" cy="292608"/>
          </a:xfrm>
          <a:prstGeom prst="rect">
            <a:avLst/>
          </a:prstGeom>
          <a:noFill/>
        </p:spPr>
        <p:txBody>
          <a:bodyPr wrap="square">
            <a:spAutoFit/>
          </a:bodyPr>
          <a:lstStyle/>
          <a:p>
            <a:pPr algn="l"/>
            <a:r>
              <a:rPr sz="1200" b="1">
                <a:solidFill>
                  <a:srgbClr val="F6A102"/>
                </a:solidFill>
                <a:latin typeface="Calibri"/>
                <a:hlinkClick r:id="rId3"/>
              </a:rPr>
              <a:t>Purchase the suggested product now to get started</a:t>
            </a:r>
          </a:p>
        </p:txBody>
      </p:sp>
      <p:sp>
        <p:nvSpPr>
          <p:cNvPr id="16" name="TextBox 15"/>
          <p:cNvSpPr txBox="1"/>
          <p:nvPr/>
        </p:nvSpPr>
        <p:spPr>
          <a:xfrm>
            <a:off x="201168" y="4654295"/>
            <a:ext cx="6858000" cy="228600"/>
          </a:xfrm>
          <a:prstGeom prst="rect">
            <a:avLst/>
          </a:prstGeom>
          <a:noFill/>
        </p:spPr>
        <p:txBody>
          <a:bodyPr wrap="square"/>
          <a:lstStyle/>
          <a:p>
            <a:pPr algn="l"/>
            <a:r>
              <a:rPr sz="1000" b="0" i="0">
                <a:solidFill>
                  <a:srgbClr val="000000"/>
                </a:solidFill>
                <a:latin typeface="Calibri"/>
              </a:rPr>
              <a:t>Prefer a conversation first?</a:t>
            </a:r>
          </a:p>
        </p:txBody>
      </p:sp>
      <p:sp>
        <p:nvSpPr>
          <p:cNvPr id="17" name="TextBox 16"/>
          <p:cNvSpPr txBox="1"/>
          <p:nvPr/>
        </p:nvSpPr>
        <p:spPr>
          <a:xfrm>
            <a:off x="201168" y="4901183"/>
            <a:ext cx="6858000" cy="256032"/>
          </a:xfrm>
          <a:prstGeom prst="rect">
            <a:avLst/>
          </a:prstGeom>
          <a:noFill/>
        </p:spPr>
        <p:txBody>
          <a:bodyPr wrap="square">
            <a:spAutoFit/>
          </a:bodyPr>
          <a:lstStyle/>
          <a:p>
            <a:pPr algn="l"/>
            <a:r>
              <a:rPr sz="1100" b="0">
                <a:solidFill>
                  <a:srgbClr val="01A296"/>
                </a:solidFill>
                <a:latin typeface="Calibri"/>
                <a:hlinkClick r:id="rId4"/>
              </a:rPr>
              <a:t>Book a complimentary discovery call</a:t>
            </a:r>
          </a:p>
        </p:txBody>
      </p:sp>
      <p:sp>
        <p:nvSpPr>
          <p:cNvPr id="18" name="Rectangle 17"/>
          <p:cNvSpPr/>
          <p:nvPr/>
        </p:nvSpPr>
        <p:spPr>
          <a:xfrm>
            <a:off x="7315200" y="1078992"/>
            <a:ext cx="4663440" cy="5138928"/>
          </a:xfrm>
          <a:prstGeom prst="rect">
            <a:avLst/>
          </a:prstGeom>
          <a:solidFill>
            <a:srgbClr val="E6E5DE"/>
          </a:solidFill>
          <a:ln w="9525">
            <a:solidFill>
              <a:srgbClr val="01A2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0" y="1078992"/>
            <a:ext cx="4663440" cy="508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16368" y="1243584"/>
            <a:ext cx="4261104" cy="457200"/>
          </a:xfrm>
          <a:prstGeom prst="rect">
            <a:avLst/>
          </a:prstGeom>
          <a:noFill/>
        </p:spPr>
        <p:txBody>
          <a:bodyPr wrap="square"/>
          <a:lstStyle/>
          <a:p>
            <a:pPr algn="l"/>
            <a:r>
              <a:rPr sz="2200" b="1" i="0">
                <a:solidFill>
                  <a:srgbClr val="000000"/>
                </a:solidFill>
                <a:latin typeface="Georgia"/>
              </a:rPr>
              <a:t>Nitesh Roopa</a:t>
            </a:r>
          </a:p>
        </p:txBody>
      </p:sp>
      <p:sp>
        <p:nvSpPr>
          <p:cNvPr id="21" name="TextBox 20"/>
          <p:cNvSpPr txBox="1"/>
          <p:nvPr/>
        </p:nvSpPr>
        <p:spPr>
          <a:xfrm>
            <a:off x="7516368" y="1700784"/>
            <a:ext cx="4261104" cy="274320"/>
          </a:xfrm>
          <a:prstGeom prst="rect">
            <a:avLst/>
          </a:prstGeom>
          <a:noFill/>
        </p:spPr>
        <p:txBody>
          <a:bodyPr wrap="square"/>
          <a:lstStyle/>
          <a:p>
            <a:pPr algn="l"/>
            <a:r>
              <a:rPr sz="1200" b="0" i="0">
                <a:solidFill>
                  <a:srgbClr val="01A296"/>
                </a:solidFill>
                <a:latin typeface="Calibri"/>
              </a:rPr>
              <a:t>CA, Managing Partner  |  ProfitPulse</a:t>
            </a:r>
          </a:p>
        </p:txBody>
      </p:sp>
      <p:sp>
        <p:nvSpPr>
          <p:cNvPr id="22" name="Rectangle 21"/>
          <p:cNvSpPr/>
          <p:nvPr/>
        </p:nvSpPr>
        <p:spPr>
          <a:xfrm>
            <a:off x="7516368" y="2020824"/>
            <a:ext cx="4261104" cy="1905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16368" y="2103120"/>
            <a:ext cx="4261104" cy="292608"/>
          </a:xfrm>
          <a:prstGeom prst="rect">
            <a:avLst/>
          </a:prstGeom>
          <a:noFill/>
        </p:spPr>
        <p:txBody>
          <a:bodyPr wrap="square"/>
          <a:lstStyle/>
          <a:p>
            <a:pPr algn="l"/>
            <a:r>
              <a:rPr sz="950" b="0" i="0">
                <a:solidFill>
                  <a:srgbClr val="000000"/>
                </a:solidFill>
                <a:latin typeface="Calibri"/>
              </a:rPr>
              <a:t>•  16 years across 4 countries</a:t>
            </a:r>
          </a:p>
        </p:txBody>
      </p:sp>
      <p:sp>
        <p:nvSpPr>
          <p:cNvPr id="24" name="TextBox 23"/>
          <p:cNvSpPr txBox="1"/>
          <p:nvPr/>
        </p:nvSpPr>
        <p:spPr>
          <a:xfrm>
            <a:off x="7516368" y="2414016"/>
            <a:ext cx="4261104" cy="292608"/>
          </a:xfrm>
          <a:prstGeom prst="rect">
            <a:avLst/>
          </a:prstGeom>
          <a:noFill/>
        </p:spPr>
        <p:txBody>
          <a:bodyPr wrap="square"/>
          <a:lstStyle/>
          <a:p>
            <a:pPr algn="l"/>
            <a:r>
              <a:rPr sz="950" b="0" i="0">
                <a:solidFill>
                  <a:srgbClr val="000000"/>
                </a:solidFill>
                <a:latin typeface="Calibri"/>
              </a:rPr>
              <a:t>•  52 deals executed and managed across the career</a:t>
            </a:r>
          </a:p>
        </p:txBody>
      </p:sp>
      <p:sp>
        <p:nvSpPr>
          <p:cNvPr id="25" name="TextBox 24"/>
          <p:cNvSpPr txBox="1"/>
          <p:nvPr/>
        </p:nvSpPr>
        <p:spPr>
          <a:xfrm>
            <a:off x="7516368" y="2724912"/>
            <a:ext cx="4261104" cy="292608"/>
          </a:xfrm>
          <a:prstGeom prst="rect">
            <a:avLst/>
          </a:prstGeom>
          <a:noFill/>
        </p:spPr>
        <p:txBody>
          <a:bodyPr wrap="square"/>
          <a:lstStyle/>
          <a:p>
            <a:pPr algn="l"/>
            <a:r>
              <a:rPr sz="950" b="0" i="0">
                <a:solidFill>
                  <a:srgbClr val="000000"/>
                </a:solidFill>
                <a:latin typeface="Calibri"/>
              </a:rPr>
              <a:t>•  Largest single deal: USD 1.3 billion (Cahora Bassa, Mozambique Government, Hydro)</a:t>
            </a:r>
          </a:p>
        </p:txBody>
      </p:sp>
      <p:sp>
        <p:nvSpPr>
          <p:cNvPr id="26" name="TextBox 25"/>
          <p:cNvSpPr txBox="1"/>
          <p:nvPr/>
        </p:nvSpPr>
        <p:spPr>
          <a:xfrm>
            <a:off x="7516368" y="3035808"/>
            <a:ext cx="4261104" cy="292608"/>
          </a:xfrm>
          <a:prstGeom prst="rect">
            <a:avLst/>
          </a:prstGeom>
          <a:noFill/>
        </p:spPr>
        <p:txBody>
          <a:bodyPr wrap="square"/>
          <a:lstStyle/>
          <a:p>
            <a:pPr algn="l"/>
            <a:r>
              <a:rPr sz="950" b="0" i="0">
                <a:solidFill>
                  <a:srgbClr val="000000"/>
                </a:solidFill>
                <a:latin typeface="Calibri"/>
              </a:rPr>
              <a:t>•  Total GRBT project value in Queensland: over AUD 10 billion</a:t>
            </a:r>
          </a:p>
        </p:txBody>
      </p:sp>
      <p:sp>
        <p:nvSpPr>
          <p:cNvPr id="27" name="TextBox 26"/>
          <p:cNvSpPr txBox="1"/>
          <p:nvPr/>
        </p:nvSpPr>
        <p:spPr>
          <a:xfrm>
            <a:off x="7516368" y="3346704"/>
            <a:ext cx="4261104" cy="292608"/>
          </a:xfrm>
          <a:prstGeom prst="rect">
            <a:avLst/>
          </a:prstGeom>
          <a:noFill/>
        </p:spPr>
        <p:txBody>
          <a:bodyPr wrap="square"/>
          <a:lstStyle/>
          <a:p>
            <a:pPr algn="l"/>
            <a:r>
              <a:rPr sz="950" b="0" i="0">
                <a:solidFill>
                  <a:srgbClr val="000000"/>
                </a:solidFill>
                <a:latin typeface="Calibri"/>
              </a:rPr>
              <a:t>•  CA qualification: SAICA, South Africa</a:t>
            </a:r>
          </a:p>
        </p:txBody>
      </p:sp>
      <p:sp>
        <p:nvSpPr>
          <p:cNvPr id="28" name="TextBox 27"/>
          <p:cNvSpPr txBox="1"/>
          <p:nvPr/>
        </p:nvSpPr>
        <p:spPr>
          <a:xfrm>
            <a:off x="7516368" y="3657600"/>
            <a:ext cx="4261104" cy="292608"/>
          </a:xfrm>
          <a:prstGeom prst="rect">
            <a:avLst/>
          </a:prstGeom>
          <a:noFill/>
        </p:spPr>
        <p:txBody>
          <a:bodyPr wrap="square"/>
          <a:lstStyle/>
          <a:p>
            <a:pPr algn="l"/>
            <a:r>
              <a:rPr sz="950" b="0" i="0">
                <a:solidFill>
                  <a:srgbClr val="000000"/>
                </a:solidFill>
                <a:latin typeface="Calibri"/>
              </a:rPr>
              <a:t>•  Practice: PwC South Africa, Nedbank CIB, QIC, ProfitPulse</a:t>
            </a:r>
          </a:p>
        </p:txBody>
      </p:sp>
      <p:sp>
        <p:nvSpPr>
          <p:cNvPr id="29" name="Rectangle 28"/>
          <p:cNvSpPr/>
          <p:nvPr/>
        </p:nvSpPr>
        <p:spPr>
          <a:xfrm>
            <a:off x="7516368" y="4023360"/>
            <a:ext cx="4261104" cy="1905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16368" y="4096512"/>
            <a:ext cx="4261104" cy="1005840"/>
          </a:xfrm>
          <a:prstGeom prst="rect">
            <a:avLst/>
          </a:prstGeom>
          <a:noFill/>
        </p:spPr>
        <p:txBody>
          <a:bodyPr wrap="square">
            <a:spAutoFit/>
          </a:bodyPr>
          <a:lstStyle/>
          <a:p>
            <a:pPr algn="l">
              <a:spcAft>
                <a:spcPts val="100"/>
              </a:spcAft>
            </a:pPr>
            <a:r>
              <a:rPr sz="1000" b="0" i="0">
                <a:solidFill>
                  <a:srgbClr val="000000"/>
                </a:solidFill>
                <a:latin typeface="Calibri"/>
              </a:rPr>
              <a:t>Profit-Pulse.com.au</a:t>
            </a:r>
          </a:p>
          <a:p>
            <a:pPr algn="l">
              <a:spcAft>
                <a:spcPts val="100"/>
              </a:spcAft>
            </a:pPr>
            <a:r>
              <a:rPr sz="1000" b="0" i="0">
                <a:solidFill>
                  <a:srgbClr val="01A296"/>
                </a:solidFill>
                <a:latin typeface="Calibri"/>
              </a:rPr>
              <a:t>Nitesh@Profit-Pulse.com.au</a:t>
            </a:r>
          </a:p>
          <a:p>
            <a:pPr algn="l">
              <a:spcAft>
                <a:spcPts val="100"/>
              </a:spcAft>
            </a:pPr>
            <a:r>
              <a:rPr sz="1000" b="0" i="0">
                <a:solidFill>
                  <a:srgbClr val="000000"/>
                </a:solidFill>
                <a:latin typeface="Calibri"/>
              </a:rPr>
              <a:t>+61 411 876 267</a:t>
            </a:r>
          </a:p>
          <a:p>
            <a:pPr algn="l">
              <a:spcAft>
                <a:spcPts val="100"/>
              </a:spcAft>
            </a:pPr>
            <a:r>
              <a:rPr sz="900" b="0" i="0">
                <a:solidFill>
                  <a:srgbClr val="000000"/>
                </a:solidFill>
                <a:latin typeface="Calibri"/>
              </a:rPr>
              <a:t>linkedin.com/in/nitesh-roopa-77594163</a:t>
            </a:r>
          </a:p>
        </p:txBody>
      </p:sp>
      <p:sp>
        <p:nvSpPr>
          <p:cNvPr id="31" name="Rectangle 30"/>
          <p:cNvSpPr/>
          <p:nvPr/>
        </p:nvSpPr>
        <p:spPr>
          <a:xfrm>
            <a:off x="91440" y="6446520"/>
            <a:ext cx="12100255" cy="127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01168" y="6537960"/>
            <a:ext cx="8686800" cy="274320"/>
          </a:xfrm>
          <a:prstGeom prst="rect">
            <a:avLst/>
          </a:prstGeom>
          <a:noFill/>
        </p:spPr>
        <p:txBody>
          <a:bodyPr wrap="square"/>
          <a:lstStyle/>
          <a:p>
            <a:pPr algn="l"/>
            <a:r>
              <a:rPr sz="800" b="0" i="0">
                <a:solidFill>
                  <a:srgbClr val="01A296"/>
                </a:solidFill>
                <a:latin typeface="Calibri"/>
              </a:rPr>
              <a:t>Prepared by Nitesh Roopa CA  |  Managing Partner  |  ProfitPulse  |  Profit-Pulse.com.au</a:t>
            </a:r>
          </a:p>
        </p:txBody>
      </p:sp>
      <p:sp>
        <p:nvSpPr>
          <p:cNvPr id="33" name="TextBox 32"/>
          <p:cNvSpPr txBox="1"/>
          <p:nvPr/>
        </p:nvSpPr>
        <p:spPr>
          <a:xfrm>
            <a:off x="9601200" y="6537960"/>
            <a:ext cx="2468880" cy="274320"/>
          </a:xfrm>
          <a:prstGeom prst="rect">
            <a:avLst/>
          </a:prstGeom>
          <a:noFill/>
        </p:spPr>
        <p:txBody>
          <a:bodyPr wrap="square"/>
          <a:lstStyle/>
          <a:p>
            <a:pPr algn="r"/>
            <a:r>
              <a:rPr sz="800" b="0" i="0">
                <a:solidFill>
                  <a:srgbClr val="01A296"/>
                </a:solidFill>
                <a:latin typeface="Calibri"/>
              </a:rPr>
              <a:t>27 Jun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