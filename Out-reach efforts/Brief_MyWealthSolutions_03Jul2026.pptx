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 TargetMode="External"/><Relationship Id="rId3" Type="http://schemas.openxmlformats.org/officeDocument/2006/relationships/hyperlink" Target="https://buy.stripe.com/14A3cwc5a66c4P6dMH3ks1G"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6858000" cy="365760"/>
          </a:xfrm>
          <a:prstGeom prst="rect">
            <a:avLst/>
          </a:prstGeom>
          <a:noFill/>
        </p:spPr>
        <p:txBody>
          <a:bodyPr wrap="square">
            <a:noAutofit/>
          </a:bodyPr>
          <a:lstStyle/>
          <a:p>
            <a:pPr algn="l"/>
            <a:r>
              <a:rPr sz="1200" b="1" i="0">
                <a:solidFill>
                  <a:srgbClr val="E6E5DE"/>
                </a:solidFill>
                <a:latin typeface="Calibri"/>
              </a:rPr>
              <a:t>COMMERCIAL INTELLIGENCE BRIEF</a:t>
            </a:r>
          </a:p>
        </p:txBody>
      </p:sp>
      <p:sp>
        <p:nvSpPr>
          <p:cNvPr id="5" name="TextBox 4"/>
          <p:cNvSpPr txBox="1"/>
          <p:nvPr/>
        </p:nvSpPr>
        <p:spPr>
          <a:xfrm>
            <a:off x="6858000" y="292608"/>
            <a:ext cx="5029200" cy="365760"/>
          </a:xfrm>
          <a:prstGeom prst="rect">
            <a:avLst/>
          </a:prstGeom>
          <a:noFill/>
        </p:spPr>
        <p:txBody>
          <a:bodyPr wrap="square">
            <a:noAutofit/>
          </a:bodyPr>
          <a:lstStyle/>
          <a:p>
            <a:pPr algn="r"/>
            <a:r>
              <a:rPr sz="1200" b="1" i="0">
                <a:solidFill>
                  <a:srgbClr val="F8C806"/>
                </a:solidFill>
                <a:latin typeface="Calibri"/>
              </a:rPr>
              <a:t>PROFITPULSE</a:t>
            </a:r>
          </a:p>
        </p:txBody>
      </p:sp>
      <p:sp>
        <p:nvSpPr>
          <p:cNvPr id="6" name="Rectangle 5"/>
          <p:cNvSpPr/>
          <p:nvPr/>
        </p:nvSpPr>
        <p:spPr>
          <a:xfrm>
            <a:off x="320040" y="6400800"/>
            <a:ext cx="73152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473952"/>
            <a:ext cx="11521440" cy="274320"/>
          </a:xfrm>
          <a:prstGeom prst="rect">
            <a:avLst/>
          </a:prstGeom>
          <a:noFill/>
        </p:spPr>
        <p:txBody>
          <a:bodyPr wrap="square">
            <a:noAutofit/>
          </a:bodyPr>
          <a:lstStyle/>
          <a:p>
            <a:pPr algn="l"/>
            <a:r>
              <a:rPr sz="800" b="0" i="0">
                <a:solidFill>
                  <a:srgbClr val="666666"/>
                </a:solidFill>
                <a:latin typeface="Calibri"/>
              </a:rPr>
              <a:t>Prepared by Nitesh Roopa CA, Managing Partner and Founder, ProfitPulse, Profit-Pulse.com.au    03 Jul 2026</a:t>
            </a:r>
          </a:p>
        </p:txBody>
      </p:sp>
      <p:sp>
        <p:nvSpPr>
          <p:cNvPr id="8" name="TextBox 7"/>
          <p:cNvSpPr txBox="1"/>
          <p:nvPr/>
        </p:nvSpPr>
        <p:spPr>
          <a:xfrm>
            <a:off x="320040" y="1051560"/>
            <a:ext cx="10515600" cy="640080"/>
          </a:xfrm>
          <a:prstGeom prst="rect">
            <a:avLst/>
          </a:prstGeom>
          <a:noFill/>
        </p:spPr>
        <p:txBody>
          <a:bodyPr wrap="square">
            <a:noAutofit/>
          </a:bodyPr>
          <a:lstStyle/>
          <a:p>
            <a:pPr algn="l"/>
            <a:r>
              <a:rPr sz="4000" b="1" i="0">
                <a:solidFill>
                  <a:srgbClr val="000000"/>
                </a:solidFill>
                <a:latin typeface="Cambria"/>
              </a:rPr>
              <a:t>My Wealth Solutions</a:t>
            </a:r>
          </a:p>
        </p:txBody>
      </p:sp>
      <p:sp>
        <p:nvSpPr>
          <p:cNvPr id="9" name="TextBox 8"/>
          <p:cNvSpPr txBox="1"/>
          <p:nvPr/>
        </p:nvSpPr>
        <p:spPr>
          <a:xfrm>
            <a:off x="320040" y="1691640"/>
            <a:ext cx="10515600" cy="365760"/>
          </a:xfrm>
          <a:prstGeom prst="rect">
            <a:avLst/>
          </a:prstGeom>
          <a:noFill/>
        </p:spPr>
        <p:txBody>
          <a:bodyPr wrap="square">
            <a:noAutofit/>
          </a:bodyPr>
          <a:lstStyle/>
          <a:p>
            <a:pPr algn="l"/>
            <a:r>
              <a:rPr sz="1400" b="0" i="0">
                <a:solidFill>
                  <a:srgbClr val="333333"/>
                </a:solidFill>
                <a:latin typeface="Calibri"/>
              </a:rPr>
              <a:t>Financial planning and wealth advisory firm, Newstead, Brisbane QLD</a:t>
            </a:r>
          </a:p>
        </p:txBody>
      </p:sp>
      <p:sp>
        <p:nvSpPr>
          <p:cNvPr id="10" name="Rectangle 9"/>
          <p:cNvSpPr/>
          <p:nvPr/>
        </p:nvSpPr>
        <p:spPr>
          <a:xfrm>
            <a:off x="320040" y="2194560"/>
            <a:ext cx="2200595"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2194560"/>
            <a:ext cx="2200595"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359152"/>
            <a:ext cx="1926275" cy="457200"/>
          </a:xfrm>
          <a:prstGeom prst="rect">
            <a:avLst/>
          </a:prstGeom>
          <a:noFill/>
        </p:spPr>
        <p:txBody>
          <a:bodyPr wrap="square">
            <a:noAutofit/>
          </a:bodyPr>
          <a:lstStyle/>
          <a:p>
            <a:pPr algn="l"/>
            <a:r>
              <a:rPr sz="2700" b="1" i="0">
                <a:solidFill>
                  <a:srgbClr val="F8C806"/>
                </a:solidFill>
                <a:latin typeface="Cambria"/>
              </a:rPr>
              <a:t>$9.9M</a:t>
            </a:r>
          </a:p>
        </p:txBody>
      </p:sp>
      <p:sp>
        <p:nvSpPr>
          <p:cNvPr id="13" name="TextBox 12"/>
          <p:cNvSpPr txBox="1"/>
          <p:nvPr/>
        </p:nvSpPr>
        <p:spPr>
          <a:xfrm>
            <a:off x="457200" y="2852928"/>
            <a:ext cx="1926275" cy="502920"/>
          </a:xfrm>
          <a:prstGeom prst="rect">
            <a:avLst/>
          </a:prstGeom>
          <a:noFill/>
        </p:spPr>
        <p:txBody>
          <a:bodyPr wrap="square">
            <a:noAutofit/>
          </a:bodyPr>
          <a:lstStyle/>
          <a:p>
            <a:pPr algn="l">
              <a:lnSpc>
                <a:spcPct val="105000"/>
              </a:lnSpc>
            </a:pPr>
            <a:r>
              <a:rPr sz="1100" b="0" i="0">
                <a:solidFill>
                  <a:srgbClr val="E6E5DE"/>
                </a:solidFill>
                <a:latin typeface="Calibri"/>
              </a:rPr>
              <a:t>Annual revenue, Smart50 2025</a:t>
            </a:r>
          </a:p>
        </p:txBody>
      </p:sp>
      <p:sp>
        <p:nvSpPr>
          <p:cNvPr id="14" name="TextBox 13"/>
          <p:cNvSpPr txBox="1"/>
          <p:nvPr/>
        </p:nvSpPr>
        <p:spPr>
          <a:xfrm>
            <a:off x="457200" y="3364992"/>
            <a:ext cx="1926275" cy="256032"/>
          </a:xfrm>
          <a:prstGeom prst="rect">
            <a:avLst/>
          </a:prstGeom>
          <a:noFill/>
        </p:spPr>
        <p:txBody>
          <a:bodyPr wrap="square">
            <a:noAutofit/>
          </a:bodyPr>
          <a:lstStyle/>
          <a:p>
            <a:pPr algn="l"/>
            <a:r>
              <a:rPr sz="700" b="0" i="1">
                <a:solidFill>
                  <a:srgbClr val="9A9A9A"/>
                </a:solidFill>
                <a:latin typeface="Calibri"/>
              </a:rPr>
              <a:t>SmartCompany Smart50 2025</a:t>
            </a:r>
          </a:p>
        </p:txBody>
      </p:sp>
      <p:sp>
        <p:nvSpPr>
          <p:cNvPr id="15" name="Rectangle 14"/>
          <p:cNvSpPr/>
          <p:nvPr/>
        </p:nvSpPr>
        <p:spPr>
          <a:xfrm>
            <a:off x="2657795" y="2194560"/>
            <a:ext cx="2200595"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657795" y="2194560"/>
            <a:ext cx="2200595"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94955" y="2359152"/>
            <a:ext cx="1926275" cy="457200"/>
          </a:xfrm>
          <a:prstGeom prst="rect">
            <a:avLst/>
          </a:prstGeom>
          <a:noFill/>
        </p:spPr>
        <p:txBody>
          <a:bodyPr wrap="square">
            <a:noAutofit/>
          </a:bodyPr>
          <a:lstStyle/>
          <a:p>
            <a:pPr algn="l"/>
            <a:r>
              <a:rPr sz="2700" b="1" i="0">
                <a:solidFill>
                  <a:srgbClr val="F8C806"/>
                </a:solidFill>
                <a:latin typeface="Cambria"/>
              </a:rPr>
              <a:t>47%</a:t>
            </a:r>
          </a:p>
        </p:txBody>
      </p:sp>
      <p:sp>
        <p:nvSpPr>
          <p:cNvPr id="18" name="TextBox 17"/>
          <p:cNvSpPr txBox="1"/>
          <p:nvPr/>
        </p:nvSpPr>
        <p:spPr>
          <a:xfrm>
            <a:off x="2794955" y="2852928"/>
            <a:ext cx="1926275" cy="502920"/>
          </a:xfrm>
          <a:prstGeom prst="rect">
            <a:avLst/>
          </a:prstGeom>
          <a:noFill/>
        </p:spPr>
        <p:txBody>
          <a:bodyPr wrap="square">
            <a:noAutofit/>
          </a:bodyPr>
          <a:lstStyle/>
          <a:p>
            <a:pPr algn="l">
              <a:lnSpc>
                <a:spcPct val="105000"/>
              </a:lnSpc>
            </a:pPr>
            <a:r>
              <a:rPr sz="1100" b="0" i="0">
                <a:solidFill>
                  <a:srgbClr val="E6E5DE"/>
                </a:solidFill>
                <a:latin typeface="Calibri"/>
              </a:rPr>
              <a:t>Three year revenue growth</a:t>
            </a:r>
          </a:p>
        </p:txBody>
      </p:sp>
      <p:sp>
        <p:nvSpPr>
          <p:cNvPr id="19" name="TextBox 18"/>
          <p:cNvSpPr txBox="1"/>
          <p:nvPr/>
        </p:nvSpPr>
        <p:spPr>
          <a:xfrm>
            <a:off x="2794955" y="3364992"/>
            <a:ext cx="1926275" cy="256032"/>
          </a:xfrm>
          <a:prstGeom prst="rect">
            <a:avLst/>
          </a:prstGeom>
          <a:noFill/>
        </p:spPr>
        <p:txBody>
          <a:bodyPr wrap="square">
            <a:noAutofit/>
          </a:bodyPr>
          <a:lstStyle/>
          <a:p>
            <a:pPr algn="l"/>
            <a:r>
              <a:rPr sz="700" b="0" i="1">
                <a:solidFill>
                  <a:srgbClr val="9A9A9A"/>
                </a:solidFill>
                <a:latin typeface="Calibri"/>
              </a:rPr>
              <a:t>SmartCompany Smart50 2025</a:t>
            </a:r>
          </a:p>
        </p:txBody>
      </p:sp>
      <p:sp>
        <p:nvSpPr>
          <p:cNvPr id="20" name="Rectangle 19"/>
          <p:cNvSpPr/>
          <p:nvPr/>
        </p:nvSpPr>
        <p:spPr>
          <a:xfrm>
            <a:off x="4995550" y="2194560"/>
            <a:ext cx="2200595"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95550" y="2194560"/>
            <a:ext cx="2200595"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32710" y="2359152"/>
            <a:ext cx="1926275" cy="457200"/>
          </a:xfrm>
          <a:prstGeom prst="rect">
            <a:avLst/>
          </a:prstGeom>
          <a:noFill/>
        </p:spPr>
        <p:txBody>
          <a:bodyPr wrap="square">
            <a:noAutofit/>
          </a:bodyPr>
          <a:lstStyle/>
          <a:p>
            <a:pPr algn="l"/>
            <a:r>
              <a:rPr sz="2700" b="1" i="0">
                <a:solidFill>
                  <a:srgbClr val="F8C806"/>
                </a:solidFill>
                <a:latin typeface="Cambria"/>
              </a:rPr>
              <a:t>5</a:t>
            </a:r>
          </a:p>
        </p:txBody>
      </p:sp>
      <p:sp>
        <p:nvSpPr>
          <p:cNvPr id="23" name="TextBox 22"/>
          <p:cNvSpPr txBox="1"/>
          <p:nvPr/>
        </p:nvSpPr>
        <p:spPr>
          <a:xfrm>
            <a:off x="5132710" y="2852928"/>
            <a:ext cx="1926275" cy="502920"/>
          </a:xfrm>
          <a:prstGeom prst="rect">
            <a:avLst/>
          </a:prstGeom>
          <a:noFill/>
        </p:spPr>
        <p:txBody>
          <a:bodyPr wrap="square">
            <a:noAutofit/>
          </a:bodyPr>
          <a:lstStyle/>
          <a:p>
            <a:pPr algn="l">
              <a:lnSpc>
                <a:spcPct val="105000"/>
              </a:lnSpc>
            </a:pPr>
            <a:r>
              <a:rPr sz="1100" b="0" i="0">
                <a:solidFill>
                  <a:srgbClr val="E6E5DE"/>
                </a:solidFill>
                <a:latin typeface="Calibri"/>
              </a:rPr>
              <a:t>Locations across three states</a:t>
            </a:r>
          </a:p>
        </p:txBody>
      </p:sp>
      <p:sp>
        <p:nvSpPr>
          <p:cNvPr id="24" name="TextBox 23"/>
          <p:cNvSpPr txBox="1"/>
          <p:nvPr/>
        </p:nvSpPr>
        <p:spPr>
          <a:xfrm>
            <a:off x="5132710" y="3364992"/>
            <a:ext cx="1926275" cy="256032"/>
          </a:xfrm>
          <a:prstGeom prst="rect">
            <a:avLst/>
          </a:prstGeom>
          <a:noFill/>
        </p:spPr>
        <p:txBody>
          <a:bodyPr wrap="square">
            <a:noAutofit/>
          </a:bodyPr>
          <a:lstStyle/>
          <a:p>
            <a:pPr algn="l"/>
            <a:r>
              <a:rPr sz="700" b="0" i="1">
                <a:solidFill>
                  <a:srgbClr val="9A9A9A"/>
                </a:solidFill>
                <a:latin typeface="Calibri"/>
              </a:rPr>
              <a:t>mywealthsolutions.com.au</a:t>
            </a:r>
          </a:p>
        </p:txBody>
      </p:sp>
      <p:sp>
        <p:nvSpPr>
          <p:cNvPr id="25" name="Rectangle 24"/>
          <p:cNvSpPr/>
          <p:nvPr/>
        </p:nvSpPr>
        <p:spPr>
          <a:xfrm>
            <a:off x="7333305" y="2194560"/>
            <a:ext cx="2200595"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33305" y="2194560"/>
            <a:ext cx="2200595"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70465" y="2359152"/>
            <a:ext cx="1926275" cy="457200"/>
          </a:xfrm>
          <a:prstGeom prst="rect">
            <a:avLst/>
          </a:prstGeom>
          <a:noFill/>
        </p:spPr>
        <p:txBody>
          <a:bodyPr wrap="square">
            <a:noAutofit/>
          </a:bodyPr>
          <a:lstStyle/>
          <a:p>
            <a:pPr algn="l"/>
            <a:r>
              <a:rPr sz="2700" b="1" i="0">
                <a:solidFill>
                  <a:srgbClr val="F8C806"/>
                </a:solidFill>
                <a:latin typeface="Cambria"/>
              </a:rPr>
              <a:t>32</a:t>
            </a:r>
          </a:p>
        </p:txBody>
      </p:sp>
      <p:sp>
        <p:nvSpPr>
          <p:cNvPr id="28" name="TextBox 27"/>
          <p:cNvSpPr txBox="1"/>
          <p:nvPr/>
        </p:nvSpPr>
        <p:spPr>
          <a:xfrm>
            <a:off x="7470465" y="2852928"/>
            <a:ext cx="1926275" cy="502920"/>
          </a:xfrm>
          <a:prstGeom prst="rect">
            <a:avLst/>
          </a:prstGeom>
          <a:noFill/>
        </p:spPr>
        <p:txBody>
          <a:bodyPr wrap="square">
            <a:noAutofit/>
          </a:bodyPr>
          <a:lstStyle/>
          <a:p>
            <a:pPr algn="l">
              <a:lnSpc>
                <a:spcPct val="105000"/>
              </a:lnSpc>
            </a:pPr>
            <a:r>
              <a:rPr sz="1100" b="0" i="0">
                <a:solidFill>
                  <a:srgbClr val="E6E5DE"/>
                </a:solidFill>
                <a:latin typeface="Calibri"/>
              </a:rPr>
              <a:t>Team members on LinkedIn</a:t>
            </a:r>
          </a:p>
        </p:txBody>
      </p:sp>
      <p:sp>
        <p:nvSpPr>
          <p:cNvPr id="29" name="TextBox 28"/>
          <p:cNvSpPr txBox="1"/>
          <p:nvPr/>
        </p:nvSpPr>
        <p:spPr>
          <a:xfrm>
            <a:off x="7470465" y="3364992"/>
            <a:ext cx="1926275" cy="256032"/>
          </a:xfrm>
          <a:prstGeom prst="rect">
            <a:avLst/>
          </a:prstGeom>
          <a:noFill/>
        </p:spPr>
        <p:txBody>
          <a:bodyPr wrap="square">
            <a:noAutofit/>
          </a:bodyPr>
          <a:lstStyle/>
          <a:p>
            <a:pPr algn="l"/>
            <a:r>
              <a:rPr sz="700" b="0" i="1">
                <a:solidFill>
                  <a:srgbClr val="9A9A9A"/>
                </a:solidFill>
                <a:latin typeface="Calibri"/>
              </a:rPr>
              <a:t>LinkedIn company page 2026</a:t>
            </a:r>
          </a:p>
        </p:txBody>
      </p:sp>
      <p:sp>
        <p:nvSpPr>
          <p:cNvPr id="30" name="Rectangle 29"/>
          <p:cNvSpPr/>
          <p:nvPr/>
        </p:nvSpPr>
        <p:spPr>
          <a:xfrm>
            <a:off x="9671060" y="2194560"/>
            <a:ext cx="2200595"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671060" y="2194560"/>
            <a:ext cx="2200595"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08220" y="2359152"/>
            <a:ext cx="1926275" cy="457200"/>
          </a:xfrm>
          <a:prstGeom prst="rect">
            <a:avLst/>
          </a:prstGeom>
          <a:noFill/>
        </p:spPr>
        <p:txBody>
          <a:bodyPr wrap="square">
            <a:noAutofit/>
          </a:bodyPr>
          <a:lstStyle/>
          <a:p>
            <a:pPr algn="l"/>
            <a:r>
              <a:rPr sz="2700" b="1" i="0">
                <a:solidFill>
                  <a:srgbClr val="F8C806"/>
                </a:solidFill>
                <a:latin typeface="Cambria"/>
              </a:rPr>
              <a:t>2011</a:t>
            </a:r>
          </a:p>
        </p:txBody>
      </p:sp>
      <p:sp>
        <p:nvSpPr>
          <p:cNvPr id="33" name="TextBox 32"/>
          <p:cNvSpPr txBox="1"/>
          <p:nvPr/>
        </p:nvSpPr>
        <p:spPr>
          <a:xfrm>
            <a:off x="9808220" y="2852928"/>
            <a:ext cx="1926275" cy="502920"/>
          </a:xfrm>
          <a:prstGeom prst="rect">
            <a:avLst/>
          </a:prstGeom>
          <a:noFill/>
        </p:spPr>
        <p:txBody>
          <a:bodyPr wrap="square">
            <a:noAutofit/>
          </a:bodyPr>
          <a:lstStyle/>
          <a:p>
            <a:pPr algn="l">
              <a:lnSpc>
                <a:spcPct val="105000"/>
              </a:lnSpc>
            </a:pPr>
            <a:r>
              <a:rPr sz="1100" b="0" i="0">
                <a:solidFill>
                  <a:srgbClr val="E6E5DE"/>
                </a:solidFill>
                <a:latin typeface="Calibri"/>
              </a:rPr>
              <a:t>Founded, Newstead Brisbane</a:t>
            </a:r>
          </a:p>
        </p:txBody>
      </p:sp>
      <p:sp>
        <p:nvSpPr>
          <p:cNvPr id="34" name="TextBox 33"/>
          <p:cNvSpPr txBox="1"/>
          <p:nvPr/>
        </p:nvSpPr>
        <p:spPr>
          <a:xfrm>
            <a:off x="9808220" y="3364992"/>
            <a:ext cx="1926275" cy="256032"/>
          </a:xfrm>
          <a:prstGeom prst="rect">
            <a:avLst/>
          </a:prstGeom>
          <a:noFill/>
        </p:spPr>
        <p:txBody>
          <a:bodyPr wrap="square">
            <a:noAutofit/>
          </a:bodyPr>
          <a:lstStyle/>
          <a:p>
            <a:pPr algn="l"/>
            <a:r>
              <a:rPr sz="700" b="0" i="1">
                <a:solidFill>
                  <a:srgbClr val="9A9A9A"/>
                </a:solidFill>
                <a:latin typeface="Calibri"/>
              </a:rPr>
              <a:t>AdviserRatings profile</a:t>
            </a:r>
          </a:p>
        </p:txBody>
      </p:sp>
      <p:sp>
        <p:nvSpPr>
          <p:cNvPr id="35" name="TextBox 34"/>
          <p:cNvSpPr txBox="1"/>
          <p:nvPr/>
        </p:nvSpPr>
        <p:spPr>
          <a:xfrm>
            <a:off x="320040" y="3977639"/>
            <a:ext cx="7315200" cy="274320"/>
          </a:xfrm>
          <a:prstGeom prst="rect">
            <a:avLst/>
          </a:prstGeom>
          <a:noFill/>
        </p:spPr>
        <p:txBody>
          <a:bodyPr wrap="square">
            <a:noAutofit/>
          </a:bodyPr>
          <a:lstStyle/>
          <a:p>
            <a:pPr algn="l"/>
            <a:r>
              <a:rPr sz="1200" b="1" i="0">
                <a:solidFill>
                  <a:srgbClr val="01A296"/>
                </a:solidFill>
                <a:latin typeface="Calibri"/>
              </a:rPr>
              <a:t>KEY COMMERCIAL SIGNALS</a:t>
            </a:r>
          </a:p>
        </p:txBody>
      </p:sp>
      <p:sp>
        <p:nvSpPr>
          <p:cNvPr id="36" name="TextBox 35"/>
          <p:cNvSpPr txBox="1"/>
          <p:nvPr/>
        </p:nvSpPr>
        <p:spPr>
          <a:xfrm>
            <a:off x="320040" y="4297680"/>
            <a:ext cx="11521440" cy="2011680"/>
          </a:xfrm>
          <a:prstGeom prst="rect">
            <a:avLst/>
          </a:prstGeom>
          <a:noFill/>
        </p:spPr>
        <p:txBody>
          <a:bodyPr wrap="square">
            <a:noAutofit/>
          </a:bodyPr>
          <a:lstStyle/>
          <a:p>
            <a:pPr algn="l">
              <a:lnSpc>
                <a:spcPct val="108000"/>
              </a:lnSpc>
              <a:spcAft>
                <a:spcPts val="700"/>
              </a:spcAft>
            </a:pPr>
            <a:r>
              <a:rPr sz="1150" b="0" i="0">
                <a:solidFill>
                  <a:srgbClr val="000000"/>
                </a:solidFill>
                <a:latin typeface="Calibri"/>
              </a:rPr>
              <a:t>•  Smart50 2025 ranked the firm 25th nationally on 47 percent three year revenue growth.</a:t>
            </a:r>
          </a:p>
          <a:p>
            <a:pPr algn="l">
              <a:lnSpc>
                <a:spcPct val="108000"/>
              </a:lnSpc>
              <a:spcAft>
                <a:spcPts val="700"/>
              </a:spcAft>
            </a:pPr>
            <a:r>
              <a:rPr sz="1150" b="0" i="0">
                <a:solidFill>
                  <a:srgbClr val="000000"/>
                </a:solidFill>
                <a:latin typeface="Calibri"/>
              </a:rPr>
              <a:t>•  Grown from a two person 2011 start to more than 30 staff across five office locations.</a:t>
            </a:r>
          </a:p>
          <a:p>
            <a:pPr algn="l">
              <a:lnSpc>
                <a:spcPct val="108000"/>
              </a:lnSpc>
              <a:spcAft>
                <a:spcPts val="700"/>
              </a:spcAft>
            </a:pPr>
            <a:r>
              <a:rPr sz="1150" b="0" i="0">
                <a:solidFill>
                  <a:srgbClr val="000000"/>
                </a:solidFill>
                <a:latin typeface="Calibri"/>
              </a:rPr>
              <a:t>•  Operates in Newstead, Sydney, Melbourne, Gold Coast and Ballina under one advice brand.</a:t>
            </a:r>
          </a:p>
          <a:p>
            <a:pPr algn="l">
              <a:lnSpc>
                <a:spcPct val="108000"/>
              </a:lnSpc>
              <a:spcAft>
                <a:spcPts val="700"/>
              </a:spcAft>
            </a:pPr>
            <a:r>
              <a:rPr sz="1150" b="0" i="0">
                <a:solidFill>
                  <a:srgbClr val="000000"/>
                </a:solidFill>
                <a:latin typeface="Calibri"/>
              </a:rPr>
              <a:t>•  Named GPS Wealth Practice of the Year three times, most recently for 2022 to 2023.</a:t>
            </a:r>
          </a:p>
          <a:p>
            <a:pPr algn="l">
              <a:lnSpc>
                <a:spcPct val="108000"/>
              </a:lnSpc>
              <a:spcAft>
                <a:spcPts val="700"/>
              </a:spcAft>
            </a:pPr>
            <a:r>
              <a:rPr sz="1150" b="0" i="0">
                <a:solidFill>
                  <a:srgbClr val="000000"/>
                </a:solidFill>
                <a:latin typeface="Calibri"/>
              </a:rPr>
              <a:t>•  Authorised representative of GPS Wealth Ltd, AFSL 254544, per AdviserRatings and ifa.com.au.</a:t>
            </a:r>
          </a:p>
          <a:p>
            <a:pPr algn="l">
              <a:lnSpc>
                <a:spcPct val="108000"/>
              </a:lnSpc>
              <a:spcAft>
                <a:spcPts val="700"/>
              </a:spcAft>
            </a:pPr>
            <a:r>
              <a:rPr sz="1150" b="0" i="0">
                <a:solidFill>
                  <a:srgbClr val="000000"/>
                </a:solidFill>
                <a:latin typeface="Calibri"/>
              </a:rPr>
              <a:t>•  Co founders Guy Freeman and Ben Budge lead advice; no public CFO or finance role found.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6858000" cy="365760"/>
          </a:xfrm>
          <a:prstGeom prst="rect">
            <a:avLst/>
          </a:prstGeom>
          <a:noFill/>
        </p:spPr>
        <p:txBody>
          <a:bodyPr wrap="square">
            <a:noAutofit/>
          </a:bodyPr>
          <a:lstStyle/>
          <a:p>
            <a:pPr algn="l"/>
            <a:r>
              <a:rPr sz="1200" b="1" i="0">
                <a:solidFill>
                  <a:srgbClr val="E6E5DE"/>
                </a:solidFill>
                <a:latin typeface="Calibri"/>
              </a:rPr>
              <a:t>THE OPPORTUNITY</a:t>
            </a:r>
          </a:p>
        </p:txBody>
      </p:sp>
      <p:sp>
        <p:nvSpPr>
          <p:cNvPr id="5" name="TextBox 4"/>
          <p:cNvSpPr txBox="1"/>
          <p:nvPr/>
        </p:nvSpPr>
        <p:spPr>
          <a:xfrm>
            <a:off x="6858000" y="292608"/>
            <a:ext cx="5029200" cy="365760"/>
          </a:xfrm>
          <a:prstGeom prst="rect">
            <a:avLst/>
          </a:prstGeom>
          <a:noFill/>
        </p:spPr>
        <p:txBody>
          <a:bodyPr wrap="square">
            <a:noAutofit/>
          </a:bodyPr>
          <a:lstStyle/>
          <a:p>
            <a:pPr algn="r"/>
            <a:r>
              <a:rPr sz="1200" b="1" i="0">
                <a:solidFill>
                  <a:srgbClr val="F8C806"/>
                </a:solidFill>
                <a:latin typeface="Calibri"/>
              </a:rPr>
              <a:t>My Wealth Solutions</a:t>
            </a:r>
          </a:p>
        </p:txBody>
      </p:sp>
      <p:sp>
        <p:nvSpPr>
          <p:cNvPr id="6" name="Rectangle 5"/>
          <p:cNvSpPr/>
          <p:nvPr/>
        </p:nvSpPr>
        <p:spPr>
          <a:xfrm>
            <a:off x="320040" y="6400800"/>
            <a:ext cx="73152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473952"/>
            <a:ext cx="11521440" cy="274320"/>
          </a:xfrm>
          <a:prstGeom prst="rect">
            <a:avLst/>
          </a:prstGeom>
          <a:noFill/>
        </p:spPr>
        <p:txBody>
          <a:bodyPr wrap="square">
            <a:noAutofit/>
          </a:bodyPr>
          <a:lstStyle/>
          <a:p>
            <a:pPr algn="l"/>
            <a:r>
              <a:rPr sz="800" b="0" i="0">
                <a:solidFill>
                  <a:srgbClr val="666666"/>
                </a:solidFill>
                <a:latin typeface="Calibri"/>
              </a:rPr>
              <a:t>Prepared by Nitesh Roopa CA, Managing Partner and Founder, ProfitPulse, Profit-Pulse.com.au    03 Jul 2026</a:t>
            </a:r>
          </a:p>
        </p:txBody>
      </p:sp>
      <p:sp>
        <p:nvSpPr>
          <p:cNvPr id="8" name="TextBox 7"/>
          <p:cNvSpPr txBox="1"/>
          <p:nvPr/>
        </p:nvSpPr>
        <p:spPr>
          <a:xfrm>
            <a:off x="320040" y="1024128"/>
            <a:ext cx="11521440" cy="320040"/>
          </a:xfrm>
          <a:prstGeom prst="rect">
            <a:avLst/>
          </a:prstGeom>
          <a:noFill/>
        </p:spPr>
        <p:txBody>
          <a:bodyPr wrap="square">
            <a:noAutofit/>
          </a:bodyPr>
          <a:lstStyle/>
          <a:p>
            <a:pPr algn="l"/>
            <a:r>
              <a:rPr sz="1300" b="0" i="1">
                <a:solidFill>
                  <a:srgbClr val="444444"/>
                </a:solidFill>
                <a:latin typeface="Calibri"/>
              </a:rPr>
              <a:t>Three commercial observations from ProfitPulse</a:t>
            </a:r>
          </a:p>
        </p:txBody>
      </p:sp>
      <p:sp>
        <p:nvSpPr>
          <p:cNvPr id="9" name="Rectangle 8"/>
          <p:cNvSpPr/>
          <p:nvPr/>
        </p:nvSpPr>
        <p:spPr>
          <a:xfrm>
            <a:off x="320040" y="1463040"/>
            <a:ext cx="3703320" cy="306324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45920"/>
            <a:ext cx="1371600" cy="548640"/>
          </a:xfrm>
          <a:prstGeom prst="rect">
            <a:avLst/>
          </a:prstGeom>
          <a:noFill/>
        </p:spPr>
        <p:txBody>
          <a:bodyPr wrap="square">
            <a:noAutofit/>
          </a:bodyPr>
          <a:lstStyle/>
          <a:p>
            <a:pPr algn="l"/>
            <a:r>
              <a:rPr sz="3000" b="1" i="0">
                <a:solidFill>
                  <a:srgbClr val="000000"/>
                </a:solidFill>
                <a:latin typeface="Cambria"/>
              </a:rPr>
              <a:t>01</a:t>
            </a:r>
          </a:p>
        </p:txBody>
      </p:sp>
      <p:sp>
        <p:nvSpPr>
          <p:cNvPr id="11" name="TextBox 10"/>
          <p:cNvSpPr txBox="1"/>
          <p:nvPr/>
        </p:nvSpPr>
        <p:spPr>
          <a:xfrm>
            <a:off x="548640" y="2331720"/>
            <a:ext cx="3246120" cy="640080"/>
          </a:xfrm>
          <a:prstGeom prst="rect">
            <a:avLst/>
          </a:prstGeom>
          <a:noFill/>
        </p:spPr>
        <p:txBody>
          <a:bodyPr wrap="square">
            <a:noAutofit/>
          </a:bodyPr>
          <a:lstStyle/>
          <a:p>
            <a:pPr algn="l">
              <a:lnSpc>
                <a:spcPct val="105000"/>
              </a:lnSpc>
            </a:pPr>
            <a:r>
              <a:rPr sz="1550" b="1" i="0">
                <a:solidFill>
                  <a:srgbClr val="FFFFFF"/>
                </a:solidFill>
                <a:latin typeface="Cambria"/>
              </a:rPr>
              <a:t>Five sites, one visibility question</a:t>
            </a:r>
          </a:p>
        </p:txBody>
      </p:sp>
      <p:sp>
        <p:nvSpPr>
          <p:cNvPr id="12" name="TextBox 11"/>
          <p:cNvSpPr txBox="1"/>
          <p:nvPr/>
        </p:nvSpPr>
        <p:spPr>
          <a:xfrm>
            <a:off x="548640" y="3063240"/>
            <a:ext cx="3246120" cy="1371600"/>
          </a:xfrm>
          <a:prstGeom prst="rect">
            <a:avLst/>
          </a:prstGeom>
          <a:noFill/>
        </p:spPr>
        <p:txBody>
          <a:bodyPr wrap="square">
            <a:noAutofit/>
          </a:bodyPr>
          <a:lstStyle/>
          <a:p>
            <a:pPr algn="l">
              <a:lnSpc>
                <a:spcPct val="118000"/>
              </a:lnSpc>
            </a:pPr>
            <a:r>
              <a:rPr sz="1050" b="0" i="0">
                <a:solidFill>
                  <a:srgbClr val="FFFFFF"/>
                </a:solidFill>
                <a:latin typeface="Calibri"/>
              </a:rPr>
              <a:t>Newstead, Sydney, Melbourne, Gold Coast and Ballina now sit under one brand, built from a two person start in 2011. Past 30 staff, multi site advice firms often lose sight of which office or adviser carries the margin. A Workforce Capacity and Utilisation Review puts a dollar figure on that.</a:t>
            </a:r>
          </a:p>
        </p:txBody>
      </p:sp>
      <p:sp>
        <p:nvSpPr>
          <p:cNvPr id="13" name="Rectangle 12"/>
          <p:cNvSpPr/>
          <p:nvPr/>
        </p:nvSpPr>
        <p:spPr>
          <a:xfrm>
            <a:off x="4133087" y="1463040"/>
            <a:ext cx="3703320" cy="3063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61687" y="1645920"/>
            <a:ext cx="1371600" cy="548640"/>
          </a:xfrm>
          <a:prstGeom prst="rect">
            <a:avLst/>
          </a:prstGeom>
          <a:noFill/>
        </p:spPr>
        <p:txBody>
          <a:bodyPr wrap="square">
            <a:noAutofit/>
          </a:bodyPr>
          <a:lstStyle/>
          <a:p>
            <a:pPr algn="l"/>
            <a:r>
              <a:rPr sz="3000" b="1" i="0">
                <a:solidFill>
                  <a:srgbClr val="F8C806"/>
                </a:solidFill>
                <a:latin typeface="Cambria"/>
              </a:rPr>
              <a:t>02</a:t>
            </a:r>
          </a:p>
        </p:txBody>
      </p:sp>
      <p:sp>
        <p:nvSpPr>
          <p:cNvPr id="15" name="TextBox 14"/>
          <p:cNvSpPr txBox="1"/>
          <p:nvPr/>
        </p:nvSpPr>
        <p:spPr>
          <a:xfrm>
            <a:off x="4361687" y="2331720"/>
            <a:ext cx="3246120" cy="640080"/>
          </a:xfrm>
          <a:prstGeom prst="rect">
            <a:avLst/>
          </a:prstGeom>
          <a:noFill/>
        </p:spPr>
        <p:txBody>
          <a:bodyPr wrap="square">
            <a:noAutofit/>
          </a:bodyPr>
          <a:lstStyle/>
          <a:p>
            <a:pPr algn="l">
              <a:lnSpc>
                <a:spcPct val="105000"/>
              </a:lnSpc>
            </a:pPr>
            <a:r>
              <a:rPr sz="1550" b="1" i="0">
                <a:solidFill>
                  <a:srgbClr val="FFFFFF"/>
                </a:solidFill>
                <a:latin typeface="Cambria"/>
              </a:rPr>
              <a:t>47 percent growth is a margin test</a:t>
            </a:r>
          </a:p>
        </p:txBody>
      </p:sp>
      <p:sp>
        <p:nvSpPr>
          <p:cNvPr id="16" name="TextBox 15"/>
          <p:cNvSpPr txBox="1"/>
          <p:nvPr/>
        </p:nvSpPr>
        <p:spPr>
          <a:xfrm>
            <a:off x="4361687" y="3063240"/>
            <a:ext cx="3246120" cy="1371600"/>
          </a:xfrm>
          <a:prstGeom prst="rect">
            <a:avLst/>
          </a:prstGeom>
          <a:noFill/>
        </p:spPr>
        <p:txBody>
          <a:bodyPr wrap="square">
            <a:noAutofit/>
          </a:bodyPr>
          <a:lstStyle/>
          <a:p>
            <a:pPr algn="l">
              <a:lnSpc>
                <a:spcPct val="118000"/>
              </a:lnSpc>
            </a:pPr>
            <a:r>
              <a:rPr sz="1050" b="0" i="0">
                <a:solidFill>
                  <a:srgbClr val="FFFFFF"/>
                </a:solidFill>
                <a:latin typeface="Calibri"/>
              </a:rPr>
              <a:t>Smart50 ranked the firm 25th nationally on 47 percent three year growth, a rate that usually outpaces the reporting a growing advice practice was built for. A Strategic Growth Diagnostic maps revenue, capacity and margin headroom for the next 12 months, backed by a costed plan.</a:t>
            </a:r>
          </a:p>
        </p:txBody>
      </p:sp>
      <p:sp>
        <p:nvSpPr>
          <p:cNvPr id="17" name="Rectangle 16"/>
          <p:cNvSpPr/>
          <p:nvPr/>
        </p:nvSpPr>
        <p:spPr>
          <a:xfrm>
            <a:off x="7946134" y="1463040"/>
            <a:ext cx="3703320" cy="3063240"/>
          </a:xfrm>
          <a:prstGeom prst="rect">
            <a:avLst/>
          </a:prstGeom>
          <a:solidFill>
            <a:srgbClr val="E3A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74734" y="1645920"/>
            <a:ext cx="1371600" cy="548640"/>
          </a:xfrm>
          <a:prstGeom prst="rect">
            <a:avLst/>
          </a:prstGeom>
          <a:noFill/>
        </p:spPr>
        <p:txBody>
          <a:bodyPr wrap="square">
            <a:noAutofit/>
          </a:bodyPr>
          <a:lstStyle/>
          <a:p>
            <a:pPr algn="l"/>
            <a:r>
              <a:rPr sz="3000" b="1" i="0">
                <a:solidFill>
                  <a:srgbClr val="000000"/>
                </a:solidFill>
                <a:latin typeface="Cambria"/>
              </a:rPr>
              <a:t>03</a:t>
            </a:r>
          </a:p>
        </p:txBody>
      </p:sp>
      <p:sp>
        <p:nvSpPr>
          <p:cNvPr id="19" name="TextBox 18"/>
          <p:cNvSpPr txBox="1"/>
          <p:nvPr/>
        </p:nvSpPr>
        <p:spPr>
          <a:xfrm>
            <a:off x="8174734" y="2331720"/>
            <a:ext cx="3246120" cy="640080"/>
          </a:xfrm>
          <a:prstGeom prst="rect">
            <a:avLst/>
          </a:prstGeom>
          <a:noFill/>
        </p:spPr>
        <p:txBody>
          <a:bodyPr wrap="square">
            <a:noAutofit/>
          </a:bodyPr>
          <a:lstStyle/>
          <a:p>
            <a:pPr algn="l">
              <a:lnSpc>
                <a:spcPct val="105000"/>
              </a:lnSpc>
            </a:pPr>
            <a:r>
              <a:rPr sz="1550" b="1" i="0">
                <a:solidFill>
                  <a:srgbClr val="000000"/>
                </a:solidFill>
                <a:latin typeface="Cambria"/>
              </a:rPr>
              <a:t>Three awards, no visible board pack yet</a:t>
            </a:r>
          </a:p>
        </p:txBody>
      </p:sp>
      <p:sp>
        <p:nvSpPr>
          <p:cNvPr id="20" name="TextBox 19"/>
          <p:cNvSpPr txBox="1"/>
          <p:nvPr/>
        </p:nvSpPr>
        <p:spPr>
          <a:xfrm>
            <a:off x="8174734" y="3063240"/>
            <a:ext cx="3246120" cy="1371600"/>
          </a:xfrm>
          <a:prstGeom prst="rect">
            <a:avLst/>
          </a:prstGeom>
          <a:noFill/>
        </p:spPr>
        <p:txBody>
          <a:bodyPr wrap="square">
            <a:noAutofit/>
          </a:bodyPr>
          <a:lstStyle/>
          <a:p>
            <a:pPr algn="l">
              <a:lnSpc>
                <a:spcPct val="118000"/>
              </a:lnSpc>
            </a:pPr>
            <a:r>
              <a:rPr sz="1050" b="0" i="0">
                <a:solidFill>
                  <a:srgbClr val="000000"/>
                </a:solidFill>
                <a:latin typeface="Calibri"/>
              </a:rPr>
              <a:t>My Wealth Solutions has won GPS Wealth Practice of the Year three times, most recently for 2022 to 2023. That level of recognition tends to invite investor, lender or partner conversations an informal reporting rhythm cannot support. An Annual Plan and Board Pack builds that template.</a:t>
            </a:r>
          </a:p>
        </p:txBody>
      </p:sp>
      <p:sp>
        <p:nvSpPr>
          <p:cNvPr id="21" name="TextBox 20"/>
          <p:cNvSpPr txBox="1"/>
          <p:nvPr/>
        </p:nvSpPr>
        <p:spPr>
          <a:xfrm>
            <a:off x="320040" y="4937760"/>
            <a:ext cx="11521440" cy="320040"/>
          </a:xfrm>
          <a:prstGeom prst="rect">
            <a:avLst/>
          </a:prstGeom>
          <a:noFill/>
        </p:spPr>
        <p:txBody>
          <a:bodyPr wrap="square">
            <a:noAutofit/>
          </a:bodyPr>
          <a:lstStyle/>
          <a:p>
            <a:pPr algn="l"/>
            <a:r>
              <a:rPr sz="1050" b="0" i="1">
                <a:solidFill>
                  <a:srgbClr val="444444"/>
                </a:solidFill>
                <a:latin typeface="Calibri"/>
              </a:rPr>
              <a:t>These observations are offered in the spirit of a genuine conversation, not a criticism. My Wealth Solutions has built something impressive across five locations. The question is simply whether the reporting keeps pace with the growth.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6858000" cy="365760"/>
          </a:xfrm>
          <a:prstGeom prst="rect">
            <a:avLst/>
          </a:prstGeom>
          <a:noFill/>
        </p:spPr>
        <p:txBody>
          <a:bodyPr wrap="square">
            <a:noAutofit/>
          </a:bodyPr>
          <a:lstStyle/>
          <a:p>
            <a:pPr algn="l"/>
            <a:r>
              <a:rPr sz="1200" b="1" i="0">
                <a:solidFill>
                  <a:srgbClr val="E6E5DE"/>
                </a:solidFill>
                <a:latin typeface="Calibri"/>
              </a:rPr>
              <a:t>THE RECOMMENDATION</a:t>
            </a:r>
          </a:p>
        </p:txBody>
      </p:sp>
      <p:sp>
        <p:nvSpPr>
          <p:cNvPr id="5" name="TextBox 4"/>
          <p:cNvSpPr txBox="1"/>
          <p:nvPr/>
        </p:nvSpPr>
        <p:spPr>
          <a:xfrm>
            <a:off x="6858000" y="292608"/>
            <a:ext cx="5029200" cy="365760"/>
          </a:xfrm>
          <a:prstGeom prst="rect">
            <a:avLst/>
          </a:prstGeom>
          <a:noFill/>
        </p:spPr>
        <p:txBody>
          <a:bodyPr wrap="square">
            <a:noAutofit/>
          </a:bodyPr>
          <a:lstStyle/>
          <a:p>
            <a:pPr algn="r"/>
            <a:r>
              <a:rPr sz="1200" b="1" i="0">
                <a:solidFill>
                  <a:srgbClr val="F8C806"/>
                </a:solidFill>
                <a:latin typeface="Calibri"/>
              </a:rPr>
              <a:t>My Wealth Solutions</a:t>
            </a:r>
          </a:p>
        </p:txBody>
      </p:sp>
      <p:sp>
        <p:nvSpPr>
          <p:cNvPr id="6" name="Rectangle 5"/>
          <p:cNvSpPr/>
          <p:nvPr/>
        </p:nvSpPr>
        <p:spPr>
          <a:xfrm>
            <a:off x="320040" y="6400800"/>
            <a:ext cx="73152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473952"/>
            <a:ext cx="11521440" cy="274320"/>
          </a:xfrm>
          <a:prstGeom prst="rect">
            <a:avLst/>
          </a:prstGeom>
          <a:noFill/>
        </p:spPr>
        <p:txBody>
          <a:bodyPr wrap="square">
            <a:noAutofit/>
          </a:bodyPr>
          <a:lstStyle/>
          <a:p>
            <a:pPr algn="l"/>
            <a:r>
              <a:rPr sz="800" b="0" i="0">
                <a:solidFill>
                  <a:srgbClr val="666666"/>
                </a:solidFill>
                <a:latin typeface="Calibri"/>
              </a:rPr>
              <a:t>Prepared by Nitesh Roopa CA, Managing Partner and Founder, ProfitPulse, Profit-Pulse.com.au    03 Jul 2026</a:t>
            </a:r>
          </a:p>
        </p:txBody>
      </p:sp>
      <p:sp>
        <p:nvSpPr>
          <p:cNvPr id="8" name="TextBox 7"/>
          <p:cNvSpPr txBox="1"/>
          <p:nvPr/>
        </p:nvSpPr>
        <p:spPr>
          <a:xfrm>
            <a:off x="320040" y="1051560"/>
            <a:ext cx="6949440" cy="594360"/>
          </a:xfrm>
          <a:prstGeom prst="rect">
            <a:avLst/>
          </a:prstGeom>
          <a:noFill/>
        </p:spPr>
        <p:txBody>
          <a:bodyPr wrap="square">
            <a:noAutofit/>
          </a:bodyPr>
          <a:lstStyle/>
          <a:p>
            <a:pPr algn="l">
              <a:lnSpc>
                <a:spcPct val="100000"/>
              </a:lnSpc>
            </a:pPr>
            <a:r>
              <a:rPr sz="2100" b="1" i="0">
                <a:solidFill>
                  <a:srgbClr val="000000"/>
                </a:solidFill>
                <a:latin typeface="Cambria"/>
              </a:rPr>
              <a:t>Workforce Capacity and Utilisation Review</a:t>
            </a:r>
          </a:p>
        </p:txBody>
      </p:sp>
      <p:sp>
        <p:nvSpPr>
          <p:cNvPr id="9" name="TextBox 8"/>
          <p:cNvSpPr txBox="1"/>
          <p:nvPr/>
        </p:nvSpPr>
        <p:spPr>
          <a:xfrm>
            <a:off x="320040" y="1627632"/>
            <a:ext cx="6949440" cy="320040"/>
          </a:xfrm>
          <a:prstGeom prst="rect">
            <a:avLst/>
          </a:prstGeom>
          <a:noFill/>
        </p:spPr>
        <p:txBody>
          <a:bodyPr wrap="square">
            <a:noAutofit/>
          </a:bodyPr>
          <a:lstStyle/>
          <a:p>
            <a:pPr algn="l"/>
            <a:r>
              <a:rPr sz="1400" b="1" i="0">
                <a:solidFill>
                  <a:srgbClr val="01A296"/>
                </a:solidFill>
                <a:latin typeface="Calibri"/>
              </a:rPr>
              <a:t>$5,000 one off</a:t>
            </a:r>
          </a:p>
        </p:txBody>
      </p:sp>
      <p:sp>
        <p:nvSpPr>
          <p:cNvPr id="10" name="TextBox 9"/>
          <p:cNvSpPr txBox="1"/>
          <p:nvPr/>
        </p:nvSpPr>
        <p:spPr>
          <a:xfrm>
            <a:off x="320040" y="1965960"/>
            <a:ext cx="6949440" cy="777240"/>
          </a:xfrm>
          <a:prstGeom prst="rect">
            <a:avLst/>
          </a:prstGeom>
          <a:noFill/>
        </p:spPr>
        <p:txBody>
          <a:bodyPr wrap="square">
            <a:noAutofit/>
          </a:bodyPr>
          <a:lstStyle/>
          <a:p>
            <a:pPr algn="l">
              <a:lnSpc>
                <a:spcPct val="115000"/>
              </a:lnSpc>
            </a:pPr>
            <a:r>
              <a:rPr sz="1100" b="0" i="0">
                <a:solidFill>
                  <a:srgbClr val="000000"/>
                </a:solidFill>
                <a:latin typeface="Calibri"/>
              </a:rPr>
              <a:t>A four week review of how adviser time and capacity translate into revenue and margin, giving Guy and Ben a dollar figure view of capacity headroom across all five sites.</a:t>
            </a:r>
          </a:p>
        </p:txBody>
      </p:sp>
      <p:sp>
        <p:nvSpPr>
          <p:cNvPr id="11" name="Rectangle 10"/>
          <p:cNvSpPr/>
          <p:nvPr/>
        </p:nvSpPr>
        <p:spPr>
          <a:xfrm>
            <a:off x="320040" y="2834640"/>
            <a:ext cx="6949440" cy="1371600"/>
          </a:xfrm>
          <a:prstGeom prst="rect">
            <a:avLst/>
          </a:prstGeom>
          <a:solidFill>
            <a:srgbClr val="F4F4F1"/>
          </a:solidFill>
          <a:ln w="12700">
            <a:solidFill>
              <a:srgbClr val="01A2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971800"/>
            <a:ext cx="6583680" cy="320040"/>
          </a:xfrm>
          <a:prstGeom prst="rect">
            <a:avLst/>
          </a:prstGeom>
          <a:noFill/>
        </p:spPr>
        <p:txBody>
          <a:bodyPr wrap="square">
            <a:noAutofit/>
          </a:bodyPr>
          <a:lstStyle/>
          <a:p>
            <a:pPr algn="l"/>
            <a:r>
              <a:rPr sz="1200" b="1" i="0">
                <a:solidFill>
                  <a:srgbClr val="000000"/>
                </a:solidFill>
                <a:latin typeface="Calibri"/>
              </a:rPr>
              <a:t>Step one, answer a few quick questions</a:t>
            </a:r>
          </a:p>
        </p:txBody>
      </p:sp>
      <p:sp>
        <p:nvSpPr>
          <p:cNvPr id="13" name="TextBox 12"/>
          <p:cNvSpPr txBox="1"/>
          <p:nvPr/>
        </p:nvSpPr>
        <p:spPr>
          <a:xfrm>
            <a:off x="502920" y="3310128"/>
            <a:ext cx="6583680" cy="320040"/>
          </a:xfrm>
          <a:prstGeom prst="rect">
            <a:avLst/>
          </a:prstGeom>
          <a:noFill/>
        </p:spPr>
        <p:txBody>
          <a:bodyPr wrap="square">
            <a:noAutofit/>
          </a:bodyPr>
          <a:lstStyle/>
          <a:p>
            <a:pPr algn="l"/>
            <a:r>
              <a:rPr sz="1050" b="0" i="0">
                <a:solidFill>
                  <a:srgbClr val="333333"/>
                </a:solidFill>
                <a:latin typeface="Calibri"/>
              </a:rPr>
              <a:t>See the solutions matched to your size and industry.</a:t>
            </a:r>
          </a:p>
        </p:txBody>
      </p:sp>
      <p:sp>
        <p:nvSpPr>
          <p:cNvPr id="14" name="TextBox 13"/>
          <p:cNvSpPr txBox="1"/>
          <p:nvPr/>
        </p:nvSpPr>
        <p:spPr>
          <a:xfrm>
            <a:off x="502920" y="3657600"/>
            <a:ext cx="6583680" cy="365760"/>
          </a:xfrm>
          <a:prstGeom prst="rect">
            <a:avLst/>
          </a:prstGeom>
          <a:noFill/>
        </p:spPr>
        <p:txBody>
          <a:bodyPr wrap="square">
            <a:noAutofit/>
          </a:bodyPr>
          <a:lstStyle/>
          <a:p>
            <a:pPr algn="l"/>
            <a:r>
              <a:rPr sz="1200" b="1">
                <a:solidFill>
                  <a:srgbClr val="01A296"/>
                </a:solidFill>
                <a:latin typeface="Calibri"/>
                <a:hlinkClick r:id="rId2"/>
              </a:rPr>
              <a:t>profit-pulse.com.au/services/find-your-fit</a:t>
            </a:r>
          </a:p>
        </p:txBody>
      </p:sp>
      <p:sp>
        <p:nvSpPr>
          <p:cNvPr id="15" name="Rectangle 14"/>
          <p:cNvSpPr/>
          <p:nvPr/>
        </p:nvSpPr>
        <p:spPr>
          <a:xfrm>
            <a:off x="320040" y="4315968"/>
            <a:ext cx="6949440" cy="566928"/>
          </a:xfrm>
          <a:prstGeom prst="rect">
            <a:avLst/>
          </a:prstGeom>
          <a:solidFill>
            <a:srgbClr val="FFFFFF"/>
          </a:solidFill>
          <a:ln w="12700">
            <a:solidFill>
              <a:srgbClr val="F6A10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434840"/>
            <a:ext cx="6583680" cy="365760"/>
          </a:xfrm>
          <a:prstGeom prst="rect">
            <a:avLst/>
          </a:prstGeom>
          <a:noFill/>
        </p:spPr>
        <p:txBody>
          <a:bodyPr wrap="square">
            <a:noAutofit/>
          </a:bodyPr>
          <a:lstStyle/>
          <a:p>
            <a:pPr algn="l"/>
            <a:r>
              <a:rPr sz="1300" b="1">
                <a:solidFill>
                  <a:srgbClr val="01A296"/>
                </a:solidFill>
                <a:latin typeface="Calibri"/>
                <a:hlinkClick r:id="rId3"/>
              </a:rPr>
              <a:t>Purchase the suggested product now to get started</a:t>
            </a:r>
          </a:p>
        </p:txBody>
      </p:sp>
      <p:sp>
        <p:nvSpPr>
          <p:cNvPr id="17" name="TextBox 16"/>
          <p:cNvSpPr txBox="1"/>
          <p:nvPr/>
        </p:nvSpPr>
        <p:spPr>
          <a:xfrm>
            <a:off x="320040" y="5074920"/>
            <a:ext cx="6949440" cy="292608"/>
          </a:xfrm>
          <a:prstGeom prst="rect">
            <a:avLst/>
          </a:prstGeom>
          <a:noFill/>
        </p:spPr>
        <p:txBody>
          <a:bodyPr wrap="square">
            <a:noAutofit/>
          </a:bodyPr>
          <a:lstStyle/>
          <a:p>
            <a:pPr algn="l"/>
            <a:r>
              <a:rPr sz="1100" b="0" i="0">
                <a:solidFill>
                  <a:srgbClr val="000000"/>
                </a:solidFill>
                <a:latin typeface="Calibri"/>
              </a:rPr>
              <a:t>Prefer a conversation first?</a:t>
            </a:r>
          </a:p>
        </p:txBody>
      </p:sp>
      <p:sp>
        <p:nvSpPr>
          <p:cNvPr id="18" name="TextBox 17"/>
          <p:cNvSpPr txBox="1"/>
          <p:nvPr/>
        </p:nvSpPr>
        <p:spPr>
          <a:xfrm>
            <a:off x="320040" y="5376672"/>
            <a:ext cx="6949440" cy="320040"/>
          </a:xfrm>
          <a:prstGeom prst="rect">
            <a:avLst/>
          </a:prstGeom>
          <a:noFill/>
        </p:spPr>
        <p:txBody>
          <a:bodyPr wrap="square">
            <a:noAutofit/>
          </a:bodyPr>
          <a:lstStyle/>
          <a:p>
            <a:pPr algn="l"/>
            <a:r>
              <a:rPr sz="1100" b="1">
                <a:solidFill>
                  <a:srgbClr val="01A296"/>
                </a:solidFill>
                <a:latin typeface="Calibri"/>
                <a:hlinkClick r:id="rId4"/>
              </a:rPr>
              <a:t>Book a complimentary discovery call</a:t>
            </a:r>
          </a:p>
        </p:txBody>
      </p:sp>
      <p:sp>
        <p:nvSpPr>
          <p:cNvPr id="19" name="Rectangle 18"/>
          <p:cNvSpPr/>
          <p:nvPr/>
        </p:nvSpPr>
        <p:spPr>
          <a:xfrm>
            <a:off x="7543800" y="1051560"/>
            <a:ext cx="4325112" cy="3886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1280160"/>
            <a:ext cx="3867912" cy="365760"/>
          </a:xfrm>
          <a:prstGeom prst="rect">
            <a:avLst/>
          </a:prstGeom>
          <a:noFill/>
        </p:spPr>
        <p:txBody>
          <a:bodyPr wrap="square">
            <a:noAutofit/>
          </a:bodyPr>
          <a:lstStyle/>
          <a:p>
            <a:pPr algn="l"/>
            <a:r>
              <a:rPr sz="1700" b="1" i="0">
                <a:solidFill>
                  <a:srgbClr val="F8C806"/>
                </a:solidFill>
                <a:latin typeface="Cambria"/>
              </a:rPr>
              <a:t>Nitesh Roopa</a:t>
            </a:r>
          </a:p>
        </p:txBody>
      </p:sp>
      <p:sp>
        <p:nvSpPr>
          <p:cNvPr id="21" name="TextBox 20"/>
          <p:cNvSpPr txBox="1"/>
          <p:nvPr/>
        </p:nvSpPr>
        <p:spPr>
          <a:xfrm>
            <a:off x="7772400" y="1664208"/>
            <a:ext cx="3867912" cy="292608"/>
          </a:xfrm>
          <a:prstGeom prst="rect">
            <a:avLst/>
          </a:prstGeom>
          <a:noFill/>
        </p:spPr>
        <p:txBody>
          <a:bodyPr wrap="square">
            <a:noAutofit/>
          </a:bodyPr>
          <a:lstStyle/>
          <a:p>
            <a:pPr algn="l"/>
            <a:r>
              <a:rPr sz="1100" b="0" i="0">
                <a:solidFill>
                  <a:srgbClr val="FFFFFF"/>
                </a:solidFill>
                <a:latin typeface="Calibri"/>
              </a:rPr>
              <a:t>CA, Managing Partner, ProfitPulse</a:t>
            </a:r>
          </a:p>
        </p:txBody>
      </p:sp>
      <p:sp>
        <p:nvSpPr>
          <p:cNvPr id="22" name="TextBox 21"/>
          <p:cNvSpPr txBox="1"/>
          <p:nvPr/>
        </p:nvSpPr>
        <p:spPr>
          <a:xfrm>
            <a:off x="7772400" y="2103120"/>
            <a:ext cx="3867912" cy="1508760"/>
          </a:xfrm>
          <a:prstGeom prst="rect">
            <a:avLst/>
          </a:prstGeom>
          <a:noFill/>
        </p:spPr>
        <p:txBody>
          <a:bodyPr wrap="square">
            <a:noAutofit/>
          </a:bodyPr>
          <a:lstStyle/>
          <a:p>
            <a:pPr algn="l">
              <a:lnSpc>
                <a:spcPct val="110000"/>
              </a:lnSpc>
              <a:spcAft>
                <a:spcPts val="800"/>
              </a:spcAft>
            </a:pPr>
            <a:r>
              <a:rPr sz="1050" b="0" i="0">
                <a:solidFill>
                  <a:srgbClr val="E6E5DE"/>
                </a:solidFill>
                <a:latin typeface="Calibri"/>
              </a:rPr>
              <a:t>•  16 years of experience across 4 countries</a:t>
            </a:r>
          </a:p>
          <a:p>
            <a:pPr algn="l">
              <a:lnSpc>
                <a:spcPct val="110000"/>
              </a:lnSpc>
              <a:spcAft>
                <a:spcPts val="800"/>
              </a:spcAft>
            </a:pPr>
            <a:r>
              <a:rPr sz="1050" b="0" i="0">
                <a:solidFill>
                  <a:srgbClr val="E6E5DE"/>
                </a:solidFill>
                <a:latin typeface="Calibri"/>
              </a:rPr>
              <a:t>•  Over 52 deals executed and managed</a:t>
            </a:r>
          </a:p>
          <a:p>
            <a:pPr algn="l">
              <a:lnSpc>
                <a:spcPct val="110000"/>
              </a:lnSpc>
              <a:spcAft>
                <a:spcPts val="800"/>
              </a:spcAft>
            </a:pPr>
            <a:r>
              <a:rPr sz="1050" b="0" i="0">
                <a:solidFill>
                  <a:srgbClr val="E6E5DE"/>
                </a:solidFill>
                <a:latin typeface="Calibri"/>
              </a:rPr>
              <a:t>•  Largest deal, USD 1.3 billion, Cahora Bassa</a:t>
            </a:r>
          </a:p>
          <a:p>
            <a:pPr algn="l">
              <a:lnSpc>
                <a:spcPct val="110000"/>
              </a:lnSpc>
              <a:spcAft>
                <a:spcPts val="800"/>
              </a:spcAft>
            </a:pPr>
            <a:r>
              <a:rPr sz="1050" b="0" i="0">
                <a:solidFill>
                  <a:srgbClr val="E6E5DE"/>
                </a:solidFill>
                <a:latin typeface="Calibri"/>
              </a:rPr>
              <a:t>•  GRBT project value in Queensland, over AUD 10 billion</a:t>
            </a:r>
          </a:p>
        </p:txBody>
      </p:sp>
      <p:sp>
        <p:nvSpPr>
          <p:cNvPr id="23" name="Rectangle 22"/>
          <p:cNvSpPr/>
          <p:nvPr/>
        </p:nvSpPr>
        <p:spPr>
          <a:xfrm>
            <a:off x="7772400" y="3657600"/>
            <a:ext cx="3867912" cy="127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0" y="3840480"/>
            <a:ext cx="3867912" cy="1097280"/>
          </a:xfrm>
          <a:prstGeom prst="rect">
            <a:avLst/>
          </a:prstGeom>
          <a:noFill/>
        </p:spPr>
        <p:txBody>
          <a:bodyPr wrap="square">
            <a:noAutofit/>
          </a:bodyPr>
          <a:lstStyle/>
          <a:p>
            <a:pPr algn="l">
              <a:spcAft>
                <a:spcPts val="400"/>
              </a:spcAft>
            </a:pPr>
            <a:r>
              <a:rPr sz="1050" b="0" i="0">
                <a:solidFill>
                  <a:srgbClr val="E6E5DE"/>
                </a:solidFill>
                <a:latin typeface="Calibri"/>
              </a:rPr>
              <a:t>Profit-Pulse.com.au</a:t>
            </a:r>
          </a:p>
          <a:p>
            <a:pPr algn="l">
              <a:spcAft>
                <a:spcPts val="400"/>
              </a:spcAft>
            </a:pPr>
            <a:r>
              <a:rPr sz="1050" b="0" i="0">
                <a:solidFill>
                  <a:srgbClr val="01A296"/>
                </a:solidFill>
                <a:latin typeface="Calibri"/>
              </a:rPr>
              <a:t>Nitesh@Profit-Pulse.com.au</a:t>
            </a:r>
          </a:p>
          <a:p>
            <a:pPr algn="l">
              <a:spcAft>
                <a:spcPts val="400"/>
              </a:spcAft>
            </a:pPr>
            <a:r>
              <a:rPr sz="1050" b="0" i="0">
                <a:solidFill>
                  <a:srgbClr val="E6E5DE"/>
                </a:solidFill>
                <a:latin typeface="Calibri"/>
              </a:rPr>
              <a:t>+61 411 876 267</a:t>
            </a:r>
          </a:p>
          <a:p>
            <a:pPr algn="l"/>
            <a:r>
              <a:rPr sz="1050" b="0" i="0">
                <a:solidFill>
                  <a:srgbClr val="01A296"/>
                </a:solidFill>
                <a:latin typeface="Calibri"/>
              </a:rPr>
              <a:t>linkedin.com/in/nitesh-roopa-77594163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1A296"/>
      </a:hlink>
      <a:folHlink>
        <a:srgbClr val="01A29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