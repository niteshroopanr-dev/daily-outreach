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profit-pulse.com.au/services/find-your-fit/" TargetMode="External"/><Relationship Id="rId2" Type="http://schemas.openxmlformats.org/officeDocument/2006/relationships/hyperlink" Target="https://buy.stripe.com/00w4gA7OUfGM5TadMH3ks0z" TargetMode="External"/><Relationship Id="rId3" Type="http://schemas.openxmlformats.org/officeDocument/2006/relationships/hyperlink" Target="https://bookings.cloud.microsoft/book/ProfitPulse1@profit-pulse.com.au/?ismsaljsauthenabled=true"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F8C806"/>
          </a:solidFill>
          <a:ln/>
        </p:spPr>
      </p:sp>
      <p:sp>
        <p:nvSpPr>
          <p:cNvPr id="3" name="Shape 1"/>
          <p:cNvSpPr/>
          <p:nvPr/>
        </p:nvSpPr>
        <p:spPr>
          <a:xfrm>
            <a:off x="0" y="0"/>
            <a:ext cx="12191695" cy="914400"/>
          </a:xfrm>
          <a:prstGeom prst="rect">
            <a:avLst/>
          </a:prstGeom>
          <a:solidFill>
            <a:srgbClr val="000000"/>
          </a:solidFill>
          <a:ln/>
        </p:spPr>
      </p:sp>
      <p:sp>
        <p:nvSpPr>
          <p:cNvPr id="4" name="Text 2"/>
          <p:cNvSpPr/>
          <p:nvPr/>
        </p:nvSpPr>
        <p:spPr>
          <a:xfrm>
            <a:off x="274320" y="292608"/>
            <a:ext cx="6858000" cy="365760"/>
          </a:xfrm>
          <a:prstGeom prst="rect">
            <a:avLst/>
          </a:prstGeom>
          <a:noFill/>
          <a:ln/>
        </p:spPr>
        <p:txBody>
          <a:bodyPr wrap="square" lIns="0" tIns="0" rIns="0" bIns="0" rtlCol="0" anchor="ctr"/>
          <a:lstStyle/>
          <a:p>
            <a:pPr algn="l" indent="0" marL="0">
              <a:buNone/>
            </a:pPr>
            <a:r>
              <a:rPr lang="en-US" sz="1200" b="1" dirty="0">
                <a:solidFill>
                  <a:srgbClr val="E6E5DE"/>
                </a:solidFill>
                <a:latin typeface="Calibri" pitchFamily="34" charset="0"/>
                <a:ea typeface="Calibri" pitchFamily="34" charset="-122"/>
                <a:cs typeface="Calibri" pitchFamily="34" charset="-120"/>
              </a:rPr>
              <a:t>COMMERCIAL INTELLIGENCE BRIEF</a:t>
            </a:r>
            <a:endParaRPr lang="en-US" sz="1200" dirty="0"/>
          </a:p>
        </p:txBody>
      </p:sp>
      <p:sp>
        <p:nvSpPr>
          <p:cNvPr id="5" name="Text 3"/>
          <p:cNvSpPr/>
          <p:nvPr/>
        </p:nvSpPr>
        <p:spPr>
          <a:xfrm>
            <a:off x="8686800" y="292608"/>
            <a:ext cx="3200400" cy="365760"/>
          </a:xfrm>
          <a:prstGeom prst="rect">
            <a:avLst/>
          </a:prstGeom>
          <a:noFill/>
          <a:ln/>
        </p:spPr>
        <p:txBody>
          <a:bodyPr wrap="square" lIns="0" tIns="0" rIns="0" bIns="0" rtlCol="0" anchor="ctr"/>
          <a:lstStyle/>
          <a:p>
            <a:pPr algn="r" indent="0" marL="0">
              <a:buNone/>
            </a:pPr>
            <a:r>
              <a:rPr lang="en-US" sz="1200" b="1" dirty="0">
                <a:solidFill>
                  <a:srgbClr val="01A296"/>
                </a:solidFill>
                <a:latin typeface="Calibri" pitchFamily="34" charset="0"/>
                <a:ea typeface="Calibri" pitchFamily="34" charset="-122"/>
                <a:cs typeface="Calibri" pitchFamily="34" charset="-120"/>
              </a:rPr>
              <a:t>PROFITPULSE</a:t>
            </a:r>
            <a:endParaRPr lang="en-US" sz="1200" dirty="0"/>
          </a:p>
        </p:txBody>
      </p:sp>
      <p:sp>
        <p:nvSpPr>
          <p:cNvPr id="6" name="Text 4"/>
          <p:cNvSpPr/>
          <p:nvPr/>
        </p:nvSpPr>
        <p:spPr>
          <a:xfrm>
            <a:off x="274320" y="6446520"/>
            <a:ext cx="8229600" cy="274320"/>
          </a:xfrm>
          <a:prstGeom prst="rect">
            <a:avLst/>
          </a:prstGeom>
          <a:noFill/>
          <a:ln/>
        </p:spPr>
        <p:txBody>
          <a:bodyPr wrap="square" lIns="0" tIns="0" rIns="0" bIns="0" rtlCol="0" anchor="ctr"/>
          <a:lstStyle/>
          <a:p>
            <a:pPr algn="l" indent="0" marL="0">
              <a:buNone/>
            </a:pPr>
            <a:r>
              <a:rPr lang="en-US" sz="900" dirty="0">
                <a:solidFill>
                  <a:srgbClr val="000000"/>
                </a:solidFill>
                <a:latin typeface="Calibri" pitchFamily="34" charset="0"/>
                <a:ea typeface="Calibri" pitchFamily="34" charset="-122"/>
                <a:cs typeface="Calibri" pitchFamily="34" charset="-120"/>
              </a:rPr>
              <a:t>Prepared by Nitesh Roopa CA, Managing Partner and Founder, ProfitPulse, Profit-Pulse.com.au</a:t>
            </a:r>
            <a:endParaRPr lang="en-US" sz="900" dirty="0"/>
          </a:p>
        </p:txBody>
      </p:sp>
      <p:sp>
        <p:nvSpPr>
          <p:cNvPr id="7" name="Text 5"/>
          <p:cNvSpPr/>
          <p:nvPr/>
        </p:nvSpPr>
        <p:spPr>
          <a:xfrm>
            <a:off x="9144000" y="6446520"/>
            <a:ext cx="2743200" cy="274320"/>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31 Jul 2026</a:t>
            </a:r>
            <a:endParaRPr lang="en-US" sz="900" dirty="0"/>
          </a:p>
        </p:txBody>
      </p:sp>
      <p:sp>
        <p:nvSpPr>
          <p:cNvPr id="8" name="Text 6"/>
          <p:cNvSpPr/>
          <p:nvPr/>
        </p:nvSpPr>
        <p:spPr>
          <a:xfrm>
            <a:off x="320040" y="1024128"/>
            <a:ext cx="8229600" cy="685800"/>
          </a:xfrm>
          <a:prstGeom prst="rect">
            <a:avLst/>
          </a:prstGeom>
          <a:noFill/>
          <a:ln/>
        </p:spPr>
        <p:txBody>
          <a:bodyPr wrap="square" lIns="0" tIns="0" rIns="0" bIns="0" rtlCol="0" anchor="ctr"/>
          <a:lstStyle/>
          <a:p>
            <a:pPr algn="l" indent="0" marL="0">
              <a:buNone/>
            </a:pPr>
            <a:r>
              <a:rPr lang="en-US" sz="4200" b="1" dirty="0">
                <a:solidFill>
                  <a:srgbClr val="000000"/>
                </a:solidFill>
                <a:latin typeface="Cambria" pitchFamily="34" charset="0"/>
                <a:ea typeface="Cambria" pitchFamily="34" charset="-122"/>
                <a:cs typeface="Cambria" pitchFamily="34" charset="-120"/>
              </a:rPr>
              <a:t>Orbitkey</a:t>
            </a:r>
            <a:endParaRPr lang="en-US" sz="4200" dirty="0"/>
          </a:p>
        </p:txBody>
      </p:sp>
      <p:sp>
        <p:nvSpPr>
          <p:cNvPr id="9" name="Text 7"/>
          <p:cNvSpPr/>
          <p:nvPr/>
        </p:nvSpPr>
        <p:spPr>
          <a:xfrm>
            <a:off x="320040" y="1691640"/>
            <a:ext cx="9601200" cy="320040"/>
          </a:xfrm>
          <a:prstGeom prst="rect">
            <a:avLst/>
          </a:prstGeom>
          <a:noFill/>
          <a:ln/>
        </p:spPr>
        <p:txBody>
          <a:bodyPr wrap="square" lIns="0" tIns="0" rIns="0" bIns="0" rtlCol="0" anchor="ctr"/>
          <a:lstStyle/>
          <a:p>
            <a:pPr algn="l" indent="0" marL="0">
              <a:buNone/>
            </a:pPr>
            <a:r>
              <a:rPr lang="en-US" sz="1300" i="1" dirty="0">
                <a:solidFill>
                  <a:srgbClr val="000000"/>
                </a:solidFill>
                <a:latin typeface="Calibri" pitchFamily="34" charset="0"/>
                <a:ea typeface="Calibri" pitchFamily="34" charset="-122"/>
                <a:cs typeface="Calibri" pitchFamily="34" charset="-120"/>
              </a:rPr>
              <a:t>Design led everyday carry accessories, Richmond, Melbourne VIC</a:t>
            </a:r>
            <a:endParaRPr lang="en-US" sz="1300" dirty="0"/>
          </a:p>
        </p:txBody>
      </p:sp>
      <p:sp>
        <p:nvSpPr>
          <p:cNvPr id="10" name="Shape 8"/>
          <p:cNvSpPr/>
          <p:nvPr/>
        </p:nvSpPr>
        <p:spPr>
          <a:xfrm>
            <a:off x="320040" y="2194560"/>
            <a:ext cx="2103120" cy="1463040"/>
          </a:xfrm>
          <a:prstGeom prst="rect">
            <a:avLst/>
          </a:prstGeom>
          <a:solidFill>
            <a:srgbClr val="000000"/>
          </a:solidFill>
          <a:ln/>
        </p:spPr>
      </p:sp>
      <p:sp>
        <p:nvSpPr>
          <p:cNvPr id="11" name="Shape 9"/>
          <p:cNvSpPr/>
          <p:nvPr/>
        </p:nvSpPr>
        <p:spPr>
          <a:xfrm>
            <a:off x="320040" y="2194560"/>
            <a:ext cx="2103120" cy="54864"/>
          </a:xfrm>
          <a:prstGeom prst="rect">
            <a:avLst/>
          </a:prstGeom>
          <a:solidFill>
            <a:srgbClr val="01A296"/>
          </a:solidFill>
          <a:ln/>
        </p:spPr>
      </p:sp>
      <p:sp>
        <p:nvSpPr>
          <p:cNvPr id="12" name="Text 10"/>
          <p:cNvSpPr/>
          <p:nvPr/>
        </p:nvSpPr>
        <p:spPr>
          <a:xfrm>
            <a:off x="457200" y="2340864"/>
            <a:ext cx="1828800" cy="457200"/>
          </a:xfrm>
          <a:prstGeom prst="rect">
            <a:avLst/>
          </a:prstGeom>
          <a:noFill/>
          <a:ln/>
        </p:spPr>
        <p:txBody>
          <a:bodyPr wrap="square" lIns="0" tIns="0" rIns="0" bIns="0" rtlCol="0" anchor="ctr"/>
          <a:lstStyle/>
          <a:p>
            <a:pPr algn="l" indent="0" marL="0">
              <a:buNone/>
            </a:pPr>
            <a:r>
              <a:rPr lang="en-US" sz="2700" b="1" dirty="0">
                <a:solidFill>
                  <a:srgbClr val="F8C806"/>
                </a:solidFill>
                <a:latin typeface="Cambria" pitchFamily="34" charset="0"/>
                <a:ea typeface="Cambria" pitchFamily="34" charset="-122"/>
                <a:cs typeface="Cambria" pitchFamily="34" charset="-120"/>
              </a:rPr>
              <a:t>$24.6M</a:t>
            </a:r>
            <a:endParaRPr lang="en-US" sz="2700" dirty="0"/>
          </a:p>
        </p:txBody>
      </p:sp>
      <p:sp>
        <p:nvSpPr>
          <p:cNvPr id="13" name="Text 11"/>
          <p:cNvSpPr/>
          <p:nvPr/>
        </p:nvSpPr>
        <p:spPr>
          <a:xfrm>
            <a:off x="457200" y="2816352"/>
            <a:ext cx="1828800" cy="457200"/>
          </a:xfrm>
          <a:prstGeom prst="rect">
            <a:avLst/>
          </a:prstGeom>
          <a:noFill/>
          <a:ln/>
        </p:spPr>
        <p:txBody>
          <a:bodyPr wrap="square" lIns="0" tIns="0" rIns="0" bIns="0" rtlCol="0" anchor="t"/>
          <a:lstStyle/>
          <a:p>
            <a:pPr algn="l" indent="0" marL="0">
              <a:buNone/>
            </a:pPr>
            <a:r>
              <a:rPr lang="en-US" sz="1100" dirty="0">
                <a:solidFill>
                  <a:srgbClr val="E6E5DE"/>
                </a:solidFill>
                <a:latin typeface="Calibri" pitchFamily="34" charset="0"/>
                <a:ea typeface="Calibri" pitchFamily="34" charset="-122"/>
                <a:cs typeface="Calibri" pitchFamily="34" charset="-120"/>
              </a:rPr>
              <a:t>Annual revenue</a:t>
            </a:r>
            <a:endParaRPr lang="en-US" sz="1100" dirty="0"/>
          </a:p>
        </p:txBody>
      </p:sp>
      <p:sp>
        <p:nvSpPr>
          <p:cNvPr id="14" name="Text 12"/>
          <p:cNvSpPr/>
          <p:nvPr/>
        </p:nvSpPr>
        <p:spPr>
          <a:xfrm>
            <a:off x="457200" y="3364992"/>
            <a:ext cx="1828800" cy="237744"/>
          </a:xfrm>
          <a:prstGeom prst="rect">
            <a:avLst/>
          </a:prstGeom>
          <a:noFill/>
          <a:ln/>
        </p:spPr>
        <p:txBody>
          <a:bodyPr wrap="square" lIns="0" tIns="0" rIns="0" bIns="0" rtlCol="0" anchor="ctr"/>
          <a:lstStyle/>
          <a:p>
            <a:pPr algn="l" indent="0" marL="0">
              <a:buNone/>
            </a:pPr>
            <a:r>
              <a:rPr lang="en-US" sz="750" dirty="0">
                <a:solidFill>
                  <a:srgbClr val="01A296"/>
                </a:solidFill>
                <a:latin typeface="Calibri" pitchFamily="34" charset="0"/>
                <a:ea typeface="Calibri" pitchFamily="34" charset="-122"/>
                <a:cs typeface="Calibri" pitchFamily="34" charset="-120"/>
              </a:rPr>
              <a:t>SmartCompany Smart50 2025</a:t>
            </a:r>
            <a:endParaRPr lang="en-US" sz="750" dirty="0"/>
          </a:p>
        </p:txBody>
      </p:sp>
      <p:sp>
        <p:nvSpPr>
          <p:cNvPr id="15" name="Shape 13"/>
          <p:cNvSpPr/>
          <p:nvPr/>
        </p:nvSpPr>
        <p:spPr>
          <a:xfrm>
            <a:off x="2560320" y="2194560"/>
            <a:ext cx="2103120" cy="1463040"/>
          </a:xfrm>
          <a:prstGeom prst="rect">
            <a:avLst/>
          </a:prstGeom>
          <a:solidFill>
            <a:srgbClr val="000000"/>
          </a:solidFill>
          <a:ln/>
        </p:spPr>
      </p:sp>
      <p:sp>
        <p:nvSpPr>
          <p:cNvPr id="16" name="Shape 14"/>
          <p:cNvSpPr/>
          <p:nvPr/>
        </p:nvSpPr>
        <p:spPr>
          <a:xfrm>
            <a:off x="2560320" y="2194560"/>
            <a:ext cx="2103120" cy="54864"/>
          </a:xfrm>
          <a:prstGeom prst="rect">
            <a:avLst/>
          </a:prstGeom>
          <a:solidFill>
            <a:srgbClr val="01A296"/>
          </a:solidFill>
          <a:ln/>
        </p:spPr>
      </p:sp>
      <p:sp>
        <p:nvSpPr>
          <p:cNvPr id="17" name="Text 15"/>
          <p:cNvSpPr/>
          <p:nvPr/>
        </p:nvSpPr>
        <p:spPr>
          <a:xfrm>
            <a:off x="2697480" y="2340864"/>
            <a:ext cx="1828800" cy="457200"/>
          </a:xfrm>
          <a:prstGeom prst="rect">
            <a:avLst/>
          </a:prstGeom>
          <a:noFill/>
          <a:ln/>
        </p:spPr>
        <p:txBody>
          <a:bodyPr wrap="square" lIns="0" tIns="0" rIns="0" bIns="0" rtlCol="0" anchor="ctr"/>
          <a:lstStyle/>
          <a:p>
            <a:pPr algn="l" indent="0" marL="0">
              <a:buNone/>
            </a:pPr>
            <a:r>
              <a:rPr lang="en-US" sz="2700" b="1" dirty="0">
                <a:solidFill>
                  <a:srgbClr val="F8C806"/>
                </a:solidFill>
                <a:latin typeface="Cambria" pitchFamily="34" charset="0"/>
                <a:ea typeface="Cambria" pitchFamily="34" charset="-122"/>
                <a:cs typeface="Cambria" pitchFamily="34" charset="-120"/>
              </a:rPr>
              <a:t>20%</a:t>
            </a:r>
            <a:endParaRPr lang="en-US" sz="2700" dirty="0"/>
          </a:p>
        </p:txBody>
      </p:sp>
      <p:sp>
        <p:nvSpPr>
          <p:cNvPr id="18" name="Text 16"/>
          <p:cNvSpPr/>
          <p:nvPr/>
        </p:nvSpPr>
        <p:spPr>
          <a:xfrm>
            <a:off x="2697480" y="2816352"/>
            <a:ext cx="1828800" cy="457200"/>
          </a:xfrm>
          <a:prstGeom prst="rect">
            <a:avLst/>
          </a:prstGeom>
          <a:noFill/>
          <a:ln/>
        </p:spPr>
        <p:txBody>
          <a:bodyPr wrap="square" lIns="0" tIns="0" rIns="0" bIns="0" rtlCol="0" anchor="t"/>
          <a:lstStyle/>
          <a:p>
            <a:pPr algn="l" indent="0" marL="0">
              <a:buNone/>
            </a:pPr>
            <a:r>
              <a:rPr lang="en-US" sz="1100" dirty="0">
                <a:solidFill>
                  <a:srgbClr val="E6E5DE"/>
                </a:solidFill>
                <a:latin typeface="Calibri" pitchFamily="34" charset="0"/>
                <a:ea typeface="Calibri" pitchFamily="34" charset="-122"/>
                <a:cs typeface="Calibri" pitchFamily="34" charset="-120"/>
              </a:rPr>
              <a:t>Average 3 year growth</a:t>
            </a:r>
            <a:endParaRPr lang="en-US" sz="1100" dirty="0"/>
          </a:p>
        </p:txBody>
      </p:sp>
      <p:sp>
        <p:nvSpPr>
          <p:cNvPr id="19" name="Text 17"/>
          <p:cNvSpPr/>
          <p:nvPr/>
        </p:nvSpPr>
        <p:spPr>
          <a:xfrm>
            <a:off x="2697480" y="3364992"/>
            <a:ext cx="1828800" cy="237744"/>
          </a:xfrm>
          <a:prstGeom prst="rect">
            <a:avLst/>
          </a:prstGeom>
          <a:noFill/>
          <a:ln/>
        </p:spPr>
        <p:txBody>
          <a:bodyPr wrap="square" lIns="0" tIns="0" rIns="0" bIns="0" rtlCol="0" anchor="ctr"/>
          <a:lstStyle/>
          <a:p>
            <a:pPr algn="l" indent="0" marL="0">
              <a:buNone/>
            </a:pPr>
            <a:r>
              <a:rPr lang="en-US" sz="750" dirty="0">
                <a:solidFill>
                  <a:srgbClr val="01A296"/>
                </a:solidFill>
                <a:latin typeface="Calibri" pitchFamily="34" charset="0"/>
                <a:ea typeface="Calibri" pitchFamily="34" charset="-122"/>
                <a:cs typeface="Calibri" pitchFamily="34" charset="-120"/>
              </a:rPr>
              <a:t>SmartCompany Smart50 2025</a:t>
            </a:r>
            <a:endParaRPr lang="en-US" sz="750" dirty="0"/>
          </a:p>
        </p:txBody>
      </p:sp>
      <p:sp>
        <p:nvSpPr>
          <p:cNvPr id="20" name="Shape 18"/>
          <p:cNvSpPr/>
          <p:nvPr/>
        </p:nvSpPr>
        <p:spPr>
          <a:xfrm>
            <a:off x="4800600" y="2194560"/>
            <a:ext cx="2103120" cy="1463040"/>
          </a:xfrm>
          <a:prstGeom prst="rect">
            <a:avLst/>
          </a:prstGeom>
          <a:solidFill>
            <a:srgbClr val="000000"/>
          </a:solidFill>
          <a:ln/>
        </p:spPr>
      </p:sp>
      <p:sp>
        <p:nvSpPr>
          <p:cNvPr id="21" name="Shape 19"/>
          <p:cNvSpPr/>
          <p:nvPr/>
        </p:nvSpPr>
        <p:spPr>
          <a:xfrm>
            <a:off x="4800600" y="2194560"/>
            <a:ext cx="2103120" cy="54864"/>
          </a:xfrm>
          <a:prstGeom prst="rect">
            <a:avLst/>
          </a:prstGeom>
          <a:solidFill>
            <a:srgbClr val="01A296"/>
          </a:solidFill>
          <a:ln/>
        </p:spPr>
      </p:sp>
      <p:sp>
        <p:nvSpPr>
          <p:cNvPr id="22" name="Text 20"/>
          <p:cNvSpPr/>
          <p:nvPr/>
        </p:nvSpPr>
        <p:spPr>
          <a:xfrm>
            <a:off x="4937760" y="2340864"/>
            <a:ext cx="1828800" cy="457200"/>
          </a:xfrm>
          <a:prstGeom prst="rect">
            <a:avLst/>
          </a:prstGeom>
          <a:noFill/>
          <a:ln/>
        </p:spPr>
        <p:txBody>
          <a:bodyPr wrap="square" lIns="0" tIns="0" rIns="0" bIns="0" rtlCol="0" anchor="ctr"/>
          <a:lstStyle/>
          <a:p>
            <a:pPr algn="l" indent="0" marL="0">
              <a:buNone/>
            </a:pPr>
            <a:r>
              <a:rPr lang="en-US" sz="2700" b="1" dirty="0">
                <a:solidFill>
                  <a:srgbClr val="F8C806"/>
                </a:solidFill>
                <a:latin typeface="Cambria" pitchFamily="34" charset="0"/>
                <a:ea typeface="Cambria" pitchFamily="34" charset="-122"/>
                <a:cs typeface="Cambria" pitchFamily="34" charset="-120"/>
              </a:rPr>
              <a:t>44</a:t>
            </a:r>
            <a:endParaRPr lang="en-US" sz="2700" dirty="0"/>
          </a:p>
        </p:txBody>
      </p:sp>
      <p:sp>
        <p:nvSpPr>
          <p:cNvPr id="23" name="Text 21"/>
          <p:cNvSpPr/>
          <p:nvPr/>
        </p:nvSpPr>
        <p:spPr>
          <a:xfrm>
            <a:off x="4937760" y="2816352"/>
            <a:ext cx="1828800" cy="457200"/>
          </a:xfrm>
          <a:prstGeom prst="rect">
            <a:avLst/>
          </a:prstGeom>
          <a:noFill/>
          <a:ln/>
        </p:spPr>
        <p:txBody>
          <a:bodyPr wrap="square" lIns="0" tIns="0" rIns="0" bIns="0" rtlCol="0" anchor="t"/>
          <a:lstStyle/>
          <a:p>
            <a:pPr algn="l" indent="0" marL="0">
              <a:buNone/>
            </a:pPr>
            <a:r>
              <a:rPr lang="en-US" sz="1100" dirty="0">
                <a:solidFill>
                  <a:srgbClr val="E6E5DE"/>
                </a:solidFill>
                <a:latin typeface="Calibri" pitchFamily="34" charset="0"/>
                <a:ea typeface="Calibri" pitchFamily="34" charset="-122"/>
                <a:cs typeface="Calibri" pitchFamily="34" charset="-120"/>
              </a:rPr>
              <a:t>People on the team</a:t>
            </a:r>
            <a:endParaRPr lang="en-US" sz="1100" dirty="0"/>
          </a:p>
        </p:txBody>
      </p:sp>
      <p:sp>
        <p:nvSpPr>
          <p:cNvPr id="24" name="Text 22"/>
          <p:cNvSpPr/>
          <p:nvPr/>
        </p:nvSpPr>
        <p:spPr>
          <a:xfrm>
            <a:off x="4937760" y="3364992"/>
            <a:ext cx="1828800" cy="237744"/>
          </a:xfrm>
          <a:prstGeom prst="rect">
            <a:avLst/>
          </a:prstGeom>
          <a:noFill/>
          <a:ln/>
        </p:spPr>
        <p:txBody>
          <a:bodyPr wrap="square" lIns="0" tIns="0" rIns="0" bIns="0" rtlCol="0" anchor="ctr"/>
          <a:lstStyle/>
          <a:p>
            <a:pPr algn="l" indent="0" marL="0">
              <a:buNone/>
            </a:pPr>
            <a:r>
              <a:rPr lang="en-US" sz="750" dirty="0">
                <a:solidFill>
                  <a:srgbClr val="01A296"/>
                </a:solidFill>
                <a:latin typeface="Calibri" pitchFamily="34" charset="0"/>
                <a:ea typeface="Calibri" pitchFamily="34" charset="-122"/>
                <a:cs typeface="Calibri" pitchFamily="34" charset="-120"/>
              </a:rPr>
              <a:t>SmartCompany Smart50 2025</a:t>
            </a:r>
            <a:endParaRPr lang="en-US" sz="750" dirty="0"/>
          </a:p>
        </p:txBody>
      </p:sp>
      <p:sp>
        <p:nvSpPr>
          <p:cNvPr id="25" name="Shape 23"/>
          <p:cNvSpPr/>
          <p:nvPr/>
        </p:nvSpPr>
        <p:spPr>
          <a:xfrm>
            <a:off x="7040880" y="2194560"/>
            <a:ext cx="2103120" cy="1463040"/>
          </a:xfrm>
          <a:prstGeom prst="rect">
            <a:avLst/>
          </a:prstGeom>
          <a:solidFill>
            <a:srgbClr val="000000"/>
          </a:solidFill>
          <a:ln/>
        </p:spPr>
      </p:sp>
      <p:sp>
        <p:nvSpPr>
          <p:cNvPr id="26" name="Shape 24"/>
          <p:cNvSpPr/>
          <p:nvPr/>
        </p:nvSpPr>
        <p:spPr>
          <a:xfrm>
            <a:off x="7040880" y="2194560"/>
            <a:ext cx="2103120" cy="54864"/>
          </a:xfrm>
          <a:prstGeom prst="rect">
            <a:avLst/>
          </a:prstGeom>
          <a:solidFill>
            <a:srgbClr val="01A296"/>
          </a:solidFill>
          <a:ln/>
        </p:spPr>
      </p:sp>
      <p:sp>
        <p:nvSpPr>
          <p:cNvPr id="27" name="Text 25"/>
          <p:cNvSpPr/>
          <p:nvPr/>
        </p:nvSpPr>
        <p:spPr>
          <a:xfrm>
            <a:off x="7178040" y="2340864"/>
            <a:ext cx="1828800" cy="457200"/>
          </a:xfrm>
          <a:prstGeom prst="rect">
            <a:avLst/>
          </a:prstGeom>
          <a:noFill/>
          <a:ln/>
        </p:spPr>
        <p:txBody>
          <a:bodyPr wrap="square" lIns="0" tIns="0" rIns="0" bIns="0" rtlCol="0" anchor="ctr"/>
          <a:lstStyle/>
          <a:p>
            <a:pPr algn="l" indent="0" marL="0">
              <a:buNone/>
            </a:pPr>
            <a:r>
              <a:rPr lang="en-US" sz="2700" b="1" dirty="0">
                <a:solidFill>
                  <a:srgbClr val="F8C806"/>
                </a:solidFill>
                <a:latin typeface="Cambria" pitchFamily="34" charset="0"/>
                <a:ea typeface="Cambria" pitchFamily="34" charset="-122"/>
                <a:cs typeface="Cambria" pitchFamily="34" charset="-120"/>
              </a:rPr>
              <a:t>83.7</a:t>
            </a:r>
            <a:endParaRPr lang="en-US" sz="2700" dirty="0"/>
          </a:p>
        </p:txBody>
      </p:sp>
      <p:sp>
        <p:nvSpPr>
          <p:cNvPr id="28" name="Text 26"/>
          <p:cNvSpPr/>
          <p:nvPr/>
        </p:nvSpPr>
        <p:spPr>
          <a:xfrm>
            <a:off x="7178040" y="2816352"/>
            <a:ext cx="1828800" cy="457200"/>
          </a:xfrm>
          <a:prstGeom prst="rect">
            <a:avLst/>
          </a:prstGeom>
          <a:noFill/>
          <a:ln/>
        </p:spPr>
        <p:txBody>
          <a:bodyPr wrap="square" lIns="0" tIns="0" rIns="0" bIns="0" rtlCol="0" anchor="t"/>
          <a:lstStyle/>
          <a:p>
            <a:pPr algn="l" indent="0" marL="0">
              <a:buNone/>
            </a:pPr>
            <a:r>
              <a:rPr lang="en-US" sz="1100" dirty="0">
                <a:solidFill>
                  <a:srgbClr val="E6E5DE"/>
                </a:solidFill>
                <a:latin typeface="Calibri" pitchFamily="34" charset="0"/>
                <a:ea typeface="Calibri" pitchFamily="34" charset="-122"/>
                <a:cs typeface="Calibri" pitchFamily="34" charset="-120"/>
              </a:rPr>
              <a:t>B Corp impact score</a:t>
            </a:r>
            <a:endParaRPr lang="en-US" sz="1100" dirty="0"/>
          </a:p>
        </p:txBody>
      </p:sp>
      <p:sp>
        <p:nvSpPr>
          <p:cNvPr id="29" name="Text 27"/>
          <p:cNvSpPr/>
          <p:nvPr/>
        </p:nvSpPr>
        <p:spPr>
          <a:xfrm>
            <a:off x="7178040" y="3364992"/>
            <a:ext cx="1828800" cy="237744"/>
          </a:xfrm>
          <a:prstGeom prst="rect">
            <a:avLst/>
          </a:prstGeom>
          <a:noFill/>
          <a:ln/>
        </p:spPr>
        <p:txBody>
          <a:bodyPr wrap="square" lIns="0" tIns="0" rIns="0" bIns="0" rtlCol="0" anchor="ctr"/>
          <a:lstStyle/>
          <a:p>
            <a:pPr algn="l" indent="0" marL="0">
              <a:buNone/>
            </a:pPr>
            <a:r>
              <a:rPr lang="en-US" sz="750" dirty="0">
                <a:solidFill>
                  <a:srgbClr val="01A296"/>
                </a:solidFill>
                <a:latin typeface="Calibri" pitchFamily="34" charset="0"/>
                <a:ea typeface="Calibri" pitchFamily="34" charset="-122"/>
                <a:cs typeface="Calibri" pitchFamily="34" charset="-120"/>
              </a:rPr>
              <a:t>B Lab Global directory</a:t>
            </a:r>
            <a:endParaRPr lang="en-US" sz="750" dirty="0"/>
          </a:p>
        </p:txBody>
      </p:sp>
      <p:sp>
        <p:nvSpPr>
          <p:cNvPr id="30" name="Shape 28"/>
          <p:cNvSpPr/>
          <p:nvPr/>
        </p:nvSpPr>
        <p:spPr>
          <a:xfrm>
            <a:off x="9281160" y="2194560"/>
            <a:ext cx="2103120" cy="1463040"/>
          </a:xfrm>
          <a:prstGeom prst="rect">
            <a:avLst/>
          </a:prstGeom>
          <a:solidFill>
            <a:srgbClr val="000000"/>
          </a:solidFill>
          <a:ln/>
        </p:spPr>
      </p:sp>
      <p:sp>
        <p:nvSpPr>
          <p:cNvPr id="31" name="Shape 29"/>
          <p:cNvSpPr/>
          <p:nvPr/>
        </p:nvSpPr>
        <p:spPr>
          <a:xfrm>
            <a:off x="9281160" y="2194560"/>
            <a:ext cx="2103120" cy="54864"/>
          </a:xfrm>
          <a:prstGeom prst="rect">
            <a:avLst/>
          </a:prstGeom>
          <a:solidFill>
            <a:srgbClr val="01A296"/>
          </a:solidFill>
          <a:ln/>
        </p:spPr>
      </p:sp>
      <p:sp>
        <p:nvSpPr>
          <p:cNvPr id="32" name="Text 30"/>
          <p:cNvSpPr/>
          <p:nvPr/>
        </p:nvSpPr>
        <p:spPr>
          <a:xfrm>
            <a:off x="9418320" y="2340864"/>
            <a:ext cx="1828800" cy="457200"/>
          </a:xfrm>
          <a:prstGeom prst="rect">
            <a:avLst/>
          </a:prstGeom>
          <a:noFill/>
          <a:ln/>
        </p:spPr>
        <p:txBody>
          <a:bodyPr wrap="square" lIns="0" tIns="0" rIns="0" bIns="0" rtlCol="0" anchor="ctr"/>
          <a:lstStyle/>
          <a:p>
            <a:pPr algn="l" indent="0" marL="0">
              <a:buNone/>
            </a:pPr>
            <a:r>
              <a:rPr lang="en-US" sz="2700" b="1" dirty="0">
                <a:solidFill>
                  <a:srgbClr val="F8C806"/>
                </a:solidFill>
                <a:latin typeface="Cambria" pitchFamily="34" charset="0"/>
                <a:ea typeface="Cambria" pitchFamily="34" charset="-122"/>
                <a:cs typeface="Cambria" pitchFamily="34" charset="-120"/>
              </a:rPr>
              <a:t>$8M+</a:t>
            </a:r>
            <a:endParaRPr lang="en-US" sz="2700" dirty="0"/>
          </a:p>
        </p:txBody>
      </p:sp>
      <p:sp>
        <p:nvSpPr>
          <p:cNvPr id="33" name="Text 31"/>
          <p:cNvSpPr/>
          <p:nvPr/>
        </p:nvSpPr>
        <p:spPr>
          <a:xfrm>
            <a:off x="9418320" y="2816352"/>
            <a:ext cx="1828800" cy="457200"/>
          </a:xfrm>
          <a:prstGeom prst="rect">
            <a:avLst/>
          </a:prstGeom>
          <a:noFill/>
          <a:ln/>
        </p:spPr>
        <p:txBody>
          <a:bodyPr wrap="square" lIns="0" tIns="0" rIns="0" bIns="0" rtlCol="0" anchor="t"/>
          <a:lstStyle/>
          <a:p>
            <a:pPr algn="l" indent="0" marL="0">
              <a:buNone/>
            </a:pPr>
            <a:r>
              <a:rPr lang="en-US" sz="1100" dirty="0">
                <a:solidFill>
                  <a:srgbClr val="E6E5DE"/>
                </a:solidFill>
                <a:latin typeface="Calibri" pitchFamily="34" charset="0"/>
                <a:ea typeface="Calibri" pitchFamily="34" charset="-122"/>
                <a:cs typeface="Calibri" pitchFamily="34" charset="-120"/>
              </a:rPr>
              <a:t>Raised via Kickstarter</a:t>
            </a:r>
            <a:endParaRPr lang="en-US" sz="1100" dirty="0"/>
          </a:p>
        </p:txBody>
      </p:sp>
      <p:sp>
        <p:nvSpPr>
          <p:cNvPr id="34" name="Text 32"/>
          <p:cNvSpPr/>
          <p:nvPr/>
        </p:nvSpPr>
        <p:spPr>
          <a:xfrm>
            <a:off x="9418320" y="3364992"/>
            <a:ext cx="1828800" cy="237744"/>
          </a:xfrm>
          <a:prstGeom prst="rect">
            <a:avLst/>
          </a:prstGeom>
          <a:noFill/>
          <a:ln/>
        </p:spPr>
        <p:txBody>
          <a:bodyPr wrap="square" lIns="0" tIns="0" rIns="0" bIns="0" rtlCol="0" anchor="ctr"/>
          <a:lstStyle/>
          <a:p>
            <a:pPr algn="l" indent="0" marL="0">
              <a:buNone/>
            </a:pPr>
            <a:r>
              <a:rPr lang="en-US" sz="750" dirty="0">
                <a:solidFill>
                  <a:srgbClr val="01A296"/>
                </a:solidFill>
                <a:latin typeface="Calibri" pitchFamily="34" charset="0"/>
                <a:ea typeface="Calibri" pitchFamily="34" charset="-122"/>
                <a:cs typeface="Calibri" pitchFamily="34" charset="-120"/>
              </a:rPr>
              <a:t>SmartCompany, 11 campaigns</a:t>
            </a:r>
            <a:endParaRPr lang="en-US" sz="750" dirty="0"/>
          </a:p>
        </p:txBody>
      </p:sp>
      <p:sp>
        <p:nvSpPr>
          <p:cNvPr id="35" name="Text 33"/>
          <p:cNvSpPr/>
          <p:nvPr/>
        </p:nvSpPr>
        <p:spPr>
          <a:xfrm>
            <a:off x="320040" y="3858768"/>
            <a:ext cx="5486400" cy="274320"/>
          </a:xfrm>
          <a:prstGeom prst="rect">
            <a:avLst/>
          </a:prstGeom>
          <a:noFill/>
          <a:ln/>
        </p:spPr>
        <p:txBody>
          <a:bodyPr wrap="square" lIns="0" tIns="0" rIns="0" bIns="0" rtlCol="0" anchor="ctr"/>
          <a:lstStyle/>
          <a:p>
            <a:pPr algn="l" indent="0" marL="0">
              <a:buNone/>
            </a:pPr>
            <a:r>
              <a:rPr lang="en-US" sz="1200" b="1" dirty="0">
                <a:solidFill>
                  <a:srgbClr val="01A296"/>
                </a:solidFill>
                <a:latin typeface="Calibri" pitchFamily="34" charset="0"/>
                <a:ea typeface="Calibri" pitchFamily="34" charset="-122"/>
                <a:cs typeface="Calibri" pitchFamily="34" charset="-120"/>
              </a:rPr>
              <a:t>KEY COMMERCIAL SIGNALS</a:t>
            </a:r>
            <a:endParaRPr lang="en-US" sz="1200" dirty="0"/>
          </a:p>
        </p:txBody>
      </p:sp>
      <p:sp>
        <p:nvSpPr>
          <p:cNvPr id="36" name="Text 34"/>
          <p:cNvSpPr/>
          <p:nvPr/>
        </p:nvSpPr>
        <p:spPr>
          <a:xfrm>
            <a:off x="320040" y="4169664"/>
            <a:ext cx="11338560" cy="21031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000000"/>
                </a:solidFill>
                <a:latin typeface="Calibri" pitchFamily="34" charset="0"/>
                <a:ea typeface="Calibri" pitchFamily="34" charset="-122"/>
                <a:cs typeface="Calibri" pitchFamily="34" charset="-120"/>
              </a:rPr>
              <a:t>B Corp Certified, impact score 83.7 vs global median 50.9 (B Lab Global).</a:t>
            </a:r>
            <a:endParaRPr lang="en-US" sz="1150" dirty="0"/>
          </a:p>
          <a:p>
            <a:pPr marL="342900" indent="-342900">
              <a:spcAft>
                <a:spcPts val="600"/>
              </a:spcAft>
              <a:buSzPct val="100000"/>
              <a:buChar char="•"/>
            </a:pPr>
            <a:r>
              <a:rPr lang="en-US" sz="1150" dirty="0">
                <a:solidFill>
                  <a:srgbClr val="000000"/>
                </a:solidFill>
                <a:latin typeface="Calibri" pitchFamily="34" charset="0"/>
                <a:ea typeface="Calibri" pitchFamily="34" charset="-122"/>
                <a:cs typeface="Calibri" pitchFamily="34" charset="-120"/>
              </a:rPr>
              <a:t>2025 Australian Export Award winner, Creative Industries (exportawards.gov.au).</a:t>
            </a:r>
            <a:endParaRPr lang="en-US" sz="1150" dirty="0"/>
          </a:p>
          <a:p>
            <a:pPr marL="342900" indent="-342900">
              <a:spcAft>
                <a:spcPts val="600"/>
              </a:spcAft>
              <a:buSzPct val="100000"/>
              <a:buChar char="•"/>
            </a:pPr>
            <a:r>
              <a:rPr lang="en-US" sz="1150" dirty="0">
                <a:solidFill>
                  <a:srgbClr val="000000"/>
                </a:solidFill>
                <a:latin typeface="Calibri" pitchFamily="34" charset="0"/>
                <a:ea typeface="Calibri" pitchFamily="34" charset="-122"/>
                <a:cs typeface="Calibri" pitchFamily="34" charset="-120"/>
              </a:rPr>
              <a:t>New Richmond HQ built beside the Kensington design studio (company sources).</a:t>
            </a:r>
            <a:endParaRPr lang="en-US" sz="1150" dirty="0"/>
          </a:p>
          <a:p>
            <a:pPr marL="342900" indent="-342900">
              <a:spcAft>
                <a:spcPts val="600"/>
              </a:spcAft>
              <a:buSzPct val="100000"/>
              <a:buChar char="•"/>
            </a:pPr>
            <a:r>
              <a:rPr lang="en-US" sz="1150" dirty="0">
                <a:solidFill>
                  <a:srgbClr val="000000"/>
                </a:solidFill>
                <a:latin typeface="Calibri" pitchFamily="34" charset="0"/>
                <a:ea typeface="Calibri" pitchFamily="34" charset="-122"/>
                <a:cs typeface="Calibri" pitchFamily="34" charset="-120"/>
              </a:rPr>
              <a:t>Latest Kickstarter campaign raised over $393,500, no external investors (SmartCompany).</a:t>
            </a:r>
            <a:endParaRPr lang="en-US" sz="1150" dirty="0"/>
          </a:p>
          <a:p>
            <a:pPr marL="342900" indent="-342900">
              <a:spcAft>
                <a:spcPts val="600"/>
              </a:spcAft>
              <a:buSzPct val="100000"/>
              <a:buChar char="•"/>
            </a:pPr>
            <a:r>
              <a:rPr lang="en-US" sz="1150" dirty="0">
                <a:solidFill>
                  <a:srgbClr val="000000"/>
                </a:solidFill>
                <a:latin typeface="Calibri" pitchFamily="34" charset="0"/>
                <a:ea typeface="Calibri" pitchFamily="34" charset="-122"/>
                <a:cs typeface="Calibri" pitchFamily="34" charset="-120"/>
              </a:rPr>
              <a:t>South Korea flagged as a significant emerging export market (exportawards.gov.au).</a:t>
            </a:r>
            <a:endParaRPr lang="en-US" sz="1150" dirty="0"/>
          </a:p>
          <a:p>
            <a:pPr marL="342900" indent="-342900">
              <a:spcAft>
                <a:spcPts val="600"/>
              </a:spcAft>
              <a:buSzPct val="100000"/>
              <a:buChar char="•"/>
            </a:pPr>
            <a:r>
              <a:rPr lang="en-US" sz="1150" dirty="0">
                <a:solidFill>
                  <a:srgbClr val="000000"/>
                </a:solidFill>
                <a:latin typeface="Calibri" pitchFamily="34" charset="0"/>
                <a:ea typeface="Calibri" pitchFamily="34" charset="-122"/>
                <a:cs typeface="Calibri" pitchFamily="34" charset="-120"/>
              </a:rPr>
              <a:t>Smart50 2025 ranking, independent confirmation of continued fast growth (SmartCompany).</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F8C806"/>
          </a:solidFill>
          <a:ln/>
        </p:spPr>
      </p:sp>
      <p:sp>
        <p:nvSpPr>
          <p:cNvPr id="3" name="Shape 1"/>
          <p:cNvSpPr/>
          <p:nvPr/>
        </p:nvSpPr>
        <p:spPr>
          <a:xfrm>
            <a:off x="0" y="0"/>
            <a:ext cx="12191695" cy="914400"/>
          </a:xfrm>
          <a:prstGeom prst="rect">
            <a:avLst/>
          </a:prstGeom>
          <a:solidFill>
            <a:srgbClr val="000000"/>
          </a:solidFill>
          <a:ln/>
        </p:spPr>
      </p:sp>
      <p:sp>
        <p:nvSpPr>
          <p:cNvPr id="4" name="Text 2"/>
          <p:cNvSpPr/>
          <p:nvPr/>
        </p:nvSpPr>
        <p:spPr>
          <a:xfrm>
            <a:off x="274320" y="292608"/>
            <a:ext cx="6858000" cy="365760"/>
          </a:xfrm>
          <a:prstGeom prst="rect">
            <a:avLst/>
          </a:prstGeom>
          <a:noFill/>
          <a:ln/>
        </p:spPr>
        <p:txBody>
          <a:bodyPr wrap="square" lIns="0" tIns="0" rIns="0" bIns="0" rtlCol="0" anchor="ctr"/>
          <a:lstStyle/>
          <a:p>
            <a:pPr algn="l" indent="0" marL="0">
              <a:buNone/>
            </a:pPr>
            <a:r>
              <a:rPr lang="en-US" sz="1200" b="1" dirty="0">
                <a:solidFill>
                  <a:srgbClr val="E6E5DE"/>
                </a:solidFill>
                <a:latin typeface="Calibri" pitchFamily="34" charset="0"/>
                <a:ea typeface="Calibri" pitchFamily="34" charset="-122"/>
                <a:cs typeface="Calibri" pitchFamily="34" charset="-120"/>
              </a:rPr>
              <a:t>THE OPPORTUNITY</a:t>
            </a:r>
            <a:endParaRPr lang="en-US" sz="1200" dirty="0"/>
          </a:p>
        </p:txBody>
      </p:sp>
      <p:sp>
        <p:nvSpPr>
          <p:cNvPr id="5" name="Text 3"/>
          <p:cNvSpPr/>
          <p:nvPr/>
        </p:nvSpPr>
        <p:spPr>
          <a:xfrm>
            <a:off x="8686800" y="292608"/>
            <a:ext cx="3200400" cy="365760"/>
          </a:xfrm>
          <a:prstGeom prst="rect">
            <a:avLst/>
          </a:prstGeom>
          <a:noFill/>
          <a:ln/>
        </p:spPr>
        <p:txBody>
          <a:bodyPr wrap="square" lIns="0" tIns="0" rIns="0" bIns="0" rtlCol="0" anchor="ctr"/>
          <a:lstStyle/>
          <a:p>
            <a:pPr algn="r" indent="0" marL="0">
              <a:buNone/>
            </a:pPr>
            <a:r>
              <a:rPr lang="en-US" sz="1200" b="1" dirty="0">
                <a:solidFill>
                  <a:srgbClr val="01A296"/>
                </a:solidFill>
                <a:latin typeface="Calibri" pitchFamily="34" charset="0"/>
                <a:ea typeface="Calibri" pitchFamily="34" charset="-122"/>
                <a:cs typeface="Calibri" pitchFamily="34" charset="-120"/>
              </a:rPr>
              <a:t>PROFITPULSE</a:t>
            </a:r>
            <a:endParaRPr lang="en-US" sz="1200" dirty="0"/>
          </a:p>
        </p:txBody>
      </p:sp>
      <p:sp>
        <p:nvSpPr>
          <p:cNvPr id="6" name="Text 4"/>
          <p:cNvSpPr/>
          <p:nvPr/>
        </p:nvSpPr>
        <p:spPr>
          <a:xfrm>
            <a:off x="274320" y="6446520"/>
            <a:ext cx="8229600" cy="274320"/>
          </a:xfrm>
          <a:prstGeom prst="rect">
            <a:avLst/>
          </a:prstGeom>
          <a:noFill/>
          <a:ln/>
        </p:spPr>
        <p:txBody>
          <a:bodyPr wrap="square" lIns="0" tIns="0" rIns="0" bIns="0" rtlCol="0" anchor="ctr"/>
          <a:lstStyle/>
          <a:p>
            <a:pPr algn="l" indent="0" marL="0">
              <a:buNone/>
            </a:pPr>
            <a:r>
              <a:rPr lang="en-US" sz="900" dirty="0">
                <a:solidFill>
                  <a:srgbClr val="000000"/>
                </a:solidFill>
                <a:latin typeface="Calibri" pitchFamily="34" charset="0"/>
                <a:ea typeface="Calibri" pitchFamily="34" charset="-122"/>
                <a:cs typeface="Calibri" pitchFamily="34" charset="-120"/>
              </a:rPr>
              <a:t>Prepared by Nitesh Roopa CA, Managing Partner and Founder, ProfitPulse, Profit-Pulse.com.au</a:t>
            </a:r>
            <a:endParaRPr lang="en-US" sz="900" dirty="0"/>
          </a:p>
        </p:txBody>
      </p:sp>
      <p:sp>
        <p:nvSpPr>
          <p:cNvPr id="7" name="Text 5"/>
          <p:cNvSpPr/>
          <p:nvPr/>
        </p:nvSpPr>
        <p:spPr>
          <a:xfrm>
            <a:off x="9144000" y="6446520"/>
            <a:ext cx="2743200" cy="274320"/>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31 Jul 2026</a:t>
            </a:r>
            <a:endParaRPr lang="en-US" sz="900" dirty="0"/>
          </a:p>
        </p:txBody>
      </p:sp>
      <p:sp>
        <p:nvSpPr>
          <p:cNvPr id="8" name="Text 6"/>
          <p:cNvSpPr/>
          <p:nvPr/>
        </p:nvSpPr>
        <p:spPr>
          <a:xfrm>
            <a:off x="320040" y="1042416"/>
            <a:ext cx="11338560" cy="365760"/>
          </a:xfrm>
          <a:prstGeom prst="rect">
            <a:avLst/>
          </a:prstGeom>
          <a:noFill/>
          <a:ln/>
        </p:spPr>
        <p:txBody>
          <a:bodyPr wrap="square" lIns="0" tIns="0" rIns="0" bIns="0" rtlCol="0" anchor="ctr"/>
          <a:lstStyle/>
          <a:p>
            <a:pPr algn="l" indent="0" marL="0">
              <a:buNone/>
            </a:pPr>
            <a:r>
              <a:rPr lang="en-US" sz="1900" b="1" dirty="0">
                <a:solidFill>
                  <a:srgbClr val="000000"/>
                </a:solidFill>
                <a:latin typeface="Cambria" pitchFamily="34" charset="0"/>
                <a:ea typeface="Cambria" pitchFamily="34" charset="-122"/>
                <a:cs typeface="Cambria" pitchFamily="34" charset="-120"/>
              </a:rPr>
              <a:t>Orbitkey. Three commercial observations from ProfitPulse.</a:t>
            </a:r>
            <a:endParaRPr lang="en-US" sz="1900" dirty="0"/>
          </a:p>
        </p:txBody>
      </p:sp>
      <p:sp>
        <p:nvSpPr>
          <p:cNvPr id="9" name="Shape 7"/>
          <p:cNvSpPr/>
          <p:nvPr/>
        </p:nvSpPr>
        <p:spPr>
          <a:xfrm>
            <a:off x="320040" y="1554480"/>
            <a:ext cx="3749040" cy="4206240"/>
          </a:xfrm>
          <a:prstGeom prst="rect">
            <a:avLst/>
          </a:prstGeom>
          <a:solidFill>
            <a:srgbClr val="01A296"/>
          </a:solidFill>
          <a:ln/>
        </p:spPr>
      </p:sp>
      <p:sp>
        <p:nvSpPr>
          <p:cNvPr id="10" name="Text 8"/>
          <p:cNvSpPr/>
          <p:nvPr/>
        </p:nvSpPr>
        <p:spPr>
          <a:xfrm>
            <a:off x="548640" y="1737360"/>
            <a:ext cx="3291840" cy="502920"/>
          </a:xfrm>
          <a:prstGeom prst="rect">
            <a:avLst/>
          </a:prstGeom>
          <a:noFill/>
          <a:ln/>
        </p:spPr>
        <p:txBody>
          <a:bodyPr wrap="square" lIns="0" tIns="0" rIns="0" bIns="0" rtlCol="0" anchor="ctr"/>
          <a:lstStyle/>
          <a:p>
            <a:pPr algn="l" indent="0" marL="0">
              <a:buNone/>
            </a:pPr>
            <a:r>
              <a:rPr lang="en-US" sz="3000" b="1" dirty="0">
                <a:solidFill>
                  <a:srgbClr val="000000"/>
                </a:solidFill>
                <a:latin typeface="Cambria" pitchFamily="34" charset="0"/>
                <a:ea typeface="Cambria" pitchFamily="34" charset="-122"/>
                <a:cs typeface="Cambria" pitchFamily="34" charset="-120"/>
              </a:rPr>
              <a:t>01</a:t>
            </a:r>
            <a:endParaRPr lang="en-US" sz="3000" dirty="0"/>
          </a:p>
        </p:txBody>
      </p:sp>
      <p:sp>
        <p:nvSpPr>
          <p:cNvPr id="11" name="Text 9"/>
          <p:cNvSpPr/>
          <p:nvPr/>
        </p:nvSpPr>
        <p:spPr>
          <a:xfrm>
            <a:off x="548640" y="2331720"/>
            <a:ext cx="3291840" cy="685800"/>
          </a:xfrm>
          <a:prstGeom prst="rect">
            <a:avLst/>
          </a:prstGeom>
          <a:noFill/>
          <a:ln/>
        </p:spPr>
        <p:txBody>
          <a:bodyPr wrap="square" lIns="0" tIns="0" rIns="0" bIns="0" rtlCol="0" anchor="t"/>
          <a:lstStyle/>
          <a:p>
            <a:pPr algn="l" indent="0" marL="0">
              <a:buNone/>
            </a:pPr>
            <a:r>
              <a:rPr lang="en-US" sz="1500" b="1" dirty="0">
                <a:solidFill>
                  <a:srgbClr val="000000"/>
                </a:solidFill>
                <a:latin typeface="Cambria" pitchFamily="34" charset="0"/>
                <a:ea typeface="Cambria" pitchFamily="34" charset="-122"/>
                <a:cs typeface="Cambria" pitchFamily="34" charset="-120"/>
              </a:rPr>
              <a:t>Stock now funds Orbitkey's growth</a:t>
            </a:r>
            <a:endParaRPr lang="en-US" sz="1500" dirty="0"/>
          </a:p>
        </p:txBody>
      </p:sp>
      <p:sp>
        <p:nvSpPr>
          <p:cNvPr id="12" name="Text 10"/>
          <p:cNvSpPr/>
          <p:nvPr/>
        </p:nvSpPr>
        <p:spPr>
          <a:xfrm>
            <a:off x="548640" y="3063240"/>
            <a:ext cx="3291840" cy="2514600"/>
          </a:xfrm>
          <a:prstGeom prst="rect">
            <a:avLst/>
          </a:prstGeom>
          <a:noFill/>
          <a:ln/>
        </p:spPr>
        <p:txBody>
          <a:bodyPr wrap="square" lIns="0" tIns="0" rIns="0" bIns="0" rtlCol="0" anchor="t"/>
          <a:lstStyle/>
          <a:p>
            <a:pPr algn="l" indent="0" marL="0">
              <a:lnSpc>
                <a:spcPct val="115000"/>
              </a:lnSpc>
              <a:buNone/>
            </a:pPr>
            <a:r>
              <a:rPr lang="en-US" sz="1050" dirty="0">
                <a:solidFill>
                  <a:srgbClr val="000000"/>
                </a:solidFill>
                <a:latin typeface="Calibri" pitchFamily="34" charset="0"/>
                <a:ea typeface="Calibri" pitchFamily="34" charset="-122"/>
                <a:cs typeface="Calibri" pitchFamily="34" charset="-120"/>
              </a:rPr>
              <a:t>Twenty percent average growth with zero external capital means inventory must be bought before wholesale partners or Kickstarter backers pay Orbitkey back. With around 3,000 retail partners plus direct ecommerce, cash timing matters as much as sales. A working capital review shows what releasing cash could fund next.</a:t>
            </a:r>
            <a:endParaRPr lang="en-US" sz="1050" dirty="0"/>
          </a:p>
        </p:txBody>
      </p:sp>
      <p:sp>
        <p:nvSpPr>
          <p:cNvPr id="13" name="Shape 11"/>
          <p:cNvSpPr/>
          <p:nvPr/>
        </p:nvSpPr>
        <p:spPr>
          <a:xfrm>
            <a:off x="4206240" y="1554480"/>
            <a:ext cx="3749040" cy="4206240"/>
          </a:xfrm>
          <a:prstGeom prst="rect">
            <a:avLst/>
          </a:prstGeom>
          <a:solidFill>
            <a:srgbClr val="000000"/>
          </a:solidFill>
          <a:ln/>
        </p:spPr>
      </p:sp>
      <p:sp>
        <p:nvSpPr>
          <p:cNvPr id="14" name="Text 12"/>
          <p:cNvSpPr/>
          <p:nvPr/>
        </p:nvSpPr>
        <p:spPr>
          <a:xfrm>
            <a:off x="4434840" y="1737360"/>
            <a:ext cx="3291840" cy="502920"/>
          </a:xfrm>
          <a:prstGeom prst="rect">
            <a:avLst/>
          </a:prstGeom>
          <a:noFill/>
          <a:ln/>
        </p:spPr>
        <p:txBody>
          <a:bodyPr wrap="square" lIns="0" tIns="0" rIns="0" bIns="0" rtlCol="0" anchor="ctr"/>
          <a:lstStyle/>
          <a:p>
            <a:pPr algn="l" indent="0" marL="0">
              <a:buNone/>
            </a:pPr>
            <a:r>
              <a:rPr lang="en-US" sz="3000" b="1" dirty="0">
                <a:solidFill>
                  <a:srgbClr val="E6E5DE"/>
                </a:solidFill>
                <a:latin typeface="Cambria" pitchFamily="34" charset="0"/>
                <a:ea typeface="Cambria" pitchFamily="34" charset="-122"/>
                <a:cs typeface="Cambria" pitchFamily="34" charset="-120"/>
              </a:rPr>
              <a:t>02</a:t>
            </a:r>
            <a:endParaRPr lang="en-US" sz="3000" dirty="0"/>
          </a:p>
        </p:txBody>
      </p:sp>
      <p:sp>
        <p:nvSpPr>
          <p:cNvPr id="15" name="Text 13"/>
          <p:cNvSpPr/>
          <p:nvPr/>
        </p:nvSpPr>
        <p:spPr>
          <a:xfrm>
            <a:off x="4434840" y="2331720"/>
            <a:ext cx="3291840" cy="685800"/>
          </a:xfrm>
          <a:prstGeom prst="rect">
            <a:avLst/>
          </a:prstGeom>
          <a:noFill/>
          <a:ln/>
        </p:spPr>
        <p:txBody>
          <a:bodyPr wrap="square" lIns="0" tIns="0" rIns="0" bIns="0" rtlCol="0" anchor="t"/>
          <a:lstStyle/>
          <a:p>
            <a:pPr algn="l" indent="0" marL="0">
              <a:buNone/>
            </a:pPr>
            <a:r>
              <a:rPr lang="en-US" sz="1500" b="1" dirty="0">
                <a:solidFill>
                  <a:srgbClr val="E6E5DE"/>
                </a:solidFill>
                <a:latin typeface="Cambria" pitchFamily="34" charset="0"/>
                <a:ea typeface="Cambria" pitchFamily="34" charset="-122"/>
                <a:cs typeface="Cambria" pitchFamily="34" charset="-120"/>
              </a:rPr>
              <a:t>The channel mix is getting harder to read</a:t>
            </a:r>
            <a:endParaRPr lang="en-US" sz="1500" dirty="0"/>
          </a:p>
        </p:txBody>
      </p:sp>
      <p:sp>
        <p:nvSpPr>
          <p:cNvPr id="16" name="Text 14"/>
          <p:cNvSpPr/>
          <p:nvPr/>
        </p:nvSpPr>
        <p:spPr>
          <a:xfrm>
            <a:off x="4434840" y="3063240"/>
            <a:ext cx="3291840" cy="2514600"/>
          </a:xfrm>
          <a:prstGeom prst="rect">
            <a:avLst/>
          </a:prstGeom>
          <a:noFill/>
          <a:ln/>
        </p:spPr>
        <p:txBody>
          <a:bodyPr wrap="square" lIns="0" tIns="0" rIns="0" bIns="0" rtlCol="0" anchor="t"/>
          <a:lstStyle/>
          <a:p>
            <a:pPr algn="l" indent="0" marL="0">
              <a:lnSpc>
                <a:spcPct val="115000"/>
              </a:lnSpc>
              <a:buNone/>
            </a:pPr>
            <a:r>
              <a:rPr lang="en-US" sz="1050" dirty="0">
                <a:solidFill>
                  <a:srgbClr val="E6E5DE"/>
                </a:solidFill>
                <a:latin typeface="Calibri" pitchFamily="34" charset="0"/>
                <a:ea typeface="Calibri" pitchFamily="34" charset="-122"/>
                <a:cs typeface="Calibri" pitchFamily="34" charset="-120"/>
              </a:rPr>
              <a:t>Orbitkey sells through direct ecommerce, around 3,000 wholesale partners, and periodic Kickstarter launches, three channels with different margins and cost to serve. As the wholesale network keeps growing internationally, not every channel is contributing equally once freight and 3PL terms are allocated properly.</a:t>
            </a:r>
            <a:endParaRPr lang="en-US" sz="1050" dirty="0"/>
          </a:p>
        </p:txBody>
      </p:sp>
      <p:sp>
        <p:nvSpPr>
          <p:cNvPr id="17" name="Shape 15"/>
          <p:cNvSpPr/>
          <p:nvPr/>
        </p:nvSpPr>
        <p:spPr>
          <a:xfrm>
            <a:off x="8092440" y="1554480"/>
            <a:ext cx="3749040" cy="4206240"/>
          </a:xfrm>
          <a:prstGeom prst="rect">
            <a:avLst/>
          </a:prstGeom>
          <a:solidFill>
            <a:srgbClr val="E3A712"/>
          </a:solidFill>
          <a:ln/>
        </p:spPr>
      </p:sp>
      <p:sp>
        <p:nvSpPr>
          <p:cNvPr id="18" name="Text 16"/>
          <p:cNvSpPr/>
          <p:nvPr/>
        </p:nvSpPr>
        <p:spPr>
          <a:xfrm>
            <a:off x="8321040" y="1737360"/>
            <a:ext cx="3291840" cy="502920"/>
          </a:xfrm>
          <a:prstGeom prst="rect">
            <a:avLst/>
          </a:prstGeom>
          <a:noFill/>
          <a:ln/>
        </p:spPr>
        <p:txBody>
          <a:bodyPr wrap="square" lIns="0" tIns="0" rIns="0" bIns="0" rtlCol="0" anchor="ctr"/>
          <a:lstStyle/>
          <a:p>
            <a:pPr algn="l" indent="0" marL="0">
              <a:buNone/>
            </a:pPr>
            <a:r>
              <a:rPr lang="en-US" sz="3000" b="1" dirty="0">
                <a:solidFill>
                  <a:srgbClr val="000000"/>
                </a:solidFill>
                <a:latin typeface="Cambria" pitchFamily="34" charset="0"/>
                <a:ea typeface="Cambria" pitchFamily="34" charset="-122"/>
                <a:cs typeface="Cambria" pitchFamily="34" charset="-120"/>
              </a:rPr>
              <a:t>03</a:t>
            </a:r>
            <a:endParaRPr lang="en-US" sz="3000" dirty="0"/>
          </a:p>
        </p:txBody>
      </p:sp>
      <p:sp>
        <p:nvSpPr>
          <p:cNvPr id="19" name="Text 17"/>
          <p:cNvSpPr/>
          <p:nvPr/>
        </p:nvSpPr>
        <p:spPr>
          <a:xfrm>
            <a:off x="8321040" y="2331720"/>
            <a:ext cx="3291840" cy="685800"/>
          </a:xfrm>
          <a:prstGeom prst="rect">
            <a:avLst/>
          </a:prstGeom>
          <a:noFill/>
          <a:ln/>
        </p:spPr>
        <p:txBody>
          <a:bodyPr wrap="square" lIns="0" tIns="0" rIns="0" bIns="0" rtlCol="0" anchor="t"/>
          <a:lstStyle/>
          <a:p>
            <a:pPr algn="l" indent="0" marL="0">
              <a:buNone/>
            </a:pPr>
            <a:r>
              <a:rPr lang="en-US" sz="1500" b="1" dirty="0">
                <a:solidFill>
                  <a:srgbClr val="000000"/>
                </a:solidFill>
                <a:latin typeface="Cambria" pitchFamily="34" charset="0"/>
                <a:ea typeface="Cambria" pitchFamily="34" charset="-122"/>
                <a:cs typeface="Cambria" pitchFamily="34" charset="-120"/>
              </a:rPr>
              <a:t>Recognition is outrunning reporting</a:t>
            </a:r>
            <a:endParaRPr lang="en-US" sz="1500" dirty="0"/>
          </a:p>
        </p:txBody>
      </p:sp>
      <p:sp>
        <p:nvSpPr>
          <p:cNvPr id="20" name="Text 18"/>
          <p:cNvSpPr/>
          <p:nvPr/>
        </p:nvSpPr>
        <p:spPr>
          <a:xfrm>
            <a:off x="8321040" y="3063240"/>
            <a:ext cx="3291840" cy="2514600"/>
          </a:xfrm>
          <a:prstGeom prst="rect">
            <a:avLst/>
          </a:prstGeom>
          <a:noFill/>
          <a:ln/>
        </p:spPr>
        <p:txBody>
          <a:bodyPr wrap="square" lIns="0" tIns="0" rIns="0" bIns="0" rtlCol="0" anchor="t"/>
          <a:lstStyle/>
          <a:p>
            <a:pPr algn="l" indent="0" marL="0">
              <a:lnSpc>
                <a:spcPct val="115000"/>
              </a:lnSpc>
              <a:buNone/>
            </a:pPr>
            <a:r>
              <a:rPr lang="en-US" sz="1050" dirty="0">
                <a:solidFill>
                  <a:srgbClr val="000000"/>
                </a:solidFill>
                <a:latin typeface="Calibri" pitchFamily="34" charset="0"/>
                <a:ea typeface="Calibri" pitchFamily="34" charset="-122"/>
                <a:cs typeface="Calibri" pitchFamily="34" charset="-120"/>
              </a:rPr>
              <a:t>A B Corp certification, a national Export Award, and a Smart50 ranking in one year put Orbitkey in front of partners and future capital sources expecting board grade numbers on request. Staying self funded is a real strength, but it still benefits from the same monthly rhythm investor backed rivals must run.</a:t>
            </a:r>
            <a:endParaRPr lang="en-US" sz="1050" dirty="0"/>
          </a:p>
        </p:txBody>
      </p:sp>
      <p:sp>
        <p:nvSpPr>
          <p:cNvPr id="21" name="Text 19"/>
          <p:cNvSpPr/>
          <p:nvPr/>
        </p:nvSpPr>
        <p:spPr>
          <a:xfrm>
            <a:off x="320040" y="5870448"/>
            <a:ext cx="11338560" cy="457200"/>
          </a:xfrm>
          <a:prstGeom prst="rect">
            <a:avLst/>
          </a:prstGeom>
          <a:noFill/>
          <a:ln/>
        </p:spPr>
        <p:txBody>
          <a:bodyPr wrap="square" lIns="0" tIns="0" rIns="0" bIns="0" rtlCol="0" anchor="ctr"/>
          <a:lstStyle/>
          <a:p>
            <a:pPr algn="l" indent="0" marL="0">
              <a:buNone/>
            </a:pPr>
            <a:r>
              <a:rPr lang="en-US" sz="1050" i="1" dirty="0">
                <a:solidFill>
                  <a:srgbClr val="000000"/>
                </a:solidFill>
                <a:latin typeface="Calibri" pitchFamily="34" charset="0"/>
                <a:ea typeface="Calibri" pitchFamily="34" charset="-122"/>
                <a:cs typeface="Calibri" pitchFamily="34" charset="-120"/>
              </a:rPr>
              <a:t>These observations are offered in good faith. Orbitkey has built something impressive without taking a dollar of outside capital. The question is simply whether the financial architecture keeps pace with the ambition.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F8C806"/>
          </a:solidFill>
          <a:ln/>
        </p:spPr>
      </p:sp>
      <p:sp>
        <p:nvSpPr>
          <p:cNvPr id="3" name="Shape 1"/>
          <p:cNvSpPr/>
          <p:nvPr/>
        </p:nvSpPr>
        <p:spPr>
          <a:xfrm>
            <a:off x="0" y="0"/>
            <a:ext cx="12191695" cy="914400"/>
          </a:xfrm>
          <a:prstGeom prst="rect">
            <a:avLst/>
          </a:prstGeom>
          <a:solidFill>
            <a:srgbClr val="000000"/>
          </a:solidFill>
          <a:ln/>
        </p:spPr>
      </p:sp>
      <p:sp>
        <p:nvSpPr>
          <p:cNvPr id="4" name="Text 2"/>
          <p:cNvSpPr/>
          <p:nvPr/>
        </p:nvSpPr>
        <p:spPr>
          <a:xfrm>
            <a:off x="274320" y="292608"/>
            <a:ext cx="6858000" cy="365760"/>
          </a:xfrm>
          <a:prstGeom prst="rect">
            <a:avLst/>
          </a:prstGeom>
          <a:noFill/>
          <a:ln/>
        </p:spPr>
        <p:txBody>
          <a:bodyPr wrap="square" lIns="0" tIns="0" rIns="0" bIns="0" rtlCol="0" anchor="ctr"/>
          <a:lstStyle/>
          <a:p>
            <a:pPr algn="l" indent="0" marL="0">
              <a:buNone/>
            </a:pPr>
            <a:r>
              <a:rPr lang="en-US" sz="1200" b="1" dirty="0">
                <a:solidFill>
                  <a:srgbClr val="E6E5DE"/>
                </a:solidFill>
                <a:latin typeface="Calibri" pitchFamily="34" charset="0"/>
                <a:ea typeface="Calibri" pitchFamily="34" charset="-122"/>
                <a:cs typeface="Calibri" pitchFamily="34" charset="-120"/>
              </a:rPr>
              <a:t>THE RECOMMENDATION</a:t>
            </a:r>
            <a:endParaRPr lang="en-US" sz="1200" dirty="0"/>
          </a:p>
        </p:txBody>
      </p:sp>
      <p:sp>
        <p:nvSpPr>
          <p:cNvPr id="5" name="Text 3"/>
          <p:cNvSpPr/>
          <p:nvPr/>
        </p:nvSpPr>
        <p:spPr>
          <a:xfrm>
            <a:off x="8686800" y="292608"/>
            <a:ext cx="3200400" cy="365760"/>
          </a:xfrm>
          <a:prstGeom prst="rect">
            <a:avLst/>
          </a:prstGeom>
          <a:noFill/>
          <a:ln/>
        </p:spPr>
        <p:txBody>
          <a:bodyPr wrap="square" lIns="0" tIns="0" rIns="0" bIns="0" rtlCol="0" anchor="ctr"/>
          <a:lstStyle/>
          <a:p>
            <a:pPr algn="r" indent="0" marL="0">
              <a:buNone/>
            </a:pPr>
            <a:r>
              <a:rPr lang="en-US" sz="1200" b="1" dirty="0">
                <a:solidFill>
                  <a:srgbClr val="01A296"/>
                </a:solidFill>
                <a:latin typeface="Calibri" pitchFamily="34" charset="0"/>
                <a:ea typeface="Calibri" pitchFamily="34" charset="-122"/>
                <a:cs typeface="Calibri" pitchFamily="34" charset="-120"/>
              </a:rPr>
              <a:t>PROFITPULSE</a:t>
            </a:r>
            <a:endParaRPr lang="en-US" sz="1200" dirty="0"/>
          </a:p>
        </p:txBody>
      </p:sp>
      <p:sp>
        <p:nvSpPr>
          <p:cNvPr id="6" name="Text 4"/>
          <p:cNvSpPr/>
          <p:nvPr/>
        </p:nvSpPr>
        <p:spPr>
          <a:xfrm>
            <a:off x="274320" y="6446520"/>
            <a:ext cx="8229600" cy="274320"/>
          </a:xfrm>
          <a:prstGeom prst="rect">
            <a:avLst/>
          </a:prstGeom>
          <a:noFill/>
          <a:ln/>
        </p:spPr>
        <p:txBody>
          <a:bodyPr wrap="square" lIns="0" tIns="0" rIns="0" bIns="0" rtlCol="0" anchor="ctr"/>
          <a:lstStyle/>
          <a:p>
            <a:pPr algn="l" indent="0" marL="0">
              <a:buNone/>
            </a:pPr>
            <a:r>
              <a:rPr lang="en-US" sz="900" dirty="0">
                <a:solidFill>
                  <a:srgbClr val="000000"/>
                </a:solidFill>
                <a:latin typeface="Calibri" pitchFamily="34" charset="0"/>
                <a:ea typeface="Calibri" pitchFamily="34" charset="-122"/>
                <a:cs typeface="Calibri" pitchFamily="34" charset="-120"/>
              </a:rPr>
              <a:t>Prepared by Nitesh Roopa CA, Managing Partner and Founder, ProfitPulse, Profit-Pulse.com.au</a:t>
            </a:r>
            <a:endParaRPr lang="en-US" sz="900" dirty="0"/>
          </a:p>
        </p:txBody>
      </p:sp>
      <p:sp>
        <p:nvSpPr>
          <p:cNvPr id="7" name="Text 5"/>
          <p:cNvSpPr/>
          <p:nvPr/>
        </p:nvSpPr>
        <p:spPr>
          <a:xfrm>
            <a:off x="9144000" y="6446520"/>
            <a:ext cx="2743200" cy="274320"/>
          </a:xfrm>
          <a:prstGeom prst="rect">
            <a:avLst/>
          </a:prstGeom>
          <a:noFill/>
          <a:ln/>
        </p:spPr>
        <p:txBody>
          <a:bodyPr wrap="square" lIns="0" tIns="0" rIns="0" bIns="0" rtlCol="0" anchor="ctr"/>
          <a:lstStyle/>
          <a:p>
            <a:pPr algn="r" indent="0" marL="0">
              <a:buNone/>
            </a:pPr>
            <a:r>
              <a:rPr lang="en-US" sz="900" dirty="0">
                <a:solidFill>
                  <a:srgbClr val="000000"/>
                </a:solidFill>
                <a:latin typeface="Calibri" pitchFamily="34" charset="0"/>
                <a:ea typeface="Calibri" pitchFamily="34" charset="-122"/>
                <a:cs typeface="Calibri" pitchFamily="34" charset="-120"/>
              </a:rPr>
              <a:t>31 Jul 2026</a:t>
            </a:r>
            <a:endParaRPr lang="en-US" sz="900" dirty="0"/>
          </a:p>
        </p:txBody>
      </p:sp>
      <p:sp>
        <p:nvSpPr>
          <p:cNvPr id="8" name="Text 6"/>
          <p:cNvSpPr/>
          <p:nvPr/>
        </p:nvSpPr>
        <p:spPr>
          <a:xfrm>
            <a:off x="320040" y="1051560"/>
            <a:ext cx="6995160" cy="457200"/>
          </a:xfrm>
          <a:prstGeom prst="rect">
            <a:avLst/>
          </a:prstGeom>
          <a:noFill/>
          <a:ln/>
        </p:spPr>
        <p:txBody>
          <a:bodyPr wrap="square" lIns="0" tIns="0" rIns="0" bIns="0" rtlCol="0" anchor="ctr"/>
          <a:lstStyle/>
          <a:p>
            <a:pPr algn="l" indent="0" marL="0">
              <a:buNone/>
            </a:pPr>
            <a:r>
              <a:rPr lang="en-US" sz="2600" b="1" dirty="0">
                <a:solidFill>
                  <a:srgbClr val="000000"/>
                </a:solidFill>
                <a:latin typeface="Cambria" pitchFamily="34" charset="0"/>
                <a:ea typeface="Cambria" pitchFamily="34" charset="-122"/>
                <a:cs typeface="Cambria" pitchFamily="34" charset="-120"/>
              </a:rPr>
              <a:t>Working Capital Unlock</a:t>
            </a:r>
            <a:endParaRPr lang="en-US" sz="2600" dirty="0"/>
          </a:p>
        </p:txBody>
      </p:sp>
      <p:sp>
        <p:nvSpPr>
          <p:cNvPr id="9" name="Text 7"/>
          <p:cNvSpPr/>
          <p:nvPr/>
        </p:nvSpPr>
        <p:spPr>
          <a:xfrm>
            <a:off x="320040" y="1508760"/>
            <a:ext cx="6995160" cy="365760"/>
          </a:xfrm>
          <a:prstGeom prst="rect">
            <a:avLst/>
          </a:prstGeom>
          <a:noFill/>
          <a:ln/>
        </p:spPr>
        <p:txBody>
          <a:bodyPr wrap="square" lIns="0" tIns="0" rIns="0" bIns="0" rtlCol="0" anchor="ctr"/>
          <a:lstStyle/>
          <a:p>
            <a:pPr algn="l" indent="0" marL="0">
              <a:buNone/>
            </a:pPr>
            <a:r>
              <a:rPr lang="en-US" sz="1800" b="1" dirty="0">
                <a:solidFill>
                  <a:srgbClr val="F6A102"/>
                </a:solidFill>
                <a:latin typeface="Calibri" pitchFamily="34" charset="0"/>
                <a:ea typeface="Calibri" pitchFamily="34" charset="-122"/>
                <a:cs typeface="Calibri" pitchFamily="34" charset="-120"/>
              </a:rPr>
              <a:t>$6,000 one off</a:t>
            </a:r>
            <a:endParaRPr lang="en-US" sz="1800" dirty="0"/>
          </a:p>
        </p:txBody>
      </p:sp>
      <p:sp>
        <p:nvSpPr>
          <p:cNvPr id="10" name="Text 8"/>
          <p:cNvSpPr/>
          <p:nvPr/>
        </p:nvSpPr>
        <p:spPr>
          <a:xfrm>
            <a:off x="320040" y="1938528"/>
            <a:ext cx="6995160" cy="502920"/>
          </a:xfrm>
          <a:prstGeom prst="rect">
            <a:avLst/>
          </a:prstGeom>
          <a:noFill/>
          <a:ln/>
        </p:spPr>
        <p:txBody>
          <a:bodyPr wrap="square" lIns="0" tIns="0" rIns="0" bIns="0" rtlCol="0" anchor="t"/>
          <a:lstStyle/>
          <a:p>
            <a:pPr algn="l" indent="0" marL="0">
              <a:buNone/>
            </a:pPr>
            <a:r>
              <a:rPr lang="en-US" sz="1200" dirty="0">
                <a:solidFill>
                  <a:srgbClr val="000000"/>
                </a:solidFill>
                <a:latin typeface="Calibri" pitchFamily="34" charset="0"/>
                <a:ea typeface="Calibri" pitchFamily="34" charset="-122"/>
                <a:cs typeface="Calibri" pitchFamily="34" charset="-120"/>
              </a:rPr>
              <a:t>A four week project mapping cash trapped in stock, debtors, and supplier terms across five global warehouses, with a prioritised, quantified action list to release it.</a:t>
            </a:r>
            <a:endParaRPr lang="en-US" sz="1200" dirty="0"/>
          </a:p>
        </p:txBody>
      </p:sp>
      <p:sp>
        <p:nvSpPr>
          <p:cNvPr id="11" name="Shape 9"/>
          <p:cNvSpPr/>
          <p:nvPr/>
        </p:nvSpPr>
        <p:spPr>
          <a:xfrm>
            <a:off x="320040" y="2606040"/>
            <a:ext cx="6995160" cy="1234440"/>
          </a:xfrm>
          <a:prstGeom prst="rect">
            <a:avLst/>
          </a:prstGeom>
          <a:solidFill>
            <a:srgbClr val="E6E5DE"/>
          </a:solidFill>
          <a:ln/>
        </p:spPr>
      </p:sp>
      <p:sp>
        <p:nvSpPr>
          <p:cNvPr id="12" name="Text 10"/>
          <p:cNvSpPr/>
          <p:nvPr/>
        </p:nvSpPr>
        <p:spPr>
          <a:xfrm>
            <a:off x="502920" y="2724912"/>
            <a:ext cx="6629400" cy="320040"/>
          </a:xfrm>
          <a:prstGeom prst="rect">
            <a:avLst/>
          </a:prstGeom>
          <a:noFill/>
          <a:ln/>
        </p:spPr>
        <p:txBody>
          <a:bodyPr wrap="square" lIns="0" tIns="0" rIns="0" bIns="0" rtlCol="0" anchor="ctr"/>
          <a:lstStyle/>
          <a:p>
            <a:pPr algn="l" indent="0" marL="0">
              <a:buNone/>
            </a:pPr>
            <a:r>
              <a:rPr lang="en-US" sz="1300" b="1" dirty="0">
                <a:solidFill>
                  <a:srgbClr val="000000"/>
                </a:solidFill>
                <a:latin typeface="Calibri" pitchFamily="34" charset="0"/>
                <a:ea typeface="Calibri" pitchFamily="34" charset="-122"/>
                <a:cs typeface="Calibri" pitchFamily="34" charset="-120"/>
              </a:rPr>
              <a:t>Step one, answer a few quick questions</a:t>
            </a:r>
            <a:endParaRPr lang="en-US" sz="1300" dirty="0"/>
          </a:p>
        </p:txBody>
      </p:sp>
      <p:sp>
        <p:nvSpPr>
          <p:cNvPr id="13" name="Text 11"/>
          <p:cNvSpPr/>
          <p:nvPr/>
        </p:nvSpPr>
        <p:spPr>
          <a:xfrm>
            <a:off x="502920" y="3035808"/>
            <a:ext cx="6629400" cy="292608"/>
          </a:xfrm>
          <a:prstGeom prst="rect">
            <a:avLst/>
          </a:prstGeom>
          <a:noFill/>
          <a:ln/>
        </p:spPr>
        <p:txBody>
          <a:bodyPr wrap="square" lIns="0" tIns="0" rIns="0" bIns="0" rtlCol="0" anchor="ctr"/>
          <a:lstStyle/>
          <a:p>
            <a:pPr algn="l" indent="0" marL="0">
              <a:buNone/>
            </a:pPr>
            <a:r>
              <a:rPr lang="en-US" sz="1150" dirty="0">
                <a:solidFill>
                  <a:srgbClr val="000000"/>
                </a:solidFill>
                <a:latin typeface="Calibri" pitchFamily="34" charset="0"/>
                <a:ea typeface="Calibri" pitchFamily="34" charset="-122"/>
                <a:cs typeface="Calibri" pitchFamily="34" charset="-120"/>
              </a:rPr>
              <a:t>See the solutions matched to your size and industry.</a:t>
            </a:r>
            <a:endParaRPr lang="en-US" sz="1150" dirty="0"/>
          </a:p>
        </p:txBody>
      </p:sp>
      <p:sp>
        <p:nvSpPr>
          <p:cNvPr id="14" name="Text 12">
            <a:hlinkClick r:id="rId1" tooltip=""/>
          </p:cNvPr>
          <p:cNvSpPr/>
          <p:nvPr/>
        </p:nvSpPr>
        <p:spPr>
          <a:xfrm>
            <a:off x="502920" y="3346704"/>
            <a:ext cx="6629400" cy="365760"/>
          </a:xfrm>
          <a:prstGeom prst="rect">
            <a:avLst/>
          </a:prstGeom>
          <a:noFill/>
          <a:ln/>
        </p:spPr>
        <p:txBody>
          <a:bodyPr wrap="square" lIns="0" tIns="0" rIns="0" bIns="0" rtlCol="0" anchor="ctr"/>
          <a:lstStyle/>
          <a:p>
            <a:pPr algn="l" indent="0" marL="0">
              <a:buNone/>
            </a:pPr>
            <a:r>
              <a:rPr lang="en-US" sz="1300" b="1" u="sng" dirty="0">
                <a:solidFill>
                  <a:srgbClr val="01A29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profit-pulse.com.au/services/find-your-fit</a:t>
            </a:r>
            <a:endParaRPr lang="en-US" sz="1300" dirty="0"/>
          </a:p>
        </p:txBody>
      </p:sp>
      <p:sp>
        <p:nvSpPr>
          <p:cNvPr id="15" name="Shape 13"/>
          <p:cNvSpPr/>
          <p:nvPr/>
        </p:nvSpPr>
        <p:spPr>
          <a:xfrm>
            <a:off x="320040" y="4023360"/>
            <a:ext cx="6995160" cy="502920"/>
          </a:xfrm>
          <a:prstGeom prst="roundRect">
            <a:avLst>
              <a:gd name="adj" fmla="val 18182"/>
            </a:avLst>
          </a:prstGeom>
          <a:solidFill>
            <a:srgbClr val="F6A102"/>
          </a:solidFill>
          <a:ln/>
        </p:spPr>
      </p:sp>
      <p:sp>
        <p:nvSpPr>
          <p:cNvPr id="16" name="Text 14">
            <a:hlinkClick r:id="rId2" tooltip=""/>
          </p:cNvPr>
          <p:cNvSpPr/>
          <p:nvPr/>
        </p:nvSpPr>
        <p:spPr>
          <a:xfrm>
            <a:off x="320040" y="4023360"/>
            <a:ext cx="6995160" cy="502920"/>
          </a:xfrm>
          <a:prstGeom prst="rect">
            <a:avLst/>
          </a:prstGeom>
          <a:noFill/>
          <a:ln/>
        </p:spPr>
        <p:txBody>
          <a:bodyPr wrap="none" lIns="0" tIns="0" rIns="0" bIns="0" rtlCol="0" anchor="ctr"/>
          <a:lstStyle/>
          <a:p>
            <a:pPr algn="ctr" indent="0" marL="0">
              <a:buNone/>
            </a:pPr>
            <a:r>
              <a:rPr lang="en-US" sz="1300" b="1" u="sng" dirty="0">
                <a:solidFill>
                  <a:srgbClr val="00000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Purchase the suggested product now to get started</a:t>
            </a:r>
            <a:endParaRPr lang="en-US" sz="1300" dirty="0"/>
          </a:p>
        </p:txBody>
      </p:sp>
      <p:sp>
        <p:nvSpPr>
          <p:cNvPr id="17" name="Text 15"/>
          <p:cNvSpPr/>
          <p:nvPr/>
        </p:nvSpPr>
        <p:spPr>
          <a:xfrm>
            <a:off x="320040" y="4754880"/>
            <a:ext cx="6995160" cy="292608"/>
          </a:xfrm>
          <a:prstGeom prst="rect">
            <a:avLst/>
          </a:prstGeom>
          <a:noFill/>
          <a:ln/>
        </p:spPr>
        <p:txBody>
          <a:bodyPr wrap="square" lIns="0" tIns="0" rIns="0" bIns="0" rtlCol="0" anchor="ctr"/>
          <a:lstStyle/>
          <a:p>
            <a:pPr algn="l" indent="0" marL="0">
              <a:buNone/>
            </a:pPr>
            <a:r>
              <a:rPr lang="en-US" sz="1200" dirty="0">
                <a:solidFill>
                  <a:srgbClr val="000000"/>
                </a:solidFill>
                <a:latin typeface="Calibri" pitchFamily="34" charset="0"/>
                <a:ea typeface="Calibri" pitchFamily="34" charset="-122"/>
                <a:cs typeface="Calibri" pitchFamily="34" charset="-120"/>
              </a:rPr>
              <a:t>Prefer a conversation first?</a:t>
            </a:r>
            <a:endParaRPr lang="en-US" sz="1200" dirty="0"/>
          </a:p>
        </p:txBody>
      </p:sp>
      <p:sp>
        <p:nvSpPr>
          <p:cNvPr id="18" name="Text 16">
            <a:hlinkClick r:id="rId3" tooltip=""/>
          </p:cNvPr>
          <p:cNvSpPr/>
          <p:nvPr/>
        </p:nvSpPr>
        <p:spPr>
          <a:xfrm>
            <a:off x="320040" y="5047488"/>
            <a:ext cx="6995160" cy="320040"/>
          </a:xfrm>
          <a:prstGeom prst="rect">
            <a:avLst/>
          </a:prstGeom>
          <a:noFill/>
          <a:ln/>
        </p:spPr>
        <p:txBody>
          <a:bodyPr wrap="square" lIns="0" tIns="0" rIns="0" bIns="0" rtlCol="0" anchor="ctr"/>
          <a:lstStyle/>
          <a:p>
            <a:pPr algn="l" indent="0" marL="0">
              <a:buNone/>
            </a:pPr>
            <a:r>
              <a:rPr lang="en-US" sz="1250" b="1" u="sng" dirty="0">
                <a:solidFill>
                  <a:srgbClr val="01A29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Book a complimentary discovery call</a:t>
            </a:r>
            <a:endParaRPr lang="en-US" sz="1250" dirty="0"/>
          </a:p>
        </p:txBody>
      </p:sp>
      <p:sp>
        <p:nvSpPr>
          <p:cNvPr id="19" name="Shape 17"/>
          <p:cNvSpPr/>
          <p:nvPr/>
        </p:nvSpPr>
        <p:spPr>
          <a:xfrm>
            <a:off x="7635240" y="1051560"/>
            <a:ext cx="4206240" cy="5120640"/>
          </a:xfrm>
          <a:prstGeom prst="rect">
            <a:avLst/>
          </a:prstGeom>
          <a:solidFill>
            <a:srgbClr val="000000"/>
          </a:solidFill>
          <a:ln/>
        </p:spPr>
      </p:sp>
      <p:sp>
        <p:nvSpPr>
          <p:cNvPr id="20" name="Text 18"/>
          <p:cNvSpPr/>
          <p:nvPr/>
        </p:nvSpPr>
        <p:spPr>
          <a:xfrm>
            <a:off x="7863840" y="1207008"/>
            <a:ext cx="3749040" cy="384048"/>
          </a:xfrm>
          <a:prstGeom prst="rect">
            <a:avLst/>
          </a:prstGeom>
          <a:noFill/>
          <a:ln/>
        </p:spPr>
        <p:txBody>
          <a:bodyPr wrap="square" lIns="0" tIns="0" rIns="0" bIns="0" rtlCol="0" anchor="ctr"/>
          <a:lstStyle/>
          <a:p>
            <a:pPr algn="l" indent="0" marL="0">
              <a:buNone/>
            </a:pPr>
            <a:r>
              <a:rPr lang="en-US" sz="1700" b="1" dirty="0">
                <a:solidFill>
                  <a:srgbClr val="F8C806"/>
                </a:solidFill>
                <a:latin typeface="Cambria" pitchFamily="34" charset="0"/>
                <a:ea typeface="Cambria" pitchFamily="34" charset="-122"/>
                <a:cs typeface="Cambria" pitchFamily="34" charset="-120"/>
              </a:rPr>
              <a:t>NITESH ROOPA</a:t>
            </a:r>
            <a:endParaRPr lang="en-US" sz="1700" dirty="0"/>
          </a:p>
        </p:txBody>
      </p:sp>
      <p:sp>
        <p:nvSpPr>
          <p:cNvPr id="21" name="Text 19"/>
          <p:cNvSpPr/>
          <p:nvPr/>
        </p:nvSpPr>
        <p:spPr>
          <a:xfrm>
            <a:off x="7863840" y="1600200"/>
            <a:ext cx="3749040" cy="3200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CA, Managing Partner, ProfitPulse</a:t>
            </a:r>
            <a:endParaRPr lang="en-US" sz="1200" dirty="0"/>
          </a:p>
        </p:txBody>
      </p:sp>
      <p:sp>
        <p:nvSpPr>
          <p:cNvPr id="22" name="Text 20"/>
          <p:cNvSpPr/>
          <p:nvPr/>
        </p:nvSpPr>
        <p:spPr>
          <a:xfrm>
            <a:off x="7863840" y="2057400"/>
            <a:ext cx="3749040" cy="155448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E6E5DE"/>
                </a:solidFill>
                <a:latin typeface="Calibri" pitchFamily="34" charset="0"/>
                <a:ea typeface="Calibri" pitchFamily="34" charset="-122"/>
                <a:cs typeface="Calibri" pitchFamily="34" charset="-120"/>
              </a:rPr>
              <a:t>16 years across 4 countries</a:t>
            </a:r>
            <a:endParaRPr lang="en-US" sz="1050" dirty="0"/>
          </a:p>
          <a:p>
            <a:pPr marL="342900" indent="-342900">
              <a:spcAft>
                <a:spcPts val="800"/>
              </a:spcAft>
              <a:buSzPct val="100000"/>
              <a:buChar char="•"/>
            </a:pPr>
            <a:r>
              <a:rPr lang="en-US" sz="1050" dirty="0">
                <a:solidFill>
                  <a:srgbClr val="E6E5DE"/>
                </a:solidFill>
                <a:latin typeface="Calibri" pitchFamily="34" charset="0"/>
                <a:ea typeface="Calibri" pitchFamily="34" charset="-122"/>
                <a:cs typeface="Calibri" pitchFamily="34" charset="-120"/>
              </a:rPr>
              <a:t>52 deals executed and managed</a:t>
            </a:r>
            <a:endParaRPr lang="en-US" sz="1050" dirty="0"/>
          </a:p>
          <a:p>
            <a:pPr marL="342900" indent="-342900">
              <a:spcAft>
                <a:spcPts val="800"/>
              </a:spcAft>
              <a:buSzPct val="100000"/>
              <a:buChar char="•"/>
            </a:pPr>
            <a:r>
              <a:rPr lang="en-US" sz="1050" dirty="0">
                <a:solidFill>
                  <a:srgbClr val="E6E5DE"/>
                </a:solidFill>
                <a:latin typeface="Calibri" pitchFamily="34" charset="0"/>
                <a:ea typeface="Calibri" pitchFamily="34" charset="-122"/>
                <a:cs typeface="Calibri" pitchFamily="34" charset="-120"/>
              </a:rPr>
              <a:t>Largest single deal USD 1.3 billion, Cahora Bassa</a:t>
            </a:r>
            <a:endParaRPr lang="en-US" sz="1050" dirty="0"/>
          </a:p>
          <a:p>
            <a:pPr marL="342900" indent="-342900">
              <a:spcAft>
                <a:spcPts val="800"/>
              </a:spcAft>
              <a:buSzPct val="100000"/>
              <a:buChar char="•"/>
            </a:pPr>
            <a:r>
              <a:rPr lang="en-US" sz="1050" dirty="0">
                <a:solidFill>
                  <a:srgbClr val="E6E5DE"/>
                </a:solidFill>
                <a:latin typeface="Calibri" pitchFamily="34" charset="0"/>
                <a:ea typeface="Calibri" pitchFamily="34" charset="-122"/>
                <a:cs typeface="Calibri" pitchFamily="34" charset="-120"/>
              </a:rPr>
              <a:t>Total GRBT project value over AUD 10 billion</a:t>
            </a:r>
            <a:endParaRPr lang="en-US" sz="1050" dirty="0"/>
          </a:p>
        </p:txBody>
      </p:sp>
      <p:sp>
        <p:nvSpPr>
          <p:cNvPr id="23" name="Shape 21"/>
          <p:cNvSpPr/>
          <p:nvPr/>
        </p:nvSpPr>
        <p:spPr>
          <a:xfrm>
            <a:off x="7863840" y="3703320"/>
            <a:ext cx="3749040" cy="0"/>
          </a:xfrm>
          <a:prstGeom prst="line">
            <a:avLst/>
          </a:prstGeom>
          <a:noFill/>
          <a:ln w="12700">
            <a:solidFill>
              <a:srgbClr val="01A296"/>
            </a:solidFill>
            <a:prstDash val="solid"/>
          </a:ln>
        </p:spPr>
      </p:sp>
      <p:sp>
        <p:nvSpPr>
          <p:cNvPr id="24" name="Text 22"/>
          <p:cNvSpPr/>
          <p:nvPr/>
        </p:nvSpPr>
        <p:spPr>
          <a:xfrm>
            <a:off x="7863840" y="3886200"/>
            <a:ext cx="3749040" cy="1280160"/>
          </a:xfrm>
          <a:prstGeom prst="rect">
            <a:avLst/>
          </a:prstGeom>
          <a:noFill/>
          <a:ln/>
        </p:spPr>
        <p:txBody>
          <a:bodyPr wrap="square" lIns="0" tIns="0" rIns="0" bIns="0" rtlCol="0" anchor="t"/>
          <a:lstStyle/>
          <a:p>
            <a:pPr indent="0" marL="0">
              <a:spcAft>
                <a:spcPts val="600"/>
              </a:spcAft>
              <a:buNone/>
            </a:pPr>
            <a:r>
              <a:rPr lang="en-US" sz="1050" dirty="0">
                <a:solidFill>
                  <a:srgbClr val="E6E5DE"/>
                </a:solidFill>
                <a:latin typeface="Calibri" pitchFamily="34" charset="0"/>
                <a:ea typeface="Calibri" pitchFamily="34" charset="-122"/>
                <a:cs typeface="Calibri" pitchFamily="34" charset="-120"/>
              </a:rPr>
              <a:t>Profit-Pulse.com.au</a:t>
            </a:r>
            <a:endParaRPr lang="en-US" sz="1050" dirty="0"/>
          </a:p>
          <a:p>
            <a:pPr indent="0" marL="0">
              <a:spcAft>
                <a:spcPts val="600"/>
              </a:spcAft>
              <a:buNone/>
            </a:pPr>
            <a:r>
              <a:rPr lang="en-US" sz="1050" dirty="0">
                <a:solidFill>
                  <a:srgbClr val="E6E5DE"/>
                </a:solidFill>
                <a:latin typeface="Calibri" pitchFamily="34" charset="0"/>
                <a:ea typeface="Calibri" pitchFamily="34" charset="-122"/>
                <a:cs typeface="Calibri" pitchFamily="34" charset="-120"/>
              </a:rPr>
              <a:t>Nitesh@Profit-Pulse.com.au</a:t>
            </a:r>
            <a:endParaRPr lang="en-US" sz="1050" dirty="0"/>
          </a:p>
          <a:p>
            <a:pPr indent="0" marL="0">
              <a:spcAft>
                <a:spcPts val="600"/>
              </a:spcAft>
              <a:buNone/>
            </a:pPr>
            <a:r>
              <a:rPr lang="en-US" sz="1050" dirty="0">
                <a:solidFill>
                  <a:srgbClr val="E6E5DE"/>
                </a:solidFill>
                <a:latin typeface="Calibri" pitchFamily="34" charset="0"/>
                <a:ea typeface="Calibri" pitchFamily="34" charset="-122"/>
                <a:cs typeface="Calibri" pitchFamily="34" charset="-120"/>
              </a:rPr>
              <a:t>+61 411 876 267</a:t>
            </a:r>
            <a:endParaRPr lang="en-US" sz="1050" dirty="0"/>
          </a:p>
          <a:p>
            <a:pPr indent="0" marL="0">
              <a:spcAft>
                <a:spcPts val="600"/>
              </a:spcAft>
              <a:buNone/>
            </a:pPr>
            <a:r>
              <a:rPr lang="en-US" sz="1050" dirty="0">
                <a:solidFill>
                  <a:srgbClr val="E6E5DE"/>
                </a:solidFill>
                <a:latin typeface="Calibri" pitchFamily="34" charset="0"/>
                <a:ea typeface="Calibri" pitchFamily="34" charset="-122"/>
                <a:cs typeface="Calibri" pitchFamily="34" charset="-120"/>
              </a:rPr>
              <a:t>linkedin.com/in/nitesh-roopa-77594163</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2026-07-30T13:21:52Z</dcterms:created>
  <dcterms:modified xsi:type="dcterms:W3CDTF">2026-07-30T13:21:52Z</dcterms:modified>
</cp:coreProperties>
</file>