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charts/chart1.xml" ContentType="application/vnd.openxmlformats-officedocument.drawingml.chart+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Revenue</c:v>
                </c:pt>
              </c:strCache>
            </c:strRef>
          </c:tx>
          <c:spPr>
            <a:solidFill>
              <a:srgbClr val="01A296"/>
            </a:solidFill>
            <a:effectLst/>
          </c:spPr>
          <c:invertIfNegative val="0"/>
          <c:dLbls>
            <c:numFmt formatCode="0.0" sourceLinked="0"/>
            <c:txPr>
              <a:bodyPr/>
              <a:lstStyle/>
              <a:p>
                <a:pPr>
                  <a:defRPr b="0" i="0" strike="noStrike" sz="1100" u="none">
                    <a:solidFill>
                      <a:srgbClr val="000000"/>
                    </a:solidFill>
                    <a:latin typeface="Arial"/>
                  </a:defRPr>
                </a:pPr>
              </a:p>
            </c:txPr>
            <c:showLegendKey val="0"/>
            <c:showVal val="1"/>
            <c:showCatName val="0"/>
            <c:showSerName val="0"/>
            <c:showPercent val="0"/>
            <c:showBubbleSize val="0"/>
            <c:showLeaderLines val="0"/>
          </c:dLbls>
          <c:dPt>
            <c:idx val="0"/>
            <c:invertIfNegative val="0"/>
            <c:bubble3D val="0"/>
            <c:spPr>
              <a:solidFill>
                <a:srgbClr val="01A296"/>
              </a:solidFill>
              <a:effectLst/>
            </c:spPr>
          </c:dPt>
          <c:dPt>
            <c:idx val="1"/>
            <c:invertIfNegative val="0"/>
            <c:bubble3D val="0"/>
            <c:spPr>
              <a:solidFill>
                <a:srgbClr val="F6A102"/>
              </a:solidFill>
              <a:effectLst/>
            </c:spPr>
          </c:dPt>
          <c:cat>
            <c:multiLvlStrRef>
              <c:f>Sheet1!$A$2:$A$3</c:f>
              <c:multiLvlStrCache>
                <c:ptCount val="2"/>
                <c:lvl>
                  <c:pt idx="0">
                    <c:v>FY23</c:v>
                  </c:pt>
                  <c:pt idx="1">
                    <c:v>FY25</c:v>
                  </c:pt>
                </c:lvl>
              </c:multiLvlStrCache>
            </c:multiLvlStrRef>
          </c:cat>
          <c:val>
            <c:numRef>
              <c:f>Sheet1!$B$2:$B$3</c:f>
              <c:numCache>
                <c:formatCode>General</c:formatCode>
                <c:ptCount val="2"/>
                <c:pt idx="0">
                  <c:v>2.7</c:v>
                </c:pt>
                <c:pt idx="1">
                  <c:v>10.1</c:v>
                </c:pt>
              </c:numCache>
            </c:numRef>
          </c:val>
        </c:ser>
        <c:dLbls>
          <c:numFmt formatCode="0.0" sourceLinked="0"/>
          <c:txPr>
            <a:bodyPr/>
            <a:lstStyle/>
            <a:p>
              <a:pPr>
                <a:defRPr b="0" i="0" strike="noStrike" sz="11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w="12700" cap="flat">
          <a:solidFill>
            <a:srgbClr val="FFFFFF"/>
          </a:solid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profit-pulse.com.au/services/find-your-fit/" TargetMode="External"/><Relationship Id="rId2" Type="http://schemas.openxmlformats.org/officeDocument/2006/relationships/hyperlink" Target="https://buy.stripe.com/cNibJ28SYbqwepG3833ks0q" TargetMode="External"/><Relationship Id="rId3" Type="http://schemas.openxmlformats.org/officeDocument/2006/relationships/hyperlink" Target="https://bookings.cloud.microsoft/book/ProfitPulse1@profit-pulse.com.au/?ismsaljsauthenabled=true" TargetMode="External"/><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 cy="6858000"/>
          </a:xfrm>
          <a:prstGeom prst="rect">
            <a:avLst/>
          </a:prstGeom>
          <a:solidFill>
            <a:srgbClr val="F6A102"/>
          </a:solidFill>
          <a:ln/>
        </p:spPr>
      </p:sp>
      <p:sp>
        <p:nvSpPr>
          <p:cNvPr id="3" name="Shape 1"/>
          <p:cNvSpPr/>
          <p:nvPr/>
        </p:nvSpPr>
        <p:spPr>
          <a:xfrm>
            <a:off x="0" y="0"/>
            <a:ext cx="12191695" cy="914400"/>
          </a:xfrm>
          <a:prstGeom prst="rect">
            <a:avLst/>
          </a:prstGeom>
          <a:solidFill>
            <a:srgbClr val="000000"/>
          </a:solidFill>
          <a:ln/>
        </p:spPr>
      </p:sp>
      <p:sp>
        <p:nvSpPr>
          <p:cNvPr id="4" name="Text 2"/>
          <p:cNvSpPr/>
          <p:nvPr/>
        </p:nvSpPr>
        <p:spPr>
          <a:xfrm>
            <a:off x="274320" y="0"/>
            <a:ext cx="7315200" cy="914400"/>
          </a:xfrm>
          <a:prstGeom prst="rect">
            <a:avLst/>
          </a:prstGeom>
          <a:noFill/>
          <a:ln/>
        </p:spPr>
        <p:txBody>
          <a:bodyPr wrap="square" lIns="0" tIns="0" rIns="0" bIns="0" rtlCol="0" anchor="ctr"/>
          <a:lstStyle/>
          <a:p>
            <a:pPr algn="l" indent="0" marL="0">
              <a:buNone/>
            </a:pPr>
            <a:r>
              <a:rPr lang="en-US" sz="1200" b="1" spc="100" kern="0" dirty="0">
                <a:solidFill>
                  <a:srgbClr val="E6E5DE"/>
                </a:solidFill>
                <a:latin typeface="Calibri" pitchFamily="34" charset="0"/>
                <a:ea typeface="Calibri" pitchFamily="34" charset="-122"/>
                <a:cs typeface="Calibri" pitchFamily="34" charset="-120"/>
              </a:rPr>
              <a:t>COMMERCIAL INTELLIGENCE BRIEF</a:t>
            </a:r>
            <a:endParaRPr lang="en-US" sz="1200" dirty="0"/>
          </a:p>
        </p:txBody>
      </p:sp>
      <p:sp>
        <p:nvSpPr>
          <p:cNvPr id="5" name="Text 3"/>
          <p:cNvSpPr/>
          <p:nvPr/>
        </p:nvSpPr>
        <p:spPr>
          <a:xfrm>
            <a:off x="5029200" y="0"/>
            <a:ext cx="6858000" cy="914400"/>
          </a:xfrm>
          <a:prstGeom prst="rect">
            <a:avLst/>
          </a:prstGeom>
          <a:noFill/>
          <a:ln/>
        </p:spPr>
        <p:txBody>
          <a:bodyPr wrap="square" lIns="0" tIns="0" rIns="0" bIns="0" rtlCol="0" anchor="ctr"/>
          <a:lstStyle/>
          <a:p>
            <a:pPr algn="r" indent="0" marL="0">
              <a:buNone/>
            </a:pPr>
            <a:r>
              <a:rPr lang="en-US" sz="1600" b="1" dirty="0">
                <a:solidFill>
                  <a:srgbClr val="01A296"/>
                </a:solidFill>
                <a:latin typeface="Cambria" pitchFamily="34" charset="0"/>
                <a:ea typeface="Cambria" pitchFamily="34" charset="-122"/>
                <a:cs typeface="Cambria" pitchFamily="34" charset="-120"/>
              </a:rPr>
              <a:t>PROFITPULSE</a:t>
            </a:r>
            <a:endParaRPr lang="en-US" sz="1600" dirty="0"/>
          </a:p>
        </p:txBody>
      </p:sp>
      <p:sp>
        <p:nvSpPr>
          <p:cNvPr id="6" name="Text 4"/>
          <p:cNvSpPr/>
          <p:nvPr/>
        </p:nvSpPr>
        <p:spPr>
          <a:xfrm>
            <a:off x="274320" y="6446520"/>
            <a:ext cx="8229600" cy="274320"/>
          </a:xfrm>
          <a:prstGeom prst="rect">
            <a:avLst/>
          </a:prstGeom>
          <a:noFill/>
          <a:ln/>
        </p:spPr>
        <p:txBody>
          <a:bodyPr wrap="square" lIns="0" tIns="0" rIns="0" bIns="0" rtlCol="0" anchor="ctr"/>
          <a:lstStyle/>
          <a:p>
            <a:pPr algn="l" indent="0" marL="0">
              <a:buNone/>
            </a:pPr>
            <a:r>
              <a:rPr lang="en-US" sz="800" dirty="0">
                <a:solidFill>
                  <a:srgbClr val="000000"/>
                </a:solidFill>
                <a:latin typeface="Calibri" pitchFamily="34" charset="0"/>
                <a:ea typeface="Calibri" pitchFamily="34" charset="-122"/>
                <a:cs typeface="Calibri" pitchFamily="34" charset="-120"/>
              </a:rPr>
              <a:t>Prepared by Nitesh Roopa CA, Managing Partner and Founder, ProfitPulse, Profit-Pulse.com.au</a:t>
            </a:r>
            <a:endParaRPr lang="en-US" sz="800" dirty="0"/>
          </a:p>
        </p:txBody>
      </p:sp>
      <p:sp>
        <p:nvSpPr>
          <p:cNvPr id="7" name="Text 5"/>
          <p:cNvSpPr/>
          <p:nvPr/>
        </p:nvSpPr>
        <p:spPr>
          <a:xfrm>
            <a:off x="8686800" y="6446520"/>
            <a:ext cx="3200400" cy="274320"/>
          </a:xfrm>
          <a:prstGeom prst="rect">
            <a:avLst/>
          </a:prstGeom>
          <a:noFill/>
          <a:ln/>
        </p:spPr>
        <p:txBody>
          <a:bodyPr wrap="square" lIns="0" tIns="0" rIns="0" bIns="0" rtlCol="0" anchor="ctr"/>
          <a:lstStyle/>
          <a:p>
            <a:pPr algn="r" indent="0" marL="0">
              <a:buNone/>
            </a:pPr>
            <a:r>
              <a:rPr lang="en-US" sz="800" dirty="0">
                <a:solidFill>
                  <a:srgbClr val="000000"/>
                </a:solidFill>
                <a:latin typeface="Calibri" pitchFamily="34" charset="0"/>
                <a:ea typeface="Calibri" pitchFamily="34" charset="-122"/>
                <a:cs typeface="Calibri" pitchFamily="34" charset="-120"/>
              </a:rPr>
              <a:t>23 Jul 2026</a:t>
            </a:r>
            <a:endParaRPr lang="en-US" sz="800" dirty="0"/>
          </a:p>
        </p:txBody>
      </p:sp>
      <p:sp>
        <p:nvSpPr>
          <p:cNvPr id="8" name="Text 6"/>
          <p:cNvSpPr/>
          <p:nvPr/>
        </p:nvSpPr>
        <p:spPr>
          <a:xfrm>
            <a:off x="274320" y="1051560"/>
            <a:ext cx="8229600" cy="640080"/>
          </a:xfrm>
          <a:prstGeom prst="rect">
            <a:avLst/>
          </a:prstGeom>
          <a:noFill/>
          <a:ln/>
        </p:spPr>
        <p:txBody>
          <a:bodyPr wrap="square" lIns="0" tIns="0" rIns="0" bIns="0" rtlCol="0" anchor="t">
            <a:spAutoFit/>
          </a:bodyPr>
          <a:lstStyle/>
          <a:p>
            <a:pPr algn="l" indent="0" marL="0">
              <a:buNone/>
            </a:pPr>
            <a:r>
              <a:rPr lang="en-US" sz="4200" b="1" dirty="0">
                <a:solidFill>
                  <a:srgbClr val="000000"/>
                </a:solidFill>
                <a:latin typeface="Cambria" pitchFamily="34" charset="0"/>
                <a:ea typeface="Cambria" pitchFamily="34" charset="-122"/>
                <a:cs typeface="Cambria" pitchFamily="34" charset="-120"/>
              </a:rPr>
              <a:t>MuraConnect</a:t>
            </a:r>
            <a:endParaRPr lang="en-US" sz="4200" dirty="0"/>
          </a:p>
        </p:txBody>
      </p:sp>
      <p:sp>
        <p:nvSpPr>
          <p:cNvPr id="9" name="Text 7"/>
          <p:cNvSpPr/>
          <p:nvPr/>
        </p:nvSpPr>
        <p:spPr>
          <a:xfrm>
            <a:off x="274320" y="1719072"/>
            <a:ext cx="11612880" cy="365760"/>
          </a:xfrm>
          <a:prstGeom prst="rect">
            <a:avLst/>
          </a:prstGeom>
          <a:noFill/>
          <a:ln/>
        </p:spPr>
        <p:txBody>
          <a:bodyPr wrap="square" lIns="0" tIns="0" rIns="0" bIns="0" rtlCol="0" anchor="ctr">
            <a:spAutoFit/>
          </a:bodyPr>
          <a:lstStyle/>
          <a:p>
            <a:pPr algn="l" indent="0" marL="0">
              <a:buNone/>
            </a:pPr>
            <a:r>
              <a:rPr lang="en-US" sz="1400" i="1" dirty="0">
                <a:solidFill>
                  <a:srgbClr val="000000"/>
                </a:solidFill>
                <a:latin typeface="Calibri" pitchFamily="34" charset="0"/>
                <a:ea typeface="Calibri" pitchFamily="34" charset="-122"/>
                <a:cs typeface="Calibri" pitchFamily="34" charset="-120"/>
              </a:rPr>
              <a:t>Recruitment and IT project services firm, Fortitude Valley, Brisbane</a:t>
            </a:r>
            <a:endParaRPr lang="en-US" sz="1400" dirty="0"/>
          </a:p>
        </p:txBody>
      </p:sp>
      <p:sp>
        <p:nvSpPr>
          <p:cNvPr id="10" name="Shape 8"/>
          <p:cNvSpPr/>
          <p:nvPr/>
        </p:nvSpPr>
        <p:spPr>
          <a:xfrm>
            <a:off x="274320" y="2194560"/>
            <a:ext cx="2212848" cy="1463040"/>
          </a:xfrm>
          <a:prstGeom prst="rect">
            <a:avLst/>
          </a:prstGeom>
          <a:solidFill>
            <a:srgbClr val="000000"/>
          </a:solidFill>
          <a:ln/>
        </p:spPr>
      </p:sp>
      <p:sp>
        <p:nvSpPr>
          <p:cNvPr id="11" name="Shape 9"/>
          <p:cNvSpPr/>
          <p:nvPr/>
        </p:nvSpPr>
        <p:spPr>
          <a:xfrm>
            <a:off x="274320" y="2194560"/>
            <a:ext cx="2212848" cy="54864"/>
          </a:xfrm>
          <a:prstGeom prst="rect">
            <a:avLst/>
          </a:prstGeom>
          <a:solidFill>
            <a:srgbClr val="01A296"/>
          </a:solidFill>
          <a:ln/>
        </p:spPr>
      </p:sp>
      <p:sp>
        <p:nvSpPr>
          <p:cNvPr id="12" name="Text 10"/>
          <p:cNvSpPr/>
          <p:nvPr/>
        </p:nvSpPr>
        <p:spPr>
          <a:xfrm>
            <a:off x="384048" y="2340864"/>
            <a:ext cx="1993392" cy="502920"/>
          </a:xfrm>
          <a:prstGeom prst="rect">
            <a:avLst/>
          </a:prstGeom>
          <a:noFill/>
          <a:ln/>
        </p:spPr>
        <p:txBody>
          <a:bodyPr wrap="square" lIns="0" tIns="0" rIns="0" bIns="0" rtlCol="0" anchor="ctr">
            <a:spAutoFit/>
          </a:bodyPr>
          <a:lstStyle/>
          <a:p>
            <a:pPr algn="l" indent="0" marL="0">
              <a:buNone/>
            </a:pPr>
            <a:r>
              <a:rPr lang="en-US" sz="2800" b="1" dirty="0">
                <a:solidFill>
                  <a:srgbClr val="F8C806"/>
                </a:solidFill>
                <a:latin typeface="Cambria" pitchFamily="34" charset="0"/>
                <a:ea typeface="Cambria" pitchFamily="34" charset="-122"/>
                <a:cs typeface="Cambria" pitchFamily="34" charset="-120"/>
              </a:rPr>
              <a:t>$10.1M</a:t>
            </a:r>
            <a:endParaRPr lang="en-US" sz="2800" dirty="0"/>
          </a:p>
        </p:txBody>
      </p:sp>
      <p:sp>
        <p:nvSpPr>
          <p:cNvPr id="13" name="Text 11"/>
          <p:cNvSpPr/>
          <p:nvPr/>
        </p:nvSpPr>
        <p:spPr>
          <a:xfrm>
            <a:off x="384048" y="2852928"/>
            <a:ext cx="1993392" cy="502920"/>
          </a:xfrm>
          <a:prstGeom prst="rect">
            <a:avLst/>
          </a:prstGeom>
          <a:noFill/>
          <a:ln/>
        </p:spPr>
        <p:txBody>
          <a:bodyPr wrap="square" lIns="0" tIns="0" rIns="0" bIns="0" rtlCol="0" anchor="ctr">
            <a:spAutoFit/>
          </a:bodyPr>
          <a:lstStyle/>
          <a:p>
            <a:pPr algn="l" indent="0" marL="0">
              <a:buNone/>
            </a:pPr>
            <a:r>
              <a:rPr lang="en-US" sz="1100" dirty="0">
                <a:solidFill>
                  <a:srgbClr val="E6E5DE"/>
                </a:solidFill>
                <a:latin typeface="Calibri" pitchFamily="34" charset="0"/>
                <a:ea typeface="Calibri" pitchFamily="34" charset="-122"/>
                <a:cs typeface="Calibri" pitchFamily="34" charset="-120"/>
              </a:rPr>
              <a:t>FY25 revenue, Smart50 rank 6</a:t>
            </a:r>
            <a:endParaRPr lang="en-US" sz="1100" dirty="0"/>
          </a:p>
        </p:txBody>
      </p:sp>
      <p:sp>
        <p:nvSpPr>
          <p:cNvPr id="14" name="Text 12"/>
          <p:cNvSpPr/>
          <p:nvPr/>
        </p:nvSpPr>
        <p:spPr>
          <a:xfrm>
            <a:off x="384048" y="3364992"/>
            <a:ext cx="1993392" cy="256032"/>
          </a:xfrm>
          <a:prstGeom prst="rect">
            <a:avLst/>
          </a:prstGeom>
          <a:noFill/>
          <a:ln/>
        </p:spPr>
        <p:txBody>
          <a:bodyPr wrap="square" lIns="0" tIns="0" rIns="0" bIns="0" rtlCol="0" anchor="ctr">
            <a:spAutoFit/>
          </a:bodyPr>
          <a:lstStyle/>
          <a:p>
            <a:pPr algn="l" indent="0" marL="0">
              <a:buNone/>
            </a:pPr>
            <a:r>
              <a:rPr lang="en-US" sz="750" i="1" dirty="0">
                <a:solidFill>
                  <a:srgbClr val="01A296"/>
                </a:solidFill>
                <a:latin typeface="Calibri" pitchFamily="34" charset="0"/>
                <a:ea typeface="Calibri" pitchFamily="34" charset="-122"/>
                <a:cs typeface="Calibri" pitchFamily="34" charset="-120"/>
              </a:rPr>
              <a:t>SmartCompany Smart50 2025</a:t>
            </a:r>
            <a:endParaRPr lang="en-US" sz="750" dirty="0"/>
          </a:p>
        </p:txBody>
      </p:sp>
      <p:sp>
        <p:nvSpPr>
          <p:cNvPr id="15" name="Shape 13"/>
          <p:cNvSpPr/>
          <p:nvPr/>
        </p:nvSpPr>
        <p:spPr>
          <a:xfrm>
            <a:off x="2624328" y="2194560"/>
            <a:ext cx="2212848" cy="1463040"/>
          </a:xfrm>
          <a:prstGeom prst="rect">
            <a:avLst/>
          </a:prstGeom>
          <a:solidFill>
            <a:srgbClr val="000000"/>
          </a:solidFill>
          <a:ln/>
        </p:spPr>
      </p:sp>
      <p:sp>
        <p:nvSpPr>
          <p:cNvPr id="16" name="Shape 14"/>
          <p:cNvSpPr/>
          <p:nvPr/>
        </p:nvSpPr>
        <p:spPr>
          <a:xfrm>
            <a:off x="2624328" y="2194560"/>
            <a:ext cx="2212848" cy="54864"/>
          </a:xfrm>
          <a:prstGeom prst="rect">
            <a:avLst/>
          </a:prstGeom>
          <a:solidFill>
            <a:srgbClr val="01A296"/>
          </a:solidFill>
          <a:ln/>
        </p:spPr>
      </p:sp>
      <p:sp>
        <p:nvSpPr>
          <p:cNvPr id="17" name="Text 15"/>
          <p:cNvSpPr/>
          <p:nvPr/>
        </p:nvSpPr>
        <p:spPr>
          <a:xfrm>
            <a:off x="2734056" y="2340864"/>
            <a:ext cx="1993392" cy="502920"/>
          </a:xfrm>
          <a:prstGeom prst="rect">
            <a:avLst/>
          </a:prstGeom>
          <a:noFill/>
          <a:ln/>
        </p:spPr>
        <p:txBody>
          <a:bodyPr wrap="square" lIns="0" tIns="0" rIns="0" bIns="0" rtlCol="0" anchor="ctr">
            <a:spAutoFit/>
          </a:bodyPr>
          <a:lstStyle/>
          <a:p>
            <a:pPr algn="l" indent="0" marL="0">
              <a:buNone/>
            </a:pPr>
            <a:r>
              <a:rPr lang="en-US" sz="2800" b="1" dirty="0">
                <a:solidFill>
                  <a:srgbClr val="F8C806"/>
                </a:solidFill>
                <a:latin typeface="Cambria" pitchFamily="34" charset="0"/>
                <a:ea typeface="Cambria" pitchFamily="34" charset="-122"/>
                <a:cs typeface="Cambria" pitchFamily="34" charset="-120"/>
              </a:rPr>
              <a:t>#6</a:t>
            </a:r>
            <a:endParaRPr lang="en-US" sz="2800" dirty="0"/>
          </a:p>
        </p:txBody>
      </p:sp>
      <p:sp>
        <p:nvSpPr>
          <p:cNvPr id="18" name="Text 16"/>
          <p:cNvSpPr/>
          <p:nvPr/>
        </p:nvSpPr>
        <p:spPr>
          <a:xfrm>
            <a:off x="2734056" y="2852928"/>
            <a:ext cx="1993392" cy="502920"/>
          </a:xfrm>
          <a:prstGeom prst="rect">
            <a:avLst/>
          </a:prstGeom>
          <a:noFill/>
          <a:ln/>
        </p:spPr>
        <p:txBody>
          <a:bodyPr wrap="square" lIns="0" tIns="0" rIns="0" bIns="0" rtlCol="0" anchor="ctr">
            <a:spAutoFit/>
          </a:bodyPr>
          <a:lstStyle/>
          <a:p>
            <a:pPr algn="l" indent="0" marL="0">
              <a:buNone/>
            </a:pPr>
            <a:r>
              <a:rPr lang="en-US" sz="1100" dirty="0">
                <a:solidFill>
                  <a:srgbClr val="E6E5DE"/>
                </a:solidFill>
                <a:latin typeface="Calibri" pitchFamily="34" charset="0"/>
                <a:ea typeface="Calibri" pitchFamily="34" charset="-122"/>
                <a:cs typeface="Calibri" pitchFamily="34" charset="-120"/>
              </a:rPr>
              <a:t>National Smart50 2025 ranking</a:t>
            </a:r>
            <a:endParaRPr lang="en-US" sz="1100" dirty="0"/>
          </a:p>
        </p:txBody>
      </p:sp>
      <p:sp>
        <p:nvSpPr>
          <p:cNvPr id="19" name="Text 17"/>
          <p:cNvSpPr/>
          <p:nvPr/>
        </p:nvSpPr>
        <p:spPr>
          <a:xfrm>
            <a:off x="2734056" y="3364992"/>
            <a:ext cx="1993392" cy="256032"/>
          </a:xfrm>
          <a:prstGeom prst="rect">
            <a:avLst/>
          </a:prstGeom>
          <a:noFill/>
          <a:ln/>
        </p:spPr>
        <p:txBody>
          <a:bodyPr wrap="square" lIns="0" tIns="0" rIns="0" bIns="0" rtlCol="0" anchor="ctr">
            <a:spAutoFit/>
          </a:bodyPr>
          <a:lstStyle/>
          <a:p>
            <a:pPr algn="l" indent="0" marL="0">
              <a:buNone/>
            </a:pPr>
            <a:r>
              <a:rPr lang="en-US" sz="750" i="1" dirty="0">
                <a:solidFill>
                  <a:srgbClr val="01A296"/>
                </a:solidFill>
                <a:latin typeface="Calibri" pitchFamily="34" charset="0"/>
                <a:ea typeface="Calibri" pitchFamily="34" charset="-122"/>
                <a:cs typeface="Calibri" pitchFamily="34" charset="-120"/>
              </a:rPr>
              <a:t>SmartCompany, Nov 2025</a:t>
            </a:r>
            <a:endParaRPr lang="en-US" sz="750" dirty="0"/>
          </a:p>
        </p:txBody>
      </p:sp>
      <p:sp>
        <p:nvSpPr>
          <p:cNvPr id="20" name="Shape 18"/>
          <p:cNvSpPr/>
          <p:nvPr/>
        </p:nvSpPr>
        <p:spPr>
          <a:xfrm>
            <a:off x="4974336" y="2194560"/>
            <a:ext cx="2212848" cy="1463040"/>
          </a:xfrm>
          <a:prstGeom prst="rect">
            <a:avLst/>
          </a:prstGeom>
          <a:solidFill>
            <a:srgbClr val="000000"/>
          </a:solidFill>
          <a:ln/>
        </p:spPr>
      </p:sp>
      <p:sp>
        <p:nvSpPr>
          <p:cNvPr id="21" name="Shape 19"/>
          <p:cNvSpPr/>
          <p:nvPr/>
        </p:nvSpPr>
        <p:spPr>
          <a:xfrm>
            <a:off x="4974336" y="2194560"/>
            <a:ext cx="2212848" cy="54864"/>
          </a:xfrm>
          <a:prstGeom prst="rect">
            <a:avLst/>
          </a:prstGeom>
          <a:solidFill>
            <a:srgbClr val="01A296"/>
          </a:solidFill>
          <a:ln/>
        </p:spPr>
      </p:sp>
      <p:sp>
        <p:nvSpPr>
          <p:cNvPr id="22" name="Text 20"/>
          <p:cNvSpPr/>
          <p:nvPr/>
        </p:nvSpPr>
        <p:spPr>
          <a:xfrm>
            <a:off x="5084064" y="2340864"/>
            <a:ext cx="1993392" cy="502920"/>
          </a:xfrm>
          <a:prstGeom prst="rect">
            <a:avLst/>
          </a:prstGeom>
          <a:noFill/>
          <a:ln/>
        </p:spPr>
        <p:txBody>
          <a:bodyPr wrap="square" lIns="0" tIns="0" rIns="0" bIns="0" rtlCol="0" anchor="ctr">
            <a:spAutoFit/>
          </a:bodyPr>
          <a:lstStyle/>
          <a:p>
            <a:pPr algn="l" indent="0" marL="0">
              <a:buNone/>
            </a:pPr>
            <a:r>
              <a:rPr lang="en-US" sz="2800" b="1" dirty="0">
                <a:solidFill>
                  <a:srgbClr val="F8C806"/>
                </a:solidFill>
                <a:latin typeface="Cambria" pitchFamily="34" charset="0"/>
                <a:ea typeface="Cambria" pitchFamily="34" charset="-122"/>
                <a:cs typeface="Cambria" pitchFamily="34" charset="-120"/>
              </a:rPr>
              <a:t>90%</a:t>
            </a:r>
            <a:endParaRPr lang="en-US" sz="2800" dirty="0"/>
          </a:p>
        </p:txBody>
      </p:sp>
      <p:sp>
        <p:nvSpPr>
          <p:cNvPr id="23" name="Text 21"/>
          <p:cNvSpPr/>
          <p:nvPr/>
        </p:nvSpPr>
        <p:spPr>
          <a:xfrm>
            <a:off x="5084064" y="2852928"/>
            <a:ext cx="1993392" cy="502920"/>
          </a:xfrm>
          <a:prstGeom prst="rect">
            <a:avLst/>
          </a:prstGeom>
          <a:noFill/>
          <a:ln/>
        </p:spPr>
        <p:txBody>
          <a:bodyPr wrap="square" lIns="0" tIns="0" rIns="0" bIns="0" rtlCol="0" anchor="ctr">
            <a:spAutoFit/>
          </a:bodyPr>
          <a:lstStyle/>
          <a:p>
            <a:pPr algn="l" indent="0" marL="0">
              <a:buNone/>
            </a:pPr>
            <a:r>
              <a:rPr lang="en-US" sz="1100" dirty="0">
                <a:solidFill>
                  <a:srgbClr val="E6E5DE"/>
                </a:solidFill>
                <a:latin typeface="Calibri" pitchFamily="34" charset="0"/>
                <a:ea typeface="Calibri" pitchFamily="34" charset="-122"/>
                <a:cs typeface="Calibri" pitchFamily="34" charset="-120"/>
              </a:rPr>
              <a:t>Average 3 year revenue growth</a:t>
            </a:r>
            <a:endParaRPr lang="en-US" sz="1100" dirty="0"/>
          </a:p>
        </p:txBody>
      </p:sp>
      <p:sp>
        <p:nvSpPr>
          <p:cNvPr id="24" name="Text 22"/>
          <p:cNvSpPr/>
          <p:nvPr/>
        </p:nvSpPr>
        <p:spPr>
          <a:xfrm>
            <a:off x="5084064" y="3364992"/>
            <a:ext cx="1993392" cy="256032"/>
          </a:xfrm>
          <a:prstGeom prst="rect">
            <a:avLst/>
          </a:prstGeom>
          <a:noFill/>
          <a:ln/>
        </p:spPr>
        <p:txBody>
          <a:bodyPr wrap="square" lIns="0" tIns="0" rIns="0" bIns="0" rtlCol="0" anchor="ctr">
            <a:spAutoFit/>
          </a:bodyPr>
          <a:lstStyle/>
          <a:p>
            <a:pPr algn="l" indent="0" marL="0">
              <a:buNone/>
            </a:pPr>
            <a:r>
              <a:rPr lang="en-US" sz="750" i="1" dirty="0">
                <a:solidFill>
                  <a:srgbClr val="01A296"/>
                </a:solidFill>
                <a:latin typeface="Calibri" pitchFamily="34" charset="0"/>
                <a:ea typeface="Calibri" pitchFamily="34" charset="-122"/>
                <a:cs typeface="Calibri" pitchFamily="34" charset="-120"/>
              </a:rPr>
              <a:t>SmartCompany Smart50 2025</a:t>
            </a:r>
            <a:endParaRPr lang="en-US" sz="750" dirty="0"/>
          </a:p>
        </p:txBody>
      </p:sp>
      <p:sp>
        <p:nvSpPr>
          <p:cNvPr id="25" name="Shape 23"/>
          <p:cNvSpPr/>
          <p:nvPr/>
        </p:nvSpPr>
        <p:spPr>
          <a:xfrm>
            <a:off x="7324344" y="2194560"/>
            <a:ext cx="2212848" cy="1463040"/>
          </a:xfrm>
          <a:prstGeom prst="rect">
            <a:avLst/>
          </a:prstGeom>
          <a:solidFill>
            <a:srgbClr val="000000"/>
          </a:solidFill>
          <a:ln/>
        </p:spPr>
      </p:sp>
      <p:sp>
        <p:nvSpPr>
          <p:cNvPr id="26" name="Shape 24"/>
          <p:cNvSpPr/>
          <p:nvPr/>
        </p:nvSpPr>
        <p:spPr>
          <a:xfrm>
            <a:off x="7324344" y="2194560"/>
            <a:ext cx="2212848" cy="54864"/>
          </a:xfrm>
          <a:prstGeom prst="rect">
            <a:avLst/>
          </a:prstGeom>
          <a:solidFill>
            <a:srgbClr val="01A296"/>
          </a:solidFill>
          <a:ln/>
        </p:spPr>
      </p:sp>
      <p:sp>
        <p:nvSpPr>
          <p:cNvPr id="27" name="Text 25"/>
          <p:cNvSpPr/>
          <p:nvPr/>
        </p:nvSpPr>
        <p:spPr>
          <a:xfrm>
            <a:off x="7434072" y="2340864"/>
            <a:ext cx="1993392" cy="502920"/>
          </a:xfrm>
          <a:prstGeom prst="rect">
            <a:avLst/>
          </a:prstGeom>
          <a:noFill/>
          <a:ln/>
        </p:spPr>
        <p:txBody>
          <a:bodyPr wrap="square" lIns="0" tIns="0" rIns="0" bIns="0" rtlCol="0" anchor="ctr">
            <a:spAutoFit/>
          </a:bodyPr>
          <a:lstStyle/>
          <a:p>
            <a:pPr algn="l" indent="0" marL="0">
              <a:buNone/>
            </a:pPr>
            <a:r>
              <a:rPr lang="en-US" sz="2800" b="1" dirty="0">
                <a:solidFill>
                  <a:srgbClr val="F8C806"/>
                </a:solidFill>
                <a:latin typeface="Cambria" pitchFamily="34" charset="0"/>
                <a:ea typeface="Cambria" pitchFamily="34" charset="-122"/>
                <a:cs typeface="Cambria" pitchFamily="34" charset="-120"/>
              </a:rPr>
              <a:t>2018</a:t>
            </a:r>
            <a:endParaRPr lang="en-US" sz="2800" dirty="0"/>
          </a:p>
        </p:txBody>
      </p:sp>
      <p:sp>
        <p:nvSpPr>
          <p:cNvPr id="28" name="Text 26"/>
          <p:cNvSpPr/>
          <p:nvPr/>
        </p:nvSpPr>
        <p:spPr>
          <a:xfrm>
            <a:off x="7434072" y="2852928"/>
            <a:ext cx="1993392" cy="502920"/>
          </a:xfrm>
          <a:prstGeom prst="rect">
            <a:avLst/>
          </a:prstGeom>
          <a:noFill/>
          <a:ln/>
        </p:spPr>
        <p:txBody>
          <a:bodyPr wrap="square" lIns="0" tIns="0" rIns="0" bIns="0" rtlCol="0" anchor="ctr">
            <a:spAutoFit/>
          </a:bodyPr>
          <a:lstStyle/>
          <a:p>
            <a:pPr algn="l" indent="0" marL="0">
              <a:buNone/>
            </a:pPr>
            <a:r>
              <a:rPr lang="en-US" sz="1100" dirty="0">
                <a:solidFill>
                  <a:srgbClr val="E6E5DE"/>
                </a:solidFill>
                <a:latin typeface="Calibri" pitchFamily="34" charset="0"/>
                <a:ea typeface="Calibri" pitchFamily="34" charset="-122"/>
                <a:cs typeface="Calibri" pitchFamily="34" charset="-120"/>
              </a:rPr>
              <a:t>Year founded, Fortitude Valley</a:t>
            </a:r>
            <a:endParaRPr lang="en-US" sz="1100" dirty="0"/>
          </a:p>
        </p:txBody>
      </p:sp>
      <p:sp>
        <p:nvSpPr>
          <p:cNvPr id="29" name="Text 27"/>
          <p:cNvSpPr/>
          <p:nvPr/>
        </p:nvSpPr>
        <p:spPr>
          <a:xfrm>
            <a:off x="7434072" y="3364992"/>
            <a:ext cx="1993392" cy="256032"/>
          </a:xfrm>
          <a:prstGeom prst="rect">
            <a:avLst/>
          </a:prstGeom>
          <a:noFill/>
          <a:ln/>
        </p:spPr>
        <p:txBody>
          <a:bodyPr wrap="square" lIns="0" tIns="0" rIns="0" bIns="0" rtlCol="0" anchor="ctr">
            <a:spAutoFit/>
          </a:bodyPr>
          <a:lstStyle/>
          <a:p>
            <a:pPr algn="l" indent="0" marL="0">
              <a:buNone/>
            </a:pPr>
            <a:r>
              <a:rPr lang="en-US" sz="750" i="1" dirty="0">
                <a:solidFill>
                  <a:srgbClr val="01A296"/>
                </a:solidFill>
                <a:latin typeface="Calibri" pitchFamily="34" charset="0"/>
                <a:ea typeface="Calibri" pitchFamily="34" charset="-122"/>
                <a:cs typeface="Calibri" pitchFamily="34" charset="-120"/>
              </a:rPr>
              <a:t>ABN registration record</a:t>
            </a:r>
            <a:endParaRPr lang="en-US" sz="750" dirty="0"/>
          </a:p>
        </p:txBody>
      </p:sp>
      <p:sp>
        <p:nvSpPr>
          <p:cNvPr id="30" name="Shape 28"/>
          <p:cNvSpPr/>
          <p:nvPr/>
        </p:nvSpPr>
        <p:spPr>
          <a:xfrm>
            <a:off x="9674352" y="2194560"/>
            <a:ext cx="2212848" cy="1463040"/>
          </a:xfrm>
          <a:prstGeom prst="rect">
            <a:avLst/>
          </a:prstGeom>
          <a:solidFill>
            <a:srgbClr val="000000"/>
          </a:solidFill>
          <a:ln/>
        </p:spPr>
      </p:sp>
      <p:sp>
        <p:nvSpPr>
          <p:cNvPr id="31" name="Shape 29"/>
          <p:cNvSpPr/>
          <p:nvPr/>
        </p:nvSpPr>
        <p:spPr>
          <a:xfrm>
            <a:off x="9674352" y="2194560"/>
            <a:ext cx="2212848" cy="54864"/>
          </a:xfrm>
          <a:prstGeom prst="rect">
            <a:avLst/>
          </a:prstGeom>
          <a:solidFill>
            <a:srgbClr val="01A296"/>
          </a:solidFill>
          <a:ln/>
        </p:spPr>
      </p:sp>
      <p:sp>
        <p:nvSpPr>
          <p:cNvPr id="32" name="Text 30"/>
          <p:cNvSpPr/>
          <p:nvPr/>
        </p:nvSpPr>
        <p:spPr>
          <a:xfrm>
            <a:off x="9784080" y="2340864"/>
            <a:ext cx="1993392" cy="502920"/>
          </a:xfrm>
          <a:prstGeom prst="rect">
            <a:avLst/>
          </a:prstGeom>
          <a:noFill/>
          <a:ln/>
        </p:spPr>
        <p:txBody>
          <a:bodyPr wrap="square" lIns="0" tIns="0" rIns="0" bIns="0" rtlCol="0" anchor="ctr">
            <a:spAutoFit/>
          </a:bodyPr>
          <a:lstStyle/>
          <a:p>
            <a:pPr algn="l" indent="0" marL="0">
              <a:buNone/>
            </a:pPr>
            <a:r>
              <a:rPr lang="en-US" sz="2800" b="1" dirty="0">
                <a:solidFill>
                  <a:srgbClr val="F8C806"/>
                </a:solidFill>
                <a:latin typeface="Cambria" pitchFamily="34" charset="0"/>
                <a:ea typeface="Cambria" pitchFamily="34" charset="-122"/>
                <a:cs typeface="Cambria" pitchFamily="34" charset="-120"/>
              </a:rPr>
              <a:t>15</a:t>
            </a:r>
            <a:endParaRPr lang="en-US" sz="2800" dirty="0"/>
          </a:p>
        </p:txBody>
      </p:sp>
      <p:sp>
        <p:nvSpPr>
          <p:cNvPr id="33" name="Text 31"/>
          <p:cNvSpPr/>
          <p:nvPr/>
        </p:nvSpPr>
        <p:spPr>
          <a:xfrm>
            <a:off x="9784080" y="2852928"/>
            <a:ext cx="1993392" cy="502920"/>
          </a:xfrm>
          <a:prstGeom prst="rect">
            <a:avLst/>
          </a:prstGeom>
          <a:noFill/>
          <a:ln/>
        </p:spPr>
        <p:txBody>
          <a:bodyPr wrap="square" lIns="0" tIns="0" rIns="0" bIns="0" rtlCol="0" anchor="ctr">
            <a:spAutoFit/>
          </a:bodyPr>
          <a:lstStyle/>
          <a:p>
            <a:pPr algn="l" indent="0" marL="0">
              <a:buNone/>
            </a:pPr>
            <a:r>
              <a:rPr lang="en-US" sz="1100" dirty="0">
                <a:solidFill>
                  <a:srgbClr val="E6E5DE"/>
                </a:solidFill>
                <a:latin typeface="Calibri" pitchFamily="34" charset="0"/>
                <a:ea typeface="Calibri" pitchFamily="34" charset="-122"/>
                <a:cs typeface="Calibri" pitchFamily="34" charset="-120"/>
              </a:rPr>
              <a:t>Govt departments served, from 4</a:t>
            </a:r>
            <a:endParaRPr lang="en-US" sz="1100" dirty="0"/>
          </a:p>
        </p:txBody>
      </p:sp>
      <p:sp>
        <p:nvSpPr>
          <p:cNvPr id="34" name="Text 32"/>
          <p:cNvSpPr/>
          <p:nvPr/>
        </p:nvSpPr>
        <p:spPr>
          <a:xfrm>
            <a:off x="9784080" y="3364992"/>
            <a:ext cx="1993392" cy="256032"/>
          </a:xfrm>
          <a:prstGeom prst="rect">
            <a:avLst/>
          </a:prstGeom>
          <a:noFill/>
          <a:ln/>
        </p:spPr>
        <p:txBody>
          <a:bodyPr wrap="square" lIns="0" tIns="0" rIns="0" bIns="0" rtlCol="0" anchor="ctr">
            <a:spAutoFit/>
          </a:bodyPr>
          <a:lstStyle/>
          <a:p>
            <a:pPr algn="l" indent="0" marL="0">
              <a:buNone/>
            </a:pPr>
            <a:r>
              <a:rPr lang="en-US" sz="750" i="1" dirty="0">
                <a:solidFill>
                  <a:srgbClr val="01A296"/>
                </a:solidFill>
                <a:latin typeface="Calibri" pitchFamily="34" charset="0"/>
                <a:ea typeface="Calibri" pitchFamily="34" charset="-122"/>
                <a:cs typeface="Calibri" pitchFamily="34" charset="-120"/>
              </a:rPr>
              <a:t>Qld Procurement Statement 2023</a:t>
            </a:r>
            <a:endParaRPr lang="en-US" sz="750" dirty="0"/>
          </a:p>
        </p:txBody>
      </p:sp>
      <p:sp>
        <p:nvSpPr>
          <p:cNvPr id="35" name="Text 33"/>
          <p:cNvSpPr/>
          <p:nvPr/>
        </p:nvSpPr>
        <p:spPr>
          <a:xfrm>
            <a:off x="274320" y="3840480"/>
            <a:ext cx="6949440" cy="274320"/>
          </a:xfrm>
          <a:prstGeom prst="rect">
            <a:avLst/>
          </a:prstGeom>
          <a:noFill/>
          <a:ln/>
        </p:spPr>
        <p:txBody>
          <a:bodyPr wrap="square" lIns="0" tIns="0" rIns="0" bIns="0" rtlCol="0" anchor="ctr"/>
          <a:lstStyle/>
          <a:p>
            <a:pPr algn="l" indent="0" marL="0">
              <a:buNone/>
            </a:pPr>
            <a:r>
              <a:rPr lang="en-US" sz="1200" b="1" dirty="0">
                <a:solidFill>
                  <a:srgbClr val="01A296"/>
                </a:solidFill>
                <a:latin typeface="Calibri" pitchFamily="34" charset="0"/>
                <a:ea typeface="Calibri" pitchFamily="34" charset="-122"/>
                <a:cs typeface="Calibri" pitchFamily="34" charset="-120"/>
              </a:rPr>
              <a:t>KEY COMMERCIAL SIGNALS</a:t>
            </a:r>
            <a:endParaRPr lang="en-US" sz="1200" dirty="0"/>
          </a:p>
        </p:txBody>
      </p:sp>
      <p:sp>
        <p:nvSpPr>
          <p:cNvPr id="36" name="Text 34"/>
          <p:cNvSpPr/>
          <p:nvPr/>
        </p:nvSpPr>
        <p:spPr>
          <a:xfrm>
            <a:off x="274320" y="4160520"/>
            <a:ext cx="6949440" cy="2148840"/>
          </a:xfrm>
          <a:prstGeom prst="rect">
            <a:avLst/>
          </a:prstGeom>
          <a:noFill/>
          <a:ln/>
        </p:spPr>
        <p:txBody>
          <a:bodyPr wrap="square" lIns="0" tIns="0" rIns="0" bIns="0" rtlCol="0" anchor="t">
            <a:spAutoFit/>
          </a:bodyPr>
          <a:lstStyle/>
          <a:p>
            <a:pPr algn="l" marL="342900" indent="-342900">
              <a:spcAft>
                <a:spcPts val="800"/>
              </a:spcAft>
              <a:buSzPct val="100000"/>
              <a:buChar char="•"/>
            </a:pPr>
            <a:r>
              <a:rPr lang="en-US" sz="1100" dirty="0">
                <a:solidFill>
                  <a:srgbClr val="000000"/>
                </a:solidFill>
                <a:latin typeface="Calibri" pitchFamily="34" charset="0"/>
                <a:ea typeface="Calibri" pitchFamily="34" charset="-122"/>
                <a:cs typeface="Calibri" pitchFamily="34" charset="-120"/>
              </a:rPr>
              <a:t>Full time staff doubled in a year, team now eleven to fifty, per LinkedIn and ZoomInfo.</a:t>
            </a:r>
            <a:endParaRPr lang="en-US" sz="1100" dirty="0"/>
          </a:p>
          <a:p>
            <a:pPr algn="l" marL="342900" indent="-342900">
              <a:spcAft>
                <a:spcPts val="800"/>
              </a:spcAft>
              <a:buSzPct val="100000"/>
              <a:buChar char="•"/>
            </a:pPr>
            <a:r>
              <a:rPr lang="en-US" sz="1100" dirty="0">
                <a:solidFill>
                  <a:srgbClr val="000000"/>
                </a:solidFill>
                <a:latin typeface="Calibri" pitchFamily="34" charset="0"/>
                <a:ea typeface="Calibri" pitchFamily="34" charset="-122"/>
                <a:cs typeface="Calibri" pitchFamily="34" charset="-120"/>
              </a:rPr>
              <a:t>Clients now include the ATO, Queensland Government and Rio Tinto, per SmartCompany 2025.</a:t>
            </a:r>
            <a:endParaRPr lang="en-US" sz="1100" dirty="0"/>
          </a:p>
          <a:p>
            <a:pPr algn="l" marL="342900" indent="-342900">
              <a:spcAft>
                <a:spcPts val="800"/>
              </a:spcAft>
              <a:buSzPct val="100000"/>
              <a:buChar char="•"/>
            </a:pPr>
            <a:r>
              <a:rPr lang="en-US" sz="1100" dirty="0">
                <a:solidFill>
                  <a:srgbClr val="000000"/>
                </a:solidFill>
                <a:latin typeface="Calibri" pitchFamily="34" charset="0"/>
                <a:ea typeface="Calibri" pitchFamily="34" charset="-122"/>
                <a:cs typeface="Calibri" pitchFamily="34" charset="-120"/>
              </a:rPr>
              <a:t>Now registered on the NSW Government supplier panel, alongside its Queensland base.</a:t>
            </a:r>
            <a:endParaRPr lang="en-US" sz="1100" dirty="0"/>
          </a:p>
          <a:p>
            <a:pPr algn="l" marL="342900" indent="-342900">
              <a:spcAft>
                <a:spcPts val="800"/>
              </a:spcAft>
              <a:buSzPct val="100000"/>
              <a:buChar char="•"/>
            </a:pPr>
            <a:r>
              <a:rPr lang="en-US" sz="1100" dirty="0">
                <a:solidFill>
                  <a:srgbClr val="000000"/>
                </a:solidFill>
                <a:latin typeface="Calibri" pitchFamily="34" charset="0"/>
                <a:ea typeface="Calibri" pitchFamily="34" charset="-122"/>
                <a:cs typeface="Calibri" pitchFamily="34" charset="-120"/>
              </a:rPr>
              <a:t>Launched PINE, a network for Indigenous professionals, beyond core recruitment work.</a:t>
            </a:r>
            <a:endParaRPr lang="en-US" sz="1100" dirty="0"/>
          </a:p>
          <a:p>
            <a:pPr algn="l" marL="342900" indent="-342900">
              <a:spcAft>
                <a:spcPts val="800"/>
              </a:spcAft>
              <a:buSzPct val="100000"/>
              <a:buChar char="•"/>
            </a:pPr>
            <a:r>
              <a:rPr lang="en-US" sz="1100" dirty="0">
                <a:solidFill>
                  <a:srgbClr val="000000"/>
                </a:solidFill>
                <a:latin typeface="Calibri" pitchFamily="34" charset="0"/>
                <a:ea typeface="Calibri" pitchFamily="34" charset="-122"/>
                <a:cs typeface="Calibri" pitchFamily="34" charset="-120"/>
              </a:rPr>
              <a:t>No external equity or debt raise found. Growth appears funded from trading revenue alone.</a:t>
            </a:r>
            <a:endParaRPr lang="en-US" sz="1100" dirty="0"/>
          </a:p>
        </p:txBody>
      </p:sp>
      <p:sp>
        <p:nvSpPr>
          <p:cNvPr id="37" name="Text 35"/>
          <p:cNvSpPr/>
          <p:nvPr/>
        </p:nvSpPr>
        <p:spPr>
          <a:xfrm>
            <a:off x="7498080" y="3840480"/>
            <a:ext cx="4389120" cy="274320"/>
          </a:xfrm>
          <a:prstGeom prst="rect">
            <a:avLst/>
          </a:prstGeom>
          <a:noFill/>
          <a:ln/>
        </p:spPr>
        <p:txBody>
          <a:bodyPr wrap="square" lIns="0" tIns="0" rIns="0" bIns="0" rtlCol="0" anchor="ctr"/>
          <a:lstStyle/>
          <a:p>
            <a:pPr algn="l" indent="0" marL="0">
              <a:buNone/>
            </a:pPr>
            <a:r>
              <a:rPr lang="en-US" sz="1200" b="1" dirty="0">
                <a:solidFill>
                  <a:srgbClr val="01A296"/>
                </a:solidFill>
                <a:latin typeface="Calibri" pitchFamily="34" charset="0"/>
                <a:ea typeface="Calibri" pitchFamily="34" charset="-122"/>
                <a:cs typeface="Calibri" pitchFamily="34" charset="-120"/>
              </a:rPr>
              <a:t>REVENUE GROWTH, $ MILLIONS</a:t>
            </a:r>
            <a:endParaRPr lang="en-US" sz="1200" dirty="0"/>
          </a:p>
        </p:txBody>
      </p:sp>
      <p:graphicFrame>
        <p:nvGraphicFramePr>
          <p:cNvPr id="38" name="Chart 0" descr=""/>
          <p:cNvGraphicFramePr/>
          <p:nvPr/>
        </p:nvGraphicFramePr>
        <p:xfrm>
          <a:off x="7498080" y="4160520"/>
          <a:ext cx="4389120" cy="1783080"/>
        </p:xfrm>
        <a:graphic xmlns:a="http://schemas.openxmlformats.org/drawingml/2006/main">
          <a:graphicData uri="http://schemas.openxmlformats.org/drawingml/2006/chart">
            <c:chart xmlns:c="http://schemas.openxmlformats.org/drawingml/2006/chart" r:id="rId1"/>
          </a:graphicData>
        </a:graphic>
      </p:graphicFrame>
      <p:sp>
        <p:nvSpPr>
          <p:cNvPr id="39" name="Text 36"/>
          <p:cNvSpPr/>
          <p:nvPr/>
        </p:nvSpPr>
        <p:spPr>
          <a:xfrm>
            <a:off x="7498080" y="6172200"/>
            <a:ext cx="4389120" cy="274320"/>
          </a:xfrm>
          <a:prstGeom prst="rect">
            <a:avLst/>
          </a:prstGeom>
          <a:noFill/>
          <a:ln/>
        </p:spPr>
        <p:txBody>
          <a:bodyPr wrap="square" lIns="0" tIns="0" rIns="0" bIns="0" rtlCol="0" anchor="ctr"/>
          <a:lstStyle/>
          <a:p>
            <a:pPr algn="l" indent="0" marL="0">
              <a:buNone/>
            </a:pPr>
            <a:r>
              <a:rPr lang="en-US" sz="750" i="1" dirty="0">
                <a:solidFill>
                  <a:srgbClr val="01A296"/>
                </a:solidFill>
                <a:latin typeface="Calibri" pitchFamily="34" charset="0"/>
                <a:ea typeface="Calibri" pitchFamily="34" charset="-122"/>
                <a:cs typeface="Calibri" pitchFamily="34" charset="-120"/>
              </a:rPr>
              <a:t>Source: SmartCompany Smart50 2025 profile, FY23 to FY25 revenue disclosure</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 cy="6858000"/>
          </a:xfrm>
          <a:prstGeom prst="rect">
            <a:avLst/>
          </a:prstGeom>
          <a:solidFill>
            <a:srgbClr val="F6A102"/>
          </a:solidFill>
          <a:ln/>
        </p:spPr>
      </p:sp>
      <p:sp>
        <p:nvSpPr>
          <p:cNvPr id="3" name="Shape 1"/>
          <p:cNvSpPr/>
          <p:nvPr/>
        </p:nvSpPr>
        <p:spPr>
          <a:xfrm>
            <a:off x="0" y="0"/>
            <a:ext cx="12191695" cy="914400"/>
          </a:xfrm>
          <a:prstGeom prst="rect">
            <a:avLst/>
          </a:prstGeom>
          <a:solidFill>
            <a:srgbClr val="000000"/>
          </a:solidFill>
          <a:ln/>
        </p:spPr>
      </p:sp>
      <p:sp>
        <p:nvSpPr>
          <p:cNvPr id="4" name="Text 2"/>
          <p:cNvSpPr/>
          <p:nvPr/>
        </p:nvSpPr>
        <p:spPr>
          <a:xfrm>
            <a:off x="274320" y="0"/>
            <a:ext cx="7315200" cy="914400"/>
          </a:xfrm>
          <a:prstGeom prst="rect">
            <a:avLst/>
          </a:prstGeom>
          <a:noFill/>
          <a:ln/>
        </p:spPr>
        <p:txBody>
          <a:bodyPr wrap="square" lIns="0" tIns="0" rIns="0" bIns="0" rtlCol="0" anchor="ctr"/>
          <a:lstStyle/>
          <a:p>
            <a:pPr algn="l" indent="0" marL="0">
              <a:buNone/>
            </a:pPr>
            <a:r>
              <a:rPr lang="en-US" sz="1200" b="1" spc="100" kern="0" dirty="0">
                <a:solidFill>
                  <a:srgbClr val="E6E5DE"/>
                </a:solidFill>
                <a:latin typeface="Calibri" pitchFamily="34" charset="0"/>
                <a:ea typeface="Calibri" pitchFamily="34" charset="-122"/>
                <a:cs typeface="Calibri" pitchFamily="34" charset="-120"/>
              </a:rPr>
              <a:t>THE OPPORTUNITY, THREE COMMERCIAL OBSERVATIONS FOR MURACONNECT</a:t>
            </a:r>
            <a:endParaRPr lang="en-US" sz="1200" dirty="0"/>
          </a:p>
        </p:txBody>
      </p:sp>
      <p:sp>
        <p:nvSpPr>
          <p:cNvPr id="5" name="Text 3"/>
          <p:cNvSpPr/>
          <p:nvPr/>
        </p:nvSpPr>
        <p:spPr>
          <a:xfrm>
            <a:off x="5029200" y="0"/>
            <a:ext cx="6858000" cy="914400"/>
          </a:xfrm>
          <a:prstGeom prst="rect">
            <a:avLst/>
          </a:prstGeom>
          <a:noFill/>
          <a:ln/>
        </p:spPr>
        <p:txBody>
          <a:bodyPr wrap="square" lIns="0" tIns="0" rIns="0" bIns="0" rtlCol="0" anchor="ctr"/>
          <a:lstStyle/>
          <a:p>
            <a:pPr algn="r" indent="0" marL="0">
              <a:buNone/>
            </a:pPr>
            <a:r>
              <a:rPr lang="en-US" sz="1600" b="1" dirty="0">
                <a:solidFill>
                  <a:srgbClr val="01A296"/>
                </a:solidFill>
                <a:latin typeface="Cambria" pitchFamily="34" charset="0"/>
                <a:ea typeface="Cambria" pitchFamily="34" charset="-122"/>
                <a:cs typeface="Cambria" pitchFamily="34" charset="-120"/>
              </a:rPr>
              <a:t>PROFITPULSE</a:t>
            </a:r>
            <a:endParaRPr lang="en-US" sz="1600" dirty="0"/>
          </a:p>
        </p:txBody>
      </p:sp>
      <p:sp>
        <p:nvSpPr>
          <p:cNvPr id="6" name="Text 4"/>
          <p:cNvSpPr/>
          <p:nvPr/>
        </p:nvSpPr>
        <p:spPr>
          <a:xfrm>
            <a:off x="274320" y="6446520"/>
            <a:ext cx="8229600" cy="274320"/>
          </a:xfrm>
          <a:prstGeom prst="rect">
            <a:avLst/>
          </a:prstGeom>
          <a:noFill/>
          <a:ln/>
        </p:spPr>
        <p:txBody>
          <a:bodyPr wrap="square" lIns="0" tIns="0" rIns="0" bIns="0" rtlCol="0" anchor="ctr"/>
          <a:lstStyle/>
          <a:p>
            <a:pPr algn="l" indent="0" marL="0">
              <a:buNone/>
            </a:pPr>
            <a:r>
              <a:rPr lang="en-US" sz="800" dirty="0">
                <a:solidFill>
                  <a:srgbClr val="000000"/>
                </a:solidFill>
                <a:latin typeface="Calibri" pitchFamily="34" charset="0"/>
                <a:ea typeface="Calibri" pitchFamily="34" charset="-122"/>
                <a:cs typeface="Calibri" pitchFamily="34" charset="-120"/>
              </a:rPr>
              <a:t>Prepared by Nitesh Roopa CA, Managing Partner and Founder, ProfitPulse, Profit-Pulse.com.au</a:t>
            </a:r>
            <a:endParaRPr lang="en-US" sz="800" dirty="0"/>
          </a:p>
        </p:txBody>
      </p:sp>
      <p:sp>
        <p:nvSpPr>
          <p:cNvPr id="7" name="Text 5"/>
          <p:cNvSpPr/>
          <p:nvPr/>
        </p:nvSpPr>
        <p:spPr>
          <a:xfrm>
            <a:off x="8686800" y="6446520"/>
            <a:ext cx="3200400" cy="274320"/>
          </a:xfrm>
          <a:prstGeom prst="rect">
            <a:avLst/>
          </a:prstGeom>
          <a:noFill/>
          <a:ln/>
        </p:spPr>
        <p:txBody>
          <a:bodyPr wrap="square" lIns="0" tIns="0" rIns="0" bIns="0" rtlCol="0" anchor="ctr"/>
          <a:lstStyle/>
          <a:p>
            <a:pPr algn="r" indent="0" marL="0">
              <a:buNone/>
            </a:pPr>
            <a:r>
              <a:rPr lang="en-US" sz="800" dirty="0">
                <a:solidFill>
                  <a:srgbClr val="000000"/>
                </a:solidFill>
                <a:latin typeface="Calibri" pitchFamily="34" charset="0"/>
                <a:ea typeface="Calibri" pitchFamily="34" charset="-122"/>
                <a:cs typeface="Calibri" pitchFamily="34" charset="-120"/>
              </a:rPr>
              <a:t>23 Jul 2026</a:t>
            </a:r>
            <a:endParaRPr lang="en-US" sz="800" dirty="0"/>
          </a:p>
        </p:txBody>
      </p:sp>
      <p:sp>
        <p:nvSpPr>
          <p:cNvPr id="8" name="Shape 6"/>
          <p:cNvSpPr/>
          <p:nvPr/>
        </p:nvSpPr>
        <p:spPr>
          <a:xfrm>
            <a:off x="0" y="1051560"/>
            <a:ext cx="4063898" cy="4617720"/>
          </a:xfrm>
          <a:prstGeom prst="rect">
            <a:avLst/>
          </a:prstGeom>
          <a:solidFill>
            <a:srgbClr val="01A296"/>
          </a:solidFill>
          <a:ln/>
        </p:spPr>
      </p:sp>
      <p:sp>
        <p:nvSpPr>
          <p:cNvPr id="9" name="Text 7"/>
          <p:cNvSpPr/>
          <p:nvPr/>
        </p:nvSpPr>
        <p:spPr>
          <a:xfrm>
            <a:off x="274320" y="1280160"/>
            <a:ext cx="3515258" cy="822960"/>
          </a:xfrm>
          <a:prstGeom prst="rect">
            <a:avLst/>
          </a:prstGeom>
          <a:noFill/>
          <a:ln/>
        </p:spPr>
        <p:txBody>
          <a:bodyPr wrap="square" lIns="0" tIns="0" rIns="0" bIns="0" rtlCol="0" anchor="ctr"/>
          <a:lstStyle/>
          <a:p>
            <a:pPr algn="l" indent="0" marL="0">
              <a:buNone/>
            </a:pPr>
            <a:r>
              <a:rPr lang="en-US" sz="4000" b="1" dirty="0">
                <a:solidFill>
                  <a:srgbClr val="000000"/>
                </a:solidFill>
                <a:latin typeface="Cambria" pitchFamily="34" charset="0"/>
                <a:ea typeface="Cambria" pitchFamily="34" charset="-122"/>
                <a:cs typeface="Cambria" pitchFamily="34" charset="-120"/>
              </a:rPr>
              <a:t>01</a:t>
            </a:r>
            <a:endParaRPr lang="en-US" sz="4000" dirty="0"/>
          </a:p>
        </p:txBody>
      </p:sp>
      <p:sp>
        <p:nvSpPr>
          <p:cNvPr id="10" name="Text 8"/>
          <p:cNvSpPr/>
          <p:nvPr/>
        </p:nvSpPr>
        <p:spPr>
          <a:xfrm>
            <a:off x="274320" y="2103120"/>
            <a:ext cx="3515258" cy="685800"/>
          </a:xfrm>
          <a:prstGeom prst="rect">
            <a:avLst/>
          </a:prstGeom>
          <a:noFill/>
          <a:ln/>
        </p:spPr>
        <p:txBody>
          <a:bodyPr wrap="square" lIns="0" tIns="0" rIns="0" bIns="0" rtlCol="0" anchor="ctr">
            <a:spAutoFit/>
          </a:bodyPr>
          <a:lstStyle/>
          <a:p>
            <a:pPr algn="l" indent="0" marL="0">
              <a:buNone/>
            </a:pPr>
            <a:r>
              <a:rPr lang="en-US" sz="1600" b="1" dirty="0">
                <a:solidFill>
                  <a:srgbClr val="000000"/>
                </a:solidFill>
                <a:latin typeface="Cambria" pitchFamily="34" charset="0"/>
                <a:ea typeface="Cambria" pitchFamily="34" charset="-122"/>
                <a:cs typeface="Cambria" pitchFamily="34" charset="-120"/>
              </a:rPr>
              <a:t>Growth has outpaced the finance function</a:t>
            </a:r>
            <a:endParaRPr lang="en-US" sz="1600" dirty="0"/>
          </a:p>
        </p:txBody>
      </p:sp>
      <p:sp>
        <p:nvSpPr>
          <p:cNvPr id="11" name="Text 9"/>
          <p:cNvSpPr/>
          <p:nvPr/>
        </p:nvSpPr>
        <p:spPr>
          <a:xfrm>
            <a:off x="274320" y="2834640"/>
            <a:ext cx="3515258" cy="2651760"/>
          </a:xfrm>
          <a:prstGeom prst="rect">
            <a:avLst/>
          </a:prstGeom>
          <a:noFill/>
          <a:ln/>
        </p:spPr>
        <p:txBody>
          <a:bodyPr wrap="square" lIns="0" tIns="0" rIns="0" bIns="0" rtlCol="0" anchor="t">
            <a:spAutoFit/>
          </a:bodyPr>
          <a:lstStyle/>
          <a:p>
            <a:pPr algn="l" indent="0" marL="0">
              <a:buNone/>
            </a:pPr>
            <a:r>
              <a:rPr lang="en-US" sz="1150" dirty="0">
                <a:solidFill>
                  <a:srgbClr val="000000"/>
                </a:solidFill>
                <a:latin typeface="Calibri" pitchFamily="34" charset="0"/>
                <a:ea typeface="Calibri" pitchFamily="34" charset="-122"/>
                <a:cs typeface="Calibri" pitchFamily="34" charset="-120"/>
              </a:rPr>
              <a:t>Revenue grew from $2.7 million to $10.1 million in three years, a 90 percent average annual rate that placed MuraConnect sixth nationally in the 2025 Smart50 Awards. Full time headcount doubled over the same period, and cash visibility typically lags behind growth moving this fast.</a:t>
            </a:r>
            <a:endParaRPr lang="en-US" sz="1150" dirty="0"/>
          </a:p>
        </p:txBody>
      </p:sp>
      <p:sp>
        <p:nvSpPr>
          <p:cNvPr id="12" name="Shape 10"/>
          <p:cNvSpPr/>
          <p:nvPr/>
        </p:nvSpPr>
        <p:spPr>
          <a:xfrm>
            <a:off x="4063898" y="1051560"/>
            <a:ext cx="4063898" cy="4617720"/>
          </a:xfrm>
          <a:prstGeom prst="rect">
            <a:avLst/>
          </a:prstGeom>
          <a:solidFill>
            <a:srgbClr val="000000"/>
          </a:solidFill>
          <a:ln/>
        </p:spPr>
      </p:sp>
      <p:sp>
        <p:nvSpPr>
          <p:cNvPr id="13" name="Text 11"/>
          <p:cNvSpPr/>
          <p:nvPr/>
        </p:nvSpPr>
        <p:spPr>
          <a:xfrm>
            <a:off x="4338218" y="1280160"/>
            <a:ext cx="3515258" cy="822960"/>
          </a:xfrm>
          <a:prstGeom prst="rect">
            <a:avLst/>
          </a:prstGeom>
          <a:noFill/>
          <a:ln/>
        </p:spPr>
        <p:txBody>
          <a:bodyPr wrap="square" lIns="0" tIns="0" rIns="0" bIns="0" rtlCol="0" anchor="ctr"/>
          <a:lstStyle/>
          <a:p>
            <a:pPr algn="l" indent="0" marL="0">
              <a:buNone/>
            </a:pPr>
            <a:r>
              <a:rPr lang="en-US" sz="4000" b="1" dirty="0">
                <a:solidFill>
                  <a:srgbClr val="F8C806"/>
                </a:solidFill>
                <a:latin typeface="Cambria" pitchFamily="34" charset="0"/>
                <a:ea typeface="Cambria" pitchFamily="34" charset="-122"/>
                <a:cs typeface="Cambria" pitchFamily="34" charset="-120"/>
              </a:rPr>
              <a:t>02</a:t>
            </a:r>
            <a:endParaRPr lang="en-US" sz="4000" dirty="0"/>
          </a:p>
        </p:txBody>
      </p:sp>
      <p:sp>
        <p:nvSpPr>
          <p:cNvPr id="14" name="Text 12"/>
          <p:cNvSpPr/>
          <p:nvPr/>
        </p:nvSpPr>
        <p:spPr>
          <a:xfrm>
            <a:off x="4338218" y="2103120"/>
            <a:ext cx="3515258" cy="685800"/>
          </a:xfrm>
          <a:prstGeom prst="rect">
            <a:avLst/>
          </a:prstGeom>
          <a:noFill/>
          <a:ln/>
        </p:spPr>
        <p:txBody>
          <a:bodyPr wrap="square" lIns="0" tIns="0" rIns="0" bIns="0" rtlCol="0" anchor="ctr">
            <a:spAutoFit/>
          </a:bodyPr>
          <a:lstStyle/>
          <a:p>
            <a:pPr algn="l" indent="0" marL="0">
              <a:buNone/>
            </a:pPr>
            <a:r>
              <a:rPr lang="en-US" sz="1600" b="1" dirty="0">
                <a:solidFill>
                  <a:srgbClr val="E6E5DE"/>
                </a:solidFill>
                <a:latin typeface="Cambria" pitchFamily="34" charset="0"/>
                <a:ea typeface="Cambria" pitchFamily="34" charset="-122"/>
                <a:cs typeface="Cambria" pitchFamily="34" charset="-120"/>
              </a:rPr>
              <a:t>Panel growth brings concentration risk</a:t>
            </a:r>
            <a:endParaRPr lang="en-US" sz="1600" dirty="0"/>
          </a:p>
        </p:txBody>
      </p:sp>
      <p:sp>
        <p:nvSpPr>
          <p:cNvPr id="15" name="Text 13"/>
          <p:cNvSpPr/>
          <p:nvPr/>
        </p:nvSpPr>
        <p:spPr>
          <a:xfrm>
            <a:off x="4338218" y="2834640"/>
            <a:ext cx="3515258" cy="2651760"/>
          </a:xfrm>
          <a:prstGeom prst="rect">
            <a:avLst/>
          </a:prstGeom>
          <a:noFill/>
          <a:ln/>
        </p:spPr>
        <p:txBody>
          <a:bodyPr wrap="square" lIns="0" tIns="0" rIns="0" bIns="0" rtlCol="0" anchor="t">
            <a:spAutoFit/>
          </a:bodyPr>
          <a:lstStyle/>
          <a:p>
            <a:pPr algn="l" indent="0" marL="0">
              <a:buNone/>
            </a:pPr>
            <a:r>
              <a:rPr lang="en-US" sz="1150" dirty="0">
                <a:solidFill>
                  <a:srgbClr val="E6E5DE"/>
                </a:solidFill>
                <a:latin typeface="Calibri" pitchFamily="34" charset="0"/>
                <a:ea typeface="Calibri" pitchFamily="34" charset="-122"/>
                <a:cs typeface="Calibri" pitchFamily="34" charset="-120"/>
              </a:rPr>
              <a:t>Queensland departments served grew from four to fifteen in a year, and MuraConnect has since joined the New South Wales Government panel too. That is real diversification, but public sector reliance still runs deep, and a clear map of revenue by client would show where to target next.</a:t>
            </a:r>
            <a:endParaRPr lang="en-US" sz="1150" dirty="0"/>
          </a:p>
        </p:txBody>
      </p:sp>
      <p:sp>
        <p:nvSpPr>
          <p:cNvPr id="16" name="Shape 14"/>
          <p:cNvSpPr/>
          <p:nvPr/>
        </p:nvSpPr>
        <p:spPr>
          <a:xfrm>
            <a:off x="8127797" y="1051560"/>
            <a:ext cx="4063898" cy="4617720"/>
          </a:xfrm>
          <a:prstGeom prst="rect">
            <a:avLst/>
          </a:prstGeom>
          <a:solidFill>
            <a:srgbClr val="E3A712"/>
          </a:solidFill>
          <a:ln/>
        </p:spPr>
      </p:sp>
      <p:sp>
        <p:nvSpPr>
          <p:cNvPr id="17" name="Text 15"/>
          <p:cNvSpPr/>
          <p:nvPr/>
        </p:nvSpPr>
        <p:spPr>
          <a:xfrm>
            <a:off x="8402117" y="1280160"/>
            <a:ext cx="3515258" cy="822960"/>
          </a:xfrm>
          <a:prstGeom prst="rect">
            <a:avLst/>
          </a:prstGeom>
          <a:noFill/>
          <a:ln/>
        </p:spPr>
        <p:txBody>
          <a:bodyPr wrap="square" lIns="0" tIns="0" rIns="0" bIns="0" rtlCol="0" anchor="ctr"/>
          <a:lstStyle/>
          <a:p>
            <a:pPr algn="l" indent="0" marL="0">
              <a:buNone/>
            </a:pPr>
            <a:r>
              <a:rPr lang="en-US" sz="4000" b="1" dirty="0">
                <a:solidFill>
                  <a:srgbClr val="000000"/>
                </a:solidFill>
                <a:latin typeface="Cambria" pitchFamily="34" charset="0"/>
                <a:ea typeface="Cambria" pitchFamily="34" charset="-122"/>
                <a:cs typeface="Cambria" pitchFamily="34" charset="-120"/>
              </a:rPr>
              <a:t>03</a:t>
            </a:r>
            <a:endParaRPr lang="en-US" sz="4000" dirty="0"/>
          </a:p>
        </p:txBody>
      </p:sp>
      <p:sp>
        <p:nvSpPr>
          <p:cNvPr id="18" name="Text 16"/>
          <p:cNvSpPr/>
          <p:nvPr/>
        </p:nvSpPr>
        <p:spPr>
          <a:xfrm>
            <a:off x="8402117" y="2103120"/>
            <a:ext cx="3515258" cy="685800"/>
          </a:xfrm>
          <a:prstGeom prst="rect">
            <a:avLst/>
          </a:prstGeom>
          <a:noFill/>
          <a:ln/>
        </p:spPr>
        <p:txBody>
          <a:bodyPr wrap="square" lIns="0" tIns="0" rIns="0" bIns="0" rtlCol="0" anchor="ctr">
            <a:spAutoFit/>
          </a:bodyPr>
          <a:lstStyle/>
          <a:p>
            <a:pPr algn="l" indent="0" marL="0">
              <a:buNone/>
            </a:pPr>
            <a:r>
              <a:rPr lang="en-US" sz="1600" b="1" dirty="0">
                <a:solidFill>
                  <a:srgbClr val="000000"/>
                </a:solidFill>
                <a:latin typeface="Cambria" pitchFamily="34" charset="0"/>
                <a:ea typeface="Cambria" pitchFamily="34" charset="-122"/>
                <a:cs typeface="Cambria" pitchFamily="34" charset="-120"/>
              </a:rPr>
              <a:t>Recruitment margins need close management</a:t>
            </a:r>
            <a:endParaRPr lang="en-US" sz="1600" dirty="0"/>
          </a:p>
        </p:txBody>
      </p:sp>
      <p:sp>
        <p:nvSpPr>
          <p:cNvPr id="19" name="Text 17"/>
          <p:cNvSpPr/>
          <p:nvPr/>
        </p:nvSpPr>
        <p:spPr>
          <a:xfrm>
            <a:off x="8402117" y="2834640"/>
            <a:ext cx="3515258" cy="2651760"/>
          </a:xfrm>
          <a:prstGeom prst="rect">
            <a:avLst/>
          </a:prstGeom>
          <a:noFill/>
          <a:ln/>
        </p:spPr>
        <p:txBody>
          <a:bodyPr wrap="square" lIns="0" tIns="0" rIns="0" bIns="0" rtlCol="0" anchor="t">
            <a:spAutoFit/>
          </a:bodyPr>
          <a:lstStyle/>
          <a:p>
            <a:pPr algn="l" indent="0" marL="0">
              <a:buNone/>
            </a:pPr>
            <a:r>
              <a:rPr lang="en-US" sz="1150" dirty="0">
                <a:solidFill>
                  <a:srgbClr val="000000"/>
                </a:solidFill>
                <a:latin typeface="Calibri" pitchFamily="34" charset="0"/>
                <a:ea typeface="Calibri" pitchFamily="34" charset="-122"/>
                <a:cs typeface="Calibri" pitchFamily="34" charset="-120"/>
              </a:rPr>
              <a:t>Recruitment and IT delivery margins are typically thin, and they move quickly as headcount and contractor rates shift. With three co founders steering a business that has tripled in size, a monthly management pack brings the same rhythm its government clients already expect.</a:t>
            </a:r>
            <a:endParaRPr lang="en-US" sz="1150" dirty="0"/>
          </a:p>
        </p:txBody>
      </p:sp>
      <p:sp>
        <p:nvSpPr>
          <p:cNvPr id="20" name="Shape 18"/>
          <p:cNvSpPr/>
          <p:nvPr/>
        </p:nvSpPr>
        <p:spPr>
          <a:xfrm>
            <a:off x="0" y="5760720"/>
            <a:ext cx="12191695" cy="502920"/>
          </a:xfrm>
          <a:prstGeom prst="rect">
            <a:avLst/>
          </a:prstGeom>
          <a:solidFill>
            <a:srgbClr val="000000"/>
          </a:solidFill>
          <a:ln/>
        </p:spPr>
      </p:sp>
      <p:sp>
        <p:nvSpPr>
          <p:cNvPr id="21" name="Text 19"/>
          <p:cNvSpPr/>
          <p:nvPr/>
        </p:nvSpPr>
        <p:spPr>
          <a:xfrm>
            <a:off x="274320" y="5760720"/>
            <a:ext cx="11612880" cy="502920"/>
          </a:xfrm>
          <a:prstGeom prst="rect">
            <a:avLst/>
          </a:prstGeom>
          <a:noFill/>
          <a:ln/>
        </p:spPr>
        <p:txBody>
          <a:bodyPr wrap="square" lIns="0" tIns="0" rIns="0" bIns="0" rtlCol="0" anchor="ctr">
            <a:spAutoFit/>
          </a:bodyPr>
          <a:lstStyle/>
          <a:p>
            <a:pPr algn="l" indent="0" marL="0">
              <a:buNone/>
            </a:pPr>
            <a:r>
              <a:rPr lang="en-US" sz="1050" i="1" dirty="0">
                <a:solidFill>
                  <a:srgbClr val="E6E5DE"/>
                </a:solidFill>
                <a:latin typeface="Calibri" pitchFamily="34" charset="0"/>
                <a:ea typeface="Calibri" pitchFamily="34" charset="-122"/>
                <a:cs typeface="Calibri" pitchFamily="34" charset="-120"/>
              </a:rPr>
              <a:t>These observations are offered in good faith. MuraConnect has built something genuinely impressive in three years. The question is simply whether the financial architecture matches the ambition.</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 cy="6858000"/>
          </a:xfrm>
          <a:prstGeom prst="rect">
            <a:avLst/>
          </a:prstGeom>
          <a:solidFill>
            <a:srgbClr val="F6A102"/>
          </a:solidFill>
          <a:ln/>
        </p:spPr>
      </p:sp>
      <p:sp>
        <p:nvSpPr>
          <p:cNvPr id="3" name="Shape 1"/>
          <p:cNvSpPr/>
          <p:nvPr/>
        </p:nvSpPr>
        <p:spPr>
          <a:xfrm>
            <a:off x="0" y="0"/>
            <a:ext cx="12191695" cy="914400"/>
          </a:xfrm>
          <a:prstGeom prst="rect">
            <a:avLst/>
          </a:prstGeom>
          <a:solidFill>
            <a:srgbClr val="000000"/>
          </a:solidFill>
          <a:ln/>
        </p:spPr>
      </p:sp>
      <p:sp>
        <p:nvSpPr>
          <p:cNvPr id="4" name="Text 2"/>
          <p:cNvSpPr/>
          <p:nvPr/>
        </p:nvSpPr>
        <p:spPr>
          <a:xfrm>
            <a:off x="274320" y="0"/>
            <a:ext cx="7315200" cy="914400"/>
          </a:xfrm>
          <a:prstGeom prst="rect">
            <a:avLst/>
          </a:prstGeom>
          <a:noFill/>
          <a:ln/>
        </p:spPr>
        <p:txBody>
          <a:bodyPr wrap="square" lIns="0" tIns="0" rIns="0" bIns="0" rtlCol="0" anchor="ctr"/>
          <a:lstStyle/>
          <a:p>
            <a:pPr algn="l" indent="0" marL="0">
              <a:buNone/>
            </a:pPr>
            <a:r>
              <a:rPr lang="en-US" sz="1200" b="1" spc="100" kern="0" dirty="0">
                <a:solidFill>
                  <a:srgbClr val="E6E5DE"/>
                </a:solidFill>
                <a:latin typeface="Calibri" pitchFamily="34" charset="0"/>
                <a:ea typeface="Calibri" pitchFamily="34" charset="-122"/>
                <a:cs typeface="Calibri" pitchFamily="34" charset="-120"/>
              </a:rPr>
              <a:t>THE RECOMMENDATION</a:t>
            </a:r>
            <a:endParaRPr lang="en-US" sz="1200" dirty="0"/>
          </a:p>
        </p:txBody>
      </p:sp>
      <p:sp>
        <p:nvSpPr>
          <p:cNvPr id="5" name="Text 3"/>
          <p:cNvSpPr/>
          <p:nvPr/>
        </p:nvSpPr>
        <p:spPr>
          <a:xfrm>
            <a:off x="5029200" y="0"/>
            <a:ext cx="6858000" cy="914400"/>
          </a:xfrm>
          <a:prstGeom prst="rect">
            <a:avLst/>
          </a:prstGeom>
          <a:noFill/>
          <a:ln/>
        </p:spPr>
        <p:txBody>
          <a:bodyPr wrap="square" lIns="0" tIns="0" rIns="0" bIns="0" rtlCol="0" anchor="ctr"/>
          <a:lstStyle/>
          <a:p>
            <a:pPr algn="r" indent="0" marL="0">
              <a:buNone/>
            </a:pPr>
            <a:r>
              <a:rPr lang="en-US" sz="1600" b="1" dirty="0">
                <a:solidFill>
                  <a:srgbClr val="01A296"/>
                </a:solidFill>
                <a:latin typeface="Cambria" pitchFamily="34" charset="0"/>
                <a:ea typeface="Cambria" pitchFamily="34" charset="-122"/>
                <a:cs typeface="Cambria" pitchFamily="34" charset="-120"/>
              </a:rPr>
              <a:t>PROFITPULSE</a:t>
            </a:r>
            <a:endParaRPr lang="en-US" sz="1600" dirty="0"/>
          </a:p>
        </p:txBody>
      </p:sp>
      <p:sp>
        <p:nvSpPr>
          <p:cNvPr id="6" name="Text 4"/>
          <p:cNvSpPr/>
          <p:nvPr/>
        </p:nvSpPr>
        <p:spPr>
          <a:xfrm>
            <a:off x="274320" y="6446520"/>
            <a:ext cx="8229600" cy="274320"/>
          </a:xfrm>
          <a:prstGeom prst="rect">
            <a:avLst/>
          </a:prstGeom>
          <a:noFill/>
          <a:ln/>
        </p:spPr>
        <p:txBody>
          <a:bodyPr wrap="square" lIns="0" tIns="0" rIns="0" bIns="0" rtlCol="0" anchor="ctr"/>
          <a:lstStyle/>
          <a:p>
            <a:pPr algn="l" indent="0" marL="0">
              <a:buNone/>
            </a:pPr>
            <a:r>
              <a:rPr lang="en-US" sz="800" dirty="0">
                <a:solidFill>
                  <a:srgbClr val="000000"/>
                </a:solidFill>
                <a:latin typeface="Calibri" pitchFamily="34" charset="0"/>
                <a:ea typeface="Calibri" pitchFamily="34" charset="-122"/>
                <a:cs typeface="Calibri" pitchFamily="34" charset="-120"/>
              </a:rPr>
              <a:t>Prepared by Nitesh Roopa CA, Managing Partner and Founder, ProfitPulse, Profit-Pulse.com.au</a:t>
            </a:r>
            <a:endParaRPr lang="en-US" sz="800" dirty="0"/>
          </a:p>
        </p:txBody>
      </p:sp>
      <p:sp>
        <p:nvSpPr>
          <p:cNvPr id="7" name="Text 5"/>
          <p:cNvSpPr/>
          <p:nvPr/>
        </p:nvSpPr>
        <p:spPr>
          <a:xfrm>
            <a:off x="8686800" y="6446520"/>
            <a:ext cx="3200400" cy="274320"/>
          </a:xfrm>
          <a:prstGeom prst="rect">
            <a:avLst/>
          </a:prstGeom>
          <a:noFill/>
          <a:ln/>
        </p:spPr>
        <p:txBody>
          <a:bodyPr wrap="square" lIns="0" tIns="0" rIns="0" bIns="0" rtlCol="0" anchor="ctr"/>
          <a:lstStyle/>
          <a:p>
            <a:pPr algn="r" indent="0" marL="0">
              <a:buNone/>
            </a:pPr>
            <a:r>
              <a:rPr lang="en-US" sz="800" dirty="0">
                <a:solidFill>
                  <a:srgbClr val="000000"/>
                </a:solidFill>
                <a:latin typeface="Calibri" pitchFamily="34" charset="0"/>
                <a:ea typeface="Calibri" pitchFamily="34" charset="-122"/>
                <a:cs typeface="Calibri" pitchFamily="34" charset="-120"/>
              </a:rPr>
              <a:t>23 Jul 2026</a:t>
            </a:r>
            <a:endParaRPr lang="en-US" sz="800" dirty="0"/>
          </a:p>
        </p:txBody>
      </p:sp>
      <p:sp>
        <p:nvSpPr>
          <p:cNvPr id="8" name="Text 6"/>
          <p:cNvSpPr/>
          <p:nvPr/>
        </p:nvSpPr>
        <p:spPr>
          <a:xfrm>
            <a:off x="274320" y="1097280"/>
            <a:ext cx="6492240" cy="502920"/>
          </a:xfrm>
          <a:prstGeom prst="rect">
            <a:avLst/>
          </a:prstGeom>
          <a:noFill/>
          <a:ln/>
        </p:spPr>
        <p:txBody>
          <a:bodyPr wrap="square" lIns="0" tIns="0" rIns="0" bIns="0" rtlCol="0" anchor="ctr">
            <a:spAutoFit/>
          </a:bodyPr>
          <a:lstStyle/>
          <a:p>
            <a:pPr algn="l" indent="0" marL="0">
              <a:buNone/>
            </a:pPr>
            <a:r>
              <a:rPr lang="en-US" sz="2400" b="1" dirty="0">
                <a:solidFill>
                  <a:srgbClr val="000000"/>
                </a:solidFill>
                <a:latin typeface="Cambria" pitchFamily="34" charset="0"/>
                <a:ea typeface="Cambria" pitchFamily="34" charset="-122"/>
                <a:cs typeface="Cambria" pitchFamily="34" charset="-120"/>
              </a:rPr>
              <a:t>Fractional CFO Partnership</a:t>
            </a:r>
            <a:endParaRPr lang="en-US" sz="2400" dirty="0"/>
          </a:p>
        </p:txBody>
      </p:sp>
      <p:sp>
        <p:nvSpPr>
          <p:cNvPr id="9" name="Text 7"/>
          <p:cNvSpPr/>
          <p:nvPr/>
        </p:nvSpPr>
        <p:spPr>
          <a:xfrm>
            <a:off x="274320" y="1600200"/>
            <a:ext cx="6492240" cy="365760"/>
          </a:xfrm>
          <a:prstGeom prst="rect">
            <a:avLst/>
          </a:prstGeom>
          <a:noFill/>
          <a:ln/>
        </p:spPr>
        <p:txBody>
          <a:bodyPr wrap="square" lIns="0" tIns="0" rIns="0" bIns="0" rtlCol="0" anchor="ctr"/>
          <a:lstStyle/>
          <a:p>
            <a:pPr algn="l" indent="0" marL="0">
              <a:buNone/>
            </a:pPr>
            <a:r>
              <a:rPr lang="en-US" sz="1600" b="1" dirty="0">
                <a:solidFill>
                  <a:srgbClr val="01A296"/>
                </a:solidFill>
                <a:latin typeface="Calibri" pitchFamily="34" charset="0"/>
                <a:ea typeface="Calibri" pitchFamily="34" charset="-122"/>
                <a:cs typeface="Calibri" pitchFamily="34" charset="-120"/>
              </a:rPr>
              <a:t>$4,950 per month</a:t>
            </a:r>
            <a:endParaRPr lang="en-US" sz="1600" dirty="0"/>
          </a:p>
        </p:txBody>
      </p:sp>
      <p:sp>
        <p:nvSpPr>
          <p:cNvPr id="10" name="Text 8"/>
          <p:cNvSpPr/>
          <p:nvPr/>
        </p:nvSpPr>
        <p:spPr>
          <a:xfrm>
            <a:off x="274320" y="2011680"/>
            <a:ext cx="6492240" cy="640080"/>
          </a:xfrm>
          <a:prstGeom prst="rect">
            <a:avLst/>
          </a:prstGeom>
          <a:noFill/>
          <a:ln/>
        </p:spPr>
        <p:txBody>
          <a:bodyPr wrap="square" lIns="0" tIns="0" rIns="0" bIns="0" rtlCol="0" anchor="t">
            <a:spAutoFit/>
          </a:bodyPr>
          <a:lstStyle/>
          <a:p>
            <a:pPr algn="l" indent="0" marL="0">
              <a:buNone/>
            </a:pPr>
            <a:r>
              <a:rPr lang="en-US" sz="1200" dirty="0">
                <a:solidFill>
                  <a:srgbClr val="000000"/>
                </a:solidFill>
                <a:latin typeface="Calibri" pitchFamily="34" charset="0"/>
                <a:ea typeface="Calibri" pitchFamily="34" charset="-122"/>
                <a:cs typeface="Calibri" pitchFamily="34" charset="-120"/>
              </a:rPr>
              <a:t>A senior financial partner at the table monthly, with management reporting, a quarterly board grade review and ad hoc decision support.</a:t>
            </a:r>
            <a:endParaRPr lang="en-US" sz="1200" dirty="0"/>
          </a:p>
        </p:txBody>
      </p:sp>
      <p:sp>
        <p:nvSpPr>
          <p:cNvPr id="11" name="Shape 9"/>
          <p:cNvSpPr/>
          <p:nvPr/>
        </p:nvSpPr>
        <p:spPr>
          <a:xfrm>
            <a:off x="274320" y="2743200"/>
            <a:ext cx="6492240" cy="1234440"/>
          </a:xfrm>
          <a:prstGeom prst="rect">
            <a:avLst/>
          </a:prstGeom>
          <a:solidFill>
            <a:srgbClr val="FFFFFF"/>
          </a:solidFill>
          <a:ln w="19050">
            <a:solidFill>
              <a:srgbClr val="01A296"/>
            </a:solidFill>
            <a:prstDash val="solid"/>
          </a:ln>
        </p:spPr>
      </p:sp>
      <p:sp>
        <p:nvSpPr>
          <p:cNvPr id="12" name="Text 10"/>
          <p:cNvSpPr/>
          <p:nvPr/>
        </p:nvSpPr>
        <p:spPr>
          <a:xfrm>
            <a:off x="457200" y="2852928"/>
            <a:ext cx="6126480" cy="320040"/>
          </a:xfrm>
          <a:prstGeom prst="rect">
            <a:avLst/>
          </a:prstGeom>
          <a:noFill/>
          <a:ln/>
        </p:spPr>
        <p:txBody>
          <a:bodyPr wrap="square" lIns="0" tIns="0" rIns="0" bIns="0" rtlCol="0" anchor="ctr"/>
          <a:lstStyle/>
          <a:p>
            <a:pPr algn="l" indent="0" marL="0">
              <a:buNone/>
            </a:pPr>
            <a:r>
              <a:rPr lang="en-US" sz="1300" b="1" dirty="0">
                <a:solidFill>
                  <a:srgbClr val="01A296"/>
                </a:solidFill>
                <a:latin typeface="Calibri" pitchFamily="34" charset="0"/>
                <a:ea typeface="Calibri" pitchFamily="34" charset="-122"/>
                <a:cs typeface="Calibri" pitchFamily="34" charset="-120"/>
              </a:rPr>
              <a:t>Step one, answer a few quick questions</a:t>
            </a:r>
            <a:endParaRPr lang="en-US" sz="1300" dirty="0"/>
          </a:p>
        </p:txBody>
      </p:sp>
      <p:sp>
        <p:nvSpPr>
          <p:cNvPr id="13" name="Text 11"/>
          <p:cNvSpPr/>
          <p:nvPr/>
        </p:nvSpPr>
        <p:spPr>
          <a:xfrm>
            <a:off x="457200" y="3182112"/>
            <a:ext cx="6126480" cy="274320"/>
          </a:xfrm>
          <a:prstGeom prst="rect">
            <a:avLst/>
          </a:prstGeom>
          <a:noFill/>
          <a:ln/>
        </p:spPr>
        <p:txBody>
          <a:bodyPr wrap="square" lIns="0" tIns="0" rIns="0" bIns="0" rtlCol="0" anchor="ctr"/>
          <a:lstStyle/>
          <a:p>
            <a:pPr algn="l" indent="0" marL="0">
              <a:buNone/>
            </a:pPr>
            <a:r>
              <a:rPr lang="en-US" sz="1100" dirty="0">
                <a:solidFill>
                  <a:srgbClr val="000000"/>
                </a:solidFill>
                <a:latin typeface="Calibri" pitchFamily="34" charset="0"/>
                <a:ea typeface="Calibri" pitchFamily="34" charset="-122"/>
                <a:cs typeface="Calibri" pitchFamily="34" charset="-120"/>
              </a:rPr>
              <a:t>See the solutions matched to your size and industry.</a:t>
            </a:r>
            <a:endParaRPr lang="en-US" sz="1100" dirty="0"/>
          </a:p>
        </p:txBody>
      </p:sp>
      <p:sp>
        <p:nvSpPr>
          <p:cNvPr id="14" name="Text 12">
            <a:hlinkClick r:id="rId1" tooltip=""/>
          </p:cNvPr>
          <p:cNvSpPr/>
          <p:nvPr/>
        </p:nvSpPr>
        <p:spPr>
          <a:xfrm>
            <a:off x="457200" y="3493008"/>
            <a:ext cx="6126480" cy="365760"/>
          </a:xfrm>
          <a:prstGeom prst="rect">
            <a:avLst/>
          </a:prstGeom>
          <a:noFill/>
          <a:ln/>
        </p:spPr>
        <p:txBody>
          <a:bodyPr wrap="square" lIns="0" tIns="0" rIns="0" bIns="0" rtlCol="0" anchor="ctr"/>
          <a:lstStyle/>
          <a:p>
            <a:pPr algn="l" indent="0" marL="0">
              <a:buNone/>
            </a:pPr>
            <a:r>
              <a:rPr lang="en-US" sz="1300" b="1" u="sng" dirty="0">
                <a:solidFill>
                  <a:srgbClr val="01A296"/>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profit-pulse.com.au/services/find-your-fit</a:t>
            </a:r>
            <a:endParaRPr lang="en-US" sz="1300" dirty="0"/>
          </a:p>
        </p:txBody>
      </p:sp>
      <p:sp>
        <p:nvSpPr>
          <p:cNvPr id="15" name="Shape 13"/>
          <p:cNvSpPr/>
          <p:nvPr/>
        </p:nvSpPr>
        <p:spPr>
          <a:xfrm>
            <a:off x="274320" y="4160520"/>
            <a:ext cx="6492240" cy="502920"/>
          </a:xfrm>
          <a:prstGeom prst="roundRect">
            <a:avLst>
              <a:gd name="adj" fmla="val 18182"/>
            </a:avLst>
          </a:prstGeom>
          <a:solidFill>
            <a:srgbClr val="F6A102"/>
          </a:solidFill>
          <a:ln/>
        </p:spPr>
      </p:sp>
      <p:sp>
        <p:nvSpPr>
          <p:cNvPr id="16" name="Text 14">
            <a:hlinkClick r:id="rId2" tooltip=""/>
          </p:cNvPr>
          <p:cNvSpPr/>
          <p:nvPr/>
        </p:nvSpPr>
        <p:spPr>
          <a:xfrm>
            <a:off x="274320" y="4160520"/>
            <a:ext cx="6492240" cy="502920"/>
          </a:xfrm>
          <a:prstGeom prst="rect">
            <a:avLst/>
          </a:prstGeom>
          <a:noFill/>
          <a:ln/>
        </p:spPr>
        <p:txBody>
          <a:bodyPr wrap="square" lIns="0" tIns="0" rIns="0" bIns="0" rtlCol="0" anchor="ctr"/>
          <a:lstStyle/>
          <a:p>
            <a:pPr algn="ctr" indent="0" marL="0">
              <a:buNone/>
            </a:pPr>
            <a:r>
              <a:rPr lang="en-US" sz="1300" b="1" u="sng" dirty="0">
                <a:solidFill>
                  <a:srgbClr val="000000"/>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Purchase the suggested product now to get started</a:t>
            </a:r>
            <a:endParaRPr lang="en-US" sz="1300" dirty="0"/>
          </a:p>
        </p:txBody>
      </p:sp>
      <p:sp>
        <p:nvSpPr>
          <p:cNvPr id="17" name="Text 15"/>
          <p:cNvSpPr/>
          <p:nvPr/>
        </p:nvSpPr>
        <p:spPr>
          <a:xfrm>
            <a:off x="274320" y="4892040"/>
            <a:ext cx="6492240" cy="274320"/>
          </a:xfrm>
          <a:prstGeom prst="rect">
            <a:avLst/>
          </a:prstGeom>
          <a:noFill/>
          <a:ln/>
        </p:spPr>
        <p:txBody>
          <a:bodyPr wrap="square" lIns="0" tIns="0" rIns="0" bIns="0" rtlCol="0" anchor="ctr"/>
          <a:lstStyle/>
          <a:p>
            <a:pPr algn="l" indent="0" marL="0">
              <a:buNone/>
            </a:pPr>
            <a:r>
              <a:rPr lang="en-US" sz="1100" dirty="0">
                <a:solidFill>
                  <a:srgbClr val="000000"/>
                </a:solidFill>
                <a:latin typeface="Calibri" pitchFamily="34" charset="0"/>
                <a:ea typeface="Calibri" pitchFamily="34" charset="-122"/>
                <a:cs typeface="Calibri" pitchFamily="34" charset="-120"/>
              </a:rPr>
              <a:t>Prefer a conversation first?</a:t>
            </a:r>
            <a:endParaRPr lang="en-US" sz="1100" dirty="0"/>
          </a:p>
        </p:txBody>
      </p:sp>
      <p:sp>
        <p:nvSpPr>
          <p:cNvPr id="18" name="Text 16">
            <a:hlinkClick r:id="rId3" tooltip=""/>
          </p:cNvPr>
          <p:cNvSpPr/>
          <p:nvPr/>
        </p:nvSpPr>
        <p:spPr>
          <a:xfrm>
            <a:off x="274320" y="5166360"/>
            <a:ext cx="6492240" cy="320040"/>
          </a:xfrm>
          <a:prstGeom prst="rect">
            <a:avLst/>
          </a:prstGeom>
          <a:noFill/>
          <a:ln/>
        </p:spPr>
        <p:txBody>
          <a:bodyPr wrap="square" lIns="0" tIns="0" rIns="0" bIns="0" rtlCol="0" anchor="ctr"/>
          <a:lstStyle/>
          <a:p>
            <a:pPr algn="l" indent="0" marL="0">
              <a:buNone/>
            </a:pPr>
            <a:r>
              <a:rPr lang="en-US" sz="1200" b="1" u="sng" dirty="0">
                <a:solidFill>
                  <a:srgbClr val="01A296"/>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Book a complimentary discovery call</a:t>
            </a:r>
            <a:endParaRPr lang="en-US" sz="1200" dirty="0"/>
          </a:p>
        </p:txBody>
      </p:sp>
      <p:sp>
        <p:nvSpPr>
          <p:cNvPr id="19" name="Shape 17"/>
          <p:cNvSpPr/>
          <p:nvPr/>
        </p:nvSpPr>
        <p:spPr>
          <a:xfrm>
            <a:off x="7040880" y="1051560"/>
            <a:ext cx="4892040" cy="4434840"/>
          </a:xfrm>
          <a:prstGeom prst="rect">
            <a:avLst/>
          </a:prstGeom>
          <a:solidFill>
            <a:srgbClr val="000000"/>
          </a:solidFill>
          <a:ln/>
        </p:spPr>
      </p:sp>
      <p:sp>
        <p:nvSpPr>
          <p:cNvPr id="20" name="Text 18"/>
          <p:cNvSpPr/>
          <p:nvPr/>
        </p:nvSpPr>
        <p:spPr>
          <a:xfrm>
            <a:off x="7269480" y="1234440"/>
            <a:ext cx="4434840" cy="411480"/>
          </a:xfrm>
          <a:prstGeom prst="rect">
            <a:avLst/>
          </a:prstGeom>
          <a:noFill/>
          <a:ln/>
        </p:spPr>
        <p:txBody>
          <a:bodyPr wrap="square" lIns="0" tIns="0" rIns="0" bIns="0" rtlCol="0" anchor="ctr"/>
          <a:lstStyle/>
          <a:p>
            <a:pPr algn="l" indent="0" marL="0">
              <a:buNone/>
            </a:pPr>
            <a:r>
              <a:rPr lang="en-US" sz="1800" b="1" dirty="0">
                <a:solidFill>
                  <a:srgbClr val="F8C806"/>
                </a:solidFill>
                <a:latin typeface="Cambria" pitchFamily="34" charset="0"/>
                <a:ea typeface="Cambria" pitchFamily="34" charset="-122"/>
                <a:cs typeface="Cambria" pitchFamily="34" charset="-120"/>
              </a:rPr>
              <a:t>NITESH ROOPA</a:t>
            </a:r>
            <a:endParaRPr lang="en-US" sz="1800" dirty="0"/>
          </a:p>
        </p:txBody>
      </p:sp>
      <p:sp>
        <p:nvSpPr>
          <p:cNvPr id="21" name="Text 19"/>
          <p:cNvSpPr/>
          <p:nvPr/>
        </p:nvSpPr>
        <p:spPr>
          <a:xfrm>
            <a:off x="7269480" y="1664208"/>
            <a:ext cx="4434840" cy="32004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CA, Managing Partner, ProfitPulse</a:t>
            </a:r>
            <a:endParaRPr lang="en-US" sz="1200" dirty="0"/>
          </a:p>
        </p:txBody>
      </p:sp>
      <p:sp>
        <p:nvSpPr>
          <p:cNvPr id="22" name="Text 20"/>
          <p:cNvSpPr/>
          <p:nvPr/>
        </p:nvSpPr>
        <p:spPr>
          <a:xfrm>
            <a:off x="7269480" y="2148840"/>
            <a:ext cx="4434840" cy="1737360"/>
          </a:xfrm>
          <a:prstGeom prst="rect">
            <a:avLst/>
          </a:prstGeom>
          <a:noFill/>
          <a:ln/>
        </p:spPr>
        <p:txBody>
          <a:bodyPr wrap="square" lIns="0" tIns="0" rIns="0" bIns="0" rtlCol="0" anchor="t">
            <a:spAutoFit/>
          </a:bodyPr>
          <a:lstStyle/>
          <a:p>
            <a:pPr algn="l" marL="342900" indent="-342900">
              <a:spcAft>
                <a:spcPts val="600"/>
              </a:spcAft>
              <a:buSzPct val="100000"/>
              <a:buChar char="•"/>
            </a:pPr>
            <a:r>
              <a:rPr lang="en-US" sz="1100" dirty="0">
                <a:solidFill>
                  <a:srgbClr val="E6E5DE"/>
                </a:solidFill>
                <a:latin typeface="Calibri" pitchFamily="34" charset="0"/>
                <a:ea typeface="Calibri" pitchFamily="34" charset="-122"/>
                <a:cs typeface="Calibri" pitchFamily="34" charset="-120"/>
              </a:rPr>
              <a:t>16 years across 4 countries</a:t>
            </a:r>
            <a:endParaRPr lang="en-US" sz="1100" dirty="0"/>
          </a:p>
          <a:p>
            <a:pPr algn="l" marL="342900" indent="-342900">
              <a:spcAft>
                <a:spcPts val="600"/>
              </a:spcAft>
              <a:buSzPct val="100000"/>
              <a:buChar char="•"/>
            </a:pPr>
            <a:r>
              <a:rPr lang="en-US" sz="1100" dirty="0">
                <a:solidFill>
                  <a:srgbClr val="E6E5DE"/>
                </a:solidFill>
                <a:latin typeface="Calibri" pitchFamily="34" charset="0"/>
                <a:ea typeface="Calibri" pitchFamily="34" charset="-122"/>
                <a:cs typeface="Calibri" pitchFamily="34" charset="-120"/>
              </a:rPr>
              <a:t>52 deals executed and managed</a:t>
            </a:r>
            <a:endParaRPr lang="en-US" sz="1100" dirty="0"/>
          </a:p>
          <a:p>
            <a:pPr algn="l" marL="342900" indent="-342900">
              <a:spcAft>
                <a:spcPts val="600"/>
              </a:spcAft>
              <a:buSzPct val="100000"/>
              <a:buChar char="•"/>
            </a:pPr>
            <a:r>
              <a:rPr lang="en-US" sz="1100" dirty="0">
                <a:solidFill>
                  <a:srgbClr val="E6E5DE"/>
                </a:solidFill>
                <a:latin typeface="Calibri" pitchFamily="34" charset="0"/>
                <a:ea typeface="Calibri" pitchFamily="34" charset="-122"/>
                <a:cs typeface="Calibri" pitchFamily="34" charset="-120"/>
              </a:rPr>
              <a:t>Largest single deal, USD 1.3 billion, Cahora Bassa</a:t>
            </a:r>
            <a:endParaRPr lang="en-US" sz="1100" dirty="0"/>
          </a:p>
          <a:p>
            <a:pPr algn="l" marL="342900" indent="-342900">
              <a:spcAft>
                <a:spcPts val="600"/>
              </a:spcAft>
              <a:buSzPct val="100000"/>
              <a:buChar char="•"/>
            </a:pPr>
            <a:r>
              <a:rPr lang="en-US" sz="1100" dirty="0">
                <a:solidFill>
                  <a:srgbClr val="E6E5DE"/>
                </a:solidFill>
                <a:latin typeface="Calibri" pitchFamily="34" charset="0"/>
                <a:ea typeface="Calibri" pitchFamily="34" charset="-122"/>
                <a:cs typeface="Calibri" pitchFamily="34" charset="-120"/>
              </a:rPr>
              <a:t>Total GRBT project value over AUD 10 billion, Queensland</a:t>
            </a:r>
            <a:endParaRPr lang="en-US" sz="1100" dirty="0"/>
          </a:p>
        </p:txBody>
      </p:sp>
      <p:sp>
        <p:nvSpPr>
          <p:cNvPr id="23" name="Shape 21"/>
          <p:cNvSpPr/>
          <p:nvPr/>
        </p:nvSpPr>
        <p:spPr>
          <a:xfrm>
            <a:off x="7269480" y="3977640"/>
            <a:ext cx="4434840" cy="18288"/>
          </a:xfrm>
          <a:prstGeom prst="rect">
            <a:avLst/>
          </a:prstGeom>
          <a:solidFill>
            <a:srgbClr val="01A296"/>
          </a:solidFill>
          <a:ln/>
        </p:spPr>
      </p:sp>
      <p:sp>
        <p:nvSpPr>
          <p:cNvPr id="24" name="Text 22"/>
          <p:cNvSpPr/>
          <p:nvPr/>
        </p:nvSpPr>
        <p:spPr>
          <a:xfrm>
            <a:off x="7269480" y="4114800"/>
            <a:ext cx="4434840" cy="1645920"/>
          </a:xfrm>
          <a:prstGeom prst="rect">
            <a:avLst/>
          </a:prstGeom>
          <a:noFill/>
          <a:ln/>
        </p:spPr>
        <p:txBody>
          <a:bodyPr wrap="square" lIns="0" tIns="0" rIns="0" bIns="0" rtlCol="0" anchor="t"/>
          <a:lstStyle/>
          <a:p>
            <a:pPr algn="l" indent="0" marL="0">
              <a:spcAft>
                <a:spcPts val="600"/>
              </a:spcAft>
              <a:buNone/>
            </a:pPr>
            <a:r>
              <a:rPr lang="en-US" sz="1150" dirty="0">
                <a:solidFill>
                  <a:srgbClr val="01A296"/>
                </a:solidFill>
                <a:latin typeface="Calibri" pitchFamily="34" charset="0"/>
                <a:ea typeface="Calibri" pitchFamily="34" charset="-122"/>
                <a:cs typeface="Calibri" pitchFamily="34" charset="-120"/>
              </a:rPr>
              <a:t>Profit-Pulse.com.au</a:t>
            </a:r>
            <a:endParaRPr lang="en-US" sz="1150" dirty="0"/>
          </a:p>
          <a:p>
            <a:pPr algn="l" indent="0" marL="0">
              <a:spcAft>
                <a:spcPts val="600"/>
              </a:spcAft>
              <a:buNone/>
            </a:pPr>
            <a:r>
              <a:rPr lang="en-US" sz="1150" dirty="0">
                <a:solidFill>
                  <a:srgbClr val="01A296"/>
                </a:solidFill>
                <a:latin typeface="Calibri" pitchFamily="34" charset="0"/>
                <a:ea typeface="Calibri" pitchFamily="34" charset="-122"/>
                <a:cs typeface="Calibri" pitchFamily="34" charset="-120"/>
              </a:rPr>
              <a:t>Nitesh@Profit-Pulse.com.au</a:t>
            </a:r>
            <a:endParaRPr lang="en-US" sz="1150" dirty="0"/>
          </a:p>
          <a:p>
            <a:pPr algn="l" indent="0" marL="0">
              <a:spcAft>
                <a:spcPts val="600"/>
              </a:spcAft>
              <a:buNone/>
            </a:pPr>
            <a:r>
              <a:rPr lang="en-US" sz="1150" dirty="0">
                <a:solidFill>
                  <a:srgbClr val="01A296"/>
                </a:solidFill>
                <a:latin typeface="Calibri" pitchFamily="34" charset="0"/>
                <a:ea typeface="Calibri" pitchFamily="34" charset="-122"/>
                <a:cs typeface="Calibri" pitchFamily="34" charset="-120"/>
              </a:rPr>
              <a:t>+61 411 876 267</a:t>
            </a:r>
            <a:endParaRPr lang="en-US" sz="1150" dirty="0"/>
          </a:p>
          <a:p>
            <a:pPr algn="l" indent="0" marL="0">
              <a:spcAft>
                <a:spcPts val="600"/>
              </a:spcAft>
              <a:buNone/>
            </a:pPr>
            <a:r>
              <a:rPr lang="en-US" sz="1150" dirty="0">
                <a:solidFill>
                  <a:srgbClr val="01A296"/>
                </a:solidFill>
                <a:latin typeface="Calibri" pitchFamily="34" charset="0"/>
                <a:ea typeface="Calibri" pitchFamily="34" charset="-122"/>
                <a:cs typeface="Calibri" pitchFamily="34" charset="-120"/>
              </a:rPr>
              <a:t>linkedin.com/in/nitesh-roopa-77594163</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2026-07-22T13:22:48Z</dcterms:created>
  <dcterms:modified xsi:type="dcterms:W3CDTF">2026-07-22T13:22:48Z</dcterms:modified>
</cp:coreProperties>
</file>