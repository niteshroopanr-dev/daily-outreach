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full-suite-of-products" TargetMode="External"/><Relationship Id="rId3" Type="http://schemas.openxmlformats.org/officeDocument/2006/relationships/hyperlink" Target="https://buy.stripe.com/00w4gA7OUfGM5TadMH3ks0z"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8229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09728"/>
            <a:ext cx="7315200" cy="457200"/>
          </a:xfrm>
          <a:prstGeom prst="rect">
            <a:avLst/>
          </a:prstGeom>
          <a:noFill/>
        </p:spPr>
        <p:txBody>
          <a:bodyPr wrap="square">
            <a:spAutoFit/>
          </a:bodyPr>
          <a:lstStyle/>
          <a:p>
            <a:pPr algn="l"/>
            <a:r>
              <a:rPr sz="1200" b="1" i="0">
                <a:solidFill>
                  <a:srgbClr val="E6E5DE"/>
                </a:solidFill>
                <a:latin typeface="Calibri"/>
              </a:rPr>
              <a:t>COMMERCIAL INTELLIGENCE BRIEF</a:t>
            </a:r>
          </a:p>
        </p:txBody>
      </p:sp>
      <p:sp>
        <p:nvSpPr>
          <p:cNvPr id="5" name="TextBox 4"/>
          <p:cNvSpPr txBox="1"/>
          <p:nvPr/>
        </p:nvSpPr>
        <p:spPr>
          <a:xfrm>
            <a:off x="9144000" y="109728"/>
            <a:ext cx="2834640" cy="457200"/>
          </a:xfrm>
          <a:prstGeom prst="rect">
            <a:avLst/>
          </a:prstGeom>
          <a:noFill/>
        </p:spPr>
        <p:txBody>
          <a:bodyPr wrap="square">
            <a:spAutoFit/>
          </a:bodyPr>
          <a:lstStyle/>
          <a:p>
            <a:pPr algn="r"/>
            <a:r>
              <a:rPr sz="1200" b="1" i="0">
                <a:solidFill>
                  <a:srgbClr val="E6E5DE"/>
                </a:solidFill>
                <a:latin typeface="Calibri"/>
              </a:rPr>
              <a:t>PROFITPULSE</a:t>
            </a:r>
          </a:p>
        </p:txBody>
      </p:sp>
      <p:sp>
        <p:nvSpPr>
          <p:cNvPr id="6" name="TextBox 5"/>
          <p:cNvSpPr txBox="1"/>
          <p:nvPr/>
        </p:nvSpPr>
        <p:spPr>
          <a:xfrm>
            <a:off x="201168" y="914400"/>
            <a:ext cx="8229600" cy="685800"/>
          </a:xfrm>
          <a:prstGeom prst="rect">
            <a:avLst/>
          </a:prstGeom>
          <a:noFill/>
        </p:spPr>
        <p:txBody>
          <a:bodyPr wrap="square">
            <a:spAutoFit/>
          </a:bodyPr>
          <a:lstStyle/>
          <a:p>
            <a:pPr algn="l"/>
            <a:r>
              <a:rPr sz="4400" b="1" i="0">
                <a:solidFill>
                  <a:srgbClr val="000000"/>
                </a:solidFill>
                <a:latin typeface="Georgia"/>
              </a:rPr>
              <a:t>Macro Mike</a:t>
            </a:r>
          </a:p>
        </p:txBody>
      </p:sp>
      <p:sp>
        <p:nvSpPr>
          <p:cNvPr id="7" name="TextBox 6"/>
          <p:cNvSpPr txBox="1"/>
          <p:nvPr/>
        </p:nvSpPr>
        <p:spPr>
          <a:xfrm>
            <a:off x="201168" y="1627632"/>
            <a:ext cx="11704320" cy="274320"/>
          </a:xfrm>
          <a:prstGeom prst="rect">
            <a:avLst/>
          </a:prstGeom>
          <a:noFill/>
        </p:spPr>
        <p:txBody>
          <a:bodyPr wrap="square">
            <a:spAutoFit/>
          </a:bodyPr>
          <a:lstStyle/>
          <a:p>
            <a:pPr algn="l"/>
            <a:r>
              <a:rPr sz="1200" b="0" i="0">
                <a:solidFill>
                  <a:srgbClr val="01A296"/>
                </a:solidFill>
                <a:latin typeface="Calibri"/>
              </a:rPr>
              <a:t>Plant based health supplement manufacturer, Burleigh Heads, Gold Coast QLD</a:t>
            </a:r>
          </a:p>
        </p:txBody>
      </p:sp>
      <p:sp>
        <p:nvSpPr>
          <p:cNvPr id="8" name="Rectangle 7"/>
          <p:cNvSpPr/>
          <p:nvPr/>
        </p:nvSpPr>
        <p:spPr>
          <a:xfrm>
            <a:off x="201168" y="1993392"/>
            <a:ext cx="1920240"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168" y="1993392"/>
            <a:ext cx="1920240"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2084832"/>
            <a:ext cx="1737360" cy="475488"/>
          </a:xfrm>
          <a:prstGeom prst="rect">
            <a:avLst/>
          </a:prstGeom>
          <a:noFill/>
        </p:spPr>
        <p:txBody>
          <a:bodyPr wrap="square">
            <a:spAutoFit/>
          </a:bodyPr>
          <a:lstStyle/>
          <a:p>
            <a:pPr algn="l"/>
            <a:r>
              <a:rPr sz="2800" b="1" i="0">
                <a:solidFill>
                  <a:srgbClr val="F8C806"/>
                </a:solidFill>
                <a:latin typeface="Georgia"/>
              </a:rPr>
              <a:t>Over $10M</a:t>
            </a:r>
          </a:p>
        </p:txBody>
      </p:sp>
      <p:sp>
        <p:nvSpPr>
          <p:cNvPr id="11" name="TextBox 10"/>
          <p:cNvSpPr txBox="1"/>
          <p:nvPr/>
        </p:nvSpPr>
        <p:spPr>
          <a:xfrm>
            <a:off x="292608" y="2587752"/>
            <a:ext cx="1737360" cy="411480"/>
          </a:xfrm>
          <a:prstGeom prst="rect">
            <a:avLst/>
          </a:prstGeom>
          <a:noFill/>
        </p:spPr>
        <p:txBody>
          <a:bodyPr wrap="square">
            <a:spAutoFit/>
          </a:bodyPr>
          <a:lstStyle/>
          <a:p>
            <a:pPr algn="l"/>
            <a:r>
              <a:rPr sz="1100" b="0" i="0">
                <a:solidFill>
                  <a:srgbClr val="E6E5DE"/>
                </a:solidFill>
                <a:latin typeface="Calibri"/>
              </a:rPr>
              <a:t>Annual Revenue</a:t>
            </a:r>
          </a:p>
        </p:txBody>
      </p:sp>
      <p:sp>
        <p:nvSpPr>
          <p:cNvPr id="12" name="TextBox 11"/>
          <p:cNvSpPr txBox="1"/>
          <p:nvPr/>
        </p:nvSpPr>
        <p:spPr>
          <a:xfrm>
            <a:off x="292608" y="3044952"/>
            <a:ext cx="1737360" cy="256032"/>
          </a:xfrm>
          <a:prstGeom prst="rect">
            <a:avLst/>
          </a:prstGeom>
          <a:noFill/>
        </p:spPr>
        <p:txBody>
          <a:bodyPr wrap="square">
            <a:spAutoFit/>
          </a:bodyPr>
          <a:lstStyle/>
          <a:p>
            <a:pPr algn="l"/>
            <a:r>
              <a:rPr sz="700" b="0" i="1">
                <a:solidFill>
                  <a:srgbClr val="E6E5DE"/>
                </a:solidFill>
                <a:latin typeface="Calibri"/>
              </a:rPr>
              <a:t>Podcast 'The Frankie Lee', Jan 2023</a:t>
            </a:r>
          </a:p>
        </p:txBody>
      </p:sp>
      <p:sp>
        <p:nvSpPr>
          <p:cNvPr id="13" name="Rectangle 12"/>
          <p:cNvSpPr/>
          <p:nvPr/>
        </p:nvSpPr>
        <p:spPr>
          <a:xfrm>
            <a:off x="2167128" y="1993392"/>
            <a:ext cx="1920240"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7128" y="1993392"/>
            <a:ext cx="1920240"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58568" y="2084832"/>
            <a:ext cx="1737360" cy="475488"/>
          </a:xfrm>
          <a:prstGeom prst="rect">
            <a:avLst/>
          </a:prstGeom>
          <a:noFill/>
        </p:spPr>
        <p:txBody>
          <a:bodyPr wrap="square">
            <a:spAutoFit/>
          </a:bodyPr>
          <a:lstStyle/>
          <a:p>
            <a:pPr algn="l"/>
            <a:r>
              <a:rPr sz="2800" b="1" i="0">
                <a:solidFill>
                  <a:srgbClr val="F8C806"/>
                </a:solidFill>
                <a:latin typeface="Georgia"/>
              </a:rPr>
              <a:t>50 Staff</a:t>
            </a:r>
          </a:p>
        </p:txBody>
      </p:sp>
      <p:sp>
        <p:nvSpPr>
          <p:cNvPr id="16" name="TextBox 15"/>
          <p:cNvSpPr txBox="1"/>
          <p:nvPr/>
        </p:nvSpPr>
        <p:spPr>
          <a:xfrm>
            <a:off x="2258568" y="2587752"/>
            <a:ext cx="1737360" cy="411480"/>
          </a:xfrm>
          <a:prstGeom prst="rect">
            <a:avLst/>
          </a:prstGeom>
          <a:noFill/>
        </p:spPr>
        <p:txBody>
          <a:bodyPr wrap="square">
            <a:spAutoFit/>
          </a:bodyPr>
          <a:lstStyle/>
          <a:p>
            <a:pPr algn="l"/>
            <a:r>
              <a:rPr sz="1100" b="0" i="0">
                <a:solidFill>
                  <a:srgbClr val="E6E5DE"/>
                </a:solidFill>
                <a:latin typeface="Calibri"/>
              </a:rPr>
              <a:t>Gold Coast Facility</a:t>
            </a:r>
          </a:p>
        </p:txBody>
      </p:sp>
      <p:sp>
        <p:nvSpPr>
          <p:cNvPr id="17" name="TextBox 16"/>
          <p:cNvSpPr txBox="1"/>
          <p:nvPr/>
        </p:nvSpPr>
        <p:spPr>
          <a:xfrm>
            <a:off x="2258568" y="3044952"/>
            <a:ext cx="1737360" cy="256032"/>
          </a:xfrm>
          <a:prstGeom prst="rect">
            <a:avLst/>
          </a:prstGeom>
          <a:noFill/>
        </p:spPr>
        <p:txBody>
          <a:bodyPr wrap="square">
            <a:spAutoFit/>
          </a:bodyPr>
          <a:lstStyle/>
          <a:p>
            <a:pPr algn="l"/>
            <a:r>
              <a:rPr sz="700" b="0" i="1">
                <a:solidFill>
                  <a:srgbClr val="E6E5DE"/>
                </a:solidFill>
                <a:latin typeface="Calibri"/>
              </a:rPr>
              <a:t>Business News Australia</a:t>
            </a:r>
          </a:p>
        </p:txBody>
      </p:sp>
      <p:sp>
        <p:nvSpPr>
          <p:cNvPr id="18" name="Rectangle 17"/>
          <p:cNvSpPr/>
          <p:nvPr/>
        </p:nvSpPr>
        <p:spPr>
          <a:xfrm>
            <a:off x="4133088" y="1993392"/>
            <a:ext cx="1920240"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33088" y="1993392"/>
            <a:ext cx="1920240"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24528" y="2084832"/>
            <a:ext cx="1737360" cy="475488"/>
          </a:xfrm>
          <a:prstGeom prst="rect">
            <a:avLst/>
          </a:prstGeom>
          <a:noFill/>
        </p:spPr>
        <p:txBody>
          <a:bodyPr wrap="square">
            <a:spAutoFit/>
          </a:bodyPr>
          <a:lstStyle/>
          <a:p>
            <a:pPr algn="l"/>
            <a:r>
              <a:rPr sz="2800" b="1" i="0">
                <a:solidFill>
                  <a:srgbClr val="F8C806"/>
                </a:solidFill>
                <a:latin typeface="Georgia"/>
              </a:rPr>
              <a:t>100+</a:t>
            </a:r>
          </a:p>
        </p:txBody>
      </p:sp>
      <p:sp>
        <p:nvSpPr>
          <p:cNvPr id="21" name="TextBox 20"/>
          <p:cNvSpPr txBox="1"/>
          <p:nvPr/>
        </p:nvSpPr>
        <p:spPr>
          <a:xfrm>
            <a:off x="4224528" y="2587752"/>
            <a:ext cx="1737360" cy="411480"/>
          </a:xfrm>
          <a:prstGeom prst="rect">
            <a:avLst/>
          </a:prstGeom>
          <a:noFill/>
        </p:spPr>
        <p:txBody>
          <a:bodyPr wrap="square">
            <a:spAutoFit/>
          </a:bodyPr>
          <a:lstStyle/>
          <a:p>
            <a:pPr algn="l"/>
            <a:r>
              <a:rPr sz="1100" b="0" i="0">
                <a:solidFill>
                  <a:srgbClr val="E6E5DE"/>
                </a:solidFill>
                <a:latin typeface="Calibri"/>
              </a:rPr>
              <a:t>Product SKUs</a:t>
            </a:r>
          </a:p>
        </p:txBody>
      </p:sp>
      <p:sp>
        <p:nvSpPr>
          <p:cNvPr id="22" name="TextBox 21"/>
          <p:cNvSpPr txBox="1"/>
          <p:nvPr/>
        </p:nvSpPr>
        <p:spPr>
          <a:xfrm>
            <a:off x="4224528" y="3044952"/>
            <a:ext cx="1737360" cy="256032"/>
          </a:xfrm>
          <a:prstGeom prst="rect">
            <a:avLst/>
          </a:prstGeom>
          <a:noFill/>
        </p:spPr>
        <p:txBody>
          <a:bodyPr wrap="square">
            <a:spAutoFit/>
          </a:bodyPr>
          <a:lstStyle/>
          <a:p>
            <a:pPr algn="l"/>
            <a:r>
              <a:rPr sz="700" b="0" i="1">
                <a:solidFill>
                  <a:srgbClr val="E6E5DE"/>
                </a:solidFill>
                <a:latin typeface="Calibri"/>
              </a:rPr>
              <a:t>macromike.com.au/pages/about</a:t>
            </a:r>
          </a:p>
        </p:txBody>
      </p:sp>
      <p:sp>
        <p:nvSpPr>
          <p:cNvPr id="23" name="Rectangle 22"/>
          <p:cNvSpPr/>
          <p:nvPr/>
        </p:nvSpPr>
        <p:spPr>
          <a:xfrm>
            <a:off x="6099048" y="1993392"/>
            <a:ext cx="1920240"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9048" y="1993392"/>
            <a:ext cx="1920240"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90488" y="2084832"/>
            <a:ext cx="1737360" cy="475488"/>
          </a:xfrm>
          <a:prstGeom prst="rect">
            <a:avLst/>
          </a:prstGeom>
          <a:noFill/>
        </p:spPr>
        <p:txBody>
          <a:bodyPr wrap="square">
            <a:spAutoFit/>
          </a:bodyPr>
          <a:lstStyle/>
          <a:p>
            <a:pPr algn="l"/>
            <a:r>
              <a:rPr sz="2800" b="1" i="0">
                <a:solidFill>
                  <a:srgbClr val="F8C806"/>
                </a:solidFill>
                <a:latin typeface="Georgia"/>
              </a:rPr>
              <a:t>5,000+</a:t>
            </a:r>
          </a:p>
        </p:txBody>
      </p:sp>
      <p:sp>
        <p:nvSpPr>
          <p:cNvPr id="26" name="TextBox 25"/>
          <p:cNvSpPr txBox="1"/>
          <p:nvPr/>
        </p:nvSpPr>
        <p:spPr>
          <a:xfrm>
            <a:off x="6190488" y="2587752"/>
            <a:ext cx="1737360" cy="411480"/>
          </a:xfrm>
          <a:prstGeom prst="rect">
            <a:avLst/>
          </a:prstGeom>
          <a:noFill/>
        </p:spPr>
        <p:txBody>
          <a:bodyPr wrap="square">
            <a:spAutoFit/>
          </a:bodyPr>
          <a:lstStyle/>
          <a:p>
            <a:pPr algn="l"/>
            <a:r>
              <a:rPr sz="1100" b="0" i="0">
                <a:solidFill>
                  <a:srgbClr val="E6E5DE"/>
                </a:solidFill>
                <a:latin typeface="Calibri"/>
              </a:rPr>
              <a:t>Retail Stockists</a:t>
            </a:r>
          </a:p>
        </p:txBody>
      </p:sp>
      <p:sp>
        <p:nvSpPr>
          <p:cNvPr id="27" name="TextBox 26"/>
          <p:cNvSpPr txBox="1"/>
          <p:nvPr/>
        </p:nvSpPr>
        <p:spPr>
          <a:xfrm>
            <a:off x="6190488" y="3044952"/>
            <a:ext cx="1737360" cy="256032"/>
          </a:xfrm>
          <a:prstGeom prst="rect">
            <a:avLst/>
          </a:prstGeom>
          <a:noFill/>
        </p:spPr>
        <p:txBody>
          <a:bodyPr wrap="square">
            <a:spAutoFit/>
          </a:bodyPr>
          <a:lstStyle/>
          <a:p>
            <a:pPr algn="l"/>
            <a:r>
              <a:rPr sz="700" b="0" i="1">
                <a:solidFill>
                  <a:srgbClr val="E6E5DE"/>
                </a:solidFill>
                <a:latin typeface="Calibri"/>
              </a:rPr>
              <a:t>macromike.com.au/pages/about</a:t>
            </a:r>
          </a:p>
        </p:txBody>
      </p:sp>
      <p:sp>
        <p:nvSpPr>
          <p:cNvPr id="28" name="Rectangle 27"/>
          <p:cNvSpPr/>
          <p:nvPr/>
        </p:nvSpPr>
        <p:spPr>
          <a:xfrm>
            <a:off x="8065008" y="1993392"/>
            <a:ext cx="1920240"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5008" y="1993392"/>
            <a:ext cx="1920240"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56448" y="2084832"/>
            <a:ext cx="1737360" cy="475488"/>
          </a:xfrm>
          <a:prstGeom prst="rect">
            <a:avLst/>
          </a:prstGeom>
          <a:noFill/>
        </p:spPr>
        <p:txBody>
          <a:bodyPr wrap="square">
            <a:spAutoFit/>
          </a:bodyPr>
          <a:lstStyle/>
          <a:p>
            <a:pPr algn="l"/>
            <a:r>
              <a:rPr sz="2800" b="1" i="0">
                <a:solidFill>
                  <a:srgbClr val="F8C806"/>
                </a:solidFill>
                <a:latin typeface="Georgia"/>
              </a:rPr>
              <a:t>500,000+</a:t>
            </a:r>
          </a:p>
        </p:txBody>
      </p:sp>
      <p:sp>
        <p:nvSpPr>
          <p:cNvPr id="31" name="TextBox 30"/>
          <p:cNvSpPr txBox="1"/>
          <p:nvPr/>
        </p:nvSpPr>
        <p:spPr>
          <a:xfrm>
            <a:off x="8156448" y="2587752"/>
            <a:ext cx="1737360" cy="411480"/>
          </a:xfrm>
          <a:prstGeom prst="rect">
            <a:avLst/>
          </a:prstGeom>
          <a:noFill/>
        </p:spPr>
        <p:txBody>
          <a:bodyPr wrap="square">
            <a:spAutoFit/>
          </a:bodyPr>
          <a:lstStyle/>
          <a:p>
            <a:pPr algn="l"/>
            <a:r>
              <a:rPr sz="1100" b="0" i="0">
                <a:solidFill>
                  <a:srgbClr val="E6E5DE"/>
                </a:solidFill>
                <a:latin typeface="Calibri"/>
              </a:rPr>
              <a:t>Customers</a:t>
            </a:r>
          </a:p>
        </p:txBody>
      </p:sp>
      <p:sp>
        <p:nvSpPr>
          <p:cNvPr id="32" name="TextBox 31"/>
          <p:cNvSpPr txBox="1"/>
          <p:nvPr/>
        </p:nvSpPr>
        <p:spPr>
          <a:xfrm>
            <a:off x="8156448" y="3044952"/>
            <a:ext cx="1737360" cy="256032"/>
          </a:xfrm>
          <a:prstGeom prst="rect">
            <a:avLst/>
          </a:prstGeom>
          <a:noFill/>
        </p:spPr>
        <p:txBody>
          <a:bodyPr wrap="square">
            <a:spAutoFit/>
          </a:bodyPr>
          <a:lstStyle/>
          <a:p>
            <a:pPr algn="l"/>
            <a:r>
              <a:rPr sz="700" b="0" i="1">
                <a:solidFill>
                  <a:srgbClr val="E6E5DE"/>
                </a:solidFill>
                <a:latin typeface="Calibri"/>
              </a:rPr>
              <a:t>macromike.com.au/pages/about</a:t>
            </a:r>
          </a:p>
        </p:txBody>
      </p:sp>
      <p:sp>
        <p:nvSpPr>
          <p:cNvPr id="33" name="Rectangle 32"/>
          <p:cNvSpPr/>
          <p:nvPr/>
        </p:nvSpPr>
        <p:spPr>
          <a:xfrm>
            <a:off x="10030968" y="1993392"/>
            <a:ext cx="1920240"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030968" y="1993392"/>
            <a:ext cx="1920240"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22408" y="2084832"/>
            <a:ext cx="1737360" cy="475488"/>
          </a:xfrm>
          <a:prstGeom prst="rect">
            <a:avLst/>
          </a:prstGeom>
          <a:noFill/>
        </p:spPr>
        <p:txBody>
          <a:bodyPr wrap="square">
            <a:spAutoFit/>
          </a:bodyPr>
          <a:lstStyle/>
          <a:p>
            <a:pPr algn="l"/>
            <a:r>
              <a:rPr sz="2800" b="1" i="0">
                <a:solidFill>
                  <a:srgbClr val="F8C806"/>
                </a:solidFill>
                <a:latin typeface="Georgia"/>
              </a:rPr>
              <a:t>2016</a:t>
            </a:r>
          </a:p>
        </p:txBody>
      </p:sp>
      <p:sp>
        <p:nvSpPr>
          <p:cNvPr id="36" name="TextBox 35"/>
          <p:cNvSpPr txBox="1"/>
          <p:nvPr/>
        </p:nvSpPr>
        <p:spPr>
          <a:xfrm>
            <a:off x="10122408" y="2587752"/>
            <a:ext cx="1737360" cy="411480"/>
          </a:xfrm>
          <a:prstGeom prst="rect">
            <a:avLst/>
          </a:prstGeom>
          <a:noFill/>
        </p:spPr>
        <p:txBody>
          <a:bodyPr wrap="square">
            <a:spAutoFit/>
          </a:bodyPr>
          <a:lstStyle/>
          <a:p>
            <a:pPr algn="l"/>
            <a:r>
              <a:rPr sz="1100" b="0" i="0">
                <a:solidFill>
                  <a:srgbClr val="E6E5DE"/>
                </a:solidFill>
                <a:latin typeface="Calibri"/>
              </a:rPr>
              <a:t>Year Founded</a:t>
            </a:r>
          </a:p>
        </p:txBody>
      </p:sp>
      <p:sp>
        <p:nvSpPr>
          <p:cNvPr id="37" name="TextBox 36"/>
          <p:cNvSpPr txBox="1"/>
          <p:nvPr/>
        </p:nvSpPr>
        <p:spPr>
          <a:xfrm>
            <a:off x="10122408" y="3044952"/>
            <a:ext cx="1737360" cy="256032"/>
          </a:xfrm>
          <a:prstGeom prst="rect">
            <a:avLst/>
          </a:prstGeom>
          <a:noFill/>
        </p:spPr>
        <p:txBody>
          <a:bodyPr wrap="square">
            <a:spAutoFit/>
          </a:bodyPr>
          <a:lstStyle/>
          <a:p>
            <a:pPr algn="l"/>
            <a:r>
              <a:rPr sz="700" b="0" i="1">
                <a:solidFill>
                  <a:srgbClr val="E6E5DE"/>
                </a:solidFill>
                <a:latin typeface="Calibri"/>
              </a:rPr>
              <a:t>Pemba Capital Partners, 2025</a:t>
            </a:r>
          </a:p>
        </p:txBody>
      </p:sp>
      <p:sp>
        <p:nvSpPr>
          <p:cNvPr id="38" name="TextBox 37"/>
          <p:cNvSpPr txBox="1"/>
          <p:nvPr/>
        </p:nvSpPr>
        <p:spPr>
          <a:xfrm>
            <a:off x="201168" y="3438144"/>
            <a:ext cx="5486400" cy="256032"/>
          </a:xfrm>
          <a:prstGeom prst="rect">
            <a:avLst/>
          </a:prstGeom>
          <a:noFill/>
        </p:spPr>
        <p:txBody>
          <a:bodyPr wrap="square">
            <a:spAutoFit/>
          </a:bodyPr>
          <a:lstStyle/>
          <a:p>
            <a:pPr algn="l"/>
            <a:r>
              <a:rPr sz="1100" b="1" i="0">
                <a:solidFill>
                  <a:srgbClr val="01A296"/>
                </a:solidFill>
                <a:latin typeface="Calibri"/>
              </a:rPr>
              <a:t>COMMERCIAL SIGNALS</a:t>
            </a:r>
          </a:p>
        </p:txBody>
      </p:sp>
      <p:sp>
        <p:nvSpPr>
          <p:cNvPr id="39" name="TextBox 38"/>
          <p:cNvSpPr txBox="1"/>
          <p:nvPr/>
        </p:nvSpPr>
        <p:spPr>
          <a:xfrm>
            <a:off x="201168" y="3749039"/>
            <a:ext cx="11704320" cy="384048"/>
          </a:xfrm>
          <a:prstGeom prst="rect">
            <a:avLst/>
          </a:prstGeom>
          <a:noFill/>
        </p:spPr>
        <p:txBody>
          <a:bodyPr wrap="square">
            <a:spAutoFit/>
          </a:bodyPr>
          <a:lstStyle/>
          <a:p>
            <a:pPr algn="l"/>
            <a:r>
              <a:rPr sz="1000" b="0" i="0">
                <a:solidFill>
                  <a:srgbClr val="000000"/>
                </a:solidFill>
                <a:latin typeface="Calibri"/>
              </a:rPr>
              <a:t>Kellogg's collaboration: approximately 1,000 new store distribution launch from November 2025; supermarket push planned for May 2026</a:t>
            </a:r>
          </a:p>
          <a:p>
            <a:pPr algn="l"/>
            <a:r>
              <a:rPr sz="700" b="0" i="1">
                <a:solidFill>
                  <a:srgbClr val="01A296"/>
                </a:solidFill>
                <a:latin typeface="Calibri"/>
              </a:rPr>
              <a:t>Mi3 and Stack3d, October 2025</a:t>
            </a:r>
          </a:p>
        </p:txBody>
      </p:sp>
      <p:sp>
        <p:nvSpPr>
          <p:cNvPr id="40" name="TextBox 39"/>
          <p:cNvSpPr txBox="1"/>
          <p:nvPr/>
        </p:nvSpPr>
        <p:spPr>
          <a:xfrm>
            <a:off x="201168" y="4151375"/>
            <a:ext cx="11704320" cy="384048"/>
          </a:xfrm>
          <a:prstGeom prst="rect">
            <a:avLst/>
          </a:prstGeom>
          <a:noFill/>
        </p:spPr>
        <p:txBody>
          <a:bodyPr wrap="square">
            <a:spAutoFit/>
          </a:bodyPr>
          <a:lstStyle/>
          <a:p>
            <a:pPr algn="l"/>
            <a:r>
              <a:rPr sz="1000" b="0" i="0">
                <a:solidFill>
                  <a:srgbClr val="000000"/>
                </a:solidFill>
                <a:latin typeface="Calibri"/>
              </a:rPr>
              <a:t>December 2024 stock movement tripled year on year following Golden Gaytime partnership launch in October 2024</a:t>
            </a:r>
          </a:p>
          <a:p>
            <a:pPr algn="l"/>
            <a:r>
              <a:rPr sz="700" b="0" i="1">
                <a:solidFill>
                  <a:srgbClr val="01A296"/>
                </a:solidFill>
                <a:latin typeface="Calibri"/>
              </a:rPr>
              <a:t>Business News Australia</a:t>
            </a:r>
          </a:p>
        </p:txBody>
      </p:sp>
      <p:sp>
        <p:nvSpPr>
          <p:cNvPr id="41" name="TextBox 40"/>
          <p:cNvSpPr txBox="1"/>
          <p:nvPr/>
        </p:nvSpPr>
        <p:spPr>
          <a:xfrm>
            <a:off x="201168" y="4553711"/>
            <a:ext cx="11704320" cy="384048"/>
          </a:xfrm>
          <a:prstGeom prst="rect">
            <a:avLst/>
          </a:prstGeom>
          <a:noFill/>
        </p:spPr>
        <p:txBody>
          <a:bodyPr wrap="square">
            <a:spAutoFit/>
          </a:bodyPr>
          <a:lstStyle/>
          <a:p>
            <a:pPr algn="l"/>
            <a:r>
              <a:rPr sz="1000" b="0" i="0">
                <a:solidFill>
                  <a:srgbClr val="000000"/>
                </a:solidFill>
                <a:latin typeface="Calibri"/>
              </a:rPr>
              <a:t>Previous Golden Gaytime collaboration generated $2.5 million in sales in its first year</a:t>
            </a:r>
          </a:p>
          <a:p>
            <a:pPr algn="l"/>
            <a:r>
              <a:rPr sz="700" b="0" i="1">
                <a:solidFill>
                  <a:srgbClr val="01A296"/>
                </a:solidFill>
                <a:latin typeface="Calibri"/>
              </a:rPr>
              <a:t>Business News Australia</a:t>
            </a:r>
          </a:p>
        </p:txBody>
      </p:sp>
      <p:sp>
        <p:nvSpPr>
          <p:cNvPr id="42" name="TextBox 41"/>
          <p:cNvSpPr txBox="1"/>
          <p:nvPr/>
        </p:nvSpPr>
        <p:spPr>
          <a:xfrm>
            <a:off x="201168" y="4956047"/>
            <a:ext cx="11704320" cy="384048"/>
          </a:xfrm>
          <a:prstGeom prst="rect">
            <a:avLst/>
          </a:prstGeom>
          <a:noFill/>
        </p:spPr>
        <p:txBody>
          <a:bodyPr wrap="square">
            <a:spAutoFit/>
          </a:bodyPr>
          <a:lstStyle/>
          <a:p>
            <a:pPr algn="l"/>
            <a:r>
              <a:rPr sz="1000" b="0" i="0">
                <a:solidFill>
                  <a:srgbClr val="000000"/>
                </a:solidFill>
                <a:latin typeface="Calibri"/>
              </a:rPr>
              <a:t>International expansion targeted for US, UK, Europe and Asia following new 2,000sqm production facility, opened January 2023</a:t>
            </a:r>
          </a:p>
          <a:p>
            <a:pPr algn="l"/>
            <a:r>
              <a:rPr sz="700" b="0" i="1">
                <a:solidFill>
                  <a:srgbClr val="01A296"/>
                </a:solidFill>
                <a:latin typeface="Calibri"/>
              </a:rPr>
              <a:t>Business News Australia, June 2023</a:t>
            </a:r>
          </a:p>
        </p:txBody>
      </p:sp>
      <p:sp>
        <p:nvSpPr>
          <p:cNvPr id="43" name="TextBox 42"/>
          <p:cNvSpPr txBox="1"/>
          <p:nvPr/>
        </p:nvSpPr>
        <p:spPr>
          <a:xfrm>
            <a:off x="201168" y="5358383"/>
            <a:ext cx="11704320" cy="384048"/>
          </a:xfrm>
          <a:prstGeom prst="rect">
            <a:avLst/>
          </a:prstGeom>
          <a:noFill/>
        </p:spPr>
        <p:txBody>
          <a:bodyPr wrap="square">
            <a:spAutoFit/>
          </a:bodyPr>
          <a:lstStyle/>
          <a:p>
            <a:pPr algn="l"/>
            <a:r>
              <a:rPr sz="1000" b="0" i="0">
                <a:solidFill>
                  <a:srgbClr val="000000"/>
                </a:solidFill>
                <a:latin typeface="Calibri"/>
              </a:rPr>
              <a:t>2024 Australian Young Entrepreneur Award, Food and Beverage category, winner</a:t>
            </a:r>
          </a:p>
          <a:p>
            <a:pPr algn="l"/>
            <a:r>
              <a:rPr sz="700" b="0" i="1">
                <a:solidFill>
                  <a:srgbClr val="01A296"/>
                </a:solidFill>
                <a:latin typeface="Calibri"/>
              </a:rPr>
              <a:t>Business News Australia</a:t>
            </a:r>
          </a:p>
        </p:txBody>
      </p:sp>
      <p:sp>
        <p:nvSpPr>
          <p:cNvPr id="44" name="TextBox 43"/>
          <p:cNvSpPr txBox="1"/>
          <p:nvPr/>
        </p:nvSpPr>
        <p:spPr>
          <a:xfrm>
            <a:off x="201168" y="5760719"/>
            <a:ext cx="11704320" cy="384048"/>
          </a:xfrm>
          <a:prstGeom prst="rect">
            <a:avLst/>
          </a:prstGeom>
          <a:noFill/>
        </p:spPr>
        <p:txBody>
          <a:bodyPr wrap="square">
            <a:spAutoFit/>
          </a:bodyPr>
          <a:lstStyle/>
          <a:p>
            <a:pPr algn="l"/>
            <a:r>
              <a:rPr sz="1000" b="0" i="0">
                <a:solidFill>
                  <a:srgbClr val="000000"/>
                </a:solidFill>
                <a:latin typeface="Calibri"/>
              </a:rPr>
              <a:t>Official sponsor of the Gold Coast Titans NRL club since November 2021</a:t>
            </a:r>
          </a:p>
          <a:p>
            <a:pPr algn="l"/>
            <a:r>
              <a:rPr sz="700" b="0" i="1">
                <a:solidFill>
                  <a:srgbClr val="01A296"/>
                </a:solidFill>
                <a:latin typeface="Calibri"/>
              </a:rPr>
              <a:t>Gold Coast Titans website, November 2021</a:t>
            </a:r>
          </a:p>
        </p:txBody>
      </p:sp>
      <p:sp>
        <p:nvSpPr>
          <p:cNvPr id="45" name="Rectangle 44"/>
          <p:cNvSpPr/>
          <p:nvPr/>
        </p:nvSpPr>
        <p:spPr>
          <a:xfrm>
            <a:off x="201168" y="6492240"/>
            <a:ext cx="11887200" cy="1828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01168" y="6537960"/>
            <a:ext cx="11704320" cy="274320"/>
          </a:xfrm>
          <a:prstGeom prst="rect">
            <a:avLst/>
          </a:prstGeom>
          <a:noFill/>
        </p:spPr>
        <p:txBody>
          <a:bodyPr wrap="square">
            <a:spAutoFit/>
          </a:bodyPr>
          <a:lstStyle/>
          <a:p>
            <a:pPr algn="l"/>
            <a:r>
              <a:rPr sz="800" b="0" i="0">
                <a:solidFill>
                  <a:srgbClr val="E6E5DE"/>
                </a:solidFill>
                <a:latin typeface="Calibri"/>
              </a:rPr>
              <a:t>Prepared by Nitesh Roopa CA, Managing Partner, ProfitPulse   |   Profit-Pulse.com.au   |   16 Jun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8229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73152"/>
            <a:ext cx="5486400" cy="347472"/>
          </a:xfrm>
          <a:prstGeom prst="rect">
            <a:avLst/>
          </a:prstGeom>
          <a:noFill/>
        </p:spPr>
        <p:txBody>
          <a:bodyPr wrap="square">
            <a:spAutoFit/>
          </a:bodyPr>
          <a:lstStyle/>
          <a:p>
            <a:pPr algn="l"/>
            <a:r>
              <a:rPr sz="1200" b="1" i="0">
                <a:solidFill>
                  <a:srgbClr val="E6E5DE"/>
                </a:solidFill>
                <a:latin typeface="Calibri"/>
              </a:rPr>
              <a:t>THE OPPORTUNITY</a:t>
            </a:r>
          </a:p>
        </p:txBody>
      </p:sp>
      <p:sp>
        <p:nvSpPr>
          <p:cNvPr id="5" name="TextBox 4"/>
          <p:cNvSpPr txBox="1"/>
          <p:nvPr/>
        </p:nvSpPr>
        <p:spPr>
          <a:xfrm>
            <a:off x="201168" y="457200"/>
            <a:ext cx="11704320" cy="292608"/>
          </a:xfrm>
          <a:prstGeom prst="rect">
            <a:avLst/>
          </a:prstGeom>
          <a:noFill/>
        </p:spPr>
        <p:txBody>
          <a:bodyPr wrap="square">
            <a:spAutoFit/>
          </a:bodyPr>
          <a:lstStyle/>
          <a:p>
            <a:pPr algn="l"/>
            <a:r>
              <a:rPr sz="1000" b="0" i="0">
                <a:solidFill>
                  <a:srgbClr val="01A296"/>
                </a:solidFill>
                <a:latin typeface="Calibri"/>
              </a:rPr>
              <a:t>Macro Mike   |   Three commercial observations from ProfitPulse</a:t>
            </a:r>
          </a:p>
        </p:txBody>
      </p:sp>
      <p:sp>
        <p:nvSpPr>
          <p:cNvPr id="6" name="Rectangle 5"/>
          <p:cNvSpPr/>
          <p:nvPr/>
        </p:nvSpPr>
        <p:spPr>
          <a:xfrm>
            <a:off x="91440" y="822960"/>
            <a:ext cx="4033418" cy="534924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987552"/>
            <a:ext cx="3667658" cy="457200"/>
          </a:xfrm>
          <a:prstGeom prst="rect">
            <a:avLst/>
          </a:prstGeom>
          <a:noFill/>
        </p:spPr>
        <p:txBody>
          <a:bodyPr wrap="square">
            <a:spAutoFit/>
          </a:bodyPr>
          <a:lstStyle/>
          <a:p>
            <a:pPr algn="l"/>
            <a:r>
              <a:rPr sz="3600" b="1" i="0">
                <a:solidFill>
                  <a:srgbClr val="F8C806"/>
                </a:solidFill>
                <a:latin typeface="Georgia"/>
              </a:rPr>
              <a:t>01</a:t>
            </a:r>
          </a:p>
        </p:txBody>
      </p:sp>
      <p:sp>
        <p:nvSpPr>
          <p:cNvPr id="8" name="TextBox 7"/>
          <p:cNvSpPr txBox="1"/>
          <p:nvPr/>
        </p:nvSpPr>
        <p:spPr>
          <a:xfrm>
            <a:off x="274320" y="1481328"/>
            <a:ext cx="3667658" cy="685800"/>
          </a:xfrm>
          <a:prstGeom prst="rect">
            <a:avLst/>
          </a:prstGeom>
          <a:noFill/>
        </p:spPr>
        <p:txBody>
          <a:bodyPr wrap="square">
            <a:spAutoFit/>
          </a:bodyPr>
          <a:lstStyle/>
          <a:p>
            <a:pPr algn="l"/>
            <a:r>
              <a:rPr sz="1200" b="1" i="0">
                <a:solidFill>
                  <a:srgbClr val="000000"/>
                </a:solidFill>
                <a:latin typeface="Calibri"/>
              </a:rPr>
              <a:t>Inventory and Retail Terms Create a Hidden Cash Gap</a:t>
            </a:r>
          </a:p>
        </p:txBody>
      </p:sp>
      <p:sp>
        <p:nvSpPr>
          <p:cNvPr id="9" name="TextBox 8"/>
          <p:cNvSpPr txBox="1"/>
          <p:nvPr/>
        </p:nvSpPr>
        <p:spPr>
          <a:xfrm>
            <a:off x="274320" y="2212848"/>
            <a:ext cx="3667658" cy="3657600"/>
          </a:xfrm>
          <a:prstGeom prst="rect">
            <a:avLst/>
          </a:prstGeom>
          <a:noFill/>
        </p:spPr>
        <p:txBody>
          <a:bodyPr wrap="square">
            <a:spAutoFit/>
          </a:bodyPr>
          <a:lstStyle/>
          <a:p>
            <a:pPr algn="l"/>
            <a:r>
              <a:rPr sz="1000" b="0" i="0">
                <a:solidFill>
                  <a:srgbClr val="000000"/>
                </a:solidFill>
                <a:latin typeface="Calibri"/>
              </a:rPr>
              <a:t>Macro Mike is growing rapidly with stock movement tripling year on year in December 2024 and is now pushing into approximately 1,000 new store doors through the Kellogg's distribution launch from November 2025, with a supermarket expansion planned for May 2026. Food manufacturers carry significant inventory at every production stage. When major retail partners pay on standard 30 to 60 day terms and manufacturing costs are upfront, a working capital gap forms that grows in direct proportion to revenue. At over $10 million in annual revenue, even a 10 percent timing gap represents more than $1 million in cash pressure. Working capital discipline at this stage determines whether growth fuels the business or consumes it. ProfitPulse specialises in exactly this challenge for Australian manufacturers at the growth inflection point.</a:t>
            </a:r>
          </a:p>
        </p:txBody>
      </p:sp>
      <p:sp>
        <p:nvSpPr>
          <p:cNvPr id="10" name="Rectangle 9"/>
          <p:cNvSpPr/>
          <p:nvPr/>
        </p:nvSpPr>
        <p:spPr>
          <a:xfrm>
            <a:off x="4124858" y="822960"/>
            <a:ext cx="4033418" cy="53492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07738" y="987552"/>
            <a:ext cx="3667658" cy="457200"/>
          </a:xfrm>
          <a:prstGeom prst="rect">
            <a:avLst/>
          </a:prstGeom>
          <a:noFill/>
        </p:spPr>
        <p:txBody>
          <a:bodyPr wrap="square">
            <a:spAutoFit/>
          </a:bodyPr>
          <a:lstStyle/>
          <a:p>
            <a:pPr algn="l"/>
            <a:r>
              <a:rPr sz="3600" b="1" i="0">
                <a:solidFill>
                  <a:srgbClr val="F8C806"/>
                </a:solidFill>
                <a:latin typeface="Georgia"/>
              </a:rPr>
              <a:t>02</a:t>
            </a:r>
          </a:p>
        </p:txBody>
      </p:sp>
      <p:sp>
        <p:nvSpPr>
          <p:cNvPr id="12" name="TextBox 11"/>
          <p:cNvSpPr txBox="1"/>
          <p:nvPr/>
        </p:nvSpPr>
        <p:spPr>
          <a:xfrm>
            <a:off x="4307738" y="1481328"/>
            <a:ext cx="3667658" cy="685800"/>
          </a:xfrm>
          <a:prstGeom prst="rect">
            <a:avLst/>
          </a:prstGeom>
          <a:noFill/>
        </p:spPr>
        <p:txBody>
          <a:bodyPr wrap="square">
            <a:spAutoFit/>
          </a:bodyPr>
          <a:lstStyle/>
          <a:p>
            <a:pPr algn="l"/>
            <a:r>
              <a:rPr sz="1200" b="1" i="0">
                <a:solidFill>
                  <a:srgbClr val="E6E5DE"/>
                </a:solidFill>
                <a:latin typeface="Calibri"/>
              </a:rPr>
              <a:t>100 SKUs Demand a Profitability Map Before the Next Retail Push</a:t>
            </a:r>
          </a:p>
        </p:txBody>
      </p:sp>
      <p:sp>
        <p:nvSpPr>
          <p:cNvPr id="13" name="TextBox 12"/>
          <p:cNvSpPr txBox="1"/>
          <p:nvPr/>
        </p:nvSpPr>
        <p:spPr>
          <a:xfrm>
            <a:off x="4307738" y="2212848"/>
            <a:ext cx="3667658" cy="3657600"/>
          </a:xfrm>
          <a:prstGeom prst="rect">
            <a:avLst/>
          </a:prstGeom>
          <a:noFill/>
        </p:spPr>
        <p:txBody>
          <a:bodyPr wrap="square">
            <a:spAutoFit/>
          </a:bodyPr>
          <a:lstStyle/>
          <a:p>
            <a:pPr algn="l"/>
            <a:r>
              <a:rPr sz="1000" b="0" i="0">
                <a:solidFill>
                  <a:srgbClr val="E6E5DE"/>
                </a:solidFill>
                <a:latin typeface="Calibri"/>
              </a:rPr>
              <a:t>With over 100 products across protein powders, baking mixes and supplements, distributed through direct to consumer online retail, Coles, major supplement chains and 5,000 plus independent retailers, every revenue line carries a different cost to serve profile. Brand collaborations with Golden Gaytime and Kellogg's create significant revenue events but also compress margin if pricing and cost allocation are not tightly managed before the launch. At this scale, businesses that win are those that know exactly which products and channels generate the most margin after full cost allocation. Without that clarity, a major retail push risks scaling the wrong lines as much as the right ones. A product and service line profitability review ranks every SKU by contribution, which is the insight that sharpens the next growth move.</a:t>
            </a:r>
          </a:p>
        </p:txBody>
      </p:sp>
      <p:sp>
        <p:nvSpPr>
          <p:cNvPr id="14" name="Rectangle 13"/>
          <p:cNvSpPr/>
          <p:nvPr/>
        </p:nvSpPr>
        <p:spPr>
          <a:xfrm>
            <a:off x="8158276" y="822960"/>
            <a:ext cx="4033418" cy="5349240"/>
          </a:xfrm>
          <a:prstGeom prst="rect">
            <a:avLst/>
          </a:prstGeom>
          <a:solidFill>
            <a:srgbClr val="E3A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41156" y="987552"/>
            <a:ext cx="3667658" cy="457200"/>
          </a:xfrm>
          <a:prstGeom prst="rect">
            <a:avLst/>
          </a:prstGeom>
          <a:noFill/>
        </p:spPr>
        <p:txBody>
          <a:bodyPr wrap="square">
            <a:spAutoFit/>
          </a:bodyPr>
          <a:lstStyle/>
          <a:p>
            <a:pPr algn="l"/>
            <a:r>
              <a:rPr sz="3600" b="1" i="0">
                <a:solidFill>
                  <a:srgbClr val="000000"/>
                </a:solidFill>
                <a:latin typeface="Georgia"/>
              </a:rPr>
              <a:t>03</a:t>
            </a:r>
          </a:p>
        </p:txBody>
      </p:sp>
      <p:sp>
        <p:nvSpPr>
          <p:cNvPr id="16" name="TextBox 15"/>
          <p:cNvSpPr txBox="1"/>
          <p:nvPr/>
        </p:nvSpPr>
        <p:spPr>
          <a:xfrm>
            <a:off x="8341156" y="1481328"/>
            <a:ext cx="3667658" cy="685800"/>
          </a:xfrm>
          <a:prstGeom prst="rect">
            <a:avLst/>
          </a:prstGeom>
          <a:noFill/>
        </p:spPr>
        <p:txBody>
          <a:bodyPr wrap="square">
            <a:spAutoFit/>
          </a:bodyPr>
          <a:lstStyle/>
          <a:p>
            <a:pPr algn="l"/>
            <a:r>
              <a:rPr sz="1200" b="1" i="0">
                <a:solidFill>
                  <a:srgbClr val="000000"/>
                </a:solidFill>
                <a:latin typeface="Calibri"/>
              </a:rPr>
              <a:t>International Expansion Needs a Costed Financial Architecture</a:t>
            </a:r>
          </a:p>
        </p:txBody>
      </p:sp>
      <p:sp>
        <p:nvSpPr>
          <p:cNvPr id="17" name="TextBox 16"/>
          <p:cNvSpPr txBox="1"/>
          <p:nvPr/>
        </p:nvSpPr>
        <p:spPr>
          <a:xfrm>
            <a:off x="8341156" y="2212848"/>
            <a:ext cx="3667658" cy="3657600"/>
          </a:xfrm>
          <a:prstGeom prst="rect">
            <a:avLst/>
          </a:prstGeom>
          <a:noFill/>
        </p:spPr>
        <p:txBody>
          <a:bodyPr wrap="square">
            <a:spAutoFit/>
          </a:bodyPr>
          <a:lstStyle/>
          <a:p>
            <a:pPr algn="l"/>
            <a:r>
              <a:rPr sz="1000" b="0" i="0">
                <a:solidFill>
                  <a:srgbClr val="000000"/>
                </a:solidFill>
                <a:latin typeface="Calibri"/>
              </a:rPr>
              <a:t>Macro Mike has publicly announced plans to enter the US, UK, Europe and Asia following the completion of its new 2,000sqm Gold Coast production facility. Entering multiple international markets from a single Australian site, with a product range exceeding 100 SKUs, requires clear capital allocation, channel sequencing and cash flow staging across each market entry. The questions of how much to deploy, in which geography, through which distribution model and in which order are exactly where structured financial planning prevents expensive missteps. A costed 12 month growth plan with scenario modelling is the financial scaffolding that international ambition of this scale requires, and the checkpoint at which capital needs and timing are defined before they become urgent.</a:t>
            </a:r>
          </a:p>
        </p:txBody>
      </p:sp>
      <p:sp>
        <p:nvSpPr>
          <p:cNvPr id="18" name="TextBox 17"/>
          <p:cNvSpPr txBox="1"/>
          <p:nvPr/>
        </p:nvSpPr>
        <p:spPr>
          <a:xfrm>
            <a:off x="201168" y="6236208"/>
            <a:ext cx="11887200" cy="320040"/>
          </a:xfrm>
          <a:prstGeom prst="rect">
            <a:avLst/>
          </a:prstGeom>
          <a:noFill/>
        </p:spPr>
        <p:txBody>
          <a:bodyPr wrap="square">
            <a:spAutoFit/>
          </a:bodyPr>
          <a:lstStyle/>
          <a:p>
            <a:pPr algn="l"/>
            <a:r>
              <a:rPr sz="900" b="0" i="1">
                <a:solidFill>
                  <a:srgbClr val="E6E5DE"/>
                </a:solidFill>
                <a:latin typeface="Calibri"/>
              </a:rPr>
              <a:t>These are observations offered in good faith. Macro Mike has built something genuinely impressive. The question is simply whether the financial architecture matches the ambition ahead.</a:t>
            </a:r>
          </a:p>
        </p:txBody>
      </p:sp>
      <p:sp>
        <p:nvSpPr>
          <p:cNvPr id="19" name="Rectangle 18"/>
          <p:cNvSpPr/>
          <p:nvPr/>
        </p:nvSpPr>
        <p:spPr>
          <a:xfrm>
            <a:off x="201168" y="6492240"/>
            <a:ext cx="11887200" cy="1828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1168" y="6537960"/>
            <a:ext cx="11704320" cy="274320"/>
          </a:xfrm>
          <a:prstGeom prst="rect">
            <a:avLst/>
          </a:prstGeom>
          <a:noFill/>
        </p:spPr>
        <p:txBody>
          <a:bodyPr wrap="square">
            <a:spAutoFit/>
          </a:bodyPr>
          <a:lstStyle/>
          <a:p>
            <a:pPr algn="l"/>
            <a:r>
              <a:rPr sz="800" b="0" i="0">
                <a:solidFill>
                  <a:srgbClr val="E6E5DE"/>
                </a:solidFill>
                <a:latin typeface="Calibri"/>
              </a:rPr>
              <a:t>Prepared by Nitesh Roopa CA, Managing Partner, ProfitPulse   |   Profit-Pulse.com.au   |   16 Jun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8229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09728"/>
            <a:ext cx="7315200" cy="457200"/>
          </a:xfrm>
          <a:prstGeom prst="rect">
            <a:avLst/>
          </a:prstGeom>
          <a:noFill/>
        </p:spPr>
        <p:txBody>
          <a:bodyPr wrap="square">
            <a:spAutoFit/>
          </a:bodyPr>
          <a:lstStyle/>
          <a:p>
            <a:pPr algn="l"/>
            <a:r>
              <a:rPr sz="1200" b="1" i="0">
                <a:solidFill>
                  <a:srgbClr val="E6E5DE"/>
                </a:solidFill>
                <a:latin typeface="Calibri"/>
              </a:rPr>
              <a:t>THE RECOMMENDATION</a:t>
            </a:r>
          </a:p>
        </p:txBody>
      </p:sp>
      <p:sp>
        <p:nvSpPr>
          <p:cNvPr id="5" name="TextBox 4"/>
          <p:cNvSpPr txBox="1"/>
          <p:nvPr/>
        </p:nvSpPr>
        <p:spPr>
          <a:xfrm>
            <a:off x="9144000" y="109728"/>
            <a:ext cx="2834640" cy="457200"/>
          </a:xfrm>
          <a:prstGeom prst="rect">
            <a:avLst/>
          </a:prstGeom>
          <a:noFill/>
        </p:spPr>
        <p:txBody>
          <a:bodyPr wrap="square">
            <a:spAutoFit/>
          </a:bodyPr>
          <a:lstStyle/>
          <a:p>
            <a:pPr algn="r"/>
            <a:r>
              <a:rPr sz="1200" b="1" i="0">
                <a:solidFill>
                  <a:srgbClr val="E6E5DE"/>
                </a:solidFill>
                <a:latin typeface="Calibri"/>
              </a:rPr>
              <a:t>PROFITPULSE</a:t>
            </a:r>
          </a:p>
        </p:txBody>
      </p:sp>
      <p:sp>
        <p:nvSpPr>
          <p:cNvPr id="6" name="TextBox 5"/>
          <p:cNvSpPr txBox="1"/>
          <p:nvPr/>
        </p:nvSpPr>
        <p:spPr>
          <a:xfrm>
            <a:off x="201168" y="960120"/>
            <a:ext cx="7223760" cy="594360"/>
          </a:xfrm>
          <a:prstGeom prst="rect">
            <a:avLst/>
          </a:prstGeom>
          <a:noFill/>
        </p:spPr>
        <p:txBody>
          <a:bodyPr wrap="square">
            <a:spAutoFit/>
          </a:bodyPr>
          <a:lstStyle/>
          <a:p>
            <a:pPr algn="l"/>
            <a:r>
              <a:rPr sz="3000" b="1" i="0">
                <a:solidFill>
                  <a:srgbClr val="01A296"/>
                </a:solidFill>
                <a:latin typeface="Georgia"/>
              </a:rPr>
              <a:t>Working Capital Unlock</a:t>
            </a:r>
          </a:p>
        </p:txBody>
      </p:sp>
      <p:sp>
        <p:nvSpPr>
          <p:cNvPr id="7" name="TextBox 6"/>
          <p:cNvSpPr txBox="1"/>
          <p:nvPr/>
        </p:nvSpPr>
        <p:spPr>
          <a:xfrm>
            <a:off x="201168" y="1572768"/>
            <a:ext cx="7223760" cy="320040"/>
          </a:xfrm>
          <a:prstGeom prst="rect">
            <a:avLst/>
          </a:prstGeom>
          <a:noFill/>
        </p:spPr>
        <p:txBody>
          <a:bodyPr wrap="square">
            <a:spAutoFit/>
          </a:bodyPr>
          <a:lstStyle/>
          <a:p>
            <a:pPr algn="l"/>
            <a:r>
              <a:rPr sz="1300" b="1" i="0">
                <a:solidFill>
                  <a:srgbClr val="F6A102"/>
                </a:solidFill>
                <a:latin typeface="Calibri"/>
              </a:rPr>
              <a:t>$6,000 one off  |  ProfitPulse verified price</a:t>
            </a:r>
          </a:p>
        </p:txBody>
      </p:sp>
      <p:sp>
        <p:nvSpPr>
          <p:cNvPr id="8" name="TextBox 7"/>
          <p:cNvSpPr txBox="1"/>
          <p:nvPr/>
        </p:nvSpPr>
        <p:spPr>
          <a:xfrm>
            <a:off x="201168" y="1938528"/>
            <a:ext cx="7223760" cy="822960"/>
          </a:xfrm>
          <a:prstGeom prst="rect">
            <a:avLst/>
          </a:prstGeom>
          <a:noFill/>
        </p:spPr>
        <p:txBody>
          <a:bodyPr wrap="square">
            <a:spAutoFit/>
          </a:bodyPr>
          <a:lstStyle/>
          <a:p>
            <a:pPr algn="l"/>
            <a:r>
              <a:rPr sz="1100" b="0" i="0">
                <a:solidFill>
                  <a:srgbClr val="000000"/>
                </a:solidFill>
                <a:latin typeface="Calibri"/>
              </a:rPr>
              <a:t>A four-week project mapping cash trapped in inventory, work in progress, supplier terms and bank facilities, with a prioritised action list to release that cash. Typical clients release 8 to 15 percent of revenue. At Macro Mike's current scale, that represents between $800,000 and $1.5 million in released working capital.</a:t>
            </a:r>
          </a:p>
        </p:txBody>
      </p:sp>
      <p:sp>
        <p:nvSpPr>
          <p:cNvPr id="9" name="Rectangle 8"/>
          <p:cNvSpPr/>
          <p:nvPr/>
        </p:nvSpPr>
        <p:spPr>
          <a:xfrm>
            <a:off x="201168" y="2834640"/>
            <a:ext cx="7223760" cy="1078992"/>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 y="2907792"/>
            <a:ext cx="6949440" cy="320040"/>
          </a:xfrm>
          <a:prstGeom prst="rect">
            <a:avLst/>
          </a:prstGeom>
          <a:noFill/>
        </p:spPr>
        <p:txBody>
          <a:bodyPr wrap="square">
            <a:spAutoFit/>
          </a:bodyPr>
          <a:lstStyle/>
          <a:p>
            <a:pPr algn="l"/>
            <a:r>
              <a:rPr sz="1300" b="1" i="0">
                <a:solidFill>
                  <a:srgbClr val="000000"/>
                </a:solidFill>
                <a:latin typeface="Calibri"/>
              </a:rPr>
              <a:t>Step one: answer a few quick questions</a:t>
            </a:r>
          </a:p>
        </p:txBody>
      </p:sp>
      <p:sp>
        <p:nvSpPr>
          <p:cNvPr id="11" name="TextBox 10"/>
          <p:cNvSpPr txBox="1"/>
          <p:nvPr/>
        </p:nvSpPr>
        <p:spPr>
          <a:xfrm>
            <a:off x="338328" y="3246120"/>
            <a:ext cx="6949440" cy="256032"/>
          </a:xfrm>
          <a:prstGeom prst="rect">
            <a:avLst/>
          </a:prstGeom>
          <a:noFill/>
        </p:spPr>
        <p:txBody>
          <a:bodyPr wrap="square">
            <a:spAutoFit/>
          </a:bodyPr>
          <a:lstStyle/>
          <a:p>
            <a:pPr algn="l"/>
            <a:r>
              <a:rPr sz="1100" b="0" i="0">
                <a:solidFill>
                  <a:srgbClr val="000000"/>
                </a:solidFill>
                <a:latin typeface="Calibri"/>
              </a:rPr>
              <a:t>See the solutions matched to your size and industry:</a:t>
            </a:r>
          </a:p>
        </p:txBody>
      </p:sp>
      <p:sp>
        <p:nvSpPr>
          <p:cNvPr id="12" name="TextBox 11"/>
          <p:cNvSpPr txBox="1"/>
          <p:nvPr/>
        </p:nvSpPr>
        <p:spPr>
          <a:xfrm>
            <a:off x="338328" y="3520440"/>
            <a:ext cx="6949440" cy="320040"/>
          </a:xfrm>
          <a:prstGeom prst="rect">
            <a:avLst/>
          </a:prstGeom>
          <a:noFill/>
        </p:spPr>
        <p:txBody>
          <a:bodyPr wrap="none">
            <a:spAutoFit/>
          </a:bodyPr>
          <a:lstStyle/>
          <a:p>
            <a:r>
              <a:rPr sz="1200" b="1" u="sng">
                <a:solidFill>
                  <a:srgbClr val="000000"/>
                </a:solidFill>
                <a:latin typeface="Calibri"/>
                <a:hlinkClick r:id="rId2"/>
              </a:rPr>
              <a:t>profit-pulse.com.au/full-suite-of-products</a:t>
            </a:r>
          </a:p>
        </p:txBody>
      </p:sp>
      <p:sp>
        <p:nvSpPr>
          <p:cNvPr id="13" name="Rectangle 12"/>
          <p:cNvSpPr/>
          <p:nvPr/>
        </p:nvSpPr>
        <p:spPr>
          <a:xfrm>
            <a:off x="201168" y="4005072"/>
            <a:ext cx="7223760" cy="50292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 y="4059936"/>
            <a:ext cx="6949440" cy="384048"/>
          </a:xfrm>
          <a:prstGeom prst="rect">
            <a:avLst/>
          </a:prstGeom>
          <a:noFill/>
        </p:spPr>
        <p:txBody>
          <a:bodyPr wrap="none">
            <a:spAutoFit/>
          </a:bodyPr>
          <a:lstStyle/>
          <a:p>
            <a:r>
              <a:rPr sz="1300" b="1" u="sng">
                <a:solidFill>
                  <a:srgbClr val="000000"/>
                </a:solidFill>
                <a:latin typeface="Calibri"/>
                <a:hlinkClick r:id="rId3"/>
              </a:rPr>
              <a:t>Purchase the suggested product now to get started</a:t>
            </a:r>
          </a:p>
        </p:txBody>
      </p:sp>
      <p:sp>
        <p:nvSpPr>
          <p:cNvPr id="15" name="TextBox 14"/>
          <p:cNvSpPr txBox="1"/>
          <p:nvPr/>
        </p:nvSpPr>
        <p:spPr>
          <a:xfrm>
            <a:off x="201168" y="4645152"/>
            <a:ext cx="7223760" cy="274320"/>
          </a:xfrm>
          <a:prstGeom prst="rect">
            <a:avLst/>
          </a:prstGeom>
          <a:noFill/>
        </p:spPr>
        <p:txBody>
          <a:bodyPr wrap="square">
            <a:spAutoFit/>
          </a:bodyPr>
          <a:lstStyle/>
          <a:p>
            <a:pPr algn="l"/>
            <a:r>
              <a:rPr sz="1100" b="1" i="0">
                <a:solidFill>
                  <a:srgbClr val="000000"/>
                </a:solidFill>
                <a:latin typeface="Calibri"/>
              </a:rPr>
              <a:t>Prefer a conversation first?</a:t>
            </a:r>
          </a:p>
        </p:txBody>
      </p:sp>
      <p:sp>
        <p:nvSpPr>
          <p:cNvPr id="16" name="TextBox 15"/>
          <p:cNvSpPr txBox="1"/>
          <p:nvPr/>
        </p:nvSpPr>
        <p:spPr>
          <a:xfrm>
            <a:off x="201168" y="4937760"/>
            <a:ext cx="7223760" cy="320040"/>
          </a:xfrm>
          <a:prstGeom prst="rect">
            <a:avLst/>
          </a:prstGeom>
          <a:noFill/>
        </p:spPr>
        <p:txBody>
          <a:bodyPr wrap="none">
            <a:spAutoFit/>
          </a:bodyPr>
          <a:lstStyle/>
          <a:p>
            <a:r>
              <a:rPr sz="1100" u="sng">
                <a:solidFill>
                  <a:srgbClr val="01A296"/>
                </a:solidFill>
                <a:latin typeface="Calibri"/>
                <a:hlinkClick r:id="rId4"/>
              </a:rPr>
              <a:t>Book a complimentary discovery call</a:t>
            </a:r>
          </a:p>
        </p:txBody>
      </p:sp>
      <p:sp>
        <p:nvSpPr>
          <p:cNvPr id="17" name="Rectangle 16"/>
          <p:cNvSpPr/>
          <p:nvPr/>
        </p:nvSpPr>
        <p:spPr>
          <a:xfrm>
            <a:off x="7635240" y="914400"/>
            <a:ext cx="4370832" cy="546811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18120" y="1024128"/>
            <a:ext cx="4005072" cy="502920"/>
          </a:xfrm>
          <a:prstGeom prst="rect">
            <a:avLst/>
          </a:prstGeom>
          <a:noFill/>
        </p:spPr>
        <p:txBody>
          <a:bodyPr wrap="square">
            <a:spAutoFit/>
          </a:bodyPr>
          <a:lstStyle/>
          <a:p>
            <a:pPr algn="l"/>
            <a:r>
              <a:rPr sz="2400" b="1" i="0">
                <a:solidFill>
                  <a:srgbClr val="F8C806"/>
                </a:solidFill>
                <a:latin typeface="Georgia"/>
              </a:rPr>
              <a:t>Nitesh Roopa</a:t>
            </a:r>
          </a:p>
        </p:txBody>
      </p:sp>
      <p:sp>
        <p:nvSpPr>
          <p:cNvPr id="19" name="TextBox 18"/>
          <p:cNvSpPr txBox="1"/>
          <p:nvPr/>
        </p:nvSpPr>
        <p:spPr>
          <a:xfrm>
            <a:off x="7818120" y="1554480"/>
            <a:ext cx="4005072" cy="320040"/>
          </a:xfrm>
          <a:prstGeom prst="rect">
            <a:avLst/>
          </a:prstGeom>
          <a:noFill/>
        </p:spPr>
        <p:txBody>
          <a:bodyPr wrap="square">
            <a:spAutoFit/>
          </a:bodyPr>
          <a:lstStyle/>
          <a:p>
            <a:pPr algn="l"/>
            <a:r>
              <a:rPr sz="1200" b="0" i="0">
                <a:solidFill>
                  <a:srgbClr val="FFFFFF"/>
                </a:solidFill>
                <a:latin typeface="Calibri"/>
              </a:rPr>
              <a:t>CA, Managing Partner, ProfitPulse</a:t>
            </a:r>
          </a:p>
        </p:txBody>
      </p:sp>
      <p:sp>
        <p:nvSpPr>
          <p:cNvPr id="20" name="Rectangle 19"/>
          <p:cNvSpPr/>
          <p:nvPr/>
        </p:nvSpPr>
        <p:spPr>
          <a:xfrm>
            <a:off x="7818120" y="1920240"/>
            <a:ext cx="4005072" cy="1828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18120" y="1993392"/>
            <a:ext cx="4005072" cy="1371600"/>
          </a:xfrm>
          <a:prstGeom prst="rect">
            <a:avLst/>
          </a:prstGeom>
          <a:noFill/>
        </p:spPr>
        <p:txBody>
          <a:bodyPr wrap="square">
            <a:spAutoFit/>
          </a:bodyPr>
          <a:lstStyle/>
          <a:p>
            <a:pPr algn="l">
              <a:spcAft>
                <a:spcPts val="300"/>
              </a:spcAft>
            </a:pPr>
            <a:r>
              <a:rPr sz="1100" b="0" i="0">
                <a:solidFill>
                  <a:srgbClr val="E6E5DE"/>
                </a:solidFill>
                <a:latin typeface="Calibri"/>
              </a:rPr>
              <a:t>16 years of experience across 4 countries</a:t>
            </a:r>
          </a:p>
          <a:p>
            <a:pPr algn="l">
              <a:spcAft>
                <a:spcPts val="300"/>
              </a:spcAft>
            </a:pPr>
            <a:r>
              <a:rPr sz="1100" b="0" i="0">
                <a:solidFill>
                  <a:srgbClr val="E6E5DE"/>
                </a:solidFill>
                <a:latin typeface="Calibri"/>
              </a:rPr>
              <a:t>Over 52 deals executed and managed</a:t>
            </a:r>
          </a:p>
          <a:p>
            <a:pPr algn="l">
              <a:spcAft>
                <a:spcPts val="300"/>
              </a:spcAft>
            </a:pPr>
            <a:r>
              <a:rPr sz="1000" b="0" i="0">
                <a:solidFill>
                  <a:srgbClr val="E6E5DE"/>
                </a:solidFill>
                <a:latin typeface="Calibri"/>
              </a:rPr>
              <a:t>Largest single deal: USD 1.3 billion, Cahora Bassa Hydro, Mozambique</a:t>
            </a:r>
          </a:p>
          <a:p>
            <a:pPr algn="l">
              <a:spcAft>
                <a:spcPts val="300"/>
              </a:spcAft>
            </a:pPr>
            <a:r>
              <a:rPr sz="1000" b="0" i="0">
                <a:solidFill>
                  <a:srgbClr val="E6E5DE"/>
                </a:solidFill>
                <a:latin typeface="Calibri"/>
              </a:rPr>
              <a:t>Total GRBT project value in Queensland: over AUD 10 billion</a:t>
            </a:r>
          </a:p>
        </p:txBody>
      </p:sp>
      <p:sp>
        <p:nvSpPr>
          <p:cNvPr id="22" name="Rectangle 21"/>
          <p:cNvSpPr/>
          <p:nvPr/>
        </p:nvSpPr>
        <p:spPr>
          <a:xfrm>
            <a:off x="7818120" y="3520440"/>
            <a:ext cx="4005072" cy="1828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18120" y="3584448"/>
            <a:ext cx="4005072" cy="1188720"/>
          </a:xfrm>
          <a:prstGeom prst="rect">
            <a:avLst/>
          </a:prstGeom>
          <a:noFill/>
        </p:spPr>
        <p:txBody>
          <a:bodyPr wrap="square">
            <a:spAutoFit/>
          </a:bodyPr>
          <a:lstStyle/>
          <a:p>
            <a:pPr algn="l">
              <a:spcAft>
                <a:spcPts val="300"/>
              </a:spcAft>
            </a:pPr>
            <a:r>
              <a:rPr sz="1100" b="0" i="0">
                <a:solidFill>
                  <a:srgbClr val="E6E5DE"/>
                </a:solidFill>
                <a:latin typeface="Calibri"/>
              </a:rPr>
              <a:t>Profit-Pulse.com.au</a:t>
            </a:r>
          </a:p>
          <a:p>
            <a:pPr algn="l">
              <a:spcAft>
                <a:spcPts val="300"/>
              </a:spcAft>
            </a:pPr>
            <a:r>
              <a:rPr sz="1100" b="0" i="0">
                <a:solidFill>
                  <a:srgbClr val="01A296"/>
                </a:solidFill>
                <a:latin typeface="Calibri"/>
              </a:rPr>
              <a:t>Nitesh@Profit-Pulse.com.au</a:t>
            </a:r>
          </a:p>
          <a:p>
            <a:pPr algn="l">
              <a:spcAft>
                <a:spcPts val="300"/>
              </a:spcAft>
            </a:pPr>
            <a:r>
              <a:rPr sz="1100" b="0" i="0">
                <a:solidFill>
                  <a:srgbClr val="E6E5DE"/>
                </a:solidFill>
                <a:latin typeface="Calibri"/>
              </a:rPr>
              <a:t>+61 411 876 267</a:t>
            </a:r>
          </a:p>
          <a:p>
            <a:pPr algn="l">
              <a:spcAft>
                <a:spcPts val="300"/>
              </a:spcAft>
            </a:pPr>
            <a:r>
              <a:rPr sz="1000" b="0" i="0">
                <a:solidFill>
                  <a:srgbClr val="E6E5DE"/>
                </a:solidFill>
                <a:latin typeface="Calibri"/>
              </a:rPr>
              <a:t>linkedin.com/in/nitesh-roopa-77594163</a:t>
            </a:r>
          </a:p>
        </p:txBody>
      </p:sp>
      <p:sp>
        <p:nvSpPr>
          <p:cNvPr id="24" name="Rectangle 23"/>
          <p:cNvSpPr/>
          <p:nvPr/>
        </p:nvSpPr>
        <p:spPr>
          <a:xfrm>
            <a:off x="201168" y="6492240"/>
            <a:ext cx="11887200" cy="1828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01168" y="6537960"/>
            <a:ext cx="11704320" cy="274320"/>
          </a:xfrm>
          <a:prstGeom prst="rect">
            <a:avLst/>
          </a:prstGeom>
          <a:noFill/>
        </p:spPr>
        <p:txBody>
          <a:bodyPr wrap="square">
            <a:spAutoFit/>
          </a:bodyPr>
          <a:lstStyle/>
          <a:p>
            <a:pPr algn="l"/>
            <a:r>
              <a:rPr sz="800" b="0" i="0">
                <a:solidFill>
                  <a:srgbClr val="E6E5DE"/>
                </a:solidFill>
                <a:latin typeface="Calibri"/>
              </a:rPr>
              <a:t>Prepared by Nitesh Roopa CA, Managing Partner, ProfitPulse   |   Profit-Pulse.com.au   |   16 Jun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