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profit-pulse.com.au/services/find-your-fit/" TargetMode="External"/><Relationship Id="rId3" Type="http://schemas.openxmlformats.org/officeDocument/2006/relationships/hyperlink" Target="https://buy.stripe.com/eVqdRad9e66cftK23Z3ks0h" TargetMode="External"/><Relationship Id="rId4" Type="http://schemas.openxmlformats.org/officeDocument/2006/relationships/hyperlink" Target="https://bookings.cloud.microsoft/book/ProfitPulse1@profit-pulse.com.au/?ismsaljsauthenabled=true"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F8C806"/>
          </a:solidFill>
          <a:ln>
            <a:noFill/>
          </a:ln>
          <a:effectLst/>
        </p:spPr>
        <p:txBody>
          <a:bodyPr rtlCol="0" anchor="ctr"/>
          <a:lstStyle/>
          <a:p>
            <a:pPr algn="ctr"/>
          </a:p>
        </p:txBody>
      </p:sp>
      <p:sp>
        <p:nvSpPr>
          <p:cNvPr id="3" name="Rectangle 2"/>
          <p:cNvSpPr/>
          <p:nvPr/>
        </p:nvSpPr>
        <p:spPr>
          <a:xfrm>
            <a:off x="91440" y="0"/>
            <a:ext cx="12100255" cy="914400"/>
          </a:xfrm>
          <a:prstGeom prst="rect">
            <a:avLst/>
          </a:prstGeom>
          <a:solidFill>
            <a:srgbClr val="000000"/>
          </a:solidFill>
          <a:ln>
            <a:noFill/>
          </a:ln>
          <a:effectLst/>
        </p:spPr>
        <p:txBody>
          <a:bodyPr rtlCol="0" anchor="ctr"/>
          <a:lstStyle/>
          <a:p>
            <a:pPr algn="ctr"/>
          </a:p>
        </p:txBody>
      </p:sp>
      <p:sp>
        <p:nvSpPr>
          <p:cNvPr id="4" name="TextBox 3"/>
          <p:cNvSpPr txBox="1"/>
          <p:nvPr/>
        </p:nvSpPr>
        <p:spPr>
          <a:xfrm>
            <a:off x="411480" y="292608"/>
            <a:ext cx="7772400" cy="365760"/>
          </a:xfrm>
          <a:prstGeom prst="rect">
            <a:avLst/>
          </a:prstGeom>
          <a:noFill/>
        </p:spPr>
        <p:txBody>
          <a:bodyPr wrap="square" lIns="0" rIns="0" tIns="0" bIns="0">
            <a:spAutoFit/>
          </a:bodyPr>
          <a:lstStyle/>
          <a:p>
            <a:pPr algn="l"/>
            <a:r>
              <a:rPr sz="1300" b="1" i="0">
                <a:solidFill>
                  <a:srgbClr val="E6E5DE"/>
                </a:solidFill>
                <a:latin typeface="Calibri"/>
              </a:rPr>
              <a:t>COMMERCIAL INTELLIGENCE BRIEF</a:t>
            </a:r>
          </a:p>
        </p:txBody>
      </p:sp>
      <p:sp>
        <p:nvSpPr>
          <p:cNvPr id="5" name="TextBox 4"/>
          <p:cNvSpPr txBox="1"/>
          <p:nvPr/>
        </p:nvSpPr>
        <p:spPr>
          <a:xfrm>
            <a:off x="8686800" y="292608"/>
            <a:ext cx="3108960" cy="365760"/>
          </a:xfrm>
          <a:prstGeom prst="rect">
            <a:avLst/>
          </a:prstGeom>
          <a:noFill/>
        </p:spPr>
        <p:txBody>
          <a:bodyPr wrap="square" lIns="0" rIns="0" tIns="0" bIns="0">
            <a:spAutoFit/>
          </a:bodyPr>
          <a:lstStyle/>
          <a:p>
            <a:pPr algn="r"/>
            <a:r>
              <a:rPr sz="1300" b="1" i="0">
                <a:solidFill>
                  <a:srgbClr val="01A296"/>
                </a:solidFill>
                <a:latin typeface="Calibri"/>
              </a:rPr>
              <a:t>PROFITPULSE</a:t>
            </a:r>
          </a:p>
        </p:txBody>
      </p:sp>
      <p:sp>
        <p:nvSpPr>
          <p:cNvPr id="6" name="TextBox 5"/>
          <p:cNvSpPr txBox="1"/>
          <p:nvPr/>
        </p:nvSpPr>
        <p:spPr>
          <a:xfrm>
            <a:off x="411480" y="6446520"/>
            <a:ext cx="7315200" cy="274320"/>
          </a:xfrm>
          <a:prstGeom prst="rect">
            <a:avLst/>
          </a:prstGeom>
          <a:noFill/>
        </p:spPr>
        <p:txBody>
          <a:bodyPr wrap="square" lIns="0" rIns="0" tIns="0" bIns="0">
            <a:spAutoFit/>
          </a:bodyPr>
          <a:lstStyle/>
          <a:p>
            <a:pPr algn="l"/>
            <a:r>
              <a:rPr sz="900" b="0" i="1">
                <a:solidFill>
                  <a:srgbClr val="01A296"/>
                </a:solidFill>
                <a:latin typeface="Calibri"/>
              </a:rPr>
              <a:t>Prepared by Nitesh Roopa CA, Managing Partner, ProfitPulse</a:t>
            </a:r>
          </a:p>
        </p:txBody>
      </p:sp>
      <p:sp>
        <p:nvSpPr>
          <p:cNvPr id="7" name="TextBox 6"/>
          <p:cNvSpPr txBox="1"/>
          <p:nvPr/>
        </p:nvSpPr>
        <p:spPr>
          <a:xfrm>
            <a:off x="9601200" y="6446520"/>
            <a:ext cx="2176272" cy="274320"/>
          </a:xfrm>
          <a:prstGeom prst="rect">
            <a:avLst/>
          </a:prstGeom>
          <a:noFill/>
        </p:spPr>
        <p:txBody>
          <a:bodyPr wrap="square" lIns="0" rIns="0" tIns="0" bIns="0">
            <a:spAutoFit/>
          </a:bodyPr>
          <a:lstStyle/>
          <a:p>
            <a:pPr algn="r"/>
            <a:r>
              <a:rPr sz="900" b="0" i="1">
                <a:solidFill>
                  <a:srgbClr val="01A296"/>
                </a:solidFill>
                <a:latin typeface="Calibri"/>
              </a:rPr>
              <a:t>07 Jul 2026</a:t>
            </a:r>
          </a:p>
        </p:txBody>
      </p:sp>
      <p:sp>
        <p:nvSpPr>
          <p:cNvPr id="8" name="TextBox 7"/>
          <p:cNvSpPr txBox="1"/>
          <p:nvPr/>
        </p:nvSpPr>
        <p:spPr>
          <a:xfrm>
            <a:off x="411480" y="1051560"/>
            <a:ext cx="7315200" cy="685800"/>
          </a:xfrm>
          <a:prstGeom prst="rect">
            <a:avLst/>
          </a:prstGeom>
          <a:noFill/>
        </p:spPr>
        <p:txBody>
          <a:bodyPr wrap="square" lIns="0" rIns="0" tIns="0" bIns="0">
            <a:spAutoFit/>
          </a:bodyPr>
          <a:lstStyle/>
          <a:p>
            <a:pPr algn="l"/>
            <a:r>
              <a:rPr sz="4200" b="1" i="0">
                <a:solidFill>
                  <a:srgbClr val="000000"/>
                </a:solidFill>
                <a:latin typeface="Georgia"/>
              </a:rPr>
              <a:t>Paire</a:t>
            </a:r>
          </a:p>
        </p:txBody>
      </p:sp>
      <p:sp>
        <p:nvSpPr>
          <p:cNvPr id="9" name="TextBox 8"/>
          <p:cNvSpPr txBox="1"/>
          <p:nvPr/>
        </p:nvSpPr>
        <p:spPr>
          <a:xfrm>
            <a:off x="411480" y="1737360"/>
            <a:ext cx="8686800" cy="320040"/>
          </a:xfrm>
          <a:prstGeom prst="rect">
            <a:avLst/>
          </a:prstGeom>
          <a:noFill/>
        </p:spPr>
        <p:txBody>
          <a:bodyPr wrap="square" lIns="0" rIns="0" tIns="0" bIns="0">
            <a:spAutoFit/>
          </a:bodyPr>
          <a:lstStyle/>
          <a:p>
            <a:pPr algn="l"/>
            <a:r>
              <a:rPr sz="1300" b="0" i="0">
                <a:solidFill>
                  <a:srgbClr val="01A296"/>
                </a:solidFill>
                <a:latin typeface="Calibri"/>
              </a:rPr>
              <a:t>Direct to consumer apparel and retail brand, South Melbourne VIC</a:t>
            </a:r>
          </a:p>
        </p:txBody>
      </p:sp>
      <p:sp>
        <p:nvSpPr>
          <p:cNvPr id="10" name="Rectangle 9"/>
          <p:cNvSpPr/>
          <p:nvPr/>
        </p:nvSpPr>
        <p:spPr>
          <a:xfrm>
            <a:off x="411480" y="2194560"/>
            <a:ext cx="2103120" cy="1463040"/>
          </a:xfrm>
          <a:prstGeom prst="rect">
            <a:avLst/>
          </a:prstGeom>
          <a:solidFill>
            <a:srgbClr val="000000"/>
          </a:solidFill>
          <a:ln>
            <a:noFill/>
          </a:ln>
          <a:effectLst/>
        </p:spPr>
        <p:txBody>
          <a:bodyPr rtlCol="0" anchor="ctr"/>
          <a:lstStyle/>
          <a:p>
            <a:pPr algn="ctr"/>
          </a:p>
        </p:txBody>
      </p:sp>
      <p:sp>
        <p:nvSpPr>
          <p:cNvPr id="11" name="Rectangle 10"/>
          <p:cNvSpPr/>
          <p:nvPr/>
        </p:nvSpPr>
        <p:spPr>
          <a:xfrm>
            <a:off x="411480" y="2194560"/>
            <a:ext cx="2103120" cy="50800"/>
          </a:xfrm>
          <a:prstGeom prst="rect">
            <a:avLst/>
          </a:prstGeom>
          <a:solidFill>
            <a:srgbClr val="01A296"/>
          </a:solidFill>
          <a:ln>
            <a:noFill/>
          </a:ln>
          <a:effectLst/>
        </p:spPr>
        <p:txBody>
          <a:bodyPr rtlCol="0" anchor="ctr"/>
          <a:lstStyle/>
          <a:p>
            <a:pPr algn="ctr"/>
          </a:p>
        </p:txBody>
      </p:sp>
      <p:sp>
        <p:nvSpPr>
          <p:cNvPr id="12" name="TextBox 11"/>
          <p:cNvSpPr txBox="1"/>
          <p:nvPr/>
        </p:nvSpPr>
        <p:spPr>
          <a:xfrm>
            <a:off x="548640" y="2359152"/>
            <a:ext cx="1828800" cy="457200"/>
          </a:xfrm>
          <a:prstGeom prst="rect">
            <a:avLst/>
          </a:prstGeom>
          <a:noFill/>
        </p:spPr>
        <p:txBody>
          <a:bodyPr wrap="square" lIns="0" rIns="0" tIns="0" bIns="0">
            <a:spAutoFit/>
          </a:bodyPr>
          <a:lstStyle/>
          <a:p>
            <a:pPr algn="l"/>
            <a:r>
              <a:rPr sz="2800" b="1" i="0">
                <a:solidFill>
                  <a:srgbClr val="F8C806"/>
                </a:solidFill>
                <a:latin typeface="Georgia"/>
              </a:rPr>
              <a:t>$10M</a:t>
            </a:r>
          </a:p>
        </p:txBody>
      </p:sp>
      <p:sp>
        <p:nvSpPr>
          <p:cNvPr id="13" name="TextBox 12"/>
          <p:cNvSpPr txBox="1"/>
          <p:nvPr/>
        </p:nvSpPr>
        <p:spPr>
          <a:xfrm>
            <a:off x="548640" y="2852928"/>
            <a:ext cx="1828800" cy="502920"/>
          </a:xfrm>
          <a:prstGeom prst="rect">
            <a:avLst/>
          </a:prstGeom>
          <a:noFill/>
        </p:spPr>
        <p:txBody>
          <a:bodyPr wrap="square" lIns="0" rIns="0" tIns="0" bIns="0">
            <a:spAutoFit/>
          </a:bodyPr>
          <a:lstStyle/>
          <a:p>
            <a:pPr algn="l">
              <a:lnSpc>
                <a:spcPct val="100000"/>
              </a:lnSpc>
            </a:pPr>
            <a:r>
              <a:rPr sz="1100" b="0" i="0">
                <a:solidFill>
                  <a:srgbClr val="E6E5DE"/>
                </a:solidFill>
                <a:latin typeface="Calibri"/>
              </a:rPr>
              <a:t>Revenue,</a:t>
            </a:r>
          </a:p>
          <a:p>
            <a:pPr algn="l">
              <a:lnSpc>
                <a:spcPct val="100000"/>
              </a:lnSpc>
            </a:pPr>
            <a:r>
              <a:rPr sz="1100" b="0" i="0">
                <a:solidFill>
                  <a:srgbClr val="E6E5DE"/>
                </a:solidFill>
                <a:latin typeface="Calibri"/>
              </a:rPr>
              <a:t>FY2025</a:t>
            </a:r>
          </a:p>
        </p:txBody>
      </p:sp>
      <p:sp>
        <p:nvSpPr>
          <p:cNvPr id="14" name="TextBox 13"/>
          <p:cNvSpPr txBox="1"/>
          <p:nvPr/>
        </p:nvSpPr>
        <p:spPr>
          <a:xfrm>
            <a:off x="548640" y="3401568"/>
            <a:ext cx="1828800" cy="219456"/>
          </a:xfrm>
          <a:prstGeom prst="rect">
            <a:avLst/>
          </a:prstGeom>
          <a:noFill/>
        </p:spPr>
        <p:txBody>
          <a:bodyPr wrap="square" lIns="0" rIns="0" tIns="0" bIns="0">
            <a:spAutoFit/>
          </a:bodyPr>
          <a:lstStyle/>
          <a:p>
            <a:pPr algn="l"/>
            <a:r>
              <a:rPr sz="800" b="0" i="1">
                <a:solidFill>
                  <a:srgbClr val="E6E5DE"/>
                </a:solidFill>
                <a:latin typeface="Calibri"/>
              </a:rPr>
              <a:t>SmartCompany, Smart50 2025</a:t>
            </a:r>
          </a:p>
        </p:txBody>
      </p:sp>
      <p:sp>
        <p:nvSpPr>
          <p:cNvPr id="15" name="Rectangle 14"/>
          <p:cNvSpPr/>
          <p:nvPr/>
        </p:nvSpPr>
        <p:spPr>
          <a:xfrm>
            <a:off x="2651760" y="2194560"/>
            <a:ext cx="2103120" cy="1463040"/>
          </a:xfrm>
          <a:prstGeom prst="rect">
            <a:avLst/>
          </a:prstGeom>
          <a:solidFill>
            <a:srgbClr val="000000"/>
          </a:solidFill>
          <a:ln>
            <a:noFill/>
          </a:ln>
          <a:effectLst/>
        </p:spPr>
        <p:txBody>
          <a:bodyPr rtlCol="0" anchor="ctr"/>
          <a:lstStyle/>
          <a:p>
            <a:pPr algn="ctr"/>
          </a:p>
        </p:txBody>
      </p:sp>
      <p:sp>
        <p:nvSpPr>
          <p:cNvPr id="16" name="Rectangle 15"/>
          <p:cNvSpPr/>
          <p:nvPr/>
        </p:nvSpPr>
        <p:spPr>
          <a:xfrm>
            <a:off x="2651760" y="2194560"/>
            <a:ext cx="2103120" cy="50800"/>
          </a:xfrm>
          <a:prstGeom prst="rect">
            <a:avLst/>
          </a:prstGeom>
          <a:solidFill>
            <a:srgbClr val="01A296"/>
          </a:solidFill>
          <a:ln>
            <a:noFill/>
          </a:ln>
          <a:effectLst/>
        </p:spPr>
        <p:txBody>
          <a:bodyPr rtlCol="0" anchor="ctr"/>
          <a:lstStyle/>
          <a:p>
            <a:pPr algn="ctr"/>
          </a:p>
        </p:txBody>
      </p:sp>
      <p:sp>
        <p:nvSpPr>
          <p:cNvPr id="17" name="TextBox 16"/>
          <p:cNvSpPr txBox="1"/>
          <p:nvPr/>
        </p:nvSpPr>
        <p:spPr>
          <a:xfrm>
            <a:off x="2788920" y="2359152"/>
            <a:ext cx="1828800" cy="457200"/>
          </a:xfrm>
          <a:prstGeom prst="rect">
            <a:avLst/>
          </a:prstGeom>
          <a:noFill/>
        </p:spPr>
        <p:txBody>
          <a:bodyPr wrap="square" lIns="0" rIns="0" tIns="0" bIns="0">
            <a:spAutoFit/>
          </a:bodyPr>
          <a:lstStyle/>
          <a:p>
            <a:pPr algn="l"/>
            <a:r>
              <a:rPr sz="2800" b="1" i="0">
                <a:solidFill>
                  <a:srgbClr val="F8C806"/>
                </a:solidFill>
                <a:latin typeface="Georgia"/>
              </a:rPr>
              <a:t>26</a:t>
            </a:r>
          </a:p>
        </p:txBody>
      </p:sp>
      <p:sp>
        <p:nvSpPr>
          <p:cNvPr id="18" name="TextBox 17"/>
          <p:cNvSpPr txBox="1"/>
          <p:nvPr/>
        </p:nvSpPr>
        <p:spPr>
          <a:xfrm>
            <a:off x="2788920" y="2852928"/>
            <a:ext cx="1828800" cy="502920"/>
          </a:xfrm>
          <a:prstGeom prst="rect">
            <a:avLst/>
          </a:prstGeom>
          <a:noFill/>
        </p:spPr>
        <p:txBody>
          <a:bodyPr wrap="square" lIns="0" rIns="0" tIns="0" bIns="0">
            <a:spAutoFit/>
          </a:bodyPr>
          <a:lstStyle/>
          <a:p>
            <a:pPr algn="l">
              <a:lnSpc>
                <a:spcPct val="100000"/>
              </a:lnSpc>
            </a:pPr>
            <a:r>
              <a:rPr sz="1100" b="0" i="0">
                <a:solidFill>
                  <a:srgbClr val="E6E5DE"/>
                </a:solidFill>
                <a:latin typeface="Calibri"/>
              </a:rPr>
              <a:t>Team, full time</a:t>
            </a:r>
          </a:p>
          <a:p>
            <a:pPr algn="l">
              <a:lnSpc>
                <a:spcPct val="100000"/>
              </a:lnSpc>
            </a:pPr>
            <a:r>
              <a:rPr sz="1100" b="0" i="0">
                <a:solidFill>
                  <a:srgbClr val="E6E5DE"/>
                </a:solidFill>
                <a:latin typeface="Calibri"/>
              </a:rPr>
              <a:t>+ casual</a:t>
            </a:r>
          </a:p>
        </p:txBody>
      </p:sp>
      <p:sp>
        <p:nvSpPr>
          <p:cNvPr id="19" name="TextBox 18"/>
          <p:cNvSpPr txBox="1"/>
          <p:nvPr/>
        </p:nvSpPr>
        <p:spPr>
          <a:xfrm>
            <a:off x="2788920" y="3401568"/>
            <a:ext cx="1828800" cy="219456"/>
          </a:xfrm>
          <a:prstGeom prst="rect">
            <a:avLst/>
          </a:prstGeom>
          <a:noFill/>
        </p:spPr>
        <p:txBody>
          <a:bodyPr wrap="square" lIns="0" rIns="0" tIns="0" bIns="0">
            <a:spAutoFit/>
          </a:bodyPr>
          <a:lstStyle/>
          <a:p>
            <a:pPr algn="l"/>
            <a:r>
              <a:rPr sz="800" b="0" i="1">
                <a:solidFill>
                  <a:srgbClr val="E6E5DE"/>
                </a:solidFill>
                <a:latin typeface="Calibri"/>
              </a:rPr>
              <a:t>SmartCompany, Smart50 2025</a:t>
            </a:r>
          </a:p>
        </p:txBody>
      </p:sp>
      <p:sp>
        <p:nvSpPr>
          <p:cNvPr id="20" name="Rectangle 19"/>
          <p:cNvSpPr/>
          <p:nvPr/>
        </p:nvSpPr>
        <p:spPr>
          <a:xfrm>
            <a:off x="4892040" y="2194560"/>
            <a:ext cx="2103120" cy="1463040"/>
          </a:xfrm>
          <a:prstGeom prst="rect">
            <a:avLst/>
          </a:prstGeom>
          <a:solidFill>
            <a:srgbClr val="000000"/>
          </a:solidFill>
          <a:ln>
            <a:noFill/>
          </a:ln>
          <a:effectLst/>
        </p:spPr>
        <p:txBody>
          <a:bodyPr rtlCol="0" anchor="ctr"/>
          <a:lstStyle/>
          <a:p>
            <a:pPr algn="ctr"/>
          </a:p>
        </p:txBody>
      </p:sp>
      <p:sp>
        <p:nvSpPr>
          <p:cNvPr id="21" name="Rectangle 20"/>
          <p:cNvSpPr/>
          <p:nvPr/>
        </p:nvSpPr>
        <p:spPr>
          <a:xfrm>
            <a:off x="4892040" y="2194560"/>
            <a:ext cx="2103120" cy="50800"/>
          </a:xfrm>
          <a:prstGeom prst="rect">
            <a:avLst/>
          </a:prstGeom>
          <a:solidFill>
            <a:srgbClr val="01A296"/>
          </a:solidFill>
          <a:ln>
            <a:noFill/>
          </a:ln>
          <a:effectLst/>
        </p:spPr>
        <p:txBody>
          <a:bodyPr rtlCol="0" anchor="ctr"/>
          <a:lstStyle/>
          <a:p>
            <a:pPr algn="ctr"/>
          </a:p>
        </p:txBody>
      </p:sp>
      <p:sp>
        <p:nvSpPr>
          <p:cNvPr id="22" name="TextBox 21"/>
          <p:cNvSpPr txBox="1"/>
          <p:nvPr/>
        </p:nvSpPr>
        <p:spPr>
          <a:xfrm>
            <a:off x="5029200" y="2359152"/>
            <a:ext cx="1828800" cy="457200"/>
          </a:xfrm>
          <a:prstGeom prst="rect">
            <a:avLst/>
          </a:prstGeom>
          <a:noFill/>
        </p:spPr>
        <p:txBody>
          <a:bodyPr wrap="square" lIns="0" rIns="0" tIns="0" bIns="0">
            <a:spAutoFit/>
          </a:bodyPr>
          <a:lstStyle/>
          <a:p>
            <a:pPr algn="l"/>
            <a:r>
              <a:rPr sz="2800" b="1" i="0">
                <a:solidFill>
                  <a:srgbClr val="F8C806"/>
                </a:solidFill>
                <a:latin typeface="Georgia"/>
              </a:rPr>
              <a:t>#15</a:t>
            </a:r>
          </a:p>
        </p:txBody>
      </p:sp>
      <p:sp>
        <p:nvSpPr>
          <p:cNvPr id="23" name="TextBox 22"/>
          <p:cNvSpPr txBox="1"/>
          <p:nvPr/>
        </p:nvSpPr>
        <p:spPr>
          <a:xfrm>
            <a:off x="5029200" y="2852928"/>
            <a:ext cx="1828800" cy="502920"/>
          </a:xfrm>
          <a:prstGeom prst="rect">
            <a:avLst/>
          </a:prstGeom>
          <a:noFill/>
        </p:spPr>
        <p:txBody>
          <a:bodyPr wrap="square" lIns="0" rIns="0" tIns="0" bIns="0">
            <a:spAutoFit/>
          </a:bodyPr>
          <a:lstStyle/>
          <a:p>
            <a:pPr algn="l">
              <a:lnSpc>
                <a:spcPct val="100000"/>
              </a:lnSpc>
            </a:pPr>
            <a:r>
              <a:rPr sz="1100" b="0" i="0">
                <a:solidFill>
                  <a:srgbClr val="E6E5DE"/>
                </a:solidFill>
                <a:latin typeface="Calibri"/>
              </a:rPr>
              <a:t>2025 Smart50</a:t>
            </a:r>
          </a:p>
          <a:p>
            <a:pPr algn="l">
              <a:lnSpc>
                <a:spcPct val="100000"/>
              </a:lnSpc>
            </a:pPr>
            <a:r>
              <a:rPr sz="1100" b="0" i="0">
                <a:solidFill>
                  <a:srgbClr val="E6E5DE"/>
                </a:solidFill>
                <a:latin typeface="Calibri"/>
              </a:rPr>
              <a:t>national rank</a:t>
            </a:r>
          </a:p>
        </p:txBody>
      </p:sp>
      <p:sp>
        <p:nvSpPr>
          <p:cNvPr id="24" name="TextBox 23"/>
          <p:cNvSpPr txBox="1"/>
          <p:nvPr/>
        </p:nvSpPr>
        <p:spPr>
          <a:xfrm>
            <a:off x="5029200" y="3401568"/>
            <a:ext cx="1828800" cy="219456"/>
          </a:xfrm>
          <a:prstGeom prst="rect">
            <a:avLst/>
          </a:prstGeom>
          <a:noFill/>
        </p:spPr>
        <p:txBody>
          <a:bodyPr wrap="square" lIns="0" rIns="0" tIns="0" bIns="0">
            <a:spAutoFit/>
          </a:bodyPr>
          <a:lstStyle/>
          <a:p>
            <a:pPr algn="l"/>
            <a:r>
              <a:rPr sz="800" b="0" i="1">
                <a:solidFill>
                  <a:srgbClr val="E6E5DE"/>
                </a:solidFill>
                <a:latin typeface="Calibri"/>
              </a:rPr>
              <a:t>SmartCompany Smart50 2025</a:t>
            </a:r>
          </a:p>
        </p:txBody>
      </p:sp>
      <p:sp>
        <p:nvSpPr>
          <p:cNvPr id="25" name="Rectangle 24"/>
          <p:cNvSpPr/>
          <p:nvPr/>
        </p:nvSpPr>
        <p:spPr>
          <a:xfrm>
            <a:off x="7132320" y="2194560"/>
            <a:ext cx="2103120" cy="1463040"/>
          </a:xfrm>
          <a:prstGeom prst="rect">
            <a:avLst/>
          </a:prstGeom>
          <a:solidFill>
            <a:srgbClr val="000000"/>
          </a:solidFill>
          <a:ln>
            <a:noFill/>
          </a:ln>
          <a:effectLst/>
        </p:spPr>
        <p:txBody>
          <a:bodyPr rtlCol="0" anchor="ctr"/>
          <a:lstStyle/>
          <a:p>
            <a:pPr algn="ctr"/>
          </a:p>
        </p:txBody>
      </p:sp>
      <p:sp>
        <p:nvSpPr>
          <p:cNvPr id="26" name="Rectangle 25"/>
          <p:cNvSpPr/>
          <p:nvPr/>
        </p:nvSpPr>
        <p:spPr>
          <a:xfrm>
            <a:off x="7132320" y="2194560"/>
            <a:ext cx="2103120" cy="50800"/>
          </a:xfrm>
          <a:prstGeom prst="rect">
            <a:avLst/>
          </a:prstGeom>
          <a:solidFill>
            <a:srgbClr val="01A296"/>
          </a:solidFill>
          <a:ln>
            <a:noFill/>
          </a:ln>
          <a:effectLst/>
        </p:spPr>
        <p:txBody>
          <a:bodyPr rtlCol="0" anchor="ctr"/>
          <a:lstStyle/>
          <a:p>
            <a:pPr algn="ctr"/>
          </a:p>
        </p:txBody>
      </p:sp>
      <p:sp>
        <p:nvSpPr>
          <p:cNvPr id="27" name="TextBox 26"/>
          <p:cNvSpPr txBox="1"/>
          <p:nvPr/>
        </p:nvSpPr>
        <p:spPr>
          <a:xfrm>
            <a:off x="7269480" y="2359152"/>
            <a:ext cx="1828800" cy="457200"/>
          </a:xfrm>
          <a:prstGeom prst="rect">
            <a:avLst/>
          </a:prstGeom>
          <a:noFill/>
        </p:spPr>
        <p:txBody>
          <a:bodyPr wrap="square" lIns="0" rIns="0" tIns="0" bIns="0">
            <a:spAutoFit/>
          </a:bodyPr>
          <a:lstStyle/>
          <a:p>
            <a:pPr algn="l"/>
            <a:r>
              <a:rPr sz="2800" b="1" i="0">
                <a:solidFill>
                  <a:srgbClr val="F8C806"/>
                </a:solidFill>
                <a:latin typeface="Georgia"/>
              </a:rPr>
              <a:t>2020</a:t>
            </a:r>
          </a:p>
        </p:txBody>
      </p:sp>
      <p:sp>
        <p:nvSpPr>
          <p:cNvPr id="28" name="TextBox 27"/>
          <p:cNvSpPr txBox="1"/>
          <p:nvPr/>
        </p:nvSpPr>
        <p:spPr>
          <a:xfrm>
            <a:off x="7269480" y="2852928"/>
            <a:ext cx="1828800" cy="502920"/>
          </a:xfrm>
          <a:prstGeom prst="rect">
            <a:avLst/>
          </a:prstGeom>
          <a:noFill/>
        </p:spPr>
        <p:txBody>
          <a:bodyPr wrap="square" lIns="0" rIns="0" tIns="0" bIns="0">
            <a:spAutoFit/>
          </a:bodyPr>
          <a:lstStyle/>
          <a:p>
            <a:pPr algn="l">
              <a:lnSpc>
                <a:spcPct val="100000"/>
              </a:lnSpc>
            </a:pPr>
            <a:r>
              <a:rPr sz="1100" b="0" i="0">
                <a:solidFill>
                  <a:srgbClr val="E6E5DE"/>
                </a:solidFill>
                <a:latin typeface="Calibri"/>
              </a:rPr>
              <a:t>Year</a:t>
            </a:r>
          </a:p>
          <a:p>
            <a:pPr algn="l">
              <a:lnSpc>
                <a:spcPct val="100000"/>
              </a:lnSpc>
            </a:pPr>
            <a:r>
              <a:rPr sz="1100" b="0" i="0">
                <a:solidFill>
                  <a:srgbClr val="E6E5DE"/>
                </a:solidFill>
                <a:latin typeface="Calibri"/>
              </a:rPr>
              <a:t>founded</a:t>
            </a:r>
          </a:p>
        </p:txBody>
      </p:sp>
      <p:sp>
        <p:nvSpPr>
          <p:cNvPr id="29" name="TextBox 28"/>
          <p:cNvSpPr txBox="1"/>
          <p:nvPr/>
        </p:nvSpPr>
        <p:spPr>
          <a:xfrm>
            <a:off x="7269480" y="3401568"/>
            <a:ext cx="1828800" cy="219456"/>
          </a:xfrm>
          <a:prstGeom prst="rect">
            <a:avLst/>
          </a:prstGeom>
          <a:noFill/>
        </p:spPr>
        <p:txBody>
          <a:bodyPr wrap="square" lIns="0" rIns="0" tIns="0" bIns="0">
            <a:spAutoFit/>
          </a:bodyPr>
          <a:lstStyle/>
          <a:p>
            <a:pPr algn="l"/>
            <a:r>
              <a:rPr sz="800" b="0" i="1">
                <a:solidFill>
                  <a:srgbClr val="E6E5DE"/>
                </a:solidFill>
                <a:latin typeface="Calibri"/>
              </a:rPr>
              <a:t>SmartCompany Smart50 profiles</a:t>
            </a:r>
          </a:p>
        </p:txBody>
      </p:sp>
      <p:sp>
        <p:nvSpPr>
          <p:cNvPr id="30" name="Rectangle 29"/>
          <p:cNvSpPr/>
          <p:nvPr/>
        </p:nvSpPr>
        <p:spPr>
          <a:xfrm>
            <a:off x="9372600" y="2194560"/>
            <a:ext cx="2103120" cy="1463040"/>
          </a:xfrm>
          <a:prstGeom prst="rect">
            <a:avLst/>
          </a:prstGeom>
          <a:solidFill>
            <a:srgbClr val="000000"/>
          </a:solidFill>
          <a:ln>
            <a:noFill/>
          </a:ln>
          <a:effectLst/>
        </p:spPr>
        <p:txBody>
          <a:bodyPr rtlCol="0" anchor="ctr"/>
          <a:lstStyle/>
          <a:p>
            <a:pPr algn="ctr"/>
          </a:p>
        </p:txBody>
      </p:sp>
      <p:sp>
        <p:nvSpPr>
          <p:cNvPr id="31" name="Rectangle 30"/>
          <p:cNvSpPr/>
          <p:nvPr/>
        </p:nvSpPr>
        <p:spPr>
          <a:xfrm>
            <a:off x="9372600" y="2194560"/>
            <a:ext cx="2103120" cy="50800"/>
          </a:xfrm>
          <a:prstGeom prst="rect">
            <a:avLst/>
          </a:prstGeom>
          <a:solidFill>
            <a:srgbClr val="01A296"/>
          </a:solidFill>
          <a:ln>
            <a:noFill/>
          </a:ln>
          <a:effectLst/>
        </p:spPr>
        <p:txBody>
          <a:bodyPr rtlCol="0" anchor="ctr"/>
          <a:lstStyle/>
          <a:p>
            <a:pPr algn="ctr"/>
          </a:p>
        </p:txBody>
      </p:sp>
      <p:sp>
        <p:nvSpPr>
          <p:cNvPr id="32" name="TextBox 31"/>
          <p:cNvSpPr txBox="1"/>
          <p:nvPr/>
        </p:nvSpPr>
        <p:spPr>
          <a:xfrm>
            <a:off x="9509760" y="2359152"/>
            <a:ext cx="1828800" cy="457200"/>
          </a:xfrm>
          <a:prstGeom prst="rect">
            <a:avLst/>
          </a:prstGeom>
          <a:noFill/>
        </p:spPr>
        <p:txBody>
          <a:bodyPr wrap="square" lIns="0" rIns="0" tIns="0" bIns="0">
            <a:spAutoFit/>
          </a:bodyPr>
          <a:lstStyle/>
          <a:p>
            <a:pPr algn="l"/>
            <a:r>
              <a:rPr sz="2800" b="1" i="0">
                <a:solidFill>
                  <a:srgbClr val="F8C806"/>
                </a:solidFill>
                <a:latin typeface="Georgia"/>
              </a:rPr>
              <a:t>10x</a:t>
            </a:r>
          </a:p>
        </p:txBody>
      </p:sp>
      <p:sp>
        <p:nvSpPr>
          <p:cNvPr id="33" name="TextBox 32"/>
          <p:cNvSpPr txBox="1"/>
          <p:nvPr/>
        </p:nvSpPr>
        <p:spPr>
          <a:xfrm>
            <a:off x="9509760" y="2852928"/>
            <a:ext cx="1828800" cy="502920"/>
          </a:xfrm>
          <a:prstGeom prst="rect">
            <a:avLst/>
          </a:prstGeom>
          <a:noFill/>
        </p:spPr>
        <p:txBody>
          <a:bodyPr wrap="square" lIns="0" rIns="0" tIns="0" bIns="0">
            <a:spAutoFit/>
          </a:bodyPr>
          <a:lstStyle/>
          <a:p>
            <a:pPr algn="l">
              <a:lnSpc>
                <a:spcPct val="100000"/>
              </a:lnSpc>
            </a:pPr>
            <a:r>
              <a:rPr sz="1100" b="0" i="0">
                <a:solidFill>
                  <a:srgbClr val="E6E5DE"/>
                </a:solidFill>
                <a:latin typeface="Calibri"/>
              </a:rPr>
              <a:t>Revenue growth</a:t>
            </a:r>
          </a:p>
          <a:p>
            <a:pPr algn="l">
              <a:lnSpc>
                <a:spcPct val="100000"/>
              </a:lnSpc>
            </a:pPr>
            <a:r>
              <a:rPr sz="1100" b="0" i="0">
                <a:solidFill>
                  <a:srgbClr val="E6E5DE"/>
                </a:solidFill>
                <a:latin typeface="Calibri"/>
              </a:rPr>
              <a:t>2021 to 2024</a:t>
            </a:r>
          </a:p>
        </p:txBody>
      </p:sp>
      <p:sp>
        <p:nvSpPr>
          <p:cNvPr id="34" name="TextBox 33"/>
          <p:cNvSpPr txBox="1"/>
          <p:nvPr/>
        </p:nvSpPr>
        <p:spPr>
          <a:xfrm>
            <a:off x="9509760" y="3401568"/>
            <a:ext cx="1828800" cy="219456"/>
          </a:xfrm>
          <a:prstGeom prst="rect">
            <a:avLst/>
          </a:prstGeom>
          <a:noFill/>
        </p:spPr>
        <p:txBody>
          <a:bodyPr wrap="square" lIns="0" rIns="0" tIns="0" bIns="0">
            <a:spAutoFit/>
          </a:bodyPr>
          <a:lstStyle/>
          <a:p>
            <a:pPr algn="l"/>
            <a:r>
              <a:rPr sz="800" b="0" i="1">
                <a:solidFill>
                  <a:srgbClr val="E6E5DE"/>
                </a:solidFill>
                <a:latin typeface="Calibri"/>
              </a:rPr>
              <a:t>SmartCompany growth profile</a:t>
            </a:r>
          </a:p>
        </p:txBody>
      </p:sp>
      <p:sp>
        <p:nvSpPr>
          <p:cNvPr id="35" name="TextBox 34"/>
          <p:cNvSpPr txBox="1"/>
          <p:nvPr/>
        </p:nvSpPr>
        <p:spPr>
          <a:xfrm>
            <a:off x="411480" y="3794760"/>
            <a:ext cx="6949440" cy="274320"/>
          </a:xfrm>
          <a:prstGeom prst="rect">
            <a:avLst/>
          </a:prstGeom>
          <a:noFill/>
        </p:spPr>
        <p:txBody>
          <a:bodyPr wrap="square" lIns="0" rIns="0" tIns="0" bIns="0">
            <a:spAutoFit/>
          </a:bodyPr>
          <a:lstStyle/>
          <a:p>
            <a:pPr algn="l"/>
            <a:r>
              <a:rPr sz="1200" b="1" i="0">
                <a:solidFill>
                  <a:srgbClr val="01A296"/>
                </a:solidFill>
                <a:latin typeface="Calibri"/>
              </a:rPr>
              <a:t>KEY COMMERCIAL SIGNALS</a:t>
            </a:r>
          </a:p>
        </p:txBody>
      </p:sp>
      <p:sp>
        <p:nvSpPr>
          <p:cNvPr id="36" name="TextBox 35"/>
          <p:cNvSpPr txBox="1"/>
          <p:nvPr/>
        </p:nvSpPr>
        <p:spPr>
          <a:xfrm>
            <a:off x="411480" y="4114800"/>
            <a:ext cx="6949440" cy="2194560"/>
          </a:xfrm>
          <a:prstGeom prst="rect">
            <a:avLst/>
          </a:prstGeom>
          <a:noFill/>
        </p:spPr>
        <p:txBody>
          <a:bodyPr wrap="square" lIns="0" rIns="0" tIns="0" bIns="0">
            <a:spAutoFit/>
          </a:bodyPr>
          <a:lstStyle/>
          <a:p>
            <a:pPr algn="l">
              <a:lnSpc>
                <a:spcPct val="105000"/>
              </a:lnSpc>
              <a:spcAft>
                <a:spcPts val="800"/>
              </a:spcAft>
            </a:pPr>
            <a:r>
              <a:rPr sz="1150" b="0" i="0">
                <a:solidFill>
                  <a:srgbClr val="000000"/>
                </a:solidFill>
                <a:latin typeface="Calibri"/>
              </a:rPr>
              <a:t>•  Ranked 15th nationally at the 2025 Smart50 Awards, up from 13th in 2024, 38th in 2023</a:t>
            </a:r>
          </a:p>
          <a:p>
            <a:pPr algn="l">
              <a:lnSpc>
                <a:spcPct val="105000"/>
              </a:lnSpc>
              <a:spcAft>
                <a:spcPts val="800"/>
              </a:spcAft>
            </a:pPr>
            <a:r>
              <a:rPr sz="1150" b="0" i="0">
                <a:solidFill>
                  <a:srgbClr val="000000"/>
                </a:solidFill>
                <a:latin typeface="Calibri"/>
              </a:rPr>
              <a:t>•  Won the Rising Star and Retail Award categories at the 2024 Smart50 Awards</a:t>
            </a:r>
          </a:p>
          <a:p>
            <a:pPr algn="l">
              <a:lnSpc>
                <a:spcPct val="105000"/>
              </a:lnSpc>
              <a:spcAft>
                <a:spcPts val="800"/>
              </a:spcAft>
            </a:pPr>
            <a:r>
              <a:rPr sz="1150" b="0" i="0">
                <a:solidFill>
                  <a:srgbClr val="000000"/>
                </a:solidFill>
                <a:latin typeface="Calibri"/>
              </a:rPr>
              <a:t>•  Opened first physical flagship at QV Melbourne in January 2025, after years online only</a:t>
            </a:r>
          </a:p>
          <a:p>
            <a:pPr algn="l">
              <a:lnSpc>
                <a:spcPct val="105000"/>
              </a:lnSpc>
              <a:spcAft>
                <a:spcPts val="800"/>
              </a:spcAft>
            </a:pPr>
            <a:r>
              <a:rPr sz="1150" b="0" i="0">
                <a:solidFill>
                  <a:srgbClr val="000000"/>
                </a:solidFill>
                <a:latin typeface="Calibri"/>
              </a:rPr>
              <a:t>•  Plans two to three more Sydney stores plus additional Melbourne sites within 18 months</a:t>
            </a:r>
          </a:p>
          <a:p>
            <a:pPr algn="l">
              <a:lnSpc>
                <a:spcPct val="105000"/>
              </a:lnSpc>
              <a:spcAft>
                <a:spcPts val="800"/>
              </a:spcAft>
            </a:pPr>
            <a:r>
              <a:rPr sz="1150" b="0" i="0">
                <a:solidFill>
                  <a:srgbClr val="000000"/>
                </a:solidFill>
                <a:latin typeface="Calibri"/>
              </a:rPr>
              <a:t>•  Pitched on Shark Tank Australia in 2024, seeking $500,000 for 2.5 percent equity</a:t>
            </a:r>
          </a:p>
          <a:p>
            <a:pPr algn="l">
              <a:lnSpc>
                <a:spcPct val="105000"/>
              </a:lnSpc>
              <a:spcAft>
                <a:spcPts val="800"/>
              </a:spcAft>
            </a:pPr>
            <a:r>
              <a:rPr sz="1150" b="0" i="0">
                <a:solidFill>
                  <a:srgbClr val="000000"/>
                </a:solidFill>
                <a:latin typeface="Calibri"/>
              </a:rPr>
              <a:t>•  Expanded product sales into Singapore, its first international market</a:t>
            </a:r>
          </a:p>
        </p:txBody>
      </p:sp>
      <p:sp>
        <p:nvSpPr>
          <p:cNvPr id="37" name="TextBox 36"/>
          <p:cNvSpPr txBox="1"/>
          <p:nvPr/>
        </p:nvSpPr>
        <p:spPr>
          <a:xfrm>
            <a:off x="7635240" y="3794760"/>
            <a:ext cx="4160520" cy="274320"/>
          </a:xfrm>
          <a:prstGeom prst="rect">
            <a:avLst/>
          </a:prstGeom>
          <a:noFill/>
        </p:spPr>
        <p:txBody>
          <a:bodyPr wrap="square" lIns="0" rIns="0" tIns="0" bIns="0">
            <a:spAutoFit/>
          </a:bodyPr>
          <a:lstStyle/>
          <a:p>
            <a:pPr algn="l"/>
            <a:r>
              <a:rPr sz="1200" b="1" i="0">
                <a:solidFill>
                  <a:srgbClr val="01A296"/>
                </a:solidFill>
                <a:latin typeface="Calibri"/>
              </a:rPr>
              <a:t>REVENUE, VERIFIED</a:t>
            </a:r>
          </a:p>
        </p:txBody>
      </p:sp>
      <p:sp>
        <p:nvSpPr>
          <p:cNvPr id="38" name="Rectangle 37"/>
          <p:cNvSpPr/>
          <p:nvPr/>
        </p:nvSpPr>
        <p:spPr>
          <a:xfrm>
            <a:off x="8183880" y="5650992"/>
            <a:ext cx="822960" cy="155448"/>
          </a:xfrm>
          <a:prstGeom prst="rect">
            <a:avLst/>
          </a:prstGeom>
          <a:solidFill>
            <a:srgbClr val="01A296"/>
          </a:solidFill>
          <a:ln>
            <a:noFill/>
          </a:ln>
          <a:effectLst/>
        </p:spPr>
        <p:txBody>
          <a:bodyPr rtlCol="0" anchor="ctr"/>
          <a:lstStyle/>
          <a:p>
            <a:pPr algn="ctr"/>
          </a:p>
        </p:txBody>
      </p:sp>
      <p:sp>
        <p:nvSpPr>
          <p:cNvPr id="39" name="TextBox 38"/>
          <p:cNvSpPr txBox="1"/>
          <p:nvPr/>
        </p:nvSpPr>
        <p:spPr>
          <a:xfrm>
            <a:off x="8046720" y="5358384"/>
            <a:ext cx="1097280" cy="274320"/>
          </a:xfrm>
          <a:prstGeom prst="rect">
            <a:avLst/>
          </a:prstGeom>
          <a:noFill/>
        </p:spPr>
        <p:txBody>
          <a:bodyPr wrap="square" lIns="0" rIns="0" tIns="0" bIns="0">
            <a:spAutoFit/>
          </a:bodyPr>
          <a:lstStyle/>
          <a:p>
            <a:pPr algn="l"/>
            <a:r>
              <a:rPr sz="1300" b="1" i="0">
                <a:solidFill>
                  <a:srgbClr val="000000"/>
                </a:solidFill>
                <a:latin typeface="Georgia"/>
              </a:rPr>
              <a:t>$1M</a:t>
            </a:r>
          </a:p>
        </p:txBody>
      </p:sp>
      <p:sp>
        <p:nvSpPr>
          <p:cNvPr id="40" name="TextBox 39"/>
          <p:cNvSpPr txBox="1"/>
          <p:nvPr/>
        </p:nvSpPr>
        <p:spPr>
          <a:xfrm>
            <a:off x="8046720" y="5852160"/>
            <a:ext cx="1097280" cy="228600"/>
          </a:xfrm>
          <a:prstGeom prst="rect">
            <a:avLst/>
          </a:prstGeom>
          <a:noFill/>
        </p:spPr>
        <p:txBody>
          <a:bodyPr wrap="square" lIns="0" rIns="0" tIns="0" bIns="0">
            <a:spAutoFit/>
          </a:bodyPr>
          <a:lstStyle/>
          <a:p>
            <a:pPr algn="l"/>
            <a:r>
              <a:rPr sz="1000" b="0" i="0">
                <a:solidFill>
                  <a:srgbClr val="01A296"/>
                </a:solidFill>
                <a:latin typeface="Calibri"/>
              </a:rPr>
              <a:t>2021</a:t>
            </a:r>
          </a:p>
        </p:txBody>
      </p:sp>
      <p:sp>
        <p:nvSpPr>
          <p:cNvPr id="41" name="Rectangle 40"/>
          <p:cNvSpPr/>
          <p:nvPr/>
        </p:nvSpPr>
        <p:spPr>
          <a:xfrm>
            <a:off x="10012680" y="4251960"/>
            <a:ext cx="822960" cy="1554480"/>
          </a:xfrm>
          <a:prstGeom prst="rect">
            <a:avLst/>
          </a:prstGeom>
          <a:solidFill>
            <a:srgbClr val="F8C806"/>
          </a:solidFill>
          <a:ln>
            <a:noFill/>
          </a:ln>
          <a:effectLst/>
        </p:spPr>
        <p:txBody>
          <a:bodyPr rtlCol="0" anchor="ctr"/>
          <a:lstStyle/>
          <a:p>
            <a:pPr algn="ctr"/>
          </a:p>
        </p:txBody>
      </p:sp>
      <p:sp>
        <p:nvSpPr>
          <p:cNvPr id="42" name="TextBox 41"/>
          <p:cNvSpPr txBox="1"/>
          <p:nvPr/>
        </p:nvSpPr>
        <p:spPr>
          <a:xfrm>
            <a:off x="9875520" y="3959352"/>
            <a:ext cx="1188720" cy="274320"/>
          </a:xfrm>
          <a:prstGeom prst="rect">
            <a:avLst/>
          </a:prstGeom>
          <a:noFill/>
        </p:spPr>
        <p:txBody>
          <a:bodyPr wrap="square" lIns="0" rIns="0" tIns="0" bIns="0">
            <a:spAutoFit/>
          </a:bodyPr>
          <a:lstStyle/>
          <a:p>
            <a:pPr algn="l"/>
            <a:r>
              <a:rPr sz="1300" b="1" i="0">
                <a:solidFill>
                  <a:srgbClr val="000000"/>
                </a:solidFill>
                <a:latin typeface="Georgia"/>
              </a:rPr>
              <a:t>$10M</a:t>
            </a:r>
          </a:p>
        </p:txBody>
      </p:sp>
      <p:sp>
        <p:nvSpPr>
          <p:cNvPr id="43" name="TextBox 42"/>
          <p:cNvSpPr txBox="1"/>
          <p:nvPr/>
        </p:nvSpPr>
        <p:spPr>
          <a:xfrm>
            <a:off x="9875520" y="5852160"/>
            <a:ext cx="1097280" cy="228600"/>
          </a:xfrm>
          <a:prstGeom prst="rect">
            <a:avLst/>
          </a:prstGeom>
          <a:noFill/>
        </p:spPr>
        <p:txBody>
          <a:bodyPr wrap="square" lIns="0" rIns="0" tIns="0" bIns="0">
            <a:spAutoFit/>
          </a:bodyPr>
          <a:lstStyle/>
          <a:p>
            <a:pPr algn="l"/>
            <a:r>
              <a:rPr sz="1000" b="0" i="0">
                <a:solidFill>
                  <a:srgbClr val="01A296"/>
                </a:solidFill>
                <a:latin typeface="Calibri"/>
              </a:rPr>
              <a:t>2024</a:t>
            </a:r>
          </a:p>
        </p:txBody>
      </p:sp>
      <p:sp>
        <p:nvSpPr>
          <p:cNvPr id="44" name="TextBox 43"/>
          <p:cNvSpPr txBox="1"/>
          <p:nvPr/>
        </p:nvSpPr>
        <p:spPr>
          <a:xfrm>
            <a:off x="7635240" y="6172200"/>
            <a:ext cx="4160520" cy="228600"/>
          </a:xfrm>
          <a:prstGeom prst="rect">
            <a:avLst/>
          </a:prstGeom>
          <a:noFill/>
        </p:spPr>
        <p:txBody>
          <a:bodyPr wrap="square" lIns="0" rIns="0" tIns="0" bIns="0">
            <a:spAutoFit/>
          </a:bodyPr>
          <a:lstStyle/>
          <a:p>
            <a:pPr algn="l"/>
            <a:r>
              <a:rPr sz="800" b="0" i="1">
                <a:solidFill>
                  <a:srgbClr val="01A296"/>
                </a:solidFill>
                <a:latin typeface="Calibri"/>
              </a:rPr>
              <a:t>Source: SmartCompany, growth profile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F8C806"/>
          </a:solidFill>
          <a:ln>
            <a:noFill/>
          </a:ln>
          <a:effectLst/>
        </p:spPr>
        <p:txBody>
          <a:bodyPr rtlCol="0" anchor="ctr"/>
          <a:lstStyle/>
          <a:p>
            <a:pPr algn="ctr"/>
          </a:p>
        </p:txBody>
      </p:sp>
      <p:sp>
        <p:nvSpPr>
          <p:cNvPr id="3" name="Rectangle 2"/>
          <p:cNvSpPr/>
          <p:nvPr/>
        </p:nvSpPr>
        <p:spPr>
          <a:xfrm>
            <a:off x="91440" y="0"/>
            <a:ext cx="12100255" cy="914400"/>
          </a:xfrm>
          <a:prstGeom prst="rect">
            <a:avLst/>
          </a:prstGeom>
          <a:solidFill>
            <a:srgbClr val="000000"/>
          </a:solidFill>
          <a:ln>
            <a:noFill/>
          </a:ln>
          <a:effectLst/>
        </p:spPr>
        <p:txBody>
          <a:bodyPr rtlCol="0" anchor="ctr"/>
          <a:lstStyle/>
          <a:p>
            <a:pPr algn="ctr"/>
          </a:p>
        </p:txBody>
      </p:sp>
      <p:sp>
        <p:nvSpPr>
          <p:cNvPr id="4" name="TextBox 3"/>
          <p:cNvSpPr txBox="1"/>
          <p:nvPr/>
        </p:nvSpPr>
        <p:spPr>
          <a:xfrm>
            <a:off x="411480" y="292608"/>
            <a:ext cx="7772400" cy="365760"/>
          </a:xfrm>
          <a:prstGeom prst="rect">
            <a:avLst/>
          </a:prstGeom>
          <a:noFill/>
        </p:spPr>
        <p:txBody>
          <a:bodyPr wrap="square" lIns="0" rIns="0" tIns="0" bIns="0">
            <a:spAutoFit/>
          </a:bodyPr>
          <a:lstStyle/>
          <a:p>
            <a:pPr algn="l"/>
            <a:r>
              <a:rPr sz="1300" b="1" i="0">
                <a:solidFill>
                  <a:srgbClr val="E6E5DE"/>
                </a:solidFill>
                <a:latin typeface="Calibri"/>
              </a:rPr>
              <a:t>THE OPPORTUNITY</a:t>
            </a:r>
          </a:p>
        </p:txBody>
      </p:sp>
      <p:sp>
        <p:nvSpPr>
          <p:cNvPr id="5" name="TextBox 4"/>
          <p:cNvSpPr txBox="1"/>
          <p:nvPr/>
        </p:nvSpPr>
        <p:spPr>
          <a:xfrm>
            <a:off x="8686800" y="292608"/>
            <a:ext cx="3108960" cy="365760"/>
          </a:xfrm>
          <a:prstGeom prst="rect">
            <a:avLst/>
          </a:prstGeom>
          <a:noFill/>
        </p:spPr>
        <p:txBody>
          <a:bodyPr wrap="square" lIns="0" rIns="0" tIns="0" bIns="0">
            <a:spAutoFit/>
          </a:bodyPr>
          <a:lstStyle/>
          <a:p>
            <a:pPr algn="r"/>
            <a:r>
              <a:rPr sz="1300" b="1" i="0">
                <a:solidFill>
                  <a:srgbClr val="01A296"/>
                </a:solidFill>
                <a:latin typeface="Calibri"/>
              </a:rPr>
              <a:t>PROFITPULSE</a:t>
            </a:r>
          </a:p>
        </p:txBody>
      </p:sp>
      <p:sp>
        <p:nvSpPr>
          <p:cNvPr id="6" name="TextBox 5"/>
          <p:cNvSpPr txBox="1"/>
          <p:nvPr/>
        </p:nvSpPr>
        <p:spPr>
          <a:xfrm>
            <a:off x="411480" y="6446520"/>
            <a:ext cx="7315200" cy="274320"/>
          </a:xfrm>
          <a:prstGeom prst="rect">
            <a:avLst/>
          </a:prstGeom>
          <a:noFill/>
        </p:spPr>
        <p:txBody>
          <a:bodyPr wrap="square" lIns="0" rIns="0" tIns="0" bIns="0">
            <a:spAutoFit/>
          </a:bodyPr>
          <a:lstStyle/>
          <a:p>
            <a:pPr algn="l"/>
            <a:r>
              <a:rPr sz="900" b="0" i="1">
                <a:solidFill>
                  <a:srgbClr val="01A296"/>
                </a:solidFill>
                <a:latin typeface="Calibri"/>
              </a:rPr>
              <a:t>Prepared by Nitesh Roopa CA, Managing Partner, ProfitPulse</a:t>
            </a:r>
          </a:p>
        </p:txBody>
      </p:sp>
      <p:sp>
        <p:nvSpPr>
          <p:cNvPr id="7" name="TextBox 6"/>
          <p:cNvSpPr txBox="1"/>
          <p:nvPr/>
        </p:nvSpPr>
        <p:spPr>
          <a:xfrm>
            <a:off x="9601200" y="6446520"/>
            <a:ext cx="2176272" cy="274320"/>
          </a:xfrm>
          <a:prstGeom prst="rect">
            <a:avLst/>
          </a:prstGeom>
          <a:noFill/>
        </p:spPr>
        <p:txBody>
          <a:bodyPr wrap="square" lIns="0" rIns="0" tIns="0" bIns="0">
            <a:spAutoFit/>
          </a:bodyPr>
          <a:lstStyle/>
          <a:p>
            <a:pPr algn="r"/>
            <a:r>
              <a:rPr sz="900" b="0" i="1">
                <a:solidFill>
                  <a:srgbClr val="01A296"/>
                </a:solidFill>
                <a:latin typeface="Calibri"/>
              </a:rPr>
              <a:t>07 Jul 2026</a:t>
            </a:r>
          </a:p>
        </p:txBody>
      </p:sp>
      <p:sp>
        <p:nvSpPr>
          <p:cNvPr id="8" name="TextBox 7"/>
          <p:cNvSpPr txBox="1"/>
          <p:nvPr/>
        </p:nvSpPr>
        <p:spPr>
          <a:xfrm>
            <a:off x="411480" y="1051560"/>
            <a:ext cx="10515600" cy="365760"/>
          </a:xfrm>
          <a:prstGeom prst="rect">
            <a:avLst/>
          </a:prstGeom>
          <a:noFill/>
        </p:spPr>
        <p:txBody>
          <a:bodyPr wrap="square" lIns="0" rIns="0" tIns="0" bIns="0">
            <a:spAutoFit/>
          </a:bodyPr>
          <a:lstStyle/>
          <a:p>
            <a:pPr algn="l"/>
            <a:r>
              <a:rPr sz="1800" b="1" i="0">
                <a:solidFill>
                  <a:srgbClr val="000000"/>
                </a:solidFill>
                <a:latin typeface="Georgia"/>
              </a:rPr>
              <a:t>Paire: three commercial observations from ProfitPulse</a:t>
            </a:r>
          </a:p>
        </p:txBody>
      </p:sp>
      <p:sp>
        <p:nvSpPr>
          <p:cNvPr id="9" name="Rectangle 8"/>
          <p:cNvSpPr/>
          <p:nvPr/>
        </p:nvSpPr>
        <p:spPr>
          <a:xfrm>
            <a:off x="91440" y="1508760"/>
            <a:ext cx="4033418" cy="4114800"/>
          </a:xfrm>
          <a:prstGeom prst="rect">
            <a:avLst/>
          </a:prstGeom>
          <a:solidFill>
            <a:srgbClr val="01A296"/>
          </a:solidFill>
          <a:ln>
            <a:noFill/>
          </a:ln>
          <a:effectLst/>
        </p:spPr>
        <p:txBody>
          <a:bodyPr rtlCol="0" anchor="ctr"/>
          <a:lstStyle/>
          <a:p>
            <a:pPr algn="ctr"/>
          </a:p>
        </p:txBody>
      </p:sp>
      <p:sp>
        <p:nvSpPr>
          <p:cNvPr id="10" name="TextBox 9"/>
          <p:cNvSpPr txBox="1"/>
          <p:nvPr/>
        </p:nvSpPr>
        <p:spPr>
          <a:xfrm>
            <a:off x="365760" y="1737360"/>
            <a:ext cx="3484778" cy="640080"/>
          </a:xfrm>
          <a:prstGeom prst="rect">
            <a:avLst/>
          </a:prstGeom>
          <a:noFill/>
        </p:spPr>
        <p:txBody>
          <a:bodyPr wrap="square" lIns="0" rIns="0" tIns="0" bIns="0">
            <a:spAutoFit/>
          </a:bodyPr>
          <a:lstStyle/>
          <a:p>
            <a:pPr algn="l"/>
            <a:r>
              <a:rPr sz="4000" b="1" i="0">
                <a:solidFill>
                  <a:srgbClr val="000000"/>
                </a:solidFill>
                <a:latin typeface="Georgia"/>
              </a:rPr>
              <a:t>01</a:t>
            </a:r>
          </a:p>
        </p:txBody>
      </p:sp>
      <p:sp>
        <p:nvSpPr>
          <p:cNvPr id="11" name="TextBox 10"/>
          <p:cNvSpPr txBox="1"/>
          <p:nvPr/>
        </p:nvSpPr>
        <p:spPr>
          <a:xfrm>
            <a:off x="365760" y="2423160"/>
            <a:ext cx="3484778" cy="685800"/>
          </a:xfrm>
          <a:prstGeom prst="rect">
            <a:avLst/>
          </a:prstGeom>
          <a:noFill/>
        </p:spPr>
        <p:txBody>
          <a:bodyPr wrap="square" lIns="0" rIns="0" tIns="0" bIns="0">
            <a:spAutoFit/>
          </a:bodyPr>
          <a:lstStyle/>
          <a:p>
            <a:pPr algn="l"/>
            <a:r>
              <a:rPr sz="1600" b="1" i="0">
                <a:solidFill>
                  <a:srgbClr val="000000"/>
                </a:solidFill>
                <a:latin typeface="Georgia"/>
              </a:rPr>
              <a:t>The online engine outgrew its plan</a:t>
            </a:r>
          </a:p>
        </p:txBody>
      </p:sp>
      <p:sp>
        <p:nvSpPr>
          <p:cNvPr id="12" name="TextBox 11"/>
          <p:cNvSpPr txBox="1"/>
          <p:nvPr/>
        </p:nvSpPr>
        <p:spPr>
          <a:xfrm>
            <a:off x="365760" y="3200400"/>
            <a:ext cx="3484778" cy="2286000"/>
          </a:xfrm>
          <a:prstGeom prst="rect">
            <a:avLst/>
          </a:prstGeom>
          <a:noFill/>
        </p:spPr>
        <p:txBody>
          <a:bodyPr wrap="square" lIns="0" rIns="0" tIns="0" bIns="0">
            <a:spAutoFit/>
          </a:bodyPr>
          <a:lstStyle/>
          <a:p>
            <a:pPr algn="l">
              <a:lnSpc>
                <a:spcPct val="115000"/>
              </a:lnSpc>
            </a:pPr>
            <a:r>
              <a:rPr sz="1150" b="0" i="0">
                <a:solidFill>
                  <a:srgbClr val="000000"/>
                </a:solidFill>
                <a:latin typeface="Calibri"/>
              </a:rPr>
              <a:t>Revenue moved from one million to ten million between 2021 and 2024, with the Smart50 rank climbing from 38th to 13th to 15th. That pace rarely arrives paired with the multi year financial model a physical rollout now needs before it, not after.</a:t>
            </a:r>
          </a:p>
        </p:txBody>
      </p:sp>
      <p:sp>
        <p:nvSpPr>
          <p:cNvPr id="13" name="Rectangle 12"/>
          <p:cNvSpPr/>
          <p:nvPr/>
        </p:nvSpPr>
        <p:spPr>
          <a:xfrm>
            <a:off x="4124858" y="1508760"/>
            <a:ext cx="4033418" cy="4114800"/>
          </a:xfrm>
          <a:prstGeom prst="rect">
            <a:avLst/>
          </a:prstGeom>
          <a:solidFill>
            <a:srgbClr val="000000"/>
          </a:solidFill>
          <a:ln>
            <a:noFill/>
          </a:ln>
          <a:effectLst/>
        </p:spPr>
        <p:txBody>
          <a:bodyPr rtlCol="0" anchor="ctr"/>
          <a:lstStyle/>
          <a:p>
            <a:pPr algn="ctr"/>
          </a:p>
        </p:txBody>
      </p:sp>
      <p:sp>
        <p:nvSpPr>
          <p:cNvPr id="14" name="TextBox 13"/>
          <p:cNvSpPr txBox="1"/>
          <p:nvPr/>
        </p:nvSpPr>
        <p:spPr>
          <a:xfrm>
            <a:off x="4399178" y="1737360"/>
            <a:ext cx="3484778" cy="640080"/>
          </a:xfrm>
          <a:prstGeom prst="rect">
            <a:avLst/>
          </a:prstGeom>
          <a:noFill/>
        </p:spPr>
        <p:txBody>
          <a:bodyPr wrap="square" lIns="0" rIns="0" tIns="0" bIns="0">
            <a:spAutoFit/>
          </a:bodyPr>
          <a:lstStyle/>
          <a:p>
            <a:pPr algn="l"/>
            <a:r>
              <a:rPr sz="4000" b="1" i="0">
                <a:solidFill>
                  <a:srgbClr val="E6E5DE"/>
                </a:solidFill>
                <a:latin typeface="Georgia"/>
              </a:rPr>
              <a:t>02</a:t>
            </a:r>
          </a:p>
        </p:txBody>
      </p:sp>
      <p:sp>
        <p:nvSpPr>
          <p:cNvPr id="15" name="TextBox 14"/>
          <p:cNvSpPr txBox="1"/>
          <p:nvPr/>
        </p:nvSpPr>
        <p:spPr>
          <a:xfrm>
            <a:off x="4399178" y="2423160"/>
            <a:ext cx="3484778" cy="685800"/>
          </a:xfrm>
          <a:prstGeom prst="rect">
            <a:avLst/>
          </a:prstGeom>
          <a:noFill/>
        </p:spPr>
        <p:txBody>
          <a:bodyPr wrap="square" lIns="0" rIns="0" tIns="0" bIns="0">
            <a:spAutoFit/>
          </a:bodyPr>
          <a:lstStyle/>
          <a:p>
            <a:pPr algn="l"/>
            <a:r>
              <a:rPr sz="1600" b="1" i="0">
                <a:solidFill>
                  <a:srgbClr val="FFFFFF"/>
                </a:solidFill>
                <a:latin typeface="Georgia"/>
              </a:rPr>
              <a:t>One store is a pilot, not a program</a:t>
            </a:r>
          </a:p>
        </p:txBody>
      </p:sp>
      <p:sp>
        <p:nvSpPr>
          <p:cNvPr id="16" name="TextBox 15"/>
          <p:cNvSpPr txBox="1"/>
          <p:nvPr/>
        </p:nvSpPr>
        <p:spPr>
          <a:xfrm>
            <a:off x="4399178" y="3200400"/>
            <a:ext cx="3484778" cy="2286000"/>
          </a:xfrm>
          <a:prstGeom prst="rect">
            <a:avLst/>
          </a:prstGeom>
          <a:noFill/>
        </p:spPr>
        <p:txBody>
          <a:bodyPr wrap="square" lIns="0" rIns="0" tIns="0" bIns="0">
            <a:spAutoFit/>
          </a:bodyPr>
          <a:lstStyle/>
          <a:p>
            <a:pPr algn="l">
              <a:lnSpc>
                <a:spcPct val="115000"/>
              </a:lnSpc>
            </a:pPr>
            <a:r>
              <a:rPr sz="1150" b="0" i="0">
                <a:solidFill>
                  <a:srgbClr val="FFFFFF"/>
                </a:solidFill>
                <a:latin typeface="Calibri"/>
              </a:rPr>
              <a:t>The QV Melbourne flagship opened January 2025. Two to three Sydney stores and more Melbourne sites are planned within eighteen months. Each carries its own fit out, stock, and staffing cost. A rollout needs a shared model ranking each site's return before the lease is signed.</a:t>
            </a:r>
          </a:p>
        </p:txBody>
      </p:sp>
      <p:sp>
        <p:nvSpPr>
          <p:cNvPr id="17" name="Rectangle 16"/>
          <p:cNvSpPr/>
          <p:nvPr/>
        </p:nvSpPr>
        <p:spPr>
          <a:xfrm>
            <a:off x="8158276" y="1508760"/>
            <a:ext cx="4033418" cy="4114800"/>
          </a:xfrm>
          <a:prstGeom prst="rect">
            <a:avLst/>
          </a:prstGeom>
          <a:solidFill>
            <a:srgbClr val="E3A712"/>
          </a:solidFill>
          <a:ln>
            <a:noFill/>
          </a:ln>
          <a:effectLst/>
        </p:spPr>
        <p:txBody>
          <a:bodyPr rtlCol="0" anchor="ctr"/>
          <a:lstStyle/>
          <a:p>
            <a:pPr algn="ctr"/>
          </a:p>
        </p:txBody>
      </p:sp>
      <p:sp>
        <p:nvSpPr>
          <p:cNvPr id="18" name="TextBox 17"/>
          <p:cNvSpPr txBox="1"/>
          <p:nvPr/>
        </p:nvSpPr>
        <p:spPr>
          <a:xfrm>
            <a:off x="8432596" y="1737360"/>
            <a:ext cx="3484778" cy="640080"/>
          </a:xfrm>
          <a:prstGeom prst="rect">
            <a:avLst/>
          </a:prstGeom>
          <a:noFill/>
        </p:spPr>
        <p:txBody>
          <a:bodyPr wrap="square" lIns="0" rIns="0" tIns="0" bIns="0">
            <a:spAutoFit/>
          </a:bodyPr>
          <a:lstStyle/>
          <a:p>
            <a:pPr algn="l"/>
            <a:r>
              <a:rPr sz="4000" b="1" i="0">
                <a:solidFill>
                  <a:srgbClr val="000000"/>
                </a:solidFill>
                <a:latin typeface="Georgia"/>
              </a:rPr>
              <a:t>03</a:t>
            </a:r>
          </a:p>
        </p:txBody>
      </p:sp>
      <p:sp>
        <p:nvSpPr>
          <p:cNvPr id="19" name="TextBox 18"/>
          <p:cNvSpPr txBox="1"/>
          <p:nvPr/>
        </p:nvSpPr>
        <p:spPr>
          <a:xfrm>
            <a:off x="8432596" y="2423160"/>
            <a:ext cx="3484778" cy="685800"/>
          </a:xfrm>
          <a:prstGeom prst="rect">
            <a:avLst/>
          </a:prstGeom>
          <a:noFill/>
        </p:spPr>
        <p:txBody>
          <a:bodyPr wrap="square" lIns="0" rIns="0" tIns="0" bIns="0">
            <a:spAutoFit/>
          </a:bodyPr>
          <a:lstStyle/>
          <a:p>
            <a:pPr algn="l"/>
            <a:r>
              <a:rPr sz="1600" b="1" i="0">
                <a:solidFill>
                  <a:srgbClr val="000000"/>
                </a:solidFill>
                <a:latin typeface="Georgia"/>
              </a:rPr>
              <a:t>Capital is already part of the story</a:t>
            </a:r>
          </a:p>
        </p:txBody>
      </p:sp>
      <p:sp>
        <p:nvSpPr>
          <p:cNvPr id="20" name="TextBox 19"/>
          <p:cNvSpPr txBox="1"/>
          <p:nvPr/>
        </p:nvSpPr>
        <p:spPr>
          <a:xfrm>
            <a:off x="8432596" y="3200400"/>
            <a:ext cx="3484778" cy="2286000"/>
          </a:xfrm>
          <a:prstGeom prst="rect">
            <a:avLst/>
          </a:prstGeom>
          <a:noFill/>
        </p:spPr>
        <p:txBody>
          <a:bodyPr wrap="square" lIns="0" rIns="0" tIns="0" bIns="0">
            <a:spAutoFit/>
          </a:bodyPr>
          <a:lstStyle/>
          <a:p>
            <a:pPr algn="l">
              <a:lnSpc>
                <a:spcPct val="115000"/>
              </a:lnSpc>
            </a:pPr>
            <a:r>
              <a:rPr sz="1150" b="0" i="0">
                <a:solidFill>
                  <a:srgbClr val="000000"/>
                </a:solidFill>
                <a:latin typeface="Calibri"/>
              </a:rPr>
              <a:t>The 2024 Shark Tank pitch sought $500,000 for 2.5 percent equity alongside a new Singapore line. That confirms growth capital is already being weighed, on a lean sixteen person team. A Growth Diagnostic ranks trading cashflow, debt, and equity against each store's expected return.</a:t>
            </a:r>
          </a:p>
        </p:txBody>
      </p:sp>
      <p:sp>
        <p:nvSpPr>
          <p:cNvPr id="21" name="TextBox 20"/>
          <p:cNvSpPr txBox="1"/>
          <p:nvPr/>
        </p:nvSpPr>
        <p:spPr>
          <a:xfrm>
            <a:off x="411480" y="5760720"/>
            <a:ext cx="11338560" cy="502920"/>
          </a:xfrm>
          <a:prstGeom prst="rect">
            <a:avLst/>
          </a:prstGeom>
          <a:noFill/>
        </p:spPr>
        <p:txBody>
          <a:bodyPr wrap="square" lIns="0" rIns="0" tIns="0" bIns="0">
            <a:spAutoFit/>
          </a:bodyPr>
          <a:lstStyle/>
          <a:p>
            <a:pPr algn="l"/>
            <a:r>
              <a:rPr sz="1100" b="0" i="1">
                <a:solidFill>
                  <a:srgbClr val="000000"/>
                </a:solidFill>
                <a:latin typeface="Calibri"/>
              </a:rPr>
              <a:t>These observations are offered in good faith. Paire has built something genuinely fast growing. The question is simply whether the financial architecture keeps pace with the ambition.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F8C806"/>
          </a:solidFill>
          <a:ln>
            <a:noFill/>
          </a:ln>
          <a:effectLst/>
        </p:spPr>
        <p:txBody>
          <a:bodyPr rtlCol="0" anchor="ctr"/>
          <a:lstStyle/>
          <a:p>
            <a:pPr algn="ctr"/>
          </a:p>
        </p:txBody>
      </p:sp>
      <p:sp>
        <p:nvSpPr>
          <p:cNvPr id="3" name="Rectangle 2"/>
          <p:cNvSpPr/>
          <p:nvPr/>
        </p:nvSpPr>
        <p:spPr>
          <a:xfrm>
            <a:off x="91440" y="0"/>
            <a:ext cx="12100255" cy="914400"/>
          </a:xfrm>
          <a:prstGeom prst="rect">
            <a:avLst/>
          </a:prstGeom>
          <a:solidFill>
            <a:srgbClr val="000000"/>
          </a:solidFill>
          <a:ln>
            <a:noFill/>
          </a:ln>
          <a:effectLst/>
        </p:spPr>
        <p:txBody>
          <a:bodyPr rtlCol="0" anchor="ctr"/>
          <a:lstStyle/>
          <a:p>
            <a:pPr algn="ctr"/>
          </a:p>
        </p:txBody>
      </p:sp>
      <p:sp>
        <p:nvSpPr>
          <p:cNvPr id="4" name="TextBox 3"/>
          <p:cNvSpPr txBox="1"/>
          <p:nvPr/>
        </p:nvSpPr>
        <p:spPr>
          <a:xfrm>
            <a:off x="411480" y="292608"/>
            <a:ext cx="7772400" cy="365760"/>
          </a:xfrm>
          <a:prstGeom prst="rect">
            <a:avLst/>
          </a:prstGeom>
          <a:noFill/>
        </p:spPr>
        <p:txBody>
          <a:bodyPr wrap="square" lIns="0" rIns="0" tIns="0" bIns="0">
            <a:spAutoFit/>
          </a:bodyPr>
          <a:lstStyle/>
          <a:p>
            <a:pPr algn="l"/>
            <a:r>
              <a:rPr sz="1300" b="1" i="0">
                <a:solidFill>
                  <a:srgbClr val="E6E5DE"/>
                </a:solidFill>
                <a:latin typeface="Calibri"/>
              </a:rPr>
              <a:t>THE RECOMMENDATION</a:t>
            </a:r>
          </a:p>
        </p:txBody>
      </p:sp>
      <p:sp>
        <p:nvSpPr>
          <p:cNvPr id="5" name="TextBox 4"/>
          <p:cNvSpPr txBox="1"/>
          <p:nvPr/>
        </p:nvSpPr>
        <p:spPr>
          <a:xfrm>
            <a:off x="8686800" y="292608"/>
            <a:ext cx="3108960" cy="365760"/>
          </a:xfrm>
          <a:prstGeom prst="rect">
            <a:avLst/>
          </a:prstGeom>
          <a:noFill/>
        </p:spPr>
        <p:txBody>
          <a:bodyPr wrap="square" lIns="0" rIns="0" tIns="0" bIns="0">
            <a:spAutoFit/>
          </a:bodyPr>
          <a:lstStyle/>
          <a:p>
            <a:pPr algn="r"/>
            <a:r>
              <a:rPr sz="1300" b="1" i="0">
                <a:solidFill>
                  <a:srgbClr val="01A296"/>
                </a:solidFill>
                <a:latin typeface="Calibri"/>
              </a:rPr>
              <a:t>PROFITPULSE</a:t>
            </a:r>
          </a:p>
        </p:txBody>
      </p:sp>
      <p:sp>
        <p:nvSpPr>
          <p:cNvPr id="6" name="TextBox 5"/>
          <p:cNvSpPr txBox="1"/>
          <p:nvPr/>
        </p:nvSpPr>
        <p:spPr>
          <a:xfrm>
            <a:off x="411480" y="6446520"/>
            <a:ext cx="7315200" cy="274320"/>
          </a:xfrm>
          <a:prstGeom prst="rect">
            <a:avLst/>
          </a:prstGeom>
          <a:noFill/>
        </p:spPr>
        <p:txBody>
          <a:bodyPr wrap="square" lIns="0" rIns="0" tIns="0" bIns="0">
            <a:spAutoFit/>
          </a:bodyPr>
          <a:lstStyle/>
          <a:p>
            <a:pPr algn="l"/>
            <a:r>
              <a:rPr sz="900" b="0" i="1">
                <a:solidFill>
                  <a:srgbClr val="01A296"/>
                </a:solidFill>
                <a:latin typeface="Calibri"/>
              </a:rPr>
              <a:t>Prepared by Nitesh Roopa CA, Managing Partner, ProfitPulse</a:t>
            </a:r>
          </a:p>
        </p:txBody>
      </p:sp>
      <p:sp>
        <p:nvSpPr>
          <p:cNvPr id="7" name="TextBox 6"/>
          <p:cNvSpPr txBox="1"/>
          <p:nvPr/>
        </p:nvSpPr>
        <p:spPr>
          <a:xfrm>
            <a:off x="9601200" y="6446520"/>
            <a:ext cx="2176272" cy="274320"/>
          </a:xfrm>
          <a:prstGeom prst="rect">
            <a:avLst/>
          </a:prstGeom>
          <a:noFill/>
        </p:spPr>
        <p:txBody>
          <a:bodyPr wrap="square" lIns="0" rIns="0" tIns="0" bIns="0">
            <a:spAutoFit/>
          </a:bodyPr>
          <a:lstStyle/>
          <a:p>
            <a:pPr algn="r"/>
            <a:r>
              <a:rPr sz="900" b="0" i="1">
                <a:solidFill>
                  <a:srgbClr val="01A296"/>
                </a:solidFill>
                <a:latin typeface="Calibri"/>
              </a:rPr>
              <a:t>07 Jul 2026</a:t>
            </a:r>
          </a:p>
        </p:txBody>
      </p:sp>
      <p:sp>
        <p:nvSpPr>
          <p:cNvPr id="8" name="TextBox 7"/>
          <p:cNvSpPr txBox="1"/>
          <p:nvPr/>
        </p:nvSpPr>
        <p:spPr>
          <a:xfrm>
            <a:off x="411480" y="1097280"/>
            <a:ext cx="6492240" cy="502920"/>
          </a:xfrm>
          <a:prstGeom prst="rect">
            <a:avLst/>
          </a:prstGeom>
          <a:noFill/>
        </p:spPr>
        <p:txBody>
          <a:bodyPr wrap="square" lIns="0" rIns="0" tIns="0" bIns="0">
            <a:spAutoFit/>
          </a:bodyPr>
          <a:lstStyle/>
          <a:p>
            <a:pPr algn="l"/>
            <a:r>
              <a:rPr sz="2700" b="1" i="0">
                <a:solidFill>
                  <a:srgbClr val="000000"/>
                </a:solidFill>
                <a:latin typeface="Georgia"/>
              </a:rPr>
              <a:t>Strategic Growth Diagnostic</a:t>
            </a:r>
          </a:p>
        </p:txBody>
      </p:sp>
      <p:sp>
        <p:nvSpPr>
          <p:cNvPr id="9" name="TextBox 8"/>
          <p:cNvSpPr txBox="1"/>
          <p:nvPr/>
        </p:nvSpPr>
        <p:spPr>
          <a:xfrm>
            <a:off x="411480" y="1627632"/>
            <a:ext cx="6492240" cy="365760"/>
          </a:xfrm>
          <a:prstGeom prst="rect">
            <a:avLst/>
          </a:prstGeom>
          <a:noFill/>
        </p:spPr>
        <p:txBody>
          <a:bodyPr wrap="square" lIns="0" rIns="0" tIns="0" bIns="0">
            <a:spAutoFit/>
          </a:bodyPr>
          <a:lstStyle/>
          <a:p>
            <a:pPr algn="l"/>
            <a:r>
              <a:rPr sz="1700" b="1" i="0">
                <a:solidFill>
                  <a:srgbClr val="F6A102"/>
                </a:solidFill>
                <a:latin typeface="Calibri"/>
              </a:rPr>
              <a:t>$5,000 one off</a:t>
            </a:r>
          </a:p>
        </p:txBody>
      </p:sp>
      <p:sp>
        <p:nvSpPr>
          <p:cNvPr id="10" name="TextBox 9"/>
          <p:cNvSpPr txBox="1"/>
          <p:nvPr/>
        </p:nvSpPr>
        <p:spPr>
          <a:xfrm>
            <a:off x="411480" y="2057400"/>
            <a:ext cx="6492240" cy="594360"/>
          </a:xfrm>
          <a:prstGeom prst="rect">
            <a:avLst/>
          </a:prstGeom>
          <a:noFill/>
        </p:spPr>
        <p:txBody>
          <a:bodyPr wrap="square" lIns="0" rIns="0" tIns="0" bIns="0">
            <a:spAutoFit/>
          </a:bodyPr>
          <a:lstStyle/>
          <a:p>
            <a:pPr algn="l">
              <a:lnSpc>
                <a:spcPct val="115000"/>
              </a:lnSpc>
            </a:pPr>
            <a:r>
              <a:rPr sz="1250" b="0" i="0">
                <a:solidFill>
                  <a:srgbClr val="000000"/>
                </a:solidFill>
                <a:latin typeface="Calibri"/>
              </a:rPr>
              <a:t>Maps revenue, capacity and margin headroom, then builds a twelve month growth plan with funding and capital steps for each new site.</a:t>
            </a:r>
          </a:p>
        </p:txBody>
      </p:sp>
      <p:sp>
        <p:nvSpPr>
          <p:cNvPr id="11" name="Rectangle 10"/>
          <p:cNvSpPr/>
          <p:nvPr/>
        </p:nvSpPr>
        <p:spPr>
          <a:xfrm>
            <a:off x="411480" y="2788920"/>
            <a:ext cx="6492240" cy="1417320"/>
          </a:xfrm>
          <a:prstGeom prst="rect">
            <a:avLst/>
          </a:prstGeom>
          <a:solidFill>
            <a:srgbClr val="FFFFFF"/>
          </a:solidFill>
          <a:ln w="15875">
            <a:solidFill>
              <a:srgbClr val="01A296"/>
            </a:solidFill>
          </a:ln>
          <a:effectLst/>
        </p:spPr>
        <p:txBody>
          <a:bodyPr rtlCol="0" anchor="ctr"/>
          <a:lstStyle/>
          <a:p>
            <a:pPr algn="ctr"/>
          </a:p>
        </p:txBody>
      </p:sp>
      <p:sp>
        <p:nvSpPr>
          <p:cNvPr id="12" name="TextBox 11"/>
          <p:cNvSpPr txBox="1"/>
          <p:nvPr/>
        </p:nvSpPr>
        <p:spPr>
          <a:xfrm>
            <a:off x="640080" y="2944368"/>
            <a:ext cx="6035040" cy="320040"/>
          </a:xfrm>
          <a:prstGeom prst="rect">
            <a:avLst/>
          </a:prstGeom>
          <a:noFill/>
        </p:spPr>
        <p:txBody>
          <a:bodyPr wrap="square" lIns="0" rIns="0" tIns="0" bIns="0">
            <a:spAutoFit/>
          </a:bodyPr>
          <a:lstStyle/>
          <a:p>
            <a:pPr algn="l"/>
            <a:r>
              <a:rPr sz="1300" b="1" i="0">
                <a:solidFill>
                  <a:srgbClr val="01A296"/>
                </a:solidFill>
                <a:latin typeface="Calibri"/>
              </a:rPr>
              <a:t>Step one, answer a few quick questions</a:t>
            </a:r>
          </a:p>
        </p:txBody>
      </p:sp>
      <p:sp>
        <p:nvSpPr>
          <p:cNvPr id="13" name="TextBox 12"/>
          <p:cNvSpPr txBox="1"/>
          <p:nvPr/>
        </p:nvSpPr>
        <p:spPr>
          <a:xfrm>
            <a:off x="640080" y="3291840"/>
            <a:ext cx="6035040" cy="320040"/>
          </a:xfrm>
          <a:prstGeom prst="rect">
            <a:avLst/>
          </a:prstGeom>
          <a:noFill/>
        </p:spPr>
        <p:txBody>
          <a:bodyPr wrap="square" lIns="0" rIns="0" tIns="0" bIns="0">
            <a:spAutoFit/>
          </a:bodyPr>
          <a:lstStyle/>
          <a:p>
            <a:pPr algn="l"/>
            <a:r>
              <a:rPr sz="1150" b="0" i="0">
                <a:solidFill>
                  <a:srgbClr val="000000"/>
                </a:solidFill>
                <a:latin typeface="Calibri"/>
              </a:rPr>
              <a:t>See the solutions matched to your size and industry.</a:t>
            </a:r>
          </a:p>
        </p:txBody>
      </p:sp>
      <p:sp>
        <p:nvSpPr>
          <p:cNvPr id="14" name="TextBox 13">
            <a:hlinkClick r:id="rId2"/>
          </p:cNvPr>
          <p:cNvSpPr txBox="1"/>
          <p:nvPr/>
        </p:nvSpPr>
        <p:spPr>
          <a:xfrm>
            <a:off x="640080" y="3657600"/>
            <a:ext cx="6035040" cy="411480"/>
          </a:xfrm>
          <a:prstGeom prst="rect">
            <a:avLst/>
          </a:prstGeom>
          <a:noFill/>
        </p:spPr>
        <p:txBody>
          <a:bodyPr wrap="square" lIns="0" rIns="0" tIns="0" bIns="0">
            <a:spAutoFit/>
          </a:bodyPr>
          <a:lstStyle/>
          <a:p>
            <a:pPr algn="l"/>
            <a:r>
              <a:rPr sz="1300" b="1" i="0">
                <a:solidFill>
                  <a:srgbClr val="01A296"/>
                </a:solidFill>
                <a:latin typeface="Calibri"/>
              </a:rPr>
              <a:t>profit-pulse.com.au/services/find-your-fit</a:t>
            </a:r>
          </a:p>
        </p:txBody>
      </p:sp>
      <p:sp>
        <p:nvSpPr>
          <p:cNvPr id="15" name="Rectangle 14">
            <a:hlinkClick r:id="rId3"/>
          </p:cNvPr>
          <p:cNvSpPr/>
          <p:nvPr/>
        </p:nvSpPr>
        <p:spPr>
          <a:xfrm>
            <a:off x="411480" y="4434840"/>
            <a:ext cx="5120640" cy="566928"/>
          </a:xfrm>
          <a:prstGeom prst="rect">
            <a:avLst/>
          </a:prstGeom>
          <a:solidFill>
            <a:srgbClr val="F6A102"/>
          </a:solidFill>
          <a:ln>
            <a:noFill/>
          </a:ln>
          <a:effectLst/>
        </p:spPr>
        <p:txBody>
          <a:bodyPr rtlCol="0" anchor="ctr" wrap="square"/>
          <a:lstStyle/>
          <a:p>
            <a:pPr algn="ctr"/>
            <a:r>
              <a:rPr sz="1300" b="1">
                <a:solidFill>
                  <a:srgbClr val="000000"/>
                </a:solidFill>
                <a:latin typeface="Calibri"/>
              </a:rPr>
              <a:t>Purchase the suggested product now to get started</a:t>
            </a:r>
          </a:p>
        </p:txBody>
      </p:sp>
      <p:sp>
        <p:nvSpPr>
          <p:cNvPr id="16" name="TextBox 15"/>
          <p:cNvSpPr txBox="1"/>
          <p:nvPr/>
        </p:nvSpPr>
        <p:spPr>
          <a:xfrm>
            <a:off x="411480" y="5257800"/>
            <a:ext cx="6492240" cy="292608"/>
          </a:xfrm>
          <a:prstGeom prst="rect">
            <a:avLst/>
          </a:prstGeom>
          <a:noFill/>
        </p:spPr>
        <p:txBody>
          <a:bodyPr wrap="square" lIns="0" rIns="0" tIns="0" bIns="0">
            <a:spAutoFit/>
          </a:bodyPr>
          <a:lstStyle/>
          <a:p>
            <a:pPr algn="l"/>
            <a:r>
              <a:rPr sz="1150" b="0" i="0">
                <a:solidFill>
                  <a:srgbClr val="000000"/>
                </a:solidFill>
                <a:latin typeface="Calibri"/>
              </a:rPr>
              <a:t>Prefer a conversation first?</a:t>
            </a:r>
          </a:p>
        </p:txBody>
      </p:sp>
      <p:sp>
        <p:nvSpPr>
          <p:cNvPr id="17" name="TextBox 16">
            <a:hlinkClick r:id="rId4"/>
          </p:cNvPr>
          <p:cNvSpPr txBox="1"/>
          <p:nvPr/>
        </p:nvSpPr>
        <p:spPr>
          <a:xfrm>
            <a:off x="411480" y="5559552"/>
            <a:ext cx="6492240" cy="320040"/>
          </a:xfrm>
          <a:prstGeom prst="rect">
            <a:avLst/>
          </a:prstGeom>
          <a:noFill/>
        </p:spPr>
        <p:txBody>
          <a:bodyPr wrap="square" lIns="0" rIns="0" tIns="0" bIns="0">
            <a:spAutoFit/>
          </a:bodyPr>
          <a:lstStyle/>
          <a:p>
            <a:pPr algn="l"/>
            <a:r>
              <a:rPr sz="1200" b="1" i="0">
                <a:solidFill>
                  <a:srgbClr val="01A296"/>
                </a:solidFill>
                <a:latin typeface="Calibri"/>
              </a:rPr>
              <a:t>Book a complimentary discovery call</a:t>
            </a:r>
          </a:p>
        </p:txBody>
      </p:sp>
      <p:sp>
        <p:nvSpPr>
          <p:cNvPr id="18" name="Rectangle 17"/>
          <p:cNvSpPr/>
          <p:nvPr/>
        </p:nvSpPr>
        <p:spPr>
          <a:xfrm>
            <a:off x="7269480" y="1097280"/>
            <a:ext cx="4480560" cy="5074920"/>
          </a:xfrm>
          <a:prstGeom prst="rect">
            <a:avLst/>
          </a:prstGeom>
          <a:solidFill>
            <a:srgbClr val="000000"/>
          </a:solidFill>
          <a:ln>
            <a:noFill/>
          </a:ln>
          <a:effectLst/>
        </p:spPr>
        <p:txBody>
          <a:bodyPr rtlCol="0" anchor="ctr"/>
          <a:lstStyle/>
          <a:p>
            <a:pPr algn="ctr"/>
          </a:p>
        </p:txBody>
      </p:sp>
      <p:sp>
        <p:nvSpPr>
          <p:cNvPr id="19" name="Rectangle 18"/>
          <p:cNvSpPr/>
          <p:nvPr/>
        </p:nvSpPr>
        <p:spPr>
          <a:xfrm>
            <a:off x="7269480" y="1097280"/>
            <a:ext cx="4480560" cy="50800"/>
          </a:xfrm>
          <a:prstGeom prst="rect">
            <a:avLst/>
          </a:prstGeom>
          <a:solidFill>
            <a:srgbClr val="01A296"/>
          </a:solidFill>
          <a:ln>
            <a:noFill/>
          </a:ln>
          <a:effectLst/>
        </p:spPr>
        <p:txBody>
          <a:bodyPr rtlCol="0" anchor="ctr"/>
          <a:lstStyle/>
          <a:p>
            <a:pPr algn="ctr"/>
          </a:p>
        </p:txBody>
      </p:sp>
      <p:sp>
        <p:nvSpPr>
          <p:cNvPr id="20" name="TextBox 19"/>
          <p:cNvSpPr txBox="1"/>
          <p:nvPr/>
        </p:nvSpPr>
        <p:spPr>
          <a:xfrm>
            <a:off x="7543800" y="1371600"/>
            <a:ext cx="3931920" cy="411480"/>
          </a:xfrm>
          <a:prstGeom prst="rect">
            <a:avLst/>
          </a:prstGeom>
          <a:noFill/>
        </p:spPr>
        <p:txBody>
          <a:bodyPr wrap="square" lIns="0" rIns="0" tIns="0" bIns="0">
            <a:spAutoFit/>
          </a:bodyPr>
          <a:lstStyle/>
          <a:p>
            <a:pPr algn="l"/>
            <a:r>
              <a:rPr sz="1900" b="1" i="0">
                <a:solidFill>
                  <a:srgbClr val="F8C806"/>
                </a:solidFill>
                <a:latin typeface="Georgia"/>
              </a:rPr>
              <a:t>NITESH ROOPA</a:t>
            </a:r>
          </a:p>
        </p:txBody>
      </p:sp>
      <p:sp>
        <p:nvSpPr>
          <p:cNvPr id="21" name="TextBox 20"/>
          <p:cNvSpPr txBox="1"/>
          <p:nvPr/>
        </p:nvSpPr>
        <p:spPr>
          <a:xfrm>
            <a:off x="7543800" y="1810512"/>
            <a:ext cx="3931920" cy="320040"/>
          </a:xfrm>
          <a:prstGeom prst="rect">
            <a:avLst/>
          </a:prstGeom>
          <a:noFill/>
        </p:spPr>
        <p:txBody>
          <a:bodyPr wrap="square" lIns="0" rIns="0" tIns="0" bIns="0">
            <a:spAutoFit/>
          </a:bodyPr>
          <a:lstStyle/>
          <a:p>
            <a:pPr algn="l"/>
            <a:r>
              <a:rPr sz="1250" b="0" i="0">
                <a:solidFill>
                  <a:srgbClr val="FFFFFF"/>
                </a:solidFill>
                <a:latin typeface="Calibri"/>
              </a:rPr>
              <a:t>CA, Managing Partner, ProfitPulse</a:t>
            </a:r>
          </a:p>
        </p:txBody>
      </p:sp>
      <p:sp>
        <p:nvSpPr>
          <p:cNvPr id="22" name="TextBox 21"/>
          <p:cNvSpPr txBox="1"/>
          <p:nvPr/>
        </p:nvSpPr>
        <p:spPr>
          <a:xfrm>
            <a:off x="7543800" y="2240280"/>
            <a:ext cx="3931920" cy="1463040"/>
          </a:xfrm>
          <a:prstGeom prst="rect">
            <a:avLst/>
          </a:prstGeom>
          <a:noFill/>
        </p:spPr>
        <p:txBody>
          <a:bodyPr wrap="square" lIns="0" rIns="0" tIns="0" bIns="0">
            <a:spAutoFit/>
          </a:bodyPr>
          <a:lstStyle/>
          <a:p>
            <a:pPr algn="l">
              <a:lnSpc>
                <a:spcPct val="110000"/>
              </a:lnSpc>
              <a:spcAft>
                <a:spcPts val="600"/>
              </a:spcAft>
            </a:pPr>
            <a:r>
              <a:rPr sz="1150" b="0" i="0">
                <a:solidFill>
                  <a:srgbClr val="E6E5DE"/>
                </a:solidFill>
                <a:latin typeface="Calibri"/>
              </a:rPr>
              <a:t>•  16 years across 4 countries</a:t>
            </a:r>
          </a:p>
          <a:p>
            <a:pPr algn="l">
              <a:lnSpc>
                <a:spcPct val="110000"/>
              </a:lnSpc>
              <a:spcAft>
                <a:spcPts val="600"/>
              </a:spcAft>
            </a:pPr>
            <a:r>
              <a:rPr sz="1150" b="0" i="0">
                <a:solidFill>
                  <a:srgbClr val="E6E5DE"/>
                </a:solidFill>
                <a:latin typeface="Calibri"/>
              </a:rPr>
              <a:t>•  52 deals executed and managed</a:t>
            </a:r>
          </a:p>
          <a:p>
            <a:pPr algn="l">
              <a:lnSpc>
                <a:spcPct val="110000"/>
              </a:lnSpc>
              <a:spcAft>
                <a:spcPts val="600"/>
              </a:spcAft>
            </a:pPr>
            <a:r>
              <a:rPr sz="1150" b="0" i="0">
                <a:solidFill>
                  <a:srgbClr val="E6E5DE"/>
                </a:solidFill>
                <a:latin typeface="Calibri"/>
              </a:rPr>
              <a:t>•  Largest single deal, USD 1.3 billion, Cahora Bassa</a:t>
            </a:r>
          </a:p>
          <a:p>
            <a:pPr algn="l">
              <a:lnSpc>
                <a:spcPct val="110000"/>
              </a:lnSpc>
              <a:spcAft>
                <a:spcPts val="600"/>
              </a:spcAft>
            </a:pPr>
            <a:r>
              <a:rPr sz="1150" b="0" i="0">
                <a:solidFill>
                  <a:srgbClr val="E6E5DE"/>
                </a:solidFill>
                <a:latin typeface="Calibri"/>
              </a:rPr>
              <a:t>•  Total GRBT project value over AUD 10 billion</a:t>
            </a:r>
          </a:p>
        </p:txBody>
      </p:sp>
      <p:sp>
        <p:nvSpPr>
          <p:cNvPr id="23" name="Rectangle 22"/>
          <p:cNvSpPr/>
          <p:nvPr/>
        </p:nvSpPr>
        <p:spPr>
          <a:xfrm>
            <a:off x="7543800" y="3840480"/>
            <a:ext cx="3931920" cy="15875"/>
          </a:xfrm>
          <a:prstGeom prst="rect">
            <a:avLst/>
          </a:prstGeom>
          <a:solidFill>
            <a:srgbClr val="01A296"/>
          </a:solidFill>
          <a:ln>
            <a:noFill/>
          </a:ln>
          <a:effectLst/>
        </p:spPr>
        <p:txBody>
          <a:bodyPr rtlCol="0" anchor="ctr"/>
          <a:lstStyle/>
          <a:p>
            <a:pPr algn="ctr"/>
          </a:p>
        </p:txBody>
      </p:sp>
      <p:sp>
        <p:nvSpPr>
          <p:cNvPr id="24" name="TextBox 23"/>
          <p:cNvSpPr txBox="1"/>
          <p:nvPr/>
        </p:nvSpPr>
        <p:spPr>
          <a:xfrm>
            <a:off x="7543800" y="4023360"/>
            <a:ext cx="3931920" cy="1371600"/>
          </a:xfrm>
          <a:prstGeom prst="rect">
            <a:avLst/>
          </a:prstGeom>
          <a:noFill/>
        </p:spPr>
        <p:txBody>
          <a:bodyPr wrap="square" lIns="0" rIns="0" tIns="0" bIns="0">
            <a:spAutoFit/>
          </a:bodyPr>
          <a:lstStyle/>
          <a:p>
            <a:pPr algn="l">
              <a:spcAft>
                <a:spcPts val="600"/>
              </a:spcAft>
            </a:pPr>
            <a:r>
              <a:rPr sz="1200" b="0" i="0">
                <a:solidFill>
                  <a:srgbClr val="E6E5DE"/>
                </a:solidFill>
                <a:latin typeface="Calibri"/>
              </a:rPr>
              <a:t>Profit-Pulse.com.au</a:t>
            </a:r>
          </a:p>
          <a:p>
            <a:pPr algn="l">
              <a:spcAft>
                <a:spcPts val="600"/>
              </a:spcAft>
            </a:pPr>
            <a:r>
              <a:rPr sz="1200" b="0" i="0">
                <a:solidFill>
                  <a:srgbClr val="01A296"/>
                </a:solidFill>
                <a:latin typeface="Calibri"/>
              </a:rPr>
              <a:t>Nitesh@Profit-Pulse.com.au</a:t>
            </a:r>
          </a:p>
          <a:p>
            <a:pPr algn="l">
              <a:spcAft>
                <a:spcPts val="600"/>
              </a:spcAft>
            </a:pPr>
            <a:r>
              <a:rPr sz="1200" b="0" i="0">
                <a:solidFill>
                  <a:srgbClr val="E6E5DE"/>
                </a:solidFill>
                <a:latin typeface="Calibri"/>
              </a:rPr>
              <a:t>+61 411 876 267</a:t>
            </a:r>
          </a:p>
          <a:p>
            <a:pPr algn="l">
              <a:spcAft>
                <a:spcPts val="600"/>
              </a:spcAft>
            </a:pPr>
            <a:r>
              <a:rPr sz="1100" b="0" i="0">
                <a:solidFill>
                  <a:srgbClr val="E6E5DE"/>
                </a:solidFill>
                <a:latin typeface="Calibri"/>
              </a:rPr>
              <a:t>linkedin.com/in/nitesh-roopa-77594163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