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eVqdRad9e66cftK23Z3ks0h"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 y="0"/>
            <a:ext cx="12109399" cy="868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46888" y="164592"/>
            <a:ext cx="7315200" cy="502920"/>
          </a:xfrm>
          <a:prstGeom prst="rect">
            <a:avLst/>
          </a:prstGeom>
          <a:noFill/>
        </p:spPr>
        <p:txBody>
          <a:bodyPr wrap="square"/>
          <a:lstStyle/>
          <a:p>
            <a:pPr algn="l"/>
            <a:r>
              <a:rPr sz="1100" b="1" i="0">
                <a:solidFill>
                  <a:srgbClr val="E6E5DE"/>
                </a:solidFill>
                <a:latin typeface="Arial"/>
              </a:rPr>
              <a:t>COMMERCIAL INTELLIGENCE BRIEF</a:t>
            </a:r>
          </a:p>
        </p:txBody>
      </p:sp>
      <p:sp>
        <p:nvSpPr>
          <p:cNvPr id="5" name="TextBox 4"/>
          <p:cNvSpPr txBox="1"/>
          <p:nvPr/>
        </p:nvSpPr>
        <p:spPr>
          <a:xfrm>
            <a:off x="8686800" y="164592"/>
            <a:ext cx="3291840" cy="502920"/>
          </a:xfrm>
          <a:prstGeom prst="rect">
            <a:avLst/>
          </a:prstGeom>
          <a:noFill/>
        </p:spPr>
        <p:txBody>
          <a:bodyPr wrap="square"/>
          <a:lstStyle/>
          <a:p>
            <a:pPr algn="r"/>
            <a:r>
              <a:rPr sz="1100" b="1" i="0">
                <a:solidFill>
                  <a:srgbClr val="01A296"/>
                </a:solidFill>
                <a:latin typeface="Arial"/>
              </a:rPr>
              <a:t>PROFITPULSE</a:t>
            </a:r>
          </a:p>
        </p:txBody>
      </p:sp>
      <p:sp>
        <p:nvSpPr>
          <p:cNvPr id="6" name="TextBox 5"/>
          <p:cNvSpPr txBox="1"/>
          <p:nvPr/>
        </p:nvSpPr>
        <p:spPr>
          <a:xfrm>
            <a:off x="246888" y="960120"/>
            <a:ext cx="9144000" cy="640080"/>
          </a:xfrm>
          <a:prstGeom prst="rect">
            <a:avLst/>
          </a:prstGeom>
          <a:noFill/>
        </p:spPr>
        <p:txBody>
          <a:bodyPr wrap="square"/>
          <a:lstStyle/>
          <a:p>
            <a:pPr algn="l"/>
            <a:r>
              <a:rPr sz="4000" b="1" i="0">
                <a:solidFill>
                  <a:srgbClr val="000000"/>
                </a:solidFill>
                <a:latin typeface="Georgia"/>
              </a:rPr>
              <a:t>Taskforce Australia</a:t>
            </a:r>
          </a:p>
        </p:txBody>
      </p:sp>
      <p:sp>
        <p:nvSpPr>
          <p:cNvPr id="7" name="TextBox 6"/>
          <p:cNvSpPr txBox="1"/>
          <p:nvPr/>
        </p:nvSpPr>
        <p:spPr>
          <a:xfrm>
            <a:off x="246888" y="1600200"/>
            <a:ext cx="10972800" cy="320040"/>
          </a:xfrm>
          <a:prstGeom prst="rect">
            <a:avLst/>
          </a:prstGeom>
          <a:noFill/>
        </p:spPr>
        <p:txBody>
          <a:bodyPr wrap="square"/>
          <a:lstStyle/>
          <a:p>
            <a:pPr algn="l"/>
            <a:r>
              <a:rPr sz="1200" b="0" i="0">
                <a:solidFill>
                  <a:srgbClr val="01A296"/>
                </a:solidFill>
                <a:latin typeface="Arial"/>
              </a:rPr>
              <a:t>Property maintenance, safety compliance and PropTech platform  |  Burnley, Melbourne VIC</a:t>
            </a:r>
          </a:p>
        </p:txBody>
      </p:sp>
      <p:sp>
        <p:nvSpPr>
          <p:cNvPr id="8" name="Rectangle 7"/>
          <p:cNvSpPr/>
          <p:nvPr/>
        </p:nvSpPr>
        <p:spPr>
          <a:xfrm>
            <a:off x="246888" y="1965960"/>
            <a:ext cx="1051560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46888" y="205740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6888" y="2108200"/>
            <a:ext cx="1947672" cy="1183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 y="2130552"/>
            <a:ext cx="1728216" cy="411480"/>
          </a:xfrm>
          <a:prstGeom prst="rect">
            <a:avLst/>
          </a:prstGeom>
          <a:noFill/>
        </p:spPr>
        <p:txBody>
          <a:bodyPr wrap="square"/>
          <a:lstStyle/>
          <a:p>
            <a:pPr algn="l"/>
            <a:r>
              <a:rPr sz="2600" b="1" i="0">
                <a:solidFill>
                  <a:srgbClr val="F8C806"/>
                </a:solidFill>
                <a:latin typeface="Arial"/>
              </a:rPr>
              <a:t>$12.8M</a:t>
            </a:r>
          </a:p>
        </p:txBody>
      </p:sp>
      <p:sp>
        <p:nvSpPr>
          <p:cNvPr id="12" name="TextBox 11"/>
          <p:cNvSpPr txBox="1"/>
          <p:nvPr/>
        </p:nvSpPr>
        <p:spPr>
          <a:xfrm>
            <a:off x="356616" y="2532888"/>
            <a:ext cx="1728216" cy="411480"/>
          </a:xfrm>
          <a:prstGeom prst="rect">
            <a:avLst/>
          </a:prstGeom>
          <a:noFill/>
        </p:spPr>
        <p:txBody>
          <a:bodyPr wrap="square"/>
          <a:lstStyle/>
          <a:p>
            <a:pPr algn="l"/>
            <a:r>
              <a:rPr sz="1000" b="0" i="0">
                <a:solidFill>
                  <a:srgbClr val="E6E5DE"/>
                </a:solidFill>
                <a:latin typeface="Arial"/>
              </a:rPr>
              <a:t>Revenue FY2025</a:t>
            </a:r>
          </a:p>
        </p:txBody>
      </p:sp>
      <p:sp>
        <p:nvSpPr>
          <p:cNvPr id="13" name="TextBox 12"/>
          <p:cNvSpPr txBox="1"/>
          <p:nvPr/>
        </p:nvSpPr>
        <p:spPr>
          <a:xfrm>
            <a:off x="356616" y="2935224"/>
            <a:ext cx="1728216" cy="256032"/>
          </a:xfrm>
          <a:prstGeom prst="rect">
            <a:avLst/>
          </a:prstGeom>
          <a:noFill/>
        </p:spPr>
        <p:txBody>
          <a:bodyPr wrap="square"/>
          <a:lstStyle/>
          <a:p>
            <a:pPr algn="l"/>
            <a:r>
              <a:rPr sz="700" b="0" i="1">
                <a:solidFill>
                  <a:srgbClr val="E6E5DE"/>
                </a:solidFill>
                <a:latin typeface="Arial"/>
              </a:rPr>
              <a:t>Smart50 2025 rank 37</a:t>
            </a:r>
          </a:p>
        </p:txBody>
      </p:sp>
      <p:sp>
        <p:nvSpPr>
          <p:cNvPr id="14" name="Rectangle 13"/>
          <p:cNvSpPr/>
          <p:nvPr/>
        </p:nvSpPr>
        <p:spPr>
          <a:xfrm>
            <a:off x="2267712" y="205740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67712" y="2108200"/>
            <a:ext cx="1947672" cy="1183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77440" y="2130552"/>
            <a:ext cx="1728216" cy="411480"/>
          </a:xfrm>
          <a:prstGeom prst="rect">
            <a:avLst/>
          </a:prstGeom>
          <a:noFill/>
        </p:spPr>
        <p:txBody>
          <a:bodyPr wrap="square"/>
          <a:lstStyle/>
          <a:p>
            <a:pPr algn="l"/>
            <a:r>
              <a:rPr sz="2600" b="1" i="0">
                <a:solidFill>
                  <a:srgbClr val="F8C806"/>
                </a:solidFill>
                <a:latin typeface="Arial"/>
              </a:rPr>
              <a:t>31%</a:t>
            </a:r>
          </a:p>
        </p:txBody>
      </p:sp>
      <p:sp>
        <p:nvSpPr>
          <p:cNvPr id="17" name="TextBox 16"/>
          <p:cNvSpPr txBox="1"/>
          <p:nvPr/>
        </p:nvSpPr>
        <p:spPr>
          <a:xfrm>
            <a:off x="2377440" y="2532888"/>
            <a:ext cx="1728216" cy="411480"/>
          </a:xfrm>
          <a:prstGeom prst="rect">
            <a:avLst/>
          </a:prstGeom>
          <a:noFill/>
        </p:spPr>
        <p:txBody>
          <a:bodyPr wrap="square"/>
          <a:lstStyle/>
          <a:p>
            <a:pPr algn="l"/>
            <a:r>
              <a:rPr sz="1000" b="0" i="0">
                <a:solidFill>
                  <a:srgbClr val="E6E5DE"/>
                </a:solidFill>
                <a:latin typeface="Arial"/>
              </a:rPr>
              <a:t>Revenue growth FY2025</a:t>
            </a:r>
          </a:p>
        </p:txBody>
      </p:sp>
      <p:sp>
        <p:nvSpPr>
          <p:cNvPr id="18" name="TextBox 17"/>
          <p:cNvSpPr txBox="1"/>
          <p:nvPr/>
        </p:nvSpPr>
        <p:spPr>
          <a:xfrm>
            <a:off x="2377440" y="2935224"/>
            <a:ext cx="1728216" cy="256032"/>
          </a:xfrm>
          <a:prstGeom prst="rect">
            <a:avLst/>
          </a:prstGeom>
          <a:noFill/>
        </p:spPr>
        <p:txBody>
          <a:bodyPr wrap="square"/>
          <a:lstStyle/>
          <a:p>
            <a:pPr algn="l"/>
            <a:r>
              <a:rPr sz="700" b="0" i="1">
                <a:solidFill>
                  <a:srgbClr val="E6E5DE"/>
                </a:solidFill>
                <a:latin typeface="Arial"/>
              </a:rPr>
              <a:t>Smart50 2025</a:t>
            </a:r>
          </a:p>
        </p:txBody>
      </p:sp>
      <p:sp>
        <p:nvSpPr>
          <p:cNvPr id="19" name="Rectangle 18"/>
          <p:cNvSpPr/>
          <p:nvPr/>
        </p:nvSpPr>
        <p:spPr>
          <a:xfrm>
            <a:off x="4288536" y="205740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88536" y="2108200"/>
            <a:ext cx="1947672" cy="1183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98264" y="2130552"/>
            <a:ext cx="1728216" cy="411480"/>
          </a:xfrm>
          <a:prstGeom prst="rect">
            <a:avLst/>
          </a:prstGeom>
          <a:noFill/>
        </p:spPr>
        <p:txBody>
          <a:bodyPr wrap="square"/>
          <a:lstStyle/>
          <a:p>
            <a:pPr algn="l"/>
            <a:r>
              <a:rPr sz="2600" b="1" i="0">
                <a:solidFill>
                  <a:srgbClr val="F8C806"/>
                </a:solidFill>
                <a:latin typeface="Arial"/>
              </a:rPr>
              <a:t>19</a:t>
            </a:r>
          </a:p>
        </p:txBody>
      </p:sp>
      <p:sp>
        <p:nvSpPr>
          <p:cNvPr id="22" name="TextBox 21"/>
          <p:cNvSpPr txBox="1"/>
          <p:nvPr/>
        </p:nvSpPr>
        <p:spPr>
          <a:xfrm>
            <a:off x="4398264" y="2532888"/>
            <a:ext cx="1728216" cy="411480"/>
          </a:xfrm>
          <a:prstGeom prst="rect">
            <a:avLst/>
          </a:prstGeom>
          <a:noFill/>
        </p:spPr>
        <p:txBody>
          <a:bodyPr wrap="square"/>
          <a:lstStyle/>
          <a:p>
            <a:pPr algn="l"/>
            <a:r>
              <a:rPr sz="1000" b="0" i="0">
                <a:solidFill>
                  <a:srgbClr val="E6E5DE"/>
                </a:solidFill>
                <a:latin typeface="Arial"/>
              </a:rPr>
              <a:t>Employees</a:t>
            </a:r>
          </a:p>
        </p:txBody>
      </p:sp>
      <p:sp>
        <p:nvSpPr>
          <p:cNvPr id="23" name="TextBox 22"/>
          <p:cNvSpPr txBox="1"/>
          <p:nvPr/>
        </p:nvSpPr>
        <p:spPr>
          <a:xfrm>
            <a:off x="4398264" y="2935224"/>
            <a:ext cx="1728216" cy="256032"/>
          </a:xfrm>
          <a:prstGeom prst="rect">
            <a:avLst/>
          </a:prstGeom>
          <a:noFill/>
        </p:spPr>
        <p:txBody>
          <a:bodyPr wrap="square"/>
          <a:lstStyle/>
          <a:p>
            <a:pPr algn="l"/>
            <a:r>
              <a:rPr sz="700" b="0" i="1">
                <a:solidFill>
                  <a:srgbClr val="E6E5DE"/>
                </a:solidFill>
                <a:latin typeface="Arial"/>
              </a:rPr>
              <a:t>Smart50 2025</a:t>
            </a:r>
          </a:p>
        </p:txBody>
      </p:sp>
      <p:sp>
        <p:nvSpPr>
          <p:cNvPr id="24" name="Rectangle 23"/>
          <p:cNvSpPr/>
          <p:nvPr/>
        </p:nvSpPr>
        <p:spPr>
          <a:xfrm>
            <a:off x="6309360" y="205740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2108200"/>
            <a:ext cx="1947672" cy="1183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130552"/>
            <a:ext cx="1728216" cy="411480"/>
          </a:xfrm>
          <a:prstGeom prst="rect">
            <a:avLst/>
          </a:prstGeom>
          <a:noFill/>
        </p:spPr>
        <p:txBody>
          <a:bodyPr wrap="square"/>
          <a:lstStyle/>
          <a:p>
            <a:pPr algn="l"/>
            <a:r>
              <a:rPr sz="2600" b="1" i="0">
                <a:solidFill>
                  <a:srgbClr val="F8C806"/>
                </a:solidFill>
                <a:latin typeface="Arial"/>
              </a:rPr>
              <a:t>5,000+</a:t>
            </a:r>
          </a:p>
        </p:txBody>
      </p:sp>
      <p:sp>
        <p:nvSpPr>
          <p:cNvPr id="27" name="TextBox 26"/>
          <p:cNvSpPr txBox="1"/>
          <p:nvPr/>
        </p:nvSpPr>
        <p:spPr>
          <a:xfrm>
            <a:off x="6419088" y="2532888"/>
            <a:ext cx="1728216" cy="411480"/>
          </a:xfrm>
          <a:prstGeom prst="rect">
            <a:avLst/>
          </a:prstGeom>
          <a:noFill/>
        </p:spPr>
        <p:txBody>
          <a:bodyPr wrap="square"/>
          <a:lstStyle/>
          <a:p>
            <a:pPr algn="l"/>
            <a:r>
              <a:rPr sz="1000" b="0" i="0">
                <a:solidFill>
                  <a:srgbClr val="E6E5DE"/>
                </a:solidFill>
                <a:latin typeface="Arial"/>
              </a:rPr>
              <a:t>National tradespeople</a:t>
            </a:r>
          </a:p>
        </p:txBody>
      </p:sp>
      <p:sp>
        <p:nvSpPr>
          <p:cNvPr id="28" name="TextBox 27"/>
          <p:cNvSpPr txBox="1"/>
          <p:nvPr/>
        </p:nvSpPr>
        <p:spPr>
          <a:xfrm>
            <a:off x="6419088" y="2935224"/>
            <a:ext cx="1728216" cy="256032"/>
          </a:xfrm>
          <a:prstGeom prst="rect">
            <a:avLst/>
          </a:prstGeom>
          <a:noFill/>
        </p:spPr>
        <p:txBody>
          <a:bodyPr wrap="square"/>
          <a:lstStyle/>
          <a:p>
            <a:pPr algn="l"/>
            <a:r>
              <a:rPr sz="700" b="0" i="1">
                <a:solidFill>
                  <a:srgbClr val="E6E5DE"/>
                </a:solidFill>
                <a:latin typeface="Arial"/>
              </a:rPr>
              <a:t>taskforce.com.au</a:t>
            </a:r>
          </a:p>
        </p:txBody>
      </p:sp>
      <p:sp>
        <p:nvSpPr>
          <p:cNvPr id="29" name="Rectangle 28"/>
          <p:cNvSpPr/>
          <p:nvPr/>
        </p:nvSpPr>
        <p:spPr>
          <a:xfrm>
            <a:off x="8330184" y="205740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30184" y="2108200"/>
            <a:ext cx="1947672" cy="1183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39912" y="2130552"/>
            <a:ext cx="1728216" cy="411480"/>
          </a:xfrm>
          <a:prstGeom prst="rect">
            <a:avLst/>
          </a:prstGeom>
          <a:noFill/>
        </p:spPr>
        <p:txBody>
          <a:bodyPr wrap="square"/>
          <a:lstStyle/>
          <a:p>
            <a:pPr algn="l"/>
            <a:r>
              <a:rPr sz="2600" b="1" i="0">
                <a:solidFill>
                  <a:srgbClr val="F8C806"/>
                </a:solidFill>
                <a:latin typeface="Arial"/>
              </a:rPr>
              <a:t>140K+</a:t>
            </a:r>
          </a:p>
        </p:txBody>
      </p:sp>
      <p:sp>
        <p:nvSpPr>
          <p:cNvPr id="32" name="TextBox 31"/>
          <p:cNvSpPr txBox="1"/>
          <p:nvPr/>
        </p:nvSpPr>
        <p:spPr>
          <a:xfrm>
            <a:off x="8439912" y="2532888"/>
            <a:ext cx="1728216" cy="411480"/>
          </a:xfrm>
          <a:prstGeom prst="rect">
            <a:avLst/>
          </a:prstGeom>
          <a:noFill/>
        </p:spPr>
        <p:txBody>
          <a:bodyPr wrap="square"/>
          <a:lstStyle/>
          <a:p>
            <a:pPr algn="l"/>
            <a:r>
              <a:rPr sz="1000" b="0" i="0">
                <a:solidFill>
                  <a:srgbClr val="E6E5DE"/>
                </a:solidFill>
                <a:latin typeface="Arial"/>
              </a:rPr>
              <a:t>Jobs via RentSafe</a:t>
            </a:r>
          </a:p>
        </p:txBody>
      </p:sp>
      <p:sp>
        <p:nvSpPr>
          <p:cNvPr id="33" name="TextBox 32"/>
          <p:cNvSpPr txBox="1"/>
          <p:nvPr/>
        </p:nvSpPr>
        <p:spPr>
          <a:xfrm>
            <a:off x="8439912" y="2935224"/>
            <a:ext cx="1728216" cy="256032"/>
          </a:xfrm>
          <a:prstGeom prst="rect">
            <a:avLst/>
          </a:prstGeom>
          <a:noFill/>
        </p:spPr>
        <p:txBody>
          <a:bodyPr wrap="square"/>
          <a:lstStyle/>
          <a:p>
            <a:pPr algn="l"/>
            <a:r>
              <a:rPr sz="700" b="0" i="1">
                <a:solidFill>
                  <a:srgbClr val="E6E5DE"/>
                </a:solidFill>
                <a:latin typeface="Arial"/>
              </a:rPr>
              <a:t>taskforce.com.au</a:t>
            </a:r>
          </a:p>
        </p:txBody>
      </p:sp>
      <p:sp>
        <p:nvSpPr>
          <p:cNvPr id="34" name="Rectangle 33"/>
          <p:cNvSpPr/>
          <p:nvPr/>
        </p:nvSpPr>
        <p:spPr>
          <a:xfrm>
            <a:off x="10351008" y="2057400"/>
            <a:ext cx="1947672" cy="508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351008" y="2108200"/>
            <a:ext cx="1947672" cy="1183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60736" y="2130552"/>
            <a:ext cx="1728216" cy="411480"/>
          </a:xfrm>
          <a:prstGeom prst="rect">
            <a:avLst/>
          </a:prstGeom>
          <a:noFill/>
        </p:spPr>
        <p:txBody>
          <a:bodyPr wrap="square"/>
          <a:lstStyle/>
          <a:p>
            <a:pPr algn="l"/>
            <a:r>
              <a:rPr sz="2600" b="1" i="0">
                <a:solidFill>
                  <a:srgbClr val="F8C806"/>
                </a:solidFill>
                <a:latin typeface="Arial"/>
              </a:rPr>
              <a:t>Rank 37</a:t>
            </a:r>
          </a:p>
        </p:txBody>
      </p:sp>
      <p:sp>
        <p:nvSpPr>
          <p:cNvPr id="37" name="TextBox 36"/>
          <p:cNvSpPr txBox="1"/>
          <p:nvPr/>
        </p:nvSpPr>
        <p:spPr>
          <a:xfrm>
            <a:off x="10460736" y="2532888"/>
            <a:ext cx="1728216" cy="411480"/>
          </a:xfrm>
          <a:prstGeom prst="rect">
            <a:avLst/>
          </a:prstGeom>
          <a:noFill/>
        </p:spPr>
        <p:txBody>
          <a:bodyPr wrap="square"/>
          <a:lstStyle/>
          <a:p>
            <a:pPr algn="l"/>
            <a:r>
              <a:rPr sz="1000" b="0" i="0">
                <a:solidFill>
                  <a:srgbClr val="E6E5DE"/>
                </a:solidFill>
                <a:latin typeface="Arial"/>
              </a:rPr>
              <a:t>Smart50 2025</a:t>
            </a:r>
          </a:p>
        </p:txBody>
      </p:sp>
      <p:sp>
        <p:nvSpPr>
          <p:cNvPr id="38" name="TextBox 37"/>
          <p:cNvSpPr txBox="1"/>
          <p:nvPr/>
        </p:nvSpPr>
        <p:spPr>
          <a:xfrm>
            <a:off x="10460736" y="2935224"/>
            <a:ext cx="1728216" cy="256032"/>
          </a:xfrm>
          <a:prstGeom prst="rect">
            <a:avLst/>
          </a:prstGeom>
          <a:noFill/>
        </p:spPr>
        <p:txBody>
          <a:bodyPr wrap="square"/>
          <a:lstStyle/>
          <a:p>
            <a:pPr algn="l"/>
            <a:r>
              <a:rPr sz="700" b="0" i="1">
                <a:solidFill>
                  <a:srgbClr val="E6E5DE"/>
                </a:solidFill>
                <a:latin typeface="Arial"/>
              </a:rPr>
              <a:t>Up from rank 46 in 2024</a:t>
            </a:r>
          </a:p>
        </p:txBody>
      </p:sp>
      <p:sp>
        <p:nvSpPr>
          <p:cNvPr id="39" name="TextBox 38"/>
          <p:cNvSpPr txBox="1"/>
          <p:nvPr/>
        </p:nvSpPr>
        <p:spPr>
          <a:xfrm>
            <a:off x="246888" y="3401568"/>
            <a:ext cx="3657600" cy="274320"/>
          </a:xfrm>
          <a:prstGeom prst="rect">
            <a:avLst/>
          </a:prstGeom>
          <a:noFill/>
        </p:spPr>
        <p:txBody>
          <a:bodyPr wrap="square"/>
          <a:lstStyle/>
          <a:p>
            <a:pPr algn="l"/>
            <a:r>
              <a:rPr sz="900" b="1" i="0">
                <a:solidFill>
                  <a:srgbClr val="01A296"/>
                </a:solidFill>
                <a:latin typeface="Arial"/>
              </a:rPr>
              <a:t>REVENUE GROWTH (VERIFIED)</a:t>
            </a:r>
          </a:p>
        </p:txBody>
      </p:sp>
      <p:sp>
        <p:nvSpPr>
          <p:cNvPr id="40" name="Rectangle 39"/>
          <p:cNvSpPr/>
          <p:nvPr/>
        </p:nvSpPr>
        <p:spPr>
          <a:xfrm>
            <a:off x="246888" y="3694176"/>
            <a:ext cx="3657600" cy="2359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4088" y="4234688"/>
            <a:ext cx="914400" cy="1379727"/>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4088" y="3978656"/>
            <a:ext cx="914400" cy="256032"/>
          </a:xfrm>
          <a:prstGeom prst="rect">
            <a:avLst/>
          </a:prstGeom>
          <a:noFill/>
        </p:spPr>
        <p:txBody>
          <a:bodyPr wrap="square"/>
          <a:lstStyle/>
          <a:p>
            <a:pPr algn="ctr"/>
            <a:r>
              <a:rPr sz="1000" b="1" i="0">
                <a:solidFill>
                  <a:srgbClr val="01A296"/>
                </a:solidFill>
                <a:latin typeface="Arial"/>
              </a:rPr>
              <a:t>$9.7M</a:t>
            </a:r>
          </a:p>
        </p:txBody>
      </p:sp>
      <p:sp>
        <p:nvSpPr>
          <p:cNvPr id="43" name="TextBox 42"/>
          <p:cNvSpPr txBox="1"/>
          <p:nvPr/>
        </p:nvSpPr>
        <p:spPr>
          <a:xfrm>
            <a:off x="704088" y="5650992"/>
            <a:ext cx="914400" cy="201168"/>
          </a:xfrm>
          <a:prstGeom prst="rect">
            <a:avLst/>
          </a:prstGeom>
          <a:noFill/>
        </p:spPr>
        <p:txBody>
          <a:bodyPr wrap="square"/>
          <a:lstStyle/>
          <a:p>
            <a:pPr algn="ctr"/>
            <a:r>
              <a:rPr sz="900" b="0" i="0">
                <a:solidFill>
                  <a:srgbClr val="000000"/>
                </a:solidFill>
                <a:latin typeface="Arial"/>
              </a:rPr>
              <a:t>FY2024</a:t>
            </a:r>
          </a:p>
        </p:txBody>
      </p:sp>
      <p:sp>
        <p:nvSpPr>
          <p:cNvPr id="44" name="Rectangle 43"/>
          <p:cNvSpPr/>
          <p:nvPr/>
        </p:nvSpPr>
        <p:spPr>
          <a:xfrm>
            <a:off x="2167128" y="3793744"/>
            <a:ext cx="914400" cy="1820672"/>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67128" y="3537712"/>
            <a:ext cx="1097280" cy="256032"/>
          </a:xfrm>
          <a:prstGeom prst="rect">
            <a:avLst/>
          </a:prstGeom>
          <a:noFill/>
        </p:spPr>
        <p:txBody>
          <a:bodyPr wrap="square"/>
          <a:lstStyle/>
          <a:p>
            <a:pPr algn="ctr"/>
            <a:r>
              <a:rPr sz="1000" b="1" i="0">
                <a:solidFill>
                  <a:srgbClr val="F6A102"/>
                </a:solidFill>
                <a:latin typeface="Arial"/>
              </a:rPr>
              <a:t>$12.8M</a:t>
            </a:r>
          </a:p>
        </p:txBody>
      </p:sp>
      <p:sp>
        <p:nvSpPr>
          <p:cNvPr id="46" name="TextBox 45"/>
          <p:cNvSpPr txBox="1"/>
          <p:nvPr/>
        </p:nvSpPr>
        <p:spPr>
          <a:xfrm>
            <a:off x="2167128" y="5650992"/>
            <a:ext cx="914400" cy="201168"/>
          </a:xfrm>
          <a:prstGeom prst="rect">
            <a:avLst/>
          </a:prstGeom>
          <a:noFill/>
        </p:spPr>
        <p:txBody>
          <a:bodyPr wrap="square"/>
          <a:lstStyle/>
          <a:p>
            <a:pPr algn="ctr"/>
            <a:r>
              <a:rPr sz="900" b="0" i="0">
                <a:solidFill>
                  <a:srgbClr val="000000"/>
                </a:solidFill>
                <a:latin typeface="Arial"/>
              </a:rPr>
              <a:t>FY2025</a:t>
            </a:r>
          </a:p>
        </p:txBody>
      </p:sp>
      <p:sp>
        <p:nvSpPr>
          <p:cNvPr id="47" name="TextBox 46"/>
          <p:cNvSpPr txBox="1"/>
          <p:nvPr/>
        </p:nvSpPr>
        <p:spPr>
          <a:xfrm>
            <a:off x="246888" y="6053328"/>
            <a:ext cx="3657600" cy="256032"/>
          </a:xfrm>
          <a:prstGeom prst="rect">
            <a:avLst/>
          </a:prstGeom>
          <a:noFill/>
        </p:spPr>
        <p:txBody>
          <a:bodyPr wrap="square"/>
          <a:lstStyle/>
          <a:p>
            <a:pPr algn="l"/>
            <a:r>
              <a:rPr sz="700" b="0" i="1">
                <a:solidFill>
                  <a:srgbClr val="E6E5DE"/>
                </a:solidFill>
                <a:latin typeface="Arial"/>
              </a:rPr>
              <a:t>Source: SmartCompany Smart50 2024 and Smart50 2025 award citations</a:t>
            </a:r>
          </a:p>
        </p:txBody>
      </p:sp>
      <p:sp>
        <p:nvSpPr>
          <p:cNvPr id="48" name="TextBox 47"/>
          <p:cNvSpPr txBox="1"/>
          <p:nvPr/>
        </p:nvSpPr>
        <p:spPr>
          <a:xfrm>
            <a:off x="4224528" y="3401568"/>
            <a:ext cx="7738567" cy="274320"/>
          </a:xfrm>
          <a:prstGeom prst="rect">
            <a:avLst/>
          </a:prstGeom>
          <a:noFill/>
        </p:spPr>
        <p:txBody>
          <a:bodyPr wrap="square"/>
          <a:lstStyle/>
          <a:p>
            <a:pPr algn="l"/>
            <a:r>
              <a:rPr sz="900" b="1" i="0">
                <a:solidFill>
                  <a:srgbClr val="01A296"/>
                </a:solidFill>
                <a:latin typeface="Arial"/>
              </a:rPr>
              <a:t>KEY COMMERCIAL SIGNALS</a:t>
            </a:r>
          </a:p>
        </p:txBody>
      </p:sp>
      <p:sp>
        <p:nvSpPr>
          <p:cNvPr id="49" name="Rectangle 48"/>
          <p:cNvSpPr/>
          <p:nvPr/>
        </p:nvSpPr>
        <p:spPr>
          <a:xfrm>
            <a:off x="4224528" y="3730752"/>
            <a:ext cx="36576" cy="10972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15968" y="3730752"/>
            <a:ext cx="7647127" cy="502920"/>
          </a:xfrm>
          <a:prstGeom prst="rect">
            <a:avLst/>
          </a:prstGeom>
          <a:noFill/>
        </p:spPr>
        <p:txBody>
          <a:bodyPr wrap="square">
            <a:spAutoFit/>
          </a:bodyPr>
          <a:lstStyle/>
          <a:p>
            <a:pPr algn="l"/>
            <a:r>
              <a:rPr sz="900" b="0" i="0">
                <a:solidFill>
                  <a:srgbClr val="000000"/>
                </a:solidFill>
                <a:latin typeface="Arial"/>
              </a:rPr>
              <a:t>Housing division publicly described as strongest and most profitable line; new housing provider clients onboarded in last 12 months.</a:t>
            </a:r>
          </a:p>
          <a:p>
            <a:pPr algn="l"/>
            <a:r>
              <a:rPr sz="700" b="0" i="1">
                <a:solidFill>
                  <a:srgbClr val="E6E5DE"/>
                </a:solidFill>
                <a:latin typeface="Arial"/>
              </a:rPr>
              <a:t>Smart50 2025, Nov 2025</a:t>
            </a:r>
          </a:p>
        </p:txBody>
      </p:sp>
      <p:sp>
        <p:nvSpPr>
          <p:cNvPr id="51" name="Rectangle 50"/>
          <p:cNvSpPr/>
          <p:nvPr/>
        </p:nvSpPr>
        <p:spPr>
          <a:xfrm>
            <a:off x="4224528" y="4270248"/>
            <a:ext cx="36576" cy="10972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15968" y="4270248"/>
            <a:ext cx="7647127" cy="502920"/>
          </a:xfrm>
          <a:prstGeom prst="rect">
            <a:avLst/>
          </a:prstGeom>
          <a:noFill/>
        </p:spPr>
        <p:txBody>
          <a:bodyPr wrap="square">
            <a:spAutoFit/>
          </a:bodyPr>
          <a:lstStyle/>
          <a:p>
            <a:pPr algn="l"/>
            <a:r>
              <a:rPr sz="900" b="0" i="0">
                <a:solidFill>
                  <a:srgbClr val="000000"/>
                </a:solidFill>
                <a:latin typeface="Arial"/>
              </a:rPr>
              <a:t>Partnership with Real+ announced March 2025; CEO Jason Bright co-presented webinar on rental compliance challenges.</a:t>
            </a:r>
          </a:p>
          <a:p>
            <a:pPr algn="l"/>
            <a:r>
              <a:rPr sz="700" b="0" i="1">
                <a:solidFill>
                  <a:srgbClr val="E6E5DE"/>
                </a:solidFill>
                <a:latin typeface="Arial"/>
              </a:rPr>
              <a:t>taskforce.com.au, Mar 2025</a:t>
            </a:r>
          </a:p>
        </p:txBody>
      </p:sp>
      <p:sp>
        <p:nvSpPr>
          <p:cNvPr id="53" name="Rectangle 52"/>
          <p:cNvSpPr/>
          <p:nvPr/>
        </p:nvSpPr>
        <p:spPr>
          <a:xfrm>
            <a:off x="4224528" y="4809744"/>
            <a:ext cx="36576" cy="10972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15968" y="4809744"/>
            <a:ext cx="7647127" cy="502920"/>
          </a:xfrm>
          <a:prstGeom prst="rect">
            <a:avLst/>
          </a:prstGeom>
          <a:noFill/>
        </p:spPr>
        <p:txBody>
          <a:bodyPr wrap="square">
            <a:spAutoFit/>
          </a:bodyPr>
          <a:lstStyle/>
          <a:p>
            <a:pPr algn="l"/>
            <a:r>
              <a:rPr sz="900" b="0" i="0">
                <a:solidFill>
                  <a:srgbClr val="000000"/>
                </a:solidFill>
                <a:latin typeface="Arial"/>
              </a:rPr>
              <a:t>Smart50 rank improved from 46 (2024) to 37 (2025), confirming accelerating growth trajectory.</a:t>
            </a:r>
          </a:p>
          <a:p>
            <a:pPr algn="l"/>
            <a:r>
              <a:rPr sz="700" b="0" i="1">
                <a:solidFill>
                  <a:srgbClr val="E6E5DE"/>
                </a:solidFill>
                <a:latin typeface="Arial"/>
              </a:rPr>
              <a:t>SmartCompany Smart50 2024 and 2025</a:t>
            </a:r>
          </a:p>
        </p:txBody>
      </p:sp>
      <p:sp>
        <p:nvSpPr>
          <p:cNvPr id="55" name="Rectangle 54"/>
          <p:cNvSpPr/>
          <p:nvPr/>
        </p:nvSpPr>
        <p:spPr>
          <a:xfrm>
            <a:off x="4224528" y="5349240"/>
            <a:ext cx="36576" cy="10972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15968" y="5349240"/>
            <a:ext cx="7647127" cy="502920"/>
          </a:xfrm>
          <a:prstGeom prst="rect">
            <a:avLst/>
          </a:prstGeom>
          <a:noFill/>
        </p:spPr>
        <p:txBody>
          <a:bodyPr wrap="square">
            <a:spAutoFit/>
          </a:bodyPr>
          <a:lstStyle/>
          <a:p>
            <a:pPr algn="l"/>
            <a:r>
              <a:rPr sz="900" b="0" i="0">
                <a:solidFill>
                  <a:srgbClr val="000000"/>
                </a:solidFill>
                <a:latin typeface="Arial"/>
              </a:rPr>
              <a:t>Telstra Best of Business VIC State Winner, Outstanding Growth category. PropTech Award winner.</a:t>
            </a:r>
          </a:p>
          <a:p>
            <a:pPr algn="l"/>
            <a:r>
              <a:rPr sz="700" b="0" i="1">
                <a:solidFill>
                  <a:srgbClr val="E6E5DE"/>
                </a:solidFill>
                <a:latin typeface="Arial"/>
              </a:rPr>
              <a:t>eliteagent.com; proptechaustralia.com.au</a:t>
            </a:r>
          </a:p>
        </p:txBody>
      </p:sp>
      <p:sp>
        <p:nvSpPr>
          <p:cNvPr id="57" name="Rectangle 56"/>
          <p:cNvSpPr/>
          <p:nvPr/>
        </p:nvSpPr>
        <p:spPr>
          <a:xfrm>
            <a:off x="4224528" y="5888736"/>
            <a:ext cx="36576" cy="10972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315968" y="5888736"/>
            <a:ext cx="7647127" cy="502920"/>
          </a:xfrm>
          <a:prstGeom prst="rect">
            <a:avLst/>
          </a:prstGeom>
          <a:noFill/>
        </p:spPr>
        <p:txBody>
          <a:bodyPr wrap="square">
            <a:spAutoFit/>
          </a:bodyPr>
          <a:lstStyle/>
          <a:p>
            <a:pPr algn="l"/>
            <a:r>
              <a:rPr sz="900" b="0" i="0">
                <a:solidFill>
                  <a:srgbClr val="000000"/>
                </a:solidFill>
                <a:latin typeface="Arial"/>
              </a:rPr>
              <a:t>RentSafe platform: 140,000 plus jobs across 20 consumer brands, 300 real estate offices, 180 real estate companies.</a:t>
            </a:r>
          </a:p>
          <a:p>
            <a:pPr algn="l"/>
            <a:r>
              <a:rPr sz="700" b="0" i="1">
                <a:solidFill>
                  <a:srgbClr val="E6E5DE"/>
                </a:solidFill>
                <a:latin typeface="Arial"/>
              </a:rPr>
              <a:t>taskforce.com.au (public)</a:t>
            </a:r>
          </a:p>
        </p:txBody>
      </p:sp>
      <p:sp>
        <p:nvSpPr>
          <p:cNvPr id="59" name="TextBox 58"/>
          <p:cNvSpPr txBox="1"/>
          <p:nvPr/>
        </p:nvSpPr>
        <p:spPr>
          <a:xfrm>
            <a:off x="246888" y="6510528"/>
            <a:ext cx="8229600" cy="274320"/>
          </a:xfrm>
          <a:prstGeom prst="rect">
            <a:avLst/>
          </a:prstGeom>
          <a:noFill/>
        </p:spPr>
        <p:txBody>
          <a:bodyPr wrap="square"/>
          <a:lstStyle/>
          <a:p>
            <a:pPr algn="l"/>
            <a:r>
              <a:rPr sz="800" b="0" i="0">
                <a:solidFill>
                  <a:srgbClr val="000000"/>
                </a:solidFill>
                <a:latin typeface="Arial"/>
              </a:rPr>
              <a:t>Nitesh Roopa CA  |  Managing Partner  |  ProfitPulse  |  Profit-Pulse.com.au</a:t>
            </a:r>
          </a:p>
        </p:txBody>
      </p:sp>
      <p:sp>
        <p:nvSpPr>
          <p:cNvPr id="60" name="TextBox 59"/>
          <p:cNvSpPr txBox="1"/>
          <p:nvPr/>
        </p:nvSpPr>
        <p:spPr>
          <a:xfrm>
            <a:off x="9875520" y="6510528"/>
            <a:ext cx="2103120" cy="274320"/>
          </a:xfrm>
          <a:prstGeom prst="rect">
            <a:avLst/>
          </a:prstGeom>
          <a:noFill/>
        </p:spPr>
        <p:txBody>
          <a:bodyPr wrap="square"/>
          <a:lstStyle/>
          <a:p>
            <a:pPr algn="r"/>
            <a:r>
              <a:rPr sz="800" b="0" i="0">
                <a:solidFill>
                  <a:srgbClr val="000000"/>
                </a:solidFill>
                <a:latin typeface="Arial"/>
              </a:rPr>
              <a:t>18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 y="0"/>
            <a:ext cx="12109399" cy="868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46888" y="164592"/>
            <a:ext cx="7315200" cy="502920"/>
          </a:xfrm>
          <a:prstGeom prst="rect">
            <a:avLst/>
          </a:prstGeom>
          <a:noFill/>
        </p:spPr>
        <p:txBody>
          <a:bodyPr wrap="square"/>
          <a:lstStyle/>
          <a:p>
            <a:pPr algn="l"/>
            <a:r>
              <a:rPr sz="1100" b="1" i="0">
                <a:solidFill>
                  <a:srgbClr val="E6E5DE"/>
                </a:solidFill>
                <a:latin typeface="Arial"/>
              </a:rPr>
              <a:t>THE OPPORTUNITY</a:t>
            </a:r>
          </a:p>
        </p:txBody>
      </p:sp>
      <p:sp>
        <p:nvSpPr>
          <p:cNvPr id="5" name="TextBox 4"/>
          <p:cNvSpPr txBox="1"/>
          <p:nvPr/>
        </p:nvSpPr>
        <p:spPr>
          <a:xfrm>
            <a:off x="8686800" y="164592"/>
            <a:ext cx="3291840" cy="502920"/>
          </a:xfrm>
          <a:prstGeom prst="rect">
            <a:avLst/>
          </a:prstGeom>
          <a:noFill/>
        </p:spPr>
        <p:txBody>
          <a:bodyPr wrap="square"/>
          <a:lstStyle/>
          <a:p>
            <a:pPr algn="r"/>
            <a:r>
              <a:rPr sz="1100" b="1" i="0">
                <a:solidFill>
                  <a:srgbClr val="01A296"/>
                </a:solidFill>
                <a:latin typeface="Arial"/>
              </a:rPr>
              <a:t>Taskforce Australia</a:t>
            </a:r>
          </a:p>
        </p:txBody>
      </p:sp>
      <p:sp>
        <p:nvSpPr>
          <p:cNvPr id="6" name="TextBox 5"/>
          <p:cNvSpPr txBox="1"/>
          <p:nvPr/>
        </p:nvSpPr>
        <p:spPr>
          <a:xfrm>
            <a:off x="246888" y="960120"/>
            <a:ext cx="10972800" cy="320040"/>
          </a:xfrm>
          <a:prstGeom prst="rect">
            <a:avLst/>
          </a:prstGeom>
          <a:noFill/>
        </p:spPr>
        <p:txBody>
          <a:bodyPr wrap="square"/>
          <a:lstStyle/>
          <a:p>
            <a:pPr algn="l"/>
            <a:r>
              <a:rPr sz="1300" b="0" i="0">
                <a:solidFill>
                  <a:srgbClr val="000000"/>
                </a:solidFill>
                <a:latin typeface="Arial"/>
              </a:rPr>
              <a:t>Three commercial observations from ProfitPulse</a:t>
            </a:r>
          </a:p>
        </p:txBody>
      </p:sp>
      <p:sp>
        <p:nvSpPr>
          <p:cNvPr id="7" name="Rectangle 6"/>
          <p:cNvSpPr/>
          <p:nvPr/>
        </p:nvSpPr>
        <p:spPr>
          <a:xfrm>
            <a:off x="246888" y="1389888"/>
            <a:ext cx="3938930" cy="489204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1554480"/>
            <a:ext cx="731520" cy="548640"/>
          </a:xfrm>
          <a:prstGeom prst="rect">
            <a:avLst/>
          </a:prstGeom>
          <a:noFill/>
        </p:spPr>
        <p:txBody>
          <a:bodyPr wrap="square"/>
          <a:lstStyle/>
          <a:p>
            <a:pPr algn="l"/>
            <a:r>
              <a:rPr sz="3800" b="1" i="0">
                <a:solidFill>
                  <a:srgbClr val="FFFFFF"/>
                </a:solidFill>
                <a:latin typeface="Georgia"/>
              </a:rPr>
              <a:t>01</a:t>
            </a:r>
          </a:p>
        </p:txBody>
      </p:sp>
      <p:sp>
        <p:nvSpPr>
          <p:cNvPr id="9" name="TextBox 8"/>
          <p:cNvSpPr txBox="1"/>
          <p:nvPr/>
        </p:nvSpPr>
        <p:spPr>
          <a:xfrm>
            <a:off x="429768" y="2103120"/>
            <a:ext cx="3573170" cy="640080"/>
          </a:xfrm>
          <a:prstGeom prst="rect">
            <a:avLst/>
          </a:prstGeom>
          <a:noFill/>
        </p:spPr>
        <p:txBody>
          <a:bodyPr wrap="square"/>
          <a:lstStyle/>
          <a:p>
            <a:pPr algn="l"/>
            <a:r>
              <a:rPr sz="1200" b="1" i="0">
                <a:solidFill>
                  <a:srgbClr val="FFFFFF"/>
                </a:solidFill>
                <a:latin typeface="Arial"/>
              </a:rPr>
              <a:t>Revenue velocity needs a financial map to match it</a:t>
            </a:r>
          </a:p>
        </p:txBody>
      </p:sp>
      <p:sp>
        <p:nvSpPr>
          <p:cNvPr id="10" name="Rectangle 9"/>
          <p:cNvSpPr/>
          <p:nvPr/>
        </p:nvSpPr>
        <p:spPr>
          <a:xfrm>
            <a:off x="429768" y="2761488"/>
            <a:ext cx="3573170" cy="190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2871216"/>
            <a:ext cx="3573170" cy="3017520"/>
          </a:xfrm>
          <a:prstGeom prst="rect">
            <a:avLst/>
          </a:prstGeom>
          <a:noFill/>
        </p:spPr>
        <p:txBody>
          <a:bodyPr wrap="square"/>
          <a:lstStyle/>
          <a:p>
            <a:pPr algn="l"/>
            <a:r>
              <a:rPr sz="1000" b="0" i="0">
                <a:solidFill>
                  <a:srgbClr val="FFFFFF"/>
                </a:solidFill>
                <a:latin typeface="Arial"/>
              </a:rPr>
              <a:t>Taskforce grew revenue from $9.7 million to $12.8 million in one year, a 32 percent increase on top of 26 percent the year before. That trajectory is verifiably compounding across two independent Smart50 citations. At this pace, every resourcing and client onboarding decision compounds financially. The architecture that should sit behind compounding growth includes a margin model by service line, a capacity analysis for the team, and a capital allocation plan that maps each growth scenario in dollar terms.</a:t>
            </a:r>
          </a:p>
        </p:txBody>
      </p:sp>
      <p:sp>
        <p:nvSpPr>
          <p:cNvPr id="12" name="TextBox 11"/>
          <p:cNvSpPr txBox="1"/>
          <p:nvPr/>
        </p:nvSpPr>
        <p:spPr>
          <a:xfrm>
            <a:off x="429768" y="5989320"/>
            <a:ext cx="3573170" cy="274320"/>
          </a:xfrm>
          <a:prstGeom prst="rect">
            <a:avLst/>
          </a:prstGeom>
          <a:noFill/>
        </p:spPr>
        <p:txBody>
          <a:bodyPr wrap="square"/>
          <a:lstStyle/>
          <a:p>
            <a:pPr algn="l"/>
            <a:r>
              <a:rPr sz="700" b="0" i="1">
                <a:solidFill>
                  <a:srgbClr val="FFFFFF"/>
                </a:solidFill>
                <a:latin typeface="Arial"/>
              </a:rPr>
              <a:t>Sources: Smart50 2024 and Smart50 2025 (revenue and growth data)</a:t>
            </a:r>
          </a:p>
        </p:txBody>
      </p:sp>
      <p:sp>
        <p:nvSpPr>
          <p:cNvPr id="13" name="Rectangle 12"/>
          <p:cNvSpPr/>
          <p:nvPr/>
        </p:nvSpPr>
        <p:spPr>
          <a:xfrm>
            <a:off x="4231538" y="1389888"/>
            <a:ext cx="3938930" cy="4892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4418" y="1554480"/>
            <a:ext cx="731520" cy="548640"/>
          </a:xfrm>
          <a:prstGeom prst="rect">
            <a:avLst/>
          </a:prstGeom>
          <a:noFill/>
        </p:spPr>
        <p:txBody>
          <a:bodyPr wrap="square"/>
          <a:lstStyle/>
          <a:p>
            <a:pPr algn="l"/>
            <a:r>
              <a:rPr sz="3800" b="1" i="0">
                <a:solidFill>
                  <a:srgbClr val="F8C806"/>
                </a:solidFill>
                <a:latin typeface="Georgia"/>
              </a:rPr>
              <a:t>02</a:t>
            </a:r>
          </a:p>
        </p:txBody>
      </p:sp>
      <p:sp>
        <p:nvSpPr>
          <p:cNvPr id="15" name="TextBox 14"/>
          <p:cNvSpPr txBox="1"/>
          <p:nvPr/>
        </p:nvSpPr>
        <p:spPr>
          <a:xfrm>
            <a:off x="4414418" y="2103120"/>
            <a:ext cx="3573170" cy="640080"/>
          </a:xfrm>
          <a:prstGeom prst="rect">
            <a:avLst/>
          </a:prstGeom>
          <a:noFill/>
        </p:spPr>
        <p:txBody>
          <a:bodyPr wrap="square"/>
          <a:lstStyle/>
          <a:p>
            <a:pPr algn="l"/>
            <a:r>
              <a:rPr sz="1200" b="1" i="0">
                <a:solidFill>
                  <a:srgbClr val="F8C806"/>
                </a:solidFill>
                <a:latin typeface="Arial"/>
              </a:rPr>
              <a:t>The housing division is the edge. A financial map confirms it.</a:t>
            </a:r>
          </a:p>
        </p:txBody>
      </p:sp>
      <p:sp>
        <p:nvSpPr>
          <p:cNvPr id="16" name="Rectangle 15"/>
          <p:cNvSpPr/>
          <p:nvPr/>
        </p:nvSpPr>
        <p:spPr>
          <a:xfrm>
            <a:off x="4414418" y="2761488"/>
            <a:ext cx="3573170" cy="1905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14418" y="2871216"/>
            <a:ext cx="3573170" cy="3017520"/>
          </a:xfrm>
          <a:prstGeom prst="rect">
            <a:avLst/>
          </a:prstGeom>
          <a:noFill/>
        </p:spPr>
        <p:txBody>
          <a:bodyPr wrap="square"/>
          <a:lstStyle/>
          <a:p>
            <a:pPr algn="l"/>
            <a:r>
              <a:rPr sz="1000" b="0" i="0">
                <a:solidFill>
                  <a:srgbClr val="E6E5DE"/>
                </a:solidFill>
                <a:latin typeface="Arial"/>
              </a:rPr>
              <a:t>The housing division has been publicly identified as the strongest and most profitable segment of the business. Yet without a line-level profitability analysis, the capital allocation case for doubling down on housing sits on instinct rather than numbers. Understanding the true margin by service line changes every resourcing, pricing, and sales focus decision. This is the financial work that turns a strong instinct into a deliberate and defensible strategy with a clear financial outcome.</a:t>
            </a:r>
          </a:p>
        </p:txBody>
      </p:sp>
      <p:sp>
        <p:nvSpPr>
          <p:cNvPr id="18" name="TextBox 17"/>
          <p:cNvSpPr txBox="1"/>
          <p:nvPr/>
        </p:nvSpPr>
        <p:spPr>
          <a:xfrm>
            <a:off x="4414418" y="5989320"/>
            <a:ext cx="3573170" cy="274320"/>
          </a:xfrm>
          <a:prstGeom prst="rect">
            <a:avLst/>
          </a:prstGeom>
          <a:noFill/>
        </p:spPr>
        <p:txBody>
          <a:bodyPr wrap="square"/>
          <a:lstStyle/>
          <a:p>
            <a:pPr algn="l"/>
            <a:r>
              <a:rPr sz="700" b="0" i="1">
                <a:solidFill>
                  <a:srgbClr val="F8C806"/>
                </a:solidFill>
                <a:latin typeface="Arial"/>
              </a:rPr>
              <a:t>Source: Smart50 2025 (housing division public statement)</a:t>
            </a:r>
          </a:p>
        </p:txBody>
      </p:sp>
      <p:sp>
        <p:nvSpPr>
          <p:cNvPr id="19" name="Rectangle 18"/>
          <p:cNvSpPr/>
          <p:nvPr/>
        </p:nvSpPr>
        <p:spPr>
          <a:xfrm>
            <a:off x="8216188" y="1389888"/>
            <a:ext cx="3938930" cy="489204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9068" y="1554480"/>
            <a:ext cx="731520" cy="548640"/>
          </a:xfrm>
          <a:prstGeom prst="rect">
            <a:avLst/>
          </a:prstGeom>
          <a:noFill/>
        </p:spPr>
        <p:txBody>
          <a:bodyPr wrap="square"/>
          <a:lstStyle/>
          <a:p>
            <a:pPr algn="l"/>
            <a:r>
              <a:rPr sz="3800" b="1" i="0">
                <a:solidFill>
                  <a:srgbClr val="000000"/>
                </a:solidFill>
                <a:latin typeface="Georgia"/>
              </a:rPr>
              <a:t>03</a:t>
            </a:r>
          </a:p>
        </p:txBody>
      </p:sp>
      <p:sp>
        <p:nvSpPr>
          <p:cNvPr id="21" name="TextBox 20"/>
          <p:cNvSpPr txBox="1"/>
          <p:nvPr/>
        </p:nvSpPr>
        <p:spPr>
          <a:xfrm>
            <a:off x="8399068" y="2103120"/>
            <a:ext cx="3573170" cy="640080"/>
          </a:xfrm>
          <a:prstGeom prst="rect">
            <a:avLst/>
          </a:prstGeom>
          <a:noFill/>
        </p:spPr>
        <p:txBody>
          <a:bodyPr wrap="square"/>
          <a:lstStyle/>
          <a:p>
            <a:pPr algn="l"/>
            <a:r>
              <a:rPr sz="1200" b="1" i="0">
                <a:solidFill>
                  <a:srgbClr val="000000"/>
                </a:solidFill>
                <a:latin typeface="Arial"/>
              </a:rPr>
              <a:t>High revenue per head signals a coming capacity inflection</a:t>
            </a:r>
          </a:p>
        </p:txBody>
      </p:sp>
      <p:sp>
        <p:nvSpPr>
          <p:cNvPr id="22" name="Rectangle 21"/>
          <p:cNvSpPr/>
          <p:nvPr/>
        </p:nvSpPr>
        <p:spPr>
          <a:xfrm>
            <a:off x="8399068" y="2761488"/>
            <a:ext cx="357317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9068" y="2871216"/>
            <a:ext cx="3573170" cy="3017520"/>
          </a:xfrm>
          <a:prstGeom prst="rect">
            <a:avLst/>
          </a:prstGeom>
          <a:noFill/>
        </p:spPr>
        <p:txBody>
          <a:bodyPr wrap="square"/>
          <a:lstStyle/>
          <a:p>
            <a:pPr algn="l"/>
            <a:r>
              <a:rPr sz="1000" b="0" i="0">
                <a:solidFill>
                  <a:srgbClr val="000000"/>
                </a:solidFill>
                <a:latin typeface="Arial"/>
              </a:rPr>
              <a:t>With 19 people and $12.8 million in revenue, the revenue per head ratio is well above average for a services business. That is a mark of an exceptional technology platform. It is also a signal that a ceiling on further growth without structural change is approaching. A strategic growth diagnostic maps exactly where that ceiling sits, what the next team or technology investment needs to look like, and what three scenarios for the next 12 months look like in dollar terms so that the decision to grow is made deliberately rather than reactively.</a:t>
            </a:r>
          </a:p>
        </p:txBody>
      </p:sp>
      <p:sp>
        <p:nvSpPr>
          <p:cNvPr id="24" name="TextBox 23"/>
          <p:cNvSpPr txBox="1"/>
          <p:nvPr/>
        </p:nvSpPr>
        <p:spPr>
          <a:xfrm>
            <a:off x="8399068" y="5989320"/>
            <a:ext cx="3573170" cy="274320"/>
          </a:xfrm>
          <a:prstGeom prst="rect">
            <a:avLst/>
          </a:prstGeom>
          <a:noFill/>
        </p:spPr>
        <p:txBody>
          <a:bodyPr wrap="square"/>
          <a:lstStyle/>
          <a:p>
            <a:pPr algn="l"/>
            <a:r>
              <a:rPr sz="700" b="0" i="1">
                <a:solidFill>
                  <a:srgbClr val="000000"/>
                </a:solidFill>
                <a:latin typeface="Arial"/>
              </a:rPr>
              <a:t>Sources: Smart50 2025 (revenue $12.8M, employees 19)</a:t>
            </a:r>
          </a:p>
        </p:txBody>
      </p:sp>
      <p:sp>
        <p:nvSpPr>
          <p:cNvPr id="25" name="TextBox 24"/>
          <p:cNvSpPr txBox="1"/>
          <p:nvPr/>
        </p:nvSpPr>
        <p:spPr>
          <a:xfrm>
            <a:off x="246888" y="6373368"/>
            <a:ext cx="10515600" cy="320040"/>
          </a:xfrm>
          <a:prstGeom prst="rect">
            <a:avLst/>
          </a:prstGeom>
          <a:noFill/>
        </p:spPr>
        <p:txBody>
          <a:bodyPr wrap="square"/>
          <a:lstStyle/>
          <a:p>
            <a:pPr algn="ctr"/>
            <a:r>
              <a:rPr sz="1000" b="0" i="1">
                <a:solidFill>
                  <a:srgbClr val="000000"/>
                </a:solidFill>
                <a:latin typeface="Arial"/>
              </a:rPr>
              <a:t>These observations are offered in good faith. Taskforce has built something genuinely impressive. The question is simply whether the financial architecture now matches the commercial ambition.</a:t>
            </a:r>
          </a:p>
        </p:txBody>
      </p:sp>
      <p:sp>
        <p:nvSpPr>
          <p:cNvPr id="26" name="TextBox 25"/>
          <p:cNvSpPr txBox="1"/>
          <p:nvPr/>
        </p:nvSpPr>
        <p:spPr>
          <a:xfrm>
            <a:off x="246888" y="6510528"/>
            <a:ext cx="8229600" cy="274320"/>
          </a:xfrm>
          <a:prstGeom prst="rect">
            <a:avLst/>
          </a:prstGeom>
          <a:noFill/>
        </p:spPr>
        <p:txBody>
          <a:bodyPr wrap="square"/>
          <a:lstStyle/>
          <a:p>
            <a:pPr algn="l"/>
            <a:r>
              <a:rPr sz="800" b="0" i="0">
                <a:solidFill>
                  <a:srgbClr val="000000"/>
                </a:solidFill>
                <a:latin typeface="Arial"/>
              </a:rPr>
              <a:t>Nitesh Roopa CA  |  Managing Partner  |  ProfitPulse  |  Profit-Pulse.com.au</a:t>
            </a:r>
          </a:p>
        </p:txBody>
      </p:sp>
      <p:sp>
        <p:nvSpPr>
          <p:cNvPr id="27" name="TextBox 26"/>
          <p:cNvSpPr txBox="1"/>
          <p:nvPr/>
        </p:nvSpPr>
        <p:spPr>
          <a:xfrm>
            <a:off x="9875520" y="6510528"/>
            <a:ext cx="2103120" cy="274320"/>
          </a:xfrm>
          <a:prstGeom prst="rect">
            <a:avLst/>
          </a:prstGeom>
          <a:noFill/>
        </p:spPr>
        <p:txBody>
          <a:bodyPr wrap="square"/>
          <a:lstStyle/>
          <a:p>
            <a:pPr algn="r"/>
            <a:r>
              <a:rPr sz="800" b="0" i="0">
                <a:solidFill>
                  <a:srgbClr val="000000"/>
                </a:solidFill>
                <a:latin typeface="Arial"/>
              </a:rPr>
              <a:t>18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 y="0"/>
            <a:ext cx="12109399" cy="8686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46888" y="164592"/>
            <a:ext cx="7315200" cy="502920"/>
          </a:xfrm>
          <a:prstGeom prst="rect">
            <a:avLst/>
          </a:prstGeom>
          <a:noFill/>
        </p:spPr>
        <p:txBody>
          <a:bodyPr wrap="square"/>
          <a:lstStyle/>
          <a:p>
            <a:pPr algn="l"/>
            <a:r>
              <a:rPr sz="1100" b="1" i="0">
                <a:solidFill>
                  <a:srgbClr val="E6E5DE"/>
                </a:solidFill>
                <a:latin typeface="Arial"/>
              </a:rPr>
              <a:t>THE RECOMMENDATION</a:t>
            </a:r>
          </a:p>
        </p:txBody>
      </p:sp>
      <p:sp>
        <p:nvSpPr>
          <p:cNvPr id="5" name="TextBox 4"/>
          <p:cNvSpPr txBox="1"/>
          <p:nvPr/>
        </p:nvSpPr>
        <p:spPr>
          <a:xfrm>
            <a:off x="8686800" y="164592"/>
            <a:ext cx="3291840" cy="502920"/>
          </a:xfrm>
          <a:prstGeom prst="rect">
            <a:avLst/>
          </a:prstGeom>
          <a:noFill/>
        </p:spPr>
        <p:txBody>
          <a:bodyPr wrap="square"/>
          <a:lstStyle/>
          <a:p>
            <a:pPr algn="r"/>
            <a:r>
              <a:rPr sz="1100" b="1" i="0">
                <a:solidFill>
                  <a:srgbClr val="01A296"/>
                </a:solidFill>
                <a:latin typeface="Arial"/>
              </a:rPr>
              <a:t>Taskforce Australia</a:t>
            </a:r>
          </a:p>
        </p:txBody>
      </p:sp>
      <p:sp>
        <p:nvSpPr>
          <p:cNvPr id="6" name="TextBox 5"/>
          <p:cNvSpPr txBox="1"/>
          <p:nvPr/>
        </p:nvSpPr>
        <p:spPr>
          <a:xfrm>
            <a:off x="246888" y="987552"/>
            <a:ext cx="6858000" cy="594360"/>
          </a:xfrm>
          <a:prstGeom prst="rect">
            <a:avLst/>
          </a:prstGeom>
          <a:noFill/>
        </p:spPr>
        <p:txBody>
          <a:bodyPr wrap="square"/>
          <a:lstStyle/>
          <a:p>
            <a:pPr algn="l"/>
            <a:r>
              <a:rPr sz="2800" b="1" i="0">
                <a:solidFill>
                  <a:srgbClr val="000000"/>
                </a:solidFill>
                <a:latin typeface="Georgia"/>
              </a:rPr>
              <a:t>Strategic Growth Diagnostic</a:t>
            </a:r>
          </a:p>
        </p:txBody>
      </p:sp>
      <p:sp>
        <p:nvSpPr>
          <p:cNvPr id="7" name="TextBox 6"/>
          <p:cNvSpPr txBox="1"/>
          <p:nvPr/>
        </p:nvSpPr>
        <p:spPr>
          <a:xfrm>
            <a:off x="246888" y="1581912"/>
            <a:ext cx="6858000" cy="640080"/>
          </a:xfrm>
          <a:prstGeom prst="rect">
            <a:avLst/>
          </a:prstGeom>
          <a:noFill/>
        </p:spPr>
        <p:txBody>
          <a:bodyPr wrap="square">
            <a:spAutoFit/>
          </a:bodyPr>
          <a:lstStyle/>
          <a:p>
            <a:pPr algn="l">
              <a:spcAft>
                <a:spcPts val="200"/>
              </a:spcAft>
            </a:pPr>
            <a:r>
              <a:rPr sz="2000" b="1" i="0">
                <a:solidFill>
                  <a:srgbClr val="01A296"/>
                </a:solidFill>
                <a:latin typeface="Arial"/>
              </a:rPr>
              <a:t>$5,000 one off</a:t>
            </a:r>
          </a:p>
          <a:p>
            <a:pPr algn="l">
              <a:spcAft>
                <a:spcPts val="200"/>
              </a:spcAft>
            </a:pPr>
            <a:r>
              <a:rPr sz="1000" b="0" i="0">
                <a:solidFill>
                  <a:srgbClr val="000000"/>
                </a:solidFill>
                <a:latin typeface="Arial"/>
              </a:rPr>
              <a:t>ProfitPulse verified price. The questionnaire confirms the exact figure for your size and industry.</a:t>
            </a:r>
          </a:p>
        </p:txBody>
      </p:sp>
      <p:sp>
        <p:nvSpPr>
          <p:cNvPr id="8" name="TextBox 7"/>
          <p:cNvSpPr txBox="1"/>
          <p:nvPr/>
        </p:nvSpPr>
        <p:spPr>
          <a:xfrm>
            <a:off x="246888" y="2267712"/>
            <a:ext cx="6858000" cy="658368"/>
          </a:xfrm>
          <a:prstGeom prst="rect">
            <a:avLst/>
          </a:prstGeom>
          <a:noFill/>
        </p:spPr>
        <p:txBody>
          <a:bodyPr wrap="square"/>
          <a:lstStyle/>
          <a:p>
            <a:pPr algn="l"/>
            <a:r>
              <a:rPr sz="1100" b="0" i="0">
                <a:solidFill>
                  <a:srgbClr val="000000"/>
                </a:solidFill>
                <a:latin typeface="Arial"/>
              </a:rPr>
              <a:t>A six-week engagement that maps revenue, capacity, and margin headroom, then produces a 12-month growth plan with funding and capital allocation steps spelled out in three scenarios. Exactly matched to a business at Taskforce's growth rate and stage.</a:t>
            </a:r>
          </a:p>
        </p:txBody>
      </p:sp>
      <p:sp>
        <p:nvSpPr>
          <p:cNvPr id="9" name="Rectangle 8"/>
          <p:cNvSpPr/>
          <p:nvPr/>
        </p:nvSpPr>
        <p:spPr>
          <a:xfrm>
            <a:off x="246888" y="2999232"/>
            <a:ext cx="6858000"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6888" y="3063240"/>
            <a:ext cx="6858000" cy="1115568"/>
          </a:xfrm>
          <a:prstGeom prst="rect">
            <a:avLst/>
          </a:prstGeom>
          <a:solidFill>
            <a:srgbClr val="FFFFFF"/>
          </a:solidFill>
          <a:ln w="12700">
            <a:solidFill>
              <a:srgbClr val="01A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3127248"/>
            <a:ext cx="2743200" cy="256032"/>
          </a:xfrm>
          <a:prstGeom prst="rect">
            <a:avLst/>
          </a:prstGeom>
          <a:noFill/>
        </p:spPr>
        <p:txBody>
          <a:bodyPr wrap="square"/>
          <a:lstStyle/>
          <a:p>
            <a:pPr algn="l"/>
            <a:r>
              <a:rPr sz="900" b="1" i="0">
                <a:solidFill>
                  <a:srgbClr val="01A296"/>
                </a:solidFill>
                <a:latin typeface="Arial"/>
              </a:rPr>
              <a:t>STEP ONE</a:t>
            </a:r>
          </a:p>
        </p:txBody>
      </p:sp>
      <p:sp>
        <p:nvSpPr>
          <p:cNvPr id="12" name="TextBox 11"/>
          <p:cNvSpPr txBox="1"/>
          <p:nvPr/>
        </p:nvSpPr>
        <p:spPr>
          <a:xfrm>
            <a:off x="384048" y="3364992"/>
            <a:ext cx="6583680" cy="274320"/>
          </a:xfrm>
          <a:prstGeom prst="rect">
            <a:avLst/>
          </a:prstGeom>
          <a:noFill/>
        </p:spPr>
        <p:txBody>
          <a:bodyPr wrap="square"/>
          <a:lstStyle/>
          <a:p>
            <a:pPr algn="l"/>
            <a:r>
              <a:rPr sz="1300" b="1" i="0">
                <a:solidFill>
                  <a:srgbClr val="000000"/>
                </a:solidFill>
                <a:latin typeface="Arial"/>
              </a:rPr>
              <a:t>Answer a few quick questions</a:t>
            </a:r>
          </a:p>
        </p:txBody>
      </p:sp>
      <p:sp>
        <p:nvSpPr>
          <p:cNvPr id="13" name="TextBox 12"/>
          <p:cNvSpPr txBox="1"/>
          <p:nvPr/>
        </p:nvSpPr>
        <p:spPr>
          <a:xfrm>
            <a:off x="384048" y="3639312"/>
            <a:ext cx="6583680" cy="219456"/>
          </a:xfrm>
          <a:prstGeom prst="rect">
            <a:avLst/>
          </a:prstGeom>
          <a:noFill/>
        </p:spPr>
        <p:txBody>
          <a:bodyPr wrap="square"/>
          <a:lstStyle/>
          <a:p>
            <a:pPr algn="l"/>
            <a:r>
              <a:rPr sz="1000" b="0" i="0">
                <a:solidFill>
                  <a:srgbClr val="000000"/>
                </a:solidFill>
                <a:latin typeface="Arial"/>
              </a:rPr>
              <a:t>See the solutions matched to your size and industry.</a:t>
            </a:r>
          </a:p>
        </p:txBody>
      </p:sp>
      <p:sp>
        <p:nvSpPr>
          <p:cNvPr id="14" name="TextBox 13"/>
          <p:cNvSpPr txBox="1"/>
          <p:nvPr/>
        </p:nvSpPr>
        <p:spPr>
          <a:xfrm>
            <a:off x="384048" y="3858768"/>
            <a:ext cx="6583680" cy="256032"/>
          </a:xfrm>
          <a:prstGeom prst="rect">
            <a:avLst/>
          </a:prstGeom>
          <a:noFill/>
        </p:spPr>
        <p:txBody>
          <a:bodyPr wrap="square">
            <a:spAutoFit/>
          </a:bodyPr>
          <a:lstStyle/>
          <a:p>
            <a:pPr algn="l"/>
            <a:r>
              <a:rPr sz="1000" b="1">
                <a:solidFill>
                  <a:srgbClr val="01A296"/>
                </a:solidFill>
                <a:latin typeface="Arial"/>
                <a:hlinkClick r:id="rId2"/>
              </a:rPr>
              <a:t>profit-pulse.com.au/full-suite-of-products</a:t>
            </a:r>
          </a:p>
        </p:txBody>
      </p:sp>
      <p:sp>
        <p:nvSpPr>
          <p:cNvPr id="15" name="Rectangle 14"/>
          <p:cNvSpPr/>
          <p:nvPr/>
        </p:nvSpPr>
        <p:spPr>
          <a:xfrm>
            <a:off x="246888" y="4279392"/>
            <a:ext cx="6858000" cy="4572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4315968"/>
            <a:ext cx="6675120" cy="384048"/>
          </a:xfrm>
          <a:prstGeom prst="rect">
            <a:avLst/>
          </a:prstGeom>
          <a:noFill/>
        </p:spPr>
        <p:txBody>
          <a:bodyPr wrap="square">
            <a:spAutoFit/>
          </a:bodyPr>
          <a:lstStyle/>
          <a:p>
            <a:pPr algn="l"/>
            <a:r>
              <a:rPr sz="1100" b="1">
                <a:solidFill>
                  <a:srgbClr val="FFFFFF"/>
                </a:solidFill>
                <a:latin typeface="Arial"/>
                <a:hlinkClick r:id="rId3"/>
              </a:rPr>
              <a:t>Purchase the suggested product now to get started</a:t>
            </a:r>
          </a:p>
        </p:txBody>
      </p:sp>
      <p:sp>
        <p:nvSpPr>
          <p:cNvPr id="17" name="Rectangle 16"/>
          <p:cNvSpPr/>
          <p:nvPr/>
        </p:nvSpPr>
        <p:spPr>
          <a:xfrm>
            <a:off x="246888" y="4828032"/>
            <a:ext cx="685800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6888" y="4892040"/>
            <a:ext cx="6858000" cy="256032"/>
          </a:xfrm>
          <a:prstGeom prst="rect">
            <a:avLst/>
          </a:prstGeom>
          <a:noFill/>
        </p:spPr>
        <p:txBody>
          <a:bodyPr wrap="square"/>
          <a:lstStyle/>
          <a:p>
            <a:pPr algn="l"/>
            <a:r>
              <a:rPr sz="1000" b="0" i="0">
                <a:solidFill>
                  <a:srgbClr val="000000"/>
                </a:solidFill>
                <a:latin typeface="Arial"/>
              </a:rPr>
              <a:t>Prefer a conversation first?</a:t>
            </a:r>
          </a:p>
        </p:txBody>
      </p:sp>
      <p:sp>
        <p:nvSpPr>
          <p:cNvPr id="19" name="TextBox 18"/>
          <p:cNvSpPr txBox="1"/>
          <p:nvPr/>
        </p:nvSpPr>
        <p:spPr>
          <a:xfrm>
            <a:off x="246888" y="5148072"/>
            <a:ext cx="6858000" cy="256032"/>
          </a:xfrm>
          <a:prstGeom prst="rect">
            <a:avLst/>
          </a:prstGeom>
          <a:noFill/>
        </p:spPr>
        <p:txBody>
          <a:bodyPr wrap="square">
            <a:spAutoFit/>
          </a:bodyPr>
          <a:lstStyle/>
          <a:p>
            <a:pPr algn="l"/>
            <a:r>
              <a:rPr sz="1000" b="1">
                <a:solidFill>
                  <a:srgbClr val="01A296"/>
                </a:solidFill>
                <a:latin typeface="Arial"/>
                <a:hlinkClick r:id="rId4"/>
              </a:rPr>
              <a:t>Book a complimentary discovery call</a:t>
            </a:r>
          </a:p>
        </p:txBody>
      </p:sp>
      <p:sp>
        <p:nvSpPr>
          <p:cNvPr id="20" name="Rectangle 19"/>
          <p:cNvSpPr/>
          <p:nvPr/>
        </p:nvSpPr>
        <p:spPr>
          <a:xfrm>
            <a:off x="7333488" y="960120"/>
            <a:ext cx="4693615" cy="5394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6368" y="1097280"/>
            <a:ext cx="4373575" cy="457200"/>
          </a:xfrm>
          <a:prstGeom prst="rect">
            <a:avLst/>
          </a:prstGeom>
          <a:noFill/>
        </p:spPr>
        <p:txBody>
          <a:bodyPr wrap="square"/>
          <a:lstStyle/>
          <a:p>
            <a:pPr algn="l"/>
            <a:r>
              <a:rPr sz="2000" b="1" i="0">
                <a:solidFill>
                  <a:srgbClr val="F8C806"/>
                </a:solidFill>
                <a:latin typeface="Georgia"/>
              </a:rPr>
              <a:t>Nitesh Roopa</a:t>
            </a:r>
          </a:p>
        </p:txBody>
      </p:sp>
      <p:sp>
        <p:nvSpPr>
          <p:cNvPr id="22" name="TextBox 21"/>
          <p:cNvSpPr txBox="1"/>
          <p:nvPr/>
        </p:nvSpPr>
        <p:spPr>
          <a:xfrm>
            <a:off x="7516368" y="1554480"/>
            <a:ext cx="4373575" cy="274320"/>
          </a:xfrm>
          <a:prstGeom prst="rect">
            <a:avLst/>
          </a:prstGeom>
          <a:noFill/>
        </p:spPr>
        <p:txBody>
          <a:bodyPr wrap="square"/>
          <a:lstStyle/>
          <a:p>
            <a:pPr algn="l"/>
            <a:r>
              <a:rPr sz="1100" b="0" i="0">
                <a:solidFill>
                  <a:srgbClr val="FFFFFF"/>
                </a:solidFill>
                <a:latin typeface="Arial"/>
              </a:rPr>
              <a:t>CA, Managing Partner</a:t>
            </a:r>
          </a:p>
        </p:txBody>
      </p:sp>
      <p:sp>
        <p:nvSpPr>
          <p:cNvPr id="23" name="TextBox 22"/>
          <p:cNvSpPr txBox="1"/>
          <p:nvPr/>
        </p:nvSpPr>
        <p:spPr>
          <a:xfrm>
            <a:off x="7516368" y="1828800"/>
            <a:ext cx="4373575" cy="347472"/>
          </a:xfrm>
          <a:prstGeom prst="rect">
            <a:avLst/>
          </a:prstGeom>
          <a:noFill/>
        </p:spPr>
        <p:txBody>
          <a:bodyPr wrap="square"/>
          <a:lstStyle/>
          <a:p>
            <a:pPr algn="l"/>
            <a:r>
              <a:rPr sz="1600" b="1" i="0">
                <a:solidFill>
                  <a:srgbClr val="01A296"/>
                </a:solidFill>
                <a:latin typeface="Arial"/>
              </a:rPr>
              <a:t>ProfitPulse</a:t>
            </a:r>
          </a:p>
        </p:txBody>
      </p:sp>
      <p:sp>
        <p:nvSpPr>
          <p:cNvPr id="24" name="Rectangle 23"/>
          <p:cNvSpPr/>
          <p:nvPr/>
        </p:nvSpPr>
        <p:spPr>
          <a:xfrm>
            <a:off x="7516368" y="2212848"/>
            <a:ext cx="4327855"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6368" y="2304288"/>
            <a:ext cx="4373575" cy="1097280"/>
          </a:xfrm>
          <a:prstGeom prst="rect">
            <a:avLst/>
          </a:prstGeom>
          <a:noFill/>
        </p:spPr>
        <p:txBody>
          <a:bodyPr wrap="square">
            <a:spAutoFit/>
          </a:bodyPr>
          <a:lstStyle/>
          <a:p>
            <a:pPr algn="l">
              <a:spcAft>
                <a:spcPts val="300"/>
              </a:spcAft>
            </a:pPr>
            <a:r>
              <a:rPr sz="1000" b="0" i="0">
                <a:solidFill>
                  <a:srgbClr val="E6E5DE"/>
                </a:solidFill>
                <a:latin typeface="Arial"/>
              </a:rPr>
              <a:t>16 years across 4 countries</a:t>
            </a:r>
          </a:p>
          <a:p>
            <a:pPr algn="l">
              <a:spcAft>
                <a:spcPts val="300"/>
              </a:spcAft>
            </a:pPr>
            <a:r>
              <a:rPr sz="1000" b="0" i="0">
                <a:solidFill>
                  <a:srgbClr val="E6E5DE"/>
                </a:solidFill>
                <a:latin typeface="Arial"/>
              </a:rPr>
              <a:t>52 deals executed and managed</a:t>
            </a:r>
          </a:p>
          <a:p>
            <a:pPr algn="l">
              <a:spcAft>
                <a:spcPts val="300"/>
              </a:spcAft>
            </a:pPr>
            <a:r>
              <a:rPr sz="1000" b="0" i="0">
                <a:solidFill>
                  <a:srgbClr val="E6E5DE"/>
                </a:solidFill>
                <a:latin typeface="Arial"/>
              </a:rPr>
              <a:t>Largest deal: USD 1.3B, Cahora Bassa</a:t>
            </a:r>
          </a:p>
          <a:p>
            <a:pPr algn="l">
              <a:spcAft>
                <a:spcPts val="300"/>
              </a:spcAft>
            </a:pPr>
            <a:r>
              <a:rPr sz="1000" b="0" i="0">
                <a:solidFill>
                  <a:srgbClr val="E6E5DE"/>
                </a:solidFill>
                <a:latin typeface="Arial"/>
              </a:rPr>
              <a:t>Total GRBT value in QLD: AUD 10B</a:t>
            </a:r>
          </a:p>
        </p:txBody>
      </p:sp>
      <p:sp>
        <p:nvSpPr>
          <p:cNvPr id="26" name="Rectangle 25"/>
          <p:cNvSpPr/>
          <p:nvPr/>
        </p:nvSpPr>
        <p:spPr>
          <a:xfrm>
            <a:off x="7516368" y="3474720"/>
            <a:ext cx="43278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16368" y="3566160"/>
            <a:ext cx="4373575" cy="1371600"/>
          </a:xfrm>
          <a:prstGeom prst="rect">
            <a:avLst/>
          </a:prstGeom>
          <a:noFill/>
        </p:spPr>
        <p:txBody>
          <a:bodyPr wrap="square">
            <a:spAutoFit/>
          </a:bodyPr>
          <a:lstStyle/>
          <a:p>
            <a:pPr algn="l">
              <a:spcAft>
                <a:spcPts val="300"/>
              </a:spcAft>
            </a:pPr>
            <a:r>
              <a:rPr sz="1000" b="0" i="0">
                <a:solidFill>
                  <a:srgbClr val="E6E5DE"/>
                </a:solidFill>
                <a:latin typeface="Arial"/>
              </a:rPr>
              <a:t>Profit-Pulse.com.au</a:t>
            </a:r>
          </a:p>
          <a:p>
            <a:pPr algn="l">
              <a:spcAft>
                <a:spcPts val="300"/>
              </a:spcAft>
            </a:pPr>
            <a:r>
              <a:rPr sz="1000" b="0" i="0">
                <a:solidFill>
                  <a:srgbClr val="01A296"/>
                </a:solidFill>
                <a:latin typeface="Arial"/>
              </a:rPr>
              <a:t>Nitesh@Profit-Pulse.com.au</a:t>
            </a:r>
          </a:p>
          <a:p>
            <a:pPr algn="l">
              <a:spcAft>
                <a:spcPts val="300"/>
              </a:spcAft>
            </a:pPr>
            <a:r>
              <a:rPr sz="1000" b="0" i="0">
                <a:solidFill>
                  <a:srgbClr val="E6E5DE"/>
                </a:solidFill>
                <a:latin typeface="Arial"/>
              </a:rPr>
              <a:t>+61 411 876 267</a:t>
            </a:r>
          </a:p>
          <a:p>
            <a:pPr algn="l">
              <a:spcAft>
                <a:spcPts val="300"/>
              </a:spcAft>
            </a:pPr>
            <a:r>
              <a:rPr sz="900" b="0" i="0">
                <a:solidFill>
                  <a:srgbClr val="E6E5DE"/>
                </a:solidFill>
                <a:latin typeface="Arial"/>
              </a:rPr>
              <a:t>linkedin.com/in/nitesh-roopa-77594163</a:t>
            </a:r>
          </a:p>
        </p:txBody>
      </p:sp>
      <p:sp>
        <p:nvSpPr>
          <p:cNvPr id="28" name="TextBox 27"/>
          <p:cNvSpPr txBox="1"/>
          <p:nvPr/>
        </p:nvSpPr>
        <p:spPr>
          <a:xfrm>
            <a:off x="246888" y="6510528"/>
            <a:ext cx="8229600" cy="274320"/>
          </a:xfrm>
          <a:prstGeom prst="rect">
            <a:avLst/>
          </a:prstGeom>
          <a:noFill/>
        </p:spPr>
        <p:txBody>
          <a:bodyPr wrap="square"/>
          <a:lstStyle/>
          <a:p>
            <a:pPr algn="l"/>
            <a:r>
              <a:rPr sz="800" b="0" i="0">
                <a:solidFill>
                  <a:srgbClr val="000000"/>
                </a:solidFill>
                <a:latin typeface="Arial"/>
              </a:rPr>
              <a:t>Nitesh Roopa CA  |  Managing Partner  |  ProfitPulse  |  Profit-Pulse.com.au</a:t>
            </a:r>
          </a:p>
        </p:txBody>
      </p:sp>
      <p:sp>
        <p:nvSpPr>
          <p:cNvPr id="29" name="TextBox 28"/>
          <p:cNvSpPr txBox="1"/>
          <p:nvPr/>
        </p:nvSpPr>
        <p:spPr>
          <a:xfrm>
            <a:off x="9875520" y="6510528"/>
            <a:ext cx="2103120" cy="274320"/>
          </a:xfrm>
          <a:prstGeom prst="rect">
            <a:avLst/>
          </a:prstGeom>
          <a:noFill/>
        </p:spPr>
        <p:txBody>
          <a:bodyPr wrap="square"/>
          <a:lstStyle/>
          <a:p>
            <a:pPr algn="r"/>
            <a:r>
              <a:rPr sz="800" b="0" i="0">
                <a:solidFill>
                  <a:srgbClr val="000000"/>
                </a:solidFill>
                <a:latin typeface="Arial"/>
              </a:rPr>
              <a:t>18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