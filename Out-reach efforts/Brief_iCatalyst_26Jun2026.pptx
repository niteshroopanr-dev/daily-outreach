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a:pPr>
            <a:r>
              <a:rPr sz="800">
                <a:solidFill>
                  <a:srgbClr val="444444"/>
                </a:solidFill>
              </a:rPr>
              <a:t>Revenue AUD $M  (Source: SmartCompany Smart50 submissions)</a:t>
            </a:r>
          </a:p>
        </c:rich>
      </c:tx>
      <c:layout/>
      <c:overlay val="0"/>
    </c:title>
    <c:autoTitleDeleted val="0"/>
    <c:plotArea>
      <c:barChart>
        <c:barDir val="col"/>
        <c:grouping val="clustered"/>
        <c:ser>
          <c:idx val="0"/>
          <c:order val="0"/>
          <c:tx>
            <c:strRef>
              <c:f>Sheet1!$B$1</c:f>
              <c:strCache>
                <c:ptCount val="1"/>
                <c:pt idx="0">
                  <c:v>Revenue (AUD $M)</c:v>
                </c:pt>
              </c:strCache>
            </c:strRef>
          </c:tx>
          <c:spPr>
            <a:solidFill>
              <a:srgbClr val="01A296"/>
            </a:solidFill>
          </c:spPr>
          <c:cat>
            <c:strRef>
              <c:f>Sheet1!$A$2:$A$4</c:f>
              <c:strCache>
                <c:ptCount val="3"/>
                <c:pt idx="0">
                  <c:v>FY2023</c:v>
                </c:pt>
                <c:pt idx="1">
                  <c:v>FY2024</c:v>
                </c:pt>
                <c:pt idx="2">
                  <c:v>FY2025</c:v>
                </c:pt>
              </c:strCache>
            </c:strRef>
          </c:cat>
          <c:val>
            <c:numRef>
              <c:f>Sheet1!$B$2:$B$4</c:f>
              <c:numCache>
                <c:formatCode>General</c:formatCode>
                <c:ptCount val="3"/>
                <c:pt idx="0">
                  <c:v>5.22</c:v>
                </c:pt>
                <c:pt idx="1">
                  <c:v>9.5</c:v>
                </c:pt>
                <c:pt idx="2">
                  <c:v>13.5</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b="1"/>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14A3cwc5a66c4P6dMH3ks1G"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7772400" cy="493776"/>
          </a:xfrm>
          <a:prstGeom prst="rect">
            <a:avLst/>
          </a:prstGeom>
          <a:noFill/>
        </p:spPr>
        <p:txBody>
          <a:bodyPr wrap="square">
            <a:spAutoFit/>
          </a:bodyPr>
          <a:lstStyle/>
          <a:p>
            <a:pPr algn="l"/>
            <a:r>
              <a:rPr sz="1100" b="1">
                <a:solidFill>
                  <a:srgbClr val="E6E5DE"/>
                </a:solidFill>
                <a:latin typeface="Calibri"/>
              </a:rPr>
              <a:t>COMMERCIAL INTELLIGENCE BRIEF</a:t>
            </a:r>
          </a:p>
        </p:txBody>
      </p:sp>
      <p:sp>
        <p:nvSpPr>
          <p:cNvPr id="5" name="TextBox 4"/>
          <p:cNvSpPr txBox="1"/>
          <p:nvPr/>
        </p:nvSpPr>
        <p:spPr>
          <a:xfrm>
            <a:off x="8503920" y="164592"/>
            <a:ext cx="3474720" cy="493776"/>
          </a:xfrm>
          <a:prstGeom prst="rect">
            <a:avLst/>
          </a:prstGeom>
          <a:noFill/>
        </p:spPr>
        <p:txBody>
          <a:bodyPr wrap="square">
            <a:spAutoFit/>
          </a:bodyPr>
          <a:lstStyle/>
          <a:p>
            <a:pPr algn="r"/>
            <a:r>
              <a:rPr sz="1100" b="1">
                <a:solidFill>
                  <a:srgbClr val="E6E5DE"/>
                </a:solidFill>
                <a:latin typeface="Calibri"/>
              </a:rPr>
              <a:t>PROFITPULSE</a:t>
            </a:r>
          </a:p>
        </p:txBody>
      </p:sp>
      <p:sp>
        <p:nvSpPr>
          <p:cNvPr id="6" name="TextBox 5"/>
          <p:cNvSpPr txBox="1"/>
          <p:nvPr/>
        </p:nvSpPr>
        <p:spPr>
          <a:xfrm>
            <a:off x="201168" y="6537960"/>
            <a:ext cx="11795760" cy="246888"/>
          </a:xfrm>
          <a:prstGeom prst="rect">
            <a:avLst/>
          </a:prstGeom>
          <a:noFill/>
        </p:spPr>
        <p:txBody>
          <a:bodyPr wrap="square">
            <a:spAutoFit/>
          </a:bodyPr>
          <a:lstStyle/>
          <a:p>
            <a:pPr algn="l"/>
            <a:r>
              <a:rPr sz="750" b="0">
                <a:solidFill>
                  <a:srgbClr val="888888"/>
                </a:solidFill>
                <a:latin typeface="Calibri"/>
              </a:rPr>
              <a:t>Prepared by Nitesh Roopa CA, Managing Partner and Founder, ProfitPulse, Profit-Pulse.com.au  |  26 Jun 2026</a:t>
            </a:r>
          </a:p>
        </p:txBody>
      </p:sp>
      <p:sp>
        <p:nvSpPr>
          <p:cNvPr id="7" name="TextBox 6"/>
          <p:cNvSpPr txBox="1"/>
          <p:nvPr/>
        </p:nvSpPr>
        <p:spPr>
          <a:xfrm>
            <a:off x="228600" y="886968"/>
            <a:ext cx="8229600" cy="530352"/>
          </a:xfrm>
          <a:prstGeom prst="rect">
            <a:avLst/>
          </a:prstGeom>
          <a:noFill/>
        </p:spPr>
        <p:txBody>
          <a:bodyPr wrap="square">
            <a:spAutoFit/>
          </a:bodyPr>
          <a:lstStyle/>
          <a:p>
            <a:pPr algn="l"/>
            <a:r>
              <a:rPr sz="3600" b="1">
                <a:solidFill>
                  <a:srgbClr val="000000"/>
                </a:solidFill>
                <a:latin typeface="Georgia"/>
              </a:rPr>
              <a:t>iCatalyst</a:t>
            </a:r>
          </a:p>
        </p:txBody>
      </p:sp>
      <p:sp>
        <p:nvSpPr>
          <p:cNvPr id="8" name="TextBox 7"/>
          <p:cNvSpPr txBox="1"/>
          <p:nvPr/>
        </p:nvSpPr>
        <p:spPr>
          <a:xfrm>
            <a:off x="228600" y="1408176"/>
            <a:ext cx="11430000" cy="237744"/>
          </a:xfrm>
          <a:prstGeom prst="rect">
            <a:avLst/>
          </a:prstGeom>
          <a:noFill/>
        </p:spPr>
        <p:txBody>
          <a:bodyPr wrap="square">
            <a:spAutoFit/>
          </a:bodyPr>
          <a:lstStyle/>
          <a:p>
            <a:pPr algn="l"/>
            <a:r>
              <a:rPr sz="1100" b="0">
                <a:solidFill>
                  <a:srgbClr val="01A296"/>
                </a:solidFill>
                <a:latin typeface="Calibri"/>
              </a:rPr>
              <a:t>Microsoft Dynamics 365 consulting partner  |  Subiaco WA  |  Founded 2020</a:t>
            </a:r>
          </a:p>
        </p:txBody>
      </p:sp>
      <p:sp>
        <p:nvSpPr>
          <p:cNvPr id="9" name="Rectangle 8"/>
          <p:cNvSpPr/>
          <p:nvPr/>
        </p:nvSpPr>
        <p:spPr>
          <a:xfrm>
            <a:off x="228600" y="1709928"/>
            <a:ext cx="2139696" cy="1435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709928"/>
            <a:ext cx="2139696"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801368"/>
            <a:ext cx="1956815" cy="502920"/>
          </a:xfrm>
          <a:prstGeom prst="rect">
            <a:avLst/>
          </a:prstGeom>
          <a:noFill/>
        </p:spPr>
        <p:txBody>
          <a:bodyPr wrap="square">
            <a:spAutoFit/>
          </a:bodyPr>
          <a:lstStyle/>
          <a:p>
            <a:pPr algn="l"/>
            <a:r>
              <a:rPr sz="2600" b="1">
                <a:solidFill>
                  <a:srgbClr val="F8C806"/>
                </a:solidFill>
                <a:latin typeface="Georgia"/>
              </a:rPr>
              <a:t>$13.5M</a:t>
            </a:r>
          </a:p>
        </p:txBody>
      </p:sp>
      <p:sp>
        <p:nvSpPr>
          <p:cNvPr id="12" name="TextBox 11"/>
          <p:cNvSpPr txBox="1"/>
          <p:nvPr/>
        </p:nvSpPr>
        <p:spPr>
          <a:xfrm>
            <a:off x="320040" y="2304288"/>
            <a:ext cx="1956815" cy="502920"/>
          </a:xfrm>
          <a:prstGeom prst="rect">
            <a:avLst/>
          </a:prstGeom>
          <a:noFill/>
        </p:spPr>
        <p:txBody>
          <a:bodyPr wrap="square">
            <a:spAutoFit/>
          </a:bodyPr>
          <a:lstStyle/>
          <a:p>
            <a:r>
              <a:rPr sz="1000">
                <a:solidFill>
                  <a:srgbClr val="FFFFFF"/>
                </a:solidFill>
                <a:latin typeface="Calibri"/>
              </a:rPr>
              <a:t>Revenue</a:t>
            </a:r>
          </a:p>
          <a:p>
            <a:r>
              <a:rPr sz="1000">
                <a:solidFill>
                  <a:srgbClr val="FFFFFF"/>
                </a:solidFill>
                <a:latin typeface="Calibri"/>
              </a:rPr>
              <a:t>FY2025</a:t>
            </a:r>
          </a:p>
        </p:txBody>
      </p:sp>
      <p:sp>
        <p:nvSpPr>
          <p:cNvPr id="13" name="TextBox 12"/>
          <p:cNvSpPr txBox="1"/>
          <p:nvPr/>
        </p:nvSpPr>
        <p:spPr>
          <a:xfrm>
            <a:off x="320040" y="2862072"/>
            <a:ext cx="1956815" cy="201168"/>
          </a:xfrm>
          <a:prstGeom prst="rect">
            <a:avLst/>
          </a:prstGeom>
          <a:noFill/>
        </p:spPr>
        <p:txBody>
          <a:bodyPr wrap="square">
            <a:spAutoFit/>
          </a:bodyPr>
          <a:lstStyle/>
          <a:p>
            <a:pPr algn="l"/>
            <a:r>
              <a:rPr sz="750" b="0">
                <a:solidFill>
                  <a:srgbClr val="01A296"/>
                </a:solidFill>
                <a:latin typeface="Calibri"/>
              </a:rPr>
              <a:t>SmartCompany Smart50 2025</a:t>
            </a:r>
          </a:p>
        </p:txBody>
      </p:sp>
      <p:sp>
        <p:nvSpPr>
          <p:cNvPr id="14" name="Rectangle 13"/>
          <p:cNvSpPr/>
          <p:nvPr/>
        </p:nvSpPr>
        <p:spPr>
          <a:xfrm>
            <a:off x="2468879" y="1709928"/>
            <a:ext cx="2139696" cy="1435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79" y="1709928"/>
            <a:ext cx="2139696"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0320" y="1801368"/>
            <a:ext cx="1956815" cy="502920"/>
          </a:xfrm>
          <a:prstGeom prst="rect">
            <a:avLst/>
          </a:prstGeom>
          <a:noFill/>
        </p:spPr>
        <p:txBody>
          <a:bodyPr wrap="square">
            <a:spAutoFit/>
          </a:bodyPr>
          <a:lstStyle/>
          <a:p>
            <a:pPr algn="l"/>
            <a:r>
              <a:rPr sz="2600" b="1">
                <a:solidFill>
                  <a:srgbClr val="F8C806"/>
                </a:solidFill>
                <a:latin typeface="Georgia"/>
              </a:rPr>
              <a:t>60%</a:t>
            </a:r>
          </a:p>
        </p:txBody>
      </p:sp>
      <p:sp>
        <p:nvSpPr>
          <p:cNvPr id="17" name="TextBox 16"/>
          <p:cNvSpPr txBox="1"/>
          <p:nvPr/>
        </p:nvSpPr>
        <p:spPr>
          <a:xfrm>
            <a:off x="2560320" y="2304288"/>
            <a:ext cx="1956815" cy="502920"/>
          </a:xfrm>
          <a:prstGeom prst="rect">
            <a:avLst/>
          </a:prstGeom>
          <a:noFill/>
        </p:spPr>
        <p:txBody>
          <a:bodyPr wrap="square">
            <a:spAutoFit/>
          </a:bodyPr>
          <a:lstStyle/>
          <a:p>
            <a:r>
              <a:rPr sz="1000">
                <a:solidFill>
                  <a:srgbClr val="FFFFFF"/>
                </a:solidFill>
                <a:latin typeface="Calibri"/>
              </a:rPr>
              <a:t>Year on Year</a:t>
            </a:r>
          </a:p>
          <a:p>
            <a:r>
              <a:rPr sz="1000">
                <a:solidFill>
                  <a:srgbClr val="FFFFFF"/>
                </a:solidFill>
                <a:latin typeface="Calibri"/>
              </a:rPr>
              <a:t>Growth</a:t>
            </a:r>
          </a:p>
        </p:txBody>
      </p:sp>
      <p:sp>
        <p:nvSpPr>
          <p:cNvPr id="18" name="TextBox 17"/>
          <p:cNvSpPr txBox="1"/>
          <p:nvPr/>
        </p:nvSpPr>
        <p:spPr>
          <a:xfrm>
            <a:off x="2560320" y="2862072"/>
            <a:ext cx="1956815" cy="201168"/>
          </a:xfrm>
          <a:prstGeom prst="rect">
            <a:avLst/>
          </a:prstGeom>
          <a:noFill/>
        </p:spPr>
        <p:txBody>
          <a:bodyPr wrap="square">
            <a:spAutoFit/>
          </a:bodyPr>
          <a:lstStyle/>
          <a:p>
            <a:pPr algn="l"/>
            <a:r>
              <a:rPr sz="750" b="0">
                <a:solidFill>
                  <a:srgbClr val="01A296"/>
                </a:solidFill>
                <a:latin typeface="Calibri"/>
              </a:rPr>
              <a:t>SmartCompany Smart50 2025</a:t>
            </a:r>
          </a:p>
        </p:txBody>
      </p:sp>
      <p:sp>
        <p:nvSpPr>
          <p:cNvPr id="19" name="Rectangle 18"/>
          <p:cNvSpPr/>
          <p:nvPr/>
        </p:nvSpPr>
        <p:spPr>
          <a:xfrm>
            <a:off x="4709159" y="1709928"/>
            <a:ext cx="2139696" cy="1435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09159" y="1709928"/>
            <a:ext cx="2139696"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599" y="1801368"/>
            <a:ext cx="1956815" cy="502920"/>
          </a:xfrm>
          <a:prstGeom prst="rect">
            <a:avLst/>
          </a:prstGeom>
          <a:noFill/>
        </p:spPr>
        <p:txBody>
          <a:bodyPr wrap="square">
            <a:spAutoFit/>
          </a:bodyPr>
          <a:lstStyle/>
          <a:p>
            <a:pPr algn="l"/>
            <a:r>
              <a:rPr sz="2600" b="1">
                <a:solidFill>
                  <a:srgbClr val="F8C806"/>
                </a:solidFill>
                <a:latin typeface="Georgia"/>
              </a:rPr>
              <a:t>Rank 16</a:t>
            </a:r>
          </a:p>
        </p:txBody>
      </p:sp>
      <p:sp>
        <p:nvSpPr>
          <p:cNvPr id="22" name="TextBox 21"/>
          <p:cNvSpPr txBox="1"/>
          <p:nvPr/>
        </p:nvSpPr>
        <p:spPr>
          <a:xfrm>
            <a:off x="4800599" y="2304288"/>
            <a:ext cx="1956815" cy="502920"/>
          </a:xfrm>
          <a:prstGeom prst="rect">
            <a:avLst/>
          </a:prstGeom>
          <a:noFill/>
        </p:spPr>
        <p:txBody>
          <a:bodyPr wrap="square">
            <a:spAutoFit/>
          </a:bodyPr>
          <a:lstStyle/>
          <a:p>
            <a:r>
              <a:rPr sz="1000">
                <a:solidFill>
                  <a:srgbClr val="FFFFFF"/>
                </a:solidFill>
                <a:latin typeface="Calibri"/>
              </a:rPr>
              <a:t>Smart50 2025</a:t>
            </a:r>
          </a:p>
        </p:txBody>
      </p:sp>
      <p:sp>
        <p:nvSpPr>
          <p:cNvPr id="23" name="TextBox 22"/>
          <p:cNvSpPr txBox="1"/>
          <p:nvPr/>
        </p:nvSpPr>
        <p:spPr>
          <a:xfrm>
            <a:off x="4800599" y="2862072"/>
            <a:ext cx="1956815" cy="201168"/>
          </a:xfrm>
          <a:prstGeom prst="rect">
            <a:avLst/>
          </a:prstGeom>
          <a:noFill/>
        </p:spPr>
        <p:txBody>
          <a:bodyPr wrap="square">
            <a:spAutoFit/>
          </a:bodyPr>
          <a:lstStyle/>
          <a:p>
            <a:pPr algn="l"/>
            <a:r>
              <a:rPr sz="750" b="0">
                <a:solidFill>
                  <a:srgbClr val="01A296"/>
                </a:solidFill>
                <a:latin typeface="Calibri"/>
              </a:rPr>
              <a:t>SmartCompany, Nov 2025</a:t>
            </a:r>
          </a:p>
        </p:txBody>
      </p:sp>
      <p:sp>
        <p:nvSpPr>
          <p:cNvPr id="24" name="Rectangle 23"/>
          <p:cNvSpPr/>
          <p:nvPr/>
        </p:nvSpPr>
        <p:spPr>
          <a:xfrm>
            <a:off x="6949440" y="1709928"/>
            <a:ext cx="2139696" cy="1435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49440" y="1709928"/>
            <a:ext cx="2139696"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79" y="1801368"/>
            <a:ext cx="1956815" cy="502920"/>
          </a:xfrm>
          <a:prstGeom prst="rect">
            <a:avLst/>
          </a:prstGeom>
          <a:noFill/>
        </p:spPr>
        <p:txBody>
          <a:bodyPr wrap="square">
            <a:spAutoFit/>
          </a:bodyPr>
          <a:lstStyle/>
          <a:p>
            <a:pPr algn="l"/>
            <a:r>
              <a:rPr sz="2600" b="1">
                <a:solidFill>
                  <a:srgbClr val="F8C806"/>
                </a:solidFill>
                <a:latin typeface="Georgia"/>
              </a:rPr>
              <a:t>50</a:t>
            </a:r>
          </a:p>
        </p:txBody>
      </p:sp>
      <p:sp>
        <p:nvSpPr>
          <p:cNvPr id="27" name="TextBox 26"/>
          <p:cNvSpPr txBox="1"/>
          <p:nvPr/>
        </p:nvSpPr>
        <p:spPr>
          <a:xfrm>
            <a:off x="7040879" y="2304288"/>
            <a:ext cx="1956815" cy="502920"/>
          </a:xfrm>
          <a:prstGeom prst="rect">
            <a:avLst/>
          </a:prstGeom>
          <a:noFill/>
        </p:spPr>
        <p:txBody>
          <a:bodyPr wrap="square">
            <a:spAutoFit/>
          </a:bodyPr>
          <a:lstStyle/>
          <a:p>
            <a:r>
              <a:rPr sz="1000">
                <a:solidFill>
                  <a:srgbClr val="FFFFFF"/>
                </a:solidFill>
                <a:latin typeface="Calibri"/>
              </a:rPr>
              <a:t>National</a:t>
            </a:r>
          </a:p>
          <a:p>
            <a:r>
              <a:rPr sz="1000">
                <a:solidFill>
                  <a:srgbClr val="FFFFFF"/>
                </a:solidFill>
                <a:latin typeface="Calibri"/>
              </a:rPr>
              <a:t>Employees</a:t>
            </a:r>
          </a:p>
        </p:txBody>
      </p:sp>
      <p:sp>
        <p:nvSpPr>
          <p:cNvPr id="28" name="TextBox 27"/>
          <p:cNvSpPr txBox="1"/>
          <p:nvPr/>
        </p:nvSpPr>
        <p:spPr>
          <a:xfrm>
            <a:off x="7040879" y="2862072"/>
            <a:ext cx="1956815" cy="201168"/>
          </a:xfrm>
          <a:prstGeom prst="rect">
            <a:avLst/>
          </a:prstGeom>
          <a:noFill/>
        </p:spPr>
        <p:txBody>
          <a:bodyPr wrap="square">
            <a:spAutoFit/>
          </a:bodyPr>
          <a:lstStyle/>
          <a:p>
            <a:pPr algn="l"/>
            <a:r>
              <a:rPr sz="750" b="0">
                <a:solidFill>
                  <a:srgbClr val="01A296"/>
                </a:solidFill>
                <a:latin typeface="Calibri"/>
              </a:rPr>
              <a:t>SmartCompany Smart50 2025</a:t>
            </a:r>
          </a:p>
        </p:txBody>
      </p:sp>
      <p:sp>
        <p:nvSpPr>
          <p:cNvPr id="29" name="Rectangle 28"/>
          <p:cNvSpPr/>
          <p:nvPr/>
        </p:nvSpPr>
        <p:spPr>
          <a:xfrm>
            <a:off x="9189719" y="1709928"/>
            <a:ext cx="2139696" cy="14356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89719" y="1709928"/>
            <a:ext cx="2139696" cy="54864"/>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81159" y="1801368"/>
            <a:ext cx="1956815" cy="502920"/>
          </a:xfrm>
          <a:prstGeom prst="rect">
            <a:avLst/>
          </a:prstGeom>
          <a:noFill/>
        </p:spPr>
        <p:txBody>
          <a:bodyPr wrap="square">
            <a:spAutoFit/>
          </a:bodyPr>
          <a:lstStyle/>
          <a:p>
            <a:pPr algn="l"/>
            <a:r>
              <a:rPr sz="2600" b="1">
                <a:solidFill>
                  <a:srgbClr val="F8C806"/>
                </a:solidFill>
                <a:latin typeface="Georgia"/>
              </a:rPr>
              <a:t>4</a:t>
            </a:r>
          </a:p>
        </p:txBody>
      </p:sp>
      <p:sp>
        <p:nvSpPr>
          <p:cNvPr id="32" name="TextBox 31"/>
          <p:cNvSpPr txBox="1"/>
          <p:nvPr/>
        </p:nvSpPr>
        <p:spPr>
          <a:xfrm>
            <a:off x="9281159" y="2304288"/>
            <a:ext cx="1956815" cy="502920"/>
          </a:xfrm>
          <a:prstGeom prst="rect">
            <a:avLst/>
          </a:prstGeom>
          <a:noFill/>
        </p:spPr>
        <p:txBody>
          <a:bodyPr wrap="square">
            <a:spAutoFit/>
          </a:bodyPr>
          <a:lstStyle/>
          <a:p>
            <a:r>
              <a:rPr sz="1000">
                <a:solidFill>
                  <a:srgbClr val="FFFFFF"/>
                </a:solidFill>
                <a:latin typeface="Calibri"/>
              </a:rPr>
              <a:t>National</a:t>
            </a:r>
          </a:p>
          <a:p>
            <a:r>
              <a:rPr sz="1000">
                <a:solidFill>
                  <a:srgbClr val="FFFFFF"/>
                </a:solidFill>
                <a:latin typeface="Calibri"/>
              </a:rPr>
              <a:t>Offices</a:t>
            </a:r>
          </a:p>
        </p:txBody>
      </p:sp>
      <p:sp>
        <p:nvSpPr>
          <p:cNvPr id="33" name="TextBox 32"/>
          <p:cNvSpPr txBox="1"/>
          <p:nvPr/>
        </p:nvSpPr>
        <p:spPr>
          <a:xfrm>
            <a:off x="9281159" y="2862072"/>
            <a:ext cx="1956815" cy="201168"/>
          </a:xfrm>
          <a:prstGeom prst="rect">
            <a:avLst/>
          </a:prstGeom>
          <a:noFill/>
        </p:spPr>
        <p:txBody>
          <a:bodyPr wrap="square">
            <a:spAutoFit/>
          </a:bodyPr>
          <a:lstStyle/>
          <a:p>
            <a:pPr algn="l"/>
            <a:r>
              <a:rPr sz="750" b="0">
                <a:solidFill>
                  <a:srgbClr val="01A296"/>
                </a:solidFill>
                <a:latin typeface="Calibri"/>
              </a:rPr>
              <a:t>icatalyst.com.au, 2025</a:t>
            </a:r>
          </a:p>
        </p:txBody>
      </p:sp>
      <p:graphicFrame>
        <p:nvGraphicFramePr>
          <p:cNvPr id="34" name="Chart 33"/>
          <p:cNvGraphicFramePr>
            <a:graphicFrameLocks noGrp="1"/>
          </p:cNvGraphicFramePr>
          <p:nvPr/>
        </p:nvGraphicFramePr>
        <p:xfrm>
          <a:off x="6629400" y="3246120"/>
          <a:ext cx="5349240" cy="2971800"/>
        </p:xfrm>
        <a:graphic>
          <a:graphicData uri="http://schemas.openxmlformats.org/drawingml/2006/chart">
            <c:chart xmlns:c="http://schemas.openxmlformats.org/drawingml/2006/chart" r:id="rId2"/>
          </a:graphicData>
        </a:graphic>
      </p:graphicFrame>
      <p:sp>
        <p:nvSpPr>
          <p:cNvPr id="35" name="TextBox 34"/>
          <p:cNvSpPr txBox="1"/>
          <p:nvPr/>
        </p:nvSpPr>
        <p:spPr>
          <a:xfrm>
            <a:off x="228600" y="3246120"/>
            <a:ext cx="6263640" cy="228600"/>
          </a:xfrm>
          <a:prstGeom prst="rect">
            <a:avLst/>
          </a:prstGeom>
          <a:noFill/>
        </p:spPr>
        <p:txBody>
          <a:bodyPr wrap="square">
            <a:spAutoFit/>
          </a:bodyPr>
          <a:lstStyle/>
          <a:p>
            <a:pPr algn="l"/>
            <a:r>
              <a:rPr sz="1000" b="1">
                <a:solidFill>
                  <a:srgbClr val="01A296"/>
                </a:solidFill>
                <a:latin typeface="Calibri"/>
              </a:rPr>
              <a:t>KEY COMMERCIAL SIGNALS</a:t>
            </a:r>
          </a:p>
        </p:txBody>
      </p:sp>
      <p:sp>
        <p:nvSpPr>
          <p:cNvPr id="36" name="Rectangle 35"/>
          <p:cNvSpPr/>
          <p:nvPr/>
        </p:nvSpPr>
        <p:spPr>
          <a:xfrm>
            <a:off x="228600" y="3566159"/>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6616" y="3520439"/>
            <a:ext cx="6135624" cy="201168"/>
          </a:xfrm>
          <a:prstGeom prst="rect">
            <a:avLst/>
          </a:prstGeom>
          <a:noFill/>
        </p:spPr>
        <p:txBody>
          <a:bodyPr wrap="square">
            <a:spAutoFit/>
          </a:bodyPr>
          <a:lstStyle/>
          <a:p>
            <a:pPr algn="l"/>
            <a:r>
              <a:rPr sz="950" b="1">
                <a:solidFill>
                  <a:srgbClr val="000000"/>
                </a:solidFill>
                <a:latin typeface="Calibri"/>
              </a:rPr>
              <a:t>Acquired Beyond CRM, Brisbane, Jun 2025</a:t>
            </a:r>
          </a:p>
        </p:txBody>
      </p:sp>
      <p:sp>
        <p:nvSpPr>
          <p:cNvPr id="38" name="TextBox 37"/>
          <p:cNvSpPr txBox="1"/>
          <p:nvPr/>
        </p:nvSpPr>
        <p:spPr>
          <a:xfrm>
            <a:off x="356616" y="3721607"/>
            <a:ext cx="6135624" cy="201168"/>
          </a:xfrm>
          <a:prstGeom prst="rect">
            <a:avLst/>
          </a:prstGeom>
          <a:noFill/>
        </p:spPr>
        <p:txBody>
          <a:bodyPr wrap="square">
            <a:spAutoFit/>
          </a:bodyPr>
          <a:lstStyle/>
          <a:p>
            <a:pPr algn="l"/>
            <a:r>
              <a:rPr sz="800" b="0">
                <a:solidFill>
                  <a:srgbClr val="444444"/>
                </a:solidFill>
                <a:latin typeface="Calibri"/>
              </a:rPr>
              <a:t>Dynamics 365 CRM and Power Platform specialist. First acquisition in company history.   (iTWire, Jun 2025)</a:t>
            </a:r>
          </a:p>
        </p:txBody>
      </p:sp>
      <p:sp>
        <p:nvSpPr>
          <p:cNvPr id="39" name="Rectangle 38"/>
          <p:cNvSpPr/>
          <p:nvPr/>
        </p:nvSpPr>
        <p:spPr>
          <a:xfrm>
            <a:off x="228600" y="4014215"/>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6616" y="3968496"/>
            <a:ext cx="6135624" cy="201168"/>
          </a:xfrm>
          <a:prstGeom prst="rect">
            <a:avLst/>
          </a:prstGeom>
          <a:noFill/>
        </p:spPr>
        <p:txBody>
          <a:bodyPr wrap="square">
            <a:spAutoFit/>
          </a:bodyPr>
          <a:lstStyle/>
          <a:p>
            <a:pPr algn="l"/>
            <a:r>
              <a:rPr sz="950" b="1">
                <a:solidFill>
                  <a:srgbClr val="000000"/>
                </a:solidFill>
                <a:latin typeface="Calibri"/>
              </a:rPr>
              <a:t>Average deal size grew from $100,000 to $350,000</a:t>
            </a:r>
          </a:p>
        </p:txBody>
      </p:sp>
      <p:sp>
        <p:nvSpPr>
          <p:cNvPr id="41" name="TextBox 40"/>
          <p:cNvSpPr txBox="1"/>
          <p:nvPr/>
        </p:nvSpPr>
        <p:spPr>
          <a:xfrm>
            <a:off x="356616" y="4169663"/>
            <a:ext cx="6135624" cy="201168"/>
          </a:xfrm>
          <a:prstGeom prst="rect">
            <a:avLst/>
          </a:prstGeom>
          <a:noFill/>
        </p:spPr>
        <p:txBody>
          <a:bodyPr wrap="square">
            <a:spAutoFit/>
          </a:bodyPr>
          <a:lstStyle/>
          <a:p>
            <a:pPr algn="l"/>
            <a:r>
              <a:rPr sz="800" b="0">
                <a:solidFill>
                  <a:srgbClr val="444444"/>
                </a:solidFill>
                <a:latin typeface="Calibri"/>
              </a:rPr>
              <a:t>Confirmed across the firm lifetime to current scale.   (Microsoft Customer Stories case study)</a:t>
            </a:r>
          </a:p>
        </p:txBody>
      </p:sp>
      <p:sp>
        <p:nvSpPr>
          <p:cNvPr id="42" name="Rectangle 41"/>
          <p:cNvSpPr/>
          <p:nvPr/>
        </p:nvSpPr>
        <p:spPr>
          <a:xfrm>
            <a:off x="228600" y="446227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6616" y="4416552"/>
            <a:ext cx="6135624" cy="201168"/>
          </a:xfrm>
          <a:prstGeom prst="rect">
            <a:avLst/>
          </a:prstGeom>
          <a:noFill/>
        </p:spPr>
        <p:txBody>
          <a:bodyPr wrap="square">
            <a:spAutoFit/>
          </a:bodyPr>
          <a:lstStyle/>
          <a:p>
            <a:pPr algn="l"/>
            <a:r>
              <a:rPr sz="950" b="1">
                <a:solidFill>
                  <a:srgbClr val="000000"/>
                </a:solidFill>
                <a:latin typeface="Calibri"/>
              </a:rPr>
              <a:t>Over 70% of revenue is time-based billable work</a:t>
            </a:r>
          </a:p>
        </p:txBody>
      </p:sp>
      <p:sp>
        <p:nvSpPr>
          <p:cNvPr id="44" name="TextBox 43"/>
          <p:cNvSpPr txBox="1"/>
          <p:nvPr/>
        </p:nvSpPr>
        <p:spPr>
          <a:xfrm>
            <a:off x="356616" y="4617720"/>
            <a:ext cx="6135624" cy="201168"/>
          </a:xfrm>
          <a:prstGeom prst="rect">
            <a:avLst/>
          </a:prstGeom>
          <a:noFill/>
        </p:spPr>
        <p:txBody>
          <a:bodyPr wrap="square">
            <a:spAutoFit/>
          </a:bodyPr>
          <a:lstStyle/>
          <a:p>
            <a:pPr algn="l"/>
            <a:r>
              <a:rPr sz="800" b="0">
                <a:solidFill>
                  <a:srgbClr val="444444"/>
                </a:solidFill>
                <a:latin typeface="Calibri"/>
              </a:rPr>
              <a:t>Core utilisation dependency confirmed in published Microsoft case study.   (Microsoft Customer Stories)</a:t>
            </a:r>
          </a:p>
        </p:txBody>
      </p:sp>
      <p:sp>
        <p:nvSpPr>
          <p:cNvPr id="45" name="Rectangle 44"/>
          <p:cNvSpPr/>
          <p:nvPr/>
        </p:nvSpPr>
        <p:spPr>
          <a:xfrm>
            <a:off x="228600" y="4910328"/>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6616" y="4864608"/>
            <a:ext cx="6135624" cy="201168"/>
          </a:xfrm>
          <a:prstGeom prst="rect">
            <a:avLst/>
          </a:prstGeom>
          <a:noFill/>
        </p:spPr>
        <p:txBody>
          <a:bodyPr wrap="square">
            <a:spAutoFit/>
          </a:bodyPr>
          <a:lstStyle/>
          <a:p>
            <a:pPr algn="l"/>
            <a:r>
              <a:rPr sz="950" b="1">
                <a:solidFill>
                  <a:srgbClr val="000000"/>
                </a:solidFill>
                <a:latin typeface="Calibri"/>
              </a:rPr>
              <a:t>Smart50 rank 4 in 2024 at $9.5M and 162% growth</a:t>
            </a:r>
          </a:p>
        </p:txBody>
      </p:sp>
      <p:sp>
        <p:nvSpPr>
          <p:cNvPr id="47" name="TextBox 46"/>
          <p:cNvSpPr txBox="1"/>
          <p:nvPr/>
        </p:nvSpPr>
        <p:spPr>
          <a:xfrm>
            <a:off x="356616" y="5065776"/>
            <a:ext cx="6135624" cy="201168"/>
          </a:xfrm>
          <a:prstGeom prst="rect">
            <a:avLst/>
          </a:prstGeom>
          <a:noFill/>
        </p:spPr>
        <p:txBody>
          <a:bodyPr wrap="square">
            <a:spAutoFit/>
          </a:bodyPr>
          <a:lstStyle/>
          <a:p>
            <a:pPr algn="l"/>
            <a:r>
              <a:rPr sz="800" b="0">
                <a:solidFill>
                  <a:srgbClr val="444444"/>
                </a:solidFill>
                <a:latin typeface="Calibri"/>
              </a:rPr>
              <a:t>Three consecutive Smart50 appearances: rank 40 in 2023, rank 4 in 2024, rank 16 in 2025.   (SmartCompany)</a:t>
            </a:r>
          </a:p>
        </p:txBody>
      </p:sp>
      <p:sp>
        <p:nvSpPr>
          <p:cNvPr id="48" name="Rectangle 47"/>
          <p:cNvSpPr/>
          <p:nvPr/>
        </p:nvSpPr>
        <p:spPr>
          <a:xfrm>
            <a:off x="228600" y="5358384"/>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6616" y="5312664"/>
            <a:ext cx="6135624" cy="201168"/>
          </a:xfrm>
          <a:prstGeom prst="rect">
            <a:avLst/>
          </a:prstGeom>
          <a:noFill/>
        </p:spPr>
        <p:txBody>
          <a:bodyPr wrap="square">
            <a:spAutoFit/>
          </a:bodyPr>
          <a:lstStyle/>
          <a:p>
            <a:pPr algn="l"/>
            <a:r>
              <a:rPr sz="950" b="1">
                <a:solidFill>
                  <a:srgbClr val="000000"/>
                </a:solidFill>
                <a:latin typeface="Calibri"/>
              </a:rPr>
              <a:t>WA Business Awards 2025 Finalist, Medium-sized Business</a:t>
            </a:r>
          </a:p>
        </p:txBody>
      </p:sp>
      <p:sp>
        <p:nvSpPr>
          <p:cNvPr id="50" name="TextBox 49"/>
          <p:cNvSpPr txBox="1"/>
          <p:nvPr/>
        </p:nvSpPr>
        <p:spPr>
          <a:xfrm>
            <a:off x="356616" y="5513832"/>
            <a:ext cx="6135624" cy="201168"/>
          </a:xfrm>
          <a:prstGeom prst="rect">
            <a:avLst/>
          </a:prstGeom>
          <a:noFill/>
        </p:spPr>
        <p:txBody>
          <a:bodyPr wrap="square">
            <a:spAutoFit/>
          </a:bodyPr>
          <a:lstStyle/>
          <a:p>
            <a:pPr algn="l"/>
            <a:r>
              <a:rPr sz="800" b="0">
                <a:solidFill>
                  <a:srgbClr val="444444"/>
                </a:solidFill>
                <a:latin typeface="Calibri"/>
              </a:rPr>
              <a:t>State-level recognition as a leading WA medium business.   (WA Business Awards 2025)</a:t>
            </a:r>
          </a:p>
        </p:txBody>
      </p:sp>
      <p:sp>
        <p:nvSpPr>
          <p:cNvPr id="51" name="Rectangle 50"/>
          <p:cNvSpPr/>
          <p:nvPr/>
        </p:nvSpPr>
        <p:spPr>
          <a:xfrm>
            <a:off x="228600" y="5806440"/>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56616" y="5760720"/>
            <a:ext cx="6135624" cy="201168"/>
          </a:xfrm>
          <a:prstGeom prst="rect">
            <a:avLst/>
          </a:prstGeom>
          <a:noFill/>
        </p:spPr>
        <p:txBody>
          <a:bodyPr wrap="square">
            <a:spAutoFit/>
          </a:bodyPr>
          <a:lstStyle/>
          <a:p>
            <a:pPr algn="l"/>
            <a:r>
              <a:rPr sz="950" b="1">
                <a:solidFill>
                  <a:srgbClr val="000000"/>
                </a:solidFill>
                <a:latin typeface="Calibri"/>
              </a:rPr>
              <a:t>FY2026 plan: east coast hiring and proprietary IP release</a:t>
            </a:r>
          </a:p>
        </p:txBody>
      </p:sp>
      <p:sp>
        <p:nvSpPr>
          <p:cNvPr id="53" name="TextBox 52"/>
          <p:cNvSpPr txBox="1"/>
          <p:nvPr/>
        </p:nvSpPr>
        <p:spPr>
          <a:xfrm>
            <a:off x="356616" y="5961888"/>
            <a:ext cx="6135624" cy="201168"/>
          </a:xfrm>
          <a:prstGeom prst="rect">
            <a:avLst/>
          </a:prstGeom>
          <a:noFill/>
        </p:spPr>
        <p:txBody>
          <a:bodyPr wrap="square">
            <a:spAutoFit/>
          </a:bodyPr>
          <a:lstStyle/>
          <a:p>
            <a:pPr algn="l"/>
            <a:r>
              <a:rPr sz="800" b="0">
                <a:solidFill>
                  <a:srgbClr val="444444"/>
                </a:solidFill>
                <a:latin typeface="Calibri"/>
              </a:rPr>
              <a:t>Targeting senior Dynamics hires and new IP across Melbourne, Sydney, Brisbane.   (SmartCompany Smart50 2025 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7772400" cy="493776"/>
          </a:xfrm>
          <a:prstGeom prst="rect">
            <a:avLst/>
          </a:prstGeom>
          <a:noFill/>
        </p:spPr>
        <p:txBody>
          <a:bodyPr wrap="square">
            <a:spAutoFit/>
          </a:bodyPr>
          <a:lstStyle/>
          <a:p>
            <a:pPr algn="l"/>
            <a:r>
              <a:rPr sz="1100" b="1">
                <a:solidFill>
                  <a:srgbClr val="E6E5DE"/>
                </a:solidFill>
                <a:latin typeface="Calibri"/>
              </a:rPr>
              <a:t>THE OPPORTUNITY</a:t>
            </a:r>
          </a:p>
        </p:txBody>
      </p:sp>
      <p:sp>
        <p:nvSpPr>
          <p:cNvPr id="5" name="TextBox 4"/>
          <p:cNvSpPr txBox="1"/>
          <p:nvPr/>
        </p:nvSpPr>
        <p:spPr>
          <a:xfrm>
            <a:off x="8503920" y="164592"/>
            <a:ext cx="3474720" cy="493776"/>
          </a:xfrm>
          <a:prstGeom prst="rect">
            <a:avLst/>
          </a:prstGeom>
          <a:noFill/>
        </p:spPr>
        <p:txBody>
          <a:bodyPr wrap="square">
            <a:spAutoFit/>
          </a:bodyPr>
          <a:lstStyle/>
          <a:p>
            <a:pPr algn="r"/>
            <a:r>
              <a:rPr sz="1100" b="1">
                <a:solidFill>
                  <a:srgbClr val="E6E5DE"/>
                </a:solidFill>
                <a:latin typeface="Calibri"/>
              </a:rPr>
              <a:t>PROFITPULSE</a:t>
            </a:r>
          </a:p>
        </p:txBody>
      </p:sp>
      <p:sp>
        <p:nvSpPr>
          <p:cNvPr id="6" name="TextBox 5"/>
          <p:cNvSpPr txBox="1"/>
          <p:nvPr/>
        </p:nvSpPr>
        <p:spPr>
          <a:xfrm>
            <a:off x="201168" y="6537960"/>
            <a:ext cx="11795760" cy="246888"/>
          </a:xfrm>
          <a:prstGeom prst="rect">
            <a:avLst/>
          </a:prstGeom>
          <a:noFill/>
        </p:spPr>
        <p:txBody>
          <a:bodyPr wrap="square">
            <a:spAutoFit/>
          </a:bodyPr>
          <a:lstStyle/>
          <a:p>
            <a:pPr algn="l"/>
            <a:r>
              <a:rPr sz="750" b="0">
                <a:solidFill>
                  <a:srgbClr val="888888"/>
                </a:solidFill>
                <a:latin typeface="Calibri"/>
              </a:rPr>
              <a:t>Prepared by Nitesh Roopa CA, Managing Partner and Founder, ProfitPulse, Profit-Pulse.com.au  |  26 Jun 2026</a:t>
            </a:r>
          </a:p>
        </p:txBody>
      </p:sp>
      <p:sp>
        <p:nvSpPr>
          <p:cNvPr id="7" name="TextBox 6"/>
          <p:cNvSpPr txBox="1"/>
          <p:nvPr/>
        </p:nvSpPr>
        <p:spPr>
          <a:xfrm>
            <a:off x="228600" y="886968"/>
            <a:ext cx="11795760" cy="320040"/>
          </a:xfrm>
          <a:prstGeom prst="rect">
            <a:avLst/>
          </a:prstGeom>
          <a:noFill/>
        </p:spPr>
        <p:txBody>
          <a:bodyPr wrap="square">
            <a:spAutoFit/>
          </a:bodyPr>
          <a:lstStyle/>
          <a:p>
            <a:pPr algn="l"/>
            <a:r>
              <a:rPr sz="1300" b="0">
                <a:solidFill>
                  <a:srgbClr val="000000"/>
                </a:solidFill>
                <a:latin typeface="Georgia"/>
              </a:rPr>
              <a:t>iCatalyst  |  Three commercial observations from ProfitPulse</a:t>
            </a:r>
          </a:p>
        </p:txBody>
      </p:sp>
      <p:sp>
        <p:nvSpPr>
          <p:cNvPr id="8" name="Rectangle 7"/>
          <p:cNvSpPr/>
          <p:nvPr/>
        </p:nvSpPr>
        <p:spPr>
          <a:xfrm>
            <a:off x="228600" y="1280160"/>
            <a:ext cx="3822191" cy="482803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426463"/>
            <a:ext cx="3547872" cy="475488"/>
          </a:xfrm>
          <a:prstGeom prst="rect">
            <a:avLst/>
          </a:prstGeom>
          <a:noFill/>
        </p:spPr>
        <p:txBody>
          <a:bodyPr wrap="square">
            <a:spAutoFit/>
          </a:bodyPr>
          <a:lstStyle/>
          <a:p>
            <a:pPr algn="l"/>
            <a:r>
              <a:rPr sz="2800" b="1">
                <a:solidFill>
                  <a:srgbClr val="F8C806"/>
                </a:solidFill>
                <a:latin typeface="Georgia"/>
              </a:rPr>
              <a:t>01</a:t>
            </a:r>
          </a:p>
        </p:txBody>
      </p:sp>
      <p:sp>
        <p:nvSpPr>
          <p:cNvPr id="10" name="TextBox 9"/>
          <p:cNvSpPr txBox="1"/>
          <p:nvPr/>
        </p:nvSpPr>
        <p:spPr>
          <a:xfrm>
            <a:off x="384048" y="1901952"/>
            <a:ext cx="3547872" cy="502920"/>
          </a:xfrm>
          <a:prstGeom prst="rect">
            <a:avLst/>
          </a:prstGeom>
          <a:noFill/>
        </p:spPr>
        <p:txBody>
          <a:bodyPr wrap="square">
            <a:spAutoFit/>
          </a:bodyPr>
          <a:lstStyle/>
          <a:p>
            <a:pPr algn="l"/>
            <a:r>
              <a:rPr sz="1150" b="1">
                <a:solidFill>
                  <a:srgbClr val="000000"/>
                </a:solidFill>
                <a:latin typeface="Georgia"/>
              </a:rPr>
              <a:t>Consultant capacity is the ceiling on growth</a:t>
            </a:r>
          </a:p>
        </p:txBody>
      </p:sp>
      <p:sp>
        <p:nvSpPr>
          <p:cNvPr id="11" name="TextBox 10"/>
          <p:cNvSpPr txBox="1"/>
          <p:nvPr/>
        </p:nvSpPr>
        <p:spPr>
          <a:xfrm>
            <a:off x="384048" y="2459736"/>
            <a:ext cx="3547872" cy="3493008"/>
          </a:xfrm>
          <a:prstGeom prst="rect">
            <a:avLst/>
          </a:prstGeom>
          <a:noFill/>
        </p:spPr>
        <p:txBody>
          <a:bodyPr wrap="square">
            <a:spAutoFit/>
          </a:bodyPr>
          <a:lstStyle/>
          <a:p>
            <a:r>
              <a:rPr sz="950">
                <a:solidFill>
                  <a:srgbClr val="000000"/>
                </a:solidFill>
                <a:latin typeface="Calibri"/>
              </a:rPr>
              <a:t>iCatalyst generates over 70% of its $13.5M in revenue from time-billed work, confirmed in the published Microsoft case study. With 50 consultants now spread across Perth, Melbourne, Sydney, and Brisbane, the business's ability to grow profitably is tied directly to how well that capacity is deployed. Without a mapped baseline of billable mix and revenue per full time employee by office, the founders cannot know whether the next east coast hire adds margin or dilutes it. Mapping utilisation now is the prerequisite for every significant hiring decision in FY2026.</a:t>
            </a:r>
          </a:p>
        </p:txBody>
      </p:sp>
      <p:sp>
        <p:nvSpPr>
          <p:cNvPr id="12" name="Rectangle 11"/>
          <p:cNvSpPr/>
          <p:nvPr/>
        </p:nvSpPr>
        <p:spPr>
          <a:xfrm>
            <a:off x="4139488" y="1280160"/>
            <a:ext cx="3822191" cy="482803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4936" y="1426463"/>
            <a:ext cx="3547872" cy="475488"/>
          </a:xfrm>
          <a:prstGeom prst="rect">
            <a:avLst/>
          </a:prstGeom>
          <a:noFill/>
        </p:spPr>
        <p:txBody>
          <a:bodyPr wrap="square">
            <a:spAutoFit/>
          </a:bodyPr>
          <a:lstStyle/>
          <a:p>
            <a:pPr algn="l"/>
            <a:r>
              <a:rPr sz="2800" b="1">
                <a:solidFill>
                  <a:srgbClr val="F8C806"/>
                </a:solidFill>
                <a:latin typeface="Georgia"/>
              </a:rPr>
              <a:t>02</a:t>
            </a:r>
          </a:p>
        </p:txBody>
      </p:sp>
      <p:sp>
        <p:nvSpPr>
          <p:cNvPr id="14" name="TextBox 13"/>
          <p:cNvSpPr txBox="1"/>
          <p:nvPr/>
        </p:nvSpPr>
        <p:spPr>
          <a:xfrm>
            <a:off x="4294936" y="1901952"/>
            <a:ext cx="3547872" cy="502920"/>
          </a:xfrm>
          <a:prstGeom prst="rect">
            <a:avLst/>
          </a:prstGeom>
          <a:noFill/>
        </p:spPr>
        <p:txBody>
          <a:bodyPr wrap="square">
            <a:spAutoFit/>
          </a:bodyPr>
          <a:lstStyle/>
          <a:p>
            <a:pPr algn="l"/>
            <a:r>
              <a:rPr sz="1150" b="1">
                <a:solidFill>
                  <a:srgbClr val="FFFFFF"/>
                </a:solidFill>
                <a:latin typeface="Georgia"/>
              </a:rPr>
              <a:t>Five service lines with no published profitability ranking</a:t>
            </a:r>
          </a:p>
        </p:txBody>
      </p:sp>
      <p:sp>
        <p:nvSpPr>
          <p:cNvPr id="15" name="TextBox 14"/>
          <p:cNvSpPr txBox="1"/>
          <p:nvPr/>
        </p:nvSpPr>
        <p:spPr>
          <a:xfrm>
            <a:off x="4294936" y="2459736"/>
            <a:ext cx="3547872" cy="3493008"/>
          </a:xfrm>
          <a:prstGeom prst="rect">
            <a:avLst/>
          </a:prstGeom>
          <a:noFill/>
        </p:spPr>
        <p:txBody>
          <a:bodyPr wrap="square">
            <a:spAutoFit/>
          </a:bodyPr>
          <a:lstStyle/>
          <a:p>
            <a:r>
              <a:rPr sz="950">
                <a:solidFill>
                  <a:srgbClr val="FFFFFF"/>
                </a:solidFill>
                <a:latin typeface="Calibri"/>
              </a:rPr>
              <a:t>iCatalyst operates across Dynamics 365 Business Central, Finance and Supply Chain, CRM, Power Platform, and AI Copilot deployments. Each carries a different margin profile, delivery cycle, and renewal rate. Following the Beyond CRM acquisition the CRM practice has grown materially. Without a service line profitability map, the team is scaling the whole portfolio at the same rate, including any lines that consume capacity without returning proportional margin. A three-week product and service line profitability engagement would rank every practice by contribution and give the founders a clear decision framework for east coast delivery prioritisation.</a:t>
            </a:r>
          </a:p>
        </p:txBody>
      </p:sp>
      <p:sp>
        <p:nvSpPr>
          <p:cNvPr id="16" name="Rectangle 15"/>
          <p:cNvSpPr/>
          <p:nvPr/>
        </p:nvSpPr>
        <p:spPr>
          <a:xfrm>
            <a:off x="8050377" y="1280160"/>
            <a:ext cx="3822191" cy="4828032"/>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5825" y="1426463"/>
            <a:ext cx="3547872" cy="475488"/>
          </a:xfrm>
          <a:prstGeom prst="rect">
            <a:avLst/>
          </a:prstGeom>
          <a:noFill/>
        </p:spPr>
        <p:txBody>
          <a:bodyPr wrap="square">
            <a:spAutoFit/>
          </a:bodyPr>
          <a:lstStyle/>
          <a:p>
            <a:pPr algn="l"/>
            <a:r>
              <a:rPr sz="2800" b="1">
                <a:solidFill>
                  <a:srgbClr val="000000"/>
                </a:solidFill>
                <a:latin typeface="Georgia"/>
              </a:rPr>
              <a:t>03</a:t>
            </a:r>
          </a:p>
        </p:txBody>
      </p:sp>
      <p:sp>
        <p:nvSpPr>
          <p:cNvPr id="18" name="TextBox 17"/>
          <p:cNvSpPr txBox="1"/>
          <p:nvPr/>
        </p:nvSpPr>
        <p:spPr>
          <a:xfrm>
            <a:off x="8205825" y="1901952"/>
            <a:ext cx="3547872" cy="502920"/>
          </a:xfrm>
          <a:prstGeom prst="rect">
            <a:avLst/>
          </a:prstGeom>
          <a:noFill/>
        </p:spPr>
        <p:txBody>
          <a:bodyPr wrap="square">
            <a:spAutoFit/>
          </a:bodyPr>
          <a:lstStyle/>
          <a:p>
            <a:pPr algn="l"/>
            <a:r>
              <a:rPr sz="1150" b="1">
                <a:solidFill>
                  <a:srgbClr val="000000"/>
                </a:solidFill>
                <a:latin typeface="Georgia"/>
              </a:rPr>
              <a:t>The acquisition adds team before a utilisation baseline exists</a:t>
            </a:r>
          </a:p>
        </p:txBody>
      </p:sp>
      <p:sp>
        <p:nvSpPr>
          <p:cNvPr id="19" name="TextBox 18"/>
          <p:cNvSpPr txBox="1"/>
          <p:nvPr/>
        </p:nvSpPr>
        <p:spPr>
          <a:xfrm>
            <a:off x="8205825" y="2459736"/>
            <a:ext cx="3547872" cy="3493008"/>
          </a:xfrm>
          <a:prstGeom prst="rect">
            <a:avLst/>
          </a:prstGeom>
          <a:noFill/>
        </p:spPr>
        <p:txBody>
          <a:bodyPr wrap="square">
            <a:spAutoFit/>
          </a:bodyPr>
          <a:lstStyle/>
          <a:p>
            <a:r>
              <a:rPr sz="950">
                <a:solidFill>
                  <a:srgbClr val="000000"/>
                </a:solidFill>
                <a:latin typeface="Calibri"/>
              </a:rPr>
              <a:t>The June 2025 acquisition of Beyond CRM brought an established Brisbane team with specialist Dynamics 365 CRM IP. That is a sound strategic move. The financial risk is timing: a new team joining a 50-person national consultancy before the founders have visibility over existing utilisation means the integration margin is harder to measure and defend. A Workforce Capacity and Utilisation Review completed in the first 60 days post-acquisition would set the baseline, identify any underutilised capacity in the combined team, and give the founders a single view of billable hours and revenue per head across five cities rather than two cultures stitched together.</a:t>
            </a:r>
          </a:p>
        </p:txBody>
      </p:sp>
      <p:sp>
        <p:nvSpPr>
          <p:cNvPr id="20" name="TextBox 19"/>
          <p:cNvSpPr txBox="1"/>
          <p:nvPr/>
        </p:nvSpPr>
        <p:spPr>
          <a:xfrm>
            <a:off x="228600" y="6181344"/>
            <a:ext cx="11795760" cy="256032"/>
          </a:xfrm>
          <a:prstGeom prst="rect">
            <a:avLst/>
          </a:prstGeom>
          <a:noFill/>
        </p:spPr>
        <p:txBody>
          <a:bodyPr wrap="square">
            <a:spAutoFit/>
          </a:bodyPr>
          <a:lstStyle/>
          <a:p>
            <a:pPr algn="ctr"/>
            <a:r>
              <a:rPr sz="900" b="0">
                <a:solidFill>
                  <a:srgbClr val="444444"/>
                </a:solidFill>
                <a:latin typeface="Calibri"/>
              </a:rPr>
              <a:t>These are observations offered in good faith. iCatalyst has built something genuinely impressive. The question is simply whether the financial architecture matches the national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164592"/>
            <a:ext cx="7772400" cy="493776"/>
          </a:xfrm>
          <a:prstGeom prst="rect">
            <a:avLst/>
          </a:prstGeom>
          <a:noFill/>
        </p:spPr>
        <p:txBody>
          <a:bodyPr wrap="square">
            <a:spAutoFit/>
          </a:bodyPr>
          <a:lstStyle/>
          <a:p>
            <a:pPr algn="l"/>
            <a:r>
              <a:rPr sz="1100" b="1">
                <a:solidFill>
                  <a:srgbClr val="E6E5DE"/>
                </a:solidFill>
                <a:latin typeface="Calibri"/>
              </a:rPr>
              <a:t>THE RECOMMENDATION</a:t>
            </a:r>
          </a:p>
        </p:txBody>
      </p:sp>
      <p:sp>
        <p:nvSpPr>
          <p:cNvPr id="5" name="TextBox 4"/>
          <p:cNvSpPr txBox="1"/>
          <p:nvPr/>
        </p:nvSpPr>
        <p:spPr>
          <a:xfrm>
            <a:off x="8503920" y="164592"/>
            <a:ext cx="3474720" cy="493776"/>
          </a:xfrm>
          <a:prstGeom prst="rect">
            <a:avLst/>
          </a:prstGeom>
          <a:noFill/>
        </p:spPr>
        <p:txBody>
          <a:bodyPr wrap="square">
            <a:spAutoFit/>
          </a:bodyPr>
          <a:lstStyle/>
          <a:p>
            <a:pPr algn="r"/>
            <a:r>
              <a:rPr sz="1100" b="1">
                <a:solidFill>
                  <a:srgbClr val="E6E5DE"/>
                </a:solidFill>
                <a:latin typeface="Calibri"/>
              </a:rPr>
              <a:t>PROFITPULSE</a:t>
            </a:r>
          </a:p>
        </p:txBody>
      </p:sp>
      <p:sp>
        <p:nvSpPr>
          <p:cNvPr id="6" name="TextBox 5"/>
          <p:cNvSpPr txBox="1"/>
          <p:nvPr/>
        </p:nvSpPr>
        <p:spPr>
          <a:xfrm>
            <a:off x="201168" y="6537960"/>
            <a:ext cx="11795760" cy="246888"/>
          </a:xfrm>
          <a:prstGeom prst="rect">
            <a:avLst/>
          </a:prstGeom>
          <a:noFill/>
        </p:spPr>
        <p:txBody>
          <a:bodyPr wrap="square">
            <a:spAutoFit/>
          </a:bodyPr>
          <a:lstStyle/>
          <a:p>
            <a:pPr algn="l"/>
            <a:r>
              <a:rPr sz="750" b="0">
                <a:solidFill>
                  <a:srgbClr val="888888"/>
                </a:solidFill>
                <a:latin typeface="Calibri"/>
              </a:rPr>
              <a:t>Prepared by Nitesh Roopa CA, Managing Partner and Founder, ProfitPulse, Profit-Pulse.com.au  |  26 Jun 2026</a:t>
            </a:r>
          </a:p>
        </p:txBody>
      </p:sp>
      <p:sp>
        <p:nvSpPr>
          <p:cNvPr id="7" name="TextBox 6"/>
          <p:cNvSpPr txBox="1"/>
          <p:nvPr/>
        </p:nvSpPr>
        <p:spPr>
          <a:xfrm>
            <a:off x="228600" y="886968"/>
            <a:ext cx="6492240" cy="457200"/>
          </a:xfrm>
          <a:prstGeom prst="rect">
            <a:avLst/>
          </a:prstGeom>
          <a:noFill/>
        </p:spPr>
        <p:txBody>
          <a:bodyPr wrap="square">
            <a:spAutoFit/>
          </a:bodyPr>
          <a:lstStyle/>
          <a:p>
            <a:pPr algn="l"/>
            <a:r>
              <a:rPr sz="1700" b="1">
                <a:solidFill>
                  <a:srgbClr val="01A296"/>
                </a:solidFill>
                <a:latin typeface="Georgia"/>
              </a:rPr>
              <a:t>Workforce Capacity and Utilisation Review</a:t>
            </a:r>
          </a:p>
        </p:txBody>
      </p:sp>
      <p:sp>
        <p:nvSpPr>
          <p:cNvPr id="8" name="TextBox 7"/>
          <p:cNvSpPr txBox="1"/>
          <p:nvPr/>
        </p:nvSpPr>
        <p:spPr>
          <a:xfrm>
            <a:off x="228600" y="1362456"/>
            <a:ext cx="6492240" cy="384048"/>
          </a:xfrm>
          <a:prstGeom prst="rect">
            <a:avLst/>
          </a:prstGeom>
          <a:noFill/>
        </p:spPr>
        <p:txBody>
          <a:bodyPr wrap="square">
            <a:spAutoFit/>
          </a:bodyPr>
          <a:lstStyle/>
          <a:p>
            <a:pPr algn="l"/>
            <a:r>
              <a:rPr sz="2200" b="1">
                <a:solidFill>
                  <a:srgbClr val="000000"/>
                </a:solidFill>
                <a:latin typeface="Calibri"/>
              </a:rPr>
              <a:t>$5,000 one off</a:t>
            </a:r>
          </a:p>
        </p:txBody>
      </p:sp>
      <p:sp>
        <p:nvSpPr>
          <p:cNvPr id="9" name="TextBox 8"/>
          <p:cNvSpPr txBox="1"/>
          <p:nvPr/>
        </p:nvSpPr>
        <p:spPr>
          <a:xfrm>
            <a:off x="228600" y="1737360"/>
            <a:ext cx="6492240" cy="201168"/>
          </a:xfrm>
          <a:prstGeom prst="rect">
            <a:avLst/>
          </a:prstGeom>
          <a:noFill/>
        </p:spPr>
        <p:txBody>
          <a:bodyPr wrap="square">
            <a:spAutoFit/>
          </a:bodyPr>
          <a:lstStyle/>
          <a:p>
            <a:pPr algn="l"/>
            <a:r>
              <a:rPr sz="900" b="0">
                <a:solidFill>
                  <a:srgbClr val="666666"/>
                </a:solidFill>
                <a:latin typeface="Calibri"/>
              </a:rPr>
              <a:t>Verified ProfitPulse price. The questionnaire confirms the exact figure for your business.</a:t>
            </a:r>
          </a:p>
        </p:txBody>
      </p:sp>
      <p:sp>
        <p:nvSpPr>
          <p:cNvPr id="10" name="TextBox 9"/>
          <p:cNvSpPr txBox="1"/>
          <p:nvPr/>
        </p:nvSpPr>
        <p:spPr>
          <a:xfrm>
            <a:off x="228600" y="1984248"/>
            <a:ext cx="6492240" cy="749808"/>
          </a:xfrm>
          <a:prstGeom prst="rect">
            <a:avLst/>
          </a:prstGeom>
          <a:noFill/>
        </p:spPr>
        <p:txBody>
          <a:bodyPr wrap="square">
            <a:spAutoFit/>
          </a:bodyPr>
          <a:lstStyle/>
          <a:p>
            <a:r>
              <a:rPr sz="1000">
                <a:solidFill>
                  <a:srgbClr val="000000"/>
                </a:solidFill>
                <a:latin typeface="Calibri"/>
              </a:rPr>
              <a:t>A four week review of how team time and capacity translate into revenue and margin. For a utilisation-based business like iCatalyst, it maps billable mix, revenue per full time employee, and capacity headroom across all offices and service lines. The output is a prioritised recommendation on where to place the next east coast hire and which service lines to scale or rebalance after the Beyond CRM integration.</a:t>
            </a:r>
          </a:p>
        </p:txBody>
      </p:sp>
      <p:sp>
        <p:nvSpPr>
          <p:cNvPr id="11" name="Rectangle 10"/>
          <p:cNvSpPr/>
          <p:nvPr/>
        </p:nvSpPr>
        <p:spPr>
          <a:xfrm>
            <a:off x="228600" y="2807208"/>
            <a:ext cx="6492240" cy="1207008"/>
          </a:xfrm>
          <a:prstGeom prst="rect">
            <a:avLst/>
          </a:prstGeom>
          <a:solidFill>
            <a:srgbClr val="E6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880360"/>
            <a:ext cx="6217920" cy="246888"/>
          </a:xfrm>
          <a:prstGeom prst="rect">
            <a:avLst/>
          </a:prstGeom>
          <a:noFill/>
        </p:spPr>
        <p:txBody>
          <a:bodyPr wrap="square">
            <a:spAutoFit/>
          </a:bodyPr>
          <a:lstStyle/>
          <a:p>
            <a:pPr algn="l"/>
            <a:r>
              <a:rPr sz="1000" b="1">
                <a:solidFill>
                  <a:srgbClr val="01A296"/>
                </a:solidFill>
                <a:latin typeface="Calibri"/>
              </a:rPr>
              <a:t>STEP ONE  |  Answer a few quick questions</a:t>
            </a:r>
          </a:p>
        </p:txBody>
      </p:sp>
      <p:sp>
        <p:nvSpPr>
          <p:cNvPr id="13" name="TextBox 12"/>
          <p:cNvSpPr txBox="1"/>
          <p:nvPr/>
        </p:nvSpPr>
        <p:spPr>
          <a:xfrm>
            <a:off x="384048" y="3118104"/>
            <a:ext cx="6217920" cy="228600"/>
          </a:xfrm>
          <a:prstGeom prst="rect">
            <a:avLst/>
          </a:prstGeom>
          <a:noFill/>
        </p:spPr>
        <p:txBody>
          <a:bodyPr wrap="square">
            <a:spAutoFit/>
          </a:bodyPr>
          <a:lstStyle/>
          <a:p>
            <a:pPr algn="l"/>
            <a:r>
              <a:rPr sz="1000" b="0">
                <a:solidFill>
                  <a:srgbClr val="000000"/>
                </a:solidFill>
                <a:latin typeface="Calibri"/>
              </a:rPr>
              <a:t>See the solutions matched to your size and industry:</a:t>
            </a:r>
          </a:p>
        </p:txBody>
      </p:sp>
      <p:sp>
        <p:nvSpPr>
          <p:cNvPr id="14" name="TextBox 13"/>
          <p:cNvSpPr txBox="1"/>
          <p:nvPr/>
        </p:nvSpPr>
        <p:spPr>
          <a:xfrm>
            <a:off x="384048" y="3337560"/>
            <a:ext cx="6217920" cy="256032"/>
          </a:xfrm>
          <a:prstGeom prst="rect">
            <a:avLst/>
          </a:prstGeom>
          <a:noFill/>
        </p:spPr>
        <p:txBody>
          <a:bodyPr wrap="none">
            <a:spAutoFit/>
          </a:bodyPr>
          <a:lstStyle/>
          <a:p>
            <a:r>
              <a:rPr sz="1000" b="1">
                <a:solidFill>
                  <a:srgbClr val="01A296"/>
                </a:solidFill>
                <a:latin typeface="Calibri"/>
                <a:hlinkClick r:id="rId2"/>
              </a:rPr>
              <a:t>profit-pulse.com.au/full-suite-of-products</a:t>
            </a:r>
          </a:p>
        </p:txBody>
      </p:sp>
      <p:sp>
        <p:nvSpPr>
          <p:cNvPr id="15" name="Rectangle 14"/>
          <p:cNvSpPr/>
          <p:nvPr/>
        </p:nvSpPr>
        <p:spPr>
          <a:xfrm>
            <a:off x="228600" y="4105656"/>
            <a:ext cx="6492240" cy="45720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4197096"/>
            <a:ext cx="6309359" cy="292608"/>
          </a:xfrm>
          <a:prstGeom prst="rect">
            <a:avLst/>
          </a:prstGeom>
          <a:noFill/>
        </p:spPr>
        <p:txBody>
          <a:bodyPr wrap="none">
            <a:spAutoFit/>
          </a:bodyPr>
          <a:lstStyle/>
          <a:p>
            <a:pPr algn="ctr"/>
            <a:r>
              <a:rPr sz="1200" b="1">
                <a:solidFill>
                  <a:srgbClr val="FFFFFF"/>
                </a:solidFill>
                <a:latin typeface="Calibri"/>
                <a:hlinkClick r:id="rId3"/>
              </a:rPr>
              <a:t>Purchase the suggested product now to get started</a:t>
            </a:r>
          </a:p>
        </p:txBody>
      </p:sp>
      <p:sp>
        <p:nvSpPr>
          <p:cNvPr id="17" name="TextBox 16"/>
          <p:cNvSpPr txBox="1"/>
          <p:nvPr/>
        </p:nvSpPr>
        <p:spPr>
          <a:xfrm>
            <a:off x="228600" y="4654296"/>
            <a:ext cx="6492240" cy="256032"/>
          </a:xfrm>
          <a:prstGeom prst="rect">
            <a:avLst/>
          </a:prstGeom>
          <a:noFill/>
        </p:spPr>
        <p:txBody>
          <a:bodyPr wrap="square">
            <a:spAutoFit/>
          </a:bodyPr>
          <a:lstStyle/>
          <a:p>
            <a:r>
              <a:rPr sz="950">
                <a:solidFill>
                  <a:srgbClr val="000000"/>
                </a:solidFill>
                <a:latin typeface="Calibri"/>
              </a:rPr>
              <a:t>Prefer a conversation first?  </a:t>
            </a:r>
            <a:r>
              <a:rPr sz="950" b="1">
                <a:solidFill>
                  <a:srgbClr val="01A296"/>
                </a:solidFill>
                <a:latin typeface="Calibri"/>
                <a:hlinkClick r:id="rId4"/>
              </a:rPr>
              <a:t>Book a complimentary discovery call</a:t>
            </a:r>
          </a:p>
        </p:txBody>
      </p:sp>
      <p:sp>
        <p:nvSpPr>
          <p:cNvPr id="18" name="Rectangle 17"/>
          <p:cNvSpPr/>
          <p:nvPr/>
        </p:nvSpPr>
        <p:spPr>
          <a:xfrm>
            <a:off x="6885432" y="886968"/>
            <a:ext cx="5120640" cy="5486400"/>
          </a:xfrm>
          <a:prstGeom prst="rect">
            <a:avLst/>
          </a:prstGeom>
          <a:solidFill>
            <a:srgbClr val="E6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1042415"/>
            <a:ext cx="4846320" cy="384048"/>
          </a:xfrm>
          <a:prstGeom prst="rect">
            <a:avLst/>
          </a:prstGeom>
          <a:noFill/>
        </p:spPr>
        <p:txBody>
          <a:bodyPr wrap="square">
            <a:spAutoFit/>
          </a:bodyPr>
          <a:lstStyle/>
          <a:p>
            <a:pPr algn="l"/>
            <a:r>
              <a:rPr sz="1700" b="1">
                <a:solidFill>
                  <a:srgbClr val="000000"/>
                </a:solidFill>
                <a:latin typeface="Georgia"/>
              </a:rPr>
              <a:t>Nitesh Roopa</a:t>
            </a:r>
          </a:p>
        </p:txBody>
      </p:sp>
      <p:sp>
        <p:nvSpPr>
          <p:cNvPr id="20" name="TextBox 19"/>
          <p:cNvSpPr txBox="1"/>
          <p:nvPr/>
        </p:nvSpPr>
        <p:spPr>
          <a:xfrm>
            <a:off x="7040880" y="1426464"/>
            <a:ext cx="4846320" cy="256032"/>
          </a:xfrm>
          <a:prstGeom prst="rect">
            <a:avLst/>
          </a:prstGeom>
          <a:noFill/>
        </p:spPr>
        <p:txBody>
          <a:bodyPr wrap="square">
            <a:spAutoFit/>
          </a:bodyPr>
          <a:lstStyle/>
          <a:p>
            <a:pPr algn="l"/>
            <a:r>
              <a:rPr sz="1100" b="1">
                <a:solidFill>
                  <a:srgbClr val="01A296"/>
                </a:solidFill>
                <a:latin typeface="Calibri"/>
              </a:rPr>
              <a:t>CA, Managing Partner  |  ProfitPulse</a:t>
            </a:r>
          </a:p>
        </p:txBody>
      </p:sp>
      <p:sp>
        <p:nvSpPr>
          <p:cNvPr id="21" name="Rectangle 20"/>
          <p:cNvSpPr/>
          <p:nvPr/>
        </p:nvSpPr>
        <p:spPr>
          <a:xfrm>
            <a:off x="7040880" y="1755648"/>
            <a:ext cx="4809744" cy="2286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040880" y="1901952"/>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68896" y="1856232"/>
            <a:ext cx="4709159" cy="347472"/>
          </a:xfrm>
          <a:prstGeom prst="rect">
            <a:avLst/>
          </a:prstGeom>
          <a:noFill/>
        </p:spPr>
        <p:txBody>
          <a:bodyPr wrap="square">
            <a:spAutoFit/>
          </a:bodyPr>
          <a:lstStyle/>
          <a:p>
            <a:r>
              <a:rPr sz="950">
                <a:solidFill>
                  <a:srgbClr val="000000"/>
                </a:solidFill>
                <a:latin typeface="Calibri"/>
              </a:rPr>
              <a:t>16 years of experience across 4 countries</a:t>
            </a:r>
          </a:p>
        </p:txBody>
      </p:sp>
      <p:sp>
        <p:nvSpPr>
          <p:cNvPr id="24" name="Rectangle 23"/>
          <p:cNvSpPr/>
          <p:nvPr/>
        </p:nvSpPr>
        <p:spPr>
          <a:xfrm>
            <a:off x="7040880" y="2286000"/>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68896" y="2240280"/>
            <a:ext cx="4709159" cy="347472"/>
          </a:xfrm>
          <a:prstGeom prst="rect">
            <a:avLst/>
          </a:prstGeom>
          <a:noFill/>
        </p:spPr>
        <p:txBody>
          <a:bodyPr wrap="square">
            <a:spAutoFit/>
          </a:bodyPr>
          <a:lstStyle/>
          <a:p>
            <a:r>
              <a:rPr sz="950">
                <a:solidFill>
                  <a:srgbClr val="000000"/>
                </a:solidFill>
                <a:latin typeface="Calibri"/>
              </a:rPr>
              <a:t>52 deals executed and managed across the career</a:t>
            </a:r>
          </a:p>
        </p:txBody>
      </p:sp>
      <p:sp>
        <p:nvSpPr>
          <p:cNvPr id="26" name="Rectangle 25"/>
          <p:cNvSpPr/>
          <p:nvPr/>
        </p:nvSpPr>
        <p:spPr>
          <a:xfrm>
            <a:off x="7040880" y="2670048"/>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68896" y="2624328"/>
            <a:ext cx="4709159" cy="347472"/>
          </a:xfrm>
          <a:prstGeom prst="rect">
            <a:avLst/>
          </a:prstGeom>
          <a:noFill/>
        </p:spPr>
        <p:txBody>
          <a:bodyPr wrap="square">
            <a:spAutoFit/>
          </a:bodyPr>
          <a:lstStyle/>
          <a:p>
            <a:r>
              <a:rPr sz="950">
                <a:solidFill>
                  <a:srgbClr val="000000"/>
                </a:solidFill>
                <a:latin typeface="Calibri"/>
              </a:rPr>
              <a:t>Largest single deal: USD 1.3 billion, Cahora Bassa Hydro, Mozambique Government</a:t>
            </a:r>
          </a:p>
        </p:txBody>
      </p:sp>
      <p:sp>
        <p:nvSpPr>
          <p:cNvPr id="28" name="Rectangle 27"/>
          <p:cNvSpPr/>
          <p:nvPr/>
        </p:nvSpPr>
        <p:spPr>
          <a:xfrm>
            <a:off x="7040880" y="3054096"/>
            <a:ext cx="64008"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68896" y="3008376"/>
            <a:ext cx="4709159" cy="347472"/>
          </a:xfrm>
          <a:prstGeom prst="rect">
            <a:avLst/>
          </a:prstGeom>
          <a:noFill/>
        </p:spPr>
        <p:txBody>
          <a:bodyPr wrap="square">
            <a:spAutoFit/>
          </a:bodyPr>
          <a:lstStyle/>
          <a:p>
            <a:r>
              <a:rPr sz="950">
                <a:solidFill>
                  <a:srgbClr val="000000"/>
                </a:solidFill>
                <a:latin typeface="Calibri"/>
              </a:rPr>
              <a:t>Total Queensland GRBT project value: over AUD 10 billion</a:t>
            </a:r>
          </a:p>
        </p:txBody>
      </p:sp>
      <p:sp>
        <p:nvSpPr>
          <p:cNvPr id="30" name="Rectangle 29"/>
          <p:cNvSpPr/>
          <p:nvPr/>
        </p:nvSpPr>
        <p:spPr>
          <a:xfrm>
            <a:off x="7040880" y="3447288"/>
            <a:ext cx="4809744" cy="2286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0" y="3557016"/>
            <a:ext cx="4846320" cy="246888"/>
          </a:xfrm>
          <a:prstGeom prst="rect">
            <a:avLst/>
          </a:prstGeom>
          <a:noFill/>
        </p:spPr>
        <p:txBody>
          <a:bodyPr wrap="square">
            <a:spAutoFit/>
          </a:bodyPr>
          <a:lstStyle/>
          <a:p>
            <a:pPr algn="l"/>
            <a:r>
              <a:rPr sz="1000" b="1">
                <a:solidFill>
                  <a:srgbClr val="01A296"/>
                </a:solidFill>
                <a:latin typeface="Calibri"/>
              </a:rPr>
              <a:t>Profit-Pulse.com.au</a:t>
            </a:r>
          </a:p>
        </p:txBody>
      </p:sp>
      <p:sp>
        <p:nvSpPr>
          <p:cNvPr id="32" name="TextBox 31"/>
          <p:cNvSpPr txBox="1"/>
          <p:nvPr/>
        </p:nvSpPr>
        <p:spPr>
          <a:xfrm>
            <a:off x="7040880" y="3803904"/>
            <a:ext cx="4846320" cy="246888"/>
          </a:xfrm>
          <a:prstGeom prst="rect">
            <a:avLst/>
          </a:prstGeom>
          <a:noFill/>
        </p:spPr>
        <p:txBody>
          <a:bodyPr wrap="square">
            <a:spAutoFit/>
          </a:bodyPr>
          <a:lstStyle/>
          <a:p>
            <a:pPr algn="l"/>
            <a:r>
              <a:rPr sz="1000" b="0">
                <a:solidFill>
                  <a:srgbClr val="000000"/>
                </a:solidFill>
                <a:latin typeface="Calibri"/>
              </a:rPr>
              <a:t>Nitesh@Profit-Pulse.com.au</a:t>
            </a:r>
          </a:p>
        </p:txBody>
      </p:sp>
      <p:sp>
        <p:nvSpPr>
          <p:cNvPr id="33" name="TextBox 32"/>
          <p:cNvSpPr txBox="1"/>
          <p:nvPr/>
        </p:nvSpPr>
        <p:spPr>
          <a:xfrm>
            <a:off x="7040880" y="4050791"/>
            <a:ext cx="4846320" cy="246888"/>
          </a:xfrm>
          <a:prstGeom prst="rect">
            <a:avLst/>
          </a:prstGeom>
          <a:noFill/>
        </p:spPr>
        <p:txBody>
          <a:bodyPr wrap="square">
            <a:spAutoFit/>
          </a:bodyPr>
          <a:lstStyle/>
          <a:p>
            <a:pPr algn="l"/>
            <a:r>
              <a:rPr sz="1000" b="0">
                <a:solidFill>
                  <a:srgbClr val="000000"/>
                </a:solidFill>
                <a:latin typeface="Calibri"/>
              </a:rPr>
              <a:t>+61 411 876 267</a:t>
            </a:r>
          </a:p>
        </p:txBody>
      </p:sp>
      <p:sp>
        <p:nvSpPr>
          <p:cNvPr id="34" name="TextBox 33"/>
          <p:cNvSpPr txBox="1"/>
          <p:nvPr/>
        </p:nvSpPr>
        <p:spPr>
          <a:xfrm>
            <a:off x="7040880" y="4297679"/>
            <a:ext cx="4846320" cy="246888"/>
          </a:xfrm>
          <a:prstGeom prst="rect">
            <a:avLst/>
          </a:prstGeom>
          <a:noFill/>
        </p:spPr>
        <p:txBody>
          <a:bodyPr wrap="square">
            <a:spAutoFit/>
          </a:bodyPr>
          <a:lstStyle/>
          <a:p>
            <a:pPr algn="l"/>
            <a:r>
              <a:rPr sz="900" b="0">
                <a:solidFill>
                  <a:srgbClr val="444444"/>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