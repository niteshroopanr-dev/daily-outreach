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a:noAutofit/>
          </a:bodyPr>
          <a:lstStyle/>
          <a:p>
            <a:pPr algn="l"/>
            <a:r>
              <a:rPr sz="1200" b="1" i="0">
                <a:solidFill>
                  <a:srgbClr val="E6E5DE"/>
                </a:solidFill>
                <a:latin typeface="Arial"/>
              </a:rPr>
              <a:t>COMMERCIAL INTELLIGENCE BRIEF</a:t>
            </a:r>
          </a:p>
        </p:txBody>
      </p:sp>
      <p:sp>
        <p:nvSpPr>
          <p:cNvPr id="5" name="TextBox 4"/>
          <p:cNvSpPr txBox="1"/>
          <p:nvPr/>
        </p:nvSpPr>
        <p:spPr>
          <a:xfrm>
            <a:off x="7772400" y="292608"/>
            <a:ext cx="4114800" cy="365760"/>
          </a:xfrm>
          <a:prstGeom prst="rect">
            <a:avLst/>
          </a:prstGeom>
          <a:noFill/>
        </p:spPr>
        <p:txBody>
          <a:bodyPr wrap="square">
            <a:noAutofit/>
          </a:bodyPr>
          <a:lstStyle/>
          <a:p>
            <a:pPr algn="r"/>
            <a:r>
              <a:rPr sz="1200" b="1" i="0">
                <a:solidFill>
                  <a:srgbClr val="F8C806"/>
                </a:solidFill>
                <a:latin typeface="Arial"/>
              </a:rPr>
              <a:t>PROFITPULSE</a:t>
            </a:r>
          </a:p>
        </p:txBody>
      </p:sp>
      <p:sp>
        <p:nvSpPr>
          <p:cNvPr id="6" name="Rectangle 5"/>
          <p:cNvSpPr/>
          <p:nvPr/>
        </p:nvSpPr>
        <p:spPr>
          <a:xfrm>
            <a:off x="320040" y="6446520"/>
            <a:ext cx="11521440" cy="9525"/>
          </a:xfrm>
          <a:prstGeom prst="rect">
            <a:avLst/>
          </a:prstGeom>
          <a:solidFill>
            <a:srgbClr val="000000"/>
          </a:solidFill>
          <a:ln>
            <a:noFill/>
          </a:ln>
          <a:effectLst/>
        </p:spPr>
        <p:txBody>
          <a:bodyPr rtlCol="0" anchor="ctr"/>
          <a:lstStyle/>
          <a:p>
            <a:pPr algn="ctr"/>
          </a:p>
        </p:txBody>
      </p:sp>
      <p:sp>
        <p:nvSpPr>
          <p:cNvPr id="7" name="TextBox 6"/>
          <p:cNvSpPr txBox="1"/>
          <p:nvPr/>
        </p:nvSpPr>
        <p:spPr>
          <a:xfrm>
            <a:off x="320040" y="6510528"/>
            <a:ext cx="8686800" cy="274320"/>
          </a:xfrm>
          <a:prstGeom prst="rect">
            <a:avLst/>
          </a:prstGeom>
          <a:noFill/>
        </p:spPr>
        <p:txBody>
          <a:bodyPr wrap="square">
            <a:noAutofit/>
          </a:bodyPr>
          <a:lstStyle/>
          <a:p>
            <a:pPr algn="l"/>
            <a:r>
              <a:rPr sz="800" b="0" i="0">
                <a:solidFill>
                  <a:srgbClr val="000000"/>
                </a:solidFill>
                <a:latin typeface="Arial"/>
              </a:rPr>
              <a:t>Prepared by Nitesh Roopa CA, Managing Partner, ProfitPulse, Profit-Pulse.com.au</a:t>
            </a:r>
          </a:p>
        </p:txBody>
      </p:sp>
      <p:sp>
        <p:nvSpPr>
          <p:cNvPr id="8" name="TextBox 7"/>
          <p:cNvSpPr txBox="1"/>
          <p:nvPr/>
        </p:nvSpPr>
        <p:spPr>
          <a:xfrm>
            <a:off x="9144000" y="6510528"/>
            <a:ext cx="2743200" cy="274320"/>
          </a:xfrm>
          <a:prstGeom prst="rect">
            <a:avLst/>
          </a:prstGeom>
          <a:noFill/>
        </p:spPr>
        <p:txBody>
          <a:bodyPr wrap="square">
            <a:noAutofit/>
          </a:bodyPr>
          <a:lstStyle/>
          <a:p>
            <a:pPr algn="r"/>
            <a:r>
              <a:rPr sz="800" b="0" i="0">
                <a:solidFill>
                  <a:srgbClr val="000000"/>
                </a:solidFill>
                <a:latin typeface="Arial"/>
              </a:rPr>
              <a:t>28 Aug 2026</a:t>
            </a:r>
          </a:p>
        </p:txBody>
      </p:sp>
      <p:sp>
        <p:nvSpPr>
          <p:cNvPr id="9" name="TextBox 8"/>
          <p:cNvSpPr txBox="1"/>
          <p:nvPr/>
        </p:nvSpPr>
        <p:spPr>
          <a:xfrm>
            <a:off x="320040" y="1024128"/>
            <a:ext cx="9601200" cy="640080"/>
          </a:xfrm>
          <a:prstGeom prst="rect">
            <a:avLst/>
          </a:prstGeom>
          <a:noFill/>
        </p:spPr>
        <p:txBody>
          <a:bodyPr wrap="square">
            <a:noAutofit/>
          </a:bodyPr>
          <a:lstStyle/>
          <a:p>
            <a:pPr algn="l"/>
            <a:r>
              <a:rPr sz="4000" b="1" i="0">
                <a:solidFill>
                  <a:srgbClr val="01A296"/>
                </a:solidFill>
                <a:latin typeface="Cambria"/>
              </a:rPr>
              <a:t>Taskforce Australia</a:t>
            </a:r>
          </a:p>
        </p:txBody>
      </p:sp>
      <p:sp>
        <p:nvSpPr>
          <p:cNvPr id="10" name="TextBox 9"/>
          <p:cNvSpPr txBox="1"/>
          <p:nvPr/>
        </p:nvSpPr>
        <p:spPr>
          <a:xfrm>
            <a:off x="320040" y="1627632"/>
            <a:ext cx="10515600" cy="365760"/>
          </a:xfrm>
          <a:prstGeom prst="rect">
            <a:avLst/>
          </a:prstGeom>
          <a:noFill/>
        </p:spPr>
        <p:txBody>
          <a:bodyPr wrap="square">
            <a:noAutofit/>
          </a:bodyPr>
          <a:lstStyle/>
          <a:p>
            <a:pPr algn="l"/>
            <a:r>
              <a:rPr sz="1400" b="0" i="0">
                <a:solidFill>
                  <a:srgbClr val="000000"/>
                </a:solidFill>
                <a:latin typeface="Arial"/>
              </a:rPr>
              <a:t>Property maintenance and trade services platform, Melbourne VIC</a:t>
            </a:r>
          </a:p>
        </p:txBody>
      </p:sp>
      <p:sp>
        <p:nvSpPr>
          <p:cNvPr id="11" name="Rectangle 10"/>
          <p:cNvSpPr/>
          <p:nvPr/>
        </p:nvSpPr>
        <p:spPr>
          <a:xfrm>
            <a:off x="320040" y="2148840"/>
            <a:ext cx="1810512" cy="1463040"/>
          </a:xfrm>
          <a:prstGeom prst="rect">
            <a:avLst/>
          </a:prstGeom>
          <a:solidFill>
            <a:srgbClr val="000000"/>
          </a:solidFill>
          <a:ln>
            <a:noFill/>
          </a:ln>
          <a:effectLst/>
        </p:spPr>
        <p:txBody>
          <a:bodyPr rtlCol="0" anchor="ctr"/>
          <a:lstStyle/>
          <a:p>
            <a:pPr algn="ctr"/>
          </a:p>
        </p:txBody>
      </p:sp>
      <p:sp>
        <p:nvSpPr>
          <p:cNvPr id="12" name="Rectangle 11"/>
          <p:cNvSpPr/>
          <p:nvPr/>
        </p:nvSpPr>
        <p:spPr>
          <a:xfrm>
            <a:off x="320040" y="2148840"/>
            <a:ext cx="1810512" cy="50800"/>
          </a:xfrm>
          <a:prstGeom prst="rect">
            <a:avLst/>
          </a:prstGeom>
          <a:solidFill>
            <a:srgbClr val="01A296"/>
          </a:solidFill>
          <a:ln>
            <a:noFill/>
          </a:ln>
          <a:effectLst/>
        </p:spPr>
        <p:txBody>
          <a:bodyPr rtlCol="0" anchor="ctr"/>
          <a:lstStyle/>
          <a:p>
            <a:pPr algn="ctr"/>
          </a:p>
        </p:txBody>
      </p:sp>
      <p:sp>
        <p:nvSpPr>
          <p:cNvPr id="13" name="TextBox 12"/>
          <p:cNvSpPr txBox="1"/>
          <p:nvPr/>
        </p:nvSpPr>
        <p:spPr>
          <a:xfrm>
            <a:off x="411480" y="2276856"/>
            <a:ext cx="1627632" cy="457200"/>
          </a:xfrm>
          <a:prstGeom prst="rect">
            <a:avLst/>
          </a:prstGeom>
          <a:noFill/>
        </p:spPr>
        <p:txBody>
          <a:bodyPr wrap="none">
            <a:noAutofit/>
          </a:bodyPr>
          <a:lstStyle/>
          <a:p>
            <a:pPr algn="l"/>
            <a:r>
              <a:rPr sz="2600" b="1" i="0">
                <a:solidFill>
                  <a:srgbClr val="F8C806"/>
                </a:solidFill>
                <a:latin typeface="Cambria"/>
              </a:rPr>
              <a:t>$12.8M</a:t>
            </a:r>
          </a:p>
        </p:txBody>
      </p:sp>
      <p:sp>
        <p:nvSpPr>
          <p:cNvPr id="14" name="TextBox 13"/>
          <p:cNvSpPr txBox="1"/>
          <p:nvPr/>
        </p:nvSpPr>
        <p:spPr>
          <a:xfrm>
            <a:off x="429768" y="2770632"/>
            <a:ext cx="1591056" cy="502920"/>
          </a:xfrm>
          <a:prstGeom prst="rect">
            <a:avLst/>
          </a:prstGeom>
          <a:noFill/>
        </p:spPr>
        <p:txBody>
          <a:bodyPr wrap="square">
            <a:noAutofit/>
          </a:bodyPr>
          <a:lstStyle/>
          <a:p>
            <a:pPr algn="l">
              <a:lnSpc>
                <a:spcPct val="100000"/>
              </a:lnSpc>
              <a:spcAft>
                <a:spcPts val="0"/>
              </a:spcAft>
            </a:pPr>
            <a:r>
              <a:rPr sz="1050" b="0" i="0">
                <a:solidFill>
                  <a:srgbClr val="E6E5DE"/>
                </a:solidFill>
                <a:latin typeface="Arial"/>
              </a:rPr>
              <a:t>FY2025 revenue</a:t>
            </a:r>
          </a:p>
        </p:txBody>
      </p:sp>
      <p:sp>
        <p:nvSpPr>
          <p:cNvPr id="15" name="TextBox 14"/>
          <p:cNvSpPr txBox="1"/>
          <p:nvPr/>
        </p:nvSpPr>
        <p:spPr>
          <a:xfrm>
            <a:off x="429768" y="3337560"/>
            <a:ext cx="1591056" cy="228600"/>
          </a:xfrm>
          <a:prstGeom prst="rect">
            <a:avLst/>
          </a:prstGeom>
          <a:noFill/>
        </p:spPr>
        <p:txBody>
          <a:bodyPr wrap="square">
            <a:noAutofit/>
          </a:bodyPr>
          <a:lstStyle/>
          <a:p>
            <a:pPr algn="l"/>
            <a:r>
              <a:rPr sz="750" b="0" i="1">
                <a:solidFill>
                  <a:srgbClr val="E6E5DE"/>
                </a:solidFill>
                <a:latin typeface="Arial"/>
              </a:rPr>
              <a:t>SmartCompany Smart50 2025</a:t>
            </a:r>
          </a:p>
        </p:txBody>
      </p:sp>
      <p:sp>
        <p:nvSpPr>
          <p:cNvPr id="16" name="Rectangle 15"/>
          <p:cNvSpPr/>
          <p:nvPr/>
        </p:nvSpPr>
        <p:spPr>
          <a:xfrm>
            <a:off x="2267712" y="2148840"/>
            <a:ext cx="1810512" cy="1463040"/>
          </a:xfrm>
          <a:prstGeom prst="rect">
            <a:avLst/>
          </a:prstGeom>
          <a:solidFill>
            <a:srgbClr val="000000"/>
          </a:solidFill>
          <a:ln>
            <a:noFill/>
          </a:ln>
          <a:effectLst/>
        </p:spPr>
        <p:txBody>
          <a:bodyPr rtlCol="0" anchor="ctr"/>
          <a:lstStyle/>
          <a:p>
            <a:pPr algn="ctr"/>
          </a:p>
        </p:txBody>
      </p:sp>
      <p:sp>
        <p:nvSpPr>
          <p:cNvPr id="17" name="Rectangle 16"/>
          <p:cNvSpPr/>
          <p:nvPr/>
        </p:nvSpPr>
        <p:spPr>
          <a:xfrm>
            <a:off x="2267712" y="2148840"/>
            <a:ext cx="1810512" cy="50800"/>
          </a:xfrm>
          <a:prstGeom prst="rect">
            <a:avLst/>
          </a:prstGeom>
          <a:solidFill>
            <a:srgbClr val="01A296"/>
          </a:solidFill>
          <a:ln>
            <a:noFill/>
          </a:ln>
          <a:effectLst/>
        </p:spPr>
        <p:txBody>
          <a:bodyPr rtlCol="0" anchor="ctr"/>
          <a:lstStyle/>
          <a:p>
            <a:pPr algn="ctr"/>
          </a:p>
        </p:txBody>
      </p:sp>
      <p:sp>
        <p:nvSpPr>
          <p:cNvPr id="18" name="TextBox 17"/>
          <p:cNvSpPr txBox="1"/>
          <p:nvPr/>
        </p:nvSpPr>
        <p:spPr>
          <a:xfrm>
            <a:off x="2359152" y="2276856"/>
            <a:ext cx="1627632" cy="457200"/>
          </a:xfrm>
          <a:prstGeom prst="rect">
            <a:avLst/>
          </a:prstGeom>
          <a:noFill/>
        </p:spPr>
        <p:txBody>
          <a:bodyPr wrap="none">
            <a:noAutofit/>
          </a:bodyPr>
          <a:lstStyle/>
          <a:p>
            <a:pPr algn="l"/>
            <a:r>
              <a:rPr sz="2600" b="1" i="0">
                <a:solidFill>
                  <a:srgbClr val="F8C806"/>
                </a:solidFill>
                <a:latin typeface="Cambria"/>
              </a:rPr>
              <a:t>31%</a:t>
            </a:r>
          </a:p>
        </p:txBody>
      </p:sp>
      <p:sp>
        <p:nvSpPr>
          <p:cNvPr id="19" name="TextBox 18"/>
          <p:cNvSpPr txBox="1"/>
          <p:nvPr/>
        </p:nvSpPr>
        <p:spPr>
          <a:xfrm>
            <a:off x="2377440" y="2770632"/>
            <a:ext cx="1591056" cy="502920"/>
          </a:xfrm>
          <a:prstGeom prst="rect">
            <a:avLst/>
          </a:prstGeom>
          <a:noFill/>
        </p:spPr>
        <p:txBody>
          <a:bodyPr wrap="square">
            <a:noAutofit/>
          </a:bodyPr>
          <a:lstStyle/>
          <a:p>
            <a:pPr algn="l">
              <a:lnSpc>
                <a:spcPct val="100000"/>
              </a:lnSpc>
              <a:spcAft>
                <a:spcPts val="0"/>
              </a:spcAft>
            </a:pPr>
            <a:r>
              <a:rPr sz="1050" b="0" i="0">
                <a:solidFill>
                  <a:srgbClr val="E6E5DE"/>
                </a:solidFill>
                <a:latin typeface="Arial"/>
              </a:rPr>
              <a:t>Revenue growth,</a:t>
            </a:r>
          </a:p>
          <a:p>
            <a:pPr algn="l">
              <a:lnSpc>
                <a:spcPct val="100000"/>
              </a:lnSpc>
              <a:spcAft>
                <a:spcPts val="0"/>
              </a:spcAft>
            </a:pPr>
            <a:r>
              <a:rPr sz="1050" b="0" i="0">
                <a:solidFill>
                  <a:srgbClr val="E6E5DE"/>
                </a:solidFill>
                <a:latin typeface="Arial"/>
              </a:rPr>
              <a:t>FY24 to FY25</a:t>
            </a:r>
          </a:p>
        </p:txBody>
      </p:sp>
      <p:sp>
        <p:nvSpPr>
          <p:cNvPr id="20" name="TextBox 19"/>
          <p:cNvSpPr txBox="1"/>
          <p:nvPr/>
        </p:nvSpPr>
        <p:spPr>
          <a:xfrm>
            <a:off x="2377440" y="3337560"/>
            <a:ext cx="1591056" cy="228600"/>
          </a:xfrm>
          <a:prstGeom prst="rect">
            <a:avLst/>
          </a:prstGeom>
          <a:noFill/>
        </p:spPr>
        <p:txBody>
          <a:bodyPr wrap="square">
            <a:noAutofit/>
          </a:bodyPr>
          <a:lstStyle/>
          <a:p>
            <a:pPr algn="l"/>
            <a:r>
              <a:rPr sz="750" b="0" i="1">
                <a:solidFill>
                  <a:srgbClr val="E6E5DE"/>
                </a:solidFill>
                <a:latin typeface="Arial"/>
              </a:rPr>
              <a:t>SmartCompany Smart50 2025</a:t>
            </a:r>
          </a:p>
        </p:txBody>
      </p:sp>
      <p:sp>
        <p:nvSpPr>
          <p:cNvPr id="21" name="Rectangle 20"/>
          <p:cNvSpPr/>
          <p:nvPr/>
        </p:nvSpPr>
        <p:spPr>
          <a:xfrm>
            <a:off x="4215384" y="2148840"/>
            <a:ext cx="1810512" cy="1463040"/>
          </a:xfrm>
          <a:prstGeom prst="rect">
            <a:avLst/>
          </a:prstGeom>
          <a:solidFill>
            <a:srgbClr val="000000"/>
          </a:solidFill>
          <a:ln>
            <a:noFill/>
          </a:ln>
          <a:effectLst/>
        </p:spPr>
        <p:txBody>
          <a:bodyPr rtlCol="0" anchor="ctr"/>
          <a:lstStyle/>
          <a:p>
            <a:pPr algn="ctr"/>
          </a:p>
        </p:txBody>
      </p:sp>
      <p:sp>
        <p:nvSpPr>
          <p:cNvPr id="22" name="Rectangle 21"/>
          <p:cNvSpPr/>
          <p:nvPr/>
        </p:nvSpPr>
        <p:spPr>
          <a:xfrm>
            <a:off x="4215384" y="2148840"/>
            <a:ext cx="1810512" cy="50800"/>
          </a:xfrm>
          <a:prstGeom prst="rect">
            <a:avLst/>
          </a:prstGeom>
          <a:solidFill>
            <a:srgbClr val="01A296"/>
          </a:solidFill>
          <a:ln>
            <a:noFill/>
          </a:ln>
          <a:effectLst/>
        </p:spPr>
        <p:txBody>
          <a:bodyPr rtlCol="0" anchor="ctr"/>
          <a:lstStyle/>
          <a:p>
            <a:pPr algn="ctr"/>
          </a:p>
        </p:txBody>
      </p:sp>
      <p:sp>
        <p:nvSpPr>
          <p:cNvPr id="23" name="TextBox 22"/>
          <p:cNvSpPr txBox="1"/>
          <p:nvPr/>
        </p:nvSpPr>
        <p:spPr>
          <a:xfrm>
            <a:off x="4306824" y="2276856"/>
            <a:ext cx="1627632" cy="457200"/>
          </a:xfrm>
          <a:prstGeom prst="rect">
            <a:avLst/>
          </a:prstGeom>
          <a:noFill/>
        </p:spPr>
        <p:txBody>
          <a:bodyPr wrap="none">
            <a:noAutofit/>
          </a:bodyPr>
          <a:lstStyle/>
          <a:p>
            <a:pPr algn="l"/>
            <a:r>
              <a:rPr sz="2600" b="1" i="0">
                <a:solidFill>
                  <a:srgbClr val="F8C806"/>
                </a:solidFill>
                <a:latin typeface="Cambria"/>
              </a:rPr>
              <a:t>19</a:t>
            </a:r>
          </a:p>
        </p:txBody>
      </p:sp>
      <p:sp>
        <p:nvSpPr>
          <p:cNvPr id="24" name="TextBox 23"/>
          <p:cNvSpPr txBox="1"/>
          <p:nvPr/>
        </p:nvSpPr>
        <p:spPr>
          <a:xfrm>
            <a:off x="4325112" y="2770632"/>
            <a:ext cx="1591056" cy="502920"/>
          </a:xfrm>
          <a:prstGeom prst="rect">
            <a:avLst/>
          </a:prstGeom>
          <a:noFill/>
        </p:spPr>
        <p:txBody>
          <a:bodyPr wrap="square">
            <a:noAutofit/>
          </a:bodyPr>
          <a:lstStyle/>
          <a:p>
            <a:pPr algn="l">
              <a:lnSpc>
                <a:spcPct val="100000"/>
              </a:lnSpc>
              <a:spcAft>
                <a:spcPts val="0"/>
              </a:spcAft>
            </a:pPr>
            <a:r>
              <a:rPr sz="1050" b="0" i="0">
                <a:solidFill>
                  <a:srgbClr val="E6E5DE"/>
                </a:solidFill>
                <a:latin typeface="Arial"/>
              </a:rPr>
              <a:t>Team headcount,</a:t>
            </a:r>
          </a:p>
          <a:p>
            <a:pPr algn="l">
              <a:lnSpc>
                <a:spcPct val="100000"/>
              </a:lnSpc>
              <a:spcAft>
                <a:spcPts val="0"/>
              </a:spcAft>
            </a:pPr>
            <a:r>
              <a:rPr sz="1050" b="0" i="0">
                <a:solidFill>
                  <a:srgbClr val="E6E5DE"/>
                </a:solidFill>
                <a:latin typeface="Arial"/>
              </a:rPr>
              <a:t>Burnley HQ</a:t>
            </a:r>
          </a:p>
        </p:txBody>
      </p:sp>
      <p:sp>
        <p:nvSpPr>
          <p:cNvPr id="25" name="TextBox 24"/>
          <p:cNvSpPr txBox="1"/>
          <p:nvPr/>
        </p:nvSpPr>
        <p:spPr>
          <a:xfrm>
            <a:off x="4325112" y="3337560"/>
            <a:ext cx="1591056" cy="228600"/>
          </a:xfrm>
          <a:prstGeom prst="rect">
            <a:avLst/>
          </a:prstGeom>
          <a:noFill/>
        </p:spPr>
        <p:txBody>
          <a:bodyPr wrap="square">
            <a:noAutofit/>
          </a:bodyPr>
          <a:lstStyle/>
          <a:p>
            <a:pPr algn="l"/>
            <a:r>
              <a:rPr sz="750" b="0" i="1">
                <a:solidFill>
                  <a:srgbClr val="E6E5DE"/>
                </a:solidFill>
                <a:latin typeface="Arial"/>
              </a:rPr>
              <a:t>SmartCompany Smart50 2025</a:t>
            </a:r>
          </a:p>
        </p:txBody>
      </p:sp>
      <p:sp>
        <p:nvSpPr>
          <p:cNvPr id="26" name="Rectangle 25"/>
          <p:cNvSpPr/>
          <p:nvPr/>
        </p:nvSpPr>
        <p:spPr>
          <a:xfrm>
            <a:off x="6163056" y="2148840"/>
            <a:ext cx="1810512" cy="1463040"/>
          </a:xfrm>
          <a:prstGeom prst="rect">
            <a:avLst/>
          </a:prstGeom>
          <a:solidFill>
            <a:srgbClr val="000000"/>
          </a:solidFill>
          <a:ln>
            <a:noFill/>
          </a:ln>
          <a:effectLst/>
        </p:spPr>
        <p:txBody>
          <a:bodyPr rtlCol="0" anchor="ctr"/>
          <a:lstStyle/>
          <a:p>
            <a:pPr algn="ctr"/>
          </a:p>
        </p:txBody>
      </p:sp>
      <p:sp>
        <p:nvSpPr>
          <p:cNvPr id="27" name="Rectangle 26"/>
          <p:cNvSpPr/>
          <p:nvPr/>
        </p:nvSpPr>
        <p:spPr>
          <a:xfrm>
            <a:off x="6163056" y="2148840"/>
            <a:ext cx="1810512" cy="50800"/>
          </a:xfrm>
          <a:prstGeom prst="rect">
            <a:avLst/>
          </a:prstGeom>
          <a:solidFill>
            <a:srgbClr val="01A296"/>
          </a:solidFill>
          <a:ln>
            <a:noFill/>
          </a:ln>
          <a:effectLst/>
        </p:spPr>
        <p:txBody>
          <a:bodyPr rtlCol="0" anchor="ctr"/>
          <a:lstStyle/>
          <a:p>
            <a:pPr algn="ctr"/>
          </a:p>
        </p:txBody>
      </p:sp>
      <p:sp>
        <p:nvSpPr>
          <p:cNvPr id="28" name="TextBox 27"/>
          <p:cNvSpPr txBox="1"/>
          <p:nvPr/>
        </p:nvSpPr>
        <p:spPr>
          <a:xfrm>
            <a:off x="6254496" y="2276856"/>
            <a:ext cx="1627632" cy="457200"/>
          </a:xfrm>
          <a:prstGeom prst="rect">
            <a:avLst/>
          </a:prstGeom>
          <a:noFill/>
        </p:spPr>
        <p:txBody>
          <a:bodyPr wrap="none">
            <a:noAutofit/>
          </a:bodyPr>
          <a:lstStyle/>
          <a:p>
            <a:pPr algn="l"/>
            <a:r>
              <a:rPr sz="2600" b="1" i="0">
                <a:solidFill>
                  <a:srgbClr val="F8C806"/>
                </a:solidFill>
                <a:latin typeface="Cambria"/>
              </a:rPr>
              <a:t>#37</a:t>
            </a:r>
          </a:p>
        </p:txBody>
      </p:sp>
      <p:sp>
        <p:nvSpPr>
          <p:cNvPr id="29" name="TextBox 28"/>
          <p:cNvSpPr txBox="1"/>
          <p:nvPr/>
        </p:nvSpPr>
        <p:spPr>
          <a:xfrm>
            <a:off x="6272784" y="2770632"/>
            <a:ext cx="1591056" cy="502920"/>
          </a:xfrm>
          <a:prstGeom prst="rect">
            <a:avLst/>
          </a:prstGeom>
          <a:noFill/>
        </p:spPr>
        <p:txBody>
          <a:bodyPr wrap="square">
            <a:noAutofit/>
          </a:bodyPr>
          <a:lstStyle/>
          <a:p>
            <a:pPr algn="l">
              <a:lnSpc>
                <a:spcPct val="100000"/>
              </a:lnSpc>
              <a:spcAft>
                <a:spcPts val="0"/>
              </a:spcAft>
            </a:pPr>
            <a:r>
              <a:rPr sz="1050" b="0" i="0">
                <a:solidFill>
                  <a:srgbClr val="E6E5DE"/>
                </a:solidFill>
                <a:latin typeface="Arial"/>
              </a:rPr>
              <a:t>National Smart50</a:t>
            </a:r>
          </a:p>
          <a:p>
            <a:pPr algn="l">
              <a:lnSpc>
                <a:spcPct val="100000"/>
              </a:lnSpc>
              <a:spcAft>
                <a:spcPts val="0"/>
              </a:spcAft>
            </a:pPr>
            <a:r>
              <a:rPr sz="1050" b="0" i="0">
                <a:solidFill>
                  <a:srgbClr val="E6E5DE"/>
                </a:solidFill>
                <a:latin typeface="Arial"/>
              </a:rPr>
              <a:t>rank, 2025</a:t>
            </a:r>
          </a:p>
        </p:txBody>
      </p:sp>
      <p:sp>
        <p:nvSpPr>
          <p:cNvPr id="30" name="TextBox 29"/>
          <p:cNvSpPr txBox="1"/>
          <p:nvPr/>
        </p:nvSpPr>
        <p:spPr>
          <a:xfrm>
            <a:off x="6272784" y="3337560"/>
            <a:ext cx="1591056" cy="228600"/>
          </a:xfrm>
          <a:prstGeom prst="rect">
            <a:avLst/>
          </a:prstGeom>
          <a:noFill/>
        </p:spPr>
        <p:txBody>
          <a:bodyPr wrap="square">
            <a:noAutofit/>
          </a:bodyPr>
          <a:lstStyle/>
          <a:p>
            <a:pPr algn="l"/>
            <a:r>
              <a:rPr sz="750" b="0" i="1">
                <a:solidFill>
                  <a:srgbClr val="E6E5DE"/>
                </a:solidFill>
                <a:latin typeface="Arial"/>
              </a:rPr>
              <a:t>SmartCompany Smart50 2025</a:t>
            </a:r>
          </a:p>
        </p:txBody>
      </p:sp>
      <p:sp>
        <p:nvSpPr>
          <p:cNvPr id="31" name="Rectangle 30"/>
          <p:cNvSpPr/>
          <p:nvPr/>
        </p:nvSpPr>
        <p:spPr>
          <a:xfrm>
            <a:off x="8110728" y="2148840"/>
            <a:ext cx="1810512" cy="1463040"/>
          </a:xfrm>
          <a:prstGeom prst="rect">
            <a:avLst/>
          </a:prstGeom>
          <a:solidFill>
            <a:srgbClr val="000000"/>
          </a:solidFill>
          <a:ln>
            <a:noFill/>
          </a:ln>
          <a:effectLst/>
        </p:spPr>
        <p:txBody>
          <a:bodyPr rtlCol="0" anchor="ctr"/>
          <a:lstStyle/>
          <a:p>
            <a:pPr algn="ctr"/>
          </a:p>
        </p:txBody>
      </p:sp>
      <p:sp>
        <p:nvSpPr>
          <p:cNvPr id="32" name="Rectangle 31"/>
          <p:cNvSpPr/>
          <p:nvPr/>
        </p:nvSpPr>
        <p:spPr>
          <a:xfrm>
            <a:off x="8110728" y="2148840"/>
            <a:ext cx="1810512" cy="50800"/>
          </a:xfrm>
          <a:prstGeom prst="rect">
            <a:avLst/>
          </a:prstGeom>
          <a:solidFill>
            <a:srgbClr val="01A296"/>
          </a:solidFill>
          <a:ln>
            <a:noFill/>
          </a:ln>
          <a:effectLst/>
        </p:spPr>
        <p:txBody>
          <a:bodyPr rtlCol="0" anchor="ctr"/>
          <a:lstStyle/>
          <a:p>
            <a:pPr algn="ctr"/>
          </a:p>
        </p:txBody>
      </p:sp>
      <p:sp>
        <p:nvSpPr>
          <p:cNvPr id="33" name="TextBox 32"/>
          <p:cNvSpPr txBox="1"/>
          <p:nvPr/>
        </p:nvSpPr>
        <p:spPr>
          <a:xfrm>
            <a:off x="8202168" y="2276856"/>
            <a:ext cx="1627632" cy="457200"/>
          </a:xfrm>
          <a:prstGeom prst="rect">
            <a:avLst/>
          </a:prstGeom>
          <a:noFill/>
        </p:spPr>
        <p:txBody>
          <a:bodyPr wrap="none">
            <a:noAutofit/>
          </a:bodyPr>
          <a:lstStyle/>
          <a:p>
            <a:pPr algn="l"/>
            <a:r>
              <a:rPr sz="2600" b="1" i="0">
                <a:solidFill>
                  <a:srgbClr val="F8C806"/>
                </a:solidFill>
                <a:latin typeface="Cambria"/>
              </a:rPr>
              <a:t>2014</a:t>
            </a:r>
          </a:p>
        </p:txBody>
      </p:sp>
      <p:sp>
        <p:nvSpPr>
          <p:cNvPr id="34" name="TextBox 33"/>
          <p:cNvSpPr txBox="1"/>
          <p:nvPr/>
        </p:nvSpPr>
        <p:spPr>
          <a:xfrm>
            <a:off x="8220456" y="2770632"/>
            <a:ext cx="1591056" cy="502920"/>
          </a:xfrm>
          <a:prstGeom prst="rect">
            <a:avLst/>
          </a:prstGeom>
          <a:noFill/>
        </p:spPr>
        <p:txBody>
          <a:bodyPr wrap="square">
            <a:noAutofit/>
          </a:bodyPr>
          <a:lstStyle/>
          <a:p>
            <a:pPr algn="l">
              <a:lnSpc>
                <a:spcPct val="100000"/>
              </a:lnSpc>
              <a:spcAft>
                <a:spcPts val="0"/>
              </a:spcAft>
            </a:pPr>
            <a:r>
              <a:rPr sz="1050" b="0" i="0">
                <a:solidFill>
                  <a:srgbClr val="E6E5DE"/>
                </a:solidFill>
                <a:latin typeface="Arial"/>
              </a:rPr>
              <a:t>Founded,</a:t>
            </a:r>
          </a:p>
          <a:p>
            <a:pPr algn="l">
              <a:lnSpc>
                <a:spcPct val="100000"/>
              </a:lnSpc>
              <a:spcAft>
                <a:spcPts val="0"/>
              </a:spcAft>
            </a:pPr>
            <a:r>
              <a:rPr sz="1050" b="0" i="0">
                <a:solidFill>
                  <a:srgbClr val="E6E5DE"/>
                </a:solidFill>
                <a:latin typeface="Arial"/>
              </a:rPr>
              <a:t>Melbourne</a:t>
            </a:r>
          </a:p>
        </p:txBody>
      </p:sp>
      <p:sp>
        <p:nvSpPr>
          <p:cNvPr id="35" name="TextBox 34"/>
          <p:cNvSpPr txBox="1"/>
          <p:nvPr/>
        </p:nvSpPr>
        <p:spPr>
          <a:xfrm>
            <a:off x="8220456" y="3337560"/>
            <a:ext cx="1591056" cy="228600"/>
          </a:xfrm>
          <a:prstGeom prst="rect">
            <a:avLst/>
          </a:prstGeom>
          <a:noFill/>
        </p:spPr>
        <p:txBody>
          <a:bodyPr wrap="square">
            <a:noAutofit/>
          </a:bodyPr>
          <a:lstStyle/>
          <a:p>
            <a:pPr algn="l"/>
            <a:r>
              <a:rPr sz="750" b="0" i="1">
                <a:solidFill>
                  <a:srgbClr val="E6E5DE"/>
                </a:solidFill>
                <a:latin typeface="Arial"/>
              </a:rPr>
              <a:t>Company public records</a:t>
            </a:r>
          </a:p>
        </p:txBody>
      </p:sp>
      <p:sp>
        <p:nvSpPr>
          <p:cNvPr id="36" name="Rectangle 35"/>
          <p:cNvSpPr/>
          <p:nvPr/>
        </p:nvSpPr>
        <p:spPr>
          <a:xfrm>
            <a:off x="10058400" y="2148840"/>
            <a:ext cx="1810512" cy="1463040"/>
          </a:xfrm>
          <a:prstGeom prst="rect">
            <a:avLst/>
          </a:prstGeom>
          <a:solidFill>
            <a:srgbClr val="000000"/>
          </a:solidFill>
          <a:ln>
            <a:noFill/>
          </a:ln>
          <a:effectLst/>
        </p:spPr>
        <p:txBody>
          <a:bodyPr rtlCol="0" anchor="ctr"/>
          <a:lstStyle/>
          <a:p>
            <a:pPr algn="ctr"/>
          </a:p>
        </p:txBody>
      </p:sp>
      <p:sp>
        <p:nvSpPr>
          <p:cNvPr id="37" name="Rectangle 36"/>
          <p:cNvSpPr/>
          <p:nvPr/>
        </p:nvSpPr>
        <p:spPr>
          <a:xfrm>
            <a:off x="10058400" y="2148840"/>
            <a:ext cx="1810512" cy="50800"/>
          </a:xfrm>
          <a:prstGeom prst="rect">
            <a:avLst/>
          </a:prstGeom>
          <a:solidFill>
            <a:srgbClr val="01A296"/>
          </a:solidFill>
          <a:ln>
            <a:noFill/>
          </a:ln>
          <a:effectLst/>
        </p:spPr>
        <p:txBody>
          <a:bodyPr rtlCol="0" anchor="ctr"/>
          <a:lstStyle/>
          <a:p>
            <a:pPr algn="ctr"/>
          </a:p>
        </p:txBody>
      </p:sp>
      <p:sp>
        <p:nvSpPr>
          <p:cNvPr id="38" name="TextBox 37"/>
          <p:cNvSpPr txBox="1"/>
          <p:nvPr/>
        </p:nvSpPr>
        <p:spPr>
          <a:xfrm>
            <a:off x="10149840" y="2276856"/>
            <a:ext cx="1627632" cy="457200"/>
          </a:xfrm>
          <a:prstGeom prst="rect">
            <a:avLst/>
          </a:prstGeom>
          <a:noFill/>
        </p:spPr>
        <p:txBody>
          <a:bodyPr wrap="none">
            <a:noAutofit/>
          </a:bodyPr>
          <a:lstStyle/>
          <a:p>
            <a:pPr algn="l"/>
            <a:r>
              <a:rPr sz="2600" b="1" i="0">
                <a:solidFill>
                  <a:srgbClr val="F8C806"/>
                </a:solidFill>
                <a:latin typeface="Cambria"/>
              </a:rPr>
              <a:t>2024</a:t>
            </a:r>
          </a:p>
        </p:txBody>
      </p:sp>
      <p:sp>
        <p:nvSpPr>
          <p:cNvPr id="39" name="TextBox 38"/>
          <p:cNvSpPr txBox="1"/>
          <p:nvPr/>
        </p:nvSpPr>
        <p:spPr>
          <a:xfrm>
            <a:off x="10168128" y="2770632"/>
            <a:ext cx="1591056" cy="502920"/>
          </a:xfrm>
          <a:prstGeom prst="rect">
            <a:avLst/>
          </a:prstGeom>
          <a:noFill/>
        </p:spPr>
        <p:txBody>
          <a:bodyPr wrap="square">
            <a:noAutofit/>
          </a:bodyPr>
          <a:lstStyle/>
          <a:p>
            <a:pPr algn="l">
              <a:lnSpc>
                <a:spcPct val="100000"/>
              </a:lnSpc>
              <a:spcAft>
                <a:spcPts val="0"/>
              </a:spcAft>
            </a:pPr>
            <a:r>
              <a:rPr sz="1050" b="0" i="0">
                <a:solidFill>
                  <a:srgbClr val="E6E5DE"/>
                </a:solidFill>
                <a:latin typeface="Arial"/>
              </a:rPr>
              <a:t>Telstra Best of</a:t>
            </a:r>
          </a:p>
          <a:p>
            <a:pPr algn="l">
              <a:lnSpc>
                <a:spcPct val="100000"/>
              </a:lnSpc>
              <a:spcAft>
                <a:spcPts val="0"/>
              </a:spcAft>
            </a:pPr>
            <a:r>
              <a:rPr sz="1050" b="0" i="0">
                <a:solidFill>
                  <a:srgbClr val="E6E5DE"/>
                </a:solidFill>
                <a:latin typeface="Arial"/>
              </a:rPr>
              <a:t>Business, VIC winner</a:t>
            </a:r>
          </a:p>
        </p:txBody>
      </p:sp>
      <p:sp>
        <p:nvSpPr>
          <p:cNvPr id="40" name="TextBox 39"/>
          <p:cNvSpPr txBox="1"/>
          <p:nvPr/>
        </p:nvSpPr>
        <p:spPr>
          <a:xfrm>
            <a:off x="10168128" y="3337560"/>
            <a:ext cx="1591056" cy="228600"/>
          </a:xfrm>
          <a:prstGeom prst="rect">
            <a:avLst/>
          </a:prstGeom>
          <a:noFill/>
        </p:spPr>
        <p:txBody>
          <a:bodyPr wrap="square">
            <a:noAutofit/>
          </a:bodyPr>
          <a:lstStyle/>
          <a:p>
            <a:pPr algn="l"/>
            <a:r>
              <a:rPr sz="750" b="0" i="1">
                <a:solidFill>
                  <a:srgbClr val="E6E5DE"/>
                </a:solidFill>
                <a:latin typeface="Arial"/>
              </a:rPr>
              <a:t>Telstra BOB Awards 2024</a:t>
            </a:r>
          </a:p>
        </p:txBody>
      </p:sp>
      <p:sp>
        <p:nvSpPr>
          <p:cNvPr id="41" name="TextBox 40"/>
          <p:cNvSpPr txBox="1"/>
          <p:nvPr/>
        </p:nvSpPr>
        <p:spPr>
          <a:xfrm>
            <a:off x="320040" y="3913632"/>
            <a:ext cx="5486400" cy="274320"/>
          </a:xfrm>
          <a:prstGeom prst="rect">
            <a:avLst/>
          </a:prstGeom>
          <a:noFill/>
        </p:spPr>
        <p:txBody>
          <a:bodyPr wrap="square">
            <a:noAutofit/>
          </a:bodyPr>
          <a:lstStyle/>
          <a:p>
            <a:pPr algn="l"/>
            <a:r>
              <a:rPr sz="1100" b="1" i="0">
                <a:solidFill>
                  <a:srgbClr val="01A296"/>
                </a:solidFill>
                <a:latin typeface="Arial"/>
              </a:rPr>
              <a:t>KEY COMMERCIAL SIGNALS</a:t>
            </a:r>
          </a:p>
        </p:txBody>
      </p:sp>
      <p:sp>
        <p:nvSpPr>
          <p:cNvPr id="42" name="TextBox 41"/>
          <p:cNvSpPr txBox="1"/>
          <p:nvPr/>
        </p:nvSpPr>
        <p:spPr>
          <a:xfrm>
            <a:off x="320040" y="4224528"/>
            <a:ext cx="11338560" cy="2011680"/>
          </a:xfrm>
          <a:prstGeom prst="rect">
            <a:avLst/>
          </a:prstGeom>
          <a:noFill/>
        </p:spPr>
        <p:txBody>
          <a:bodyPr wrap="square">
            <a:noAutofit/>
          </a:bodyPr>
          <a:lstStyle/>
          <a:p>
            <a:pPr algn="l">
              <a:lnSpc>
                <a:spcPct val="105000"/>
              </a:lnSpc>
              <a:spcAft>
                <a:spcPts val="800"/>
              </a:spcAft>
            </a:pPr>
            <a:r>
              <a:rPr sz="1200" b="0" i="0">
                <a:solidFill>
                  <a:srgbClr val="000000"/>
                </a:solidFill>
                <a:latin typeface="Arial"/>
              </a:rPr>
              <a:t>•  Revenue rose from $9.7M to $12.8M, FY24 to FY25, per SmartCompany Smart50 citations.</a:t>
            </a:r>
          </a:p>
          <a:p>
            <a:pPr algn="l">
              <a:lnSpc>
                <a:spcPct val="105000"/>
              </a:lnSpc>
              <a:spcAft>
                <a:spcPts val="800"/>
              </a:spcAft>
            </a:pPr>
            <a:r>
              <a:rPr sz="1200" b="0" i="0">
                <a:solidFill>
                  <a:srgbClr val="000000"/>
                </a:solidFill>
                <a:latin typeface="Arial"/>
              </a:rPr>
              <a:t>•  Agency client base doubled in 12 months, per 2024 Telstra Best of Business Awards VIC.</a:t>
            </a:r>
          </a:p>
          <a:p>
            <a:pPr algn="l">
              <a:lnSpc>
                <a:spcPct val="105000"/>
              </a:lnSpc>
              <a:spcAft>
                <a:spcPts val="800"/>
              </a:spcAft>
            </a:pPr>
            <a:r>
              <a:rPr sz="1200" b="0" i="0">
                <a:solidFill>
                  <a:srgbClr val="000000"/>
                </a:solidFill>
                <a:latin typeface="Arial"/>
              </a:rPr>
              <a:t>•  Named Most Innovative Proptech at the 2024 Proptech Awards held in Sydney.</a:t>
            </a:r>
          </a:p>
          <a:p>
            <a:pPr algn="l">
              <a:lnSpc>
                <a:spcPct val="105000"/>
              </a:lnSpc>
              <a:spcAft>
                <a:spcPts val="800"/>
              </a:spcAft>
            </a:pPr>
            <a:r>
              <a:rPr sz="1200" b="0" i="0">
                <a:solidFill>
                  <a:srgbClr val="000000"/>
                </a:solidFill>
                <a:latin typeface="Arial"/>
              </a:rPr>
              <a:t>•  Third straight Smart50 year, 2023 to 2025, rank improved from 46th to 37th nationally.</a:t>
            </a:r>
          </a:p>
          <a:p>
            <a:pPr algn="l">
              <a:lnSpc>
                <a:spcPct val="105000"/>
              </a:lnSpc>
              <a:spcAft>
                <a:spcPts val="800"/>
              </a:spcAft>
            </a:pPr>
            <a:r>
              <a:rPr sz="1200" b="0" i="0">
                <a:solidFill>
                  <a:srgbClr val="000000"/>
                </a:solidFill>
                <a:latin typeface="Arial"/>
              </a:rPr>
              <a:t>•  Three active product lines in market: TradieConnect, RentSafe since 2021, and RentRepair.</a:t>
            </a:r>
          </a:p>
          <a:p>
            <a:pPr algn="l">
              <a:lnSpc>
                <a:spcPct val="105000"/>
              </a:lnSpc>
              <a:spcAft>
                <a:spcPts val="800"/>
              </a:spcAft>
            </a:pPr>
            <a:r>
              <a:rPr sz="1200" b="0" i="0">
                <a:solidFill>
                  <a:srgbClr val="000000"/>
                </a:solidFill>
                <a:latin typeface="Arial"/>
              </a:rPr>
              <a:t>•  Single head office confirmed at Burnley VIC 3121, per the company's published contact page.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a:noAutofit/>
          </a:bodyPr>
          <a:lstStyle/>
          <a:p>
            <a:pPr algn="l"/>
            <a:r>
              <a:rPr sz="1200" b="1" i="0">
                <a:solidFill>
                  <a:srgbClr val="E6E5DE"/>
                </a:solidFill>
                <a:latin typeface="Arial"/>
              </a:rPr>
              <a:t>THE OPPORTUNITY</a:t>
            </a:r>
          </a:p>
        </p:txBody>
      </p:sp>
      <p:sp>
        <p:nvSpPr>
          <p:cNvPr id="5" name="TextBox 4"/>
          <p:cNvSpPr txBox="1"/>
          <p:nvPr/>
        </p:nvSpPr>
        <p:spPr>
          <a:xfrm>
            <a:off x="7772400" y="292608"/>
            <a:ext cx="4114800" cy="365760"/>
          </a:xfrm>
          <a:prstGeom prst="rect">
            <a:avLst/>
          </a:prstGeom>
          <a:noFill/>
        </p:spPr>
        <p:txBody>
          <a:bodyPr wrap="square">
            <a:noAutofit/>
          </a:bodyPr>
          <a:lstStyle/>
          <a:p>
            <a:pPr algn="r"/>
            <a:r>
              <a:rPr sz="1200" b="1" i="0">
                <a:solidFill>
                  <a:srgbClr val="F8C806"/>
                </a:solidFill>
                <a:latin typeface="Arial"/>
              </a:rPr>
              <a:t>PROFITPULSE</a:t>
            </a:r>
          </a:p>
        </p:txBody>
      </p:sp>
      <p:sp>
        <p:nvSpPr>
          <p:cNvPr id="6" name="Rectangle 5"/>
          <p:cNvSpPr/>
          <p:nvPr/>
        </p:nvSpPr>
        <p:spPr>
          <a:xfrm>
            <a:off x="320040" y="6446520"/>
            <a:ext cx="11521440" cy="9525"/>
          </a:xfrm>
          <a:prstGeom prst="rect">
            <a:avLst/>
          </a:prstGeom>
          <a:solidFill>
            <a:srgbClr val="000000"/>
          </a:solidFill>
          <a:ln>
            <a:noFill/>
          </a:ln>
          <a:effectLst/>
        </p:spPr>
        <p:txBody>
          <a:bodyPr rtlCol="0" anchor="ctr"/>
          <a:lstStyle/>
          <a:p>
            <a:pPr algn="ctr"/>
          </a:p>
        </p:txBody>
      </p:sp>
      <p:sp>
        <p:nvSpPr>
          <p:cNvPr id="7" name="TextBox 6"/>
          <p:cNvSpPr txBox="1"/>
          <p:nvPr/>
        </p:nvSpPr>
        <p:spPr>
          <a:xfrm>
            <a:off x="320040" y="6510528"/>
            <a:ext cx="8686800" cy="274320"/>
          </a:xfrm>
          <a:prstGeom prst="rect">
            <a:avLst/>
          </a:prstGeom>
          <a:noFill/>
        </p:spPr>
        <p:txBody>
          <a:bodyPr wrap="square">
            <a:noAutofit/>
          </a:bodyPr>
          <a:lstStyle/>
          <a:p>
            <a:pPr algn="l"/>
            <a:r>
              <a:rPr sz="800" b="0" i="0">
                <a:solidFill>
                  <a:srgbClr val="000000"/>
                </a:solidFill>
                <a:latin typeface="Arial"/>
              </a:rPr>
              <a:t>Prepared by Nitesh Roopa CA, Managing Partner, ProfitPulse, Profit-Pulse.com.au</a:t>
            </a:r>
          </a:p>
        </p:txBody>
      </p:sp>
      <p:sp>
        <p:nvSpPr>
          <p:cNvPr id="8" name="TextBox 7"/>
          <p:cNvSpPr txBox="1"/>
          <p:nvPr/>
        </p:nvSpPr>
        <p:spPr>
          <a:xfrm>
            <a:off x="9144000" y="6510528"/>
            <a:ext cx="2743200" cy="274320"/>
          </a:xfrm>
          <a:prstGeom prst="rect">
            <a:avLst/>
          </a:prstGeom>
          <a:noFill/>
        </p:spPr>
        <p:txBody>
          <a:bodyPr wrap="square">
            <a:noAutofit/>
          </a:bodyPr>
          <a:lstStyle/>
          <a:p>
            <a:pPr algn="r"/>
            <a:r>
              <a:rPr sz="800" b="0" i="0">
                <a:solidFill>
                  <a:srgbClr val="000000"/>
                </a:solidFill>
                <a:latin typeface="Arial"/>
              </a:rPr>
              <a:t>28 Aug 2026</a:t>
            </a:r>
          </a:p>
        </p:txBody>
      </p:sp>
      <p:sp>
        <p:nvSpPr>
          <p:cNvPr id="9" name="TextBox 8"/>
          <p:cNvSpPr txBox="1"/>
          <p:nvPr/>
        </p:nvSpPr>
        <p:spPr>
          <a:xfrm>
            <a:off x="320040" y="1005840"/>
            <a:ext cx="11338560" cy="365760"/>
          </a:xfrm>
          <a:prstGeom prst="rect">
            <a:avLst/>
          </a:prstGeom>
          <a:noFill/>
        </p:spPr>
        <p:txBody>
          <a:bodyPr wrap="square">
            <a:noAutofit/>
          </a:bodyPr>
          <a:lstStyle/>
          <a:p>
            <a:pPr algn="l"/>
            <a:r>
              <a:rPr sz="1500" b="1" i="0">
                <a:solidFill>
                  <a:srgbClr val="000000"/>
                </a:solidFill>
                <a:latin typeface="Cambria"/>
              </a:rPr>
              <a:t>Taskforce Australia: three commercial observations from ProfitPulse</a:t>
            </a:r>
          </a:p>
        </p:txBody>
      </p:sp>
      <p:sp>
        <p:nvSpPr>
          <p:cNvPr id="10" name="Rectangle 9"/>
          <p:cNvSpPr/>
          <p:nvPr/>
        </p:nvSpPr>
        <p:spPr>
          <a:xfrm>
            <a:off x="320040" y="1554480"/>
            <a:ext cx="3758184" cy="4160520"/>
          </a:xfrm>
          <a:prstGeom prst="rect">
            <a:avLst/>
          </a:prstGeom>
          <a:solidFill>
            <a:srgbClr val="01A296"/>
          </a:solidFill>
          <a:ln>
            <a:noFill/>
          </a:ln>
          <a:effectLst/>
        </p:spPr>
        <p:txBody>
          <a:bodyPr rtlCol="0" anchor="ctr"/>
          <a:lstStyle/>
          <a:p>
            <a:pPr algn="ctr"/>
          </a:p>
        </p:txBody>
      </p:sp>
      <p:sp>
        <p:nvSpPr>
          <p:cNvPr id="11" name="TextBox 10"/>
          <p:cNvSpPr txBox="1"/>
          <p:nvPr/>
        </p:nvSpPr>
        <p:spPr>
          <a:xfrm>
            <a:off x="502920" y="1719072"/>
            <a:ext cx="3392424" cy="640080"/>
          </a:xfrm>
          <a:prstGeom prst="rect">
            <a:avLst/>
          </a:prstGeom>
          <a:noFill/>
        </p:spPr>
        <p:txBody>
          <a:bodyPr wrap="square">
            <a:noAutofit/>
          </a:bodyPr>
          <a:lstStyle/>
          <a:p>
            <a:pPr algn="l"/>
            <a:r>
              <a:rPr sz="3400" b="1" i="0">
                <a:solidFill>
                  <a:srgbClr val="000000"/>
                </a:solidFill>
                <a:latin typeface="Cambria"/>
              </a:rPr>
              <a:t>01</a:t>
            </a:r>
          </a:p>
        </p:txBody>
      </p:sp>
      <p:sp>
        <p:nvSpPr>
          <p:cNvPr id="12" name="TextBox 11"/>
          <p:cNvSpPr txBox="1"/>
          <p:nvPr/>
        </p:nvSpPr>
        <p:spPr>
          <a:xfrm>
            <a:off x="502920" y="2423160"/>
            <a:ext cx="3392424" cy="685800"/>
          </a:xfrm>
          <a:prstGeom prst="rect">
            <a:avLst/>
          </a:prstGeom>
          <a:noFill/>
        </p:spPr>
        <p:txBody>
          <a:bodyPr wrap="square">
            <a:noAutofit/>
          </a:bodyPr>
          <a:lstStyle/>
          <a:p>
            <a:pPr algn="l"/>
            <a:r>
              <a:rPr sz="1400" b="1" i="0">
                <a:solidFill>
                  <a:srgbClr val="FFFFFF"/>
                </a:solidFill>
                <a:latin typeface="Cambria"/>
              </a:rPr>
              <a:t>Three lines, one blended number</a:t>
            </a:r>
          </a:p>
        </p:txBody>
      </p:sp>
      <p:sp>
        <p:nvSpPr>
          <p:cNvPr id="13" name="TextBox 12"/>
          <p:cNvSpPr txBox="1"/>
          <p:nvPr/>
        </p:nvSpPr>
        <p:spPr>
          <a:xfrm>
            <a:off x="502920" y="3154680"/>
            <a:ext cx="3392424" cy="2377440"/>
          </a:xfrm>
          <a:prstGeom prst="rect">
            <a:avLst/>
          </a:prstGeom>
          <a:noFill/>
        </p:spPr>
        <p:txBody>
          <a:bodyPr wrap="square">
            <a:noAutofit/>
          </a:bodyPr>
          <a:lstStyle/>
          <a:p>
            <a:pPr algn="l">
              <a:lnSpc>
                <a:spcPct val="112000"/>
              </a:lnSpc>
              <a:spcAft>
                <a:spcPts val="0"/>
              </a:spcAft>
            </a:pPr>
            <a:r>
              <a:rPr sz="1100" b="0" i="0">
                <a:solidFill>
                  <a:srgbClr val="FFFFFF"/>
                </a:solidFill>
                <a:latin typeface="Arial"/>
              </a:rPr>
              <a:t>TradieConnect, RentSafe since 2021, and RentRepair each serve a different customer: manufacturers, property managers, and landlords. Smart50 citations report only one blended revenue and growth figure across all three. As volume compounds, the open question is which line is carrying that growth and which is diluting margin.</a:t>
            </a:r>
          </a:p>
        </p:txBody>
      </p:sp>
      <p:sp>
        <p:nvSpPr>
          <p:cNvPr id="14" name="Rectangle 13"/>
          <p:cNvSpPr/>
          <p:nvPr/>
        </p:nvSpPr>
        <p:spPr>
          <a:xfrm>
            <a:off x="4215384" y="1554480"/>
            <a:ext cx="3758184" cy="4160520"/>
          </a:xfrm>
          <a:prstGeom prst="rect">
            <a:avLst/>
          </a:prstGeom>
          <a:solidFill>
            <a:srgbClr val="000000"/>
          </a:solidFill>
          <a:ln>
            <a:noFill/>
          </a:ln>
          <a:effectLst/>
        </p:spPr>
        <p:txBody>
          <a:bodyPr rtlCol="0" anchor="ctr"/>
          <a:lstStyle/>
          <a:p>
            <a:pPr algn="ctr"/>
          </a:p>
        </p:txBody>
      </p:sp>
      <p:sp>
        <p:nvSpPr>
          <p:cNvPr id="15" name="TextBox 14"/>
          <p:cNvSpPr txBox="1"/>
          <p:nvPr/>
        </p:nvSpPr>
        <p:spPr>
          <a:xfrm>
            <a:off x="4398264" y="1719072"/>
            <a:ext cx="3392424" cy="640080"/>
          </a:xfrm>
          <a:prstGeom prst="rect">
            <a:avLst/>
          </a:prstGeom>
          <a:noFill/>
        </p:spPr>
        <p:txBody>
          <a:bodyPr wrap="square">
            <a:noAutofit/>
          </a:bodyPr>
          <a:lstStyle/>
          <a:p>
            <a:pPr algn="l"/>
            <a:r>
              <a:rPr sz="3400" b="1" i="0">
                <a:solidFill>
                  <a:srgbClr val="F8C806"/>
                </a:solidFill>
                <a:latin typeface="Cambria"/>
              </a:rPr>
              <a:t>02</a:t>
            </a:r>
          </a:p>
        </p:txBody>
      </p:sp>
      <p:sp>
        <p:nvSpPr>
          <p:cNvPr id="16" name="TextBox 15"/>
          <p:cNvSpPr txBox="1"/>
          <p:nvPr/>
        </p:nvSpPr>
        <p:spPr>
          <a:xfrm>
            <a:off x="4398264" y="2423160"/>
            <a:ext cx="3392424" cy="685800"/>
          </a:xfrm>
          <a:prstGeom prst="rect">
            <a:avLst/>
          </a:prstGeom>
          <a:noFill/>
        </p:spPr>
        <p:txBody>
          <a:bodyPr wrap="square">
            <a:noAutofit/>
          </a:bodyPr>
          <a:lstStyle/>
          <a:p>
            <a:pPr algn="l"/>
            <a:r>
              <a:rPr sz="1400" b="1" i="0">
                <a:solidFill>
                  <a:srgbClr val="E6E5DE"/>
                </a:solidFill>
                <a:latin typeface="Cambria"/>
              </a:rPr>
              <a:t>Three straight years, one inflection point</a:t>
            </a:r>
          </a:p>
        </p:txBody>
      </p:sp>
      <p:sp>
        <p:nvSpPr>
          <p:cNvPr id="17" name="TextBox 16"/>
          <p:cNvSpPr txBox="1"/>
          <p:nvPr/>
        </p:nvSpPr>
        <p:spPr>
          <a:xfrm>
            <a:off x="4398264" y="3154680"/>
            <a:ext cx="3392424" cy="2377440"/>
          </a:xfrm>
          <a:prstGeom prst="rect">
            <a:avLst/>
          </a:prstGeom>
          <a:noFill/>
        </p:spPr>
        <p:txBody>
          <a:bodyPr wrap="square">
            <a:noAutofit/>
          </a:bodyPr>
          <a:lstStyle/>
          <a:p>
            <a:pPr algn="l">
              <a:lnSpc>
                <a:spcPct val="112000"/>
              </a:lnSpc>
              <a:spcAft>
                <a:spcPts val="0"/>
              </a:spcAft>
            </a:pPr>
            <a:r>
              <a:rPr sz="1100" b="0" i="0">
                <a:solidFill>
                  <a:srgbClr val="E6E5DE"/>
                </a:solidFill>
                <a:latin typeface="Arial"/>
              </a:rPr>
              <a:t>Taskforce Australia has placed in the Smart50 list three years running, 2023 to 2025, climbing from rank 46 to rank 37 as revenue rose from $9.7M to $12.8M. Telstra named this Outstanding Growth in 2024. A three year compounding pattern like this is usually the point where the plan that carried early growth needs a deliberate reset for the next stage.</a:t>
            </a:r>
          </a:p>
        </p:txBody>
      </p:sp>
      <p:sp>
        <p:nvSpPr>
          <p:cNvPr id="18" name="Rectangle 17"/>
          <p:cNvSpPr/>
          <p:nvPr/>
        </p:nvSpPr>
        <p:spPr>
          <a:xfrm>
            <a:off x="8110728" y="1554480"/>
            <a:ext cx="3758184" cy="4160520"/>
          </a:xfrm>
          <a:prstGeom prst="rect">
            <a:avLst/>
          </a:prstGeom>
          <a:solidFill>
            <a:srgbClr val="E3A712"/>
          </a:solidFill>
          <a:ln>
            <a:noFill/>
          </a:ln>
          <a:effectLst/>
        </p:spPr>
        <p:txBody>
          <a:bodyPr rtlCol="0" anchor="ctr"/>
          <a:lstStyle/>
          <a:p>
            <a:pPr algn="ctr"/>
          </a:p>
        </p:txBody>
      </p:sp>
      <p:sp>
        <p:nvSpPr>
          <p:cNvPr id="19" name="TextBox 18"/>
          <p:cNvSpPr txBox="1"/>
          <p:nvPr/>
        </p:nvSpPr>
        <p:spPr>
          <a:xfrm>
            <a:off x="8293608" y="1719072"/>
            <a:ext cx="3392424" cy="640080"/>
          </a:xfrm>
          <a:prstGeom prst="rect">
            <a:avLst/>
          </a:prstGeom>
          <a:noFill/>
        </p:spPr>
        <p:txBody>
          <a:bodyPr wrap="square">
            <a:noAutofit/>
          </a:bodyPr>
          <a:lstStyle/>
          <a:p>
            <a:pPr algn="l"/>
            <a:r>
              <a:rPr sz="3400" b="1" i="0">
                <a:solidFill>
                  <a:srgbClr val="FFFFFF"/>
                </a:solidFill>
                <a:latin typeface="Cambria"/>
              </a:rPr>
              <a:t>03</a:t>
            </a:r>
          </a:p>
        </p:txBody>
      </p:sp>
      <p:sp>
        <p:nvSpPr>
          <p:cNvPr id="20" name="TextBox 19"/>
          <p:cNvSpPr txBox="1"/>
          <p:nvPr/>
        </p:nvSpPr>
        <p:spPr>
          <a:xfrm>
            <a:off x="8293608" y="2423160"/>
            <a:ext cx="3392424" cy="685800"/>
          </a:xfrm>
          <a:prstGeom prst="rect">
            <a:avLst/>
          </a:prstGeom>
          <a:noFill/>
        </p:spPr>
        <p:txBody>
          <a:bodyPr wrap="square">
            <a:noAutofit/>
          </a:bodyPr>
          <a:lstStyle/>
          <a:p>
            <a:pPr algn="l"/>
            <a:r>
              <a:rPr sz="1400" b="1" i="0">
                <a:solidFill>
                  <a:srgbClr val="000000"/>
                </a:solidFill>
                <a:latin typeface="Cambria"/>
              </a:rPr>
              <a:t>Doubled clients, one dashboard</a:t>
            </a:r>
          </a:p>
        </p:txBody>
      </p:sp>
      <p:sp>
        <p:nvSpPr>
          <p:cNvPr id="21" name="TextBox 20"/>
          <p:cNvSpPr txBox="1"/>
          <p:nvPr/>
        </p:nvSpPr>
        <p:spPr>
          <a:xfrm>
            <a:off x="8293608" y="3154680"/>
            <a:ext cx="3392424" cy="2377440"/>
          </a:xfrm>
          <a:prstGeom prst="rect">
            <a:avLst/>
          </a:prstGeom>
          <a:noFill/>
        </p:spPr>
        <p:txBody>
          <a:bodyPr wrap="square">
            <a:noAutofit/>
          </a:bodyPr>
          <a:lstStyle/>
          <a:p>
            <a:pPr algn="l">
              <a:lnSpc>
                <a:spcPct val="112000"/>
              </a:lnSpc>
              <a:spcAft>
                <a:spcPts val="0"/>
              </a:spcAft>
            </a:pPr>
            <a:r>
              <a:rPr sz="1100" b="0" i="0">
                <a:solidFill>
                  <a:srgbClr val="000000"/>
                </a:solidFill>
                <a:latin typeface="Arial"/>
              </a:rPr>
              <a:t>The 2024 Telstra Best of Business citation records the agency client base doubling within twelve months, the same year the 2024 Proptech Awards named the platform Most Innovative Proptech. Client growth at that pace across a large tradesperson network adds real operating complexity behind a clean headline number.</a:t>
            </a:r>
          </a:p>
        </p:txBody>
      </p:sp>
      <p:sp>
        <p:nvSpPr>
          <p:cNvPr id="22" name="TextBox 21"/>
          <p:cNvSpPr txBox="1"/>
          <p:nvPr/>
        </p:nvSpPr>
        <p:spPr>
          <a:xfrm>
            <a:off x="320040" y="5870448"/>
            <a:ext cx="11338560" cy="502920"/>
          </a:xfrm>
          <a:prstGeom prst="rect">
            <a:avLst/>
          </a:prstGeom>
          <a:noFill/>
        </p:spPr>
        <p:txBody>
          <a:bodyPr wrap="square">
            <a:noAutofit/>
          </a:bodyPr>
          <a:lstStyle/>
          <a:p>
            <a:pPr algn="l"/>
            <a:r>
              <a:rPr sz="1100" b="0" i="1">
                <a:solidFill>
                  <a:srgbClr val="000000"/>
                </a:solidFill>
                <a:latin typeface="Arial"/>
              </a:rPr>
              <a:t>These are observations offered in good faith. The company has built something impressive. The question is simply whether the financial architecture matches the ambition.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a:noAutofit/>
          </a:bodyPr>
          <a:lstStyle/>
          <a:p>
            <a:pPr algn="l"/>
            <a:r>
              <a:rPr sz="1200" b="1" i="0">
                <a:solidFill>
                  <a:srgbClr val="E6E5DE"/>
                </a:solidFill>
                <a:latin typeface="Arial"/>
              </a:rPr>
              <a:t>THE RECOMMENDATION</a:t>
            </a:r>
          </a:p>
        </p:txBody>
      </p:sp>
      <p:sp>
        <p:nvSpPr>
          <p:cNvPr id="5" name="TextBox 4"/>
          <p:cNvSpPr txBox="1"/>
          <p:nvPr/>
        </p:nvSpPr>
        <p:spPr>
          <a:xfrm>
            <a:off x="7772400" y="292608"/>
            <a:ext cx="4114800" cy="365760"/>
          </a:xfrm>
          <a:prstGeom prst="rect">
            <a:avLst/>
          </a:prstGeom>
          <a:noFill/>
        </p:spPr>
        <p:txBody>
          <a:bodyPr wrap="square">
            <a:noAutofit/>
          </a:bodyPr>
          <a:lstStyle/>
          <a:p>
            <a:pPr algn="r"/>
            <a:r>
              <a:rPr sz="1200" b="1" i="0">
                <a:solidFill>
                  <a:srgbClr val="F8C806"/>
                </a:solidFill>
                <a:latin typeface="Arial"/>
              </a:rPr>
              <a:t>PROFITPULSE</a:t>
            </a:r>
          </a:p>
        </p:txBody>
      </p:sp>
      <p:sp>
        <p:nvSpPr>
          <p:cNvPr id="6" name="Rectangle 5"/>
          <p:cNvSpPr/>
          <p:nvPr/>
        </p:nvSpPr>
        <p:spPr>
          <a:xfrm>
            <a:off x="320040" y="6446520"/>
            <a:ext cx="11521440" cy="9525"/>
          </a:xfrm>
          <a:prstGeom prst="rect">
            <a:avLst/>
          </a:prstGeom>
          <a:solidFill>
            <a:srgbClr val="000000"/>
          </a:solidFill>
          <a:ln>
            <a:noFill/>
          </a:ln>
          <a:effectLst/>
        </p:spPr>
        <p:txBody>
          <a:bodyPr rtlCol="0" anchor="ctr"/>
          <a:lstStyle/>
          <a:p>
            <a:pPr algn="ctr"/>
          </a:p>
        </p:txBody>
      </p:sp>
      <p:sp>
        <p:nvSpPr>
          <p:cNvPr id="7" name="TextBox 6"/>
          <p:cNvSpPr txBox="1"/>
          <p:nvPr/>
        </p:nvSpPr>
        <p:spPr>
          <a:xfrm>
            <a:off x="320040" y="6510528"/>
            <a:ext cx="8686800" cy="274320"/>
          </a:xfrm>
          <a:prstGeom prst="rect">
            <a:avLst/>
          </a:prstGeom>
          <a:noFill/>
        </p:spPr>
        <p:txBody>
          <a:bodyPr wrap="square">
            <a:noAutofit/>
          </a:bodyPr>
          <a:lstStyle/>
          <a:p>
            <a:pPr algn="l"/>
            <a:r>
              <a:rPr sz="800" b="0" i="0">
                <a:solidFill>
                  <a:srgbClr val="000000"/>
                </a:solidFill>
                <a:latin typeface="Arial"/>
              </a:rPr>
              <a:t>Prepared by Nitesh Roopa CA, Managing Partner, ProfitPulse, Profit-Pulse.com.au</a:t>
            </a:r>
          </a:p>
        </p:txBody>
      </p:sp>
      <p:sp>
        <p:nvSpPr>
          <p:cNvPr id="8" name="TextBox 7"/>
          <p:cNvSpPr txBox="1"/>
          <p:nvPr/>
        </p:nvSpPr>
        <p:spPr>
          <a:xfrm>
            <a:off x="9144000" y="6510528"/>
            <a:ext cx="2743200" cy="274320"/>
          </a:xfrm>
          <a:prstGeom prst="rect">
            <a:avLst/>
          </a:prstGeom>
          <a:noFill/>
        </p:spPr>
        <p:txBody>
          <a:bodyPr wrap="square">
            <a:noAutofit/>
          </a:bodyPr>
          <a:lstStyle/>
          <a:p>
            <a:pPr algn="r"/>
            <a:r>
              <a:rPr sz="800" b="0" i="0">
                <a:solidFill>
                  <a:srgbClr val="000000"/>
                </a:solidFill>
                <a:latin typeface="Arial"/>
              </a:rPr>
              <a:t>28 Aug 2026</a:t>
            </a:r>
          </a:p>
        </p:txBody>
      </p:sp>
      <p:sp>
        <p:nvSpPr>
          <p:cNvPr id="9" name="TextBox 8"/>
          <p:cNvSpPr txBox="1"/>
          <p:nvPr/>
        </p:nvSpPr>
        <p:spPr>
          <a:xfrm>
            <a:off x="320040" y="1051560"/>
            <a:ext cx="6858000" cy="502920"/>
          </a:xfrm>
          <a:prstGeom prst="rect">
            <a:avLst/>
          </a:prstGeom>
          <a:noFill/>
        </p:spPr>
        <p:txBody>
          <a:bodyPr wrap="square">
            <a:noAutofit/>
          </a:bodyPr>
          <a:lstStyle/>
          <a:p>
            <a:pPr algn="l"/>
            <a:r>
              <a:rPr sz="2200" b="1" i="0">
                <a:solidFill>
                  <a:srgbClr val="01A296"/>
                </a:solidFill>
                <a:latin typeface="Cambria"/>
              </a:rPr>
              <a:t>Strategic Growth Diagnostic</a:t>
            </a:r>
          </a:p>
        </p:txBody>
      </p:sp>
      <p:sp>
        <p:nvSpPr>
          <p:cNvPr id="10" name="TextBox 9"/>
          <p:cNvSpPr txBox="1"/>
          <p:nvPr/>
        </p:nvSpPr>
        <p:spPr>
          <a:xfrm>
            <a:off x="320040" y="1536192"/>
            <a:ext cx="6858000" cy="365760"/>
          </a:xfrm>
          <a:prstGeom prst="rect">
            <a:avLst/>
          </a:prstGeom>
          <a:noFill/>
        </p:spPr>
        <p:txBody>
          <a:bodyPr wrap="square">
            <a:noAutofit/>
          </a:bodyPr>
          <a:lstStyle/>
          <a:p>
            <a:pPr algn="l"/>
            <a:r>
              <a:rPr sz="1600" b="1" i="0">
                <a:solidFill>
                  <a:srgbClr val="000000"/>
                </a:solidFill>
                <a:latin typeface="Arial"/>
              </a:rPr>
              <a:t>$5,000 one off</a:t>
            </a:r>
          </a:p>
        </p:txBody>
      </p:sp>
      <p:sp>
        <p:nvSpPr>
          <p:cNvPr id="11" name="TextBox 10"/>
          <p:cNvSpPr txBox="1"/>
          <p:nvPr/>
        </p:nvSpPr>
        <p:spPr>
          <a:xfrm>
            <a:off x="320040" y="1920240"/>
            <a:ext cx="6858000" cy="868680"/>
          </a:xfrm>
          <a:prstGeom prst="rect">
            <a:avLst/>
          </a:prstGeom>
          <a:noFill/>
        </p:spPr>
        <p:txBody>
          <a:bodyPr wrap="square">
            <a:noAutofit/>
          </a:bodyPr>
          <a:lstStyle/>
          <a:p>
            <a:pPr algn="l"/>
            <a:r>
              <a:rPr sz="1200" b="0" i="0">
                <a:solidFill>
                  <a:srgbClr val="000000"/>
                </a:solidFill>
                <a:latin typeface="Arial"/>
              </a:rPr>
              <a:t>A six week engagement mapping revenue, capacity, and margin headroom across your active product lines, producing a twelve month growth plan with funding and capital allocation steps spelled out.</a:t>
            </a:r>
          </a:p>
        </p:txBody>
      </p:sp>
      <p:sp>
        <p:nvSpPr>
          <p:cNvPr id="12" name="Rectangle 11"/>
          <p:cNvSpPr/>
          <p:nvPr/>
        </p:nvSpPr>
        <p:spPr>
          <a:xfrm>
            <a:off x="320040" y="2880360"/>
            <a:ext cx="6858000" cy="1417320"/>
          </a:xfrm>
          <a:prstGeom prst="rect">
            <a:avLst/>
          </a:prstGeom>
          <a:solidFill>
            <a:srgbClr val="E6E5DE"/>
          </a:solidFill>
          <a:ln w="12700">
            <a:solidFill>
              <a:srgbClr val="01A296"/>
            </a:solidFill>
          </a:ln>
          <a:effectLst/>
        </p:spPr>
        <p:txBody>
          <a:bodyPr rtlCol="0" anchor="ctr"/>
          <a:lstStyle/>
          <a:p>
            <a:pPr algn="ctr"/>
          </a:p>
        </p:txBody>
      </p:sp>
      <p:sp>
        <p:nvSpPr>
          <p:cNvPr id="13" name="TextBox 12"/>
          <p:cNvSpPr txBox="1"/>
          <p:nvPr/>
        </p:nvSpPr>
        <p:spPr>
          <a:xfrm>
            <a:off x="502920" y="3017520"/>
            <a:ext cx="6492240" cy="320040"/>
          </a:xfrm>
          <a:prstGeom prst="rect">
            <a:avLst/>
          </a:prstGeom>
          <a:noFill/>
        </p:spPr>
        <p:txBody>
          <a:bodyPr wrap="square">
            <a:noAutofit/>
          </a:bodyPr>
          <a:lstStyle/>
          <a:p>
            <a:pPr algn="l"/>
            <a:r>
              <a:rPr sz="1300" b="1" i="0">
                <a:solidFill>
                  <a:srgbClr val="01A296"/>
                </a:solidFill>
                <a:latin typeface="Arial"/>
              </a:rPr>
              <a:t>Step one, answer a few quick questions</a:t>
            </a:r>
          </a:p>
        </p:txBody>
      </p:sp>
      <p:sp>
        <p:nvSpPr>
          <p:cNvPr id="14" name="TextBox 13"/>
          <p:cNvSpPr txBox="1"/>
          <p:nvPr/>
        </p:nvSpPr>
        <p:spPr>
          <a:xfrm>
            <a:off x="502920" y="3364992"/>
            <a:ext cx="6492240" cy="320040"/>
          </a:xfrm>
          <a:prstGeom prst="rect">
            <a:avLst/>
          </a:prstGeom>
          <a:noFill/>
        </p:spPr>
        <p:txBody>
          <a:bodyPr wrap="square">
            <a:noAutofit/>
          </a:bodyPr>
          <a:lstStyle/>
          <a:p>
            <a:pPr algn="l"/>
            <a:r>
              <a:rPr sz="1100" b="0" i="0">
                <a:solidFill>
                  <a:srgbClr val="000000"/>
                </a:solidFill>
                <a:latin typeface="Arial"/>
              </a:rPr>
              <a:t>See the solutions matched to your size and industry.</a:t>
            </a:r>
          </a:p>
        </p:txBody>
      </p:sp>
      <p:sp>
        <p:nvSpPr>
          <p:cNvPr id="15" name="TextBox 14"/>
          <p:cNvSpPr txBox="1"/>
          <p:nvPr/>
        </p:nvSpPr>
        <p:spPr>
          <a:xfrm>
            <a:off x="502920" y="3703320"/>
            <a:ext cx="6492240" cy="320040"/>
          </a:xfrm>
          <a:prstGeom prst="rect">
            <a:avLst/>
          </a:prstGeom>
          <a:noFill/>
        </p:spPr>
        <p:txBody>
          <a:bodyPr wrap="square">
            <a:noAutofit/>
          </a:bodyPr>
          <a:lstStyle/>
          <a:p>
            <a:pPr algn="l"/>
            <a:r>
              <a:rPr sz="1300" b="1" i="0">
                <a:solidFill>
                  <a:srgbClr val="01A296"/>
                </a:solidFill>
                <a:latin typeface="Arial"/>
              </a:rPr>
              <a:t>profit-pulse.com.au/services/find-your-fit</a:t>
            </a:r>
          </a:p>
        </p:txBody>
      </p:sp>
      <p:sp>
        <p:nvSpPr>
          <p:cNvPr id="16" name="TextBox 15"/>
          <p:cNvSpPr txBox="1"/>
          <p:nvPr/>
        </p:nvSpPr>
        <p:spPr>
          <a:xfrm>
            <a:off x="502920" y="4023360"/>
            <a:ext cx="6492240" cy="320040"/>
          </a:xfrm>
          <a:prstGeom prst="rect">
            <a:avLst/>
          </a:prstGeom>
          <a:noFill/>
        </p:spPr>
        <p:txBody>
          <a:bodyPr wrap="square">
            <a:noAutofit/>
          </a:bodyPr>
          <a:lstStyle/>
          <a:p>
            <a:pPr algn="l"/>
            <a:r>
              <a:rPr sz="1100" b="1" i="0">
                <a:solidFill>
                  <a:srgbClr val="F6A102"/>
                </a:solidFill>
                <a:latin typeface="Arial"/>
              </a:rPr>
              <a:t>Purchase the suggested product now to get started</a:t>
            </a:r>
          </a:p>
        </p:txBody>
      </p:sp>
      <p:sp>
        <p:nvSpPr>
          <p:cNvPr id="17" name="TextBox 16"/>
          <p:cNvSpPr txBox="1"/>
          <p:nvPr/>
        </p:nvSpPr>
        <p:spPr>
          <a:xfrm>
            <a:off x="320040" y="4526280"/>
            <a:ext cx="6858000" cy="320040"/>
          </a:xfrm>
          <a:prstGeom prst="rect">
            <a:avLst/>
          </a:prstGeom>
          <a:noFill/>
        </p:spPr>
        <p:txBody>
          <a:bodyPr wrap="square">
            <a:noAutofit/>
          </a:bodyPr>
          <a:lstStyle/>
          <a:p>
            <a:pPr algn="l"/>
            <a:r>
              <a:rPr sz="1200" b="1" i="0">
                <a:solidFill>
                  <a:srgbClr val="000000"/>
                </a:solidFill>
                <a:latin typeface="Arial"/>
              </a:rPr>
              <a:t>Prefer a conversation first?</a:t>
            </a:r>
          </a:p>
        </p:txBody>
      </p:sp>
      <p:sp>
        <p:nvSpPr>
          <p:cNvPr id="18" name="TextBox 17"/>
          <p:cNvSpPr txBox="1"/>
          <p:nvPr/>
        </p:nvSpPr>
        <p:spPr>
          <a:xfrm>
            <a:off x="320040" y="4828032"/>
            <a:ext cx="6858000" cy="365760"/>
          </a:xfrm>
          <a:prstGeom prst="rect">
            <a:avLst/>
          </a:prstGeom>
          <a:noFill/>
        </p:spPr>
        <p:txBody>
          <a:bodyPr wrap="square">
            <a:noAutofit/>
          </a:bodyPr>
          <a:lstStyle/>
          <a:p>
            <a:pPr algn="l"/>
            <a:r>
              <a:rPr sz="1100" b="0" i="0">
                <a:solidFill>
                  <a:srgbClr val="000000"/>
                </a:solidFill>
                <a:latin typeface="Arial"/>
              </a:rPr>
              <a:t>Book a complimentary discovery call through the ProfitPulse booking page.</a:t>
            </a:r>
          </a:p>
        </p:txBody>
      </p:sp>
      <p:sp>
        <p:nvSpPr>
          <p:cNvPr id="19" name="Rectangle 18"/>
          <p:cNvSpPr/>
          <p:nvPr/>
        </p:nvSpPr>
        <p:spPr>
          <a:xfrm>
            <a:off x="320040" y="5349240"/>
            <a:ext cx="6858000" cy="9525"/>
          </a:xfrm>
          <a:prstGeom prst="rect">
            <a:avLst/>
          </a:prstGeom>
          <a:solidFill>
            <a:srgbClr val="000000"/>
          </a:solidFill>
          <a:ln>
            <a:noFill/>
          </a:ln>
          <a:effectLst/>
        </p:spPr>
        <p:txBody>
          <a:bodyPr rtlCol="0" anchor="ctr"/>
          <a:lstStyle/>
          <a:p>
            <a:pPr algn="ctr"/>
          </a:p>
        </p:txBody>
      </p:sp>
      <p:sp>
        <p:nvSpPr>
          <p:cNvPr id="20" name="TextBox 19"/>
          <p:cNvSpPr txBox="1"/>
          <p:nvPr/>
        </p:nvSpPr>
        <p:spPr>
          <a:xfrm>
            <a:off x="320040" y="5486400"/>
            <a:ext cx="6858000" cy="548640"/>
          </a:xfrm>
          <a:prstGeom prst="rect">
            <a:avLst/>
          </a:prstGeom>
          <a:noFill/>
        </p:spPr>
        <p:txBody>
          <a:bodyPr wrap="square">
            <a:noAutofit/>
          </a:bodyPr>
          <a:lstStyle/>
          <a:p>
            <a:pPr algn="l"/>
            <a:r>
              <a:rPr sz="1050" b="0" i="1">
                <a:solidFill>
                  <a:srgbClr val="000000"/>
                </a:solidFill>
                <a:latin typeface="Arial"/>
              </a:rPr>
              <a:t>Also considered: Product and Service Line Profitability, and KPI Dashboard Build and Run, to track all three lines in one view.</a:t>
            </a:r>
          </a:p>
        </p:txBody>
      </p:sp>
      <p:sp>
        <p:nvSpPr>
          <p:cNvPr id="21" name="Rectangle 20"/>
          <p:cNvSpPr/>
          <p:nvPr/>
        </p:nvSpPr>
        <p:spPr>
          <a:xfrm>
            <a:off x="7452360" y="1051560"/>
            <a:ext cx="4416552" cy="5074920"/>
          </a:xfrm>
          <a:prstGeom prst="rect">
            <a:avLst/>
          </a:prstGeom>
          <a:solidFill>
            <a:srgbClr val="000000"/>
          </a:solidFill>
          <a:ln>
            <a:noFill/>
          </a:ln>
          <a:effectLst/>
        </p:spPr>
        <p:txBody>
          <a:bodyPr rtlCol="0" anchor="ctr"/>
          <a:lstStyle/>
          <a:p>
            <a:pPr algn="ctr"/>
          </a:p>
        </p:txBody>
      </p:sp>
      <p:sp>
        <p:nvSpPr>
          <p:cNvPr id="22" name="TextBox 21"/>
          <p:cNvSpPr txBox="1"/>
          <p:nvPr/>
        </p:nvSpPr>
        <p:spPr>
          <a:xfrm>
            <a:off x="7680960" y="1234440"/>
            <a:ext cx="3959352" cy="457200"/>
          </a:xfrm>
          <a:prstGeom prst="rect">
            <a:avLst/>
          </a:prstGeom>
          <a:noFill/>
        </p:spPr>
        <p:txBody>
          <a:bodyPr wrap="square">
            <a:noAutofit/>
          </a:bodyPr>
          <a:lstStyle/>
          <a:p>
            <a:pPr algn="l"/>
            <a:r>
              <a:rPr sz="1900" b="1" i="0">
                <a:solidFill>
                  <a:srgbClr val="F8C806"/>
                </a:solidFill>
                <a:latin typeface="Cambria"/>
              </a:rPr>
              <a:t>Nitesh Roopa</a:t>
            </a:r>
          </a:p>
        </p:txBody>
      </p:sp>
      <p:sp>
        <p:nvSpPr>
          <p:cNvPr id="23" name="TextBox 22"/>
          <p:cNvSpPr txBox="1"/>
          <p:nvPr/>
        </p:nvSpPr>
        <p:spPr>
          <a:xfrm>
            <a:off x="7680960" y="1664208"/>
            <a:ext cx="3959352" cy="320040"/>
          </a:xfrm>
          <a:prstGeom prst="rect">
            <a:avLst/>
          </a:prstGeom>
          <a:noFill/>
        </p:spPr>
        <p:txBody>
          <a:bodyPr wrap="square">
            <a:noAutofit/>
          </a:bodyPr>
          <a:lstStyle/>
          <a:p>
            <a:pPr algn="l"/>
            <a:r>
              <a:rPr sz="1200" b="0" i="0">
                <a:solidFill>
                  <a:srgbClr val="E6E5DE"/>
                </a:solidFill>
                <a:latin typeface="Arial"/>
              </a:rPr>
              <a:t>CA, Managing Partner, ProfitPulse</a:t>
            </a:r>
          </a:p>
        </p:txBody>
      </p:sp>
      <p:sp>
        <p:nvSpPr>
          <p:cNvPr id="24" name="Rectangle 23"/>
          <p:cNvSpPr/>
          <p:nvPr/>
        </p:nvSpPr>
        <p:spPr>
          <a:xfrm>
            <a:off x="7680960" y="2103120"/>
            <a:ext cx="3959352" cy="15875"/>
          </a:xfrm>
          <a:prstGeom prst="rect">
            <a:avLst/>
          </a:prstGeom>
          <a:solidFill>
            <a:srgbClr val="01A296"/>
          </a:solidFill>
          <a:ln>
            <a:noFill/>
          </a:ln>
          <a:effectLst/>
        </p:spPr>
        <p:txBody>
          <a:bodyPr rtlCol="0" anchor="ctr"/>
          <a:lstStyle/>
          <a:p>
            <a:pPr algn="ctr"/>
          </a:p>
        </p:txBody>
      </p:sp>
      <p:sp>
        <p:nvSpPr>
          <p:cNvPr id="25" name="TextBox 24"/>
          <p:cNvSpPr txBox="1"/>
          <p:nvPr/>
        </p:nvSpPr>
        <p:spPr>
          <a:xfrm>
            <a:off x="7680960" y="2286000"/>
            <a:ext cx="3959352" cy="2011680"/>
          </a:xfrm>
          <a:prstGeom prst="rect">
            <a:avLst/>
          </a:prstGeom>
          <a:noFill/>
        </p:spPr>
        <p:txBody>
          <a:bodyPr wrap="square">
            <a:noAutofit/>
          </a:bodyPr>
          <a:lstStyle/>
          <a:p>
            <a:pPr algn="l">
              <a:lnSpc>
                <a:spcPct val="110000"/>
              </a:lnSpc>
              <a:spcAft>
                <a:spcPts val="1400"/>
              </a:spcAft>
            </a:pPr>
            <a:r>
              <a:rPr sz="1200" b="0" i="0">
                <a:solidFill>
                  <a:srgbClr val="E6E5DE"/>
                </a:solidFill>
                <a:latin typeface="Arial"/>
              </a:rPr>
              <a:t>16 years of experience across 4 countries</a:t>
            </a:r>
          </a:p>
          <a:p>
            <a:pPr algn="l">
              <a:lnSpc>
                <a:spcPct val="110000"/>
              </a:lnSpc>
              <a:spcAft>
                <a:spcPts val="1400"/>
              </a:spcAft>
            </a:pPr>
            <a:r>
              <a:rPr sz="1200" b="0" i="0">
                <a:solidFill>
                  <a:srgbClr val="E6E5DE"/>
                </a:solidFill>
                <a:latin typeface="Arial"/>
              </a:rPr>
              <a:t>52 deals executed and managed</a:t>
            </a:r>
          </a:p>
          <a:p>
            <a:pPr algn="l">
              <a:lnSpc>
                <a:spcPct val="110000"/>
              </a:lnSpc>
              <a:spcAft>
                <a:spcPts val="1400"/>
              </a:spcAft>
            </a:pPr>
            <a:r>
              <a:rPr sz="1200" b="0" i="0">
                <a:solidFill>
                  <a:srgbClr val="E6E5DE"/>
                </a:solidFill>
                <a:latin typeface="Arial"/>
              </a:rPr>
              <a:t>Largest single deal, USD 1.3 billion, Cahora Bassa, Mozambique</a:t>
            </a:r>
          </a:p>
          <a:p>
            <a:pPr algn="l">
              <a:lnSpc>
                <a:spcPct val="110000"/>
              </a:lnSpc>
              <a:spcAft>
                <a:spcPts val="1400"/>
              </a:spcAft>
            </a:pPr>
            <a:r>
              <a:rPr sz="1200" b="0" i="0">
                <a:solidFill>
                  <a:srgbClr val="E6E5DE"/>
                </a:solidFill>
                <a:latin typeface="Arial"/>
              </a:rPr>
              <a:t>Total GRBT project value in Queensland over AUD 10 billion</a:t>
            </a:r>
          </a:p>
        </p:txBody>
      </p:sp>
      <p:sp>
        <p:nvSpPr>
          <p:cNvPr id="26" name="Rectangle 25"/>
          <p:cNvSpPr/>
          <p:nvPr/>
        </p:nvSpPr>
        <p:spPr>
          <a:xfrm>
            <a:off x="7680960" y="4343400"/>
            <a:ext cx="3959352" cy="15875"/>
          </a:xfrm>
          <a:prstGeom prst="rect">
            <a:avLst/>
          </a:prstGeom>
          <a:solidFill>
            <a:srgbClr val="01A296"/>
          </a:solidFill>
          <a:ln>
            <a:noFill/>
          </a:ln>
          <a:effectLst/>
        </p:spPr>
        <p:txBody>
          <a:bodyPr rtlCol="0" anchor="ctr"/>
          <a:lstStyle/>
          <a:p>
            <a:pPr algn="ctr"/>
          </a:p>
        </p:txBody>
      </p:sp>
      <p:sp>
        <p:nvSpPr>
          <p:cNvPr id="27" name="TextBox 26"/>
          <p:cNvSpPr txBox="1"/>
          <p:nvPr/>
        </p:nvSpPr>
        <p:spPr>
          <a:xfrm>
            <a:off x="7680960" y="4526280"/>
            <a:ext cx="3959352" cy="1463040"/>
          </a:xfrm>
          <a:prstGeom prst="rect">
            <a:avLst/>
          </a:prstGeom>
          <a:noFill/>
        </p:spPr>
        <p:txBody>
          <a:bodyPr wrap="square">
            <a:noAutofit/>
          </a:bodyPr>
          <a:lstStyle/>
          <a:p>
            <a:pPr algn="l">
              <a:spcAft>
                <a:spcPts val="1000"/>
              </a:spcAft>
            </a:pPr>
            <a:r>
              <a:rPr sz="1150" b="0" i="0">
                <a:solidFill>
                  <a:srgbClr val="E6E5DE"/>
                </a:solidFill>
                <a:latin typeface="Arial"/>
              </a:rPr>
              <a:t>Profit-Pulse.com.au</a:t>
            </a:r>
          </a:p>
          <a:p>
            <a:pPr algn="l">
              <a:spcAft>
                <a:spcPts val="1000"/>
              </a:spcAft>
            </a:pPr>
            <a:r>
              <a:rPr sz="1150" b="0" i="0">
                <a:solidFill>
                  <a:srgbClr val="01A296"/>
                </a:solidFill>
                <a:latin typeface="Arial"/>
              </a:rPr>
              <a:t>Nitesh@Profit-Pulse.com.au</a:t>
            </a:r>
          </a:p>
          <a:p>
            <a:pPr algn="l">
              <a:spcAft>
                <a:spcPts val="1000"/>
              </a:spcAft>
            </a:pPr>
            <a:r>
              <a:rPr sz="1150" b="0" i="0">
                <a:solidFill>
                  <a:srgbClr val="E6E5DE"/>
                </a:solidFill>
                <a:latin typeface="Arial"/>
              </a:rPr>
              <a:t>+61 411 876 267</a:t>
            </a:r>
          </a:p>
          <a:p>
            <a:pPr algn="l">
              <a:spcAft>
                <a:spcPts val="1000"/>
              </a:spcAft>
            </a:pPr>
            <a:r>
              <a:rPr sz="1150" b="0" i="0">
                <a:solidFill>
                  <a:srgbClr val="E6E5DE"/>
                </a:solidFill>
                <a:latin typeface="Arial"/>
              </a:rPr>
              <a:t>linkedin.com/in/nitesh-roopa-77594163</a:t>
            </a:r>
          </a:p>
        </p:txBody>
      </p:sp>
      <p:sp>
        <p:nvSpPr>
          <p:cNvPr id="28" name="TextBox 27"/>
          <p:cNvSpPr txBox="1"/>
          <p:nvPr/>
        </p:nvSpPr>
        <p:spPr>
          <a:xfrm>
            <a:off x="7680960" y="5623560"/>
            <a:ext cx="3959352" cy="457200"/>
          </a:xfrm>
          <a:prstGeom prst="rect">
            <a:avLst/>
          </a:prstGeom>
          <a:noFill/>
        </p:spPr>
        <p:txBody>
          <a:bodyPr wrap="square">
            <a:noAutofit/>
          </a:bodyPr>
          <a:lstStyle/>
          <a:p>
            <a:pPr algn="l"/>
            <a:r>
              <a:rPr sz="950" b="0" i="1">
                <a:solidFill>
                  <a:srgbClr val="E6E5DE"/>
                </a:solidFill>
                <a:latin typeface="Arial"/>
              </a:rPr>
              <a:t>Fractional CFO services: cashflow, investor ready documentation, and growth strategy for Australian SMEs.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