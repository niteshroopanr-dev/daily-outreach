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services/find-your-fit/" TargetMode="External"/><Relationship Id="rId3" Type="http://schemas.openxmlformats.org/officeDocument/2006/relationships/hyperlink" Target="https://buy.stripe.com/00w4gA7OUfGM5TadMH3ks0z"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lIns="0" rIns="0" tIns="0" bIns="0">
            <a:noAutofit/>
          </a:bodyPr>
          <a:lstStyle/>
          <a:p>
            <a:pPr algn="l"/>
            <a:r>
              <a:rPr sz="1200" b="1" i="0">
                <a:solidFill>
                  <a:srgbClr val="E6E5DE"/>
                </a:solidFill>
                <a:latin typeface="Arial"/>
              </a:rPr>
              <a:t>COMMERCIAL INTELLIGENCE BRIEF</a:t>
            </a:r>
          </a:p>
        </p:txBody>
      </p:sp>
      <p:sp>
        <p:nvSpPr>
          <p:cNvPr id="5" name="TextBox 4"/>
          <p:cNvSpPr txBox="1"/>
          <p:nvPr/>
        </p:nvSpPr>
        <p:spPr>
          <a:xfrm>
            <a:off x="8229600" y="292608"/>
            <a:ext cx="3657600" cy="365760"/>
          </a:xfrm>
          <a:prstGeom prst="rect">
            <a:avLst/>
          </a:prstGeom>
          <a:noFill/>
        </p:spPr>
        <p:txBody>
          <a:bodyPr wrap="square" lIns="0" rIns="0" tIns="0" bIns="0">
            <a:noAutofit/>
          </a:bodyPr>
          <a:lstStyle/>
          <a:p>
            <a:pPr algn="r"/>
            <a:r>
              <a:rPr sz="1200" b="1" i="0">
                <a:solidFill>
                  <a:srgbClr val="F8C806"/>
                </a:solidFill>
                <a:latin typeface="Arial"/>
              </a:rPr>
              <a:t>PROFITPULSE</a:t>
            </a:r>
          </a:p>
        </p:txBody>
      </p:sp>
      <p:cxnSp>
        <p:nvCxnSpPr>
          <p:cNvPr id="6" name="Connector 5"/>
          <p:cNvCxnSpPr/>
          <p:nvPr/>
        </p:nvCxnSpPr>
        <p:spPr>
          <a:xfrm>
            <a:off x="320040" y="6446520"/>
            <a:ext cx="11567160" cy="0"/>
          </a:xfrm>
          <a:prstGeom prst="line">
            <a:avLst/>
          </a:prstGeom>
          <a:ln w="9525">
            <a:solidFill>
              <a:srgbClr val="01A29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20040" y="6510528"/>
            <a:ext cx="8229600" cy="274320"/>
          </a:xfrm>
          <a:prstGeom prst="rect">
            <a:avLst/>
          </a:prstGeom>
          <a:noFill/>
        </p:spPr>
        <p:txBody>
          <a:bodyPr wrap="square" lIns="0" rIns="0" tIns="0" bIns="0">
            <a:noAutofit/>
          </a:bodyPr>
          <a:lstStyle/>
          <a:p>
            <a:pPr algn="l"/>
            <a:r>
              <a:rPr sz="800" b="0" i="0">
                <a:solidFill>
                  <a:srgbClr val="000000"/>
                </a:solidFill>
                <a:latin typeface="Arial"/>
              </a:rPr>
              <a:t>Prepared by Nitesh Roopa CA, Managing Partner and Founder, ProfitPulse, Profit-Pulse.com.au</a:t>
            </a:r>
          </a:p>
        </p:txBody>
      </p:sp>
      <p:sp>
        <p:nvSpPr>
          <p:cNvPr id="8" name="TextBox 7"/>
          <p:cNvSpPr txBox="1"/>
          <p:nvPr/>
        </p:nvSpPr>
        <p:spPr>
          <a:xfrm>
            <a:off x="9601200" y="6510528"/>
            <a:ext cx="2286000" cy="274320"/>
          </a:xfrm>
          <a:prstGeom prst="rect">
            <a:avLst/>
          </a:prstGeom>
          <a:noFill/>
        </p:spPr>
        <p:txBody>
          <a:bodyPr wrap="square" lIns="0" rIns="0" tIns="0" bIns="0">
            <a:noAutofit/>
          </a:bodyPr>
          <a:lstStyle/>
          <a:p>
            <a:pPr algn="r"/>
            <a:r>
              <a:rPr sz="800" b="0" i="0">
                <a:solidFill>
                  <a:srgbClr val="000000"/>
                </a:solidFill>
                <a:latin typeface="Arial"/>
              </a:rPr>
              <a:t>01 Sep 2026</a:t>
            </a:r>
          </a:p>
        </p:txBody>
      </p:sp>
      <p:sp>
        <p:nvSpPr>
          <p:cNvPr id="9" name="TextBox 8"/>
          <p:cNvSpPr txBox="1"/>
          <p:nvPr/>
        </p:nvSpPr>
        <p:spPr>
          <a:xfrm>
            <a:off x="320040" y="1051560"/>
            <a:ext cx="8229600" cy="777240"/>
          </a:xfrm>
          <a:prstGeom prst="rect">
            <a:avLst/>
          </a:prstGeom>
          <a:noFill/>
        </p:spPr>
        <p:txBody>
          <a:bodyPr wrap="square" lIns="0" rIns="0" tIns="0" bIns="0">
            <a:noAutofit/>
          </a:bodyPr>
          <a:lstStyle/>
          <a:p>
            <a:pPr algn="l"/>
            <a:r>
              <a:rPr sz="4400" b="1" i="0">
                <a:solidFill>
                  <a:srgbClr val="000000"/>
                </a:solidFill>
                <a:latin typeface="Georgia"/>
              </a:rPr>
              <a:t>Orbitkey</a:t>
            </a:r>
          </a:p>
        </p:txBody>
      </p:sp>
      <p:sp>
        <p:nvSpPr>
          <p:cNvPr id="10" name="TextBox 9"/>
          <p:cNvSpPr txBox="1"/>
          <p:nvPr/>
        </p:nvSpPr>
        <p:spPr>
          <a:xfrm>
            <a:off x="320040" y="1783080"/>
            <a:ext cx="8686800" cy="320040"/>
          </a:xfrm>
          <a:prstGeom prst="rect">
            <a:avLst/>
          </a:prstGeom>
          <a:noFill/>
        </p:spPr>
        <p:txBody>
          <a:bodyPr wrap="square" lIns="0" rIns="0" tIns="0" bIns="0">
            <a:noAutofit/>
          </a:bodyPr>
          <a:lstStyle/>
          <a:p>
            <a:pPr algn="l"/>
            <a:r>
              <a:rPr sz="1400" b="0" i="1">
                <a:solidFill>
                  <a:srgbClr val="01A296"/>
                </a:solidFill>
                <a:latin typeface="Arial"/>
              </a:rPr>
              <a:t>Lifestyle accessories brand, Richmond, Melbourne VIC</a:t>
            </a:r>
          </a:p>
        </p:txBody>
      </p:sp>
      <p:sp>
        <p:nvSpPr>
          <p:cNvPr id="11" name="Rectangle 10"/>
          <p:cNvSpPr/>
          <p:nvPr/>
        </p:nvSpPr>
        <p:spPr>
          <a:xfrm>
            <a:off x="320040" y="2240280"/>
            <a:ext cx="2121408"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2240280"/>
            <a:ext cx="2121408"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 y="2368296"/>
            <a:ext cx="1901952" cy="457200"/>
          </a:xfrm>
          <a:prstGeom prst="rect">
            <a:avLst/>
          </a:prstGeom>
          <a:noFill/>
        </p:spPr>
        <p:txBody>
          <a:bodyPr wrap="square" lIns="0" rIns="0" tIns="0" bIns="0">
            <a:noAutofit/>
          </a:bodyPr>
          <a:lstStyle/>
          <a:p>
            <a:pPr algn="l"/>
            <a:r>
              <a:rPr sz="2700" b="1" i="0">
                <a:solidFill>
                  <a:srgbClr val="FFFFFF"/>
                </a:solidFill>
                <a:latin typeface="Georgia"/>
              </a:rPr>
              <a:t>$24.6M</a:t>
            </a:r>
          </a:p>
        </p:txBody>
      </p:sp>
      <p:sp>
        <p:nvSpPr>
          <p:cNvPr id="14" name="TextBox 13"/>
          <p:cNvSpPr txBox="1"/>
          <p:nvPr/>
        </p:nvSpPr>
        <p:spPr>
          <a:xfrm>
            <a:off x="429768" y="2862072"/>
            <a:ext cx="1901952" cy="502920"/>
          </a:xfrm>
          <a:prstGeom prst="rect">
            <a:avLst/>
          </a:prstGeom>
          <a:noFill/>
        </p:spPr>
        <p:txBody>
          <a:bodyPr wrap="square" lIns="0" rIns="0" tIns="0" bIns="0">
            <a:spAutoFit/>
          </a:bodyPr>
          <a:lstStyle/>
          <a:p>
            <a:pPr algn="l">
              <a:spcAft>
                <a:spcPts val="100"/>
              </a:spcAft>
            </a:pPr>
            <a:r>
              <a:rPr sz="1050" b="0" i="0">
                <a:solidFill>
                  <a:srgbClr val="E6E5DE"/>
                </a:solidFill>
                <a:latin typeface="Arial"/>
              </a:rPr>
              <a:t>Annual</a:t>
            </a:r>
          </a:p>
          <a:p>
            <a:pPr algn="l">
              <a:spcAft>
                <a:spcPts val="100"/>
              </a:spcAft>
            </a:pPr>
            <a:r>
              <a:rPr sz="1050" b="0" i="0">
                <a:solidFill>
                  <a:srgbClr val="E6E5DE"/>
                </a:solidFill>
                <a:latin typeface="Arial"/>
              </a:rPr>
              <a:t>revenue</a:t>
            </a:r>
          </a:p>
        </p:txBody>
      </p:sp>
      <p:sp>
        <p:nvSpPr>
          <p:cNvPr id="15" name="TextBox 14"/>
          <p:cNvSpPr txBox="1"/>
          <p:nvPr/>
        </p:nvSpPr>
        <p:spPr>
          <a:xfrm>
            <a:off x="429768" y="3447288"/>
            <a:ext cx="1901952" cy="219456"/>
          </a:xfrm>
          <a:prstGeom prst="rect">
            <a:avLst/>
          </a:prstGeom>
          <a:noFill/>
        </p:spPr>
        <p:txBody>
          <a:bodyPr wrap="square" lIns="0" rIns="0" tIns="0" bIns="0">
            <a:noAutofit/>
          </a:bodyPr>
          <a:lstStyle/>
          <a:p>
            <a:pPr algn="l"/>
            <a:r>
              <a:rPr sz="750" b="0" i="1">
                <a:solidFill>
                  <a:srgbClr val="E6E5DE"/>
                </a:solidFill>
                <a:latin typeface="Arial"/>
              </a:rPr>
              <a:t>Smart50 2025 rank 50</a:t>
            </a:r>
          </a:p>
        </p:txBody>
      </p:sp>
      <p:sp>
        <p:nvSpPr>
          <p:cNvPr id="16" name="Rectangle 15"/>
          <p:cNvSpPr/>
          <p:nvPr/>
        </p:nvSpPr>
        <p:spPr>
          <a:xfrm>
            <a:off x="2578608" y="2240280"/>
            <a:ext cx="2121408"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78608" y="2240280"/>
            <a:ext cx="2121408"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88336" y="2368296"/>
            <a:ext cx="1901952" cy="457200"/>
          </a:xfrm>
          <a:prstGeom prst="rect">
            <a:avLst/>
          </a:prstGeom>
          <a:noFill/>
        </p:spPr>
        <p:txBody>
          <a:bodyPr wrap="square" lIns="0" rIns="0" tIns="0" bIns="0">
            <a:noAutofit/>
          </a:bodyPr>
          <a:lstStyle/>
          <a:p>
            <a:pPr algn="l"/>
            <a:r>
              <a:rPr sz="2700" b="1" i="0">
                <a:solidFill>
                  <a:srgbClr val="FFFFFF"/>
                </a:solidFill>
                <a:latin typeface="Georgia"/>
              </a:rPr>
              <a:t>44</a:t>
            </a:r>
          </a:p>
        </p:txBody>
      </p:sp>
      <p:sp>
        <p:nvSpPr>
          <p:cNvPr id="19" name="TextBox 18"/>
          <p:cNvSpPr txBox="1"/>
          <p:nvPr/>
        </p:nvSpPr>
        <p:spPr>
          <a:xfrm>
            <a:off x="2688336" y="2862072"/>
            <a:ext cx="1901952" cy="502920"/>
          </a:xfrm>
          <a:prstGeom prst="rect">
            <a:avLst/>
          </a:prstGeom>
          <a:noFill/>
        </p:spPr>
        <p:txBody>
          <a:bodyPr wrap="square" lIns="0" rIns="0" tIns="0" bIns="0">
            <a:spAutoFit/>
          </a:bodyPr>
          <a:lstStyle/>
          <a:p>
            <a:pPr algn="l">
              <a:spcAft>
                <a:spcPts val="100"/>
              </a:spcAft>
            </a:pPr>
            <a:r>
              <a:rPr sz="1050" b="0" i="0">
                <a:solidFill>
                  <a:srgbClr val="E6E5DE"/>
                </a:solidFill>
                <a:latin typeface="Arial"/>
              </a:rPr>
              <a:t>Team size,</a:t>
            </a:r>
          </a:p>
          <a:p>
            <a:pPr algn="l">
              <a:spcAft>
                <a:spcPts val="100"/>
              </a:spcAft>
            </a:pPr>
            <a:r>
              <a:rPr sz="1050" b="0" i="0">
                <a:solidFill>
                  <a:srgbClr val="E6E5DE"/>
                </a:solidFill>
                <a:latin typeface="Arial"/>
              </a:rPr>
              <a:t>people</a:t>
            </a:r>
          </a:p>
        </p:txBody>
      </p:sp>
      <p:sp>
        <p:nvSpPr>
          <p:cNvPr id="20" name="TextBox 19"/>
          <p:cNvSpPr txBox="1"/>
          <p:nvPr/>
        </p:nvSpPr>
        <p:spPr>
          <a:xfrm>
            <a:off x="2688336" y="3447288"/>
            <a:ext cx="1901952" cy="219456"/>
          </a:xfrm>
          <a:prstGeom prst="rect">
            <a:avLst/>
          </a:prstGeom>
          <a:noFill/>
        </p:spPr>
        <p:txBody>
          <a:bodyPr wrap="square" lIns="0" rIns="0" tIns="0" bIns="0">
            <a:noAutofit/>
          </a:bodyPr>
          <a:lstStyle/>
          <a:p>
            <a:pPr algn="l"/>
            <a:r>
              <a:rPr sz="750" b="0" i="1">
                <a:solidFill>
                  <a:srgbClr val="E6E5DE"/>
                </a:solidFill>
                <a:latin typeface="Arial"/>
              </a:rPr>
              <a:t>Smart50 2025 citation</a:t>
            </a:r>
          </a:p>
        </p:txBody>
      </p:sp>
      <p:sp>
        <p:nvSpPr>
          <p:cNvPr id="21" name="Rectangle 20"/>
          <p:cNvSpPr/>
          <p:nvPr/>
        </p:nvSpPr>
        <p:spPr>
          <a:xfrm>
            <a:off x="4837176" y="2240280"/>
            <a:ext cx="2121408"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837176" y="2240280"/>
            <a:ext cx="2121408"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46904" y="2368296"/>
            <a:ext cx="1901952" cy="457200"/>
          </a:xfrm>
          <a:prstGeom prst="rect">
            <a:avLst/>
          </a:prstGeom>
          <a:noFill/>
        </p:spPr>
        <p:txBody>
          <a:bodyPr wrap="square" lIns="0" rIns="0" tIns="0" bIns="0">
            <a:noAutofit/>
          </a:bodyPr>
          <a:lstStyle/>
          <a:p>
            <a:pPr algn="l"/>
            <a:r>
              <a:rPr sz="2700" b="1" i="0">
                <a:solidFill>
                  <a:srgbClr val="FFFFFF"/>
                </a:solidFill>
                <a:latin typeface="Georgia"/>
              </a:rPr>
              <a:t>20%</a:t>
            </a:r>
          </a:p>
        </p:txBody>
      </p:sp>
      <p:sp>
        <p:nvSpPr>
          <p:cNvPr id="24" name="TextBox 23"/>
          <p:cNvSpPr txBox="1"/>
          <p:nvPr/>
        </p:nvSpPr>
        <p:spPr>
          <a:xfrm>
            <a:off x="4946904" y="2862072"/>
            <a:ext cx="1901952" cy="502920"/>
          </a:xfrm>
          <a:prstGeom prst="rect">
            <a:avLst/>
          </a:prstGeom>
          <a:noFill/>
        </p:spPr>
        <p:txBody>
          <a:bodyPr wrap="square" lIns="0" rIns="0" tIns="0" bIns="0">
            <a:spAutoFit/>
          </a:bodyPr>
          <a:lstStyle/>
          <a:p>
            <a:pPr algn="l">
              <a:spcAft>
                <a:spcPts val="100"/>
              </a:spcAft>
            </a:pPr>
            <a:r>
              <a:rPr sz="1050" b="0" i="0">
                <a:solidFill>
                  <a:srgbClr val="E6E5DE"/>
                </a:solidFill>
                <a:latin typeface="Arial"/>
              </a:rPr>
              <a:t>Three yr avg</a:t>
            </a:r>
          </a:p>
          <a:p>
            <a:pPr algn="l">
              <a:spcAft>
                <a:spcPts val="100"/>
              </a:spcAft>
            </a:pPr>
            <a:r>
              <a:rPr sz="1050" b="0" i="0">
                <a:solidFill>
                  <a:srgbClr val="E6E5DE"/>
                </a:solidFill>
                <a:latin typeface="Arial"/>
              </a:rPr>
              <a:t>growth</a:t>
            </a:r>
          </a:p>
        </p:txBody>
      </p:sp>
      <p:sp>
        <p:nvSpPr>
          <p:cNvPr id="25" name="TextBox 24"/>
          <p:cNvSpPr txBox="1"/>
          <p:nvPr/>
        </p:nvSpPr>
        <p:spPr>
          <a:xfrm>
            <a:off x="4946904" y="3447288"/>
            <a:ext cx="1901952" cy="219456"/>
          </a:xfrm>
          <a:prstGeom prst="rect">
            <a:avLst/>
          </a:prstGeom>
          <a:noFill/>
        </p:spPr>
        <p:txBody>
          <a:bodyPr wrap="square" lIns="0" rIns="0" tIns="0" bIns="0">
            <a:noAutofit/>
          </a:bodyPr>
          <a:lstStyle/>
          <a:p>
            <a:pPr algn="l"/>
            <a:r>
              <a:rPr sz="750" b="0" i="1">
                <a:solidFill>
                  <a:srgbClr val="E6E5DE"/>
                </a:solidFill>
                <a:latin typeface="Arial"/>
              </a:rPr>
              <a:t>Smart50 2025 citation</a:t>
            </a:r>
          </a:p>
        </p:txBody>
      </p:sp>
      <p:sp>
        <p:nvSpPr>
          <p:cNvPr id="26" name="Rectangle 25"/>
          <p:cNvSpPr/>
          <p:nvPr/>
        </p:nvSpPr>
        <p:spPr>
          <a:xfrm>
            <a:off x="7095744" y="2240280"/>
            <a:ext cx="2121408"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095744" y="2240280"/>
            <a:ext cx="2121408"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05472" y="2368296"/>
            <a:ext cx="1901952" cy="457200"/>
          </a:xfrm>
          <a:prstGeom prst="rect">
            <a:avLst/>
          </a:prstGeom>
          <a:noFill/>
        </p:spPr>
        <p:txBody>
          <a:bodyPr wrap="square" lIns="0" rIns="0" tIns="0" bIns="0">
            <a:noAutofit/>
          </a:bodyPr>
          <a:lstStyle/>
          <a:p>
            <a:pPr algn="l"/>
            <a:r>
              <a:rPr sz="2700" b="1" i="0">
                <a:solidFill>
                  <a:srgbClr val="FFFFFF"/>
                </a:solidFill>
                <a:latin typeface="Georgia"/>
              </a:rPr>
              <a:t>100+</a:t>
            </a:r>
          </a:p>
        </p:txBody>
      </p:sp>
      <p:sp>
        <p:nvSpPr>
          <p:cNvPr id="29" name="TextBox 28"/>
          <p:cNvSpPr txBox="1"/>
          <p:nvPr/>
        </p:nvSpPr>
        <p:spPr>
          <a:xfrm>
            <a:off x="7205472" y="2862072"/>
            <a:ext cx="1901952" cy="502920"/>
          </a:xfrm>
          <a:prstGeom prst="rect">
            <a:avLst/>
          </a:prstGeom>
          <a:noFill/>
        </p:spPr>
        <p:txBody>
          <a:bodyPr wrap="square" lIns="0" rIns="0" tIns="0" bIns="0">
            <a:spAutoFit/>
          </a:bodyPr>
          <a:lstStyle/>
          <a:p>
            <a:pPr algn="l">
              <a:spcAft>
                <a:spcPts val="100"/>
              </a:spcAft>
            </a:pPr>
            <a:r>
              <a:rPr sz="1050" b="0" i="0">
                <a:solidFill>
                  <a:srgbClr val="E6E5DE"/>
                </a:solidFill>
                <a:latin typeface="Arial"/>
              </a:rPr>
              <a:t>Countries</a:t>
            </a:r>
          </a:p>
          <a:p>
            <a:pPr algn="l">
              <a:spcAft>
                <a:spcPts val="100"/>
              </a:spcAft>
            </a:pPr>
            <a:r>
              <a:rPr sz="1050" b="0" i="0">
                <a:solidFill>
                  <a:srgbClr val="E6E5DE"/>
                </a:solidFill>
                <a:latin typeface="Arial"/>
              </a:rPr>
              <a:t>exported to</a:t>
            </a:r>
          </a:p>
        </p:txBody>
      </p:sp>
      <p:sp>
        <p:nvSpPr>
          <p:cNvPr id="30" name="TextBox 29"/>
          <p:cNvSpPr txBox="1"/>
          <p:nvPr/>
        </p:nvSpPr>
        <p:spPr>
          <a:xfrm>
            <a:off x="7205472" y="3447288"/>
            <a:ext cx="1901952" cy="219456"/>
          </a:xfrm>
          <a:prstGeom prst="rect">
            <a:avLst/>
          </a:prstGeom>
          <a:noFill/>
        </p:spPr>
        <p:txBody>
          <a:bodyPr wrap="square" lIns="0" rIns="0" tIns="0" bIns="0">
            <a:noAutofit/>
          </a:bodyPr>
          <a:lstStyle/>
          <a:p>
            <a:pPr algn="l"/>
            <a:r>
              <a:rPr sz="750" b="0" i="1">
                <a:solidFill>
                  <a:srgbClr val="E6E5DE"/>
                </a:solidFill>
                <a:latin typeface="Arial"/>
              </a:rPr>
              <a:t>Export Awards 2025</a:t>
            </a:r>
          </a:p>
        </p:txBody>
      </p:sp>
      <p:sp>
        <p:nvSpPr>
          <p:cNvPr id="31" name="Rectangle 30"/>
          <p:cNvSpPr/>
          <p:nvPr/>
        </p:nvSpPr>
        <p:spPr>
          <a:xfrm>
            <a:off x="9354312" y="2240280"/>
            <a:ext cx="2121408"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354312" y="2240280"/>
            <a:ext cx="2121408"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64040" y="2368296"/>
            <a:ext cx="1901952" cy="457200"/>
          </a:xfrm>
          <a:prstGeom prst="rect">
            <a:avLst/>
          </a:prstGeom>
          <a:noFill/>
        </p:spPr>
        <p:txBody>
          <a:bodyPr wrap="square" lIns="0" rIns="0" tIns="0" bIns="0">
            <a:noAutofit/>
          </a:bodyPr>
          <a:lstStyle/>
          <a:p>
            <a:pPr algn="l"/>
            <a:r>
              <a:rPr sz="2700" b="1" i="0">
                <a:solidFill>
                  <a:srgbClr val="FFFFFF"/>
                </a:solidFill>
                <a:latin typeface="Georgia"/>
              </a:rPr>
              <a:t>1,000+</a:t>
            </a:r>
          </a:p>
        </p:txBody>
      </p:sp>
      <p:sp>
        <p:nvSpPr>
          <p:cNvPr id="34" name="TextBox 33"/>
          <p:cNvSpPr txBox="1"/>
          <p:nvPr/>
        </p:nvSpPr>
        <p:spPr>
          <a:xfrm>
            <a:off x="9464040" y="2862072"/>
            <a:ext cx="1901952" cy="502920"/>
          </a:xfrm>
          <a:prstGeom prst="rect">
            <a:avLst/>
          </a:prstGeom>
          <a:noFill/>
        </p:spPr>
        <p:txBody>
          <a:bodyPr wrap="square" lIns="0" rIns="0" tIns="0" bIns="0">
            <a:spAutoFit/>
          </a:bodyPr>
          <a:lstStyle/>
          <a:p>
            <a:pPr algn="l">
              <a:spcAft>
                <a:spcPts val="100"/>
              </a:spcAft>
            </a:pPr>
            <a:r>
              <a:rPr sz="1050" b="0" i="0">
                <a:solidFill>
                  <a:srgbClr val="E6E5DE"/>
                </a:solidFill>
                <a:latin typeface="Arial"/>
              </a:rPr>
              <a:t>Retail stores</a:t>
            </a:r>
          </a:p>
          <a:p>
            <a:pPr algn="l">
              <a:spcAft>
                <a:spcPts val="100"/>
              </a:spcAft>
            </a:pPr>
            <a:r>
              <a:rPr sz="1050" b="0" i="0">
                <a:solidFill>
                  <a:srgbClr val="E6E5DE"/>
                </a:solidFill>
                <a:latin typeface="Arial"/>
              </a:rPr>
              <a:t>stocked</a:t>
            </a:r>
          </a:p>
        </p:txBody>
      </p:sp>
      <p:sp>
        <p:nvSpPr>
          <p:cNvPr id="35" name="TextBox 34"/>
          <p:cNvSpPr txBox="1"/>
          <p:nvPr/>
        </p:nvSpPr>
        <p:spPr>
          <a:xfrm>
            <a:off x="9464040" y="3447288"/>
            <a:ext cx="1901952" cy="219456"/>
          </a:xfrm>
          <a:prstGeom prst="rect">
            <a:avLst/>
          </a:prstGeom>
          <a:noFill/>
        </p:spPr>
        <p:txBody>
          <a:bodyPr wrap="square" lIns="0" rIns="0" tIns="0" bIns="0">
            <a:noAutofit/>
          </a:bodyPr>
          <a:lstStyle/>
          <a:p>
            <a:pPr algn="l"/>
            <a:r>
              <a:rPr sz="750" b="0" i="1">
                <a:solidFill>
                  <a:srgbClr val="E6E5DE"/>
                </a:solidFill>
                <a:latin typeface="Arial"/>
              </a:rPr>
              <a:t>Airwallex case study</a:t>
            </a:r>
          </a:p>
        </p:txBody>
      </p:sp>
      <p:sp>
        <p:nvSpPr>
          <p:cNvPr id="36" name="TextBox 35"/>
          <p:cNvSpPr txBox="1"/>
          <p:nvPr/>
        </p:nvSpPr>
        <p:spPr>
          <a:xfrm>
            <a:off x="320040" y="3977639"/>
            <a:ext cx="5486400" cy="274320"/>
          </a:xfrm>
          <a:prstGeom prst="rect">
            <a:avLst/>
          </a:prstGeom>
          <a:noFill/>
        </p:spPr>
        <p:txBody>
          <a:bodyPr wrap="square" lIns="0" rIns="0" tIns="0" bIns="0">
            <a:noAutofit/>
          </a:bodyPr>
          <a:lstStyle/>
          <a:p>
            <a:pPr algn="l"/>
            <a:r>
              <a:rPr sz="1200" b="1" i="0">
                <a:solidFill>
                  <a:srgbClr val="01A296"/>
                </a:solidFill>
                <a:latin typeface="Arial"/>
              </a:rPr>
              <a:t>KEY COMMERCIAL SIGNALS</a:t>
            </a:r>
          </a:p>
        </p:txBody>
      </p:sp>
      <p:sp>
        <p:nvSpPr>
          <p:cNvPr id="37" name="TextBox 36"/>
          <p:cNvSpPr txBox="1"/>
          <p:nvPr/>
        </p:nvSpPr>
        <p:spPr>
          <a:xfrm>
            <a:off x="320040" y="4315968"/>
            <a:ext cx="11521440" cy="1920240"/>
          </a:xfrm>
          <a:prstGeom prst="rect">
            <a:avLst/>
          </a:prstGeom>
          <a:noFill/>
        </p:spPr>
        <p:txBody>
          <a:bodyPr wrap="square" lIns="0" rIns="0" tIns="0" bIns="0">
            <a:spAutoFit/>
          </a:bodyPr>
          <a:lstStyle/>
          <a:p>
            <a:pPr algn="l">
              <a:spcAft>
                <a:spcPts val="800"/>
              </a:spcAft>
            </a:pPr>
            <a:r>
              <a:rPr sz="1200" b="0" i="0">
                <a:solidFill>
                  <a:srgbClr val="000000"/>
                </a:solidFill>
                <a:latin typeface="Arial"/>
              </a:rPr>
              <a:t>•  Revenue $24.6M, 20% three year average growth. Source: Smart50 2025.</a:t>
            </a:r>
          </a:p>
          <a:p>
            <a:pPr algn="l">
              <a:spcAft>
                <a:spcPts val="800"/>
              </a:spcAft>
            </a:pPr>
            <a:r>
              <a:rPr sz="1200" b="0" i="0">
                <a:solidFill>
                  <a:srgbClr val="000000"/>
                </a:solidFill>
                <a:latin typeface="Arial"/>
              </a:rPr>
              <a:t>•  44 staff serve 1,000+ stockists across Australia, Europe, the US. Source: Airwallex.</a:t>
            </a:r>
          </a:p>
          <a:p>
            <a:pPr algn="l">
              <a:spcAft>
                <a:spcPts val="800"/>
              </a:spcAft>
            </a:pPr>
            <a:r>
              <a:rPr sz="1200" b="0" i="0">
                <a:solidFill>
                  <a:srgbClr val="000000"/>
                </a:solidFill>
                <a:latin typeface="Arial"/>
              </a:rPr>
              <a:t>•  Exports to 100+ countries via five 3PL warehouses. Source: Export Awards 2025.</a:t>
            </a:r>
          </a:p>
          <a:p>
            <a:pPr algn="l">
              <a:spcAft>
                <a:spcPts val="800"/>
              </a:spcAft>
            </a:pPr>
            <a:r>
              <a:rPr sz="1200" b="0" i="0">
                <a:solidFill>
                  <a:srgbClr val="000000"/>
                </a:solidFill>
                <a:latin typeface="Arial"/>
              </a:rPr>
              <a:t>•  Six Kickstarter campaigns raised USD 3.25M; a seventh is live now. Source: SmartCompany.</a:t>
            </a:r>
          </a:p>
          <a:p>
            <a:pPr algn="l">
              <a:spcAft>
                <a:spcPts val="800"/>
              </a:spcAft>
            </a:pPr>
            <a:r>
              <a:rPr sz="1200" b="0" i="0">
                <a:solidFill>
                  <a:srgbClr val="000000"/>
                </a:solidFill>
                <a:latin typeface="Arial"/>
              </a:rPr>
              <a:t>•  Revenue up 40% over three years. Source: Australian Export Awards 2025.</a:t>
            </a:r>
          </a:p>
          <a:p>
            <a:pPr algn="l">
              <a:spcAft>
                <a:spcPts val="800"/>
              </a:spcAft>
            </a:pPr>
            <a:r>
              <a:rPr sz="1200" b="0" i="0">
                <a:solidFill>
                  <a:srgbClr val="000000"/>
                </a:solidFill>
                <a:latin typeface="Arial"/>
              </a:rPr>
              <a:t>•  Certified B Corp, climate neutral business. Source: Export Awards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lIns="0" rIns="0" tIns="0" bIns="0">
            <a:noAutofit/>
          </a:bodyPr>
          <a:lstStyle/>
          <a:p>
            <a:pPr algn="l"/>
            <a:r>
              <a:rPr sz="1200" b="1" i="0">
                <a:solidFill>
                  <a:srgbClr val="E6E5DE"/>
                </a:solidFill>
                <a:latin typeface="Arial"/>
              </a:rPr>
              <a:t>THE OPPORTUNITY</a:t>
            </a:r>
          </a:p>
        </p:txBody>
      </p:sp>
      <p:sp>
        <p:nvSpPr>
          <p:cNvPr id="5" name="TextBox 4"/>
          <p:cNvSpPr txBox="1"/>
          <p:nvPr/>
        </p:nvSpPr>
        <p:spPr>
          <a:xfrm>
            <a:off x="8229600" y="292608"/>
            <a:ext cx="3657600" cy="365760"/>
          </a:xfrm>
          <a:prstGeom prst="rect">
            <a:avLst/>
          </a:prstGeom>
          <a:noFill/>
        </p:spPr>
        <p:txBody>
          <a:bodyPr wrap="square" lIns="0" rIns="0" tIns="0" bIns="0">
            <a:noAutofit/>
          </a:bodyPr>
          <a:lstStyle/>
          <a:p>
            <a:pPr algn="r"/>
            <a:r>
              <a:rPr sz="1200" b="1" i="0">
                <a:solidFill>
                  <a:srgbClr val="F8C806"/>
                </a:solidFill>
                <a:latin typeface="Arial"/>
              </a:rPr>
              <a:t>PROFITPULSE</a:t>
            </a:r>
          </a:p>
        </p:txBody>
      </p:sp>
      <p:cxnSp>
        <p:nvCxnSpPr>
          <p:cNvPr id="6" name="Connector 5"/>
          <p:cNvCxnSpPr/>
          <p:nvPr/>
        </p:nvCxnSpPr>
        <p:spPr>
          <a:xfrm>
            <a:off x="320040" y="6446520"/>
            <a:ext cx="11567160" cy="0"/>
          </a:xfrm>
          <a:prstGeom prst="line">
            <a:avLst/>
          </a:prstGeom>
          <a:ln w="9525">
            <a:solidFill>
              <a:srgbClr val="01A29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20040" y="6510528"/>
            <a:ext cx="8229600" cy="274320"/>
          </a:xfrm>
          <a:prstGeom prst="rect">
            <a:avLst/>
          </a:prstGeom>
          <a:noFill/>
        </p:spPr>
        <p:txBody>
          <a:bodyPr wrap="square" lIns="0" rIns="0" tIns="0" bIns="0">
            <a:noAutofit/>
          </a:bodyPr>
          <a:lstStyle/>
          <a:p>
            <a:pPr algn="l"/>
            <a:r>
              <a:rPr sz="800" b="0" i="0">
                <a:solidFill>
                  <a:srgbClr val="000000"/>
                </a:solidFill>
                <a:latin typeface="Arial"/>
              </a:rPr>
              <a:t>Prepared by Nitesh Roopa CA, Managing Partner and Founder, ProfitPulse, Profit-Pulse.com.au</a:t>
            </a:r>
          </a:p>
        </p:txBody>
      </p:sp>
      <p:sp>
        <p:nvSpPr>
          <p:cNvPr id="8" name="TextBox 7"/>
          <p:cNvSpPr txBox="1"/>
          <p:nvPr/>
        </p:nvSpPr>
        <p:spPr>
          <a:xfrm>
            <a:off x="9601200" y="6510528"/>
            <a:ext cx="2286000" cy="274320"/>
          </a:xfrm>
          <a:prstGeom prst="rect">
            <a:avLst/>
          </a:prstGeom>
          <a:noFill/>
        </p:spPr>
        <p:txBody>
          <a:bodyPr wrap="square" lIns="0" rIns="0" tIns="0" bIns="0">
            <a:noAutofit/>
          </a:bodyPr>
          <a:lstStyle/>
          <a:p>
            <a:pPr algn="r"/>
            <a:r>
              <a:rPr sz="800" b="0" i="0">
                <a:solidFill>
                  <a:srgbClr val="000000"/>
                </a:solidFill>
                <a:latin typeface="Arial"/>
              </a:rPr>
              <a:t>01 Sep 2026</a:t>
            </a:r>
          </a:p>
        </p:txBody>
      </p:sp>
      <p:sp>
        <p:nvSpPr>
          <p:cNvPr id="9" name="TextBox 8"/>
          <p:cNvSpPr txBox="1"/>
          <p:nvPr/>
        </p:nvSpPr>
        <p:spPr>
          <a:xfrm>
            <a:off x="320040" y="1051560"/>
            <a:ext cx="11521440" cy="320040"/>
          </a:xfrm>
          <a:prstGeom prst="rect">
            <a:avLst/>
          </a:prstGeom>
          <a:noFill/>
        </p:spPr>
        <p:txBody>
          <a:bodyPr wrap="square" lIns="0" rIns="0" tIns="0" bIns="0">
            <a:noAutofit/>
          </a:bodyPr>
          <a:lstStyle/>
          <a:p>
            <a:pPr algn="l"/>
            <a:r>
              <a:rPr sz="1400" b="1" i="0">
                <a:solidFill>
                  <a:srgbClr val="000000"/>
                </a:solidFill>
                <a:latin typeface="Georgia"/>
              </a:rPr>
              <a:t>Orbitkey: three commercial observations from ProfitPulse</a:t>
            </a:r>
          </a:p>
        </p:txBody>
      </p:sp>
      <p:sp>
        <p:nvSpPr>
          <p:cNvPr id="10" name="Rectangle 9"/>
          <p:cNvSpPr/>
          <p:nvPr/>
        </p:nvSpPr>
        <p:spPr>
          <a:xfrm>
            <a:off x="320040" y="1508760"/>
            <a:ext cx="3794760" cy="416052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691640"/>
            <a:ext cx="3337560" cy="548640"/>
          </a:xfrm>
          <a:prstGeom prst="rect">
            <a:avLst/>
          </a:prstGeom>
          <a:noFill/>
        </p:spPr>
        <p:txBody>
          <a:bodyPr wrap="square" lIns="0" rIns="0" tIns="0" bIns="0">
            <a:noAutofit/>
          </a:bodyPr>
          <a:lstStyle/>
          <a:p>
            <a:pPr algn="l"/>
            <a:r>
              <a:rPr sz="3000" b="1" i="0">
                <a:solidFill>
                  <a:srgbClr val="000000"/>
                </a:solidFill>
                <a:latin typeface="Georgia"/>
              </a:rPr>
              <a:t>01</a:t>
            </a:r>
          </a:p>
        </p:txBody>
      </p:sp>
      <p:sp>
        <p:nvSpPr>
          <p:cNvPr id="12" name="TextBox 11"/>
          <p:cNvSpPr txBox="1"/>
          <p:nvPr/>
        </p:nvSpPr>
        <p:spPr>
          <a:xfrm>
            <a:off x="548640" y="2377440"/>
            <a:ext cx="3337560" cy="685800"/>
          </a:xfrm>
          <a:prstGeom prst="rect">
            <a:avLst/>
          </a:prstGeom>
          <a:noFill/>
        </p:spPr>
        <p:txBody>
          <a:bodyPr wrap="square" lIns="0" rIns="0" tIns="0" bIns="0">
            <a:noAutofit/>
          </a:bodyPr>
          <a:lstStyle/>
          <a:p>
            <a:pPr algn="l"/>
            <a:r>
              <a:rPr sz="1500" b="1" i="0">
                <a:solidFill>
                  <a:srgbClr val="000000"/>
                </a:solidFill>
                <a:latin typeface="Georgia"/>
              </a:rPr>
              <a:t>Growth outpacing working capital discipline</a:t>
            </a:r>
          </a:p>
        </p:txBody>
      </p:sp>
      <p:sp>
        <p:nvSpPr>
          <p:cNvPr id="13" name="TextBox 12"/>
          <p:cNvSpPr txBox="1"/>
          <p:nvPr/>
        </p:nvSpPr>
        <p:spPr>
          <a:xfrm>
            <a:off x="548640" y="3200400"/>
            <a:ext cx="3337560" cy="2331720"/>
          </a:xfrm>
          <a:prstGeom prst="rect">
            <a:avLst/>
          </a:prstGeom>
          <a:noFill/>
        </p:spPr>
        <p:txBody>
          <a:bodyPr wrap="square" lIns="0" rIns="0" tIns="0" bIns="0">
            <a:noAutofit/>
          </a:bodyPr>
          <a:lstStyle/>
          <a:p>
            <a:pPr algn="l">
              <a:lnSpc>
                <a:spcPct val="112000"/>
              </a:lnSpc>
            </a:pPr>
            <a:r>
              <a:rPr sz="1050" b="0" i="0">
                <a:solidFill>
                  <a:srgbClr val="000000"/>
                </a:solidFill>
                <a:latin typeface="Arial"/>
              </a:rPr>
              <a:t>Orbitkey has grown revenue 40 percent over three years while still funding new launches through Kickstarter, not from cash the business generates. That pattern usually means cash is trapped somewhere between supplier terms, inventory held across five warehouses, and wholesale collections timing.</a:t>
            </a:r>
          </a:p>
        </p:txBody>
      </p:sp>
      <p:sp>
        <p:nvSpPr>
          <p:cNvPr id="14" name="Rectangle 13"/>
          <p:cNvSpPr/>
          <p:nvPr/>
        </p:nvSpPr>
        <p:spPr>
          <a:xfrm>
            <a:off x="4133088" y="1508760"/>
            <a:ext cx="3794760" cy="41605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61688" y="1691640"/>
            <a:ext cx="3337560" cy="548640"/>
          </a:xfrm>
          <a:prstGeom prst="rect">
            <a:avLst/>
          </a:prstGeom>
          <a:noFill/>
        </p:spPr>
        <p:txBody>
          <a:bodyPr wrap="square" lIns="0" rIns="0" tIns="0" bIns="0">
            <a:noAutofit/>
          </a:bodyPr>
          <a:lstStyle/>
          <a:p>
            <a:pPr algn="l"/>
            <a:r>
              <a:rPr sz="3000" b="1" i="0">
                <a:solidFill>
                  <a:srgbClr val="E6E5DE"/>
                </a:solidFill>
                <a:latin typeface="Georgia"/>
              </a:rPr>
              <a:t>02</a:t>
            </a:r>
          </a:p>
        </p:txBody>
      </p:sp>
      <p:sp>
        <p:nvSpPr>
          <p:cNvPr id="16" name="TextBox 15"/>
          <p:cNvSpPr txBox="1"/>
          <p:nvPr/>
        </p:nvSpPr>
        <p:spPr>
          <a:xfrm>
            <a:off x="4361688" y="2377440"/>
            <a:ext cx="3337560" cy="685800"/>
          </a:xfrm>
          <a:prstGeom prst="rect">
            <a:avLst/>
          </a:prstGeom>
          <a:noFill/>
        </p:spPr>
        <p:txBody>
          <a:bodyPr wrap="square" lIns="0" rIns="0" tIns="0" bIns="0">
            <a:noAutofit/>
          </a:bodyPr>
          <a:lstStyle/>
          <a:p>
            <a:pPr algn="l"/>
            <a:r>
              <a:rPr sz="1500" b="1" i="0">
                <a:solidFill>
                  <a:srgbClr val="E6E5DE"/>
                </a:solidFill>
                <a:latin typeface="Georgia"/>
              </a:rPr>
              <a:t>A genuinely diversified customer base</a:t>
            </a:r>
          </a:p>
        </p:txBody>
      </p:sp>
      <p:sp>
        <p:nvSpPr>
          <p:cNvPr id="17" name="TextBox 16"/>
          <p:cNvSpPr txBox="1"/>
          <p:nvPr/>
        </p:nvSpPr>
        <p:spPr>
          <a:xfrm>
            <a:off x="4361688" y="3200400"/>
            <a:ext cx="3337560" cy="2331720"/>
          </a:xfrm>
          <a:prstGeom prst="rect">
            <a:avLst/>
          </a:prstGeom>
          <a:noFill/>
        </p:spPr>
        <p:txBody>
          <a:bodyPr wrap="square" lIns="0" rIns="0" tIns="0" bIns="0">
            <a:noAutofit/>
          </a:bodyPr>
          <a:lstStyle/>
          <a:p>
            <a:pPr algn="l">
              <a:lnSpc>
                <a:spcPct val="112000"/>
              </a:lnSpc>
            </a:pPr>
            <a:r>
              <a:rPr sz="1050" b="0" i="0">
                <a:solidFill>
                  <a:srgbClr val="E6E5DE"/>
                </a:solidFill>
                <a:latin typeface="Arial"/>
              </a:rPr>
              <a:t>More than 1,000 stockists across Australia, Europe and the US, alongside direct online sales to customers in over 100 countries, means no single account can move the business. That diversification is a real strength and is worth protecting deliberately as the wholesale book keeps growing.</a:t>
            </a:r>
          </a:p>
        </p:txBody>
      </p:sp>
      <p:sp>
        <p:nvSpPr>
          <p:cNvPr id="18" name="Rectangle 17"/>
          <p:cNvSpPr/>
          <p:nvPr/>
        </p:nvSpPr>
        <p:spPr>
          <a:xfrm>
            <a:off x="7946136" y="1508760"/>
            <a:ext cx="3794760" cy="4160520"/>
          </a:xfrm>
          <a:prstGeom prst="rect">
            <a:avLst/>
          </a:prstGeom>
          <a:solidFill>
            <a:srgbClr val="E3A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74736" y="1691640"/>
            <a:ext cx="3337560" cy="548640"/>
          </a:xfrm>
          <a:prstGeom prst="rect">
            <a:avLst/>
          </a:prstGeom>
          <a:noFill/>
        </p:spPr>
        <p:txBody>
          <a:bodyPr wrap="square" lIns="0" rIns="0" tIns="0" bIns="0">
            <a:noAutofit/>
          </a:bodyPr>
          <a:lstStyle/>
          <a:p>
            <a:pPr algn="l"/>
            <a:r>
              <a:rPr sz="3000" b="1" i="0">
                <a:solidFill>
                  <a:srgbClr val="000000"/>
                </a:solidFill>
                <a:latin typeface="Georgia"/>
              </a:rPr>
              <a:t>03</a:t>
            </a:r>
          </a:p>
        </p:txBody>
      </p:sp>
      <p:sp>
        <p:nvSpPr>
          <p:cNvPr id="20" name="TextBox 19"/>
          <p:cNvSpPr txBox="1"/>
          <p:nvPr/>
        </p:nvSpPr>
        <p:spPr>
          <a:xfrm>
            <a:off x="8174736" y="2377440"/>
            <a:ext cx="3337560" cy="685800"/>
          </a:xfrm>
          <a:prstGeom prst="rect">
            <a:avLst/>
          </a:prstGeom>
          <a:noFill/>
        </p:spPr>
        <p:txBody>
          <a:bodyPr wrap="square" lIns="0" rIns="0" tIns="0" bIns="0">
            <a:noAutofit/>
          </a:bodyPr>
          <a:lstStyle/>
          <a:p>
            <a:pPr algn="l"/>
            <a:r>
              <a:rPr sz="1500" b="1" i="0">
                <a:solidFill>
                  <a:srgbClr val="000000"/>
                </a:solidFill>
                <a:latin typeface="Georgia"/>
              </a:rPr>
              <a:t>Five warehouses, one capital question</a:t>
            </a:r>
          </a:p>
        </p:txBody>
      </p:sp>
      <p:sp>
        <p:nvSpPr>
          <p:cNvPr id="21" name="TextBox 20"/>
          <p:cNvSpPr txBox="1"/>
          <p:nvPr/>
        </p:nvSpPr>
        <p:spPr>
          <a:xfrm>
            <a:off x="8174736" y="3200400"/>
            <a:ext cx="3337560" cy="2331720"/>
          </a:xfrm>
          <a:prstGeom prst="rect">
            <a:avLst/>
          </a:prstGeom>
          <a:noFill/>
        </p:spPr>
        <p:txBody>
          <a:bodyPr wrap="square" lIns="0" rIns="0" tIns="0" bIns="0">
            <a:noAutofit/>
          </a:bodyPr>
          <a:lstStyle/>
          <a:p>
            <a:pPr algn="l">
              <a:lnSpc>
                <a:spcPct val="112000"/>
              </a:lnSpc>
            </a:pPr>
            <a:r>
              <a:rPr sz="1050" b="0" i="0">
                <a:solidFill>
                  <a:srgbClr val="000000"/>
                </a:solidFill>
                <a:latin typeface="Arial"/>
              </a:rPr>
              <a:t>Running five third party logistics warehouses to serve a hundred plus export markets is an operationally sophisticated setup for a 44 person team. The open question is whether capital in inventory, freight, and production runs earns the highest return across that network.</a:t>
            </a:r>
          </a:p>
        </p:txBody>
      </p:sp>
      <p:sp>
        <p:nvSpPr>
          <p:cNvPr id="22" name="TextBox 21"/>
          <p:cNvSpPr txBox="1"/>
          <p:nvPr/>
        </p:nvSpPr>
        <p:spPr>
          <a:xfrm>
            <a:off x="320040" y="5742432"/>
            <a:ext cx="11521440" cy="594360"/>
          </a:xfrm>
          <a:prstGeom prst="rect">
            <a:avLst/>
          </a:prstGeom>
          <a:noFill/>
        </p:spPr>
        <p:txBody>
          <a:bodyPr wrap="square" lIns="0" rIns="0" tIns="0" bIns="0">
            <a:noAutofit/>
          </a:bodyPr>
          <a:lstStyle/>
          <a:p>
            <a:pPr algn="l"/>
            <a:r>
              <a:rPr sz="1050" b="0" i="1">
                <a:solidFill>
                  <a:srgbClr val="01A296"/>
                </a:solidFill>
                <a:latin typeface="Arial"/>
              </a:rPr>
              <a:t>These are observations offered in good faith. Orbitkey has built something genuinely impressive. The question is simply whether the financial architecture matches the ambition.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lIns="0" rIns="0" tIns="0" bIns="0">
            <a:noAutofit/>
          </a:bodyPr>
          <a:lstStyle/>
          <a:p>
            <a:pPr algn="l"/>
            <a:r>
              <a:rPr sz="1200" b="1" i="0">
                <a:solidFill>
                  <a:srgbClr val="E6E5DE"/>
                </a:solidFill>
                <a:latin typeface="Arial"/>
              </a:rPr>
              <a:t>THE RECOMMENDATION</a:t>
            </a:r>
          </a:p>
        </p:txBody>
      </p:sp>
      <p:sp>
        <p:nvSpPr>
          <p:cNvPr id="5" name="TextBox 4"/>
          <p:cNvSpPr txBox="1"/>
          <p:nvPr/>
        </p:nvSpPr>
        <p:spPr>
          <a:xfrm>
            <a:off x="8229600" y="292608"/>
            <a:ext cx="3657600" cy="365760"/>
          </a:xfrm>
          <a:prstGeom prst="rect">
            <a:avLst/>
          </a:prstGeom>
          <a:noFill/>
        </p:spPr>
        <p:txBody>
          <a:bodyPr wrap="square" lIns="0" rIns="0" tIns="0" bIns="0">
            <a:noAutofit/>
          </a:bodyPr>
          <a:lstStyle/>
          <a:p>
            <a:pPr algn="r"/>
            <a:r>
              <a:rPr sz="1200" b="1" i="0">
                <a:solidFill>
                  <a:srgbClr val="F8C806"/>
                </a:solidFill>
                <a:latin typeface="Arial"/>
              </a:rPr>
              <a:t>PROFITPULSE</a:t>
            </a:r>
          </a:p>
        </p:txBody>
      </p:sp>
      <p:cxnSp>
        <p:nvCxnSpPr>
          <p:cNvPr id="6" name="Connector 5"/>
          <p:cNvCxnSpPr/>
          <p:nvPr/>
        </p:nvCxnSpPr>
        <p:spPr>
          <a:xfrm>
            <a:off x="320040" y="6446520"/>
            <a:ext cx="11567160" cy="0"/>
          </a:xfrm>
          <a:prstGeom prst="line">
            <a:avLst/>
          </a:prstGeom>
          <a:ln w="9525">
            <a:solidFill>
              <a:srgbClr val="01A29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20040" y="6510528"/>
            <a:ext cx="8229600" cy="274320"/>
          </a:xfrm>
          <a:prstGeom prst="rect">
            <a:avLst/>
          </a:prstGeom>
          <a:noFill/>
        </p:spPr>
        <p:txBody>
          <a:bodyPr wrap="square" lIns="0" rIns="0" tIns="0" bIns="0">
            <a:noAutofit/>
          </a:bodyPr>
          <a:lstStyle/>
          <a:p>
            <a:pPr algn="l"/>
            <a:r>
              <a:rPr sz="800" b="0" i="0">
                <a:solidFill>
                  <a:srgbClr val="000000"/>
                </a:solidFill>
                <a:latin typeface="Arial"/>
              </a:rPr>
              <a:t>Prepared by Nitesh Roopa CA, Managing Partner and Founder, ProfitPulse, Profit-Pulse.com.au</a:t>
            </a:r>
          </a:p>
        </p:txBody>
      </p:sp>
      <p:sp>
        <p:nvSpPr>
          <p:cNvPr id="8" name="TextBox 7"/>
          <p:cNvSpPr txBox="1"/>
          <p:nvPr/>
        </p:nvSpPr>
        <p:spPr>
          <a:xfrm>
            <a:off x="9601200" y="6510528"/>
            <a:ext cx="2286000" cy="274320"/>
          </a:xfrm>
          <a:prstGeom prst="rect">
            <a:avLst/>
          </a:prstGeom>
          <a:noFill/>
        </p:spPr>
        <p:txBody>
          <a:bodyPr wrap="square" lIns="0" rIns="0" tIns="0" bIns="0">
            <a:noAutofit/>
          </a:bodyPr>
          <a:lstStyle/>
          <a:p>
            <a:pPr algn="r"/>
            <a:r>
              <a:rPr sz="800" b="0" i="0">
                <a:solidFill>
                  <a:srgbClr val="000000"/>
                </a:solidFill>
                <a:latin typeface="Arial"/>
              </a:rPr>
              <a:t>01 Sep 2026</a:t>
            </a:r>
          </a:p>
        </p:txBody>
      </p:sp>
      <p:sp>
        <p:nvSpPr>
          <p:cNvPr id="9" name="TextBox 8"/>
          <p:cNvSpPr txBox="1"/>
          <p:nvPr/>
        </p:nvSpPr>
        <p:spPr>
          <a:xfrm>
            <a:off x="320040" y="1097280"/>
            <a:ext cx="6949440" cy="502920"/>
          </a:xfrm>
          <a:prstGeom prst="rect">
            <a:avLst/>
          </a:prstGeom>
          <a:noFill/>
        </p:spPr>
        <p:txBody>
          <a:bodyPr wrap="square" lIns="0" rIns="0" tIns="0" bIns="0">
            <a:noAutofit/>
          </a:bodyPr>
          <a:lstStyle/>
          <a:p>
            <a:pPr algn="l"/>
            <a:r>
              <a:rPr sz="2600" b="1" i="0">
                <a:solidFill>
                  <a:srgbClr val="000000"/>
                </a:solidFill>
                <a:latin typeface="Georgia"/>
              </a:rPr>
              <a:t>Working Capital Unlock</a:t>
            </a:r>
          </a:p>
        </p:txBody>
      </p:sp>
      <p:sp>
        <p:nvSpPr>
          <p:cNvPr id="10" name="TextBox 9"/>
          <p:cNvSpPr txBox="1"/>
          <p:nvPr/>
        </p:nvSpPr>
        <p:spPr>
          <a:xfrm>
            <a:off x="320040" y="1627632"/>
            <a:ext cx="6949440" cy="365760"/>
          </a:xfrm>
          <a:prstGeom prst="rect">
            <a:avLst/>
          </a:prstGeom>
          <a:noFill/>
        </p:spPr>
        <p:txBody>
          <a:bodyPr wrap="square" lIns="0" rIns="0" tIns="0" bIns="0">
            <a:noAutofit/>
          </a:bodyPr>
          <a:lstStyle/>
          <a:p>
            <a:pPr algn="l"/>
            <a:r>
              <a:rPr sz="1600" b="1" i="0">
                <a:solidFill>
                  <a:srgbClr val="01A296"/>
                </a:solidFill>
                <a:latin typeface="Arial"/>
              </a:rPr>
              <a:t>$6,000 one off</a:t>
            </a:r>
          </a:p>
        </p:txBody>
      </p:sp>
      <p:sp>
        <p:nvSpPr>
          <p:cNvPr id="11" name="TextBox 10"/>
          <p:cNvSpPr txBox="1"/>
          <p:nvPr/>
        </p:nvSpPr>
        <p:spPr>
          <a:xfrm>
            <a:off x="320040" y="2057400"/>
            <a:ext cx="6949440" cy="777240"/>
          </a:xfrm>
          <a:prstGeom prst="rect">
            <a:avLst/>
          </a:prstGeom>
          <a:noFill/>
        </p:spPr>
        <p:txBody>
          <a:bodyPr wrap="square" lIns="0" rIns="0" tIns="0" bIns="0">
            <a:noAutofit/>
          </a:bodyPr>
          <a:lstStyle/>
          <a:p>
            <a:pPr algn="l"/>
            <a:r>
              <a:rPr sz="1200" b="0" i="0">
                <a:solidFill>
                  <a:srgbClr val="000000"/>
                </a:solidFill>
                <a:latin typeface="Arial"/>
              </a:rPr>
              <a:t>A four week project mapping cash trapped in debtors, inventory, and supplier terms, with a prioritised release plan to fund growth from the business rather than the next crowdfunding campaign.</a:t>
            </a:r>
          </a:p>
        </p:txBody>
      </p:sp>
      <p:sp>
        <p:nvSpPr>
          <p:cNvPr id="12" name="Rectangle 11"/>
          <p:cNvSpPr/>
          <p:nvPr/>
        </p:nvSpPr>
        <p:spPr>
          <a:xfrm>
            <a:off x="320040" y="2971800"/>
            <a:ext cx="6949440" cy="13716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127248"/>
            <a:ext cx="6492240" cy="365760"/>
          </a:xfrm>
          <a:prstGeom prst="rect">
            <a:avLst/>
          </a:prstGeom>
          <a:noFill/>
        </p:spPr>
        <p:txBody>
          <a:bodyPr wrap="square" lIns="0" rIns="0" tIns="0" bIns="0">
            <a:noAutofit/>
          </a:bodyPr>
          <a:lstStyle/>
          <a:p>
            <a:pPr algn="l"/>
            <a:r>
              <a:rPr sz="1400" b="1" i="0">
                <a:solidFill>
                  <a:srgbClr val="000000"/>
                </a:solidFill>
                <a:latin typeface="Arial"/>
              </a:rPr>
              <a:t>Step one, answer a few quick questions</a:t>
            </a:r>
          </a:p>
        </p:txBody>
      </p:sp>
      <p:sp>
        <p:nvSpPr>
          <p:cNvPr id="14" name="TextBox 13"/>
          <p:cNvSpPr txBox="1"/>
          <p:nvPr/>
        </p:nvSpPr>
        <p:spPr>
          <a:xfrm>
            <a:off x="548640" y="3493008"/>
            <a:ext cx="6492240" cy="320040"/>
          </a:xfrm>
          <a:prstGeom prst="rect">
            <a:avLst/>
          </a:prstGeom>
          <a:noFill/>
        </p:spPr>
        <p:txBody>
          <a:bodyPr wrap="square" lIns="0" rIns="0" tIns="0" bIns="0">
            <a:noAutofit/>
          </a:bodyPr>
          <a:lstStyle/>
          <a:p>
            <a:pPr algn="l"/>
            <a:r>
              <a:rPr sz="1150" b="0" i="0">
                <a:solidFill>
                  <a:srgbClr val="000000"/>
                </a:solidFill>
                <a:latin typeface="Arial"/>
              </a:rPr>
              <a:t>See the solutions matched to your size and industry.</a:t>
            </a:r>
          </a:p>
        </p:txBody>
      </p:sp>
      <p:sp>
        <p:nvSpPr>
          <p:cNvPr id="15" name="TextBox 14"/>
          <p:cNvSpPr txBox="1"/>
          <p:nvPr/>
        </p:nvSpPr>
        <p:spPr>
          <a:xfrm>
            <a:off x="548640" y="3858768"/>
            <a:ext cx="6492240" cy="365760"/>
          </a:xfrm>
          <a:prstGeom prst="rect">
            <a:avLst/>
          </a:prstGeom>
          <a:noFill/>
        </p:spPr>
        <p:txBody>
          <a:bodyPr wrap="square" lIns="0" rIns="0" tIns="0" bIns="0">
            <a:noAutofit/>
          </a:bodyPr>
          <a:lstStyle/>
          <a:p>
            <a:pPr algn="l"/>
            <a:r>
              <a:rPr sz="1300" b="1" i="0">
                <a:solidFill>
                  <a:srgbClr val="000000"/>
                </a:solidFill>
                <a:latin typeface="Arial"/>
                <a:hlinkClick r:id="rId2"/>
              </a:rPr>
              <a:t>profit-pulse.com.au/services/find-your-fit</a:t>
            </a:r>
          </a:p>
        </p:txBody>
      </p:sp>
      <p:sp>
        <p:nvSpPr>
          <p:cNvPr id="16" name="Rectangle 15"/>
          <p:cNvSpPr/>
          <p:nvPr/>
        </p:nvSpPr>
        <p:spPr>
          <a:xfrm>
            <a:off x="320040" y="4526280"/>
            <a:ext cx="6949440" cy="59436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690872"/>
            <a:ext cx="6492240" cy="320040"/>
          </a:xfrm>
          <a:prstGeom prst="rect">
            <a:avLst/>
          </a:prstGeom>
          <a:noFill/>
        </p:spPr>
        <p:txBody>
          <a:bodyPr wrap="square" lIns="0" rIns="0" tIns="0" bIns="0">
            <a:noAutofit/>
          </a:bodyPr>
          <a:lstStyle/>
          <a:p>
            <a:pPr algn="ctr"/>
            <a:r>
              <a:rPr sz="1300" b="1" i="0">
                <a:solidFill>
                  <a:srgbClr val="000000"/>
                </a:solidFill>
                <a:latin typeface="Arial"/>
                <a:hlinkClick r:id="rId3"/>
              </a:rPr>
              <a:t>Purchase the suggested product now to get started</a:t>
            </a:r>
          </a:p>
        </p:txBody>
      </p:sp>
      <p:sp>
        <p:nvSpPr>
          <p:cNvPr id="18" name="TextBox 17"/>
          <p:cNvSpPr txBox="1"/>
          <p:nvPr/>
        </p:nvSpPr>
        <p:spPr>
          <a:xfrm>
            <a:off x="320040" y="5349240"/>
            <a:ext cx="6949440" cy="274320"/>
          </a:xfrm>
          <a:prstGeom prst="rect">
            <a:avLst/>
          </a:prstGeom>
          <a:noFill/>
        </p:spPr>
        <p:txBody>
          <a:bodyPr wrap="square" lIns="0" rIns="0" tIns="0" bIns="0">
            <a:noAutofit/>
          </a:bodyPr>
          <a:lstStyle/>
          <a:p>
            <a:pPr algn="l"/>
            <a:r>
              <a:rPr sz="1150" b="0" i="0">
                <a:solidFill>
                  <a:srgbClr val="000000"/>
                </a:solidFill>
                <a:latin typeface="Arial"/>
              </a:rPr>
              <a:t>Prefer a conversation first?</a:t>
            </a:r>
          </a:p>
        </p:txBody>
      </p:sp>
      <p:sp>
        <p:nvSpPr>
          <p:cNvPr id="19" name="TextBox 18"/>
          <p:cNvSpPr txBox="1"/>
          <p:nvPr/>
        </p:nvSpPr>
        <p:spPr>
          <a:xfrm>
            <a:off x="320040" y="5623560"/>
            <a:ext cx="6949440" cy="320040"/>
          </a:xfrm>
          <a:prstGeom prst="rect">
            <a:avLst/>
          </a:prstGeom>
          <a:noFill/>
        </p:spPr>
        <p:txBody>
          <a:bodyPr wrap="square" lIns="0" rIns="0" tIns="0" bIns="0">
            <a:noAutofit/>
          </a:bodyPr>
          <a:lstStyle/>
          <a:p>
            <a:pPr algn="l"/>
            <a:r>
              <a:rPr sz="1200" b="1" i="0">
                <a:solidFill>
                  <a:srgbClr val="01A296"/>
                </a:solidFill>
                <a:latin typeface="Arial"/>
                <a:hlinkClick r:id="rId4"/>
              </a:rPr>
              <a:t>Book a complimentary discovery call</a:t>
            </a:r>
          </a:p>
        </p:txBody>
      </p:sp>
      <p:sp>
        <p:nvSpPr>
          <p:cNvPr id="20" name="Rectangle 19"/>
          <p:cNvSpPr/>
          <p:nvPr/>
        </p:nvSpPr>
        <p:spPr>
          <a:xfrm>
            <a:off x="7543800" y="1097280"/>
            <a:ext cx="4325112" cy="5074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99832" y="1298448"/>
            <a:ext cx="3813048" cy="411480"/>
          </a:xfrm>
          <a:prstGeom prst="rect">
            <a:avLst/>
          </a:prstGeom>
          <a:noFill/>
        </p:spPr>
        <p:txBody>
          <a:bodyPr wrap="square" lIns="0" rIns="0" tIns="0" bIns="0">
            <a:noAutofit/>
          </a:bodyPr>
          <a:lstStyle/>
          <a:p>
            <a:pPr algn="l"/>
            <a:r>
              <a:rPr sz="1900" b="1" i="0">
                <a:solidFill>
                  <a:srgbClr val="F8C806"/>
                </a:solidFill>
                <a:latin typeface="Georgia"/>
              </a:rPr>
              <a:t>Nitesh Roopa</a:t>
            </a:r>
          </a:p>
        </p:txBody>
      </p:sp>
      <p:sp>
        <p:nvSpPr>
          <p:cNvPr id="22" name="TextBox 21"/>
          <p:cNvSpPr txBox="1"/>
          <p:nvPr/>
        </p:nvSpPr>
        <p:spPr>
          <a:xfrm>
            <a:off x="7799832" y="1719072"/>
            <a:ext cx="3813048" cy="320040"/>
          </a:xfrm>
          <a:prstGeom prst="rect">
            <a:avLst/>
          </a:prstGeom>
          <a:noFill/>
        </p:spPr>
        <p:txBody>
          <a:bodyPr wrap="square" lIns="0" rIns="0" tIns="0" bIns="0">
            <a:noAutofit/>
          </a:bodyPr>
          <a:lstStyle/>
          <a:p>
            <a:pPr algn="l"/>
            <a:r>
              <a:rPr sz="1200" b="0" i="0">
                <a:solidFill>
                  <a:srgbClr val="FFFFFF"/>
                </a:solidFill>
                <a:latin typeface="Arial"/>
              </a:rPr>
              <a:t>CA, Managing Partner, ProfitPulse</a:t>
            </a:r>
          </a:p>
        </p:txBody>
      </p:sp>
      <p:sp>
        <p:nvSpPr>
          <p:cNvPr id="23" name="TextBox 22"/>
          <p:cNvSpPr txBox="1"/>
          <p:nvPr/>
        </p:nvSpPr>
        <p:spPr>
          <a:xfrm>
            <a:off x="7799832" y="2194560"/>
            <a:ext cx="3813048" cy="1371600"/>
          </a:xfrm>
          <a:prstGeom prst="rect">
            <a:avLst/>
          </a:prstGeom>
          <a:noFill/>
        </p:spPr>
        <p:txBody>
          <a:bodyPr wrap="square" lIns="0" rIns="0" tIns="0" bIns="0">
            <a:spAutoFit/>
          </a:bodyPr>
          <a:lstStyle/>
          <a:p>
            <a:pPr algn="l">
              <a:spcAft>
                <a:spcPts val="600"/>
              </a:spcAft>
            </a:pPr>
            <a:r>
              <a:rPr sz="1100" b="0" i="0">
                <a:solidFill>
                  <a:srgbClr val="E6E5DE"/>
                </a:solidFill>
                <a:latin typeface="Arial"/>
              </a:rPr>
              <a:t>•  16 years across 4 countries</a:t>
            </a:r>
          </a:p>
          <a:p>
            <a:pPr algn="l">
              <a:spcAft>
                <a:spcPts val="600"/>
              </a:spcAft>
            </a:pPr>
            <a:r>
              <a:rPr sz="1100" b="0" i="0">
                <a:solidFill>
                  <a:srgbClr val="E6E5DE"/>
                </a:solidFill>
                <a:latin typeface="Arial"/>
              </a:rPr>
              <a:t>•  52 deals executed and managed</a:t>
            </a:r>
          </a:p>
          <a:p>
            <a:pPr algn="l">
              <a:spcAft>
                <a:spcPts val="600"/>
              </a:spcAft>
            </a:pPr>
            <a:r>
              <a:rPr sz="1100" b="0" i="0">
                <a:solidFill>
                  <a:srgbClr val="E6E5DE"/>
                </a:solidFill>
                <a:latin typeface="Arial"/>
              </a:rPr>
              <a:t>•  Largest deal USD 1.3B, Cahora Bassa</a:t>
            </a:r>
          </a:p>
          <a:p>
            <a:pPr algn="l">
              <a:spcAft>
                <a:spcPts val="600"/>
              </a:spcAft>
            </a:pPr>
            <a:r>
              <a:rPr sz="1100" b="0" i="0">
                <a:solidFill>
                  <a:srgbClr val="E6E5DE"/>
                </a:solidFill>
                <a:latin typeface="Arial"/>
              </a:rPr>
              <a:t>•  GRBT project value over AUD 10B</a:t>
            </a:r>
          </a:p>
        </p:txBody>
      </p:sp>
      <p:sp>
        <p:nvSpPr>
          <p:cNvPr id="24" name="TextBox 23"/>
          <p:cNvSpPr txBox="1"/>
          <p:nvPr/>
        </p:nvSpPr>
        <p:spPr>
          <a:xfrm>
            <a:off x="7799832" y="3794760"/>
            <a:ext cx="3813048" cy="1371600"/>
          </a:xfrm>
          <a:prstGeom prst="rect">
            <a:avLst/>
          </a:prstGeom>
          <a:noFill/>
        </p:spPr>
        <p:txBody>
          <a:bodyPr wrap="square" lIns="0" rIns="0" tIns="0" bIns="0">
            <a:spAutoFit/>
          </a:bodyPr>
          <a:lstStyle/>
          <a:p>
            <a:pPr algn="l">
              <a:spcAft>
                <a:spcPts val="600"/>
              </a:spcAft>
            </a:pPr>
            <a:r>
              <a:rPr sz="1100" b="0" i="0">
                <a:solidFill>
                  <a:srgbClr val="01A296"/>
                </a:solidFill>
                <a:latin typeface="Arial"/>
              </a:rPr>
              <a:t>Profit-Pulse.com.au</a:t>
            </a:r>
          </a:p>
          <a:p>
            <a:pPr algn="l">
              <a:spcAft>
                <a:spcPts val="600"/>
              </a:spcAft>
            </a:pPr>
            <a:r>
              <a:rPr sz="1100" b="0" i="0">
                <a:solidFill>
                  <a:srgbClr val="01A296"/>
                </a:solidFill>
                <a:latin typeface="Arial"/>
              </a:rPr>
              <a:t>Nitesh@Profit-Pulse.com.au</a:t>
            </a:r>
          </a:p>
          <a:p>
            <a:pPr algn="l">
              <a:spcAft>
                <a:spcPts val="600"/>
              </a:spcAft>
            </a:pPr>
            <a:r>
              <a:rPr sz="1100" b="0" i="0">
                <a:solidFill>
                  <a:srgbClr val="01A296"/>
                </a:solidFill>
                <a:latin typeface="Arial"/>
              </a:rPr>
              <a:t>+61 411 876 267</a:t>
            </a:r>
          </a:p>
          <a:p>
            <a:pPr algn="l">
              <a:spcAft>
                <a:spcPts val="600"/>
              </a:spcAft>
            </a:pPr>
            <a:r>
              <a:rPr sz="1100" b="0" i="0">
                <a:solidFill>
                  <a:srgbClr val="01A296"/>
                </a:solidFill>
                <a:latin typeface="Arial"/>
              </a:rPr>
              <a:t>linkedin.com/in/nitesh-roopa-77594163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