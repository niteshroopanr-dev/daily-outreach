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services/find-your-fit/" TargetMode="External"/><Relationship Id="rId3" Type="http://schemas.openxmlformats.org/officeDocument/2006/relationships/hyperlink" Target="https://buy.stripe.com/00w4gA7OUfGM5TadMH3ks0z" TargetMode="External"/><Relationship Id="rId4"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92608"/>
            <a:ext cx="7772400" cy="365760"/>
          </a:xfrm>
          <a:prstGeom prst="rect">
            <a:avLst/>
          </a:prstGeom>
          <a:noFill/>
        </p:spPr>
        <p:txBody>
          <a:bodyPr wrap="square">
            <a:spAutoFit/>
          </a:bodyPr>
          <a:lstStyle/>
          <a:p>
            <a:pPr algn="l"/>
            <a:r>
              <a:rPr sz="1300" b="1" i="0" u="none">
                <a:solidFill>
                  <a:srgbClr val="E6E5DE"/>
                </a:solidFill>
                <a:latin typeface="Arial"/>
              </a:rPr>
              <a:t>COMMERCIAL INTELLIGENCE BRIEF</a:t>
            </a:r>
          </a:p>
        </p:txBody>
      </p:sp>
      <p:sp>
        <p:nvSpPr>
          <p:cNvPr id="4" name="TextBox 3"/>
          <p:cNvSpPr txBox="1"/>
          <p:nvPr/>
        </p:nvSpPr>
        <p:spPr>
          <a:xfrm>
            <a:off x="8686800" y="292608"/>
            <a:ext cx="3200400" cy="365760"/>
          </a:xfrm>
          <a:prstGeom prst="rect">
            <a:avLst/>
          </a:prstGeom>
          <a:noFill/>
        </p:spPr>
        <p:txBody>
          <a:bodyPr wrap="square">
            <a:spAutoFit/>
          </a:bodyPr>
          <a:lstStyle/>
          <a:p>
            <a:pPr algn="r"/>
            <a:r>
              <a:rPr sz="1300" b="1" i="0" u="none">
                <a:solidFill>
                  <a:srgbClr val="01A296"/>
                </a:solidFill>
                <a:latin typeface="Arial"/>
              </a:rPr>
              <a:t>PROFITPULSE</a:t>
            </a:r>
          </a:p>
        </p:txBody>
      </p:sp>
      <p:sp>
        <p:nvSpPr>
          <p:cNvPr id="5" name="TextBox 4"/>
          <p:cNvSpPr txBox="1"/>
          <p:nvPr/>
        </p:nvSpPr>
        <p:spPr>
          <a:xfrm>
            <a:off x="274320" y="1024128"/>
            <a:ext cx="9601200" cy="777240"/>
          </a:xfrm>
          <a:prstGeom prst="rect">
            <a:avLst/>
          </a:prstGeom>
          <a:noFill/>
        </p:spPr>
        <p:txBody>
          <a:bodyPr wrap="square">
            <a:spAutoFit/>
          </a:bodyPr>
          <a:lstStyle/>
          <a:p>
            <a:pPr algn="l"/>
            <a:r>
              <a:rPr sz="4200" b="1" i="0" u="none">
                <a:solidFill>
                  <a:srgbClr val="01A296"/>
                </a:solidFill>
                <a:latin typeface="Georgia"/>
              </a:rPr>
              <a:t>MuraConnect</a:t>
            </a:r>
          </a:p>
        </p:txBody>
      </p:sp>
      <p:sp>
        <p:nvSpPr>
          <p:cNvPr id="6" name="TextBox 5"/>
          <p:cNvSpPr txBox="1"/>
          <p:nvPr/>
        </p:nvSpPr>
        <p:spPr>
          <a:xfrm>
            <a:off x="274320" y="1783080"/>
            <a:ext cx="10058400" cy="365760"/>
          </a:xfrm>
          <a:prstGeom prst="rect">
            <a:avLst/>
          </a:prstGeom>
          <a:noFill/>
        </p:spPr>
        <p:txBody>
          <a:bodyPr wrap="square">
            <a:spAutoFit/>
          </a:bodyPr>
          <a:lstStyle/>
          <a:p>
            <a:pPr algn="l"/>
            <a:r>
              <a:rPr sz="1300" b="0" i="0" u="none">
                <a:solidFill>
                  <a:srgbClr val="000000"/>
                </a:solidFill>
                <a:latin typeface="Arial"/>
              </a:rPr>
              <a:t>Indigenous owned recruitment and IT consultancy, Brisbane QLD</a:t>
            </a:r>
          </a:p>
        </p:txBody>
      </p:sp>
      <p:sp>
        <p:nvSpPr>
          <p:cNvPr id="7" name="Rectangle 6"/>
          <p:cNvSpPr/>
          <p:nvPr/>
        </p:nvSpPr>
        <p:spPr>
          <a:xfrm>
            <a:off x="274320"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219456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2340864"/>
            <a:ext cx="1828800" cy="502920"/>
          </a:xfrm>
          <a:prstGeom prst="rect">
            <a:avLst/>
          </a:prstGeom>
          <a:noFill/>
        </p:spPr>
        <p:txBody>
          <a:bodyPr wrap="square">
            <a:spAutoFit/>
          </a:bodyPr>
          <a:lstStyle/>
          <a:p>
            <a:pPr algn="l"/>
            <a:r>
              <a:rPr sz="2800" b="1" i="0" u="none">
                <a:solidFill>
                  <a:srgbClr val="F8C806"/>
                </a:solidFill>
                <a:latin typeface="Georgia"/>
              </a:rPr>
              <a:t>$10.1M</a:t>
            </a:r>
          </a:p>
        </p:txBody>
      </p:sp>
      <p:sp>
        <p:nvSpPr>
          <p:cNvPr id="10" name="TextBox 9"/>
          <p:cNvSpPr txBox="1"/>
          <p:nvPr/>
        </p:nvSpPr>
        <p:spPr>
          <a:xfrm>
            <a:off x="411480" y="2907792"/>
            <a:ext cx="1828800" cy="457200"/>
          </a:xfrm>
          <a:prstGeom prst="rect">
            <a:avLst/>
          </a:prstGeom>
          <a:noFill/>
        </p:spPr>
        <p:txBody>
          <a:bodyPr wrap="square">
            <a:spAutoFit/>
          </a:bodyPr>
          <a:lstStyle/>
          <a:p>
            <a:pPr algn="l"/>
            <a:r>
              <a:rPr sz="1100" b="0" i="0">
                <a:solidFill>
                  <a:srgbClr val="E6E5DE"/>
                </a:solidFill>
                <a:latin typeface="Arial"/>
              </a:rPr>
              <a:t>Annual revenue, FY2025</a:t>
            </a:r>
          </a:p>
        </p:txBody>
      </p:sp>
      <p:sp>
        <p:nvSpPr>
          <p:cNvPr id="11" name="TextBox 10"/>
          <p:cNvSpPr txBox="1"/>
          <p:nvPr/>
        </p:nvSpPr>
        <p:spPr>
          <a:xfrm>
            <a:off x="411480" y="3383280"/>
            <a:ext cx="1828800" cy="228600"/>
          </a:xfrm>
          <a:prstGeom prst="rect">
            <a:avLst/>
          </a:prstGeom>
          <a:noFill/>
        </p:spPr>
        <p:txBody>
          <a:bodyPr wrap="square">
            <a:spAutoFit/>
          </a:bodyPr>
          <a:lstStyle/>
          <a:p>
            <a:pPr algn="l"/>
            <a:r>
              <a:rPr sz="800" b="0" i="1" u="none">
                <a:solidFill>
                  <a:srgbClr val="E6E5DE"/>
                </a:solidFill>
                <a:latin typeface="Arial"/>
              </a:rPr>
              <a:t>Smart50 2025, Nov 2025</a:t>
            </a:r>
          </a:p>
        </p:txBody>
      </p:sp>
      <p:sp>
        <p:nvSpPr>
          <p:cNvPr id="12" name="Rectangle 11"/>
          <p:cNvSpPr/>
          <p:nvPr/>
        </p:nvSpPr>
        <p:spPr>
          <a:xfrm>
            <a:off x="2514599"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14599" y="219456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51759" y="2340864"/>
            <a:ext cx="1828800" cy="502920"/>
          </a:xfrm>
          <a:prstGeom prst="rect">
            <a:avLst/>
          </a:prstGeom>
          <a:noFill/>
        </p:spPr>
        <p:txBody>
          <a:bodyPr wrap="square">
            <a:spAutoFit/>
          </a:bodyPr>
          <a:lstStyle/>
          <a:p>
            <a:pPr algn="l"/>
            <a:r>
              <a:rPr sz="2800" b="1" i="0" u="none">
                <a:solidFill>
                  <a:srgbClr val="F8C806"/>
                </a:solidFill>
                <a:latin typeface="Georgia"/>
              </a:rPr>
              <a:t>90%</a:t>
            </a:r>
          </a:p>
        </p:txBody>
      </p:sp>
      <p:sp>
        <p:nvSpPr>
          <p:cNvPr id="15" name="TextBox 14"/>
          <p:cNvSpPr txBox="1"/>
          <p:nvPr/>
        </p:nvSpPr>
        <p:spPr>
          <a:xfrm>
            <a:off x="2651759" y="2907792"/>
            <a:ext cx="1828800" cy="457200"/>
          </a:xfrm>
          <a:prstGeom prst="rect">
            <a:avLst/>
          </a:prstGeom>
          <a:noFill/>
        </p:spPr>
        <p:txBody>
          <a:bodyPr wrap="square">
            <a:spAutoFit/>
          </a:bodyPr>
          <a:lstStyle/>
          <a:p>
            <a:pPr algn="l"/>
            <a:r>
              <a:rPr sz="1100" b="0" i="0">
                <a:solidFill>
                  <a:srgbClr val="E6E5DE"/>
                </a:solidFill>
                <a:latin typeface="Arial"/>
              </a:rPr>
              <a:t>Revenue growth year on year</a:t>
            </a:r>
          </a:p>
        </p:txBody>
      </p:sp>
      <p:sp>
        <p:nvSpPr>
          <p:cNvPr id="16" name="TextBox 15"/>
          <p:cNvSpPr txBox="1"/>
          <p:nvPr/>
        </p:nvSpPr>
        <p:spPr>
          <a:xfrm>
            <a:off x="2651759" y="3383280"/>
            <a:ext cx="1828800" cy="228600"/>
          </a:xfrm>
          <a:prstGeom prst="rect">
            <a:avLst/>
          </a:prstGeom>
          <a:noFill/>
        </p:spPr>
        <p:txBody>
          <a:bodyPr wrap="square">
            <a:spAutoFit/>
          </a:bodyPr>
          <a:lstStyle/>
          <a:p>
            <a:pPr algn="l"/>
            <a:r>
              <a:rPr sz="800" b="0" i="1" u="none">
                <a:solidFill>
                  <a:srgbClr val="E6E5DE"/>
                </a:solidFill>
                <a:latin typeface="Arial"/>
              </a:rPr>
              <a:t>Smart50 2025 citation</a:t>
            </a:r>
          </a:p>
        </p:txBody>
      </p:sp>
      <p:sp>
        <p:nvSpPr>
          <p:cNvPr id="17" name="Rectangle 16"/>
          <p:cNvSpPr/>
          <p:nvPr/>
        </p:nvSpPr>
        <p:spPr>
          <a:xfrm>
            <a:off x="4754879"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754879" y="219456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92039" y="2340864"/>
            <a:ext cx="1828800" cy="502920"/>
          </a:xfrm>
          <a:prstGeom prst="rect">
            <a:avLst/>
          </a:prstGeom>
          <a:noFill/>
        </p:spPr>
        <p:txBody>
          <a:bodyPr wrap="square">
            <a:spAutoFit/>
          </a:bodyPr>
          <a:lstStyle/>
          <a:p>
            <a:pPr algn="l"/>
            <a:r>
              <a:rPr sz="2800" b="1" i="0" u="none">
                <a:solidFill>
                  <a:srgbClr val="F8C806"/>
                </a:solidFill>
                <a:latin typeface="Georgia"/>
              </a:rPr>
              <a:t>#6</a:t>
            </a:r>
          </a:p>
        </p:txBody>
      </p:sp>
      <p:sp>
        <p:nvSpPr>
          <p:cNvPr id="20" name="TextBox 19"/>
          <p:cNvSpPr txBox="1"/>
          <p:nvPr/>
        </p:nvSpPr>
        <p:spPr>
          <a:xfrm>
            <a:off x="4892039" y="2907792"/>
            <a:ext cx="1828800" cy="457200"/>
          </a:xfrm>
          <a:prstGeom prst="rect">
            <a:avLst/>
          </a:prstGeom>
          <a:noFill/>
        </p:spPr>
        <p:txBody>
          <a:bodyPr wrap="square">
            <a:spAutoFit/>
          </a:bodyPr>
          <a:lstStyle/>
          <a:p>
            <a:pPr algn="l"/>
            <a:r>
              <a:rPr sz="1100" b="0" i="0">
                <a:solidFill>
                  <a:srgbClr val="E6E5DE"/>
                </a:solidFill>
                <a:latin typeface="Arial"/>
              </a:rPr>
              <a:t>Smart50 2025 national rank</a:t>
            </a:r>
          </a:p>
        </p:txBody>
      </p:sp>
      <p:sp>
        <p:nvSpPr>
          <p:cNvPr id="21" name="TextBox 20"/>
          <p:cNvSpPr txBox="1"/>
          <p:nvPr/>
        </p:nvSpPr>
        <p:spPr>
          <a:xfrm>
            <a:off x="4892039" y="3383280"/>
            <a:ext cx="1828800" cy="228600"/>
          </a:xfrm>
          <a:prstGeom prst="rect">
            <a:avLst/>
          </a:prstGeom>
          <a:noFill/>
        </p:spPr>
        <p:txBody>
          <a:bodyPr wrap="square">
            <a:spAutoFit/>
          </a:bodyPr>
          <a:lstStyle/>
          <a:p>
            <a:pPr algn="l"/>
            <a:r>
              <a:rPr sz="800" b="0" i="1" u="none">
                <a:solidFill>
                  <a:srgbClr val="E6E5DE"/>
                </a:solidFill>
                <a:latin typeface="Arial"/>
              </a:rPr>
              <a:t>SmartCompany, Nov 2025</a:t>
            </a:r>
          </a:p>
        </p:txBody>
      </p:sp>
      <p:sp>
        <p:nvSpPr>
          <p:cNvPr id="22" name="Rectangle 21"/>
          <p:cNvSpPr/>
          <p:nvPr/>
        </p:nvSpPr>
        <p:spPr>
          <a:xfrm>
            <a:off x="6995159"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59" y="219456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19" y="2340864"/>
            <a:ext cx="1828800" cy="502920"/>
          </a:xfrm>
          <a:prstGeom prst="rect">
            <a:avLst/>
          </a:prstGeom>
          <a:noFill/>
        </p:spPr>
        <p:txBody>
          <a:bodyPr wrap="square">
            <a:spAutoFit/>
          </a:bodyPr>
          <a:lstStyle/>
          <a:p>
            <a:pPr algn="l"/>
            <a:r>
              <a:rPr sz="2800" b="1" i="0" u="none">
                <a:solidFill>
                  <a:srgbClr val="F8C806"/>
                </a:solidFill>
                <a:latin typeface="Georgia"/>
              </a:rPr>
              <a:t>2017</a:t>
            </a:r>
          </a:p>
        </p:txBody>
      </p:sp>
      <p:sp>
        <p:nvSpPr>
          <p:cNvPr id="25" name="TextBox 24"/>
          <p:cNvSpPr txBox="1"/>
          <p:nvPr/>
        </p:nvSpPr>
        <p:spPr>
          <a:xfrm>
            <a:off x="7132319" y="2907792"/>
            <a:ext cx="1828800" cy="457200"/>
          </a:xfrm>
          <a:prstGeom prst="rect">
            <a:avLst/>
          </a:prstGeom>
          <a:noFill/>
        </p:spPr>
        <p:txBody>
          <a:bodyPr wrap="square">
            <a:spAutoFit/>
          </a:bodyPr>
          <a:lstStyle/>
          <a:p>
            <a:pPr algn="l"/>
            <a:r>
              <a:rPr sz="1100" b="0" i="0">
                <a:solidFill>
                  <a:srgbClr val="E6E5DE"/>
                </a:solidFill>
                <a:latin typeface="Arial"/>
              </a:rPr>
              <a:t>Year founded</a:t>
            </a:r>
          </a:p>
        </p:txBody>
      </p:sp>
      <p:sp>
        <p:nvSpPr>
          <p:cNvPr id="26" name="TextBox 25"/>
          <p:cNvSpPr txBox="1"/>
          <p:nvPr/>
        </p:nvSpPr>
        <p:spPr>
          <a:xfrm>
            <a:off x="7132319" y="3383280"/>
            <a:ext cx="1828800" cy="228600"/>
          </a:xfrm>
          <a:prstGeom prst="rect">
            <a:avLst/>
          </a:prstGeom>
          <a:noFill/>
        </p:spPr>
        <p:txBody>
          <a:bodyPr wrap="square">
            <a:spAutoFit/>
          </a:bodyPr>
          <a:lstStyle/>
          <a:p>
            <a:pPr algn="l"/>
            <a:r>
              <a:rPr sz="800" b="0" i="1" u="none">
                <a:solidFill>
                  <a:srgbClr val="E6E5DE"/>
                </a:solidFill>
                <a:latin typeface="Arial"/>
              </a:rPr>
              <a:t>Company records</a:t>
            </a:r>
          </a:p>
        </p:txBody>
      </p:sp>
      <p:sp>
        <p:nvSpPr>
          <p:cNvPr id="27" name="Rectangle 26"/>
          <p:cNvSpPr/>
          <p:nvPr/>
        </p:nvSpPr>
        <p:spPr>
          <a:xfrm>
            <a:off x="9235440"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235440" y="219456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72600" y="2340864"/>
            <a:ext cx="1828800" cy="502920"/>
          </a:xfrm>
          <a:prstGeom prst="rect">
            <a:avLst/>
          </a:prstGeom>
          <a:noFill/>
        </p:spPr>
        <p:txBody>
          <a:bodyPr wrap="square">
            <a:spAutoFit/>
          </a:bodyPr>
          <a:lstStyle/>
          <a:p>
            <a:pPr algn="l"/>
            <a:r>
              <a:rPr sz="2800" b="1" i="0" u="none">
                <a:solidFill>
                  <a:srgbClr val="F8C806"/>
                </a:solidFill>
                <a:latin typeface="Georgia"/>
              </a:rPr>
              <a:t>51%</a:t>
            </a:r>
          </a:p>
        </p:txBody>
      </p:sp>
      <p:sp>
        <p:nvSpPr>
          <p:cNvPr id="30" name="TextBox 29"/>
          <p:cNvSpPr txBox="1"/>
          <p:nvPr/>
        </p:nvSpPr>
        <p:spPr>
          <a:xfrm>
            <a:off x="9372600" y="2907792"/>
            <a:ext cx="1828800" cy="457200"/>
          </a:xfrm>
          <a:prstGeom prst="rect">
            <a:avLst/>
          </a:prstGeom>
          <a:noFill/>
        </p:spPr>
        <p:txBody>
          <a:bodyPr wrap="square">
            <a:spAutoFit/>
          </a:bodyPr>
          <a:lstStyle/>
          <a:p>
            <a:pPr algn="l"/>
            <a:r>
              <a:rPr sz="1100" b="0" i="0">
                <a:solidFill>
                  <a:srgbClr val="E6E5DE"/>
                </a:solidFill>
                <a:latin typeface="Arial"/>
              </a:rPr>
              <a:t>Indigenous ownership stake</a:t>
            </a:r>
          </a:p>
        </p:txBody>
      </p:sp>
      <p:sp>
        <p:nvSpPr>
          <p:cNvPr id="31" name="TextBox 30"/>
          <p:cNvSpPr txBox="1"/>
          <p:nvPr/>
        </p:nvSpPr>
        <p:spPr>
          <a:xfrm>
            <a:off x="9372600" y="3383280"/>
            <a:ext cx="1828800" cy="228600"/>
          </a:xfrm>
          <a:prstGeom prst="rect">
            <a:avLst/>
          </a:prstGeom>
          <a:noFill/>
        </p:spPr>
        <p:txBody>
          <a:bodyPr wrap="square">
            <a:spAutoFit/>
          </a:bodyPr>
          <a:lstStyle/>
          <a:p>
            <a:pPr algn="l"/>
            <a:r>
              <a:rPr sz="800" b="0" i="1" u="none">
                <a:solidFill>
                  <a:srgbClr val="E6E5DE"/>
                </a:solidFill>
                <a:latin typeface="Arial"/>
              </a:rPr>
              <a:t>Company website</a:t>
            </a:r>
          </a:p>
        </p:txBody>
      </p:sp>
      <p:sp>
        <p:nvSpPr>
          <p:cNvPr id="32" name="TextBox 31"/>
          <p:cNvSpPr txBox="1"/>
          <p:nvPr/>
        </p:nvSpPr>
        <p:spPr>
          <a:xfrm>
            <a:off x="274320" y="3794760"/>
            <a:ext cx="5486400" cy="274320"/>
          </a:xfrm>
          <a:prstGeom prst="rect">
            <a:avLst/>
          </a:prstGeom>
          <a:noFill/>
        </p:spPr>
        <p:txBody>
          <a:bodyPr wrap="square">
            <a:spAutoFit/>
          </a:bodyPr>
          <a:lstStyle/>
          <a:p>
            <a:pPr algn="l"/>
            <a:r>
              <a:rPr sz="1200" b="1" i="0" u="none">
                <a:solidFill>
                  <a:srgbClr val="01A296"/>
                </a:solidFill>
                <a:latin typeface="Arial"/>
              </a:rPr>
              <a:t>KEY COMMERCIAL SIGNALS</a:t>
            </a:r>
          </a:p>
        </p:txBody>
      </p:sp>
      <p:sp>
        <p:nvSpPr>
          <p:cNvPr id="33" name="TextBox 32"/>
          <p:cNvSpPr txBox="1"/>
          <p:nvPr/>
        </p:nvSpPr>
        <p:spPr>
          <a:xfrm>
            <a:off x="274320" y="4114800"/>
            <a:ext cx="11338560" cy="292608"/>
          </a:xfrm>
          <a:prstGeom prst="rect">
            <a:avLst/>
          </a:prstGeom>
          <a:noFill/>
        </p:spPr>
        <p:txBody>
          <a:bodyPr wrap="square">
            <a:spAutoFit/>
          </a:bodyPr>
          <a:lstStyle/>
          <a:p>
            <a:pPr algn="l"/>
            <a:r>
              <a:rPr sz="1100" b="0" i="0" u="none">
                <a:solidFill>
                  <a:srgbClr val="000000"/>
                </a:solidFill>
                <a:latin typeface="Arial"/>
              </a:rPr>
              <a:t>•  6th of 50, 2025 Smart50 Awards: $10.1M revenue, 90% growth (SmartCompany)</a:t>
            </a:r>
          </a:p>
        </p:txBody>
      </p:sp>
      <p:sp>
        <p:nvSpPr>
          <p:cNvPr id="34" name="TextBox 33"/>
          <p:cNvSpPr txBox="1"/>
          <p:nvPr/>
        </p:nvSpPr>
        <p:spPr>
          <a:xfrm>
            <a:off x="274320" y="4453128"/>
            <a:ext cx="11338560" cy="292608"/>
          </a:xfrm>
          <a:prstGeom prst="rect">
            <a:avLst/>
          </a:prstGeom>
          <a:noFill/>
        </p:spPr>
        <p:txBody>
          <a:bodyPr wrap="square">
            <a:spAutoFit/>
          </a:bodyPr>
          <a:lstStyle/>
          <a:p>
            <a:pPr algn="l"/>
            <a:r>
              <a:rPr sz="1100" b="0" i="0" u="none">
                <a:solidFill>
                  <a:srgbClr val="000000"/>
                </a:solidFill>
                <a:latin typeface="Arial"/>
              </a:rPr>
              <a:t>•  Founded 2017 by Phil Ahmat, Anthony Singh, Ash Kumar (Company records)</a:t>
            </a:r>
          </a:p>
        </p:txBody>
      </p:sp>
      <p:sp>
        <p:nvSpPr>
          <p:cNvPr id="35" name="TextBox 34"/>
          <p:cNvSpPr txBox="1"/>
          <p:nvPr/>
        </p:nvSpPr>
        <p:spPr>
          <a:xfrm>
            <a:off x="274320" y="4791456"/>
            <a:ext cx="11338560" cy="292608"/>
          </a:xfrm>
          <a:prstGeom prst="rect">
            <a:avLst/>
          </a:prstGeom>
          <a:noFill/>
        </p:spPr>
        <p:txBody>
          <a:bodyPr wrap="square">
            <a:spAutoFit/>
          </a:bodyPr>
          <a:lstStyle/>
          <a:p>
            <a:pPr algn="l"/>
            <a:r>
              <a:rPr sz="1100" b="0" i="0" u="none">
                <a:solidFill>
                  <a:srgbClr val="000000"/>
                </a:solidFill>
                <a:latin typeface="Arial"/>
              </a:rPr>
              <a:t>•  Supply Nation accredited: 51% owned by CEO Phil Ahmat (MuraConnect site)</a:t>
            </a:r>
          </a:p>
        </p:txBody>
      </p:sp>
      <p:sp>
        <p:nvSpPr>
          <p:cNvPr id="36" name="TextBox 35"/>
          <p:cNvSpPr txBox="1"/>
          <p:nvPr/>
        </p:nvSpPr>
        <p:spPr>
          <a:xfrm>
            <a:off x="274320" y="5129784"/>
            <a:ext cx="11338560" cy="292608"/>
          </a:xfrm>
          <a:prstGeom prst="rect">
            <a:avLst/>
          </a:prstGeom>
          <a:noFill/>
        </p:spPr>
        <p:txBody>
          <a:bodyPr wrap="square">
            <a:spAutoFit/>
          </a:bodyPr>
          <a:lstStyle/>
          <a:p>
            <a:pPr algn="l"/>
            <a:r>
              <a:rPr sz="1100" b="0" i="0" u="none">
                <a:solidFill>
                  <a:srgbClr val="000000"/>
                </a:solidFill>
                <a:latin typeface="Arial"/>
              </a:rPr>
              <a:t>•  Registered NSW Government supplier, buy.nsw panel (buy.nsw.gov.au)</a:t>
            </a:r>
          </a:p>
        </p:txBody>
      </p:sp>
      <p:sp>
        <p:nvSpPr>
          <p:cNvPr id="37" name="TextBox 36"/>
          <p:cNvSpPr txBox="1"/>
          <p:nvPr/>
        </p:nvSpPr>
        <p:spPr>
          <a:xfrm>
            <a:off x="274320" y="5468112"/>
            <a:ext cx="11338560" cy="292608"/>
          </a:xfrm>
          <a:prstGeom prst="rect">
            <a:avLst/>
          </a:prstGeom>
          <a:noFill/>
        </p:spPr>
        <p:txBody>
          <a:bodyPr wrap="square">
            <a:spAutoFit/>
          </a:bodyPr>
          <a:lstStyle/>
          <a:p>
            <a:pPr algn="l"/>
            <a:r>
              <a:rPr sz="1100" b="0" i="0" u="none">
                <a:solidFill>
                  <a:srgbClr val="000000"/>
                </a:solidFill>
                <a:latin typeface="Arial"/>
              </a:rPr>
              <a:t>•  Team draws on more than 25 years serving major public, private clients (Company website)</a:t>
            </a:r>
          </a:p>
        </p:txBody>
      </p:sp>
      <p:sp>
        <p:nvSpPr>
          <p:cNvPr id="38" name="TextBox 37"/>
          <p:cNvSpPr txBox="1"/>
          <p:nvPr/>
        </p:nvSpPr>
        <p:spPr>
          <a:xfrm>
            <a:off x="274320" y="5806440"/>
            <a:ext cx="11338560" cy="292608"/>
          </a:xfrm>
          <a:prstGeom prst="rect">
            <a:avLst/>
          </a:prstGeom>
          <a:noFill/>
        </p:spPr>
        <p:txBody>
          <a:bodyPr wrap="square">
            <a:spAutoFit/>
          </a:bodyPr>
          <a:lstStyle/>
          <a:p>
            <a:pPr algn="l"/>
            <a:r>
              <a:rPr sz="1100" b="0" i="0" u="none">
                <a:solidFill>
                  <a:srgbClr val="000000"/>
                </a:solidFill>
                <a:latin typeface="Arial"/>
              </a:rPr>
              <a:t>•  HQ at Fortitude Valley, inner Brisbane QLD (Company contact page)</a:t>
            </a:r>
          </a:p>
        </p:txBody>
      </p:sp>
      <p:sp>
        <p:nvSpPr>
          <p:cNvPr id="39" name="Rectangle 38"/>
          <p:cNvSpPr/>
          <p:nvPr/>
        </p:nvSpPr>
        <p:spPr>
          <a:xfrm>
            <a:off x="0" y="0"/>
            <a:ext cx="91440" cy="6858000"/>
          </a:xfrm>
          <a:prstGeom prst="rect">
            <a:avLst/>
          </a:prstGeom>
          <a:solidFill>
            <a:srgbClr val="F8C8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74320" y="6400800"/>
            <a:ext cx="11612880" cy="127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74320" y="6473952"/>
            <a:ext cx="8686800" cy="274320"/>
          </a:xfrm>
          <a:prstGeom prst="rect">
            <a:avLst/>
          </a:prstGeom>
          <a:noFill/>
        </p:spPr>
        <p:txBody>
          <a:bodyPr wrap="square">
            <a:spAutoFit/>
          </a:bodyPr>
          <a:lstStyle/>
          <a:p>
            <a:pPr algn="l"/>
            <a:r>
              <a:rPr sz="900" b="0" i="0" u="none">
                <a:solidFill>
                  <a:srgbClr val="000000"/>
                </a:solidFill>
                <a:latin typeface="Arial"/>
              </a:rPr>
              <a:t>Prepared by Nitesh Roopa CA, Managing Partner and Founder, ProfitPulse, Profit-Pulse.com.au</a:t>
            </a:r>
          </a:p>
        </p:txBody>
      </p:sp>
      <p:sp>
        <p:nvSpPr>
          <p:cNvPr id="42" name="TextBox 41"/>
          <p:cNvSpPr txBox="1"/>
          <p:nvPr/>
        </p:nvSpPr>
        <p:spPr>
          <a:xfrm>
            <a:off x="9144000" y="6473952"/>
            <a:ext cx="2743200" cy="274320"/>
          </a:xfrm>
          <a:prstGeom prst="rect">
            <a:avLst/>
          </a:prstGeom>
          <a:noFill/>
        </p:spPr>
        <p:txBody>
          <a:bodyPr wrap="square">
            <a:spAutoFit/>
          </a:bodyPr>
          <a:lstStyle/>
          <a:p>
            <a:pPr algn="r"/>
            <a:r>
              <a:rPr sz="900" b="0" i="0" u="none">
                <a:solidFill>
                  <a:srgbClr val="000000"/>
                </a:solidFill>
                <a:latin typeface="Arial"/>
              </a:rPr>
              <a:t>28 Jul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92608"/>
            <a:ext cx="7772400" cy="365760"/>
          </a:xfrm>
          <a:prstGeom prst="rect">
            <a:avLst/>
          </a:prstGeom>
          <a:noFill/>
        </p:spPr>
        <p:txBody>
          <a:bodyPr wrap="square">
            <a:spAutoFit/>
          </a:bodyPr>
          <a:lstStyle/>
          <a:p>
            <a:pPr algn="l"/>
            <a:r>
              <a:rPr sz="1300" b="1" i="0" u="none">
                <a:solidFill>
                  <a:srgbClr val="E6E5DE"/>
                </a:solidFill>
                <a:latin typeface="Arial"/>
              </a:rPr>
              <a:t>THE OPPORTUNITY</a:t>
            </a:r>
          </a:p>
        </p:txBody>
      </p:sp>
      <p:sp>
        <p:nvSpPr>
          <p:cNvPr id="4" name="TextBox 3"/>
          <p:cNvSpPr txBox="1"/>
          <p:nvPr/>
        </p:nvSpPr>
        <p:spPr>
          <a:xfrm>
            <a:off x="8686800" y="292608"/>
            <a:ext cx="3200400" cy="365760"/>
          </a:xfrm>
          <a:prstGeom prst="rect">
            <a:avLst/>
          </a:prstGeom>
          <a:noFill/>
        </p:spPr>
        <p:txBody>
          <a:bodyPr wrap="square">
            <a:spAutoFit/>
          </a:bodyPr>
          <a:lstStyle/>
          <a:p>
            <a:pPr algn="r"/>
            <a:r>
              <a:rPr sz="1300" b="1" i="0" u="none">
                <a:solidFill>
                  <a:srgbClr val="01A296"/>
                </a:solidFill>
                <a:latin typeface="Arial"/>
              </a:rPr>
              <a:t>PROFITPULSE</a:t>
            </a:r>
          </a:p>
        </p:txBody>
      </p:sp>
      <p:sp>
        <p:nvSpPr>
          <p:cNvPr id="5" name="TextBox 4"/>
          <p:cNvSpPr txBox="1"/>
          <p:nvPr/>
        </p:nvSpPr>
        <p:spPr>
          <a:xfrm>
            <a:off x="274320" y="1005840"/>
            <a:ext cx="11430000" cy="365760"/>
          </a:xfrm>
          <a:prstGeom prst="rect">
            <a:avLst/>
          </a:prstGeom>
          <a:noFill/>
        </p:spPr>
        <p:txBody>
          <a:bodyPr wrap="square">
            <a:spAutoFit/>
          </a:bodyPr>
          <a:lstStyle/>
          <a:p>
            <a:pPr algn="l"/>
            <a:r>
              <a:rPr sz="1700" b="1" i="0" u="none">
                <a:solidFill>
                  <a:srgbClr val="000000"/>
                </a:solidFill>
                <a:latin typeface="Georgia"/>
              </a:rPr>
              <a:t>MuraConnect: three commercial observations from ProfitPulse</a:t>
            </a:r>
          </a:p>
        </p:txBody>
      </p:sp>
      <p:sp>
        <p:nvSpPr>
          <p:cNvPr id="6" name="Rectangle 5"/>
          <p:cNvSpPr/>
          <p:nvPr/>
        </p:nvSpPr>
        <p:spPr>
          <a:xfrm>
            <a:off x="274320" y="1508760"/>
            <a:ext cx="3813048" cy="356616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1709928"/>
            <a:ext cx="3355848" cy="640080"/>
          </a:xfrm>
          <a:prstGeom prst="rect">
            <a:avLst/>
          </a:prstGeom>
          <a:noFill/>
        </p:spPr>
        <p:txBody>
          <a:bodyPr wrap="square">
            <a:spAutoFit/>
          </a:bodyPr>
          <a:lstStyle/>
          <a:p>
            <a:pPr algn="l"/>
            <a:r>
              <a:rPr sz="3600" b="1" i="0" u="none">
                <a:solidFill>
                  <a:srgbClr val="FFFFFF"/>
                </a:solidFill>
                <a:latin typeface="Georgia"/>
              </a:rPr>
              <a:t>01</a:t>
            </a:r>
          </a:p>
        </p:txBody>
      </p:sp>
      <p:sp>
        <p:nvSpPr>
          <p:cNvPr id="8" name="TextBox 7"/>
          <p:cNvSpPr txBox="1"/>
          <p:nvPr/>
        </p:nvSpPr>
        <p:spPr>
          <a:xfrm>
            <a:off x="530352" y="2377440"/>
            <a:ext cx="3310128" cy="777240"/>
          </a:xfrm>
          <a:prstGeom prst="rect">
            <a:avLst/>
          </a:prstGeom>
          <a:noFill/>
        </p:spPr>
        <p:txBody>
          <a:bodyPr wrap="square">
            <a:spAutoFit/>
          </a:bodyPr>
          <a:lstStyle/>
          <a:p>
            <a:pPr algn="l"/>
            <a:r>
              <a:rPr sz="1400" b="1" i="0" u="none">
                <a:solidFill>
                  <a:srgbClr val="FFFFFF"/>
                </a:solidFill>
                <a:latin typeface="Arial"/>
              </a:rPr>
              <a:t>Growth is outrunning cash conversion</a:t>
            </a:r>
          </a:p>
        </p:txBody>
      </p:sp>
      <p:sp>
        <p:nvSpPr>
          <p:cNvPr id="9" name="TextBox 8"/>
          <p:cNvSpPr txBox="1"/>
          <p:nvPr/>
        </p:nvSpPr>
        <p:spPr>
          <a:xfrm>
            <a:off x="530352" y="3200400"/>
            <a:ext cx="3310128" cy="2651760"/>
          </a:xfrm>
          <a:prstGeom prst="rect">
            <a:avLst/>
          </a:prstGeom>
          <a:noFill/>
        </p:spPr>
        <p:txBody>
          <a:bodyPr wrap="square">
            <a:spAutoFit/>
          </a:bodyPr>
          <a:lstStyle/>
          <a:p>
            <a:pPr algn="l"/>
            <a:r>
              <a:rPr sz="1100" b="0" i="0" u="none">
                <a:solidFill>
                  <a:srgbClr val="E6E5DE"/>
                </a:solidFill>
                <a:latin typeface="Arial"/>
              </a:rPr>
              <a:t>MuraConnect grew revenue 90 percent to $10.1 million on a recruitment and IT project model where placed staff are usually paid weekly while enterprise and government clients settle on 30 to 60 day terms. Every new placement widens that gap before the cash lands. A Working Capital Unlock maps exactly where it sits.</a:t>
            </a:r>
          </a:p>
        </p:txBody>
      </p:sp>
      <p:sp>
        <p:nvSpPr>
          <p:cNvPr id="10" name="Rectangle 9"/>
          <p:cNvSpPr/>
          <p:nvPr/>
        </p:nvSpPr>
        <p:spPr>
          <a:xfrm>
            <a:off x="4178808" y="1508760"/>
            <a:ext cx="3813048" cy="35661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1709928"/>
            <a:ext cx="3355848" cy="640080"/>
          </a:xfrm>
          <a:prstGeom prst="rect">
            <a:avLst/>
          </a:prstGeom>
          <a:noFill/>
        </p:spPr>
        <p:txBody>
          <a:bodyPr wrap="square">
            <a:spAutoFit/>
          </a:bodyPr>
          <a:lstStyle/>
          <a:p>
            <a:pPr algn="l"/>
            <a:r>
              <a:rPr sz="3600" b="1" i="0" u="none">
                <a:solidFill>
                  <a:srgbClr val="F8C806"/>
                </a:solidFill>
                <a:latin typeface="Georgia"/>
              </a:rPr>
              <a:t>02</a:t>
            </a:r>
          </a:p>
        </p:txBody>
      </p:sp>
      <p:sp>
        <p:nvSpPr>
          <p:cNvPr id="12" name="TextBox 11"/>
          <p:cNvSpPr txBox="1"/>
          <p:nvPr/>
        </p:nvSpPr>
        <p:spPr>
          <a:xfrm>
            <a:off x="4434840" y="2377440"/>
            <a:ext cx="3310128" cy="777240"/>
          </a:xfrm>
          <a:prstGeom prst="rect">
            <a:avLst/>
          </a:prstGeom>
          <a:noFill/>
        </p:spPr>
        <p:txBody>
          <a:bodyPr wrap="square">
            <a:spAutoFit/>
          </a:bodyPr>
          <a:lstStyle/>
          <a:p>
            <a:pPr algn="l"/>
            <a:r>
              <a:rPr sz="1400" b="1" i="0" u="none">
                <a:solidFill>
                  <a:srgbClr val="F8C806"/>
                </a:solidFill>
                <a:latin typeface="Arial"/>
              </a:rPr>
              <a:t>Public sector clients concentrate the risk</a:t>
            </a:r>
          </a:p>
        </p:txBody>
      </p:sp>
      <p:sp>
        <p:nvSpPr>
          <p:cNvPr id="13" name="TextBox 12"/>
          <p:cNvSpPr txBox="1"/>
          <p:nvPr/>
        </p:nvSpPr>
        <p:spPr>
          <a:xfrm>
            <a:off x="4434840" y="3200400"/>
            <a:ext cx="3310128" cy="2651760"/>
          </a:xfrm>
          <a:prstGeom prst="rect">
            <a:avLst/>
          </a:prstGeom>
          <a:noFill/>
        </p:spPr>
        <p:txBody>
          <a:bodyPr wrap="square">
            <a:spAutoFit/>
          </a:bodyPr>
          <a:lstStyle/>
          <a:p>
            <a:pPr algn="l"/>
            <a:r>
              <a:rPr sz="1100" b="0" i="0" u="none">
                <a:solidFill>
                  <a:srgbClr val="E6E5DE"/>
                </a:solidFill>
                <a:latin typeface="Arial"/>
              </a:rPr>
              <a:t>As a Supply Nation accredited, Indigenous owned provider on the buy.nsw panel, MuraConnect likely draws a large share of its $10.1 million revenue from a small number of public sector and enterprise relationships. Knowing which panels and clients drive margin, not just turnover, matters as contracts renew.</a:t>
            </a:r>
          </a:p>
        </p:txBody>
      </p:sp>
      <p:sp>
        <p:nvSpPr>
          <p:cNvPr id="14" name="Rectangle 13"/>
          <p:cNvSpPr/>
          <p:nvPr/>
        </p:nvSpPr>
        <p:spPr>
          <a:xfrm>
            <a:off x="8083296" y="1508760"/>
            <a:ext cx="3813048" cy="3566160"/>
          </a:xfrm>
          <a:prstGeom prst="rect">
            <a:avLst/>
          </a:prstGeom>
          <a:solidFill>
            <a:srgbClr val="E3A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9328" y="1709928"/>
            <a:ext cx="3355848" cy="640080"/>
          </a:xfrm>
          <a:prstGeom prst="rect">
            <a:avLst/>
          </a:prstGeom>
          <a:noFill/>
        </p:spPr>
        <p:txBody>
          <a:bodyPr wrap="square">
            <a:spAutoFit/>
          </a:bodyPr>
          <a:lstStyle/>
          <a:p>
            <a:pPr algn="l"/>
            <a:r>
              <a:rPr sz="3600" b="1" i="0" u="none">
                <a:solidFill>
                  <a:srgbClr val="000000"/>
                </a:solidFill>
                <a:latin typeface="Georgia"/>
              </a:rPr>
              <a:t>03</a:t>
            </a:r>
          </a:p>
        </p:txBody>
      </p:sp>
      <p:sp>
        <p:nvSpPr>
          <p:cNvPr id="16" name="TextBox 15"/>
          <p:cNvSpPr txBox="1"/>
          <p:nvPr/>
        </p:nvSpPr>
        <p:spPr>
          <a:xfrm>
            <a:off x="8339328" y="2377440"/>
            <a:ext cx="3310128" cy="777240"/>
          </a:xfrm>
          <a:prstGeom prst="rect">
            <a:avLst/>
          </a:prstGeom>
          <a:noFill/>
        </p:spPr>
        <p:txBody>
          <a:bodyPr wrap="square">
            <a:spAutoFit/>
          </a:bodyPr>
          <a:lstStyle/>
          <a:p>
            <a:pPr algn="l"/>
            <a:r>
              <a:rPr sz="1400" b="1" i="0" u="none">
                <a:solidFill>
                  <a:srgbClr val="000000"/>
                </a:solidFill>
                <a:latin typeface="Arial"/>
              </a:rPr>
              <a:t>People cost is the business, so utilisation is the lever</a:t>
            </a:r>
          </a:p>
        </p:txBody>
      </p:sp>
      <p:sp>
        <p:nvSpPr>
          <p:cNvPr id="17" name="TextBox 16"/>
          <p:cNvSpPr txBox="1"/>
          <p:nvPr/>
        </p:nvSpPr>
        <p:spPr>
          <a:xfrm>
            <a:off x="8339328" y="3200400"/>
            <a:ext cx="3310128" cy="2651760"/>
          </a:xfrm>
          <a:prstGeom prst="rect">
            <a:avLst/>
          </a:prstGeom>
          <a:noFill/>
        </p:spPr>
        <p:txBody>
          <a:bodyPr wrap="square">
            <a:spAutoFit/>
          </a:bodyPr>
          <a:lstStyle/>
          <a:p>
            <a:pPr algn="l"/>
            <a:r>
              <a:rPr sz="1100" b="0" i="0" u="none">
                <a:solidFill>
                  <a:srgbClr val="000000"/>
                </a:solidFill>
                <a:latin typeface="Arial"/>
              </a:rPr>
              <a:t>In a recruitment and IT consultancy, gross margin is set by billable utilisation and placement fee capture, not headcount growth. At 90 percent growth it is easy to add delivery capacity faster than utilisation is tracked. A monthly view of revenue per consultant keeps growth profitable, not just larger.</a:t>
            </a:r>
          </a:p>
        </p:txBody>
      </p:sp>
      <p:sp>
        <p:nvSpPr>
          <p:cNvPr id="18" name="TextBox 17"/>
          <p:cNvSpPr txBox="1"/>
          <p:nvPr/>
        </p:nvSpPr>
        <p:spPr>
          <a:xfrm>
            <a:off x="274320" y="5349240"/>
            <a:ext cx="11612880" cy="548640"/>
          </a:xfrm>
          <a:prstGeom prst="rect">
            <a:avLst/>
          </a:prstGeom>
          <a:noFill/>
        </p:spPr>
        <p:txBody>
          <a:bodyPr wrap="square">
            <a:spAutoFit/>
          </a:bodyPr>
          <a:lstStyle/>
          <a:p>
            <a:pPr algn="l"/>
            <a:r>
              <a:rPr sz="1100" b="0" i="1" u="none">
                <a:solidFill>
                  <a:srgbClr val="000000"/>
                </a:solidFill>
                <a:latin typeface="Arial"/>
              </a:rPr>
              <a:t>These are observations offered in good faith. MuraConnect has built something genuinely impressive in a short time. The question is simply whether the financial architecture is keeping pace with the growth.</a:t>
            </a:r>
          </a:p>
        </p:txBody>
      </p:sp>
      <p:sp>
        <p:nvSpPr>
          <p:cNvPr id="19" name="Rectangle 18"/>
          <p:cNvSpPr/>
          <p:nvPr/>
        </p:nvSpPr>
        <p:spPr>
          <a:xfrm>
            <a:off x="0" y="0"/>
            <a:ext cx="91440" cy="6858000"/>
          </a:xfrm>
          <a:prstGeom prst="rect">
            <a:avLst/>
          </a:prstGeom>
          <a:solidFill>
            <a:srgbClr val="F8C8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4320" y="6400800"/>
            <a:ext cx="11612880" cy="127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 y="6473952"/>
            <a:ext cx="8686800" cy="274320"/>
          </a:xfrm>
          <a:prstGeom prst="rect">
            <a:avLst/>
          </a:prstGeom>
          <a:noFill/>
        </p:spPr>
        <p:txBody>
          <a:bodyPr wrap="square">
            <a:spAutoFit/>
          </a:bodyPr>
          <a:lstStyle/>
          <a:p>
            <a:pPr algn="l"/>
            <a:r>
              <a:rPr sz="900" b="0" i="0" u="none">
                <a:solidFill>
                  <a:srgbClr val="000000"/>
                </a:solidFill>
                <a:latin typeface="Arial"/>
              </a:rPr>
              <a:t>Prepared by Nitesh Roopa CA, Managing Partner and Founder, ProfitPulse, Profit-Pulse.com.au</a:t>
            </a:r>
          </a:p>
        </p:txBody>
      </p:sp>
      <p:sp>
        <p:nvSpPr>
          <p:cNvPr id="22" name="TextBox 21"/>
          <p:cNvSpPr txBox="1"/>
          <p:nvPr/>
        </p:nvSpPr>
        <p:spPr>
          <a:xfrm>
            <a:off x="9144000" y="6473952"/>
            <a:ext cx="2743200" cy="274320"/>
          </a:xfrm>
          <a:prstGeom prst="rect">
            <a:avLst/>
          </a:prstGeom>
          <a:noFill/>
        </p:spPr>
        <p:txBody>
          <a:bodyPr wrap="square">
            <a:spAutoFit/>
          </a:bodyPr>
          <a:lstStyle/>
          <a:p>
            <a:pPr algn="r"/>
            <a:r>
              <a:rPr sz="900" b="0" i="0" u="none">
                <a:solidFill>
                  <a:srgbClr val="000000"/>
                </a:solidFill>
                <a:latin typeface="Arial"/>
              </a:rPr>
              <a:t>28 Jul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92608"/>
            <a:ext cx="7772400" cy="365760"/>
          </a:xfrm>
          <a:prstGeom prst="rect">
            <a:avLst/>
          </a:prstGeom>
          <a:noFill/>
        </p:spPr>
        <p:txBody>
          <a:bodyPr wrap="square">
            <a:spAutoFit/>
          </a:bodyPr>
          <a:lstStyle/>
          <a:p>
            <a:pPr algn="l"/>
            <a:r>
              <a:rPr sz="1300" b="1" i="0" u="none">
                <a:solidFill>
                  <a:srgbClr val="E6E5DE"/>
                </a:solidFill>
                <a:latin typeface="Arial"/>
              </a:rPr>
              <a:t>THE RECOMMENDATION</a:t>
            </a:r>
          </a:p>
        </p:txBody>
      </p:sp>
      <p:sp>
        <p:nvSpPr>
          <p:cNvPr id="4" name="TextBox 3"/>
          <p:cNvSpPr txBox="1"/>
          <p:nvPr/>
        </p:nvSpPr>
        <p:spPr>
          <a:xfrm>
            <a:off x="8686800" y="292608"/>
            <a:ext cx="3200400" cy="365760"/>
          </a:xfrm>
          <a:prstGeom prst="rect">
            <a:avLst/>
          </a:prstGeom>
          <a:noFill/>
        </p:spPr>
        <p:txBody>
          <a:bodyPr wrap="square">
            <a:spAutoFit/>
          </a:bodyPr>
          <a:lstStyle/>
          <a:p>
            <a:pPr algn="r"/>
            <a:r>
              <a:rPr sz="1300" b="1" i="0" u="none">
                <a:solidFill>
                  <a:srgbClr val="01A296"/>
                </a:solidFill>
                <a:latin typeface="Arial"/>
              </a:rPr>
              <a:t>PROFITPULSE</a:t>
            </a:r>
          </a:p>
        </p:txBody>
      </p:sp>
      <p:sp>
        <p:nvSpPr>
          <p:cNvPr id="5" name="TextBox 4"/>
          <p:cNvSpPr txBox="1"/>
          <p:nvPr/>
        </p:nvSpPr>
        <p:spPr>
          <a:xfrm>
            <a:off x="274320" y="1051560"/>
            <a:ext cx="6766560" cy="502920"/>
          </a:xfrm>
          <a:prstGeom prst="rect">
            <a:avLst/>
          </a:prstGeom>
          <a:noFill/>
        </p:spPr>
        <p:txBody>
          <a:bodyPr wrap="square">
            <a:spAutoFit/>
          </a:bodyPr>
          <a:lstStyle/>
          <a:p>
            <a:pPr algn="l"/>
            <a:r>
              <a:rPr sz="2600" b="1" i="0" u="none">
                <a:solidFill>
                  <a:srgbClr val="01A296"/>
                </a:solidFill>
                <a:latin typeface="Georgia"/>
              </a:rPr>
              <a:t>Working Capital Unlock</a:t>
            </a:r>
          </a:p>
        </p:txBody>
      </p:sp>
      <p:sp>
        <p:nvSpPr>
          <p:cNvPr id="6" name="TextBox 5"/>
          <p:cNvSpPr txBox="1"/>
          <p:nvPr/>
        </p:nvSpPr>
        <p:spPr>
          <a:xfrm>
            <a:off x="274320" y="1572768"/>
            <a:ext cx="6766560" cy="365760"/>
          </a:xfrm>
          <a:prstGeom prst="rect">
            <a:avLst/>
          </a:prstGeom>
          <a:noFill/>
        </p:spPr>
        <p:txBody>
          <a:bodyPr wrap="square">
            <a:spAutoFit/>
          </a:bodyPr>
          <a:lstStyle/>
          <a:p>
            <a:pPr algn="l"/>
            <a:r>
              <a:rPr sz="1700" b="1" i="0" u="none">
                <a:solidFill>
                  <a:srgbClr val="000000"/>
                </a:solidFill>
                <a:latin typeface="Arial"/>
              </a:rPr>
              <a:t>$6,000 one off</a:t>
            </a:r>
          </a:p>
        </p:txBody>
      </p:sp>
      <p:sp>
        <p:nvSpPr>
          <p:cNvPr id="7" name="TextBox 6"/>
          <p:cNvSpPr txBox="1"/>
          <p:nvPr/>
        </p:nvSpPr>
        <p:spPr>
          <a:xfrm>
            <a:off x="274320" y="1993392"/>
            <a:ext cx="6766560" cy="548640"/>
          </a:xfrm>
          <a:prstGeom prst="rect">
            <a:avLst/>
          </a:prstGeom>
          <a:noFill/>
        </p:spPr>
        <p:txBody>
          <a:bodyPr wrap="square">
            <a:spAutoFit/>
          </a:bodyPr>
          <a:lstStyle/>
          <a:p>
            <a:pPr algn="l"/>
            <a:r>
              <a:rPr sz="1200" b="0" i="0" u="none">
                <a:solidFill>
                  <a:srgbClr val="000000"/>
                </a:solidFill>
                <a:latin typeface="Arial"/>
              </a:rPr>
              <a:t>A four week project mapping cash trapped in debtors, work in progress and supplier terms, with a prioritised action list to release it.</a:t>
            </a:r>
          </a:p>
        </p:txBody>
      </p:sp>
      <p:sp>
        <p:nvSpPr>
          <p:cNvPr id="8" name="Rectangle 7"/>
          <p:cNvSpPr/>
          <p:nvPr/>
        </p:nvSpPr>
        <p:spPr>
          <a:xfrm>
            <a:off x="274320" y="2651760"/>
            <a:ext cx="6766560" cy="1417320"/>
          </a:xfrm>
          <a:prstGeom prst="rect">
            <a:avLst/>
          </a:prstGeom>
          <a:solidFill>
            <a:srgbClr val="FFFFFF"/>
          </a:solidFill>
          <a:ln w="15875">
            <a:solidFill>
              <a:srgbClr val="01A2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743200"/>
            <a:ext cx="6400800" cy="320040"/>
          </a:xfrm>
          <a:prstGeom prst="rect">
            <a:avLst/>
          </a:prstGeom>
          <a:noFill/>
        </p:spPr>
        <p:txBody>
          <a:bodyPr wrap="square">
            <a:spAutoFit/>
          </a:bodyPr>
          <a:lstStyle/>
          <a:p>
            <a:pPr algn="l"/>
            <a:r>
              <a:rPr sz="1300" b="1" i="0" u="none">
                <a:solidFill>
                  <a:srgbClr val="01A296"/>
                </a:solidFill>
                <a:latin typeface="Arial"/>
              </a:rPr>
              <a:t>Step one, answer a few quick questions</a:t>
            </a:r>
          </a:p>
        </p:txBody>
      </p:sp>
      <p:sp>
        <p:nvSpPr>
          <p:cNvPr id="10" name="TextBox 9"/>
          <p:cNvSpPr txBox="1"/>
          <p:nvPr/>
        </p:nvSpPr>
        <p:spPr>
          <a:xfrm>
            <a:off x="457200" y="3090672"/>
            <a:ext cx="6400800" cy="292608"/>
          </a:xfrm>
          <a:prstGeom prst="rect">
            <a:avLst/>
          </a:prstGeom>
          <a:noFill/>
        </p:spPr>
        <p:txBody>
          <a:bodyPr wrap="square">
            <a:spAutoFit/>
          </a:bodyPr>
          <a:lstStyle/>
          <a:p>
            <a:pPr algn="l"/>
            <a:r>
              <a:rPr sz="1100" b="0" i="0" u="none">
                <a:solidFill>
                  <a:srgbClr val="000000"/>
                </a:solidFill>
                <a:latin typeface="Arial"/>
              </a:rPr>
              <a:t>See the solutions matched to your size and industry.</a:t>
            </a:r>
          </a:p>
        </p:txBody>
      </p:sp>
      <p:sp>
        <p:nvSpPr>
          <p:cNvPr id="11" name="TextBox 10"/>
          <p:cNvSpPr txBox="1"/>
          <p:nvPr/>
        </p:nvSpPr>
        <p:spPr>
          <a:xfrm>
            <a:off x="457200" y="3401568"/>
            <a:ext cx="6400800" cy="320040"/>
          </a:xfrm>
          <a:prstGeom prst="rect">
            <a:avLst/>
          </a:prstGeom>
          <a:noFill/>
        </p:spPr>
        <p:txBody>
          <a:bodyPr wrap="square">
            <a:spAutoFit/>
          </a:bodyPr>
          <a:lstStyle/>
          <a:p>
            <a:pPr algn="l"/>
            <a:r>
              <a:rPr sz="1300" b="1" i="0" u="sng">
                <a:solidFill>
                  <a:srgbClr val="01A296"/>
                </a:solidFill>
                <a:latin typeface="Arial"/>
                <a:hlinkClick r:id="rId2"/>
              </a:rPr>
              <a:t>profit-pulse.com.au/services/find-your-fit</a:t>
            </a:r>
          </a:p>
        </p:txBody>
      </p:sp>
      <p:sp>
        <p:nvSpPr>
          <p:cNvPr id="12" name="Rounded Rectangle 11"/>
          <p:cNvSpPr/>
          <p:nvPr/>
        </p:nvSpPr>
        <p:spPr>
          <a:xfrm>
            <a:off x="457200" y="3767328"/>
            <a:ext cx="2834640" cy="219456"/>
          </a:xfrm>
          <a:prstGeom prst="round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762756"/>
            <a:ext cx="2834640" cy="219456"/>
          </a:xfrm>
          <a:prstGeom prst="rect">
            <a:avLst/>
          </a:prstGeom>
          <a:noFill/>
        </p:spPr>
        <p:txBody>
          <a:bodyPr wrap="square">
            <a:spAutoFit/>
          </a:bodyPr>
          <a:lstStyle/>
          <a:p>
            <a:pPr algn="ctr"/>
            <a:r>
              <a:rPr sz="1000" b="1" i="0" u="none">
                <a:solidFill>
                  <a:srgbClr val="FFFFFF"/>
                </a:solidFill>
                <a:latin typeface="Arial"/>
                <a:hlinkClick r:id="rId2"/>
              </a:rPr>
              <a:t>Find your fit in two minutes</a:t>
            </a:r>
          </a:p>
        </p:txBody>
      </p:sp>
      <p:sp>
        <p:nvSpPr>
          <p:cNvPr id="14" name="Rounded Rectangle 13"/>
          <p:cNvSpPr/>
          <p:nvPr/>
        </p:nvSpPr>
        <p:spPr>
          <a:xfrm>
            <a:off x="274320" y="4343400"/>
            <a:ext cx="4480560" cy="457200"/>
          </a:xfrm>
          <a:prstGeom prst="roundRect">
            <a:avLst/>
          </a:prstGeom>
          <a:solidFill>
            <a:srgbClr val="FFFFFF"/>
          </a:solidFill>
          <a:ln w="15875">
            <a:solidFill>
              <a:srgbClr val="F6A10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4343400"/>
            <a:ext cx="4480560" cy="457200"/>
          </a:xfrm>
          <a:prstGeom prst="rect">
            <a:avLst/>
          </a:prstGeom>
          <a:noFill/>
        </p:spPr>
        <p:txBody>
          <a:bodyPr wrap="square">
            <a:spAutoFit/>
          </a:bodyPr>
          <a:lstStyle/>
          <a:p>
            <a:pPr algn="ctr"/>
            <a:r>
              <a:rPr sz="1100" b="1" i="0" u="none">
                <a:solidFill>
                  <a:srgbClr val="F6A102"/>
                </a:solidFill>
                <a:latin typeface="Arial"/>
                <a:hlinkClick r:id="rId3"/>
              </a:rPr>
              <a:t>Purchase the suggested product now to get started</a:t>
            </a:r>
          </a:p>
        </p:txBody>
      </p:sp>
      <p:sp>
        <p:nvSpPr>
          <p:cNvPr id="16" name="TextBox 15"/>
          <p:cNvSpPr txBox="1"/>
          <p:nvPr/>
        </p:nvSpPr>
        <p:spPr>
          <a:xfrm>
            <a:off x="274320" y="4864608"/>
            <a:ext cx="5486400" cy="274320"/>
          </a:xfrm>
          <a:prstGeom prst="rect">
            <a:avLst/>
          </a:prstGeom>
          <a:noFill/>
        </p:spPr>
        <p:txBody>
          <a:bodyPr wrap="square">
            <a:spAutoFit/>
          </a:bodyPr>
          <a:lstStyle/>
          <a:p>
            <a:pPr algn="l"/>
            <a:r>
              <a:rPr sz="1000" b="0" i="0" u="none">
                <a:solidFill>
                  <a:srgbClr val="000000"/>
                </a:solidFill>
                <a:latin typeface="Arial"/>
              </a:rPr>
              <a:t>$6,000 one off, ProfitPulse verified price</a:t>
            </a:r>
          </a:p>
        </p:txBody>
      </p:sp>
      <p:sp>
        <p:nvSpPr>
          <p:cNvPr id="17" name="TextBox 16"/>
          <p:cNvSpPr txBox="1"/>
          <p:nvPr/>
        </p:nvSpPr>
        <p:spPr>
          <a:xfrm>
            <a:off x="274320" y="5349240"/>
            <a:ext cx="5486400" cy="292608"/>
          </a:xfrm>
          <a:prstGeom prst="rect">
            <a:avLst/>
          </a:prstGeom>
          <a:noFill/>
        </p:spPr>
        <p:txBody>
          <a:bodyPr wrap="square">
            <a:spAutoFit/>
          </a:bodyPr>
          <a:lstStyle/>
          <a:p>
            <a:pPr algn="l"/>
            <a:r>
              <a:rPr sz="1200" b="0" i="0" u="none">
                <a:solidFill>
                  <a:srgbClr val="000000"/>
                </a:solidFill>
                <a:latin typeface="Arial"/>
              </a:rPr>
              <a:t>Prefer a conversation first?</a:t>
            </a:r>
          </a:p>
        </p:txBody>
      </p:sp>
      <p:sp>
        <p:nvSpPr>
          <p:cNvPr id="18" name="TextBox 17"/>
          <p:cNvSpPr txBox="1"/>
          <p:nvPr/>
        </p:nvSpPr>
        <p:spPr>
          <a:xfrm>
            <a:off x="274320" y="5669280"/>
            <a:ext cx="5486400" cy="320040"/>
          </a:xfrm>
          <a:prstGeom prst="rect">
            <a:avLst/>
          </a:prstGeom>
          <a:noFill/>
        </p:spPr>
        <p:txBody>
          <a:bodyPr wrap="square">
            <a:spAutoFit/>
          </a:bodyPr>
          <a:lstStyle/>
          <a:p>
            <a:pPr algn="l"/>
            <a:r>
              <a:rPr sz="1200" b="1" i="0" u="sng">
                <a:solidFill>
                  <a:srgbClr val="01A296"/>
                </a:solidFill>
                <a:latin typeface="Arial"/>
                <a:hlinkClick r:id="rId4"/>
              </a:rPr>
              <a:t>Book a complimentary discovery call</a:t>
            </a:r>
          </a:p>
        </p:txBody>
      </p:sp>
      <p:sp>
        <p:nvSpPr>
          <p:cNvPr id="19" name="Rectangle 18"/>
          <p:cNvSpPr/>
          <p:nvPr/>
        </p:nvSpPr>
        <p:spPr>
          <a:xfrm>
            <a:off x="7360920" y="1051560"/>
            <a:ext cx="4553712" cy="5257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1234440"/>
            <a:ext cx="4096512" cy="411480"/>
          </a:xfrm>
          <a:prstGeom prst="rect">
            <a:avLst/>
          </a:prstGeom>
          <a:noFill/>
        </p:spPr>
        <p:txBody>
          <a:bodyPr wrap="square">
            <a:spAutoFit/>
          </a:bodyPr>
          <a:lstStyle/>
          <a:p>
            <a:pPr algn="l"/>
            <a:r>
              <a:rPr sz="1800" b="1" i="0" u="none">
                <a:solidFill>
                  <a:srgbClr val="F8C806"/>
                </a:solidFill>
                <a:latin typeface="Arial"/>
              </a:rPr>
              <a:t>NITESH ROOPA</a:t>
            </a:r>
          </a:p>
        </p:txBody>
      </p:sp>
      <p:sp>
        <p:nvSpPr>
          <p:cNvPr id="21" name="TextBox 20"/>
          <p:cNvSpPr txBox="1"/>
          <p:nvPr/>
        </p:nvSpPr>
        <p:spPr>
          <a:xfrm>
            <a:off x="7589520" y="1627632"/>
            <a:ext cx="4096512" cy="320040"/>
          </a:xfrm>
          <a:prstGeom prst="rect">
            <a:avLst/>
          </a:prstGeom>
          <a:noFill/>
        </p:spPr>
        <p:txBody>
          <a:bodyPr wrap="square">
            <a:spAutoFit/>
          </a:bodyPr>
          <a:lstStyle/>
          <a:p>
            <a:pPr algn="l"/>
            <a:r>
              <a:rPr sz="1300" b="0" i="0" u="none">
                <a:solidFill>
                  <a:srgbClr val="FFFFFF"/>
                </a:solidFill>
                <a:latin typeface="Arial"/>
              </a:rPr>
              <a:t>CA, Managing Partner, ProfitPulse</a:t>
            </a:r>
          </a:p>
        </p:txBody>
      </p:sp>
      <p:sp>
        <p:nvSpPr>
          <p:cNvPr id="22" name="Rectangle 21"/>
          <p:cNvSpPr/>
          <p:nvPr/>
        </p:nvSpPr>
        <p:spPr>
          <a:xfrm>
            <a:off x="7589520" y="1993392"/>
            <a:ext cx="4096512" cy="1905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9520" y="2148840"/>
            <a:ext cx="4096512" cy="1463040"/>
          </a:xfrm>
          <a:prstGeom prst="rect">
            <a:avLst/>
          </a:prstGeom>
          <a:noFill/>
        </p:spPr>
        <p:txBody>
          <a:bodyPr wrap="square">
            <a:spAutoFit/>
          </a:bodyPr>
          <a:lstStyle/>
          <a:p>
            <a:pPr algn="l">
              <a:lnSpc>
                <a:spcPct val="115000"/>
              </a:lnSpc>
            </a:pPr>
            <a:r>
              <a:rPr sz="1100" b="0" i="0">
                <a:solidFill>
                  <a:srgbClr val="E6E5DE"/>
                </a:solidFill>
                <a:latin typeface="Arial"/>
              </a:rPr>
              <a:t>16 years across 4 countries</a:t>
            </a:r>
          </a:p>
          <a:p>
            <a:pPr algn="l">
              <a:lnSpc>
                <a:spcPct val="115000"/>
              </a:lnSpc>
            </a:pPr>
            <a:r>
              <a:rPr sz="1100" b="0" i="0">
                <a:solidFill>
                  <a:srgbClr val="E6E5DE"/>
                </a:solidFill>
                <a:latin typeface="Arial"/>
              </a:rPr>
              <a:t>52 deals executed and managed</a:t>
            </a:r>
          </a:p>
          <a:p>
            <a:pPr algn="l">
              <a:lnSpc>
                <a:spcPct val="115000"/>
              </a:lnSpc>
            </a:pPr>
            <a:r>
              <a:rPr sz="1100" b="0" i="0">
                <a:solidFill>
                  <a:srgbClr val="E6E5DE"/>
                </a:solidFill>
                <a:latin typeface="Arial"/>
              </a:rPr>
              <a:t>Largest deal USD 1.3 billion, Cahora Bassa</a:t>
            </a:r>
          </a:p>
          <a:p>
            <a:pPr algn="l">
              <a:lnSpc>
                <a:spcPct val="115000"/>
              </a:lnSpc>
            </a:pPr>
            <a:r>
              <a:rPr sz="1100" b="0" i="0">
                <a:solidFill>
                  <a:srgbClr val="E6E5DE"/>
                </a:solidFill>
                <a:latin typeface="Arial"/>
              </a:rPr>
              <a:t>AUD 10 billion Queensland infrastructure value</a:t>
            </a:r>
          </a:p>
        </p:txBody>
      </p:sp>
      <p:sp>
        <p:nvSpPr>
          <p:cNvPr id="24" name="TextBox 23"/>
          <p:cNvSpPr txBox="1"/>
          <p:nvPr/>
        </p:nvSpPr>
        <p:spPr>
          <a:xfrm>
            <a:off x="7589520" y="3520440"/>
            <a:ext cx="4096512" cy="320040"/>
          </a:xfrm>
          <a:prstGeom prst="rect">
            <a:avLst/>
          </a:prstGeom>
          <a:noFill/>
        </p:spPr>
        <p:txBody>
          <a:bodyPr wrap="square">
            <a:spAutoFit/>
          </a:bodyPr>
          <a:lstStyle/>
          <a:p>
            <a:pPr algn="l"/>
            <a:r>
              <a:rPr sz="1050" b="0" i="1" u="none">
                <a:solidFill>
                  <a:srgbClr val="E6E5DE"/>
                </a:solidFill>
                <a:latin typeface="Arial"/>
              </a:rPr>
              <a:t>Fractional CFO for growth stage businesses</a:t>
            </a:r>
          </a:p>
        </p:txBody>
      </p:sp>
      <p:sp>
        <p:nvSpPr>
          <p:cNvPr id="25" name="Rectangle 24"/>
          <p:cNvSpPr/>
          <p:nvPr/>
        </p:nvSpPr>
        <p:spPr>
          <a:xfrm>
            <a:off x="7589520" y="3977639"/>
            <a:ext cx="4096512" cy="1905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0" y="4114800"/>
            <a:ext cx="4096512" cy="1463040"/>
          </a:xfrm>
          <a:prstGeom prst="rect">
            <a:avLst/>
          </a:prstGeom>
          <a:noFill/>
        </p:spPr>
        <p:txBody>
          <a:bodyPr wrap="square">
            <a:spAutoFit/>
          </a:bodyPr>
          <a:lstStyle/>
          <a:p>
            <a:pPr algn="l">
              <a:lnSpc>
                <a:spcPct val="115000"/>
              </a:lnSpc>
            </a:pPr>
            <a:r>
              <a:rPr sz="1100" b="0" i="0">
                <a:solidFill>
                  <a:srgbClr val="E6E5DE"/>
                </a:solidFill>
                <a:latin typeface="Arial"/>
              </a:rPr>
              <a:t>Profit-Pulse.com.au</a:t>
            </a:r>
          </a:p>
          <a:p>
            <a:pPr algn="l">
              <a:lnSpc>
                <a:spcPct val="115000"/>
              </a:lnSpc>
            </a:pPr>
            <a:r>
              <a:rPr sz="1100" b="0" i="0">
                <a:solidFill>
                  <a:srgbClr val="01A296"/>
                </a:solidFill>
                <a:latin typeface="Arial"/>
              </a:rPr>
              <a:t>Nitesh@Profit-Pulse.com.au</a:t>
            </a:r>
          </a:p>
          <a:p>
            <a:pPr algn="l">
              <a:lnSpc>
                <a:spcPct val="115000"/>
              </a:lnSpc>
            </a:pPr>
            <a:r>
              <a:rPr sz="1100" b="0" i="0">
                <a:solidFill>
                  <a:srgbClr val="E6E5DE"/>
                </a:solidFill>
                <a:latin typeface="Arial"/>
              </a:rPr>
              <a:t>+61 411 876 267</a:t>
            </a:r>
          </a:p>
          <a:p>
            <a:pPr algn="l">
              <a:lnSpc>
                <a:spcPct val="115000"/>
              </a:lnSpc>
            </a:pPr>
            <a:r>
              <a:rPr sz="1100" b="0" i="0">
                <a:solidFill>
                  <a:srgbClr val="E6E5DE"/>
                </a:solidFill>
                <a:latin typeface="Arial"/>
              </a:rPr>
              <a:t>linkedin.com/in/nitesh-roopa-77594163</a:t>
            </a:r>
          </a:p>
        </p:txBody>
      </p:sp>
      <p:sp>
        <p:nvSpPr>
          <p:cNvPr id="27" name="Rectangle 26"/>
          <p:cNvSpPr/>
          <p:nvPr/>
        </p:nvSpPr>
        <p:spPr>
          <a:xfrm>
            <a:off x="0" y="0"/>
            <a:ext cx="91440" cy="6858000"/>
          </a:xfrm>
          <a:prstGeom prst="rect">
            <a:avLst/>
          </a:prstGeom>
          <a:solidFill>
            <a:srgbClr val="F8C8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74320" y="6400800"/>
            <a:ext cx="11612880" cy="127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4320" y="6473952"/>
            <a:ext cx="8686800" cy="274320"/>
          </a:xfrm>
          <a:prstGeom prst="rect">
            <a:avLst/>
          </a:prstGeom>
          <a:noFill/>
        </p:spPr>
        <p:txBody>
          <a:bodyPr wrap="square">
            <a:spAutoFit/>
          </a:bodyPr>
          <a:lstStyle/>
          <a:p>
            <a:pPr algn="l"/>
            <a:r>
              <a:rPr sz="900" b="0" i="0" u="none">
                <a:solidFill>
                  <a:srgbClr val="000000"/>
                </a:solidFill>
                <a:latin typeface="Arial"/>
              </a:rPr>
              <a:t>Prepared by Nitesh Roopa CA, Managing Partner and Founder, ProfitPulse, Profit-Pulse.com.au</a:t>
            </a:r>
          </a:p>
        </p:txBody>
      </p:sp>
      <p:sp>
        <p:nvSpPr>
          <p:cNvPr id="30" name="TextBox 29"/>
          <p:cNvSpPr txBox="1"/>
          <p:nvPr/>
        </p:nvSpPr>
        <p:spPr>
          <a:xfrm>
            <a:off x="9144000" y="6473952"/>
            <a:ext cx="2743200" cy="274320"/>
          </a:xfrm>
          <a:prstGeom prst="rect">
            <a:avLst/>
          </a:prstGeom>
          <a:noFill/>
        </p:spPr>
        <p:txBody>
          <a:bodyPr wrap="square">
            <a:spAutoFit/>
          </a:bodyPr>
          <a:lstStyle/>
          <a:p>
            <a:pPr algn="r"/>
            <a:r>
              <a:rPr sz="900" b="0" i="0" u="none">
                <a:solidFill>
                  <a:srgbClr val="000000"/>
                </a:solidFill>
                <a:latin typeface="Arial"/>
              </a:rPr>
              <a:t>28 Jul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