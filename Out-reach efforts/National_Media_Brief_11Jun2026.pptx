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buy.stripe.com/eVqdRad9e66cftK23Z3ks0h" TargetMode="External"/><Relationship Id="rId3"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292608"/>
            <a:ext cx="6400800" cy="320040"/>
          </a:xfrm>
          <a:prstGeom prst="rect">
            <a:avLst/>
          </a:prstGeom>
          <a:noFill/>
        </p:spPr>
        <p:txBody>
          <a:bodyPr wrap="square">
            <a:spAutoFit/>
          </a:bodyPr>
          <a:lstStyle/>
          <a:p>
            <a:pPr algn="l"/>
            <a:r>
              <a:rPr sz="1100" b="0" i="0">
                <a:solidFill>
                  <a:srgbClr val="E6E5DE"/>
                </a:solidFill>
                <a:latin typeface="Calibri"/>
              </a:rPr>
              <a:t>COMMERCIAL INTELLIGENCE BRIEF</a:t>
            </a:r>
          </a:p>
        </p:txBody>
      </p:sp>
      <p:sp>
        <p:nvSpPr>
          <p:cNvPr id="6" name="TextBox 5"/>
          <p:cNvSpPr txBox="1"/>
          <p:nvPr/>
        </p:nvSpPr>
        <p:spPr>
          <a:xfrm>
            <a:off x="8961120" y="256032"/>
            <a:ext cx="3017520" cy="411480"/>
          </a:xfrm>
          <a:prstGeom prst="rect">
            <a:avLst/>
          </a:prstGeom>
          <a:noFill/>
        </p:spPr>
        <p:txBody>
          <a:bodyPr wrap="square">
            <a:spAutoFit/>
          </a:bodyPr>
          <a:lstStyle/>
          <a:p>
            <a:pPr algn="r"/>
            <a:r>
              <a:rPr sz="1400" b="1" i="0">
                <a:solidFill>
                  <a:srgbClr val="F6A102"/>
                </a:solidFill>
                <a:latin typeface="Calibri"/>
              </a:rPr>
              <a:t>PROFITPULSE</a:t>
            </a:r>
          </a:p>
        </p:txBody>
      </p:sp>
      <p:sp>
        <p:nvSpPr>
          <p:cNvPr id="7" name="Rectangle 6"/>
          <p:cNvSpPr/>
          <p:nvPr/>
        </p:nvSpPr>
        <p:spPr>
          <a:xfrm>
            <a:off x="109728" y="6601968"/>
            <a:ext cx="12079224" cy="127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9456" y="6638544"/>
            <a:ext cx="11430000" cy="201168"/>
          </a:xfrm>
          <a:prstGeom prst="rect">
            <a:avLst/>
          </a:prstGeom>
          <a:noFill/>
        </p:spPr>
        <p:txBody>
          <a:bodyPr wrap="square">
            <a:spAutoFit/>
          </a:bodyPr>
          <a:lstStyle/>
          <a:p>
            <a:pPr algn="l"/>
            <a:r>
              <a:rPr sz="750" b="0" i="0">
                <a:solidFill>
                  <a:srgbClr val="888888"/>
                </a:solidFill>
                <a:latin typeface="Calibri"/>
              </a:rPr>
              <a:t>Prepared by Nitesh Roopa  CA, Managing Partner, ProfitPulse  |  Profit-Pulse.com.au  |  11 Jun 2026</a:t>
            </a:r>
          </a:p>
        </p:txBody>
      </p:sp>
      <p:sp>
        <p:nvSpPr>
          <p:cNvPr id="9" name="TextBox 8"/>
          <p:cNvSpPr txBox="1"/>
          <p:nvPr/>
        </p:nvSpPr>
        <p:spPr>
          <a:xfrm>
            <a:off x="310896" y="1005840"/>
            <a:ext cx="11676888" cy="512064"/>
          </a:xfrm>
          <a:prstGeom prst="rect">
            <a:avLst/>
          </a:prstGeom>
          <a:noFill/>
        </p:spPr>
        <p:txBody>
          <a:bodyPr wrap="square">
            <a:spAutoFit/>
          </a:bodyPr>
          <a:lstStyle/>
          <a:p>
            <a:pPr algn="l"/>
            <a:r>
              <a:rPr sz="3600" b="1" i="0">
                <a:solidFill>
                  <a:srgbClr val="000000"/>
                </a:solidFill>
                <a:latin typeface="Georgia"/>
              </a:rPr>
              <a:t>National Media</a:t>
            </a:r>
          </a:p>
        </p:txBody>
      </p:sp>
      <p:sp>
        <p:nvSpPr>
          <p:cNvPr id="10" name="TextBox 9"/>
          <p:cNvSpPr txBox="1"/>
          <p:nvPr/>
        </p:nvSpPr>
        <p:spPr>
          <a:xfrm>
            <a:off x="310896" y="1481328"/>
            <a:ext cx="11676888" cy="256032"/>
          </a:xfrm>
          <a:prstGeom prst="rect">
            <a:avLst/>
          </a:prstGeom>
          <a:noFill/>
        </p:spPr>
        <p:txBody>
          <a:bodyPr wrap="square">
            <a:spAutoFit/>
          </a:bodyPr>
          <a:lstStyle/>
          <a:p>
            <a:pPr algn="l"/>
            <a:r>
              <a:rPr sz="1100" b="0" i="0">
                <a:solidFill>
                  <a:srgbClr val="01A296"/>
                </a:solidFill>
                <a:latin typeface="Calibri"/>
              </a:rPr>
              <a:t>B2B exhibition and events producer  |  Bundall, Gold Coast QLD</a:t>
            </a:r>
          </a:p>
        </p:txBody>
      </p:sp>
      <p:sp>
        <p:nvSpPr>
          <p:cNvPr id="11" name="Rectangle 10"/>
          <p:cNvSpPr/>
          <p:nvPr/>
        </p:nvSpPr>
        <p:spPr>
          <a:xfrm>
            <a:off x="310896" y="1847088"/>
            <a:ext cx="1839468" cy="14173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10896" y="1847088"/>
            <a:ext cx="1839468" cy="4114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1924812"/>
            <a:ext cx="1729740" cy="438912"/>
          </a:xfrm>
          <a:prstGeom prst="rect">
            <a:avLst/>
          </a:prstGeom>
          <a:noFill/>
        </p:spPr>
        <p:txBody>
          <a:bodyPr wrap="square">
            <a:spAutoFit/>
          </a:bodyPr>
          <a:lstStyle/>
          <a:p>
            <a:pPr algn="l"/>
            <a:r>
              <a:rPr sz="2600" b="1" i="0">
                <a:solidFill>
                  <a:srgbClr val="F8C806"/>
                </a:solidFill>
                <a:latin typeface="Georgia"/>
              </a:rPr>
              <a:t>$18.4M</a:t>
            </a:r>
          </a:p>
        </p:txBody>
      </p:sp>
      <p:sp>
        <p:nvSpPr>
          <p:cNvPr id="14" name="TextBox 13"/>
          <p:cNvSpPr txBox="1"/>
          <p:nvPr/>
        </p:nvSpPr>
        <p:spPr>
          <a:xfrm>
            <a:off x="402336" y="2363724"/>
            <a:ext cx="1729740" cy="420624"/>
          </a:xfrm>
          <a:prstGeom prst="rect">
            <a:avLst/>
          </a:prstGeom>
          <a:noFill/>
        </p:spPr>
        <p:txBody>
          <a:bodyPr wrap="square">
            <a:spAutoFit/>
          </a:bodyPr>
          <a:lstStyle/>
          <a:p>
            <a:pPr algn="l"/>
            <a:r>
              <a:rPr sz="900" b="0" i="0">
                <a:solidFill>
                  <a:srgbClr val="E6E5DE"/>
                </a:solidFill>
                <a:latin typeface="Calibri"/>
              </a:rPr>
              <a:t>Annual revenue</a:t>
            </a:r>
          </a:p>
        </p:txBody>
      </p:sp>
      <p:sp>
        <p:nvSpPr>
          <p:cNvPr id="15" name="TextBox 14"/>
          <p:cNvSpPr txBox="1"/>
          <p:nvPr/>
        </p:nvSpPr>
        <p:spPr>
          <a:xfrm>
            <a:off x="402336" y="3063240"/>
            <a:ext cx="1729740" cy="182880"/>
          </a:xfrm>
          <a:prstGeom prst="rect">
            <a:avLst/>
          </a:prstGeom>
          <a:noFill/>
        </p:spPr>
        <p:txBody>
          <a:bodyPr wrap="square">
            <a:spAutoFit/>
          </a:bodyPr>
          <a:lstStyle/>
          <a:p>
            <a:pPr algn="l"/>
            <a:r>
              <a:rPr sz="700" b="0" i="0">
                <a:solidFill>
                  <a:srgbClr val="AAAAAA"/>
                </a:solidFill>
                <a:latin typeface="Calibri"/>
              </a:rPr>
              <a:t>Smart50 Awards 2025</a:t>
            </a:r>
          </a:p>
        </p:txBody>
      </p:sp>
      <p:sp>
        <p:nvSpPr>
          <p:cNvPr id="16" name="Rectangle 15"/>
          <p:cNvSpPr/>
          <p:nvPr/>
        </p:nvSpPr>
        <p:spPr>
          <a:xfrm>
            <a:off x="2278380" y="1847088"/>
            <a:ext cx="1839468" cy="14173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8380" y="1847088"/>
            <a:ext cx="1839468" cy="4114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69820" y="1924812"/>
            <a:ext cx="1729740" cy="438912"/>
          </a:xfrm>
          <a:prstGeom prst="rect">
            <a:avLst/>
          </a:prstGeom>
          <a:noFill/>
        </p:spPr>
        <p:txBody>
          <a:bodyPr wrap="square">
            <a:spAutoFit/>
          </a:bodyPr>
          <a:lstStyle/>
          <a:p>
            <a:pPr algn="l"/>
            <a:r>
              <a:rPr sz="2600" b="1" i="0">
                <a:solidFill>
                  <a:srgbClr val="F8C806"/>
                </a:solidFill>
                <a:latin typeface="Georgia"/>
              </a:rPr>
              <a:t>42%</a:t>
            </a:r>
          </a:p>
        </p:txBody>
      </p:sp>
      <p:sp>
        <p:nvSpPr>
          <p:cNvPr id="19" name="TextBox 18"/>
          <p:cNvSpPr txBox="1"/>
          <p:nvPr/>
        </p:nvSpPr>
        <p:spPr>
          <a:xfrm>
            <a:off x="2369820" y="2363724"/>
            <a:ext cx="1729740" cy="420624"/>
          </a:xfrm>
          <a:prstGeom prst="rect">
            <a:avLst/>
          </a:prstGeom>
          <a:noFill/>
        </p:spPr>
        <p:txBody>
          <a:bodyPr wrap="square">
            <a:spAutoFit/>
          </a:bodyPr>
          <a:lstStyle/>
          <a:p>
            <a:pPr algn="l"/>
            <a:r>
              <a:rPr sz="900" b="0" i="0">
                <a:solidFill>
                  <a:srgbClr val="E6E5DE"/>
                </a:solidFill>
                <a:latin typeface="Calibri"/>
              </a:rPr>
              <a:t>Revenue growth 3yr avg</a:t>
            </a:r>
          </a:p>
        </p:txBody>
      </p:sp>
      <p:sp>
        <p:nvSpPr>
          <p:cNvPr id="20" name="TextBox 19"/>
          <p:cNvSpPr txBox="1"/>
          <p:nvPr/>
        </p:nvSpPr>
        <p:spPr>
          <a:xfrm>
            <a:off x="2369820" y="3063240"/>
            <a:ext cx="1729740" cy="182880"/>
          </a:xfrm>
          <a:prstGeom prst="rect">
            <a:avLst/>
          </a:prstGeom>
          <a:noFill/>
        </p:spPr>
        <p:txBody>
          <a:bodyPr wrap="square">
            <a:spAutoFit/>
          </a:bodyPr>
          <a:lstStyle/>
          <a:p>
            <a:pPr algn="l"/>
            <a:r>
              <a:rPr sz="700" b="0" i="0">
                <a:solidFill>
                  <a:srgbClr val="AAAAAA"/>
                </a:solidFill>
                <a:latin typeface="Calibri"/>
              </a:rPr>
              <a:t>Smart50 Awards 2025</a:t>
            </a:r>
          </a:p>
        </p:txBody>
      </p:sp>
      <p:sp>
        <p:nvSpPr>
          <p:cNvPr id="21" name="Rectangle 20"/>
          <p:cNvSpPr/>
          <p:nvPr/>
        </p:nvSpPr>
        <p:spPr>
          <a:xfrm>
            <a:off x="4245864" y="1847088"/>
            <a:ext cx="1839468" cy="14173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45864" y="1847088"/>
            <a:ext cx="1839468" cy="4114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37304" y="1924812"/>
            <a:ext cx="1729740" cy="438912"/>
          </a:xfrm>
          <a:prstGeom prst="rect">
            <a:avLst/>
          </a:prstGeom>
          <a:noFill/>
        </p:spPr>
        <p:txBody>
          <a:bodyPr wrap="square">
            <a:spAutoFit/>
          </a:bodyPr>
          <a:lstStyle/>
          <a:p>
            <a:pPr algn="l"/>
            <a:r>
              <a:rPr sz="2600" b="1" i="0">
                <a:solidFill>
                  <a:srgbClr val="F8C806"/>
                </a:solidFill>
                <a:latin typeface="Georgia"/>
              </a:rPr>
              <a:t>48</a:t>
            </a:r>
          </a:p>
        </p:txBody>
      </p:sp>
      <p:sp>
        <p:nvSpPr>
          <p:cNvPr id="24" name="TextBox 23"/>
          <p:cNvSpPr txBox="1"/>
          <p:nvPr/>
        </p:nvSpPr>
        <p:spPr>
          <a:xfrm>
            <a:off x="4337304" y="2363724"/>
            <a:ext cx="1729740" cy="420624"/>
          </a:xfrm>
          <a:prstGeom prst="rect">
            <a:avLst/>
          </a:prstGeom>
          <a:noFill/>
        </p:spPr>
        <p:txBody>
          <a:bodyPr wrap="square">
            <a:spAutoFit/>
          </a:bodyPr>
          <a:lstStyle/>
          <a:p>
            <a:pPr algn="l"/>
            <a:r>
              <a:rPr sz="900" b="0" i="0">
                <a:solidFill>
                  <a:srgbClr val="E6E5DE"/>
                </a:solidFill>
                <a:latin typeface="Calibri"/>
              </a:rPr>
              <a:t>Team members</a:t>
            </a:r>
          </a:p>
        </p:txBody>
      </p:sp>
      <p:sp>
        <p:nvSpPr>
          <p:cNvPr id="25" name="TextBox 24"/>
          <p:cNvSpPr txBox="1"/>
          <p:nvPr/>
        </p:nvSpPr>
        <p:spPr>
          <a:xfrm>
            <a:off x="4337304" y="3063240"/>
            <a:ext cx="1729740" cy="182880"/>
          </a:xfrm>
          <a:prstGeom prst="rect">
            <a:avLst/>
          </a:prstGeom>
          <a:noFill/>
        </p:spPr>
        <p:txBody>
          <a:bodyPr wrap="square">
            <a:spAutoFit/>
          </a:bodyPr>
          <a:lstStyle/>
          <a:p>
            <a:pPr algn="l"/>
            <a:r>
              <a:rPr sz="700" b="0" i="0">
                <a:solidFill>
                  <a:srgbClr val="AAAAAA"/>
                </a:solidFill>
                <a:latin typeface="Calibri"/>
              </a:rPr>
              <a:t>Smart50 Awards 2025</a:t>
            </a:r>
          </a:p>
        </p:txBody>
      </p:sp>
      <p:sp>
        <p:nvSpPr>
          <p:cNvPr id="26" name="Rectangle 25"/>
          <p:cNvSpPr/>
          <p:nvPr/>
        </p:nvSpPr>
        <p:spPr>
          <a:xfrm>
            <a:off x="6213348" y="1847088"/>
            <a:ext cx="1839468" cy="14173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1847088"/>
            <a:ext cx="1839468" cy="4114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4788" y="1924812"/>
            <a:ext cx="1729740" cy="438912"/>
          </a:xfrm>
          <a:prstGeom prst="rect">
            <a:avLst/>
          </a:prstGeom>
          <a:noFill/>
        </p:spPr>
        <p:txBody>
          <a:bodyPr wrap="square">
            <a:spAutoFit/>
          </a:bodyPr>
          <a:lstStyle/>
          <a:p>
            <a:pPr algn="l"/>
            <a:r>
              <a:rPr sz="2600" b="1" i="0">
                <a:solidFill>
                  <a:srgbClr val="F8C806"/>
                </a:solidFill>
                <a:latin typeface="Georgia"/>
              </a:rPr>
              <a:t>#28</a:t>
            </a:r>
          </a:p>
        </p:txBody>
      </p:sp>
      <p:sp>
        <p:nvSpPr>
          <p:cNvPr id="29" name="TextBox 28"/>
          <p:cNvSpPr txBox="1"/>
          <p:nvPr/>
        </p:nvSpPr>
        <p:spPr>
          <a:xfrm>
            <a:off x="6304788" y="2363724"/>
            <a:ext cx="1729740" cy="420624"/>
          </a:xfrm>
          <a:prstGeom prst="rect">
            <a:avLst/>
          </a:prstGeom>
          <a:noFill/>
        </p:spPr>
        <p:txBody>
          <a:bodyPr wrap="square">
            <a:spAutoFit/>
          </a:bodyPr>
          <a:lstStyle/>
          <a:p>
            <a:pPr algn="l"/>
            <a:r>
              <a:rPr sz="900" b="0" i="0">
                <a:solidFill>
                  <a:srgbClr val="E6E5DE"/>
                </a:solidFill>
                <a:latin typeface="Calibri"/>
              </a:rPr>
              <a:t>Smart50 rank 2025</a:t>
            </a:r>
          </a:p>
        </p:txBody>
      </p:sp>
      <p:sp>
        <p:nvSpPr>
          <p:cNvPr id="30" name="TextBox 29"/>
          <p:cNvSpPr txBox="1"/>
          <p:nvPr/>
        </p:nvSpPr>
        <p:spPr>
          <a:xfrm>
            <a:off x="6304788" y="3063240"/>
            <a:ext cx="1729740" cy="182880"/>
          </a:xfrm>
          <a:prstGeom prst="rect">
            <a:avLst/>
          </a:prstGeom>
          <a:noFill/>
        </p:spPr>
        <p:txBody>
          <a:bodyPr wrap="square">
            <a:spAutoFit/>
          </a:bodyPr>
          <a:lstStyle/>
          <a:p>
            <a:pPr algn="l"/>
            <a:r>
              <a:rPr sz="700" b="0" i="0">
                <a:solidFill>
                  <a:srgbClr val="AAAAAA"/>
                </a:solidFill>
                <a:latin typeface="Calibri"/>
              </a:rPr>
              <a:t>SmartCompany Nov 2025</a:t>
            </a:r>
          </a:p>
        </p:txBody>
      </p:sp>
      <p:sp>
        <p:nvSpPr>
          <p:cNvPr id="31" name="Rectangle 30"/>
          <p:cNvSpPr/>
          <p:nvPr/>
        </p:nvSpPr>
        <p:spPr>
          <a:xfrm>
            <a:off x="8180832" y="1847088"/>
            <a:ext cx="1839468" cy="14173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80832" y="1847088"/>
            <a:ext cx="1839468" cy="4114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72272" y="1924812"/>
            <a:ext cx="1729740" cy="438912"/>
          </a:xfrm>
          <a:prstGeom prst="rect">
            <a:avLst/>
          </a:prstGeom>
          <a:noFill/>
        </p:spPr>
        <p:txBody>
          <a:bodyPr wrap="square">
            <a:spAutoFit/>
          </a:bodyPr>
          <a:lstStyle/>
          <a:p>
            <a:pPr algn="l"/>
            <a:r>
              <a:rPr sz="2600" b="1" i="0">
                <a:solidFill>
                  <a:srgbClr val="F8C806"/>
                </a:solidFill>
                <a:latin typeface="Georgia"/>
              </a:rPr>
              <a:t>30+</a:t>
            </a:r>
          </a:p>
        </p:txBody>
      </p:sp>
      <p:sp>
        <p:nvSpPr>
          <p:cNvPr id="34" name="TextBox 33"/>
          <p:cNvSpPr txBox="1"/>
          <p:nvPr/>
        </p:nvSpPr>
        <p:spPr>
          <a:xfrm>
            <a:off x="8272272" y="2363724"/>
            <a:ext cx="1729740" cy="420624"/>
          </a:xfrm>
          <a:prstGeom prst="rect">
            <a:avLst/>
          </a:prstGeom>
          <a:noFill/>
        </p:spPr>
        <p:txBody>
          <a:bodyPr wrap="square">
            <a:spAutoFit/>
          </a:bodyPr>
          <a:lstStyle/>
          <a:p>
            <a:pPr algn="l"/>
            <a:r>
              <a:rPr sz="900" b="0" i="0">
                <a:solidFill>
                  <a:srgbClr val="E6E5DE"/>
                </a:solidFill>
                <a:latin typeface="Calibri"/>
              </a:rPr>
              <a:t>Event brands developed</a:t>
            </a:r>
          </a:p>
        </p:txBody>
      </p:sp>
      <p:sp>
        <p:nvSpPr>
          <p:cNvPr id="35" name="TextBox 34"/>
          <p:cNvSpPr txBox="1"/>
          <p:nvPr/>
        </p:nvSpPr>
        <p:spPr>
          <a:xfrm>
            <a:off x="8272272" y="3063240"/>
            <a:ext cx="1729740" cy="182880"/>
          </a:xfrm>
          <a:prstGeom prst="rect">
            <a:avLst/>
          </a:prstGeom>
          <a:noFill/>
        </p:spPr>
        <p:txBody>
          <a:bodyPr wrap="square">
            <a:spAutoFit/>
          </a:bodyPr>
          <a:lstStyle/>
          <a:p>
            <a:pPr algn="l"/>
            <a:r>
              <a:rPr sz="700" b="0" i="0">
                <a:solidFill>
                  <a:srgbClr val="AAAAAA"/>
                </a:solidFill>
                <a:latin typeface="Calibri"/>
              </a:rPr>
              <a:t>nationalmedia.com.au</a:t>
            </a:r>
          </a:p>
        </p:txBody>
      </p:sp>
      <p:sp>
        <p:nvSpPr>
          <p:cNvPr id="36" name="Rectangle 35"/>
          <p:cNvSpPr/>
          <p:nvPr/>
        </p:nvSpPr>
        <p:spPr>
          <a:xfrm>
            <a:off x="10148316" y="1847088"/>
            <a:ext cx="1839468" cy="14173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148316" y="1847088"/>
            <a:ext cx="1839468" cy="4114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39756" y="1924812"/>
            <a:ext cx="1729740" cy="438912"/>
          </a:xfrm>
          <a:prstGeom prst="rect">
            <a:avLst/>
          </a:prstGeom>
          <a:noFill/>
        </p:spPr>
        <p:txBody>
          <a:bodyPr wrap="square">
            <a:spAutoFit/>
          </a:bodyPr>
          <a:lstStyle/>
          <a:p>
            <a:pPr algn="l"/>
            <a:r>
              <a:rPr sz="2600" b="1" i="0">
                <a:solidFill>
                  <a:srgbClr val="F8C806"/>
                </a:solidFill>
                <a:latin typeface="Georgia"/>
              </a:rPr>
              <a:t>850+</a:t>
            </a:r>
          </a:p>
        </p:txBody>
      </p:sp>
      <p:sp>
        <p:nvSpPr>
          <p:cNvPr id="39" name="TextBox 38"/>
          <p:cNvSpPr txBox="1"/>
          <p:nvPr/>
        </p:nvSpPr>
        <p:spPr>
          <a:xfrm>
            <a:off x="10239756" y="2363724"/>
            <a:ext cx="1729740" cy="420624"/>
          </a:xfrm>
          <a:prstGeom prst="rect">
            <a:avLst/>
          </a:prstGeom>
          <a:noFill/>
        </p:spPr>
        <p:txBody>
          <a:bodyPr wrap="square">
            <a:spAutoFit/>
          </a:bodyPr>
          <a:lstStyle/>
          <a:p>
            <a:pPr algn="l"/>
            <a:r>
              <a:rPr sz="900" b="0" i="0">
                <a:solidFill>
                  <a:srgbClr val="E6E5DE"/>
                </a:solidFill>
                <a:latin typeface="Calibri"/>
              </a:rPr>
              <a:t>Exhibitors across event portfolio</a:t>
            </a:r>
          </a:p>
        </p:txBody>
      </p:sp>
      <p:sp>
        <p:nvSpPr>
          <p:cNvPr id="40" name="TextBox 39"/>
          <p:cNvSpPr txBox="1"/>
          <p:nvPr/>
        </p:nvSpPr>
        <p:spPr>
          <a:xfrm>
            <a:off x="10239756" y="3063240"/>
            <a:ext cx="1729740" cy="182880"/>
          </a:xfrm>
          <a:prstGeom prst="rect">
            <a:avLst/>
          </a:prstGeom>
          <a:noFill/>
        </p:spPr>
        <p:txBody>
          <a:bodyPr wrap="square">
            <a:spAutoFit/>
          </a:bodyPr>
          <a:lstStyle/>
          <a:p>
            <a:pPr algn="l"/>
            <a:r>
              <a:rPr sz="700" b="0" i="0">
                <a:solidFill>
                  <a:srgbClr val="AAAAAA"/>
                </a:solidFill>
                <a:latin typeface="Calibri"/>
              </a:rPr>
              <a:t>Brad Langton, 2024</a:t>
            </a:r>
          </a:p>
        </p:txBody>
      </p:sp>
      <p:sp>
        <p:nvSpPr>
          <p:cNvPr id="41" name="TextBox 40"/>
          <p:cNvSpPr txBox="1"/>
          <p:nvPr/>
        </p:nvSpPr>
        <p:spPr>
          <a:xfrm>
            <a:off x="310896" y="3429000"/>
            <a:ext cx="2743200" cy="201168"/>
          </a:xfrm>
          <a:prstGeom prst="rect">
            <a:avLst/>
          </a:prstGeom>
          <a:noFill/>
        </p:spPr>
        <p:txBody>
          <a:bodyPr wrap="square">
            <a:spAutoFit/>
          </a:bodyPr>
          <a:lstStyle/>
          <a:p>
            <a:pPr algn="l"/>
            <a:r>
              <a:rPr sz="900" b="1" i="0">
                <a:solidFill>
                  <a:srgbClr val="01A296"/>
                </a:solidFill>
                <a:latin typeface="Calibri"/>
              </a:rPr>
              <a:t>KEY COMMERCIAL SIGNALS</a:t>
            </a:r>
          </a:p>
        </p:txBody>
      </p:sp>
      <p:sp>
        <p:nvSpPr>
          <p:cNvPr id="42" name="TextBox 41"/>
          <p:cNvSpPr txBox="1"/>
          <p:nvPr/>
        </p:nvSpPr>
        <p:spPr>
          <a:xfrm>
            <a:off x="384048" y="3657600"/>
            <a:ext cx="11585448" cy="310896"/>
          </a:xfrm>
          <a:prstGeom prst="rect">
            <a:avLst/>
          </a:prstGeom>
          <a:noFill/>
        </p:spPr>
        <p:txBody>
          <a:bodyPr wrap="square">
            <a:spAutoFit/>
          </a:bodyPr>
          <a:lstStyle/>
          <a:p>
            <a:pPr algn="l"/>
            <a:r>
              <a:rPr sz="850" b="0" i="0">
                <a:solidFill>
                  <a:srgbClr val="000000"/>
                </a:solidFill>
                <a:latin typeface="Calibri"/>
              </a:rPr>
              <a:t>•  Smart50 #28 and AFR Fast 100 both awarded in 2025, confirming multi-year revenue compounding across the event portfolio.  (SmartCompany Nov 2025, exhibitionindustrynews.com.au)</a:t>
            </a:r>
          </a:p>
        </p:txBody>
      </p:sp>
      <p:sp>
        <p:nvSpPr>
          <p:cNvPr id="43" name="TextBox 42"/>
          <p:cNvSpPr txBox="1"/>
          <p:nvPr/>
        </p:nvSpPr>
        <p:spPr>
          <a:xfrm>
            <a:off x="384048" y="3968496"/>
            <a:ext cx="11585448" cy="310896"/>
          </a:xfrm>
          <a:prstGeom prst="rect">
            <a:avLst/>
          </a:prstGeom>
          <a:noFill/>
        </p:spPr>
        <p:txBody>
          <a:bodyPr wrap="square">
            <a:spAutoFit/>
          </a:bodyPr>
          <a:lstStyle/>
          <a:p>
            <a:pPr algn="l"/>
            <a:r>
              <a:rPr sz="850" b="0" i="0">
                <a:solidFill>
                  <a:srgbClr val="000000"/>
                </a:solidFill>
                <a:latin typeface="Calibri"/>
              </a:rPr>
              <a:t>•  Acquired five Foodservice and Hospitality events from Specialised Events in May 2024, adding Foodservice Australia, Food and Hospitality QLD, Aged Care Catering Summit, National Restaurant Conference, and Australian Chef of the Year.  (foodandhospitality.com.au, May 2024)</a:t>
            </a:r>
          </a:p>
        </p:txBody>
      </p:sp>
      <p:sp>
        <p:nvSpPr>
          <p:cNvPr id="44" name="TextBox 43"/>
          <p:cNvSpPr txBox="1"/>
          <p:nvPr/>
        </p:nvSpPr>
        <p:spPr>
          <a:xfrm>
            <a:off x="384048" y="4279392"/>
            <a:ext cx="11585448" cy="310896"/>
          </a:xfrm>
          <a:prstGeom prst="rect">
            <a:avLst/>
          </a:prstGeom>
          <a:noFill/>
        </p:spPr>
        <p:txBody>
          <a:bodyPr wrap="square">
            <a:spAutoFit/>
          </a:bodyPr>
          <a:lstStyle/>
          <a:p>
            <a:pPr algn="l"/>
            <a:r>
              <a:rPr sz="850" b="0" i="0">
                <a:solidFill>
                  <a:srgbClr val="000000"/>
                </a:solidFill>
                <a:latin typeface="Calibri"/>
              </a:rPr>
              <a:t>•  Design and Build Week at ICC Sydney, 11 to 13 June 2026, combining Futurebuild Australia, Design Show Australia, and Kitchen and Bath Show into a single national destination event.  (tradefairdates.com)</a:t>
            </a:r>
          </a:p>
        </p:txBody>
      </p:sp>
      <p:sp>
        <p:nvSpPr>
          <p:cNvPr id="45" name="TextBox 44"/>
          <p:cNvSpPr txBox="1"/>
          <p:nvPr/>
        </p:nvSpPr>
        <p:spPr>
          <a:xfrm>
            <a:off x="384048" y="4590288"/>
            <a:ext cx="11585448" cy="310896"/>
          </a:xfrm>
          <a:prstGeom prst="rect">
            <a:avLst/>
          </a:prstGeom>
          <a:noFill/>
        </p:spPr>
        <p:txBody>
          <a:bodyPr wrap="square">
            <a:spAutoFit/>
          </a:bodyPr>
          <a:lstStyle/>
          <a:p>
            <a:pPr algn="l"/>
            <a:r>
              <a:rPr sz="850" b="0" i="0">
                <a:solidFill>
                  <a:srgbClr val="000000"/>
                </a:solidFill>
                <a:latin typeface="Calibri"/>
              </a:rPr>
              <a:t>•  National events footprint now spans Brisbane, Sydney, Melbourne, and Gold Coast with 47,000 sqm of exhibition space and over 35,000 attendees expected across the portfolio.  (Brad Langton, 2024)</a:t>
            </a:r>
          </a:p>
        </p:txBody>
      </p:sp>
      <p:sp>
        <p:nvSpPr>
          <p:cNvPr id="46" name="TextBox 45"/>
          <p:cNvSpPr txBox="1"/>
          <p:nvPr/>
        </p:nvSpPr>
        <p:spPr>
          <a:xfrm>
            <a:off x="384048" y="4901184"/>
            <a:ext cx="11585448" cy="310896"/>
          </a:xfrm>
          <a:prstGeom prst="rect">
            <a:avLst/>
          </a:prstGeom>
          <a:noFill/>
        </p:spPr>
        <p:txBody>
          <a:bodyPr wrap="square">
            <a:spAutoFit/>
          </a:bodyPr>
          <a:lstStyle/>
          <a:p>
            <a:pPr algn="l"/>
            <a:r>
              <a:rPr sz="850" b="0" i="0">
                <a:solidFill>
                  <a:srgbClr val="000000"/>
                </a:solidFill>
                <a:latin typeface="Calibri"/>
              </a:rPr>
              <a:t>•  AFR Fast 100 article notes revenue has doubled in a single year, underpinned by growth in Foodservice and Workplace Safety portfolios.  (exhibitionindustrynews.com.au,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292608"/>
            <a:ext cx="6400800" cy="320040"/>
          </a:xfrm>
          <a:prstGeom prst="rect">
            <a:avLst/>
          </a:prstGeom>
          <a:noFill/>
        </p:spPr>
        <p:txBody>
          <a:bodyPr wrap="square">
            <a:spAutoFit/>
          </a:bodyPr>
          <a:lstStyle/>
          <a:p>
            <a:pPr algn="l"/>
            <a:r>
              <a:rPr sz="1100" b="0" i="0">
                <a:solidFill>
                  <a:srgbClr val="E6E5DE"/>
                </a:solidFill>
                <a:latin typeface="Calibri"/>
              </a:rPr>
              <a:t>THE OPPORTUNITY</a:t>
            </a:r>
          </a:p>
        </p:txBody>
      </p:sp>
      <p:sp>
        <p:nvSpPr>
          <p:cNvPr id="6" name="TextBox 5"/>
          <p:cNvSpPr txBox="1"/>
          <p:nvPr/>
        </p:nvSpPr>
        <p:spPr>
          <a:xfrm>
            <a:off x="8961120" y="256032"/>
            <a:ext cx="3017520" cy="411480"/>
          </a:xfrm>
          <a:prstGeom prst="rect">
            <a:avLst/>
          </a:prstGeom>
          <a:noFill/>
        </p:spPr>
        <p:txBody>
          <a:bodyPr wrap="square">
            <a:spAutoFit/>
          </a:bodyPr>
          <a:lstStyle/>
          <a:p>
            <a:pPr algn="r"/>
            <a:r>
              <a:rPr sz="1400" b="1" i="0">
                <a:solidFill>
                  <a:srgbClr val="F6A102"/>
                </a:solidFill>
                <a:latin typeface="Calibri"/>
              </a:rPr>
              <a:t>PROFITPULSE</a:t>
            </a:r>
          </a:p>
        </p:txBody>
      </p:sp>
      <p:sp>
        <p:nvSpPr>
          <p:cNvPr id="7" name="Rectangle 6"/>
          <p:cNvSpPr/>
          <p:nvPr/>
        </p:nvSpPr>
        <p:spPr>
          <a:xfrm>
            <a:off x="109728" y="6601968"/>
            <a:ext cx="12079224" cy="127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9456" y="6638544"/>
            <a:ext cx="11430000" cy="201168"/>
          </a:xfrm>
          <a:prstGeom prst="rect">
            <a:avLst/>
          </a:prstGeom>
          <a:noFill/>
        </p:spPr>
        <p:txBody>
          <a:bodyPr wrap="square">
            <a:spAutoFit/>
          </a:bodyPr>
          <a:lstStyle/>
          <a:p>
            <a:pPr algn="l"/>
            <a:r>
              <a:rPr sz="750" b="0" i="0">
                <a:solidFill>
                  <a:srgbClr val="888888"/>
                </a:solidFill>
                <a:latin typeface="Calibri"/>
              </a:rPr>
              <a:t>Prepared by Nitesh Roopa  CA, Managing Partner, ProfitPulse  |  Profit-Pulse.com.au  |  11 Jun 2026</a:t>
            </a:r>
          </a:p>
        </p:txBody>
      </p:sp>
      <p:sp>
        <p:nvSpPr>
          <p:cNvPr id="9" name="TextBox 8"/>
          <p:cNvSpPr txBox="1"/>
          <p:nvPr/>
        </p:nvSpPr>
        <p:spPr>
          <a:xfrm>
            <a:off x="310896" y="987552"/>
            <a:ext cx="10058400" cy="274320"/>
          </a:xfrm>
          <a:prstGeom prst="rect">
            <a:avLst/>
          </a:prstGeom>
          <a:noFill/>
        </p:spPr>
        <p:txBody>
          <a:bodyPr wrap="square">
            <a:spAutoFit/>
          </a:bodyPr>
          <a:lstStyle/>
          <a:p>
            <a:pPr algn="l"/>
            <a:r>
              <a:rPr sz="1100" b="0" i="0">
                <a:solidFill>
                  <a:srgbClr val="000000"/>
                </a:solidFill>
                <a:latin typeface="Calibri"/>
              </a:rPr>
              <a:t>National Media  |  Three commercial observations from ProfitPulse</a:t>
            </a:r>
          </a:p>
        </p:txBody>
      </p:sp>
      <p:sp>
        <p:nvSpPr>
          <p:cNvPr id="10" name="Rectangle 9"/>
          <p:cNvSpPr/>
          <p:nvPr/>
        </p:nvSpPr>
        <p:spPr>
          <a:xfrm>
            <a:off x="310896" y="1353312"/>
            <a:ext cx="3806952" cy="484632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 y="1499616"/>
            <a:ext cx="3624072" cy="457200"/>
          </a:xfrm>
          <a:prstGeom prst="rect">
            <a:avLst/>
          </a:prstGeom>
          <a:noFill/>
        </p:spPr>
        <p:txBody>
          <a:bodyPr wrap="square">
            <a:spAutoFit/>
          </a:bodyPr>
          <a:lstStyle/>
          <a:p>
            <a:pPr algn="l"/>
            <a:r>
              <a:rPr sz="3200" b="1" i="0">
                <a:solidFill>
                  <a:srgbClr val="000000"/>
                </a:solidFill>
                <a:latin typeface="Georgia"/>
              </a:rPr>
              <a:t>01</a:t>
            </a:r>
          </a:p>
        </p:txBody>
      </p:sp>
      <p:sp>
        <p:nvSpPr>
          <p:cNvPr id="12" name="TextBox 11"/>
          <p:cNvSpPr txBox="1"/>
          <p:nvPr/>
        </p:nvSpPr>
        <p:spPr>
          <a:xfrm>
            <a:off x="475488" y="1956816"/>
            <a:ext cx="3578352" cy="457200"/>
          </a:xfrm>
          <a:prstGeom prst="rect">
            <a:avLst/>
          </a:prstGeom>
          <a:noFill/>
        </p:spPr>
        <p:txBody>
          <a:bodyPr wrap="square">
            <a:spAutoFit/>
          </a:bodyPr>
          <a:lstStyle/>
          <a:p>
            <a:pPr algn="l"/>
            <a:r>
              <a:rPr sz="1100" b="1" i="0">
                <a:solidFill>
                  <a:srgbClr val="000000"/>
                </a:solidFill>
                <a:latin typeface="Calibri"/>
              </a:rPr>
              <a:t>Acquisition integration: know which events earn</a:t>
            </a:r>
          </a:p>
        </p:txBody>
      </p:sp>
      <p:sp>
        <p:nvSpPr>
          <p:cNvPr id="13" name="TextBox 12"/>
          <p:cNvSpPr txBox="1"/>
          <p:nvPr/>
        </p:nvSpPr>
        <p:spPr>
          <a:xfrm>
            <a:off x="475488" y="2450592"/>
            <a:ext cx="3578352" cy="3657600"/>
          </a:xfrm>
          <a:prstGeom prst="rect">
            <a:avLst/>
          </a:prstGeom>
          <a:noFill/>
        </p:spPr>
        <p:txBody>
          <a:bodyPr wrap="square">
            <a:spAutoFit/>
          </a:bodyPr>
          <a:lstStyle/>
          <a:p>
            <a:pPr algn="l"/>
            <a:r>
              <a:rPr sz="950" b="0" i="0">
                <a:solidFill>
                  <a:srgbClr val="000000"/>
                </a:solidFill>
                <a:latin typeface="Calibri"/>
              </a:rPr>
              <a:t>National Media now manages more than 30 event brands, including five acquired Foodservice and Hospitality titles added in May 2024. Each event carries its own venue commitment, staffing structure, exhibitor base, and overhead. Without a line by line view of which events contribute margin and which consume it, growth capital tends to follow volume rather than return. A Strategic Growth Diagnostic maps revenue, capacity, and margin headroom across the combined portfolio and produces a 12 month growth plan with capital allocation steps, so the next phase of expansion is deliberate rather than reactive.</a:t>
            </a:r>
          </a:p>
        </p:txBody>
      </p:sp>
      <p:sp>
        <p:nvSpPr>
          <p:cNvPr id="14" name="Rectangle 13"/>
          <p:cNvSpPr/>
          <p:nvPr/>
        </p:nvSpPr>
        <p:spPr>
          <a:xfrm>
            <a:off x="4245864" y="1353312"/>
            <a:ext cx="3806952" cy="48463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0456" y="1499616"/>
            <a:ext cx="3624072" cy="457200"/>
          </a:xfrm>
          <a:prstGeom prst="rect">
            <a:avLst/>
          </a:prstGeom>
          <a:noFill/>
        </p:spPr>
        <p:txBody>
          <a:bodyPr wrap="square">
            <a:spAutoFit/>
          </a:bodyPr>
          <a:lstStyle/>
          <a:p>
            <a:pPr algn="l"/>
            <a:r>
              <a:rPr sz="3200" b="1" i="0">
                <a:solidFill>
                  <a:srgbClr val="FFFFFF"/>
                </a:solidFill>
                <a:latin typeface="Georgia"/>
              </a:rPr>
              <a:t>02</a:t>
            </a:r>
          </a:p>
        </p:txBody>
      </p:sp>
      <p:sp>
        <p:nvSpPr>
          <p:cNvPr id="16" name="TextBox 15"/>
          <p:cNvSpPr txBox="1"/>
          <p:nvPr/>
        </p:nvSpPr>
        <p:spPr>
          <a:xfrm>
            <a:off x="4410456" y="1956816"/>
            <a:ext cx="3578352" cy="457200"/>
          </a:xfrm>
          <a:prstGeom prst="rect">
            <a:avLst/>
          </a:prstGeom>
          <a:noFill/>
        </p:spPr>
        <p:txBody>
          <a:bodyPr wrap="square">
            <a:spAutoFit/>
          </a:bodyPr>
          <a:lstStyle/>
          <a:p>
            <a:pPr algn="l"/>
            <a:r>
              <a:rPr sz="1100" b="1" i="0">
                <a:solidFill>
                  <a:srgbClr val="FFFFFF"/>
                </a:solidFill>
                <a:latin typeface="Calibri"/>
              </a:rPr>
              <a:t>Multi-city events create a cashflow timing challenge</a:t>
            </a:r>
          </a:p>
        </p:txBody>
      </p:sp>
      <p:sp>
        <p:nvSpPr>
          <p:cNvPr id="17" name="TextBox 16"/>
          <p:cNvSpPr txBox="1"/>
          <p:nvPr/>
        </p:nvSpPr>
        <p:spPr>
          <a:xfrm>
            <a:off x="4410456" y="2450592"/>
            <a:ext cx="3578352" cy="3657600"/>
          </a:xfrm>
          <a:prstGeom prst="rect">
            <a:avLst/>
          </a:prstGeom>
          <a:noFill/>
        </p:spPr>
        <p:txBody>
          <a:bodyPr wrap="square">
            <a:spAutoFit/>
          </a:bodyPr>
          <a:lstStyle/>
          <a:p>
            <a:pPr algn="l"/>
            <a:r>
              <a:rPr sz="950" b="0" i="0">
                <a:solidFill>
                  <a:srgbClr val="FFFFFF"/>
                </a:solidFill>
                <a:latin typeface="Calibri"/>
              </a:rPr>
              <a:t>The events business model concentrates cash inflows at contract signing and exhibitor deposit stages, often six to twelve months before event dates. Expenses then surge in the final weeks before each show. With events now running across Brisbane, Sydney, Melbourne, and Gold Coast at different times of the year, these timing mismatches stack. A 13 Week Cash Flow Build gives the finance team a rolling forward view across all upcoming event dates, replacing the common end of quarter surprise with a planned, scenario tested cash calendar that the team can run independently.</a:t>
            </a:r>
          </a:p>
        </p:txBody>
      </p:sp>
      <p:sp>
        <p:nvSpPr>
          <p:cNvPr id="18" name="Rectangle 17"/>
          <p:cNvSpPr/>
          <p:nvPr/>
        </p:nvSpPr>
        <p:spPr>
          <a:xfrm>
            <a:off x="8180832" y="1353312"/>
            <a:ext cx="3806952" cy="4846320"/>
          </a:xfrm>
          <a:prstGeom prst="rect">
            <a:avLst/>
          </a:prstGeom>
          <a:solidFill>
            <a:srgbClr val="E3A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45424" y="1499616"/>
            <a:ext cx="3624072" cy="457200"/>
          </a:xfrm>
          <a:prstGeom prst="rect">
            <a:avLst/>
          </a:prstGeom>
          <a:noFill/>
        </p:spPr>
        <p:txBody>
          <a:bodyPr wrap="square">
            <a:spAutoFit/>
          </a:bodyPr>
          <a:lstStyle/>
          <a:p>
            <a:pPr algn="l"/>
            <a:r>
              <a:rPr sz="3200" b="1" i="0">
                <a:solidFill>
                  <a:srgbClr val="000000"/>
                </a:solidFill>
                <a:latin typeface="Georgia"/>
              </a:rPr>
              <a:t>03</a:t>
            </a:r>
          </a:p>
        </p:txBody>
      </p:sp>
      <p:sp>
        <p:nvSpPr>
          <p:cNvPr id="20" name="TextBox 19"/>
          <p:cNvSpPr txBox="1"/>
          <p:nvPr/>
        </p:nvSpPr>
        <p:spPr>
          <a:xfrm>
            <a:off x="8345424" y="1956816"/>
            <a:ext cx="3578352" cy="457200"/>
          </a:xfrm>
          <a:prstGeom prst="rect">
            <a:avLst/>
          </a:prstGeom>
          <a:noFill/>
        </p:spPr>
        <p:txBody>
          <a:bodyPr wrap="square">
            <a:spAutoFit/>
          </a:bodyPr>
          <a:lstStyle/>
          <a:p>
            <a:pPr algn="l"/>
            <a:r>
              <a:rPr sz="1100" b="1" i="0">
                <a:solidFill>
                  <a:srgbClr val="000000"/>
                </a:solidFill>
                <a:latin typeface="Calibri"/>
              </a:rPr>
              <a:t>Growth momentum needs a funded road map</a:t>
            </a:r>
          </a:p>
        </p:txBody>
      </p:sp>
      <p:sp>
        <p:nvSpPr>
          <p:cNvPr id="21" name="TextBox 20"/>
          <p:cNvSpPr txBox="1"/>
          <p:nvPr/>
        </p:nvSpPr>
        <p:spPr>
          <a:xfrm>
            <a:off x="8345424" y="2450592"/>
            <a:ext cx="3578352" cy="3657600"/>
          </a:xfrm>
          <a:prstGeom prst="rect">
            <a:avLst/>
          </a:prstGeom>
          <a:noFill/>
        </p:spPr>
        <p:txBody>
          <a:bodyPr wrap="square">
            <a:spAutoFit/>
          </a:bodyPr>
          <a:lstStyle/>
          <a:p>
            <a:pPr algn="l"/>
            <a:r>
              <a:rPr sz="950" b="0" i="0">
                <a:solidFill>
                  <a:srgbClr val="000000"/>
                </a:solidFill>
                <a:latin typeface="Calibri"/>
              </a:rPr>
              <a:t>From 48 to 50 or more people, from $18.4 million toward a doubling trajectory confirmed by both Smart50 and AFR Fast 100, National Media has built genuine commercial momentum. At this scale, the constraint shifts from growth appetite to financial architecture: where to concentrate the next dollar, how much capacity exists before the next hire is required, and which events warrant increased marketing investment. ProfitPulse works alongside owner led businesses at exactly this inflection point, building the plan and the numbers that turn rapid growth into durable margin.</a:t>
            </a:r>
          </a:p>
        </p:txBody>
      </p:sp>
      <p:sp>
        <p:nvSpPr>
          <p:cNvPr id="22" name="TextBox 21"/>
          <p:cNvSpPr txBox="1"/>
          <p:nvPr/>
        </p:nvSpPr>
        <p:spPr>
          <a:xfrm>
            <a:off x="310896" y="6254496"/>
            <a:ext cx="11676888" cy="274320"/>
          </a:xfrm>
          <a:prstGeom prst="rect">
            <a:avLst/>
          </a:prstGeom>
          <a:noFill/>
        </p:spPr>
        <p:txBody>
          <a:bodyPr wrap="square">
            <a:spAutoFit/>
          </a:bodyPr>
          <a:lstStyle/>
          <a:p>
            <a:pPr algn="l"/>
            <a:r>
              <a:rPr sz="900" b="0" i="1">
                <a:solidFill>
                  <a:srgbClr val="444444"/>
                </a:solidFill>
                <a:latin typeface="Calibri"/>
              </a:rPr>
              <a:t>These observations are offered in good faith. National Media has built something genuinely impressive. The question is simply whether the financial architecture matches the ambition.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292608"/>
            <a:ext cx="6400800" cy="320040"/>
          </a:xfrm>
          <a:prstGeom prst="rect">
            <a:avLst/>
          </a:prstGeom>
          <a:noFill/>
        </p:spPr>
        <p:txBody>
          <a:bodyPr wrap="square">
            <a:spAutoFit/>
          </a:bodyPr>
          <a:lstStyle/>
          <a:p>
            <a:pPr algn="l"/>
            <a:r>
              <a:rPr sz="1100" b="0" i="0">
                <a:solidFill>
                  <a:srgbClr val="E6E5DE"/>
                </a:solidFill>
                <a:latin typeface="Calibri"/>
              </a:rPr>
              <a:t>THE RECOMMENDATION</a:t>
            </a:r>
          </a:p>
        </p:txBody>
      </p:sp>
      <p:sp>
        <p:nvSpPr>
          <p:cNvPr id="6" name="TextBox 5"/>
          <p:cNvSpPr txBox="1"/>
          <p:nvPr/>
        </p:nvSpPr>
        <p:spPr>
          <a:xfrm>
            <a:off x="8961120" y="256032"/>
            <a:ext cx="3017520" cy="411480"/>
          </a:xfrm>
          <a:prstGeom prst="rect">
            <a:avLst/>
          </a:prstGeom>
          <a:noFill/>
        </p:spPr>
        <p:txBody>
          <a:bodyPr wrap="square">
            <a:spAutoFit/>
          </a:bodyPr>
          <a:lstStyle/>
          <a:p>
            <a:pPr algn="r"/>
            <a:r>
              <a:rPr sz="1400" b="1" i="0">
                <a:solidFill>
                  <a:srgbClr val="F6A102"/>
                </a:solidFill>
                <a:latin typeface="Calibri"/>
              </a:rPr>
              <a:t>PROFITPULSE</a:t>
            </a:r>
          </a:p>
        </p:txBody>
      </p:sp>
      <p:sp>
        <p:nvSpPr>
          <p:cNvPr id="7" name="Rectangle 6"/>
          <p:cNvSpPr/>
          <p:nvPr/>
        </p:nvSpPr>
        <p:spPr>
          <a:xfrm>
            <a:off x="109728" y="6601968"/>
            <a:ext cx="12079224" cy="127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9456" y="6638544"/>
            <a:ext cx="11430000" cy="201168"/>
          </a:xfrm>
          <a:prstGeom prst="rect">
            <a:avLst/>
          </a:prstGeom>
          <a:noFill/>
        </p:spPr>
        <p:txBody>
          <a:bodyPr wrap="square">
            <a:spAutoFit/>
          </a:bodyPr>
          <a:lstStyle/>
          <a:p>
            <a:pPr algn="l"/>
            <a:r>
              <a:rPr sz="750" b="0" i="0">
                <a:solidFill>
                  <a:srgbClr val="888888"/>
                </a:solidFill>
                <a:latin typeface="Calibri"/>
              </a:rPr>
              <a:t>Prepared by Nitesh Roopa  CA, Managing Partner, ProfitPulse  |  Profit-Pulse.com.au  |  11 Jun 2026</a:t>
            </a:r>
          </a:p>
        </p:txBody>
      </p:sp>
      <p:sp>
        <p:nvSpPr>
          <p:cNvPr id="9" name="TextBox 8"/>
          <p:cNvSpPr txBox="1"/>
          <p:nvPr/>
        </p:nvSpPr>
        <p:spPr>
          <a:xfrm>
            <a:off x="310896" y="1097280"/>
            <a:ext cx="6400800" cy="475488"/>
          </a:xfrm>
          <a:prstGeom prst="rect">
            <a:avLst/>
          </a:prstGeom>
          <a:noFill/>
        </p:spPr>
        <p:txBody>
          <a:bodyPr wrap="square">
            <a:spAutoFit/>
          </a:bodyPr>
          <a:lstStyle/>
          <a:p>
            <a:pPr algn="l"/>
            <a:r>
              <a:rPr sz="2200" b="1" i="0">
                <a:solidFill>
                  <a:srgbClr val="000000"/>
                </a:solidFill>
                <a:latin typeface="Georgia"/>
              </a:rPr>
              <a:t>Strategic Growth Diagnostic</a:t>
            </a:r>
          </a:p>
        </p:txBody>
      </p:sp>
      <p:sp>
        <p:nvSpPr>
          <p:cNvPr id="10" name="TextBox 9"/>
          <p:cNvSpPr txBox="1"/>
          <p:nvPr/>
        </p:nvSpPr>
        <p:spPr>
          <a:xfrm>
            <a:off x="310896" y="1572768"/>
            <a:ext cx="3200400" cy="274320"/>
          </a:xfrm>
          <a:prstGeom prst="rect">
            <a:avLst/>
          </a:prstGeom>
          <a:noFill/>
        </p:spPr>
        <p:txBody>
          <a:bodyPr wrap="square">
            <a:spAutoFit/>
          </a:bodyPr>
          <a:lstStyle/>
          <a:p>
            <a:pPr algn="l"/>
            <a:r>
              <a:rPr sz="1300" b="1" i="0">
                <a:solidFill>
                  <a:srgbClr val="01A296"/>
                </a:solidFill>
                <a:latin typeface="Calibri"/>
              </a:rPr>
              <a:t>$5,000  one off</a:t>
            </a:r>
          </a:p>
        </p:txBody>
      </p:sp>
      <p:sp>
        <p:nvSpPr>
          <p:cNvPr id="11" name="TextBox 10"/>
          <p:cNvSpPr txBox="1"/>
          <p:nvPr/>
        </p:nvSpPr>
        <p:spPr>
          <a:xfrm>
            <a:off x="310896" y="1901952"/>
            <a:ext cx="6400800" cy="749808"/>
          </a:xfrm>
          <a:prstGeom prst="rect">
            <a:avLst/>
          </a:prstGeom>
          <a:noFill/>
        </p:spPr>
        <p:txBody>
          <a:bodyPr wrap="square">
            <a:spAutoFit/>
          </a:bodyPr>
          <a:lstStyle/>
          <a:p>
            <a:pPr algn="l"/>
            <a:r>
              <a:rPr sz="1000" b="0" i="0">
                <a:solidFill>
                  <a:srgbClr val="000000"/>
                </a:solidFill>
                <a:latin typeface="Calibri"/>
              </a:rPr>
              <a:t>A six week engagement that maps revenue, capacity, and margin headroom across the combined event portfolio, then produces a 12 month growth plan with funding and capital allocation steps. Three scenario modelling. For National Media, this is the funded road map that turns a high growth event portfolio into a deliberately scaled business.</a:t>
            </a:r>
          </a:p>
        </p:txBody>
      </p:sp>
      <p:sp>
        <p:nvSpPr>
          <p:cNvPr id="12" name="Rectangle 11"/>
          <p:cNvSpPr/>
          <p:nvPr/>
        </p:nvSpPr>
        <p:spPr>
          <a:xfrm>
            <a:off x="310896" y="2724912"/>
            <a:ext cx="6400800" cy="127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896" y="2816352"/>
            <a:ext cx="1828800" cy="237744"/>
          </a:xfrm>
          <a:prstGeom prst="rect">
            <a:avLst/>
          </a:prstGeom>
          <a:noFill/>
        </p:spPr>
        <p:txBody>
          <a:bodyPr wrap="square">
            <a:spAutoFit/>
          </a:bodyPr>
          <a:lstStyle/>
          <a:p>
            <a:pPr algn="l"/>
            <a:r>
              <a:rPr sz="900" b="1" i="0">
                <a:solidFill>
                  <a:srgbClr val="01A296"/>
                </a:solidFill>
                <a:latin typeface="Calibri"/>
              </a:rPr>
              <a:t>STEP ONE</a:t>
            </a:r>
          </a:p>
        </p:txBody>
      </p:sp>
      <p:sp>
        <p:nvSpPr>
          <p:cNvPr id="14" name="TextBox 13"/>
          <p:cNvSpPr txBox="1"/>
          <p:nvPr/>
        </p:nvSpPr>
        <p:spPr>
          <a:xfrm>
            <a:off x="310896" y="3035808"/>
            <a:ext cx="6400800" cy="237744"/>
          </a:xfrm>
          <a:prstGeom prst="rect">
            <a:avLst/>
          </a:prstGeom>
          <a:noFill/>
        </p:spPr>
        <p:txBody>
          <a:bodyPr wrap="square">
            <a:spAutoFit/>
          </a:bodyPr>
          <a:lstStyle/>
          <a:p>
            <a:pPr algn="l"/>
            <a:r>
              <a:rPr sz="1000" b="0" i="0">
                <a:solidFill>
                  <a:srgbClr val="000000"/>
                </a:solidFill>
                <a:latin typeface="Calibri"/>
              </a:rPr>
              <a:t>Answer a few quick questions and see the solutions matched to your size and industry.</a:t>
            </a:r>
          </a:p>
        </p:txBody>
      </p:sp>
      <p:sp>
        <p:nvSpPr>
          <p:cNvPr id="15" name="TextBox 14"/>
          <p:cNvSpPr txBox="1"/>
          <p:nvPr/>
        </p:nvSpPr>
        <p:spPr>
          <a:xfrm>
            <a:off x="310896" y="3310128"/>
            <a:ext cx="6400800" cy="256032"/>
          </a:xfrm>
          <a:prstGeom prst="rect">
            <a:avLst/>
          </a:prstGeom>
          <a:noFill/>
        </p:spPr>
        <p:txBody>
          <a:bodyPr wrap="square">
            <a:spAutoFit/>
          </a:bodyPr>
          <a:lstStyle/>
          <a:p>
            <a:pPr algn="l"/>
            <a:r>
              <a:rPr sz="1000" b="0" i="0">
                <a:solidFill>
                  <a:srgbClr val="01A296"/>
                </a:solidFill>
                <a:latin typeface="Calibri"/>
              </a:rPr>
              <a:t>profit-pulse.com.au/full-suite-of-products</a:t>
            </a:r>
          </a:p>
        </p:txBody>
      </p:sp>
      <p:sp>
        <p:nvSpPr>
          <p:cNvPr id="16" name="Rectangle 15"/>
          <p:cNvSpPr/>
          <p:nvPr/>
        </p:nvSpPr>
        <p:spPr>
          <a:xfrm>
            <a:off x="310896" y="3675888"/>
            <a:ext cx="3840480" cy="402336"/>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 y="3749040"/>
            <a:ext cx="3566160" cy="274320"/>
          </a:xfrm>
          <a:prstGeom prst="rect">
            <a:avLst/>
          </a:prstGeom>
          <a:noFill/>
        </p:spPr>
        <p:txBody>
          <a:bodyPr wrap="none">
            <a:spAutoFit/>
          </a:bodyPr>
          <a:lstStyle/>
          <a:p>
            <a:r>
              <a:rPr sz="1000" b="1">
                <a:solidFill>
                  <a:srgbClr val="000000"/>
                </a:solidFill>
                <a:latin typeface="Calibri"/>
                <a:hlinkClick r:id="rId2"/>
              </a:rPr>
              <a:t>Purchase the suggested product now to get started</a:t>
            </a:r>
          </a:p>
        </p:txBody>
      </p:sp>
      <p:sp>
        <p:nvSpPr>
          <p:cNvPr id="18" name="TextBox 17"/>
          <p:cNvSpPr txBox="1"/>
          <p:nvPr/>
        </p:nvSpPr>
        <p:spPr>
          <a:xfrm>
            <a:off x="310896" y="4187952"/>
            <a:ext cx="6400800" cy="201168"/>
          </a:xfrm>
          <a:prstGeom prst="rect">
            <a:avLst/>
          </a:prstGeom>
          <a:noFill/>
        </p:spPr>
        <p:txBody>
          <a:bodyPr wrap="square">
            <a:spAutoFit/>
          </a:bodyPr>
          <a:lstStyle/>
          <a:p>
            <a:pPr algn="l"/>
            <a:r>
              <a:rPr sz="950" b="0" i="1">
                <a:solidFill>
                  <a:srgbClr val="000000"/>
                </a:solidFill>
                <a:latin typeface="Calibri"/>
              </a:rPr>
              <a:t>Prefer a conversation first?  Book a complimentary discovery call.</a:t>
            </a:r>
          </a:p>
        </p:txBody>
      </p:sp>
      <p:sp>
        <p:nvSpPr>
          <p:cNvPr id="19" name="TextBox 18"/>
          <p:cNvSpPr txBox="1"/>
          <p:nvPr/>
        </p:nvSpPr>
        <p:spPr>
          <a:xfrm>
            <a:off x="310896" y="4389120"/>
            <a:ext cx="4572000" cy="201168"/>
          </a:xfrm>
          <a:prstGeom prst="rect">
            <a:avLst/>
          </a:prstGeom>
          <a:noFill/>
        </p:spPr>
        <p:txBody>
          <a:bodyPr wrap="none">
            <a:spAutoFit/>
          </a:bodyPr>
          <a:lstStyle/>
          <a:p>
            <a:r>
              <a:rPr sz="850">
                <a:solidFill>
                  <a:srgbClr val="01A296"/>
                </a:solidFill>
                <a:latin typeface="Calibri"/>
                <a:hlinkClick r:id="rId3"/>
              </a:rPr>
              <a:t>bookings.cloud.microsoft/book/ProfitPulse1@profit-pulse.com.au</a:t>
            </a:r>
          </a:p>
        </p:txBody>
      </p:sp>
      <p:sp>
        <p:nvSpPr>
          <p:cNvPr id="20" name="Rectangle 19"/>
          <p:cNvSpPr/>
          <p:nvPr/>
        </p:nvSpPr>
        <p:spPr>
          <a:xfrm>
            <a:off x="6894576" y="1024128"/>
            <a:ext cx="5093208" cy="73152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22592" y="1097280"/>
            <a:ext cx="4928616" cy="310896"/>
          </a:xfrm>
          <a:prstGeom prst="rect">
            <a:avLst/>
          </a:prstGeom>
          <a:noFill/>
        </p:spPr>
        <p:txBody>
          <a:bodyPr wrap="square">
            <a:spAutoFit/>
          </a:bodyPr>
          <a:lstStyle/>
          <a:p>
            <a:pPr algn="l"/>
            <a:r>
              <a:rPr sz="1600" b="1" i="0">
                <a:solidFill>
                  <a:srgbClr val="000000"/>
                </a:solidFill>
                <a:latin typeface="Georgia"/>
              </a:rPr>
              <a:t>Nitesh Roopa</a:t>
            </a:r>
          </a:p>
        </p:txBody>
      </p:sp>
      <p:sp>
        <p:nvSpPr>
          <p:cNvPr id="22" name="TextBox 21"/>
          <p:cNvSpPr txBox="1"/>
          <p:nvPr/>
        </p:nvSpPr>
        <p:spPr>
          <a:xfrm>
            <a:off x="7022592" y="1426464"/>
            <a:ext cx="4928616" cy="219456"/>
          </a:xfrm>
          <a:prstGeom prst="rect">
            <a:avLst/>
          </a:prstGeom>
          <a:noFill/>
        </p:spPr>
        <p:txBody>
          <a:bodyPr wrap="square">
            <a:spAutoFit/>
          </a:bodyPr>
          <a:lstStyle/>
          <a:p>
            <a:pPr algn="l"/>
            <a:r>
              <a:rPr sz="900" b="0" i="0">
                <a:solidFill>
                  <a:srgbClr val="000000"/>
                </a:solidFill>
                <a:latin typeface="Calibri"/>
              </a:rPr>
              <a:t>CA, Managing Partner  |  ProfitPulse</a:t>
            </a:r>
          </a:p>
        </p:txBody>
      </p:sp>
      <p:sp>
        <p:nvSpPr>
          <p:cNvPr id="23" name="TextBox 22"/>
          <p:cNvSpPr txBox="1"/>
          <p:nvPr/>
        </p:nvSpPr>
        <p:spPr>
          <a:xfrm>
            <a:off x="7022592" y="1901952"/>
            <a:ext cx="4928616" cy="347472"/>
          </a:xfrm>
          <a:prstGeom prst="rect">
            <a:avLst/>
          </a:prstGeom>
          <a:noFill/>
        </p:spPr>
        <p:txBody>
          <a:bodyPr wrap="square">
            <a:spAutoFit/>
          </a:bodyPr>
          <a:lstStyle/>
          <a:p>
            <a:pPr algn="l"/>
            <a:r>
              <a:rPr sz="950" b="0" i="0">
                <a:solidFill>
                  <a:srgbClr val="000000"/>
                </a:solidFill>
                <a:latin typeface="Calibri"/>
              </a:rPr>
              <a:t>•  16 years of experience across 4 countries</a:t>
            </a:r>
          </a:p>
        </p:txBody>
      </p:sp>
      <p:sp>
        <p:nvSpPr>
          <p:cNvPr id="24" name="TextBox 23"/>
          <p:cNvSpPr txBox="1"/>
          <p:nvPr/>
        </p:nvSpPr>
        <p:spPr>
          <a:xfrm>
            <a:off x="7022592" y="2286000"/>
            <a:ext cx="4928616" cy="347472"/>
          </a:xfrm>
          <a:prstGeom prst="rect">
            <a:avLst/>
          </a:prstGeom>
          <a:noFill/>
        </p:spPr>
        <p:txBody>
          <a:bodyPr wrap="square">
            <a:spAutoFit/>
          </a:bodyPr>
          <a:lstStyle/>
          <a:p>
            <a:pPr algn="l"/>
            <a:r>
              <a:rPr sz="950" b="0" i="0">
                <a:solidFill>
                  <a:srgbClr val="000000"/>
                </a:solidFill>
                <a:latin typeface="Calibri"/>
              </a:rPr>
              <a:t>•  52 deals executed and managed</a:t>
            </a:r>
          </a:p>
        </p:txBody>
      </p:sp>
      <p:sp>
        <p:nvSpPr>
          <p:cNvPr id="25" name="TextBox 24"/>
          <p:cNvSpPr txBox="1"/>
          <p:nvPr/>
        </p:nvSpPr>
        <p:spPr>
          <a:xfrm>
            <a:off x="7022592" y="2670048"/>
            <a:ext cx="4928616" cy="347472"/>
          </a:xfrm>
          <a:prstGeom prst="rect">
            <a:avLst/>
          </a:prstGeom>
          <a:noFill/>
        </p:spPr>
        <p:txBody>
          <a:bodyPr wrap="square">
            <a:spAutoFit/>
          </a:bodyPr>
          <a:lstStyle/>
          <a:p>
            <a:pPr algn="l"/>
            <a:r>
              <a:rPr sz="950" b="0" i="0">
                <a:solidFill>
                  <a:srgbClr val="000000"/>
                </a:solidFill>
                <a:latin typeface="Calibri"/>
              </a:rPr>
              <a:t>•  Largest single deal: USD 1.3 billion  Cahora Bassa Hydro, Mozambique</a:t>
            </a:r>
          </a:p>
        </p:txBody>
      </p:sp>
      <p:sp>
        <p:nvSpPr>
          <p:cNvPr id="26" name="TextBox 25"/>
          <p:cNvSpPr txBox="1"/>
          <p:nvPr/>
        </p:nvSpPr>
        <p:spPr>
          <a:xfrm>
            <a:off x="7022592" y="3054096"/>
            <a:ext cx="4928616" cy="347472"/>
          </a:xfrm>
          <a:prstGeom prst="rect">
            <a:avLst/>
          </a:prstGeom>
          <a:noFill/>
        </p:spPr>
        <p:txBody>
          <a:bodyPr wrap="square">
            <a:spAutoFit/>
          </a:bodyPr>
          <a:lstStyle/>
          <a:p>
            <a:pPr algn="l"/>
            <a:r>
              <a:rPr sz="950" b="0" i="0">
                <a:solidFill>
                  <a:srgbClr val="000000"/>
                </a:solidFill>
                <a:latin typeface="Calibri"/>
              </a:rPr>
              <a:t>•  Total GRBT project value in QLD: over AUD 10 billion</a:t>
            </a:r>
          </a:p>
        </p:txBody>
      </p:sp>
      <p:sp>
        <p:nvSpPr>
          <p:cNvPr id="27" name="Rectangle 26"/>
          <p:cNvSpPr/>
          <p:nvPr/>
        </p:nvSpPr>
        <p:spPr>
          <a:xfrm>
            <a:off x="6894576" y="3511296"/>
            <a:ext cx="5093208" cy="127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22592" y="3639312"/>
            <a:ext cx="4928616" cy="274320"/>
          </a:xfrm>
          <a:prstGeom prst="rect">
            <a:avLst/>
          </a:prstGeom>
          <a:noFill/>
        </p:spPr>
        <p:txBody>
          <a:bodyPr wrap="square">
            <a:spAutoFit/>
          </a:bodyPr>
          <a:lstStyle/>
          <a:p>
            <a:pPr algn="l"/>
            <a:r>
              <a:rPr sz="950" b="0" i="0">
                <a:solidFill>
                  <a:srgbClr val="01A296"/>
                </a:solidFill>
                <a:latin typeface="Calibri"/>
              </a:rPr>
              <a:t>Profit-Pulse.com.au</a:t>
            </a:r>
          </a:p>
        </p:txBody>
      </p:sp>
      <p:sp>
        <p:nvSpPr>
          <p:cNvPr id="29" name="TextBox 28"/>
          <p:cNvSpPr txBox="1"/>
          <p:nvPr/>
        </p:nvSpPr>
        <p:spPr>
          <a:xfrm>
            <a:off x="7022592" y="3968496"/>
            <a:ext cx="4928616" cy="274320"/>
          </a:xfrm>
          <a:prstGeom prst="rect">
            <a:avLst/>
          </a:prstGeom>
          <a:noFill/>
        </p:spPr>
        <p:txBody>
          <a:bodyPr wrap="square">
            <a:spAutoFit/>
          </a:bodyPr>
          <a:lstStyle/>
          <a:p>
            <a:pPr algn="l"/>
            <a:r>
              <a:rPr sz="950" b="0" i="0">
                <a:solidFill>
                  <a:srgbClr val="000000"/>
                </a:solidFill>
                <a:latin typeface="Calibri"/>
              </a:rPr>
              <a:t>Nitesh@Profit-Pulse.com.au</a:t>
            </a:r>
          </a:p>
        </p:txBody>
      </p:sp>
      <p:sp>
        <p:nvSpPr>
          <p:cNvPr id="30" name="TextBox 29"/>
          <p:cNvSpPr txBox="1"/>
          <p:nvPr/>
        </p:nvSpPr>
        <p:spPr>
          <a:xfrm>
            <a:off x="7022592" y="4297680"/>
            <a:ext cx="4928616" cy="274320"/>
          </a:xfrm>
          <a:prstGeom prst="rect">
            <a:avLst/>
          </a:prstGeom>
          <a:noFill/>
        </p:spPr>
        <p:txBody>
          <a:bodyPr wrap="square">
            <a:spAutoFit/>
          </a:bodyPr>
          <a:lstStyle/>
          <a:p>
            <a:pPr algn="l"/>
            <a:r>
              <a:rPr sz="950" b="0" i="0">
                <a:solidFill>
                  <a:srgbClr val="000000"/>
                </a:solidFill>
                <a:latin typeface="Calibri"/>
              </a:rPr>
              <a:t>+61 411 876 267</a:t>
            </a:r>
          </a:p>
        </p:txBody>
      </p:sp>
      <p:sp>
        <p:nvSpPr>
          <p:cNvPr id="31" name="TextBox 30"/>
          <p:cNvSpPr txBox="1"/>
          <p:nvPr/>
        </p:nvSpPr>
        <p:spPr>
          <a:xfrm>
            <a:off x="7022592" y="4626864"/>
            <a:ext cx="4928616" cy="274320"/>
          </a:xfrm>
          <a:prstGeom prst="rect">
            <a:avLst/>
          </a:prstGeom>
          <a:noFill/>
        </p:spPr>
        <p:txBody>
          <a:bodyPr wrap="square">
            <a:spAutoFit/>
          </a:bodyPr>
          <a:lstStyle/>
          <a:p>
            <a:pPr algn="l"/>
            <a:r>
              <a:rPr sz="950" b="0" i="0">
                <a:solidFill>
                  <a:srgbClr val="01A296"/>
                </a:solidFill>
                <a:latin typeface="Calibri"/>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