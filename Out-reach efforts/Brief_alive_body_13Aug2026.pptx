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28EbJ2edi0LSbdugYT3ks1D"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noAutofit/>
          </a:bodyPr>
          <a:lstStyle/>
          <a:p>
            <a:pPr algn="l"/>
            <a:r>
              <a:rPr sz="1200" b="1" i="0">
                <a:solidFill>
                  <a:srgbClr val="E6E5DE"/>
                </a:solidFill>
                <a:latin typeface="Calibri"/>
              </a:rPr>
              <a:t>COMMERCIAL INTELLIGENCE BRIEF</a:t>
            </a:r>
          </a:p>
        </p:txBody>
      </p:sp>
      <p:sp>
        <p:nvSpPr>
          <p:cNvPr id="5" name="TextBox 4"/>
          <p:cNvSpPr txBox="1"/>
          <p:nvPr/>
        </p:nvSpPr>
        <p:spPr>
          <a:xfrm>
            <a:off x="8686800" y="292608"/>
            <a:ext cx="3291840" cy="365760"/>
          </a:xfrm>
          <a:prstGeom prst="rect">
            <a:avLst/>
          </a:prstGeom>
          <a:noFill/>
        </p:spPr>
        <p:txBody>
          <a:bodyPr wrap="square" lIns="0" rIns="0" tIns="0" bIns="0">
            <a:noAutofit/>
          </a:bodyPr>
          <a:lstStyle/>
          <a:p>
            <a:pPr algn="r"/>
            <a:r>
              <a:rPr sz="1200" b="1" i="0">
                <a:solidFill>
                  <a:srgbClr val="01A296"/>
                </a:solidFill>
                <a:latin typeface="Calibri"/>
              </a:rPr>
              <a:t>PROFITPULSE</a:t>
            </a:r>
          </a:p>
        </p:txBody>
      </p:sp>
      <p:sp>
        <p:nvSpPr>
          <p:cNvPr id="6" name="TextBox 5"/>
          <p:cNvSpPr txBox="1"/>
          <p:nvPr/>
        </p:nvSpPr>
        <p:spPr>
          <a:xfrm>
            <a:off x="320040" y="6446520"/>
            <a:ext cx="6858000" cy="274320"/>
          </a:xfrm>
          <a:prstGeom prst="rect">
            <a:avLst/>
          </a:prstGeom>
          <a:noFill/>
        </p:spPr>
        <p:txBody>
          <a:bodyPr wrap="square" lIns="0" rIns="0" tIns="0" bIns="0">
            <a:noAutofit/>
          </a:bodyPr>
          <a:lstStyle/>
          <a:p>
            <a:pPr algn="l"/>
            <a:r>
              <a:rPr sz="800" b="0" i="0">
                <a:solidFill>
                  <a:srgbClr val="000000"/>
                </a:solidFill>
                <a:latin typeface="Calibri"/>
              </a:rPr>
              <a:t>Prepared by Nitesh Roopa CA, Managing Partner, ProfitPulse, Profit-Pulse.com.au</a:t>
            </a:r>
          </a:p>
        </p:txBody>
      </p:sp>
      <p:sp>
        <p:nvSpPr>
          <p:cNvPr id="7" name="TextBox 6"/>
          <p:cNvSpPr txBox="1"/>
          <p:nvPr/>
        </p:nvSpPr>
        <p:spPr>
          <a:xfrm>
            <a:off x="8686800" y="6446520"/>
            <a:ext cx="3291840" cy="274320"/>
          </a:xfrm>
          <a:prstGeom prst="rect">
            <a:avLst/>
          </a:prstGeom>
          <a:noFill/>
        </p:spPr>
        <p:txBody>
          <a:bodyPr wrap="square" lIns="0" rIns="0" tIns="0" bIns="0">
            <a:noAutofit/>
          </a:bodyPr>
          <a:lstStyle/>
          <a:p>
            <a:pPr algn="r"/>
            <a:r>
              <a:rPr sz="800" b="0" i="0">
                <a:solidFill>
                  <a:srgbClr val="000000"/>
                </a:solidFill>
                <a:latin typeface="Calibri"/>
              </a:rPr>
              <a:t>13 Aug 2026</a:t>
            </a:r>
          </a:p>
        </p:txBody>
      </p:sp>
      <p:sp>
        <p:nvSpPr>
          <p:cNvPr id="8" name="TextBox 7"/>
          <p:cNvSpPr txBox="1"/>
          <p:nvPr/>
        </p:nvSpPr>
        <p:spPr>
          <a:xfrm>
            <a:off x="320040" y="1097280"/>
            <a:ext cx="10515600" cy="685800"/>
          </a:xfrm>
          <a:prstGeom prst="rect">
            <a:avLst/>
          </a:prstGeom>
          <a:noFill/>
        </p:spPr>
        <p:txBody>
          <a:bodyPr wrap="square" lIns="0" rIns="0" tIns="0" bIns="0">
            <a:noAutofit/>
          </a:bodyPr>
          <a:lstStyle/>
          <a:p>
            <a:pPr algn="l"/>
            <a:r>
              <a:rPr sz="4000" b="1" i="0">
                <a:solidFill>
                  <a:srgbClr val="000000"/>
                </a:solidFill>
                <a:latin typeface="Cambria"/>
              </a:rPr>
              <a:t>al.ive body</a:t>
            </a:r>
          </a:p>
        </p:txBody>
      </p:sp>
      <p:sp>
        <p:nvSpPr>
          <p:cNvPr id="9" name="TextBox 8"/>
          <p:cNvSpPr txBox="1"/>
          <p:nvPr/>
        </p:nvSpPr>
        <p:spPr>
          <a:xfrm>
            <a:off x="320040" y="1783080"/>
            <a:ext cx="10515600" cy="320040"/>
          </a:xfrm>
          <a:prstGeom prst="rect">
            <a:avLst/>
          </a:prstGeom>
          <a:noFill/>
        </p:spPr>
        <p:txBody>
          <a:bodyPr wrap="square" lIns="0" rIns="0" tIns="0" bIns="0">
            <a:noAutofit/>
          </a:bodyPr>
          <a:lstStyle/>
          <a:p>
            <a:pPr algn="l"/>
            <a:r>
              <a:rPr sz="1300" b="0" i="0">
                <a:solidFill>
                  <a:srgbClr val="000000"/>
                </a:solidFill>
                <a:latin typeface="Calibri"/>
              </a:rPr>
              <a:t>Direct to consumer personal and home care brand, Colonel Light Gardens, Adelaide SA</a:t>
            </a:r>
          </a:p>
        </p:txBody>
      </p:sp>
      <p:sp>
        <p:nvSpPr>
          <p:cNvPr id="10" name="Rectangle 9"/>
          <p:cNvSpPr/>
          <p:nvPr/>
        </p:nvSpPr>
        <p:spPr>
          <a:xfrm>
            <a:off x="320040" y="2194560"/>
            <a:ext cx="2200595" cy="1463040"/>
          </a:xfrm>
          <a:prstGeom prst="rect">
            <a:avLst/>
          </a:prstGeom>
          <a:solidFill>
            <a:srgbClr val="000000"/>
          </a:solidFill>
          <a:ln>
            <a:noFill/>
          </a:ln>
          <a:effectLst/>
        </p:spPr>
        <p:txBody>
          <a:bodyPr rtlCol="0" anchor="ctr"/>
          <a:lstStyle/>
          <a:p>
            <a:pPr algn="ctr"/>
          </a:p>
        </p:txBody>
      </p:sp>
      <p:sp>
        <p:nvSpPr>
          <p:cNvPr id="11" name="Rectangle 10"/>
          <p:cNvSpPr/>
          <p:nvPr/>
        </p:nvSpPr>
        <p:spPr>
          <a:xfrm>
            <a:off x="320040" y="2194560"/>
            <a:ext cx="2200595" cy="50800"/>
          </a:xfrm>
          <a:prstGeom prst="rect">
            <a:avLst/>
          </a:prstGeom>
          <a:solidFill>
            <a:srgbClr val="01A296"/>
          </a:solidFill>
          <a:ln>
            <a:noFill/>
          </a:ln>
          <a:effectLst/>
        </p:spPr>
        <p:txBody>
          <a:bodyPr rtlCol="0" anchor="ctr"/>
          <a:lstStyle/>
          <a:p>
            <a:pPr algn="ctr"/>
          </a:p>
        </p:txBody>
      </p:sp>
      <p:sp>
        <p:nvSpPr>
          <p:cNvPr id="12" name="TextBox 11"/>
          <p:cNvSpPr txBox="1"/>
          <p:nvPr/>
        </p:nvSpPr>
        <p:spPr>
          <a:xfrm>
            <a:off x="429768" y="2340864"/>
            <a:ext cx="1981139" cy="502920"/>
          </a:xfrm>
          <a:prstGeom prst="rect">
            <a:avLst/>
          </a:prstGeom>
          <a:noFill/>
        </p:spPr>
        <p:txBody>
          <a:bodyPr wrap="square" lIns="0" rIns="0" tIns="0" bIns="0">
            <a:noAutofit/>
          </a:bodyPr>
          <a:lstStyle/>
          <a:p>
            <a:pPr algn="l"/>
            <a:r>
              <a:rPr sz="2700" b="1" i="0">
                <a:solidFill>
                  <a:srgbClr val="F8C806"/>
                </a:solidFill>
                <a:latin typeface="Cambria"/>
              </a:rPr>
              <a:t>$22M</a:t>
            </a:r>
          </a:p>
        </p:txBody>
      </p:sp>
      <p:sp>
        <p:nvSpPr>
          <p:cNvPr id="13" name="TextBox 12"/>
          <p:cNvSpPr txBox="1"/>
          <p:nvPr/>
        </p:nvSpPr>
        <p:spPr>
          <a:xfrm>
            <a:off x="429768" y="2852928"/>
            <a:ext cx="1981139" cy="502920"/>
          </a:xfrm>
          <a:prstGeom prst="rect">
            <a:avLst/>
          </a:prstGeom>
          <a:noFill/>
        </p:spPr>
        <p:txBody>
          <a:bodyPr wrap="square" lIns="0" rIns="0" tIns="0" bIns="0">
            <a:noAutofit/>
          </a:bodyPr>
          <a:lstStyle/>
          <a:p>
            <a:pPr algn="l">
              <a:lnSpc>
                <a:spcPct val="105000"/>
              </a:lnSpc>
            </a:pPr>
            <a:r>
              <a:rPr sz="1000" b="0" i="0">
                <a:solidFill>
                  <a:srgbClr val="E6E5DE"/>
                </a:solidFill>
                <a:latin typeface="Calibri"/>
              </a:rPr>
              <a:t>FY24 revenue,</a:t>
            </a:r>
          </a:p>
          <a:p>
            <a:pPr algn="l">
              <a:lnSpc>
                <a:spcPct val="105000"/>
              </a:lnSpc>
            </a:pPr>
            <a:r>
              <a:rPr sz="1000" b="0" i="0">
                <a:solidFill>
                  <a:srgbClr val="E6E5DE"/>
                </a:solidFill>
                <a:latin typeface="Calibri"/>
              </a:rPr>
              <a:t>estimated</a:t>
            </a:r>
          </a:p>
        </p:txBody>
      </p:sp>
      <p:sp>
        <p:nvSpPr>
          <p:cNvPr id="14" name="TextBox 13"/>
          <p:cNvSpPr txBox="1"/>
          <p:nvPr/>
        </p:nvSpPr>
        <p:spPr>
          <a:xfrm>
            <a:off x="429768" y="3383280"/>
            <a:ext cx="1981139" cy="219456"/>
          </a:xfrm>
          <a:prstGeom prst="rect">
            <a:avLst/>
          </a:prstGeom>
          <a:noFill/>
        </p:spPr>
        <p:txBody>
          <a:bodyPr wrap="square" lIns="0" rIns="0" tIns="0" bIns="0">
            <a:noAutofit/>
          </a:bodyPr>
          <a:lstStyle/>
          <a:p>
            <a:pPr algn="l"/>
            <a:r>
              <a:rPr sz="700" b="0" i="1">
                <a:solidFill>
                  <a:srgbClr val="E6E5DE"/>
                </a:solidFill>
                <a:latin typeface="Calibri"/>
              </a:rPr>
              <a:t>SmartCompany Smart50 2023</a:t>
            </a:r>
          </a:p>
        </p:txBody>
      </p:sp>
      <p:sp>
        <p:nvSpPr>
          <p:cNvPr id="15" name="Rectangle 14"/>
          <p:cNvSpPr/>
          <p:nvPr/>
        </p:nvSpPr>
        <p:spPr>
          <a:xfrm>
            <a:off x="2657795" y="2194560"/>
            <a:ext cx="2200595" cy="1463040"/>
          </a:xfrm>
          <a:prstGeom prst="rect">
            <a:avLst/>
          </a:prstGeom>
          <a:solidFill>
            <a:srgbClr val="000000"/>
          </a:solidFill>
          <a:ln>
            <a:noFill/>
          </a:ln>
          <a:effectLst/>
        </p:spPr>
        <p:txBody>
          <a:bodyPr rtlCol="0" anchor="ctr"/>
          <a:lstStyle/>
          <a:p>
            <a:pPr algn="ctr"/>
          </a:p>
        </p:txBody>
      </p:sp>
      <p:sp>
        <p:nvSpPr>
          <p:cNvPr id="16" name="Rectangle 15"/>
          <p:cNvSpPr/>
          <p:nvPr/>
        </p:nvSpPr>
        <p:spPr>
          <a:xfrm>
            <a:off x="2657795" y="2194560"/>
            <a:ext cx="2200595" cy="50800"/>
          </a:xfrm>
          <a:prstGeom prst="rect">
            <a:avLst/>
          </a:prstGeom>
          <a:solidFill>
            <a:srgbClr val="01A296"/>
          </a:solidFill>
          <a:ln>
            <a:noFill/>
          </a:ln>
          <a:effectLst/>
        </p:spPr>
        <p:txBody>
          <a:bodyPr rtlCol="0" anchor="ctr"/>
          <a:lstStyle/>
          <a:p>
            <a:pPr algn="ctr"/>
          </a:p>
        </p:txBody>
      </p:sp>
      <p:sp>
        <p:nvSpPr>
          <p:cNvPr id="17" name="TextBox 16"/>
          <p:cNvSpPr txBox="1"/>
          <p:nvPr/>
        </p:nvSpPr>
        <p:spPr>
          <a:xfrm>
            <a:off x="2767523" y="2340864"/>
            <a:ext cx="1981139" cy="502920"/>
          </a:xfrm>
          <a:prstGeom prst="rect">
            <a:avLst/>
          </a:prstGeom>
          <a:noFill/>
        </p:spPr>
        <p:txBody>
          <a:bodyPr wrap="square" lIns="0" rIns="0" tIns="0" bIns="0">
            <a:noAutofit/>
          </a:bodyPr>
          <a:lstStyle/>
          <a:p>
            <a:pPr algn="l"/>
            <a:r>
              <a:rPr sz="2700" b="1" i="0">
                <a:solidFill>
                  <a:srgbClr val="F8C806"/>
                </a:solidFill>
                <a:latin typeface="Cambria"/>
              </a:rPr>
              <a:t>$30M</a:t>
            </a:r>
          </a:p>
        </p:txBody>
      </p:sp>
      <p:sp>
        <p:nvSpPr>
          <p:cNvPr id="18" name="TextBox 17"/>
          <p:cNvSpPr txBox="1"/>
          <p:nvPr/>
        </p:nvSpPr>
        <p:spPr>
          <a:xfrm>
            <a:off x="2767523" y="2852928"/>
            <a:ext cx="1981139" cy="502920"/>
          </a:xfrm>
          <a:prstGeom prst="rect">
            <a:avLst/>
          </a:prstGeom>
          <a:noFill/>
        </p:spPr>
        <p:txBody>
          <a:bodyPr wrap="square" lIns="0" rIns="0" tIns="0" bIns="0">
            <a:noAutofit/>
          </a:bodyPr>
          <a:lstStyle/>
          <a:p>
            <a:pPr algn="l">
              <a:lnSpc>
                <a:spcPct val="105000"/>
              </a:lnSpc>
            </a:pPr>
            <a:r>
              <a:rPr sz="1000" b="0" i="0">
                <a:solidFill>
                  <a:srgbClr val="E6E5DE"/>
                </a:solidFill>
                <a:latin typeface="Calibri"/>
              </a:rPr>
              <a:t>FY25 revenue,</a:t>
            </a:r>
          </a:p>
          <a:p>
            <a:pPr algn="l">
              <a:lnSpc>
                <a:spcPct val="105000"/>
              </a:lnSpc>
            </a:pPr>
            <a:r>
              <a:rPr sz="1000" b="0" i="0">
                <a:solidFill>
                  <a:srgbClr val="E6E5DE"/>
                </a:solidFill>
                <a:latin typeface="Calibri"/>
              </a:rPr>
              <a:t>projected</a:t>
            </a:r>
          </a:p>
        </p:txBody>
      </p:sp>
      <p:sp>
        <p:nvSpPr>
          <p:cNvPr id="19" name="TextBox 18"/>
          <p:cNvSpPr txBox="1"/>
          <p:nvPr/>
        </p:nvSpPr>
        <p:spPr>
          <a:xfrm>
            <a:off x="2767523" y="3383280"/>
            <a:ext cx="1981139" cy="219456"/>
          </a:xfrm>
          <a:prstGeom prst="rect">
            <a:avLst/>
          </a:prstGeom>
          <a:noFill/>
        </p:spPr>
        <p:txBody>
          <a:bodyPr wrap="square" lIns="0" rIns="0" tIns="0" bIns="0">
            <a:noAutofit/>
          </a:bodyPr>
          <a:lstStyle/>
          <a:p>
            <a:pPr algn="l"/>
            <a:r>
              <a:rPr sz="700" b="0" i="1">
                <a:solidFill>
                  <a:srgbClr val="E6E5DE"/>
                </a:solidFill>
                <a:latin typeface="Calibri"/>
              </a:rPr>
              <a:t>EY Australia, 2025 profile</a:t>
            </a:r>
          </a:p>
        </p:txBody>
      </p:sp>
      <p:sp>
        <p:nvSpPr>
          <p:cNvPr id="20" name="Rectangle 19"/>
          <p:cNvSpPr/>
          <p:nvPr/>
        </p:nvSpPr>
        <p:spPr>
          <a:xfrm>
            <a:off x="4995550" y="2194560"/>
            <a:ext cx="2200595" cy="1463040"/>
          </a:xfrm>
          <a:prstGeom prst="rect">
            <a:avLst/>
          </a:prstGeom>
          <a:solidFill>
            <a:srgbClr val="000000"/>
          </a:solidFill>
          <a:ln>
            <a:noFill/>
          </a:ln>
          <a:effectLst/>
        </p:spPr>
        <p:txBody>
          <a:bodyPr rtlCol="0" anchor="ctr"/>
          <a:lstStyle/>
          <a:p>
            <a:pPr algn="ctr"/>
          </a:p>
        </p:txBody>
      </p:sp>
      <p:sp>
        <p:nvSpPr>
          <p:cNvPr id="21" name="Rectangle 20"/>
          <p:cNvSpPr/>
          <p:nvPr/>
        </p:nvSpPr>
        <p:spPr>
          <a:xfrm>
            <a:off x="4995550" y="2194560"/>
            <a:ext cx="2200595" cy="50800"/>
          </a:xfrm>
          <a:prstGeom prst="rect">
            <a:avLst/>
          </a:prstGeom>
          <a:solidFill>
            <a:srgbClr val="01A296"/>
          </a:solidFill>
          <a:ln>
            <a:noFill/>
          </a:ln>
          <a:effectLst/>
        </p:spPr>
        <p:txBody>
          <a:bodyPr rtlCol="0" anchor="ctr"/>
          <a:lstStyle/>
          <a:p>
            <a:pPr algn="ctr"/>
          </a:p>
        </p:txBody>
      </p:sp>
      <p:sp>
        <p:nvSpPr>
          <p:cNvPr id="22" name="TextBox 21"/>
          <p:cNvSpPr txBox="1"/>
          <p:nvPr/>
        </p:nvSpPr>
        <p:spPr>
          <a:xfrm>
            <a:off x="5105278" y="2340864"/>
            <a:ext cx="1981139" cy="502920"/>
          </a:xfrm>
          <a:prstGeom prst="rect">
            <a:avLst/>
          </a:prstGeom>
          <a:noFill/>
        </p:spPr>
        <p:txBody>
          <a:bodyPr wrap="square" lIns="0" rIns="0" tIns="0" bIns="0">
            <a:noAutofit/>
          </a:bodyPr>
          <a:lstStyle/>
          <a:p>
            <a:pPr algn="l"/>
            <a:r>
              <a:rPr sz="2700" b="1" i="0">
                <a:solidFill>
                  <a:srgbClr val="F8C806"/>
                </a:solidFill>
                <a:latin typeface="Cambria"/>
              </a:rPr>
              <a:t>850+</a:t>
            </a:r>
          </a:p>
        </p:txBody>
      </p:sp>
      <p:sp>
        <p:nvSpPr>
          <p:cNvPr id="23" name="TextBox 22"/>
          <p:cNvSpPr txBox="1"/>
          <p:nvPr/>
        </p:nvSpPr>
        <p:spPr>
          <a:xfrm>
            <a:off x="5105278" y="2852928"/>
            <a:ext cx="1981139" cy="502920"/>
          </a:xfrm>
          <a:prstGeom prst="rect">
            <a:avLst/>
          </a:prstGeom>
          <a:noFill/>
        </p:spPr>
        <p:txBody>
          <a:bodyPr wrap="square" lIns="0" rIns="0" tIns="0" bIns="0">
            <a:noAutofit/>
          </a:bodyPr>
          <a:lstStyle/>
          <a:p>
            <a:pPr algn="l">
              <a:lnSpc>
                <a:spcPct val="105000"/>
              </a:lnSpc>
            </a:pPr>
            <a:r>
              <a:rPr sz="1000" b="0" i="0">
                <a:solidFill>
                  <a:srgbClr val="E6E5DE"/>
                </a:solidFill>
                <a:latin typeface="Calibri"/>
              </a:rPr>
              <a:t>Retail stockists,</a:t>
            </a:r>
          </a:p>
          <a:p>
            <a:pPr algn="l">
              <a:lnSpc>
                <a:spcPct val="105000"/>
              </a:lnSpc>
            </a:pPr>
            <a:r>
              <a:rPr sz="1000" b="0" i="0">
                <a:solidFill>
                  <a:srgbClr val="E6E5DE"/>
                </a:solidFill>
                <a:latin typeface="Calibri"/>
              </a:rPr>
              <a:t>Australia and NZ</a:t>
            </a:r>
          </a:p>
        </p:txBody>
      </p:sp>
      <p:sp>
        <p:nvSpPr>
          <p:cNvPr id="24" name="TextBox 23"/>
          <p:cNvSpPr txBox="1"/>
          <p:nvPr/>
        </p:nvSpPr>
        <p:spPr>
          <a:xfrm>
            <a:off x="5105278" y="3383280"/>
            <a:ext cx="1981139" cy="219456"/>
          </a:xfrm>
          <a:prstGeom prst="rect">
            <a:avLst/>
          </a:prstGeom>
          <a:noFill/>
        </p:spPr>
        <p:txBody>
          <a:bodyPr wrap="square" lIns="0" rIns="0" tIns="0" bIns="0">
            <a:noAutofit/>
          </a:bodyPr>
          <a:lstStyle/>
          <a:p>
            <a:pPr algn="l"/>
            <a:r>
              <a:rPr sz="700" b="0" i="1">
                <a:solidFill>
                  <a:srgbClr val="E6E5DE"/>
                </a:solidFill>
                <a:latin typeface="Calibri"/>
              </a:rPr>
              <a:t>EY Australia, 2025 profile</a:t>
            </a:r>
          </a:p>
        </p:txBody>
      </p:sp>
      <p:sp>
        <p:nvSpPr>
          <p:cNvPr id="25" name="Rectangle 24"/>
          <p:cNvSpPr/>
          <p:nvPr/>
        </p:nvSpPr>
        <p:spPr>
          <a:xfrm>
            <a:off x="7333305" y="2194560"/>
            <a:ext cx="2200595" cy="1463040"/>
          </a:xfrm>
          <a:prstGeom prst="rect">
            <a:avLst/>
          </a:prstGeom>
          <a:solidFill>
            <a:srgbClr val="000000"/>
          </a:solidFill>
          <a:ln>
            <a:noFill/>
          </a:ln>
          <a:effectLst/>
        </p:spPr>
        <p:txBody>
          <a:bodyPr rtlCol="0" anchor="ctr"/>
          <a:lstStyle/>
          <a:p>
            <a:pPr algn="ctr"/>
          </a:p>
        </p:txBody>
      </p:sp>
      <p:sp>
        <p:nvSpPr>
          <p:cNvPr id="26" name="Rectangle 25"/>
          <p:cNvSpPr/>
          <p:nvPr/>
        </p:nvSpPr>
        <p:spPr>
          <a:xfrm>
            <a:off x="7333305" y="2194560"/>
            <a:ext cx="2200595" cy="50800"/>
          </a:xfrm>
          <a:prstGeom prst="rect">
            <a:avLst/>
          </a:prstGeom>
          <a:solidFill>
            <a:srgbClr val="01A296"/>
          </a:solidFill>
          <a:ln>
            <a:noFill/>
          </a:ln>
          <a:effectLst/>
        </p:spPr>
        <p:txBody>
          <a:bodyPr rtlCol="0" anchor="ctr"/>
          <a:lstStyle/>
          <a:p>
            <a:pPr algn="ctr"/>
          </a:p>
        </p:txBody>
      </p:sp>
      <p:sp>
        <p:nvSpPr>
          <p:cNvPr id="27" name="TextBox 26"/>
          <p:cNvSpPr txBox="1"/>
          <p:nvPr/>
        </p:nvSpPr>
        <p:spPr>
          <a:xfrm>
            <a:off x="7443033" y="2340864"/>
            <a:ext cx="1981139" cy="502920"/>
          </a:xfrm>
          <a:prstGeom prst="rect">
            <a:avLst/>
          </a:prstGeom>
          <a:noFill/>
        </p:spPr>
        <p:txBody>
          <a:bodyPr wrap="square" lIns="0" rIns="0" tIns="0" bIns="0">
            <a:noAutofit/>
          </a:bodyPr>
          <a:lstStyle/>
          <a:p>
            <a:pPr algn="l"/>
            <a:r>
              <a:rPr sz="2700" b="1" i="0">
                <a:solidFill>
                  <a:srgbClr val="F8C806"/>
                </a:solidFill>
                <a:latin typeface="Cambria"/>
              </a:rPr>
              <a:t>90+</a:t>
            </a:r>
          </a:p>
        </p:txBody>
      </p:sp>
      <p:sp>
        <p:nvSpPr>
          <p:cNvPr id="28" name="TextBox 27"/>
          <p:cNvSpPr txBox="1"/>
          <p:nvPr/>
        </p:nvSpPr>
        <p:spPr>
          <a:xfrm>
            <a:off x="7443033" y="2852928"/>
            <a:ext cx="1981139" cy="502920"/>
          </a:xfrm>
          <a:prstGeom prst="rect">
            <a:avLst/>
          </a:prstGeom>
          <a:noFill/>
        </p:spPr>
        <p:txBody>
          <a:bodyPr wrap="square" lIns="0" rIns="0" tIns="0" bIns="0">
            <a:noAutofit/>
          </a:bodyPr>
          <a:lstStyle/>
          <a:p>
            <a:pPr algn="l">
              <a:lnSpc>
                <a:spcPct val="105000"/>
              </a:lnSpc>
            </a:pPr>
            <a:r>
              <a:rPr sz="1000" b="0" i="0">
                <a:solidFill>
                  <a:srgbClr val="E6E5DE"/>
                </a:solidFill>
                <a:latin typeface="Calibri"/>
              </a:rPr>
              <a:t>Product lines,</a:t>
            </a:r>
          </a:p>
          <a:p>
            <a:pPr algn="l">
              <a:lnSpc>
                <a:spcPct val="105000"/>
              </a:lnSpc>
            </a:pPr>
            <a:r>
              <a:rPr sz="1000" b="0" i="0">
                <a:solidFill>
                  <a:srgbClr val="E6E5DE"/>
                </a:solidFill>
                <a:latin typeface="Calibri"/>
              </a:rPr>
              <a:t>seven categories</a:t>
            </a:r>
          </a:p>
        </p:txBody>
      </p:sp>
      <p:sp>
        <p:nvSpPr>
          <p:cNvPr id="29" name="TextBox 28"/>
          <p:cNvSpPr txBox="1"/>
          <p:nvPr/>
        </p:nvSpPr>
        <p:spPr>
          <a:xfrm>
            <a:off x="7443033" y="3383280"/>
            <a:ext cx="1981139" cy="219456"/>
          </a:xfrm>
          <a:prstGeom prst="rect">
            <a:avLst/>
          </a:prstGeom>
          <a:noFill/>
        </p:spPr>
        <p:txBody>
          <a:bodyPr wrap="square" lIns="0" rIns="0" tIns="0" bIns="0">
            <a:noAutofit/>
          </a:bodyPr>
          <a:lstStyle/>
          <a:p>
            <a:pPr algn="l"/>
            <a:r>
              <a:rPr sz="700" b="0" i="1">
                <a:solidFill>
                  <a:srgbClr val="E6E5DE"/>
                </a:solidFill>
                <a:latin typeface="Calibri"/>
              </a:rPr>
              <a:t>EY Australia, 2025 profile</a:t>
            </a:r>
          </a:p>
        </p:txBody>
      </p:sp>
      <p:sp>
        <p:nvSpPr>
          <p:cNvPr id="30" name="Rectangle 29"/>
          <p:cNvSpPr/>
          <p:nvPr/>
        </p:nvSpPr>
        <p:spPr>
          <a:xfrm>
            <a:off x="9671060" y="2194560"/>
            <a:ext cx="2200595" cy="1463040"/>
          </a:xfrm>
          <a:prstGeom prst="rect">
            <a:avLst/>
          </a:prstGeom>
          <a:solidFill>
            <a:srgbClr val="000000"/>
          </a:solidFill>
          <a:ln>
            <a:noFill/>
          </a:ln>
          <a:effectLst/>
        </p:spPr>
        <p:txBody>
          <a:bodyPr rtlCol="0" anchor="ctr"/>
          <a:lstStyle/>
          <a:p>
            <a:pPr algn="ctr"/>
          </a:p>
        </p:txBody>
      </p:sp>
      <p:sp>
        <p:nvSpPr>
          <p:cNvPr id="31" name="Rectangle 30"/>
          <p:cNvSpPr/>
          <p:nvPr/>
        </p:nvSpPr>
        <p:spPr>
          <a:xfrm>
            <a:off x="9671060" y="2194560"/>
            <a:ext cx="2200595" cy="50800"/>
          </a:xfrm>
          <a:prstGeom prst="rect">
            <a:avLst/>
          </a:prstGeom>
          <a:solidFill>
            <a:srgbClr val="01A296"/>
          </a:solidFill>
          <a:ln>
            <a:noFill/>
          </a:ln>
          <a:effectLst/>
        </p:spPr>
        <p:txBody>
          <a:bodyPr rtlCol="0" anchor="ctr"/>
          <a:lstStyle/>
          <a:p>
            <a:pPr algn="ctr"/>
          </a:p>
        </p:txBody>
      </p:sp>
      <p:sp>
        <p:nvSpPr>
          <p:cNvPr id="32" name="TextBox 31"/>
          <p:cNvSpPr txBox="1"/>
          <p:nvPr/>
        </p:nvSpPr>
        <p:spPr>
          <a:xfrm>
            <a:off x="9780788" y="2340864"/>
            <a:ext cx="1981139" cy="502920"/>
          </a:xfrm>
          <a:prstGeom prst="rect">
            <a:avLst/>
          </a:prstGeom>
          <a:noFill/>
        </p:spPr>
        <p:txBody>
          <a:bodyPr wrap="square" lIns="0" rIns="0" tIns="0" bIns="0">
            <a:noAutofit/>
          </a:bodyPr>
          <a:lstStyle/>
          <a:p>
            <a:pPr algn="l"/>
            <a:r>
              <a:rPr sz="2700" b="1" i="0">
                <a:solidFill>
                  <a:srgbClr val="F8C806"/>
                </a:solidFill>
                <a:latin typeface="Cambria"/>
              </a:rPr>
              <a:t>2020</a:t>
            </a:r>
          </a:p>
        </p:txBody>
      </p:sp>
      <p:sp>
        <p:nvSpPr>
          <p:cNvPr id="33" name="TextBox 32"/>
          <p:cNvSpPr txBox="1"/>
          <p:nvPr/>
        </p:nvSpPr>
        <p:spPr>
          <a:xfrm>
            <a:off x="9780788" y="2852928"/>
            <a:ext cx="1981139" cy="502920"/>
          </a:xfrm>
          <a:prstGeom prst="rect">
            <a:avLst/>
          </a:prstGeom>
          <a:noFill/>
        </p:spPr>
        <p:txBody>
          <a:bodyPr wrap="square" lIns="0" rIns="0" tIns="0" bIns="0">
            <a:noAutofit/>
          </a:bodyPr>
          <a:lstStyle/>
          <a:p>
            <a:pPr algn="l">
              <a:lnSpc>
                <a:spcPct val="105000"/>
              </a:lnSpc>
            </a:pPr>
            <a:r>
              <a:rPr sz="1000" b="0" i="0">
                <a:solidFill>
                  <a:srgbClr val="E6E5DE"/>
                </a:solidFill>
                <a:latin typeface="Calibri"/>
              </a:rPr>
              <a:t>Founded in</a:t>
            </a:r>
          </a:p>
          <a:p>
            <a:pPr algn="l">
              <a:lnSpc>
                <a:spcPct val="105000"/>
              </a:lnSpc>
            </a:pPr>
            <a:r>
              <a:rPr sz="1000" b="0" i="0">
                <a:solidFill>
                  <a:srgbClr val="E6E5DE"/>
                </a:solidFill>
                <a:latin typeface="Calibri"/>
              </a:rPr>
              <a:t>Adelaide, South Australia</a:t>
            </a:r>
          </a:p>
        </p:txBody>
      </p:sp>
      <p:sp>
        <p:nvSpPr>
          <p:cNvPr id="34" name="TextBox 33"/>
          <p:cNvSpPr txBox="1"/>
          <p:nvPr/>
        </p:nvSpPr>
        <p:spPr>
          <a:xfrm>
            <a:off x="9780788" y="3383280"/>
            <a:ext cx="1981139" cy="219456"/>
          </a:xfrm>
          <a:prstGeom prst="rect">
            <a:avLst/>
          </a:prstGeom>
          <a:noFill/>
        </p:spPr>
        <p:txBody>
          <a:bodyPr wrap="square" lIns="0" rIns="0" tIns="0" bIns="0">
            <a:noAutofit/>
          </a:bodyPr>
          <a:lstStyle/>
          <a:p>
            <a:pPr algn="l"/>
            <a:r>
              <a:rPr sz="700" b="0" i="1">
                <a:solidFill>
                  <a:srgbClr val="E6E5DE"/>
                </a:solidFill>
                <a:latin typeface="Calibri"/>
              </a:rPr>
              <a:t>InDaily, 40 Under 40, 2023</a:t>
            </a:r>
          </a:p>
        </p:txBody>
      </p:sp>
      <p:sp>
        <p:nvSpPr>
          <p:cNvPr id="35" name="TextBox 34"/>
          <p:cNvSpPr txBox="1"/>
          <p:nvPr/>
        </p:nvSpPr>
        <p:spPr>
          <a:xfrm>
            <a:off x="320040" y="3913632"/>
            <a:ext cx="5486400" cy="274320"/>
          </a:xfrm>
          <a:prstGeom prst="rect">
            <a:avLst/>
          </a:prstGeom>
          <a:noFill/>
        </p:spPr>
        <p:txBody>
          <a:bodyPr wrap="square" lIns="0" rIns="0" tIns="0" bIns="0">
            <a:noAutofit/>
          </a:bodyPr>
          <a:lstStyle/>
          <a:p>
            <a:pPr algn="l"/>
            <a:r>
              <a:rPr sz="1100" b="1" i="0">
                <a:solidFill>
                  <a:srgbClr val="01A296"/>
                </a:solidFill>
                <a:latin typeface="Calibri"/>
              </a:rPr>
              <a:t>KEY COMMERCIAL SIGNALS</a:t>
            </a:r>
          </a:p>
        </p:txBody>
      </p:sp>
      <p:sp>
        <p:nvSpPr>
          <p:cNvPr id="36" name="TextBox 35"/>
          <p:cNvSpPr txBox="1"/>
          <p:nvPr/>
        </p:nvSpPr>
        <p:spPr>
          <a:xfrm>
            <a:off x="320040" y="4233672"/>
            <a:ext cx="11521440" cy="2011680"/>
          </a:xfrm>
          <a:prstGeom prst="rect">
            <a:avLst/>
          </a:prstGeom>
          <a:noFill/>
        </p:spPr>
        <p:txBody>
          <a:bodyPr wrap="square" lIns="0" rIns="0" tIns="0" bIns="0">
            <a:noAutofit/>
          </a:bodyPr>
          <a:lstStyle/>
          <a:p>
            <a:pPr algn="l">
              <a:lnSpc>
                <a:spcPct val="128000"/>
              </a:lnSpc>
            </a:pPr>
            <a:r>
              <a:rPr sz="1100" b="0" i="0">
                <a:solidFill>
                  <a:srgbClr val="000000"/>
                </a:solidFill>
                <a:latin typeface="Calibri"/>
              </a:rPr>
              <a:t>•  Named Smart50 Rising Star, 2023, SmartCompany, for standout early growth trajectory.</a:t>
            </a:r>
          </a:p>
          <a:p>
            <a:pPr algn="l">
              <a:lnSpc>
                <a:spcPct val="128000"/>
              </a:lnSpc>
            </a:pPr>
            <a:r>
              <a:rPr sz="1100" b="0" i="0">
                <a:solidFill>
                  <a:srgbClr val="000000"/>
                </a:solidFill>
                <a:latin typeface="Calibri"/>
              </a:rPr>
              <a:t>•  EY Entrepreneur of the Year Australia 2025 finalist, with co founder Lysandra Fraser.</a:t>
            </a:r>
          </a:p>
          <a:p>
            <a:pPr algn="l">
              <a:lnSpc>
                <a:spcPct val="128000"/>
              </a:lnSpc>
            </a:pPr>
            <a:r>
              <a:rPr sz="1100" b="0" i="0">
                <a:solidFill>
                  <a:srgbClr val="000000"/>
                </a:solidFill>
                <a:latin typeface="Calibri"/>
              </a:rPr>
              <a:t>•  Growth capital partnership with Unmarked Group disclosed by SmartCompany in August 2026.</a:t>
            </a:r>
          </a:p>
          <a:p>
            <a:pPr algn="l">
              <a:lnSpc>
                <a:spcPct val="128000"/>
              </a:lnSpc>
            </a:pPr>
            <a:r>
              <a:rPr sz="1100" b="0" i="0">
                <a:solidFill>
                  <a:srgbClr val="000000"/>
                </a:solidFill>
                <a:latin typeface="Calibri"/>
              </a:rPr>
              <a:t>•  Team size publicly banded at 11 to 50 employees on the company LinkedIn page.</a:t>
            </a:r>
          </a:p>
          <a:p>
            <a:pPr algn="l">
              <a:lnSpc>
                <a:spcPct val="128000"/>
              </a:lnSpc>
            </a:pPr>
            <a:r>
              <a:rPr sz="1100" b="0" i="0">
                <a:solidFill>
                  <a:srgbClr val="000000"/>
                </a:solidFill>
                <a:latin typeface="Calibri"/>
              </a:rPr>
              <a:t>•  Product range expanded from 50 to over 90 lines across seven categories, per EY profile.</a:t>
            </a:r>
          </a:p>
          <a:p>
            <a:pPr algn="l">
              <a:lnSpc>
                <a:spcPct val="128000"/>
              </a:lnSpc>
            </a:pPr>
            <a:r>
              <a:rPr sz="1100" b="0" i="0">
                <a:solidFill>
                  <a:srgbClr val="000000"/>
                </a:solidFill>
                <a:latin typeface="Calibri"/>
              </a:rPr>
              <a:t>•  Stockist network grew from 750 to over 850 retailers across Australia and New Zealand.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noAutofit/>
          </a:bodyPr>
          <a:lstStyle/>
          <a:p>
            <a:pPr algn="l"/>
            <a:r>
              <a:rPr sz="1200" b="1" i="0">
                <a:solidFill>
                  <a:srgbClr val="E6E5DE"/>
                </a:solidFill>
                <a:latin typeface="Calibri"/>
              </a:rPr>
              <a:t>THE OPPORTUNITY</a:t>
            </a:r>
          </a:p>
        </p:txBody>
      </p:sp>
      <p:sp>
        <p:nvSpPr>
          <p:cNvPr id="5" name="TextBox 4"/>
          <p:cNvSpPr txBox="1"/>
          <p:nvPr/>
        </p:nvSpPr>
        <p:spPr>
          <a:xfrm>
            <a:off x="8686800" y="292608"/>
            <a:ext cx="3291840" cy="365760"/>
          </a:xfrm>
          <a:prstGeom prst="rect">
            <a:avLst/>
          </a:prstGeom>
          <a:noFill/>
        </p:spPr>
        <p:txBody>
          <a:bodyPr wrap="square" lIns="0" rIns="0" tIns="0" bIns="0">
            <a:noAutofit/>
          </a:bodyPr>
          <a:lstStyle/>
          <a:p>
            <a:pPr algn="r"/>
            <a:r>
              <a:rPr sz="1200" b="1" i="0">
                <a:solidFill>
                  <a:srgbClr val="01A296"/>
                </a:solidFill>
                <a:latin typeface="Calibri"/>
              </a:rPr>
              <a:t>PROFITPULSE</a:t>
            </a:r>
          </a:p>
        </p:txBody>
      </p:sp>
      <p:sp>
        <p:nvSpPr>
          <p:cNvPr id="6" name="TextBox 5"/>
          <p:cNvSpPr txBox="1"/>
          <p:nvPr/>
        </p:nvSpPr>
        <p:spPr>
          <a:xfrm>
            <a:off x="320040" y="6446520"/>
            <a:ext cx="6858000" cy="274320"/>
          </a:xfrm>
          <a:prstGeom prst="rect">
            <a:avLst/>
          </a:prstGeom>
          <a:noFill/>
        </p:spPr>
        <p:txBody>
          <a:bodyPr wrap="square" lIns="0" rIns="0" tIns="0" bIns="0">
            <a:noAutofit/>
          </a:bodyPr>
          <a:lstStyle/>
          <a:p>
            <a:pPr algn="l"/>
            <a:r>
              <a:rPr sz="800" b="0" i="0">
                <a:solidFill>
                  <a:srgbClr val="000000"/>
                </a:solidFill>
                <a:latin typeface="Calibri"/>
              </a:rPr>
              <a:t>Prepared by Nitesh Roopa CA, Managing Partner, ProfitPulse, Profit-Pulse.com.au</a:t>
            </a:r>
          </a:p>
        </p:txBody>
      </p:sp>
      <p:sp>
        <p:nvSpPr>
          <p:cNvPr id="7" name="TextBox 6"/>
          <p:cNvSpPr txBox="1"/>
          <p:nvPr/>
        </p:nvSpPr>
        <p:spPr>
          <a:xfrm>
            <a:off x="8686800" y="6446520"/>
            <a:ext cx="3291840" cy="274320"/>
          </a:xfrm>
          <a:prstGeom prst="rect">
            <a:avLst/>
          </a:prstGeom>
          <a:noFill/>
        </p:spPr>
        <p:txBody>
          <a:bodyPr wrap="square" lIns="0" rIns="0" tIns="0" bIns="0">
            <a:noAutofit/>
          </a:bodyPr>
          <a:lstStyle/>
          <a:p>
            <a:pPr algn="r"/>
            <a:r>
              <a:rPr sz="800" b="0" i="0">
                <a:solidFill>
                  <a:srgbClr val="000000"/>
                </a:solidFill>
                <a:latin typeface="Calibri"/>
              </a:rPr>
              <a:t>13 Aug 2026</a:t>
            </a:r>
          </a:p>
        </p:txBody>
      </p:sp>
      <p:sp>
        <p:nvSpPr>
          <p:cNvPr id="8" name="TextBox 7"/>
          <p:cNvSpPr txBox="1"/>
          <p:nvPr/>
        </p:nvSpPr>
        <p:spPr>
          <a:xfrm>
            <a:off x="320040" y="1024128"/>
            <a:ext cx="11521440" cy="292608"/>
          </a:xfrm>
          <a:prstGeom prst="rect">
            <a:avLst/>
          </a:prstGeom>
          <a:noFill/>
        </p:spPr>
        <p:txBody>
          <a:bodyPr wrap="square" lIns="0" rIns="0" tIns="0" bIns="0">
            <a:noAutofit/>
          </a:bodyPr>
          <a:lstStyle/>
          <a:p>
            <a:pPr algn="l"/>
            <a:r>
              <a:rPr sz="1300" b="1" i="0">
                <a:solidFill>
                  <a:srgbClr val="000000"/>
                </a:solidFill>
                <a:latin typeface="Cambria"/>
              </a:rPr>
              <a:t>al.ive body</a:t>
            </a:r>
            <a:r>
              <a:rPr sz="1300" b="0" i="0">
                <a:solidFill>
                  <a:srgbClr val="000000"/>
                </a:solidFill>
                <a:latin typeface="Calibri"/>
              </a:rPr>
              <a:t>   Three commercial observations from ProfitPulse.</a:t>
            </a:r>
          </a:p>
        </p:txBody>
      </p:sp>
      <p:sp>
        <p:nvSpPr>
          <p:cNvPr id="9" name="Rectangle 8"/>
          <p:cNvSpPr/>
          <p:nvPr/>
        </p:nvSpPr>
        <p:spPr>
          <a:xfrm>
            <a:off x="320040" y="1417320"/>
            <a:ext cx="3759098" cy="3611880"/>
          </a:xfrm>
          <a:prstGeom prst="rect">
            <a:avLst/>
          </a:prstGeom>
          <a:solidFill>
            <a:srgbClr val="01A296"/>
          </a:solidFill>
          <a:ln>
            <a:noFill/>
          </a:ln>
          <a:effectLst/>
        </p:spPr>
        <p:txBody>
          <a:bodyPr rtlCol="0" anchor="ctr"/>
          <a:lstStyle/>
          <a:p>
            <a:pPr algn="ctr"/>
          </a:p>
        </p:txBody>
      </p:sp>
      <p:sp>
        <p:nvSpPr>
          <p:cNvPr id="10" name="TextBox 9"/>
          <p:cNvSpPr txBox="1"/>
          <p:nvPr/>
        </p:nvSpPr>
        <p:spPr>
          <a:xfrm>
            <a:off x="521207" y="1600200"/>
            <a:ext cx="3356762" cy="640080"/>
          </a:xfrm>
          <a:prstGeom prst="rect">
            <a:avLst/>
          </a:prstGeom>
          <a:noFill/>
        </p:spPr>
        <p:txBody>
          <a:bodyPr wrap="square" lIns="0" rIns="0" tIns="0" bIns="0">
            <a:noAutofit/>
          </a:bodyPr>
          <a:lstStyle/>
          <a:p>
            <a:pPr algn="l"/>
            <a:r>
              <a:rPr sz="3200" b="1" i="0">
                <a:solidFill>
                  <a:srgbClr val="000000"/>
                </a:solidFill>
                <a:latin typeface="Cambria"/>
              </a:rPr>
              <a:t>01</a:t>
            </a:r>
          </a:p>
        </p:txBody>
      </p:sp>
      <p:sp>
        <p:nvSpPr>
          <p:cNvPr id="11" name="TextBox 10"/>
          <p:cNvSpPr txBox="1"/>
          <p:nvPr/>
        </p:nvSpPr>
        <p:spPr>
          <a:xfrm>
            <a:off x="521207" y="2286000"/>
            <a:ext cx="3356762" cy="548640"/>
          </a:xfrm>
          <a:prstGeom prst="rect">
            <a:avLst/>
          </a:prstGeom>
          <a:noFill/>
        </p:spPr>
        <p:txBody>
          <a:bodyPr wrap="square" lIns="0" rIns="0" tIns="0" bIns="0">
            <a:noAutofit/>
          </a:bodyPr>
          <a:lstStyle/>
          <a:p>
            <a:pPr algn="l"/>
            <a:r>
              <a:rPr sz="1400" b="1" i="0">
                <a:solidFill>
                  <a:srgbClr val="000000"/>
                </a:solidFill>
                <a:latin typeface="Cambria"/>
              </a:rPr>
              <a:t>Rapid range growth outpaces visibility</a:t>
            </a:r>
          </a:p>
        </p:txBody>
      </p:sp>
      <p:sp>
        <p:nvSpPr>
          <p:cNvPr id="12" name="TextBox 11"/>
          <p:cNvSpPr txBox="1"/>
          <p:nvPr/>
        </p:nvSpPr>
        <p:spPr>
          <a:xfrm>
            <a:off x="521207" y="2880360"/>
            <a:ext cx="3356762" cy="1920240"/>
          </a:xfrm>
          <a:prstGeom prst="rect">
            <a:avLst/>
          </a:prstGeom>
          <a:noFill/>
        </p:spPr>
        <p:txBody>
          <a:bodyPr wrap="square" lIns="0" rIns="0" tIns="0" bIns="0">
            <a:noAutofit/>
          </a:bodyPr>
          <a:lstStyle/>
          <a:p>
            <a:pPr algn="l">
              <a:lnSpc>
                <a:spcPct val="122000"/>
              </a:lnSpc>
            </a:pPr>
            <a:r>
              <a:rPr sz="1100" b="0" i="0">
                <a:solidFill>
                  <a:srgbClr val="000000"/>
                </a:solidFill>
                <a:latin typeface="Calibri"/>
              </a:rPr>
              <a:t>al.ive body has grown from roughly 50 to more than 90 products, alongside new senior sales and customer experience hires. Fast growing brands rarely have full clarity on which lines carry real margin once packaging, freight, and stockist terms are allocated.</a:t>
            </a:r>
          </a:p>
        </p:txBody>
      </p:sp>
      <p:sp>
        <p:nvSpPr>
          <p:cNvPr id="13" name="TextBox 12"/>
          <p:cNvSpPr txBox="1"/>
          <p:nvPr/>
        </p:nvSpPr>
        <p:spPr>
          <a:xfrm>
            <a:off x="521207" y="4663440"/>
            <a:ext cx="3356762" cy="320040"/>
          </a:xfrm>
          <a:prstGeom prst="rect">
            <a:avLst/>
          </a:prstGeom>
          <a:noFill/>
        </p:spPr>
        <p:txBody>
          <a:bodyPr wrap="square" lIns="0" rIns="0" tIns="0" bIns="0">
            <a:noAutofit/>
          </a:bodyPr>
          <a:lstStyle/>
          <a:p>
            <a:pPr algn="l"/>
            <a:r>
              <a:rPr sz="950" b="1" i="1">
                <a:solidFill>
                  <a:srgbClr val="000000"/>
                </a:solidFill>
                <a:latin typeface="Calibri"/>
              </a:rPr>
              <a:t>Matched to the recommendation, next slide</a:t>
            </a:r>
          </a:p>
        </p:txBody>
      </p:sp>
      <p:sp>
        <p:nvSpPr>
          <p:cNvPr id="14" name="Rectangle 13"/>
          <p:cNvSpPr/>
          <p:nvPr/>
        </p:nvSpPr>
        <p:spPr>
          <a:xfrm>
            <a:off x="4216298" y="1417320"/>
            <a:ext cx="3759098" cy="3611880"/>
          </a:xfrm>
          <a:prstGeom prst="rect">
            <a:avLst/>
          </a:prstGeom>
          <a:solidFill>
            <a:srgbClr val="000000"/>
          </a:solidFill>
          <a:ln>
            <a:noFill/>
          </a:ln>
          <a:effectLst/>
        </p:spPr>
        <p:txBody>
          <a:bodyPr rtlCol="0" anchor="ctr"/>
          <a:lstStyle/>
          <a:p>
            <a:pPr algn="ctr"/>
          </a:p>
        </p:txBody>
      </p:sp>
      <p:sp>
        <p:nvSpPr>
          <p:cNvPr id="15" name="TextBox 14"/>
          <p:cNvSpPr txBox="1"/>
          <p:nvPr/>
        </p:nvSpPr>
        <p:spPr>
          <a:xfrm>
            <a:off x="4417466" y="1600200"/>
            <a:ext cx="3356762" cy="640080"/>
          </a:xfrm>
          <a:prstGeom prst="rect">
            <a:avLst/>
          </a:prstGeom>
          <a:noFill/>
        </p:spPr>
        <p:txBody>
          <a:bodyPr wrap="square" lIns="0" rIns="0" tIns="0" bIns="0">
            <a:noAutofit/>
          </a:bodyPr>
          <a:lstStyle/>
          <a:p>
            <a:pPr algn="l"/>
            <a:r>
              <a:rPr sz="3200" b="1" i="0">
                <a:solidFill>
                  <a:srgbClr val="E6E5DE"/>
                </a:solidFill>
                <a:latin typeface="Cambria"/>
              </a:rPr>
              <a:t>02</a:t>
            </a:r>
          </a:p>
        </p:txBody>
      </p:sp>
      <p:sp>
        <p:nvSpPr>
          <p:cNvPr id="16" name="TextBox 15"/>
          <p:cNvSpPr txBox="1"/>
          <p:nvPr/>
        </p:nvSpPr>
        <p:spPr>
          <a:xfrm>
            <a:off x="4417466" y="2286000"/>
            <a:ext cx="3356762" cy="548640"/>
          </a:xfrm>
          <a:prstGeom prst="rect">
            <a:avLst/>
          </a:prstGeom>
          <a:noFill/>
        </p:spPr>
        <p:txBody>
          <a:bodyPr wrap="square" lIns="0" rIns="0" tIns="0" bIns="0">
            <a:noAutofit/>
          </a:bodyPr>
          <a:lstStyle/>
          <a:p>
            <a:pPr algn="l"/>
            <a:r>
              <a:rPr sz="1400" b="1" i="0">
                <a:solidFill>
                  <a:srgbClr val="E6E5DE"/>
                </a:solidFill>
                <a:latin typeface="Cambria"/>
              </a:rPr>
              <a:t>Two channels, two margin profiles</a:t>
            </a:r>
          </a:p>
        </p:txBody>
      </p:sp>
      <p:sp>
        <p:nvSpPr>
          <p:cNvPr id="17" name="TextBox 16"/>
          <p:cNvSpPr txBox="1"/>
          <p:nvPr/>
        </p:nvSpPr>
        <p:spPr>
          <a:xfrm>
            <a:off x="4417466" y="2880360"/>
            <a:ext cx="3356762" cy="1920240"/>
          </a:xfrm>
          <a:prstGeom prst="rect">
            <a:avLst/>
          </a:prstGeom>
          <a:noFill/>
        </p:spPr>
        <p:txBody>
          <a:bodyPr wrap="square" lIns="0" rIns="0" tIns="0" bIns="0">
            <a:noAutofit/>
          </a:bodyPr>
          <a:lstStyle/>
          <a:p>
            <a:pPr algn="l">
              <a:lnSpc>
                <a:spcPct val="122000"/>
              </a:lnSpc>
            </a:pPr>
            <a:r>
              <a:rPr sz="1100" b="0" i="0">
                <a:solidFill>
                  <a:srgbClr val="E6E5DE"/>
                </a:solidFill>
                <a:latin typeface="Calibri"/>
              </a:rPr>
              <a:t>Revenue now spans direct to consumer sales and a wholesale network of over 850 stockists, including Myer. Direct and wholesale channels usually carry different margins once discounting, freight, and terms are factored in. A clear line and channel view sharpens the next move.</a:t>
            </a:r>
          </a:p>
        </p:txBody>
      </p:sp>
      <p:sp>
        <p:nvSpPr>
          <p:cNvPr id="18" name="Rectangle 17"/>
          <p:cNvSpPr/>
          <p:nvPr/>
        </p:nvSpPr>
        <p:spPr>
          <a:xfrm>
            <a:off x="8112556" y="1417320"/>
            <a:ext cx="3759098" cy="3611880"/>
          </a:xfrm>
          <a:prstGeom prst="rect">
            <a:avLst/>
          </a:prstGeom>
          <a:solidFill>
            <a:srgbClr val="E3A712"/>
          </a:solidFill>
          <a:ln>
            <a:noFill/>
          </a:ln>
          <a:effectLst/>
        </p:spPr>
        <p:txBody>
          <a:bodyPr rtlCol="0" anchor="ctr"/>
          <a:lstStyle/>
          <a:p>
            <a:pPr algn="ctr"/>
          </a:p>
        </p:txBody>
      </p:sp>
      <p:sp>
        <p:nvSpPr>
          <p:cNvPr id="19" name="TextBox 18"/>
          <p:cNvSpPr txBox="1"/>
          <p:nvPr/>
        </p:nvSpPr>
        <p:spPr>
          <a:xfrm>
            <a:off x="8313724" y="1600200"/>
            <a:ext cx="3356762" cy="640080"/>
          </a:xfrm>
          <a:prstGeom prst="rect">
            <a:avLst/>
          </a:prstGeom>
          <a:noFill/>
        </p:spPr>
        <p:txBody>
          <a:bodyPr wrap="square" lIns="0" rIns="0" tIns="0" bIns="0">
            <a:noAutofit/>
          </a:bodyPr>
          <a:lstStyle/>
          <a:p>
            <a:pPr algn="l"/>
            <a:r>
              <a:rPr sz="3200" b="1" i="0">
                <a:solidFill>
                  <a:srgbClr val="000000"/>
                </a:solidFill>
                <a:latin typeface="Cambria"/>
              </a:rPr>
              <a:t>03</a:t>
            </a:r>
          </a:p>
        </p:txBody>
      </p:sp>
      <p:sp>
        <p:nvSpPr>
          <p:cNvPr id="20" name="TextBox 19"/>
          <p:cNvSpPr txBox="1"/>
          <p:nvPr/>
        </p:nvSpPr>
        <p:spPr>
          <a:xfrm>
            <a:off x="8313724" y="2286000"/>
            <a:ext cx="3356762" cy="548640"/>
          </a:xfrm>
          <a:prstGeom prst="rect">
            <a:avLst/>
          </a:prstGeom>
          <a:noFill/>
        </p:spPr>
        <p:txBody>
          <a:bodyPr wrap="square" lIns="0" rIns="0" tIns="0" bIns="0">
            <a:noAutofit/>
          </a:bodyPr>
          <a:lstStyle/>
          <a:p>
            <a:pPr algn="l"/>
            <a:r>
              <a:rPr sz="1400" b="1" i="0">
                <a:solidFill>
                  <a:srgbClr val="000000"/>
                </a:solidFill>
                <a:latin typeface="Cambria"/>
              </a:rPr>
              <a:t>Fresh capital changes the calculus</a:t>
            </a:r>
          </a:p>
        </p:txBody>
      </p:sp>
      <p:sp>
        <p:nvSpPr>
          <p:cNvPr id="21" name="TextBox 20"/>
          <p:cNvSpPr txBox="1"/>
          <p:nvPr/>
        </p:nvSpPr>
        <p:spPr>
          <a:xfrm>
            <a:off x="8313724" y="2880360"/>
            <a:ext cx="3356762" cy="1920240"/>
          </a:xfrm>
          <a:prstGeom prst="rect">
            <a:avLst/>
          </a:prstGeom>
          <a:noFill/>
        </p:spPr>
        <p:txBody>
          <a:bodyPr wrap="square" lIns="0" rIns="0" tIns="0" bIns="0">
            <a:noAutofit/>
          </a:bodyPr>
          <a:lstStyle/>
          <a:p>
            <a:pPr algn="l">
              <a:lnSpc>
                <a:spcPct val="122000"/>
              </a:lnSpc>
            </a:pPr>
            <a:r>
              <a:rPr sz="1100" b="0" i="0">
                <a:solidFill>
                  <a:srgbClr val="000000"/>
                </a:solidFill>
                <a:latin typeface="Calibri"/>
              </a:rPr>
              <a:t>SmartCompany reported in August 2026 that Unmarked Group has taken a stake described as growth capital, meant to fund further scale. New capital tends to accelerate whatever is already working, which makes a clear margin picture timely.</a:t>
            </a:r>
          </a:p>
        </p:txBody>
      </p:sp>
      <p:sp>
        <p:nvSpPr>
          <p:cNvPr id="22" name="TextBox 21"/>
          <p:cNvSpPr txBox="1"/>
          <p:nvPr/>
        </p:nvSpPr>
        <p:spPr>
          <a:xfrm>
            <a:off x="320040" y="5257800"/>
            <a:ext cx="11521440" cy="457200"/>
          </a:xfrm>
          <a:prstGeom prst="rect">
            <a:avLst/>
          </a:prstGeom>
          <a:noFill/>
        </p:spPr>
        <p:txBody>
          <a:bodyPr wrap="square" lIns="0" rIns="0" tIns="0" bIns="0">
            <a:noAutofit/>
          </a:bodyPr>
          <a:lstStyle/>
          <a:p>
            <a:pPr algn="l"/>
            <a:r>
              <a:rPr sz="1100" b="0" i="1">
                <a:solidFill>
                  <a:srgbClr val="000000"/>
                </a:solidFill>
                <a:latin typeface="Calibri"/>
              </a:rPr>
              <a:t>These observations are offered in good faith. al.ive body has built something genuinely impressive from a standing start in 2020. The question is simply whether the margin picture is as clear as the growth story.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8C806"/>
          </a:solidFill>
          <a:ln>
            <a:noFill/>
          </a:ln>
          <a:effectLst/>
        </p:spPr>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lIns="0" rIns="0" tIns="0" bIns="0">
            <a:noAutofit/>
          </a:bodyPr>
          <a:lstStyle/>
          <a:p>
            <a:pPr algn="l"/>
            <a:r>
              <a:rPr sz="1200" b="1" i="0">
                <a:solidFill>
                  <a:srgbClr val="E6E5DE"/>
                </a:solidFill>
                <a:latin typeface="Calibri"/>
              </a:rPr>
              <a:t>THE RECOMMENDATION</a:t>
            </a:r>
          </a:p>
        </p:txBody>
      </p:sp>
      <p:sp>
        <p:nvSpPr>
          <p:cNvPr id="5" name="TextBox 4"/>
          <p:cNvSpPr txBox="1"/>
          <p:nvPr/>
        </p:nvSpPr>
        <p:spPr>
          <a:xfrm>
            <a:off x="8686800" y="292608"/>
            <a:ext cx="3291840" cy="365760"/>
          </a:xfrm>
          <a:prstGeom prst="rect">
            <a:avLst/>
          </a:prstGeom>
          <a:noFill/>
        </p:spPr>
        <p:txBody>
          <a:bodyPr wrap="square" lIns="0" rIns="0" tIns="0" bIns="0">
            <a:noAutofit/>
          </a:bodyPr>
          <a:lstStyle/>
          <a:p>
            <a:pPr algn="r"/>
            <a:r>
              <a:rPr sz="1200" b="1" i="0">
                <a:solidFill>
                  <a:srgbClr val="01A296"/>
                </a:solidFill>
                <a:latin typeface="Calibri"/>
              </a:rPr>
              <a:t>PROFITPULSE</a:t>
            </a:r>
          </a:p>
        </p:txBody>
      </p:sp>
      <p:sp>
        <p:nvSpPr>
          <p:cNvPr id="6" name="TextBox 5"/>
          <p:cNvSpPr txBox="1"/>
          <p:nvPr/>
        </p:nvSpPr>
        <p:spPr>
          <a:xfrm>
            <a:off x="320040" y="6446520"/>
            <a:ext cx="6858000" cy="274320"/>
          </a:xfrm>
          <a:prstGeom prst="rect">
            <a:avLst/>
          </a:prstGeom>
          <a:noFill/>
        </p:spPr>
        <p:txBody>
          <a:bodyPr wrap="square" lIns="0" rIns="0" tIns="0" bIns="0">
            <a:noAutofit/>
          </a:bodyPr>
          <a:lstStyle/>
          <a:p>
            <a:pPr algn="l"/>
            <a:r>
              <a:rPr sz="800" b="0" i="0">
                <a:solidFill>
                  <a:srgbClr val="000000"/>
                </a:solidFill>
                <a:latin typeface="Calibri"/>
              </a:rPr>
              <a:t>Prepared by Nitesh Roopa CA, Managing Partner, ProfitPulse, Profit-Pulse.com.au</a:t>
            </a:r>
          </a:p>
        </p:txBody>
      </p:sp>
      <p:sp>
        <p:nvSpPr>
          <p:cNvPr id="7" name="TextBox 6"/>
          <p:cNvSpPr txBox="1"/>
          <p:nvPr/>
        </p:nvSpPr>
        <p:spPr>
          <a:xfrm>
            <a:off x="8686800" y="6446520"/>
            <a:ext cx="3291840" cy="274320"/>
          </a:xfrm>
          <a:prstGeom prst="rect">
            <a:avLst/>
          </a:prstGeom>
          <a:noFill/>
        </p:spPr>
        <p:txBody>
          <a:bodyPr wrap="square" lIns="0" rIns="0" tIns="0" bIns="0">
            <a:noAutofit/>
          </a:bodyPr>
          <a:lstStyle/>
          <a:p>
            <a:pPr algn="r"/>
            <a:r>
              <a:rPr sz="800" b="0" i="0">
                <a:solidFill>
                  <a:srgbClr val="000000"/>
                </a:solidFill>
                <a:latin typeface="Calibri"/>
              </a:rPr>
              <a:t>13 Aug 2026</a:t>
            </a:r>
          </a:p>
        </p:txBody>
      </p:sp>
      <p:sp>
        <p:nvSpPr>
          <p:cNvPr id="8" name="TextBox 7"/>
          <p:cNvSpPr txBox="1"/>
          <p:nvPr/>
        </p:nvSpPr>
        <p:spPr>
          <a:xfrm>
            <a:off x="320040" y="1097280"/>
            <a:ext cx="6949440" cy="548640"/>
          </a:xfrm>
          <a:prstGeom prst="rect">
            <a:avLst/>
          </a:prstGeom>
          <a:noFill/>
        </p:spPr>
        <p:txBody>
          <a:bodyPr wrap="square" lIns="0" rIns="0" tIns="0" bIns="0">
            <a:noAutofit/>
          </a:bodyPr>
          <a:lstStyle/>
          <a:p>
            <a:pPr algn="l"/>
            <a:r>
              <a:rPr sz="2200" b="1" i="0">
                <a:solidFill>
                  <a:srgbClr val="000000"/>
                </a:solidFill>
                <a:latin typeface="Cambria"/>
              </a:rPr>
              <a:t>Product and Service Line Profitability</a:t>
            </a:r>
          </a:p>
        </p:txBody>
      </p:sp>
      <p:sp>
        <p:nvSpPr>
          <p:cNvPr id="9" name="TextBox 8"/>
          <p:cNvSpPr txBox="1"/>
          <p:nvPr/>
        </p:nvSpPr>
        <p:spPr>
          <a:xfrm>
            <a:off x="320040" y="1664208"/>
            <a:ext cx="6949440" cy="365760"/>
          </a:xfrm>
          <a:prstGeom prst="rect">
            <a:avLst/>
          </a:prstGeom>
          <a:noFill/>
        </p:spPr>
        <p:txBody>
          <a:bodyPr wrap="square" lIns="0" rIns="0" tIns="0" bIns="0">
            <a:noAutofit/>
          </a:bodyPr>
          <a:lstStyle/>
          <a:p>
            <a:pPr algn="l"/>
            <a:r>
              <a:rPr sz="1600" b="1" i="0">
                <a:solidFill>
                  <a:srgbClr val="01A296"/>
                </a:solidFill>
                <a:latin typeface="Calibri"/>
              </a:rPr>
              <a:t>$3,950</a:t>
            </a:r>
            <a:r>
              <a:rPr sz="1200" b="0" i="0">
                <a:solidFill>
                  <a:srgbClr val="000000"/>
                </a:solidFill>
                <a:latin typeface="Calibri"/>
              </a:rPr>
              <a:t>   one off</a:t>
            </a:r>
          </a:p>
        </p:txBody>
      </p:sp>
      <p:sp>
        <p:nvSpPr>
          <p:cNvPr id="10" name="TextBox 9"/>
          <p:cNvSpPr txBox="1"/>
          <p:nvPr/>
        </p:nvSpPr>
        <p:spPr>
          <a:xfrm>
            <a:off x="320040" y="2084831"/>
            <a:ext cx="6949440" cy="594360"/>
          </a:xfrm>
          <a:prstGeom prst="rect">
            <a:avLst/>
          </a:prstGeom>
          <a:noFill/>
        </p:spPr>
        <p:txBody>
          <a:bodyPr wrap="square" lIns="0" rIns="0" tIns="0" bIns="0">
            <a:noAutofit/>
          </a:bodyPr>
          <a:lstStyle/>
          <a:p>
            <a:pPr algn="l">
              <a:lnSpc>
                <a:spcPct val="120000"/>
              </a:lnSpc>
            </a:pPr>
            <a:r>
              <a:rPr sz="1100" b="0" i="0">
                <a:solidFill>
                  <a:srgbClr val="000000"/>
                </a:solidFill>
                <a:latin typeface="Calibri"/>
              </a:rPr>
              <a:t>A three week project ranking every product line by gross margin, contribution margin and operational drag, so growth capital and shelf space go to the lines that actually earn it.</a:t>
            </a:r>
          </a:p>
        </p:txBody>
      </p:sp>
      <p:sp>
        <p:nvSpPr>
          <p:cNvPr id="11" name="Rectangle 10"/>
          <p:cNvSpPr/>
          <p:nvPr/>
        </p:nvSpPr>
        <p:spPr>
          <a:xfrm>
            <a:off x="320040" y="2880360"/>
            <a:ext cx="6949440" cy="1417320"/>
          </a:xfrm>
          <a:prstGeom prst="rect">
            <a:avLst/>
          </a:prstGeom>
          <a:solidFill>
            <a:srgbClr val="000000"/>
          </a:solidFill>
          <a:ln>
            <a:noFill/>
          </a:ln>
          <a:effectLst/>
        </p:spPr>
        <p:txBody>
          <a:bodyPr rtlCol="0" anchor="ctr"/>
          <a:lstStyle/>
          <a:p>
            <a:pPr algn="ctr"/>
          </a:p>
        </p:txBody>
      </p:sp>
      <p:sp>
        <p:nvSpPr>
          <p:cNvPr id="12" name="Rectangle 11"/>
          <p:cNvSpPr/>
          <p:nvPr/>
        </p:nvSpPr>
        <p:spPr>
          <a:xfrm>
            <a:off x="320040" y="2880360"/>
            <a:ext cx="54864" cy="1417320"/>
          </a:xfrm>
          <a:prstGeom prst="rect">
            <a:avLst/>
          </a:prstGeom>
          <a:solidFill>
            <a:srgbClr val="01A296"/>
          </a:solidFill>
          <a:ln>
            <a:noFill/>
          </a:ln>
          <a:effectLst/>
        </p:spPr>
        <p:txBody>
          <a:bodyPr rtlCol="0" anchor="ctr"/>
          <a:lstStyle/>
          <a:p>
            <a:pPr algn="ctr"/>
          </a:p>
        </p:txBody>
      </p:sp>
      <p:sp>
        <p:nvSpPr>
          <p:cNvPr id="13" name="TextBox 12"/>
          <p:cNvSpPr txBox="1"/>
          <p:nvPr/>
        </p:nvSpPr>
        <p:spPr>
          <a:xfrm>
            <a:off x="521208" y="3035808"/>
            <a:ext cx="6583680" cy="320040"/>
          </a:xfrm>
          <a:prstGeom prst="rect">
            <a:avLst/>
          </a:prstGeom>
          <a:noFill/>
        </p:spPr>
        <p:txBody>
          <a:bodyPr wrap="square" lIns="0" rIns="0" tIns="0" bIns="0">
            <a:noAutofit/>
          </a:bodyPr>
          <a:lstStyle/>
          <a:p>
            <a:pPr algn="l"/>
            <a:r>
              <a:rPr sz="1300" b="1" i="0">
                <a:solidFill>
                  <a:srgbClr val="F8C806"/>
                </a:solidFill>
                <a:latin typeface="Calibri"/>
              </a:rPr>
              <a:t>Step one, answer a few quick questions</a:t>
            </a:r>
          </a:p>
        </p:txBody>
      </p:sp>
      <p:sp>
        <p:nvSpPr>
          <p:cNvPr id="14" name="TextBox 13"/>
          <p:cNvSpPr txBox="1"/>
          <p:nvPr/>
        </p:nvSpPr>
        <p:spPr>
          <a:xfrm>
            <a:off x="521208" y="3364992"/>
            <a:ext cx="6583680" cy="320040"/>
          </a:xfrm>
          <a:prstGeom prst="rect">
            <a:avLst/>
          </a:prstGeom>
          <a:noFill/>
        </p:spPr>
        <p:txBody>
          <a:bodyPr wrap="square" lIns="0" rIns="0" tIns="0" bIns="0">
            <a:noAutofit/>
          </a:bodyPr>
          <a:lstStyle/>
          <a:p>
            <a:pPr algn="l"/>
            <a:r>
              <a:rPr sz="1100" b="0" i="0">
                <a:solidFill>
                  <a:srgbClr val="E6E5DE"/>
                </a:solidFill>
                <a:latin typeface="Calibri"/>
              </a:rPr>
              <a:t>See the solutions matched to your size and industry.</a:t>
            </a:r>
          </a:p>
        </p:txBody>
      </p:sp>
      <p:sp>
        <p:nvSpPr>
          <p:cNvPr id="15" name="TextBox 14"/>
          <p:cNvSpPr txBox="1"/>
          <p:nvPr/>
        </p:nvSpPr>
        <p:spPr>
          <a:xfrm>
            <a:off x="521208" y="3703320"/>
            <a:ext cx="6583680" cy="274320"/>
          </a:xfrm>
          <a:prstGeom prst="rect">
            <a:avLst/>
          </a:prstGeom>
          <a:noFill/>
        </p:spPr>
        <p:txBody>
          <a:bodyPr wrap="square" lIns="0" rIns="0" tIns="0" bIns="0">
            <a:spAutoFit/>
          </a:bodyPr>
          <a:lstStyle/>
          <a:p>
            <a:pPr algn="l"/>
            <a:r>
              <a:rPr sz="1200" b="1">
                <a:solidFill>
                  <a:srgbClr val="01A296"/>
                </a:solidFill>
                <a:latin typeface="Calibri"/>
                <a:hlinkClick r:id="rId2"/>
              </a:rPr>
              <a:t>profit-pulse.com.au/services/find-your-fit</a:t>
            </a:r>
          </a:p>
        </p:txBody>
      </p:sp>
      <p:sp>
        <p:nvSpPr>
          <p:cNvPr id="16" name="TextBox 15"/>
          <p:cNvSpPr txBox="1"/>
          <p:nvPr/>
        </p:nvSpPr>
        <p:spPr>
          <a:xfrm>
            <a:off x="521208" y="4023360"/>
            <a:ext cx="6583680" cy="274320"/>
          </a:xfrm>
          <a:prstGeom prst="rect">
            <a:avLst/>
          </a:prstGeom>
          <a:noFill/>
        </p:spPr>
        <p:txBody>
          <a:bodyPr wrap="square" lIns="0" rIns="0" tIns="0" bIns="0">
            <a:spAutoFit/>
          </a:bodyPr>
          <a:lstStyle/>
          <a:p>
            <a:pPr algn="l"/>
            <a:r>
              <a:rPr sz="1200" b="1">
                <a:solidFill>
                  <a:srgbClr val="F6A102"/>
                </a:solidFill>
                <a:latin typeface="Calibri"/>
                <a:hlinkClick r:id="rId3"/>
              </a:rPr>
              <a:t>Purchase the suggested product now to get started</a:t>
            </a:r>
          </a:p>
        </p:txBody>
      </p:sp>
      <p:sp>
        <p:nvSpPr>
          <p:cNvPr id="17" name="TextBox 16"/>
          <p:cNvSpPr txBox="1"/>
          <p:nvPr/>
        </p:nvSpPr>
        <p:spPr>
          <a:xfrm>
            <a:off x="320040" y="4526280"/>
            <a:ext cx="6949440" cy="274320"/>
          </a:xfrm>
          <a:prstGeom prst="rect">
            <a:avLst/>
          </a:prstGeom>
          <a:noFill/>
        </p:spPr>
        <p:txBody>
          <a:bodyPr wrap="square" lIns="0" rIns="0" tIns="0" bIns="0">
            <a:noAutofit/>
          </a:bodyPr>
          <a:lstStyle/>
          <a:p>
            <a:pPr algn="l"/>
            <a:r>
              <a:rPr sz="1100" b="0" i="0">
                <a:solidFill>
                  <a:srgbClr val="000000"/>
                </a:solidFill>
                <a:latin typeface="Calibri"/>
              </a:rPr>
              <a:t>Prefer a conversation first?</a:t>
            </a:r>
          </a:p>
        </p:txBody>
      </p:sp>
      <p:sp>
        <p:nvSpPr>
          <p:cNvPr id="18" name="TextBox 17"/>
          <p:cNvSpPr txBox="1"/>
          <p:nvPr/>
        </p:nvSpPr>
        <p:spPr>
          <a:xfrm>
            <a:off x="320040" y="4828032"/>
            <a:ext cx="6949440" cy="274320"/>
          </a:xfrm>
          <a:prstGeom prst="rect">
            <a:avLst/>
          </a:prstGeom>
          <a:noFill/>
        </p:spPr>
        <p:txBody>
          <a:bodyPr wrap="square" lIns="0" rIns="0" tIns="0" bIns="0">
            <a:spAutoFit/>
          </a:bodyPr>
          <a:lstStyle/>
          <a:p>
            <a:pPr algn="l"/>
            <a:r>
              <a:rPr sz="1100" b="1">
                <a:solidFill>
                  <a:srgbClr val="01A296"/>
                </a:solidFill>
                <a:latin typeface="Calibri"/>
                <a:hlinkClick r:id="rId4"/>
              </a:rPr>
              <a:t>Book a complimentary discovery call</a:t>
            </a:r>
          </a:p>
        </p:txBody>
      </p:sp>
      <p:sp>
        <p:nvSpPr>
          <p:cNvPr id="19" name="Rectangle 18"/>
          <p:cNvSpPr/>
          <p:nvPr/>
        </p:nvSpPr>
        <p:spPr>
          <a:xfrm>
            <a:off x="320040" y="5440680"/>
            <a:ext cx="6949440" cy="15240"/>
          </a:xfrm>
          <a:prstGeom prst="rect">
            <a:avLst/>
          </a:prstGeom>
          <a:solidFill>
            <a:srgbClr val="01A296"/>
          </a:solidFill>
          <a:ln>
            <a:noFill/>
          </a:ln>
          <a:effectLst/>
        </p:spPr>
        <p:txBody>
          <a:bodyPr rtlCol="0" anchor="ctr"/>
          <a:lstStyle/>
          <a:p>
            <a:pPr algn="ctr"/>
          </a:p>
        </p:txBody>
      </p:sp>
      <p:sp>
        <p:nvSpPr>
          <p:cNvPr id="20" name="TextBox 19"/>
          <p:cNvSpPr txBox="1"/>
          <p:nvPr/>
        </p:nvSpPr>
        <p:spPr>
          <a:xfrm>
            <a:off x="320040" y="5596128"/>
            <a:ext cx="6949440" cy="548640"/>
          </a:xfrm>
          <a:prstGeom prst="rect">
            <a:avLst/>
          </a:prstGeom>
          <a:noFill/>
        </p:spPr>
        <p:txBody>
          <a:bodyPr wrap="square" lIns="0" rIns="0" tIns="0" bIns="0">
            <a:noAutofit/>
          </a:bodyPr>
          <a:lstStyle/>
          <a:p>
            <a:pPr algn="l">
              <a:lnSpc>
                <a:spcPct val="125000"/>
              </a:lnSpc>
            </a:pPr>
            <a:r>
              <a:rPr sz="1000" b="0" i="0">
                <a:solidFill>
                  <a:srgbClr val="000000"/>
                </a:solidFill>
                <a:latin typeface="Calibri"/>
              </a:rPr>
              <a:t>Also considered for al.ive body: </a:t>
            </a:r>
            <a:r>
              <a:rPr sz="1000" b="1" i="0">
                <a:solidFill>
                  <a:srgbClr val="000000"/>
                </a:solidFill>
                <a:latin typeface="Calibri"/>
              </a:rPr>
              <a:t>A5 Capital Allocation Review and B1 Fractional CFO Partnership</a:t>
            </a:r>
          </a:p>
        </p:txBody>
      </p:sp>
      <p:sp>
        <p:nvSpPr>
          <p:cNvPr id="21" name="Rectangle 20"/>
          <p:cNvSpPr/>
          <p:nvPr/>
        </p:nvSpPr>
        <p:spPr>
          <a:xfrm>
            <a:off x="7543800" y="1097280"/>
            <a:ext cx="4297680" cy="5074920"/>
          </a:xfrm>
          <a:prstGeom prst="rect">
            <a:avLst/>
          </a:prstGeom>
          <a:solidFill>
            <a:srgbClr val="000000"/>
          </a:solidFill>
          <a:ln>
            <a:noFill/>
          </a:ln>
          <a:effectLst/>
        </p:spPr>
        <p:txBody>
          <a:bodyPr rtlCol="0" anchor="ctr"/>
          <a:lstStyle/>
          <a:p>
            <a:pPr algn="ctr"/>
          </a:p>
        </p:txBody>
      </p:sp>
      <p:sp>
        <p:nvSpPr>
          <p:cNvPr id="22" name="Rectangle 21"/>
          <p:cNvSpPr/>
          <p:nvPr/>
        </p:nvSpPr>
        <p:spPr>
          <a:xfrm>
            <a:off x="7543800" y="1097280"/>
            <a:ext cx="4297680" cy="50800"/>
          </a:xfrm>
          <a:prstGeom prst="rect">
            <a:avLst/>
          </a:prstGeom>
          <a:solidFill>
            <a:srgbClr val="01A296"/>
          </a:solidFill>
          <a:ln>
            <a:noFill/>
          </a:ln>
          <a:effectLst/>
        </p:spPr>
        <p:txBody>
          <a:bodyPr rtlCol="0" anchor="ctr"/>
          <a:lstStyle/>
          <a:p>
            <a:pPr algn="ctr"/>
          </a:p>
        </p:txBody>
      </p:sp>
      <p:sp>
        <p:nvSpPr>
          <p:cNvPr id="23" name="TextBox 22"/>
          <p:cNvSpPr txBox="1"/>
          <p:nvPr/>
        </p:nvSpPr>
        <p:spPr>
          <a:xfrm>
            <a:off x="7772400" y="1325880"/>
            <a:ext cx="3840480" cy="365760"/>
          </a:xfrm>
          <a:prstGeom prst="rect">
            <a:avLst/>
          </a:prstGeom>
          <a:noFill/>
        </p:spPr>
        <p:txBody>
          <a:bodyPr wrap="square" lIns="0" rIns="0" tIns="0" bIns="0">
            <a:noAutofit/>
          </a:bodyPr>
          <a:lstStyle/>
          <a:p>
            <a:pPr algn="l"/>
            <a:r>
              <a:rPr sz="1700" b="1" i="0">
                <a:solidFill>
                  <a:srgbClr val="F8C806"/>
                </a:solidFill>
                <a:latin typeface="Cambria"/>
              </a:rPr>
              <a:t>Nitesh Roopa</a:t>
            </a:r>
          </a:p>
        </p:txBody>
      </p:sp>
      <p:sp>
        <p:nvSpPr>
          <p:cNvPr id="24" name="TextBox 23"/>
          <p:cNvSpPr txBox="1"/>
          <p:nvPr/>
        </p:nvSpPr>
        <p:spPr>
          <a:xfrm>
            <a:off x="7772400" y="1691640"/>
            <a:ext cx="3840480" cy="274320"/>
          </a:xfrm>
          <a:prstGeom prst="rect">
            <a:avLst/>
          </a:prstGeom>
          <a:noFill/>
        </p:spPr>
        <p:txBody>
          <a:bodyPr wrap="square" lIns="0" rIns="0" tIns="0" bIns="0">
            <a:noAutofit/>
          </a:bodyPr>
          <a:lstStyle/>
          <a:p>
            <a:pPr algn="l"/>
            <a:r>
              <a:rPr sz="1100" b="0" i="0">
                <a:solidFill>
                  <a:srgbClr val="FFFFFF"/>
                </a:solidFill>
                <a:latin typeface="Calibri"/>
              </a:rPr>
              <a:t>CA, Managing Partner, ProfitPulse</a:t>
            </a:r>
          </a:p>
        </p:txBody>
      </p:sp>
      <p:sp>
        <p:nvSpPr>
          <p:cNvPr id="25" name="TextBox 24"/>
          <p:cNvSpPr txBox="1"/>
          <p:nvPr/>
        </p:nvSpPr>
        <p:spPr>
          <a:xfrm>
            <a:off x="7772400" y="2240280"/>
            <a:ext cx="3840480" cy="2103120"/>
          </a:xfrm>
          <a:prstGeom prst="rect">
            <a:avLst/>
          </a:prstGeom>
          <a:noFill/>
        </p:spPr>
        <p:txBody>
          <a:bodyPr wrap="square" lIns="0" rIns="0" tIns="0" bIns="0">
            <a:noAutofit/>
          </a:bodyPr>
          <a:lstStyle/>
          <a:p>
            <a:pPr algn="l">
              <a:lnSpc>
                <a:spcPct val="155000"/>
              </a:lnSpc>
            </a:pPr>
            <a:r>
              <a:rPr sz="1050" b="0" i="0">
                <a:solidFill>
                  <a:srgbClr val="E6E5DE"/>
                </a:solidFill>
                <a:latin typeface="Calibri"/>
              </a:rPr>
              <a:t>•  16 years across 4 countries of practice</a:t>
            </a:r>
          </a:p>
          <a:p>
            <a:pPr algn="l">
              <a:lnSpc>
                <a:spcPct val="155000"/>
              </a:lnSpc>
            </a:pPr>
            <a:r>
              <a:rPr sz="1050" b="0" i="0">
                <a:solidFill>
                  <a:srgbClr val="E6E5DE"/>
                </a:solidFill>
                <a:latin typeface="Calibri"/>
              </a:rPr>
              <a:t>•  52 deals executed and managed</a:t>
            </a:r>
          </a:p>
          <a:p>
            <a:pPr algn="l">
              <a:lnSpc>
                <a:spcPct val="155000"/>
              </a:lnSpc>
            </a:pPr>
            <a:r>
              <a:rPr sz="1050" b="0" i="0">
                <a:solidFill>
                  <a:srgbClr val="E6E5DE"/>
                </a:solidFill>
                <a:latin typeface="Calibri"/>
              </a:rPr>
              <a:t>•  Largest single deal, USD 1.3 billion, Cahora Bassa Hydro, Mozambique</a:t>
            </a:r>
          </a:p>
          <a:p>
            <a:pPr algn="l">
              <a:lnSpc>
                <a:spcPct val="155000"/>
              </a:lnSpc>
            </a:pPr>
            <a:r>
              <a:rPr sz="1050" b="0" i="0">
                <a:solidFill>
                  <a:srgbClr val="E6E5DE"/>
                </a:solidFill>
                <a:latin typeface="Calibri"/>
              </a:rPr>
              <a:t>•  Finance and Commercial Lead, AUD 10 billion Gympie Road Bypass Tunnel, QIC</a:t>
            </a:r>
          </a:p>
        </p:txBody>
      </p:sp>
      <p:sp>
        <p:nvSpPr>
          <p:cNvPr id="26" name="Rectangle 25"/>
          <p:cNvSpPr/>
          <p:nvPr/>
        </p:nvSpPr>
        <p:spPr>
          <a:xfrm>
            <a:off x="7772400" y="4160520"/>
            <a:ext cx="3840480" cy="12700"/>
          </a:xfrm>
          <a:prstGeom prst="rect">
            <a:avLst/>
          </a:prstGeom>
          <a:solidFill>
            <a:srgbClr val="01A296"/>
          </a:solidFill>
          <a:ln>
            <a:noFill/>
          </a:ln>
          <a:effectLst/>
        </p:spPr>
        <p:txBody>
          <a:bodyPr rtlCol="0" anchor="ctr"/>
          <a:lstStyle/>
          <a:p>
            <a:pPr algn="ctr"/>
          </a:p>
        </p:txBody>
      </p:sp>
      <p:sp>
        <p:nvSpPr>
          <p:cNvPr id="27" name="TextBox 26"/>
          <p:cNvSpPr txBox="1"/>
          <p:nvPr/>
        </p:nvSpPr>
        <p:spPr>
          <a:xfrm>
            <a:off x="7772400" y="4315968"/>
            <a:ext cx="3840480" cy="1371600"/>
          </a:xfrm>
          <a:prstGeom prst="rect">
            <a:avLst/>
          </a:prstGeom>
          <a:noFill/>
        </p:spPr>
        <p:txBody>
          <a:bodyPr wrap="square" lIns="0" rIns="0" tIns="0" bIns="0">
            <a:noAutofit/>
          </a:bodyPr>
          <a:lstStyle/>
          <a:p>
            <a:pPr algn="l">
              <a:lnSpc>
                <a:spcPct val="140000"/>
              </a:lnSpc>
            </a:pPr>
            <a:r>
              <a:rPr sz="1050" b="0" i="0">
                <a:solidFill>
                  <a:srgbClr val="01A296"/>
                </a:solidFill>
                <a:latin typeface="Calibri"/>
              </a:rPr>
              <a:t>Profit-Pulse.com.au</a:t>
            </a:r>
          </a:p>
          <a:p>
            <a:pPr algn="l">
              <a:lnSpc>
                <a:spcPct val="140000"/>
              </a:lnSpc>
            </a:pPr>
            <a:r>
              <a:rPr sz="1050" b="0" i="0">
                <a:solidFill>
                  <a:srgbClr val="01A296"/>
                </a:solidFill>
                <a:latin typeface="Calibri"/>
              </a:rPr>
              <a:t>Nitesh@Profit-Pulse.com.au</a:t>
            </a:r>
          </a:p>
          <a:p>
            <a:pPr algn="l">
              <a:lnSpc>
                <a:spcPct val="140000"/>
              </a:lnSpc>
            </a:pPr>
            <a:r>
              <a:rPr sz="1050" b="0" i="0">
                <a:solidFill>
                  <a:srgbClr val="E6E5DE"/>
                </a:solidFill>
                <a:latin typeface="Calibri"/>
              </a:rPr>
              <a:t>+61 411 876 267</a:t>
            </a:r>
          </a:p>
          <a:p>
            <a:pPr algn="l">
              <a:lnSpc>
                <a:spcPct val="140000"/>
              </a:lnSpc>
            </a:pPr>
            <a:r>
              <a:rPr sz="1050" b="0" i="0">
                <a:solidFill>
                  <a:srgbClr val="E6E5DE"/>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1A296"/>
      </a:hlink>
      <a:folHlink>
        <a:srgbClr val="01A29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