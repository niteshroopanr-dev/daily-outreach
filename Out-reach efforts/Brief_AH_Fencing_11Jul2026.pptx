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aFa7sMedigKQ81ibEz3ks0i"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310896"/>
            <a:ext cx="7315200" cy="365760"/>
          </a:xfrm>
          <a:prstGeom prst="rect">
            <a:avLst/>
          </a:prstGeom>
          <a:noFill/>
        </p:spPr>
        <p:txBody>
          <a:bodyPr wrap="square" anchor="t"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5486400" y="274320"/>
            <a:ext cx="6400800" cy="457200"/>
          </a:xfrm>
          <a:prstGeom prst="rect">
            <a:avLst/>
          </a:prstGeom>
          <a:noFill/>
        </p:spPr>
        <p:txBody>
          <a:bodyPr wrap="square" anchor="t" lIns="0" rIns="0" tIns="0" bIns="0">
            <a:noAutofit/>
          </a:bodyPr>
          <a:lstStyle/>
          <a:p>
            <a:pPr algn="r"/>
            <a:r>
              <a:rPr sz="1300" b="1" i="0">
                <a:solidFill>
                  <a:srgbClr val="FFFFFF"/>
                </a:solidFill>
                <a:latin typeface="Calibri"/>
              </a:rPr>
              <a:t>PROFITPULSE</a:t>
            </a:r>
          </a:p>
        </p:txBody>
      </p:sp>
      <p:sp>
        <p:nvSpPr>
          <p:cNvPr id="6" name="TextBox 5"/>
          <p:cNvSpPr txBox="1"/>
          <p:nvPr/>
        </p:nvSpPr>
        <p:spPr>
          <a:xfrm>
            <a:off x="320040" y="6473952"/>
            <a:ext cx="11521440" cy="274320"/>
          </a:xfrm>
          <a:prstGeom prst="rect">
            <a:avLst/>
          </a:prstGeom>
          <a:noFill/>
        </p:spPr>
        <p:txBody>
          <a:bodyPr wrap="square" anchor="t" lIns="0" rIns="0" tIns="0" bIns="0">
            <a:noAutofit/>
          </a:bodyPr>
          <a:lstStyle/>
          <a:p>
            <a:pPr algn="l"/>
            <a:r>
              <a:rPr sz="800" b="0" i="0">
                <a:solidFill>
                  <a:srgbClr val="777777"/>
                </a:solidFill>
                <a:latin typeface="Calibri"/>
              </a:rPr>
              <a:t>Prepared by Nitesh Roopa CA, Managing Partner, ProfitPulse, Profit-Pulse.com.au        11 Jul 2026</a:t>
            </a:r>
          </a:p>
        </p:txBody>
      </p:sp>
      <p:sp>
        <p:nvSpPr>
          <p:cNvPr id="7" name="TextBox 6"/>
          <p:cNvSpPr txBox="1"/>
          <p:nvPr/>
        </p:nvSpPr>
        <p:spPr>
          <a:xfrm>
            <a:off x="320040" y="1078992"/>
            <a:ext cx="8229600" cy="685800"/>
          </a:xfrm>
          <a:prstGeom prst="rect">
            <a:avLst/>
          </a:prstGeom>
          <a:noFill/>
        </p:spPr>
        <p:txBody>
          <a:bodyPr wrap="square" anchor="t" lIns="0" rIns="0" tIns="0" bIns="0">
            <a:noAutofit/>
          </a:bodyPr>
          <a:lstStyle/>
          <a:p>
            <a:pPr algn="l"/>
            <a:r>
              <a:rPr sz="4200" b="1" i="0">
                <a:solidFill>
                  <a:srgbClr val="000000"/>
                </a:solidFill>
                <a:latin typeface="Georgia"/>
              </a:rPr>
              <a:t>AH Fencing</a:t>
            </a:r>
          </a:p>
        </p:txBody>
      </p:sp>
      <p:sp>
        <p:nvSpPr>
          <p:cNvPr id="8" name="TextBox 7"/>
          <p:cNvSpPr txBox="1"/>
          <p:nvPr/>
        </p:nvSpPr>
        <p:spPr>
          <a:xfrm>
            <a:off x="320040" y="1783080"/>
            <a:ext cx="10058400" cy="320040"/>
          </a:xfrm>
          <a:prstGeom prst="rect">
            <a:avLst/>
          </a:prstGeom>
          <a:noFill/>
        </p:spPr>
        <p:txBody>
          <a:bodyPr wrap="square" anchor="t" lIns="0" rIns="0" tIns="0" bIns="0">
            <a:noAutofit/>
          </a:bodyPr>
          <a:lstStyle/>
          <a:p>
            <a:pPr algn="l"/>
            <a:r>
              <a:rPr sz="1300" b="0" i="0">
                <a:solidFill>
                  <a:srgbClr val="333333"/>
                </a:solidFill>
                <a:latin typeface="Calibri"/>
              </a:rPr>
              <a:t>Commercial and security fencing contractor, Northgate, Brisbane QLD</a:t>
            </a:r>
          </a:p>
        </p:txBody>
      </p:sp>
      <p:sp>
        <p:nvSpPr>
          <p:cNvPr id="9" name="Rectangle 8"/>
          <p:cNvSpPr/>
          <p:nvPr/>
        </p:nvSpPr>
        <p:spPr>
          <a:xfrm>
            <a:off x="320040" y="2240280"/>
            <a:ext cx="2103120" cy="1463040"/>
          </a:xfrm>
          <a:prstGeom prst="rect">
            <a:avLst/>
          </a:prstGeom>
          <a:solidFill>
            <a:srgbClr val="000000"/>
          </a:solidFill>
          <a:ln>
            <a:noFill/>
          </a:ln>
          <a:effectLst/>
        </p:spPr>
        <p:txBody>
          <a:bodyPr rtlCol="0" anchor="ctr"/>
          <a:lstStyle/>
          <a:p>
            <a:pPr algn="ctr"/>
          </a:p>
        </p:txBody>
      </p:sp>
      <p:sp>
        <p:nvSpPr>
          <p:cNvPr id="10" name="Rectangle 9"/>
          <p:cNvSpPr/>
          <p:nvPr/>
        </p:nvSpPr>
        <p:spPr>
          <a:xfrm>
            <a:off x="320040" y="2240280"/>
            <a:ext cx="2103120" cy="38100"/>
          </a:xfrm>
          <a:prstGeom prst="rect">
            <a:avLst/>
          </a:prstGeom>
          <a:solidFill>
            <a:srgbClr val="01A296"/>
          </a:solidFill>
          <a:ln>
            <a:noFill/>
          </a:ln>
          <a:effectLst/>
        </p:spPr>
        <p:txBody>
          <a:bodyPr rtlCol="0" anchor="ctr"/>
          <a:lstStyle/>
          <a:p>
            <a:pPr algn="ctr"/>
          </a:p>
        </p:txBody>
      </p:sp>
      <p:sp>
        <p:nvSpPr>
          <p:cNvPr id="11" name="TextBox 10"/>
          <p:cNvSpPr txBox="1"/>
          <p:nvPr/>
        </p:nvSpPr>
        <p:spPr>
          <a:xfrm>
            <a:off x="457200" y="2386584"/>
            <a:ext cx="1828800" cy="502920"/>
          </a:xfrm>
          <a:prstGeom prst="rect">
            <a:avLst/>
          </a:prstGeom>
          <a:noFill/>
        </p:spPr>
        <p:txBody>
          <a:bodyPr wrap="square" anchor="t" lIns="0" rIns="0" tIns="0" bIns="0">
            <a:noAutofit/>
          </a:bodyPr>
          <a:lstStyle/>
          <a:p>
            <a:pPr algn="l"/>
            <a:r>
              <a:rPr sz="2800" b="1" i="0">
                <a:solidFill>
                  <a:srgbClr val="F8C806"/>
                </a:solidFill>
                <a:latin typeface="Calibri"/>
              </a:rPr>
              <a:t>$16.2M</a:t>
            </a:r>
          </a:p>
        </p:txBody>
      </p:sp>
      <p:sp>
        <p:nvSpPr>
          <p:cNvPr id="12" name="TextBox 11"/>
          <p:cNvSpPr txBox="1"/>
          <p:nvPr/>
        </p:nvSpPr>
        <p:spPr>
          <a:xfrm>
            <a:off x="457200" y="2916936"/>
            <a:ext cx="1828800" cy="457200"/>
          </a:xfrm>
          <a:prstGeom prst="rect">
            <a:avLst/>
          </a:prstGeom>
          <a:noFill/>
        </p:spPr>
        <p:txBody>
          <a:bodyPr wrap="square" anchor="t" lIns="0" rIns="0" tIns="0" bIns="0">
            <a:noAutofit/>
          </a:bodyPr>
          <a:lstStyle/>
          <a:p>
            <a:pPr algn="l">
              <a:lnSpc>
                <a:spcPct val="100000"/>
              </a:lnSpc>
              <a:spcAft>
                <a:spcPts val="0"/>
              </a:spcAft>
            </a:pPr>
            <a:r>
              <a:rPr sz="1100" b="0" i="0">
                <a:solidFill>
                  <a:srgbClr val="E6E5DE"/>
                </a:solidFill>
                <a:latin typeface="Calibri"/>
              </a:rPr>
              <a:t>FY2025</a:t>
            </a:r>
          </a:p>
          <a:p>
            <a:pPr algn="l">
              <a:lnSpc>
                <a:spcPct val="100000"/>
              </a:lnSpc>
              <a:spcAft>
                <a:spcPts val="0"/>
              </a:spcAft>
            </a:pPr>
            <a:r>
              <a:rPr sz="1100" b="0" i="0">
                <a:solidFill>
                  <a:srgbClr val="E6E5DE"/>
                </a:solidFill>
                <a:latin typeface="Calibri"/>
              </a:rPr>
              <a:t>revenue</a:t>
            </a:r>
          </a:p>
        </p:txBody>
      </p:sp>
      <p:sp>
        <p:nvSpPr>
          <p:cNvPr id="13" name="TextBox 12"/>
          <p:cNvSpPr txBox="1"/>
          <p:nvPr/>
        </p:nvSpPr>
        <p:spPr>
          <a:xfrm>
            <a:off x="457200" y="3447288"/>
            <a:ext cx="1828800" cy="219456"/>
          </a:xfrm>
          <a:prstGeom prst="rect">
            <a:avLst/>
          </a:prstGeom>
          <a:noFill/>
        </p:spPr>
        <p:txBody>
          <a:bodyPr wrap="square" anchor="t" lIns="0" rIns="0" tIns="0" bIns="0">
            <a:noAutofit/>
          </a:bodyPr>
          <a:lstStyle/>
          <a:p>
            <a:pPr algn="l"/>
            <a:r>
              <a:rPr sz="700" b="0" i="1">
                <a:solidFill>
                  <a:srgbClr val="9A9A9A"/>
                </a:solidFill>
                <a:latin typeface="Calibri"/>
              </a:rPr>
              <a:t>SmartCompany, 13 Nov 2025</a:t>
            </a:r>
          </a:p>
        </p:txBody>
      </p:sp>
      <p:sp>
        <p:nvSpPr>
          <p:cNvPr id="14" name="Rectangle 13"/>
          <p:cNvSpPr/>
          <p:nvPr/>
        </p:nvSpPr>
        <p:spPr>
          <a:xfrm>
            <a:off x="2560320" y="2240280"/>
            <a:ext cx="2103120" cy="1463040"/>
          </a:xfrm>
          <a:prstGeom prst="rect">
            <a:avLst/>
          </a:prstGeom>
          <a:solidFill>
            <a:srgbClr val="000000"/>
          </a:solidFill>
          <a:ln>
            <a:noFill/>
          </a:ln>
          <a:effectLst/>
        </p:spPr>
        <p:txBody>
          <a:bodyPr rtlCol="0" anchor="ctr"/>
          <a:lstStyle/>
          <a:p>
            <a:pPr algn="ctr"/>
          </a:p>
        </p:txBody>
      </p:sp>
      <p:sp>
        <p:nvSpPr>
          <p:cNvPr id="15" name="Rectangle 14"/>
          <p:cNvSpPr/>
          <p:nvPr/>
        </p:nvSpPr>
        <p:spPr>
          <a:xfrm>
            <a:off x="2560320" y="2240280"/>
            <a:ext cx="2103120" cy="38100"/>
          </a:xfrm>
          <a:prstGeom prst="rect">
            <a:avLst/>
          </a:prstGeom>
          <a:solidFill>
            <a:srgbClr val="01A296"/>
          </a:solidFill>
          <a:ln>
            <a:noFill/>
          </a:ln>
          <a:effectLst/>
        </p:spPr>
        <p:txBody>
          <a:bodyPr rtlCol="0" anchor="ctr"/>
          <a:lstStyle/>
          <a:p>
            <a:pPr algn="ctr"/>
          </a:p>
        </p:txBody>
      </p:sp>
      <p:sp>
        <p:nvSpPr>
          <p:cNvPr id="16" name="TextBox 15"/>
          <p:cNvSpPr txBox="1"/>
          <p:nvPr/>
        </p:nvSpPr>
        <p:spPr>
          <a:xfrm>
            <a:off x="2697480" y="2386584"/>
            <a:ext cx="1828800" cy="502920"/>
          </a:xfrm>
          <a:prstGeom prst="rect">
            <a:avLst/>
          </a:prstGeom>
          <a:noFill/>
        </p:spPr>
        <p:txBody>
          <a:bodyPr wrap="square" anchor="t" lIns="0" rIns="0" tIns="0" bIns="0">
            <a:noAutofit/>
          </a:bodyPr>
          <a:lstStyle/>
          <a:p>
            <a:pPr algn="l"/>
            <a:r>
              <a:rPr sz="2800" b="1" i="0">
                <a:solidFill>
                  <a:srgbClr val="F8C806"/>
                </a:solidFill>
                <a:latin typeface="Calibri"/>
              </a:rPr>
              <a:t>55%</a:t>
            </a:r>
          </a:p>
        </p:txBody>
      </p:sp>
      <p:sp>
        <p:nvSpPr>
          <p:cNvPr id="17" name="TextBox 16"/>
          <p:cNvSpPr txBox="1"/>
          <p:nvPr/>
        </p:nvSpPr>
        <p:spPr>
          <a:xfrm>
            <a:off x="2697480" y="2916936"/>
            <a:ext cx="1828800" cy="457200"/>
          </a:xfrm>
          <a:prstGeom prst="rect">
            <a:avLst/>
          </a:prstGeom>
          <a:noFill/>
        </p:spPr>
        <p:txBody>
          <a:bodyPr wrap="square" anchor="t" lIns="0" rIns="0" tIns="0" bIns="0">
            <a:noAutofit/>
          </a:bodyPr>
          <a:lstStyle/>
          <a:p>
            <a:pPr algn="l">
              <a:lnSpc>
                <a:spcPct val="100000"/>
              </a:lnSpc>
              <a:spcAft>
                <a:spcPts val="0"/>
              </a:spcAft>
            </a:pPr>
            <a:r>
              <a:rPr sz="1100" b="0" i="0">
                <a:solidFill>
                  <a:srgbClr val="E6E5DE"/>
                </a:solidFill>
                <a:latin typeface="Calibri"/>
              </a:rPr>
              <a:t>Revenue growth,</a:t>
            </a:r>
          </a:p>
          <a:p>
            <a:pPr algn="l">
              <a:lnSpc>
                <a:spcPct val="100000"/>
              </a:lnSpc>
              <a:spcAft>
                <a:spcPts val="0"/>
              </a:spcAft>
            </a:pPr>
            <a:r>
              <a:rPr sz="1100" b="0" i="0">
                <a:solidFill>
                  <a:srgbClr val="E6E5DE"/>
                </a:solidFill>
                <a:latin typeface="Calibri"/>
              </a:rPr>
              <a:t>year on year</a:t>
            </a:r>
          </a:p>
        </p:txBody>
      </p:sp>
      <p:sp>
        <p:nvSpPr>
          <p:cNvPr id="18" name="TextBox 17"/>
          <p:cNvSpPr txBox="1"/>
          <p:nvPr/>
        </p:nvSpPr>
        <p:spPr>
          <a:xfrm>
            <a:off x="2697480" y="3447288"/>
            <a:ext cx="1828800" cy="219456"/>
          </a:xfrm>
          <a:prstGeom prst="rect">
            <a:avLst/>
          </a:prstGeom>
          <a:noFill/>
        </p:spPr>
        <p:txBody>
          <a:bodyPr wrap="square" anchor="t" lIns="0" rIns="0" tIns="0" bIns="0">
            <a:noAutofit/>
          </a:bodyPr>
          <a:lstStyle/>
          <a:p>
            <a:pPr algn="l"/>
            <a:r>
              <a:rPr sz="700" b="0" i="1">
                <a:solidFill>
                  <a:srgbClr val="9A9A9A"/>
                </a:solidFill>
                <a:latin typeface="Calibri"/>
              </a:rPr>
              <a:t>SmartCompany, 13 Nov 2025</a:t>
            </a:r>
          </a:p>
        </p:txBody>
      </p:sp>
      <p:sp>
        <p:nvSpPr>
          <p:cNvPr id="19" name="Rectangle 18"/>
          <p:cNvSpPr/>
          <p:nvPr/>
        </p:nvSpPr>
        <p:spPr>
          <a:xfrm>
            <a:off x="4800600" y="2240280"/>
            <a:ext cx="2103120" cy="1463040"/>
          </a:xfrm>
          <a:prstGeom prst="rect">
            <a:avLst/>
          </a:prstGeom>
          <a:solidFill>
            <a:srgbClr val="000000"/>
          </a:solidFill>
          <a:ln>
            <a:noFill/>
          </a:ln>
          <a:effectLst/>
        </p:spPr>
        <p:txBody>
          <a:bodyPr rtlCol="0" anchor="ctr"/>
          <a:lstStyle/>
          <a:p>
            <a:pPr algn="ctr"/>
          </a:p>
        </p:txBody>
      </p:sp>
      <p:sp>
        <p:nvSpPr>
          <p:cNvPr id="20" name="Rectangle 19"/>
          <p:cNvSpPr/>
          <p:nvPr/>
        </p:nvSpPr>
        <p:spPr>
          <a:xfrm>
            <a:off x="4800600" y="2240280"/>
            <a:ext cx="2103120" cy="38100"/>
          </a:xfrm>
          <a:prstGeom prst="rect">
            <a:avLst/>
          </a:prstGeom>
          <a:solidFill>
            <a:srgbClr val="01A296"/>
          </a:solidFill>
          <a:ln>
            <a:noFill/>
          </a:ln>
          <a:effectLst/>
        </p:spPr>
        <p:txBody>
          <a:bodyPr rtlCol="0" anchor="ctr"/>
          <a:lstStyle/>
          <a:p>
            <a:pPr algn="ctr"/>
          </a:p>
        </p:txBody>
      </p:sp>
      <p:sp>
        <p:nvSpPr>
          <p:cNvPr id="21" name="TextBox 20"/>
          <p:cNvSpPr txBox="1"/>
          <p:nvPr/>
        </p:nvSpPr>
        <p:spPr>
          <a:xfrm>
            <a:off x="4937760" y="2386584"/>
            <a:ext cx="1828800" cy="502920"/>
          </a:xfrm>
          <a:prstGeom prst="rect">
            <a:avLst/>
          </a:prstGeom>
          <a:noFill/>
        </p:spPr>
        <p:txBody>
          <a:bodyPr wrap="square" anchor="t" lIns="0" rIns="0" tIns="0" bIns="0">
            <a:noAutofit/>
          </a:bodyPr>
          <a:lstStyle/>
          <a:p>
            <a:pPr algn="l"/>
            <a:r>
              <a:rPr sz="2800" b="1" i="0">
                <a:solidFill>
                  <a:srgbClr val="F8C806"/>
                </a:solidFill>
                <a:latin typeface="Calibri"/>
              </a:rPr>
              <a:t>50</a:t>
            </a:r>
          </a:p>
        </p:txBody>
      </p:sp>
      <p:sp>
        <p:nvSpPr>
          <p:cNvPr id="22" name="TextBox 21"/>
          <p:cNvSpPr txBox="1"/>
          <p:nvPr/>
        </p:nvSpPr>
        <p:spPr>
          <a:xfrm>
            <a:off x="4937760" y="2916936"/>
            <a:ext cx="1828800" cy="457200"/>
          </a:xfrm>
          <a:prstGeom prst="rect">
            <a:avLst/>
          </a:prstGeom>
          <a:noFill/>
        </p:spPr>
        <p:txBody>
          <a:bodyPr wrap="square" anchor="t" lIns="0" rIns="0" tIns="0" bIns="0">
            <a:noAutofit/>
          </a:bodyPr>
          <a:lstStyle/>
          <a:p>
            <a:pPr algn="l">
              <a:lnSpc>
                <a:spcPct val="100000"/>
              </a:lnSpc>
              <a:spcAft>
                <a:spcPts val="0"/>
              </a:spcAft>
            </a:pPr>
            <a:r>
              <a:rPr sz="1100" b="0" i="0">
                <a:solidFill>
                  <a:srgbClr val="E6E5DE"/>
                </a:solidFill>
                <a:latin typeface="Calibri"/>
              </a:rPr>
              <a:t>Team</a:t>
            </a:r>
          </a:p>
          <a:p>
            <a:pPr algn="l">
              <a:lnSpc>
                <a:spcPct val="100000"/>
              </a:lnSpc>
              <a:spcAft>
                <a:spcPts val="0"/>
              </a:spcAft>
            </a:pPr>
            <a:r>
              <a:rPr sz="1100" b="0" i="0">
                <a:solidFill>
                  <a:srgbClr val="E6E5DE"/>
                </a:solidFill>
                <a:latin typeface="Calibri"/>
              </a:rPr>
              <a:t>members</a:t>
            </a:r>
          </a:p>
        </p:txBody>
      </p:sp>
      <p:sp>
        <p:nvSpPr>
          <p:cNvPr id="23" name="TextBox 22"/>
          <p:cNvSpPr txBox="1"/>
          <p:nvPr/>
        </p:nvSpPr>
        <p:spPr>
          <a:xfrm>
            <a:off x="4937760" y="3447288"/>
            <a:ext cx="1828800" cy="219456"/>
          </a:xfrm>
          <a:prstGeom prst="rect">
            <a:avLst/>
          </a:prstGeom>
          <a:noFill/>
        </p:spPr>
        <p:txBody>
          <a:bodyPr wrap="square" anchor="t" lIns="0" rIns="0" tIns="0" bIns="0">
            <a:noAutofit/>
          </a:bodyPr>
          <a:lstStyle/>
          <a:p>
            <a:pPr algn="l"/>
            <a:r>
              <a:rPr sz="700" b="0" i="1">
                <a:solidFill>
                  <a:srgbClr val="9A9A9A"/>
                </a:solidFill>
                <a:latin typeface="Calibri"/>
              </a:rPr>
              <a:t>Smart50 2025 citation</a:t>
            </a:r>
          </a:p>
        </p:txBody>
      </p:sp>
      <p:sp>
        <p:nvSpPr>
          <p:cNvPr id="24" name="Rectangle 23"/>
          <p:cNvSpPr/>
          <p:nvPr/>
        </p:nvSpPr>
        <p:spPr>
          <a:xfrm>
            <a:off x="7040880" y="2240280"/>
            <a:ext cx="2103120" cy="1463040"/>
          </a:xfrm>
          <a:prstGeom prst="rect">
            <a:avLst/>
          </a:prstGeom>
          <a:solidFill>
            <a:srgbClr val="000000"/>
          </a:solidFill>
          <a:ln>
            <a:noFill/>
          </a:ln>
          <a:effectLst/>
        </p:spPr>
        <p:txBody>
          <a:bodyPr rtlCol="0" anchor="ctr"/>
          <a:lstStyle/>
          <a:p>
            <a:pPr algn="ctr"/>
          </a:p>
        </p:txBody>
      </p:sp>
      <p:sp>
        <p:nvSpPr>
          <p:cNvPr id="25" name="Rectangle 24"/>
          <p:cNvSpPr/>
          <p:nvPr/>
        </p:nvSpPr>
        <p:spPr>
          <a:xfrm>
            <a:off x="7040880" y="2240280"/>
            <a:ext cx="2103120" cy="38100"/>
          </a:xfrm>
          <a:prstGeom prst="rect">
            <a:avLst/>
          </a:prstGeom>
          <a:solidFill>
            <a:srgbClr val="01A296"/>
          </a:solidFill>
          <a:ln>
            <a:noFill/>
          </a:ln>
          <a:effectLst/>
        </p:spPr>
        <p:txBody>
          <a:bodyPr rtlCol="0" anchor="ctr"/>
          <a:lstStyle/>
          <a:p>
            <a:pPr algn="ctr"/>
          </a:p>
        </p:txBody>
      </p:sp>
      <p:sp>
        <p:nvSpPr>
          <p:cNvPr id="26" name="TextBox 25"/>
          <p:cNvSpPr txBox="1"/>
          <p:nvPr/>
        </p:nvSpPr>
        <p:spPr>
          <a:xfrm>
            <a:off x="7178040" y="2386584"/>
            <a:ext cx="1828800" cy="502920"/>
          </a:xfrm>
          <a:prstGeom prst="rect">
            <a:avLst/>
          </a:prstGeom>
          <a:noFill/>
        </p:spPr>
        <p:txBody>
          <a:bodyPr wrap="square" anchor="t" lIns="0" rIns="0" tIns="0" bIns="0">
            <a:noAutofit/>
          </a:bodyPr>
          <a:lstStyle/>
          <a:p>
            <a:pPr algn="l"/>
            <a:r>
              <a:rPr sz="2800" b="1" i="0">
                <a:solidFill>
                  <a:srgbClr val="F8C806"/>
                </a:solidFill>
                <a:latin typeface="Calibri"/>
              </a:rPr>
              <a:t>2017</a:t>
            </a:r>
          </a:p>
        </p:txBody>
      </p:sp>
      <p:sp>
        <p:nvSpPr>
          <p:cNvPr id="27" name="TextBox 26"/>
          <p:cNvSpPr txBox="1"/>
          <p:nvPr/>
        </p:nvSpPr>
        <p:spPr>
          <a:xfrm>
            <a:off x="7178040" y="2916936"/>
            <a:ext cx="1828800" cy="457200"/>
          </a:xfrm>
          <a:prstGeom prst="rect">
            <a:avLst/>
          </a:prstGeom>
          <a:noFill/>
        </p:spPr>
        <p:txBody>
          <a:bodyPr wrap="square" anchor="t" lIns="0" rIns="0" tIns="0" bIns="0">
            <a:noAutofit/>
          </a:bodyPr>
          <a:lstStyle/>
          <a:p>
            <a:pPr algn="l">
              <a:lnSpc>
                <a:spcPct val="100000"/>
              </a:lnSpc>
              <a:spcAft>
                <a:spcPts val="0"/>
              </a:spcAft>
            </a:pPr>
            <a:r>
              <a:rPr sz="1100" b="0" i="0">
                <a:solidFill>
                  <a:srgbClr val="E6E5DE"/>
                </a:solidFill>
                <a:latin typeface="Calibri"/>
              </a:rPr>
              <a:t>Company</a:t>
            </a:r>
          </a:p>
          <a:p>
            <a:pPr algn="l">
              <a:lnSpc>
                <a:spcPct val="100000"/>
              </a:lnSpc>
              <a:spcAft>
                <a:spcPts val="0"/>
              </a:spcAft>
            </a:pPr>
            <a:r>
              <a:rPr sz="1100" b="0" i="0">
                <a:solidFill>
                  <a:srgbClr val="E6E5DE"/>
                </a:solidFill>
                <a:latin typeface="Calibri"/>
              </a:rPr>
              <a:t>founded</a:t>
            </a:r>
          </a:p>
        </p:txBody>
      </p:sp>
      <p:sp>
        <p:nvSpPr>
          <p:cNvPr id="28" name="TextBox 27"/>
          <p:cNvSpPr txBox="1"/>
          <p:nvPr/>
        </p:nvSpPr>
        <p:spPr>
          <a:xfrm>
            <a:off x="7178040" y="3447288"/>
            <a:ext cx="1828800" cy="219456"/>
          </a:xfrm>
          <a:prstGeom prst="rect">
            <a:avLst/>
          </a:prstGeom>
          <a:noFill/>
        </p:spPr>
        <p:txBody>
          <a:bodyPr wrap="square" anchor="t" lIns="0" rIns="0" tIns="0" bIns="0">
            <a:noAutofit/>
          </a:bodyPr>
          <a:lstStyle/>
          <a:p>
            <a:pPr algn="l"/>
            <a:r>
              <a:rPr sz="700" b="0" i="1">
                <a:solidFill>
                  <a:srgbClr val="9A9A9A"/>
                </a:solidFill>
                <a:latin typeface="Calibri"/>
              </a:rPr>
              <a:t>SmartCompany, 13 Nov 2025</a:t>
            </a:r>
          </a:p>
        </p:txBody>
      </p:sp>
      <p:sp>
        <p:nvSpPr>
          <p:cNvPr id="29" name="Rectangle 28"/>
          <p:cNvSpPr/>
          <p:nvPr/>
        </p:nvSpPr>
        <p:spPr>
          <a:xfrm>
            <a:off x="9281160" y="2240280"/>
            <a:ext cx="2103120" cy="1463040"/>
          </a:xfrm>
          <a:prstGeom prst="rect">
            <a:avLst/>
          </a:prstGeom>
          <a:solidFill>
            <a:srgbClr val="000000"/>
          </a:solidFill>
          <a:ln>
            <a:noFill/>
          </a:ln>
          <a:effectLst/>
        </p:spPr>
        <p:txBody>
          <a:bodyPr rtlCol="0" anchor="ctr"/>
          <a:lstStyle/>
          <a:p>
            <a:pPr algn="ctr"/>
          </a:p>
        </p:txBody>
      </p:sp>
      <p:sp>
        <p:nvSpPr>
          <p:cNvPr id="30" name="Rectangle 29"/>
          <p:cNvSpPr/>
          <p:nvPr/>
        </p:nvSpPr>
        <p:spPr>
          <a:xfrm>
            <a:off x="9281160" y="2240280"/>
            <a:ext cx="2103120" cy="38100"/>
          </a:xfrm>
          <a:prstGeom prst="rect">
            <a:avLst/>
          </a:prstGeom>
          <a:solidFill>
            <a:srgbClr val="01A296"/>
          </a:solidFill>
          <a:ln>
            <a:noFill/>
          </a:ln>
          <a:effectLst/>
        </p:spPr>
        <p:txBody>
          <a:bodyPr rtlCol="0" anchor="ctr"/>
          <a:lstStyle/>
          <a:p>
            <a:pPr algn="ctr"/>
          </a:p>
        </p:txBody>
      </p:sp>
      <p:sp>
        <p:nvSpPr>
          <p:cNvPr id="31" name="TextBox 30"/>
          <p:cNvSpPr txBox="1"/>
          <p:nvPr/>
        </p:nvSpPr>
        <p:spPr>
          <a:xfrm>
            <a:off x="9418320" y="2386584"/>
            <a:ext cx="1828800" cy="502920"/>
          </a:xfrm>
          <a:prstGeom prst="rect">
            <a:avLst/>
          </a:prstGeom>
          <a:noFill/>
        </p:spPr>
        <p:txBody>
          <a:bodyPr wrap="square" anchor="t" lIns="0" rIns="0" tIns="0" bIns="0">
            <a:noAutofit/>
          </a:bodyPr>
          <a:lstStyle/>
          <a:p>
            <a:pPr algn="l"/>
            <a:r>
              <a:rPr sz="2800" b="1" i="0">
                <a:solidFill>
                  <a:srgbClr val="F8C806"/>
                </a:solidFill>
                <a:latin typeface="Calibri"/>
              </a:rPr>
              <a:t>#20</a:t>
            </a:r>
          </a:p>
        </p:txBody>
      </p:sp>
      <p:sp>
        <p:nvSpPr>
          <p:cNvPr id="32" name="TextBox 31"/>
          <p:cNvSpPr txBox="1"/>
          <p:nvPr/>
        </p:nvSpPr>
        <p:spPr>
          <a:xfrm>
            <a:off x="9418320" y="2916936"/>
            <a:ext cx="1828800" cy="457200"/>
          </a:xfrm>
          <a:prstGeom prst="rect">
            <a:avLst/>
          </a:prstGeom>
          <a:noFill/>
        </p:spPr>
        <p:txBody>
          <a:bodyPr wrap="square" anchor="t" lIns="0" rIns="0" tIns="0" bIns="0">
            <a:noAutofit/>
          </a:bodyPr>
          <a:lstStyle/>
          <a:p>
            <a:pPr algn="l">
              <a:lnSpc>
                <a:spcPct val="100000"/>
              </a:lnSpc>
              <a:spcAft>
                <a:spcPts val="0"/>
              </a:spcAft>
            </a:pPr>
            <a:r>
              <a:rPr sz="1100" b="0" i="0">
                <a:solidFill>
                  <a:srgbClr val="E6E5DE"/>
                </a:solidFill>
                <a:latin typeface="Calibri"/>
              </a:rPr>
              <a:t>Smart50 2025</a:t>
            </a:r>
          </a:p>
          <a:p>
            <a:pPr algn="l">
              <a:lnSpc>
                <a:spcPct val="100000"/>
              </a:lnSpc>
              <a:spcAft>
                <a:spcPts val="0"/>
              </a:spcAft>
            </a:pPr>
            <a:r>
              <a:rPr sz="1100" b="0" i="0">
                <a:solidFill>
                  <a:srgbClr val="E6E5DE"/>
                </a:solidFill>
                <a:latin typeface="Calibri"/>
              </a:rPr>
              <a:t>national rank</a:t>
            </a:r>
          </a:p>
        </p:txBody>
      </p:sp>
      <p:sp>
        <p:nvSpPr>
          <p:cNvPr id="33" name="TextBox 32"/>
          <p:cNvSpPr txBox="1"/>
          <p:nvPr/>
        </p:nvSpPr>
        <p:spPr>
          <a:xfrm>
            <a:off x="9418320" y="3447288"/>
            <a:ext cx="1828800" cy="219456"/>
          </a:xfrm>
          <a:prstGeom prst="rect">
            <a:avLst/>
          </a:prstGeom>
          <a:noFill/>
        </p:spPr>
        <p:txBody>
          <a:bodyPr wrap="square" anchor="t" lIns="0" rIns="0" tIns="0" bIns="0">
            <a:noAutofit/>
          </a:bodyPr>
          <a:lstStyle/>
          <a:p>
            <a:pPr algn="l"/>
            <a:r>
              <a:rPr sz="700" b="0" i="1">
                <a:solidFill>
                  <a:srgbClr val="9A9A9A"/>
                </a:solidFill>
                <a:latin typeface="Calibri"/>
              </a:rPr>
              <a:t>SmartCompany, 13 Nov 2025</a:t>
            </a:r>
          </a:p>
        </p:txBody>
      </p:sp>
      <p:sp>
        <p:nvSpPr>
          <p:cNvPr id="34" name="TextBox 33"/>
          <p:cNvSpPr txBox="1"/>
          <p:nvPr/>
        </p:nvSpPr>
        <p:spPr>
          <a:xfrm>
            <a:off x="320040" y="3913632"/>
            <a:ext cx="7315200" cy="274320"/>
          </a:xfrm>
          <a:prstGeom prst="rect">
            <a:avLst/>
          </a:prstGeom>
          <a:noFill/>
        </p:spPr>
        <p:txBody>
          <a:bodyPr wrap="square" anchor="t" lIns="0" rIns="0" tIns="0" bIns="0">
            <a:noAutofit/>
          </a:bodyPr>
          <a:lstStyle/>
          <a:p>
            <a:pPr algn="l"/>
            <a:r>
              <a:rPr sz="1200" b="1" i="0">
                <a:solidFill>
                  <a:srgbClr val="01A296"/>
                </a:solidFill>
                <a:latin typeface="Calibri"/>
              </a:rPr>
              <a:t>KEY COMMERCIAL SIGNALS</a:t>
            </a:r>
          </a:p>
        </p:txBody>
      </p:sp>
      <p:sp>
        <p:nvSpPr>
          <p:cNvPr id="35" name="TextBox 34"/>
          <p:cNvSpPr txBox="1"/>
          <p:nvPr/>
        </p:nvSpPr>
        <p:spPr>
          <a:xfrm>
            <a:off x="320040" y="4224528"/>
            <a:ext cx="11338560" cy="2011680"/>
          </a:xfrm>
          <a:prstGeom prst="rect">
            <a:avLst/>
          </a:prstGeom>
          <a:noFill/>
        </p:spPr>
        <p:txBody>
          <a:bodyPr wrap="square" anchor="t" lIns="0" rIns="0" tIns="0" bIns="0">
            <a:noAutofit/>
          </a:bodyPr>
          <a:lstStyle/>
          <a:p>
            <a:pPr algn="l">
              <a:lnSpc>
                <a:spcPct val="125000"/>
              </a:lnSpc>
              <a:spcAft>
                <a:spcPts val="800"/>
              </a:spcAft>
            </a:pPr>
            <a:r>
              <a:rPr sz="1200" b="0" i="0">
                <a:solidFill>
                  <a:srgbClr val="1A1A1A"/>
                </a:solidFill>
                <a:latin typeface="Calibri"/>
              </a:rPr>
              <a:t>•  Revenue grew $3.2M to $16.2M, FY21 to FY25, 55% YoY. SmartCompany, 13 Nov 2025.</a:t>
            </a:r>
          </a:p>
          <a:p>
            <a:pPr algn="l">
              <a:lnSpc>
                <a:spcPct val="125000"/>
              </a:lnSpc>
              <a:spcAft>
                <a:spcPts val="800"/>
              </a:spcAft>
            </a:pPr>
            <a:r>
              <a:rPr sz="1200" b="0" i="0">
                <a:solidFill>
                  <a:srgbClr val="1A1A1A"/>
                </a:solidFill>
                <a:latin typeface="Calibri"/>
              </a:rPr>
              <a:t>•  Team grew to 50 staff, up from near 40 in 2023. SmartCompany, 13 Nov 2025.</a:t>
            </a:r>
          </a:p>
          <a:p>
            <a:pPr algn="l">
              <a:lnSpc>
                <a:spcPct val="125000"/>
              </a:lnSpc>
              <a:spcAft>
                <a:spcPts val="800"/>
              </a:spcAft>
            </a:pPr>
            <a:r>
              <a:rPr sz="1200" b="0" i="0">
                <a:solidFill>
                  <a:srgbClr val="1A1A1A"/>
                </a:solidFill>
                <a:latin typeface="Calibri"/>
              </a:rPr>
              <a:t>•  Melbourne office opened 2023, New South Wales entry planned 2026. SmartCompany, Nov 2025.</a:t>
            </a:r>
          </a:p>
          <a:p>
            <a:pPr algn="l">
              <a:lnSpc>
                <a:spcPct val="125000"/>
              </a:lnSpc>
              <a:spcAft>
                <a:spcPts val="800"/>
              </a:spcAft>
            </a:pPr>
            <a:r>
              <a:rPr sz="1200" b="0" i="0">
                <a:solidFill>
                  <a:srgbClr val="1A1A1A"/>
                </a:solidFill>
                <a:latin typeface="Calibri"/>
              </a:rPr>
              <a:t>•  Aiming to trade in every state and territory by 2028. SmartCompany, 13 Nov 2025.</a:t>
            </a:r>
          </a:p>
          <a:p>
            <a:pPr algn="l">
              <a:lnSpc>
                <a:spcPct val="125000"/>
              </a:lnSpc>
              <a:spcAft>
                <a:spcPts val="800"/>
              </a:spcAft>
            </a:pPr>
            <a:r>
              <a:rPr sz="1200" b="0" i="0">
                <a:solidFill>
                  <a:srgbClr val="1A1A1A"/>
                </a:solidFill>
                <a:latin typeface="Calibri"/>
              </a:rPr>
              <a:t>•  New Brisbane headquarters warehouse opened 2023. SmartCompany, 5 Apr 2023.</a:t>
            </a:r>
          </a:p>
          <a:p>
            <a:pPr algn="l">
              <a:lnSpc>
                <a:spcPct val="125000"/>
              </a:lnSpc>
              <a:spcAft>
                <a:spcPts val="800"/>
              </a:spcAft>
            </a:pPr>
            <a:r>
              <a:rPr sz="1200" b="0" i="0">
                <a:solidFill>
                  <a:srgbClr val="1A1A1A"/>
                </a:solidFill>
                <a:latin typeface="Calibri"/>
              </a:rPr>
              <a:t>•  Industrial Commercial Fencing Award winner. Fencing Industry Australia.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310896"/>
            <a:ext cx="7315200" cy="365760"/>
          </a:xfrm>
          <a:prstGeom prst="rect">
            <a:avLst/>
          </a:prstGeom>
          <a:noFill/>
        </p:spPr>
        <p:txBody>
          <a:bodyPr wrap="square" anchor="t"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5486400" y="274320"/>
            <a:ext cx="6400800" cy="457200"/>
          </a:xfrm>
          <a:prstGeom prst="rect">
            <a:avLst/>
          </a:prstGeom>
          <a:noFill/>
        </p:spPr>
        <p:txBody>
          <a:bodyPr wrap="square" anchor="t" lIns="0" rIns="0" tIns="0" bIns="0">
            <a:noAutofit/>
          </a:bodyPr>
          <a:lstStyle/>
          <a:p>
            <a:pPr algn="r"/>
            <a:r>
              <a:rPr sz="1300" b="1" i="0">
                <a:solidFill>
                  <a:srgbClr val="FFFFFF"/>
                </a:solidFill>
                <a:latin typeface="Calibri"/>
              </a:rPr>
              <a:t>AH FENCING, THREE COMMERCIAL OBSERVATIONS</a:t>
            </a:r>
          </a:p>
        </p:txBody>
      </p:sp>
      <p:sp>
        <p:nvSpPr>
          <p:cNvPr id="6" name="TextBox 5"/>
          <p:cNvSpPr txBox="1"/>
          <p:nvPr/>
        </p:nvSpPr>
        <p:spPr>
          <a:xfrm>
            <a:off x="320040" y="6473952"/>
            <a:ext cx="11521440" cy="274320"/>
          </a:xfrm>
          <a:prstGeom prst="rect">
            <a:avLst/>
          </a:prstGeom>
          <a:noFill/>
        </p:spPr>
        <p:txBody>
          <a:bodyPr wrap="square" anchor="t" lIns="0" rIns="0" tIns="0" bIns="0">
            <a:noAutofit/>
          </a:bodyPr>
          <a:lstStyle/>
          <a:p>
            <a:pPr algn="l"/>
            <a:r>
              <a:rPr sz="800" b="0" i="0">
                <a:solidFill>
                  <a:srgbClr val="777777"/>
                </a:solidFill>
                <a:latin typeface="Calibri"/>
              </a:rPr>
              <a:t>Prepared by Nitesh Roopa CA, Managing Partner, ProfitPulse, Profit-Pulse.com.au        11 Jul 2026</a:t>
            </a:r>
          </a:p>
        </p:txBody>
      </p:sp>
      <p:sp>
        <p:nvSpPr>
          <p:cNvPr id="7" name="Rectangle 6"/>
          <p:cNvSpPr/>
          <p:nvPr/>
        </p:nvSpPr>
        <p:spPr>
          <a:xfrm>
            <a:off x="91440" y="1051560"/>
            <a:ext cx="4033418" cy="4892040"/>
          </a:xfrm>
          <a:prstGeom prst="rect">
            <a:avLst/>
          </a:prstGeom>
          <a:solidFill>
            <a:srgbClr val="01A296"/>
          </a:solidFill>
          <a:ln>
            <a:noFill/>
          </a:ln>
          <a:effectLst/>
        </p:spPr>
        <p:txBody>
          <a:bodyPr rtlCol="0" anchor="ctr"/>
          <a:lstStyle/>
          <a:p>
            <a:pPr algn="ctr"/>
          </a:p>
        </p:txBody>
      </p:sp>
      <p:sp>
        <p:nvSpPr>
          <p:cNvPr id="8" name="TextBox 7"/>
          <p:cNvSpPr txBox="1"/>
          <p:nvPr/>
        </p:nvSpPr>
        <p:spPr>
          <a:xfrm>
            <a:off x="384048" y="2011680"/>
            <a:ext cx="3448201" cy="594360"/>
          </a:xfrm>
          <a:prstGeom prst="rect">
            <a:avLst/>
          </a:prstGeom>
          <a:noFill/>
        </p:spPr>
        <p:txBody>
          <a:bodyPr wrap="square" anchor="t" lIns="0" rIns="0" tIns="0" bIns="0">
            <a:noAutofit/>
          </a:bodyPr>
          <a:lstStyle/>
          <a:p>
            <a:pPr algn="l"/>
            <a:r>
              <a:rPr sz="3200" b="1" i="0">
                <a:solidFill>
                  <a:srgbClr val="000000"/>
                </a:solidFill>
                <a:latin typeface="Georgia"/>
              </a:rPr>
              <a:t>01</a:t>
            </a:r>
          </a:p>
        </p:txBody>
      </p:sp>
      <p:sp>
        <p:nvSpPr>
          <p:cNvPr id="9" name="TextBox 8"/>
          <p:cNvSpPr txBox="1"/>
          <p:nvPr/>
        </p:nvSpPr>
        <p:spPr>
          <a:xfrm>
            <a:off x="384048" y="2679192"/>
            <a:ext cx="3448201" cy="731520"/>
          </a:xfrm>
          <a:prstGeom prst="rect">
            <a:avLst/>
          </a:prstGeom>
          <a:noFill/>
        </p:spPr>
        <p:txBody>
          <a:bodyPr wrap="square" anchor="t" lIns="0" rIns="0" tIns="0" bIns="0">
            <a:noAutofit/>
          </a:bodyPr>
          <a:lstStyle/>
          <a:p>
            <a:pPr algn="l"/>
            <a:r>
              <a:rPr sz="1600" b="1" i="0">
                <a:solidFill>
                  <a:srgbClr val="000000"/>
                </a:solidFill>
                <a:latin typeface="Calibri"/>
              </a:rPr>
              <a:t>Three states, one growth plan?</a:t>
            </a:r>
          </a:p>
        </p:txBody>
      </p:sp>
      <p:sp>
        <p:nvSpPr>
          <p:cNvPr id="10" name="TextBox 9"/>
          <p:cNvSpPr txBox="1"/>
          <p:nvPr/>
        </p:nvSpPr>
        <p:spPr>
          <a:xfrm>
            <a:off x="384048" y="3502152"/>
            <a:ext cx="3448201" cy="2286000"/>
          </a:xfrm>
          <a:prstGeom prst="rect">
            <a:avLst/>
          </a:prstGeom>
          <a:noFill/>
        </p:spPr>
        <p:txBody>
          <a:bodyPr wrap="square" anchor="t" lIns="0" rIns="0" tIns="0" bIns="0">
            <a:noAutofit/>
          </a:bodyPr>
          <a:lstStyle/>
          <a:p>
            <a:pPr algn="l">
              <a:lnSpc>
                <a:spcPct val="120000"/>
              </a:lnSpc>
              <a:spcAft>
                <a:spcPts val="0"/>
              </a:spcAft>
            </a:pPr>
            <a:r>
              <a:rPr sz="1150" b="0" i="0">
                <a:solidFill>
                  <a:srgbClr val="000000"/>
                </a:solidFill>
                <a:latin typeface="Calibri"/>
              </a:rPr>
              <a:t>Revenue moved from 3.2 million in FY21 to 16.2 million in FY25, and the next step is New South Wales in 2026, on the way to national coverage by 2028. Each new state carries setup cost, working capital lag and a hiring curve. A costed growth plan puts numbers behind that before the decision is made, not after.</a:t>
            </a:r>
          </a:p>
        </p:txBody>
      </p:sp>
      <p:sp>
        <p:nvSpPr>
          <p:cNvPr id="11" name="Rectangle 10"/>
          <p:cNvSpPr/>
          <p:nvPr/>
        </p:nvSpPr>
        <p:spPr>
          <a:xfrm>
            <a:off x="4124858" y="1051560"/>
            <a:ext cx="4033418" cy="4892040"/>
          </a:xfrm>
          <a:prstGeom prst="rect">
            <a:avLst/>
          </a:prstGeom>
          <a:solidFill>
            <a:srgbClr val="000000"/>
          </a:solidFill>
          <a:ln>
            <a:noFill/>
          </a:ln>
          <a:effectLst/>
        </p:spPr>
        <p:txBody>
          <a:bodyPr rtlCol="0" anchor="ctr"/>
          <a:lstStyle/>
          <a:p>
            <a:pPr algn="ctr"/>
          </a:p>
        </p:txBody>
      </p:sp>
      <p:sp>
        <p:nvSpPr>
          <p:cNvPr id="12" name="TextBox 11"/>
          <p:cNvSpPr txBox="1"/>
          <p:nvPr/>
        </p:nvSpPr>
        <p:spPr>
          <a:xfrm>
            <a:off x="4417466" y="2011680"/>
            <a:ext cx="3448201" cy="594360"/>
          </a:xfrm>
          <a:prstGeom prst="rect">
            <a:avLst/>
          </a:prstGeom>
          <a:noFill/>
        </p:spPr>
        <p:txBody>
          <a:bodyPr wrap="square" anchor="t" lIns="0" rIns="0" tIns="0" bIns="0">
            <a:noAutofit/>
          </a:bodyPr>
          <a:lstStyle/>
          <a:p>
            <a:pPr algn="l"/>
            <a:r>
              <a:rPr sz="3200" b="1" i="0">
                <a:solidFill>
                  <a:srgbClr val="FFFFFF"/>
                </a:solidFill>
                <a:latin typeface="Georgia"/>
              </a:rPr>
              <a:t>02</a:t>
            </a:r>
          </a:p>
        </p:txBody>
      </p:sp>
      <p:sp>
        <p:nvSpPr>
          <p:cNvPr id="13" name="TextBox 12"/>
          <p:cNvSpPr txBox="1"/>
          <p:nvPr/>
        </p:nvSpPr>
        <p:spPr>
          <a:xfrm>
            <a:off x="4417466" y="2679192"/>
            <a:ext cx="3448201" cy="731520"/>
          </a:xfrm>
          <a:prstGeom prst="rect">
            <a:avLst/>
          </a:prstGeom>
          <a:noFill/>
        </p:spPr>
        <p:txBody>
          <a:bodyPr wrap="square" anchor="t" lIns="0" rIns="0" tIns="0" bIns="0">
            <a:noAutofit/>
          </a:bodyPr>
          <a:lstStyle/>
          <a:p>
            <a:pPr algn="l"/>
            <a:r>
              <a:rPr sz="1600" b="1" i="0">
                <a:solidFill>
                  <a:srgbClr val="FFFFFF"/>
                </a:solidFill>
                <a:latin typeface="Calibri"/>
              </a:rPr>
              <a:t>Fifty people, one finance seat?</a:t>
            </a:r>
          </a:p>
        </p:txBody>
      </p:sp>
      <p:sp>
        <p:nvSpPr>
          <p:cNvPr id="14" name="TextBox 13"/>
          <p:cNvSpPr txBox="1"/>
          <p:nvPr/>
        </p:nvSpPr>
        <p:spPr>
          <a:xfrm>
            <a:off x="4417466" y="3502152"/>
            <a:ext cx="3448201" cy="2286000"/>
          </a:xfrm>
          <a:prstGeom prst="rect">
            <a:avLst/>
          </a:prstGeom>
          <a:noFill/>
        </p:spPr>
        <p:txBody>
          <a:bodyPr wrap="square" anchor="t" lIns="0" rIns="0" tIns="0" bIns="0">
            <a:noAutofit/>
          </a:bodyPr>
          <a:lstStyle/>
          <a:p>
            <a:pPr algn="l">
              <a:lnSpc>
                <a:spcPct val="120000"/>
              </a:lnSpc>
              <a:spcAft>
                <a:spcPts val="0"/>
              </a:spcAft>
            </a:pPr>
            <a:r>
              <a:rPr sz="1150" b="0" i="0">
                <a:solidFill>
                  <a:srgbClr val="FFFFFF"/>
                </a:solidFill>
                <a:latin typeface="Calibri"/>
              </a:rPr>
              <a:t>AH Fencing has built a genuine leadership bench, named sales, estimating and site leads under two managing directors. What is not visible publicly is a dedicated finance seat. A business growing 55 percent a year needs a permanent owner of the numbers, not a periodic look, with a third state about to add its own overhead.</a:t>
            </a:r>
          </a:p>
        </p:txBody>
      </p:sp>
      <p:sp>
        <p:nvSpPr>
          <p:cNvPr id="15" name="Rectangle 14"/>
          <p:cNvSpPr/>
          <p:nvPr/>
        </p:nvSpPr>
        <p:spPr>
          <a:xfrm>
            <a:off x="8158276" y="1051560"/>
            <a:ext cx="4033418" cy="4892040"/>
          </a:xfrm>
          <a:prstGeom prst="rect">
            <a:avLst/>
          </a:prstGeom>
          <a:solidFill>
            <a:srgbClr val="E3A712"/>
          </a:solidFill>
          <a:ln>
            <a:noFill/>
          </a:ln>
          <a:effectLst/>
        </p:spPr>
        <p:txBody>
          <a:bodyPr rtlCol="0" anchor="ctr"/>
          <a:lstStyle/>
          <a:p>
            <a:pPr algn="ctr"/>
          </a:p>
        </p:txBody>
      </p:sp>
      <p:sp>
        <p:nvSpPr>
          <p:cNvPr id="16" name="TextBox 15"/>
          <p:cNvSpPr txBox="1"/>
          <p:nvPr/>
        </p:nvSpPr>
        <p:spPr>
          <a:xfrm>
            <a:off x="8450884" y="2011680"/>
            <a:ext cx="3448201" cy="594360"/>
          </a:xfrm>
          <a:prstGeom prst="rect">
            <a:avLst/>
          </a:prstGeom>
          <a:noFill/>
        </p:spPr>
        <p:txBody>
          <a:bodyPr wrap="square" anchor="t" lIns="0" rIns="0" tIns="0" bIns="0">
            <a:noAutofit/>
          </a:bodyPr>
          <a:lstStyle/>
          <a:p>
            <a:pPr algn="l"/>
            <a:r>
              <a:rPr sz="3200" b="1" i="0">
                <a:solidFill>
                  <a:srgbClr val="000000"/>
                </a:solidFill>
                <a:latin typeface="Georgia"/>
              </a:rPr>
              <a:t>03</a:t>
            </a:r>
          </a:p>
        </p:txBody>
      </p:sp>
      <p:sp>
        <p:nvSpPr>
          <p:cNvPr id="17" name="TextBox 16"/>
          <p:cNvSpPr txBox="1"/>
          <p:nvPr/>
        </p:nvSpPr>
        <p:spPr>
          <a:xfrm>
            <a:off x="8450884" y="2679192"/>
            <a:ext cx="3448201" cy="731520"/>
          </a:xfrm>
          <a:prstGeom prst="rect">
            <a:avLst/>
          </a:prstGeom>
          <a:noFill/>
        </p:spPr>
        <p:txBody>
          <a:bodyPr wrap="square" anchor="t" lIns="0" rIns="0" tIns="0" bIns="0">
            <a:noAutofit/>
          </a:bodyPr>
          <a:lstStyle/>
          <a:p>
            <a:pPr algn="l"/>
            <a:r>
              <a:rPr sz="1600" b="1" i="0">
                <a:solidFill>
                  <a:srgbClr val="000000"/>
                </a:solidFill>
                <a:latin typeface="Calibri"/>
              </a:rPr>
              <a:t>Sixteen million, one capital story?</a:t>
            </a:r>
          </a:p>
        </p:txBody>
      </p:sp>
      <p:sp>
        <p:nvSpPr>
          <p:cNvPr id="18" name="TextBox 17"/>
          <p:cNvSpPr txBox="1"/>
          <p:nvPr/>
        </p:nvSpPr>
        <p:spPr>
          <a:xfrm>
            <a:off x="8450884" y="3502152"/>
            <a:ext cx="3448201" cy="2286000"/>
          </a:xfrm>
          <a:prstGeom prst="rect">
            <a:avLst/>
          </a:prstGeom>
          <a:noFill/>
        </p:spPr>
        <p:txBody>
          <a:bodyPr wrap="square" anchor="t" lIns="0" rIns="0" tIns="0" bIns="0">
            <a:noAutofit/>
          </a:bodyPr>
          <a:lstStyle/>
          <a:p>
            <a:pPr algn="l">
              <a:lnSpc>
                <a:spcPct val="120000"/>
              </a:lnSpc>
              <a:spcAft>
                <a:spcPts val="0"/>
              </a:spcAft>
            </a:pPr>
            <a:r>
              <a:rPr sz="1150" b="0" i="0">
                <a:solidFill>
                  <a:srgbClr val="000000"/>
                </a:solidFill>
                <a:latin typeface="Calibri"/>
              </a:rPr>
              <a:t>Every dollar going into a new warehouse, a new state's setup cost or working capital for the New South Wales launch is a capital allocation decision. At this pace it is worth knowing, dollar for dollar, whether that capital earns the return the fencing contracts themselves generate, before the next site is committed to.</a:t>
            </a:r>
          </a:p>
        </p:txBody>
      </p:sp>
      <p:sp>
        <p:nvSpPr>
          <p:cNvPr id="19" name="TextBox 18"/>
          <p:cNvSpPr txBox="1"/>
          <p:nvPr/>
        </p:nvSpPr>
        <p:spPr>
          <a:xfrm>
            <a:off x="320040" y="6016752"/>
            <a:ext cx="11521440" cy="365760"/>
          </a:xfrm>
          <a:prstGeom prst="rect">
            <a:avLst/>
          </a:prstGeom>
          <a:noFill/>
        </p:spPr>
        <p:txBody>
          <a:bodyPr wrap="square" anchor="t" lIns="0" rIns="0" tIns="0" bIns="0">
            <a:noAutofit/>
          </a:bodyPr>
          <a:lstStyle/>
          <a:p>
            <a:pPr algn="l"/>
            <a:r>
              <a:rPr sz="1100" b="0" i="1">
                <a:solidFill>
                  <a:srgbClr val="333333"/>
                </a:solidFill>
                <a:latin typeface="Calibri"/>
              </a:rPr>
              <a:t>These are observations offered in good faith. The company has built something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310896"/>
            <a:ext cx="7315200" cy="365760"/>
          </a:xfrm>
          <a:prstGeom prst="rect">
            <a:avLst/>
          </a:prstGeom>
          <a:noFill/>
        </p:spPr>
        <p:txBody>
          <a:bodyPr wrap="square" anchor="t"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5486400" y="274320"/>
            <a:ext cx="6400800" cy="457200"/>
          </a:xfrm>
          <a:prstGeom prst="rect">
            <a:avLst/>
          </a:prstGeom>
          <a:noFill/>
        </p:spPr>
        <p:txBody>
          <a:bodyPr wrap="square" anchor="t" lIns="0" rIns="0" tIns="0" bIns="0">
            <a:noAutofit/>
          </a:bodyPr>
          <a:lstStyle/>
          <a:p>
            <a:pPr algn="r"/>
            <a:r>
              <a:rPr sz="1300" b="1" i="0">
                <a:solidFill>
                  <a:srgbClr val="FFFFFF"/>
                </a:solidFill>
                <a:latin typeface="Calibri"/>
              </a:rPr>
              <a:t>AH FENCING</a:t>
            </a:r>
          </a:p>
        </p:txBody>
      </p:sp>
      <p:sp>
        <p:nvSpPr>
          <p:cNvPr id="6" name="TextBox 5"/>
          <p:cNvSpPr txBox="1"/>
          <p:nvPr/>
        </p:nvSpPr>
        <p:spPr>
          <a:xfrm>
            <a:off x="320040" y="6473952"/>
            <a:ext cx="11521440" cy="274320"/>
          </a:xfrm>
          <a:prstGeom prst="rect">
            <a:avLst/>
          </a:prstGeom>
          <a:noFill/>
        </p:spPr>
        <p:txBody>
          <a:bodyPr wrap="square" anchor="t" lIns="0" rIns="0" tIns="0" bIns="0">
            <a:noAutofit/>
          </a:bodyPr>
          <a:lstStyle/>
          <a:p>
            <a:pPr algn="l"/>
            <a:r>
              <a:rPr sz="800" b="0" i="0">
                <a:solidFill>
                  <a:srgbClr val="777777"/>
                </a:solidFill>
                <a:latin typeface="Calibri"/>
              </a:rPr>
              <a:t>Prepared by Nitesh Roopa CA, Managing Partner, ProfitPulse, Profit-Pulse.com.au        11 Jul 2026</a:t>
            </a:r>
          </a:p>
        </p:txBody>
      </p:sp>
      <p:sp>
        <p:nvSpPr>
          <p:cNvPr id="7" name="TextBox 6"/>
          <p:cNvSpPr txBox="1"/>
          <p:nvPr/>
        </p:nvSpPr>
        <p:spPr>
          <a:xfrm>
            <a:off x="320040" y="1097280"/>
            <a:ext cx="6675120" cy="502920"/>
          </a:xfrm>
          <a:prstGeom prst="rect">
            <a:avLst/>
          </a:prstGeom>
          <a:noFill/>
        </p:spPr>
        <p:txBody>
          <a:bodyPr wrap="square" anchor="t" lIns="0" rIns="0" tIns="0" bIns="0">
            <a:noAutofit/>
          </a:bodyPr>
          <a:lstStyle/>
          <a:p>
            <a:pPr algn="l"/>
            <a:r>
              <a:rPr sz="2400" b="1" i="0">
                <a:solidFill>
                  <a:srgbClr val="000000"/>
                </a:solidFill>
                <a:latin typeface="Georgia"/>
              </a:rPr>
              <a:t>Strategic Growth Diagnostic</a:t>
            </a:r>
          </a:p>
        </p:txBody>
      </p:sp>
      <p:sp>
        <p:nvSpPr>
          <p:cNvPr id="8" name="TextBox 7"/>
          <p:cNvSpPr txBox="1"/>
          <p:nvPr/>
        </p:nvSpPr>
        <p:spPr>
          <a:xfrm>
            <a:off x="320040" y="1627632"/>
            <a:ext cx="6675120" cy="365760"/>
          </a:xfrm>
          <a:prstGeom prst="rect">
            <a:avLst/>
          </a:prstGeom>
          <a:noFill/>
        </p:spPr>
        <p:txBody>
          <a:bodyPr wrap="square" anchor="t" lIns="0" rIns="0" tIns="0" bIns="0">
            <a:noAutofit/>
          </a:bodyPr>
          <a:lstStyle/>
          <a:p>
            <a:pPr algn="l"/>
            <a:r>
              <a:rPr sz="1500" b="1" i="0">
                <a:solidFill>
                  <a:srgbClr val="F6A102"/>
                </a:solidFill>
                <a:latin typeface="Calibri"/>
              </a:rPr>
              <a:t>$7,000 one off, ProfitPulse verified price</a:t>
            </a:r>
          </a:p>
        </p:txBody>
      </p:sp>
      <p:sp>
        <p:nvSpPr>
          <p:cNvPr id="9" name="TextBox 8"/>
          <p:cNvSpPr txBox="1"/>
          <p:nvPr/>
        </p:nvSpPr>
        <p:spPr>
          <a:xfrm>
            <a:off x="320040" y="2029968"/>
            <a:ext cx="6675120" cy="685800"/>
          </a:xfrm>
          <a:prstGeom prst="rect">
            <a:avLst/>
          </a:prstGeom>
          <a:noFill/>
        </p:spPr>
        <p:txBody>
          <a:bodyPr wrap="square" anchor="t" lIns="0" rIns="0" tIns="0" bIns="0">
            <a:noAutofit/>
          </a:bodyPr>
          <a:lstStyle/>
          <a:p>
            <a:pPr algn="l">
              <a:lnSpc>
                <a:spcPct val="120000"/>
              </a:lnSpc>
              <a:spcAft>
                <a:spcPts val="400"/>
              </a:spcAft>
            </a:pPr>
            <a:r>
              <a:rPr sz="1250" b="0" i="0">
                <a:solidFill>
                  <a:srgbClr val="1A1A1A"/>
                </a:solidFill>
                <a:latin typeface="Calibri"/>
              </a:rPr>
              <a:t>Maps revenue, capacity and margin headroom into a costed twelve month growth plan, useful timing given the New South Wales entry planned for 2026.</a:t>
            </a:r>
          </a:p>
        </p:txBody>
      </p:sp>
      <p:sp>
        <p:nvSpPr>
          <p:cNvPr id="10" name="Rectangle 9"/>
          <p:cNvSpPr/>
          <p:nvPr/>
        </p:nvSpPr>
        <p:spPr>
          <a:xfrm>
            <a:off x="320040" y="2788920"/>
            <a:ext cx="6675120" cy="1417320"/>
          </a:xfrm>
          <a:prstGeom prst="rect">
            <a:avLst/>
          </a:prstGeom>
          <a:solidFill>
            <a:srgbClr val="EFF8F7"/>
          </a:solidFill>
          <a:ln w="15875">
            <a:solidFill>
              <a:srgbClr val="01A296"/>
            </a:solidFill>
          </a:ln>
          <a:effectLst/>
        </p:spPr>
        <p:txBody>
          <a:bodyPr rtlCol="0" anchor="ctr"/>
          <a:lstStyle/>
          <a:p>
            <a:pPr algn="ctr"/>
          </a:p>
        </p:txBody>
      </p:sp>
      <p:sp>
        <p:nvSpPr>
          <p:cNvPr id="11" name="TextBox 10"/>
          <p:cNvSpPr txBox="1"/>
          <p:nvPr/>
        </p:nvSpPr>
        <p:spPr>
          <a:xfrm>
            <a:off x="548640" y="2926080"/>
            <a:ext cx="6217920" cy="320040"/>
          </a:xfrm>
          <a:prstGeom prst="rect">
            <a:avLst/>
          </a:prstGeom>
          <a:noFill/>
        </p:spPr>
        <p:txBody>
          <a:bodyPr wrap="square" anchor="t" lIns="0" rIns="0" tIns="0" bIns="0">
            <a:noAutofit/>
          </a:bodyPr>
          <a:lstStyle/>
          <a:p>
            <a:pPr algn="l"/>
            <a:r>
              <a:rPr sz="1300" b="1" i="0">
                <a:solidFill>
                  <a:srgbClr val="01A296"/>
                </a:solidFill>
                <a:latin typeface="Calibri"/>
              </a:rPr>
              <a:t>Step one, answer a few quick questions</a:t>
            </a:r>
          </a:p>
        </p:txBody>
      </p:sp>
      <p:sp>
        <p:nvSpPr>
          <p:cNvPr id="12" name="TextBox 11"/>
          <p:cNvSpPr txBox="1"/>
          <p:nvPr/>
        </p:nvSpPr>
        <p:spPr>
          <a:xfrm>
            <a:off x="548640" y="3273552"/>
            <a:ext cx="6217920" cy="320040"/>
          </a:xfrm>
          <a:prstGeom prst="rect">
            <a:avLst/>
          </a:prstGeom>
          <a:noFill/>
        </p:spPr>
        <p:txBody>
          <a:bodyPr wrap="square" anchor="t" lIns="0" rIns="0" tIns="0" bIns="0">
            <a:noAutofit/>
          </a:bodyPr>
          <a:lstStyle/>
          <a:p>
            <a:pPr algn="l"/>
            <a:r>
              <a:rPr sz="1150" b="0" i="0">
                <a:solidFill>
                  <a:srgbClr val="333333"/>
                </a:solidFill>
                <a:latin typeface="Calibri"/>
              </a:rPr>
              <a:t>See the solutions matched to your size and industry.</a:t>
            </a:r>
          </a:p>
        </p:txBody>
      </p:sp>
      <p:sp>
        <p:nvSpPr>
          <p:cNvPr id="13" name="TextBox 12"/>
          <p:cNvSpPr txBox="1"/>
          <p:nvPr/>
        </p:nvSpPr>
        <p:spPr>
          <a:xfrm>
            <a:off x="548640" y="3639312"/>
            <a:ext cx="6217920" cy="365760"/>
          </a:xfrm>
          <a:prstGeom prst="rect">
            <a:avLst/>
          </a:prstGeom>
          <a:noFill/>
        </p:spPr>
        <p:txBody>
          <a:bodyPr wrap="square" anchor="t" lIns="0" rIns="0" tIns="0" bIns="0">
            <a:noAutofit/>
          </a:bodyPr>
          <a:lstStyle/>
          <a:p>
            <a:pPr algn="l"/>
            <a:r>
              <a:rPr sz="1300" b="1" i="0" u="none">
                <a:solidFill>
                  <a:srgbClr val="01A296"/>
                </a:solidFill>
                <a:latin typeface="Calibri"/>
                <a:hlinkClick r:id="rId2"/>
              </a:rPr>
              <a:t>profit-pulse.com.au/services/find-your-fit</a:t>
            </a:r>
          </a:p>
        </p:txBody>
      </p:sp>
      <p:sp>
        <p:nvSpPr>
          <p:cNvPr id="14" name="Rectangle 13"/>
          <p:cNvSpPr/>
          <p:nvPr/>
        </p:nvSpPr>
        <p:spPr>
          <a:xfrm>
            <a:off x="320040" y="4370832"/>
            <a:ext cx="6675120" cy="548640"/>
          </a:xfrm>
          <a:prstGeom prst="rect">
            <a:avLst/>
          </a:prstGeom>
          <a:solidFill>
            <a:srgbClr val="FFFFFF"/>
          </a:solidFill>
          <a:ln w="19050">
            <a:solidFill>
              <a:srgbClr val="F6A102"/>
            </a:solidFill>
          </a:ln>
          <a:effectLst/>
        </p:spPr>
        <p:txBody>
          <a:bodyPr rtlCol="0" anchor="ctr"/>
          <a:lstStyle/>
          <a:p>
            <a:pPr algn="ctr"/>
          </a:p>
        </p:txBody>
      </p:sp>
      <p:sp>
        <p:nvSpPr>
          <p:cNvPr id="15" name="TextBox 14"/>
          <p:cNvSpPr txBox="1"/>
          <p:nvPr/>
        </p:nvSpPr>
        <p:spPr>
          <a:xfrm>
            <a:off x="320040" y="4370832"/>
            <a:ext cx="6675120" cy="548640"/>
          </a:xfrm>
          <a:prstGeom prst="rect">
            <a:avLst/>
          </a:prstGeom>
          <a:noFill/>
        </p:spPr>
        <p:txBody>
          <a:bodyPr wrap="square" anchor="ctr" lIns="0" rIns="0" tIns="0" bIns="0">
            <a:noAutofit/>
          </a:bodyPr>
          <a:lstStyle/>
          <a:p>
            <a:pPr algn="ctr"/>
            <a:r>
              <a:rPr sz="1300" b="1" i="0" u="none">
                <a:solidFill>
                  <a:srgbClr val="F6A102"/>
                </a:solidFill>
                <a:latin typeface="Calibri"/>
                <a:hlinkClick r:id="rId3"/>
              </a:rPr>
              <a:t>Purchase the suggested product now to get started</a:t>
            </a:r>
          </a:p>
        </p:txBody>
      </p:sp>
      <p:sp>
        <p:nvSpPr>
          <p:cNvPr id="16" name="TextBox 15"/>
          <p:cNvSpPr txBox="1"/>
          <p:nvPr/>
        </p:nvSpPr>
        <p:spPr>
          <a:xfrm>
            <a:off x="320040" y="5138928"/>
            <a:ext cx="6675120" cy="320040"/>
          </a:xfrm>
          <a:prstGeom prst="rect">
            <a:avLst/>
          </a:prstGeom>
          <a:noFill/>
        </p:spPr>
        <p:txBody>
          <a:bodyPr wrap="square" anchor="t" lIns="0" rIns="0" tIns="0" bIns="0">
            <a:noAutofit/>
          </a:bodyPr>
          <a:lstStyle/>
          <a:p>
            <a:pPr algn="l"/>
            <a:r>
              <a:rPr sz="1200" b="0" i="0">
                <a:solidFill>
                  <a:srgbClr val="333333"/>
                </a:solidFill>
                <a:latin typeface="Calibri"/>
              </a:rPr>
              <a:t>Prefer a conversation first?</a:t>
            </a:r>
          </a:p>
        </p:txBody>
      </p:sp>
      <p:sp>
        <p:nvSpPr>
          <p:cNvPr id="17" name="TextBox 16"/>
          <p:cNvSpPr txBox="1"/>
          <p:nvPr/>
        </p:nvSpPr>
        <p:spPr>
          <a:xfrm>
            <a:off x="320040" y="5458968"/>
            <a:ext cx="6675120" cy="320040"/>
          </a:xfrm>
          <a:prstGeom prst="rect">
            <a:avLst/>
          </a:prstGeom>
          <a:noFill/>
        </p:spPr>
        <p:txBody>
          <a:bodyPr wrap="square" anchor="t" lIns="0" rIns="0" tIns="0" bIns="0">
            <a:noAutofit/>
          </a:bodyPr>
          <a:lstStyle/>
          <a:p>
            <a:pPr algn="l"/>
            <a:r>
              <a:rPr sz="1200" b="1" i="0" u="none">
                <a:solidFill>
                  <a:srgbClr val="01A296"/>
                </a:solidFill>
                <a:latin typeface="Calibri"/>
                <a:hlinkClick r:id="rId4"/>
              </a:rPr>
              <a:t>Book a complimentary discovery call</a:t>
            </a:r>
          </a:p>
        </p:txBody>
      </p:sp>
      <p:sp>
        <p:nvSpPr>
          <p:cNvPr id="18" name="Rectangle 17"/>
          <p:cNvSpPr/>
          <p:nvPr/>
        </p:nvSpPr>
        <p:spPr>
          <a:xfrm>
            <a:off x="7315200" y="1097280"/>
            <a:ext cx="4553712" cy="4892040"/>
          </a:xfrm>
          <a:prstGeom prst="rect">
            <a:avLst/>
          </a:prstGeom>
          <a:solidFill>
            <a:srgbClr val="000000"/>
          </a:solidFill>
          <a:ln>
            <a:noFill/>
          </a:ln>
          <a:effectLst/>
        </p:spPr>
        <p:txBody>
          <a:bodyPr rtlCol="0" anchor="ctr"/>
          <a:lstStyle/>
          <a:p>
            <a:pPr algn="ctr"/>
          </a:p>
        </p:txBody>
      </p:sp>
      <p:sp>
        <p:nvSpPr>
          <p:cNvPr id="19" name="Rectangle 18"/>
          <p:cNvSpPr/>
          <p:nvPr/>
        </p:nvSpPr>
        <p:spPr>
          <a:xfrm>
            <a:off x="7315200" y="1097280"/>
            <a:ext cx="4553712" cy="38100"/>
          </a:xfrm>
          <a:prstGeom prst="rect">
            <a:avLst/>
          </a:prstGeom>
          <a:solidFill>
            <a:srgbClr val="01A296"/>
          </a:solidFill>
          <a:ln>
            <a:noFill/>
          </a:ln>
          <a:effectLst/>
        </p:spPr>
        <p:txBody>
          <a:bodyPr rtlCol="0" anchor="ctr"/>
          <a:lstStyle/>
          <a:p>
            <a:pPr algn="ctr"/>
          </a:p>
        </p:txBody>
      </p:sp>
      <p:sp>
        <p:nvSpPr>
          <p:cNvPr id="20" name="TextBox 19"/>
          <p:cNvSpPr txBox="1"/>
          <p:nvPr/>
        </p:nvSpPr>
        <p:spPr>
          <a:xfrm>
            <a:off x="7589520" y="1298448"/>
            <a:ext cx="4005072" cy="411480"/>
          </a:xfrm>
          <a:prstGeom prst="rect">
            <a:avLst/>
          </a:prstGeom>
          <a:noFill/>
        </p:spPr>
        <p:txBody>
          <a:bodyPr wrap="square" anchor="t" lIns="0" rIns="0" tIns="0" bIns="0">
            <a:noAutofit/>
          </a:bodyPr>
          <a:lstStyle/>
          <a:p>
            <a:pPr algn="l"/>
            <a:r>
              <a:rPr sz="1900" b="1" i="0">
                <a:solidFill>
                  <a:srgbClr val="F8C806"/>
                </a:solidFill>
                <a:latin typeface="Georgia"/>
              </a:rPr>
              <a:t>Nitesh Roopa</a:t>
            </a:r>
          </a:p>
        </p:txBody>
      </p:sp>
      <p:sp>
        <p:nvSpPr>
          <p:cNvPr id="21" name="TextBox 20"/>
          <p:cNvSpPr txBox="1"/>
          <p:nvPr/>
        </p:nvSpPr>
        <p:spPr>
          <a:xfrm>
            <a:off x="7589520" y="1737360"/>
            <a:ext cx="4005072" cy="320040"/>
          </a:xfrm>
          <a:prstGeom prst="rect">
            <a:avLst/>
          </a:prstGeom>
          <a:noFill/>
        </p:spPr>
        <p:txBody>
          <a:bodyPr wrap="square" anchor="t" lIns="0" rIns="0" tIns="0" bIns="0">
            <a:noAutofit/>
          </a:bodyPr>
          <a:lstStyle/>
          <a:p>
            <a:pPr algn="l"/>
            <a:r>
              <a:rPr sz="1250" b="0" i="0">
                <a:solidFill>
                  <a:srgbClr val="FFFFFF"/>
                </a:solidFill>
                <a:latin typeface="Calibri"/>
              </a:rPr>
              <a:t>CA, Managing Partner, ProfitPulse</a:t>
            </a:r>
          </a:p>
        </p:txBody>
      </p:sp>
      <p:sp>
        <p:nvSpPr>
          <p:cNvPr id="22" name="Rectangle 21"/>
          <p:cNvSpPr/>
          <p:nvPr/>
        </p:nvSpPr>
        <p:spPr>
          <a:xfrm>
            <a:off x="7589520" y="2121408"/>
            <a:ext cx="4005072" cy="15875"/>
          </a:xfrm>
          <a:prstGeom prst="rect">
            <a:avLst/>
          </a:prstGeom>
          <a:solidFill>
            <a:srgbClr val="01A296"/>
          </a:solidFill>
          <a:ln>
            <a:noFill/>
          </a:ln>
          <a:effectLst/>
        </p:spPr>
        <p:txBody>
          <a:bodyPr rtlCol="0" anchor="ctr"/>
          <a:lstStyle/>
          <a:p>
            <a:pPr algn="ctr"/>
          </a:p>
        </p:txBody>
      </p:sp>
      <p:sp>
        <p:nvSpPr>
          <p:cNvPr id="23" name="TextBox 22"/>
          <p:cNvSpPr txBox="1"/>
          <p:nvPr/>
        </p:nvSpPr>
        <p:spPr>
          <a:xfrm>
            <a:off x="7589520" y="2286000"/>
            <a:ext cx="4005072" cy="1417320"/>
          </a:xfrm>
          <a:prstGeom prst="rect">
            <a:avLst/>
          </a:prstGeom>
          <a:noFill/>
        </p:spPr>
        <p:txBody>
          <a:bodyPr wrap="square" anchor="t" lIns="0" rIns="0" tIns="0" bIns="0">
            <a:noAutofit/>
          </a:bodyPr>
          <a:lstStyle/>
          <a:p>
            <a:pPr algn="l">
              <a:lnSpc>
                <a:spcPct val="125000"/>
              </a:lnSpc>
              <a:spcAft>
                <a:spcPts val="700"/>
              </a:spcAft>
            </a:pPr>
            <a:r>
              <a:rPr sz="1150" b="0" i="0">
                <a:solidFill>
                  <a:srgbClr val="E6E5DE"/>
                </a:solidFill>
                <a:latin typeface="Calibri"/>
              </a:rPr>
              <a:t>16 years across 4 countries</a:t>
            </a:r>
          </a:p>
          <a:p>
            <a:pPr algn="l">
              <a:lnSpc>
                <a:spcPct val="125000"/>
              </a:lnSpc>
              <a:spcAft>
                <a:spcPts val="700"/>
              </a:spcAft>
            </a:pPr>
            <a:r>
              <a:rPr sz="1150" b="0" i="0">
                <a:solidFill>
                  <a:srgbClr val="E6E5DE"/>
                </a:solidFill>
                <a:latin typeface="Calibri"/>
              </a:rPr>
              <a:t>52 deals executed and managed</a:t>
            </a:r>
          </a:p>
          <a:p>
            <a:pPr algn="l">
              <a:lnSpc>
                <a:spcPct val="125000"/>
              </a:lnSpc>
              <a:spcAft>
                <a:spcPts val="700"/>
              </a:spcAft>
            </a:pPr>
            <a:r>
              <a:rPr sz="1150" b="0" i="0">
                <a:solidFill>
                  <a:srgbClr val="E6E5DE"/>
                </a:solidFill>
                <a:latin typeface="Calibri"/>
              </a:rPr>
              <a:t>Largest single deal, USD 1.3 billion, Cahora Bassa</a:t>
            </a:r>
          </a:p>
          <a:p>
            <a:pPr algn="l">
              <a:lnSpc>
                <a:spcPct val="125000"/>
              </a:lnSpc>
              <a:spcAft>
                <a:spcPts val="700"/>
              </a:spcAft>
            </a:pPr>
            <a:r>
              <a:rPr sz="1150" b="0" i="0">
                <a:solidFill>
                  <a:srgbClr val="E6E5DE"/>
                </a:solidFill>
                <a:latin typeface="Calibri"/>
              </a:rPr>
              <a:t>Total GRBT project value over AUD 10 billion</a:t>
            </a:r>
          </a:p>
        </p:txBody>
      </p:sp>
      <p:sp>
        <p:nvSpPr>
          <p:cNvPr id="24" name="Rectangle 23"/>
          <p:cNvSpPr/>
          <p:nvPr/>
        </p:nvSpPr>
        <p:spPr>
          <a:xfrm>
            <a:off x="7589520" y="3767328"/>
            <a:ext cx="4005072" cy="15875"/>
          </a:xfrm>
          <a:prstGeom prst="rect">
            <a:avLst/>
          </a:prstGeom>
          <a:solidFill>
            <a:srgbClr val="01A296"/>
          </a:solidFill>
          <a:ln>
            <a:noFill/>
          </a:ln>
          <a:effectLst/>
        </p:spPr>
        <p:txBody>
          <a:bodyPr rtlCol="0" anchor="ctr"/>
          <a:lstStyle/>
          <a:p>
            <a:pPr algn="ctr"/>
          </a:p>
        </p:txBody>
      </p:sp>
      <p:sp>
        <p:nvSpPr>
          <p:cNvPr id="25" name="TextBox 24"/>
          <p:cNvSpPr txBox="1"/>
          <p:nvPr/>
        </p:nvSpPr>
        <p:spPr>
          <a:xfrm>
            <a:off x="7589520" y="3931920"/>
            <a:ext cx="4005072" cy="1371600"/>
          </a:xfrm>
          <a:prstGeom prst="rect">
            <a:avLst/>
          </a:prstGeom>
          <a:noFill/>
        </p:spPr>
        <p:txBody>
          <a:bodyPr wrap="square" anchor="t" lIns="0" rIns="0" tIns="0" bIns="0">
            <a:noAutofit/>
          </a:bodyPr>
          <a:lstStyle/>
          <a:p>
            <a:pPr algn="l">
              <a:lnSpc>
                <a:spcPct val="130000"/>
              </a:lnSpc>
              <a:spcAft>
                <a:spcPts val="600"/>
              </a:spcAft>
            </a:pPr>
            <a:r>
              <a:rPr sz="1200" b="0" i="0">
                <a:solidFill>
                  <a:srgbClr val="E6E5DE"/>
                </a:solidFill>
                <a:latin typeface="Calibri"/>
              </a:rPr>
              <a:t>Profit-Pulse.com.au</a:t>
            </a:r>
          </a:p>
          <a:p>
            <a:pPr algn="l">
              <a:lnSpc>
                <a:spcPct val="130000"/>
              </a:lnSpc>
              <a:spcAft>
                <a:spcPts val="600"/>
              </a:spcAft>
            </a:pPr>
            <a:r>
              <a:rPr sz="1200" b="0" i="0">
                <a:solidFill>
                  <a:srgbClr val="01A296"/>
                </a:solidFill>
                <a:latin typeface="Calibri"/>
              </a:rPr>
              <a:t>Nitesh@Profit-Pulse.com.au</a:t>
            </a:r>
          </a:p>
          <a:p>
            <a:pPr algn="l">
              <a:lnSpc>
                <a:spcPct val="130000"/>
              </a:lnSpc>
              <a:spcAft>
                <a:spcPts val="600"/>
              </a:spcAft>
            </a:pPr>
            <a:r>
              <a:rPr sz="1200" b="0" i="0">
                <a:solidFill>
                  <a:srgbClr val="E6E5DE"/>
                </a:solidFill>
                <a:latin typeface="Calibri"/>
              </a:rPr>
              <a:t>+61 411 876 267</a:t>
            </a:r>
          </a:p>
          <a:p>
            <a:pPr algn="l">
              <a:lnSpc>
                <a:spcPct val="130000"/>
              </a:lnSpc>
              <a:spcAft>
                <a:spcPts val="600"/>
              </a:spcAft>
            </a:pPr>
            <a:r>
              <a:rPr sz="11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1A296"/>
      </a:hlink>
      <a:folHlink>
        <a:srgbClr val="01A2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