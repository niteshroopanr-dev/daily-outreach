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00w4gA7OUfGM5TadMH3ks0z"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anchor="t">
            <a:noAutofit/>
          </a:bodyPr>
          <a:lstStyle/>
          <a:p>
            <a:pPr algn="l"/>
            <a:r>
              <a:rPr sz="1200" b="1" i="0">
                <a:solidFill>
                  <a:srgbClr val="E6E5DE"/>
                </a:solidFill>
                <a:latin typeface="Calibri"/>
              </a:rPr>
              <a:t>COMMERCIAL INTELLIGENCE BRIEF</a:t>
            </a:r>
          </a:p>
        </p:txBody>
      </p:sp>
      <p:sp>
        <p:nvSpPr>
          <p:cNvPr id="5" name="TextBox 4"/>
          <p:cNvSpPr txBox="1"/>
          <p:nvPr/>
        </p:nvSpPr>
        <p:spPr>
          <a:xfrm>
            <a:off x="8686800" y="292608"/>
            <a:ext cx="3291840" cy="365760"/>
          </a:xfrm>
          <a:prstGeom prst="rect">
            <a:avLst/>
          </a:prstGeom>
          <a:noFill/>
        </p:spPr>
        <p:txBody>
          <a:bodyPr wrap="square" anchor="t">
            <a:noAutofit/>
          </a:bodyPr>
          <a:lstStyle/>
          <a:p>
            <a:pPr algn="r"/>
            <a:r>
              <a:rPr sz="1200" b="1" i="0">
                <a:solidFill>
                  <a:srgbClr val="01A296"/>
                </a:solidFill>
                <a:latin typeface="Calibri"/>
              </a:rPr>
              <a:t>PROFITPULSE</a:t>
            </a:r>
          </a:p>
        </p:txBody>
      </p:sp>
      <p:sp>
        <p:nvSpPr>
          <p:cNvPr id="6" name="Rectangle 5"/>
          <p:cNvSpPr/>
          <p:nvPr/>
        </p:nvSpPr>
        <p:spPr>
          <a:xfrm>
            <a:off x="320040" y="6419088"/>
            <a:ext cx="1152144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473952"/>
            <a:ext cx="8686800" cy="320040"/>
          </a:xfrm>
          <a:prstGeom prst="rect">
            <a:avLst/>
          </a:prstGeom>
          <a:noFill/>
        </p:spPr>
        <p:txBody>
          <a:bodyPr wrap="square" anchor="t">
            <a:noAutofit/>
          </a:bodyPr>
          <a:lstStyle/>
          <a:p>
            <a:pPr algn="l"/>
            <a:r>
              <a:rPr sz="800" b="0" i="0">
                <a:solidFill>
                  <a:srgbClr val="666666"/>
                </a:solidFill>
                <a:latin typeface="Calibri"/>
              </a:rPr>
              <a:t>Prepared by Nitesh Roopa CA, Managing Partner and Founder, ProfitPulse, Profit-Pulse.com.au</a:t>
            </a:r>
          </a:p>
        </p:txBody>
      </p:sp>
      <p:sp>
        <p:nvSpPr>
          <p:cNvPr id="8" name="TextBox 7"/>
          <p:cNvSpPr txBox="1"/>
          <p:nvPr/>
        </p:nvSpPr>
        <p:spPr>
          <a:xfrm>
            <a:off x="9601200" y="6473952"/>
            <a:ext cx="2286000" cy="320040"/>
          </a:xfrm>
          <a:prstGeom prst="rect">
            <a:avLst/>
          </a:prstGeom>
          <a:noFill/>
        </p:spPr>
        <p:txBody>
          <a:bodyPr wrap="square" anchor="t">
            <a:noAutofit/>
          </a:bodyPr>
          <a:lstStyle/>
          <a:p>
            <a:pPr algn="r"/>
            <a:r>
              <a:rPr sz="800" b="0" i="0">
                <a:solidFill>
                  <a:srgbClr val="666666"/>
                </a:solidFill>
                <a:latin typeface="Calibri"/>
              </a:rPr>
              <a:t>25 Aug 2026</a:t>
            </a:r>
          </a:p>
        </p:txBody>
      </p:sp>
      <p:sp>
        <p:nvSpPr>
          <p:cNvPr id="9" name="TextBox 8"/>
          <p:cNvSpPr txBox="1"/>
          <p:nvPr/>
        </p:nvSpPr>
        <p:spPr>
          <a:xfrm>
            <a:off x="320040" y="1024128"/>
            <a:ext cx="7772400" cy="777240"/>
          </a:xfrm>
          <a:prstGeom prst="rect">
            <a:avLst/>
          </a:prstGeom>
          <a:noFill/>
        </p:spPr>
        <p:txBody>
          <a:bodyPr wrap="square" anchor="t">
            <a:noAutofit/>
          </a:bodyPr>
          <a:lstStyle/>
          <a:p>
            <a:pPr algn="l"/>
            <a:r>
              <a:rPr sz="4200" b="1" i="0">
                <a:solidFill>
                  <a:srgbClr val="000000"/>
                </a:solidFill>
                <a:latin typeface="Georgia"/>
              </a:rPr>
              <a:t>Paire</a:t>
            </a:r>
          </a:p>
        </p:txBody>
      </p:sp>
      <p:sp>
        <p:nvSpPr>
          <p:cNvPr id="10" name="TextBox 9"/>
          <p:cNvSpPr txBox="1"/>
          <p:nvPr/>
        </p:nvSpPr>
        <p:spPr>
          <a:xfrm>
            <a:off x="320040" y="1737360"/>
            <a:ext cx="10515600" cy="320040"/>
          </a:xfrm>
          <a:prstGeom prst="rect">
            <a:avLst/>
          </a:prstGeom>
          <a:noFill/>
        </p:spPr>
        <p:txBody>
          <a:bodyPr wrap="square" anchor="t">
            <a:noAutofit/>
          </a:bodyPr>
          <a:lstStyle/>
          <a:p>
            <a:pPr algn="l"/>
            <a:r>
              <a:rPr sz="1300" b="0" i="0">
                <a:solidFill>
                  <a:srgbClr val="444444"/>
                </a:solidFill>
                <a:latin typeface="Calibri"/>
              </a:rPr>
              <a:t>Direct to consumer sock and essentials brand, South Melbourne VIC</a:t>
            </a:r>
          </a:p>
        </p:txBody>
      </p:sp>
      <p:sp>
        <p:nvSpPr>
          <p:cNvPr id="11" name="Rectangle 10"/>
          <p:cNvSpPr/>
          <p:nvPr/>
        </p:nvSpPr>
        <p:spPr>
          <a:xfrm>
            <a:off x="320040" y="2148840"/>
            <a:ext cx="1810512" cy="13716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2148840"/>
            <a:ext cx="1810512" cy="381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 y="2258568"/>
            <a:ext cx="1591056" cy="457200"/>
          </a:xfrm>
          <a:prstGeom prst="rect">
            <a:avLst/>
          </a:prstGeom>
          <a:noFill/>
        </p:spPr>
        <p:txBody>
          <a:bodyPr wrap="square" anchor="t">
            <a:noAutofit/>
          </a:bodyPr>
          <a:lstStyle/>
          <a:p>
            <a:pPr algn="l"/>
            <a:r>
              <a:rPr sz="2700" b="1" i="0">
                <a:solidFill>
                  <a:srgbClr val="F8C806"/>
                </a:solidFill>
                <a:latin typeface="Georgia"/>
              </a:rPr>
              <a:t>$10.0M</a:t>
            </a:r>
          </a:p>
        </p:txBody>
      </p:sp>
      <p:sp>
        <p:nvSpPr>
          <p:cNvPr id="14" name="TextBox 13"/>
          <p:cNvSpPr txBox="1"/>
          <p:nvPr/>
        </p:nvSpPr>
        <p:spPr>
          <a:xfrm>
            <a:off x="429768" y="2715768"/>
            <a:ext cx="1591056" cy="502920"/>
          </a:xfrm>
          <a:prstGeom prst="rect">
            <a:avLst/>
          </a:prstGeom>
          <a:noFill/>
        </p:spPr>
        <p:txBody>
          <a:bodyPr wrap="square">
            <a:spAutoFit/>
          </a:bodyPr>
          <a:lstStyle/>
          <a:p>
            <a:pPr algn="l">
              <a:lnSpc>
                <a:spcPct val="100000"/>
              </a:lnSpc>
              <a:spcAft>
                <a:spcPts val="0"/>
              </a:spcAft>
            </a:pPr>
            <a:r>
              <a:rPr sz="1000" b="0">
                <a:solidFill>
                  <a:srgbClr val="E6E5DE"/>
                </a:solidFill>
                <a:latin typeface="Calibri"/>
              </a:rPr>
              <a:t>Revenue, FY2025</a:t>
            </a:r>
          </a:p>
        </p:txBody>
      </p:sp>
      <p:sp>
        <p:nvSpPr>
          <p:cNvPr id="15" name="TextBox 14"/>
          <p:cNvSpPr txBox="1"/>
          <p:nvPr/>
        </p:nvSpPr>
        <p:spPr>
          <a:xfrm>
            <a:off x="429768" y="3227832"/>
            <a:ext cx="1591056" cy="256032"/>
          </a:xfrm>
          <a:prstGeom prst="rect">
            <a:avLst/>
          </a:prstGeom>
          <a:noFill/>
        </p:spPr>
        <p:txBody>
          <a:bodyPr wrap="square" anchor="t">
            <a:noAutofit/>
          </a:bodyPr>
          <a:lstStyle/>
          <a:p>
            <a:pPr algn="l"/>
            <a:r>
              <a:rPr sz="700" b="0" i="1">
                <a:solidFill>
                  <a:srgbClr val="9A9A9A"/>
                </a:solidFill>
                <a:latin typeface="Calibri"/>
              </a:rPr>
              <a:t>SmartCompany Smart50, Nov 2025</a:t>
            </a:r>
          </a:p>
        </p:txBody>
      </p:sp>
      <p:sp>
        <p:nvSpPr>
          <p:cNvPr id="16" name="Rectangle 15"/>
          <p:cNvSpPr/>
          <p:nvPr/>
        </p:nvSpPr>
        <p:spPr>
          <a:xfrm>
            <a:off x="2267712" y="2148840"/>
            <a:ext cx="1810512" cy="13716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67712" y="2148840"/>
            <a:ext cx="1810512" cy="381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77440" y="2258568"/>
            <a:ext cx="1591056" cy="457200"/>
          </a:xfrm>
          <a:prstGeom prst="rect">
            <a:avLst/>
          </a:prstGeom>
          <a:noFill/>
        </p:spPr>
        <p:txBody>
          <a:bodyPr wrap="square" anchor="t">
            <a:noAutofit/>
          </a:bodyPr>
          <a:lstStyle/>
          <a:p>
            <a:pPr algn="l"/>
            <a:r>
              <a:rPr sz="2700" b="1" i="0">
                <a:solidFill>
                  <a:srgbClr val="F8C806"/>
                </a:solidFill>
                <a:latin typeface="Georgia"/>
              </a:rPr>
              <a:t>15/50</a:t>
            </a:r>
          </a:p>
        </p:txBody>
      </p:sp>
      <p:sp>
        <p:nvSpPr>
          <p:cNvPr id="19" name="TextBox 18"/>
          <p:cNvSpPr txBox="1"/>
          <p:nvPr/>
        </p:nvSpPr>
        <p:spPr>
          <a:xfrm>
            <a:off x="2377440" y="2715768"/>
            <a:ext cx="1591056" cy="502920"/>
          </a:xfrm>
          <a:prstGeom prst="rect">
            <a:avLst/>
          </a:prstGeom>
          <a:noFill/>
        </p:spPr>
        <p:txBody>
          <a:bodyPr wrap="square">
            <a:spAutoFit/>
          </a:bodyPr>
          <a:lstStyle/>
          <a:p>
            <a:pPr algn="l">
              <a:lnSpc>
                <a:spcPct val="100000"/>
              </a:lnSpc>
              <a:spcAft>
                <a:spcPts val="0"/>
              </a:spcAft>
            </a:pPr>
            <a:r>
              <a:rPr sz="1000" b="0">
                <a:solidFill>
                  <a:srgbClr val="E6E5DE"/>
                </a:solidFill>
                <a:latin typeface="Calibri"/>
              </a:rPr>
              <a:t>Smart50 2025 rank</a:t>
            </a:r>
          </a:p>
        </p:txBody>
      </p:sp>
      <p:sp>
        <p:nvSpPr>
          <p:cNvPr id="20" name="TextBox 19"/>
          <p:cNvSpPr txBox="1"/>
          <p:nvPr/>
        </p:nvSpPr>
        <p:spPr>
          <a:xfrm>
            <a:off x="2377440" y="3227832"/>
            <a:ext cx="1591056" cy="256032"/>
          </a:xfrm>
          <a:prstGeom prst="rect">
            <a:avLst/>
          </a:prstGeom>
          <a:noFill/>
        </p:spPr>
        <p:txBody>
          <a:bodyPr wrap="square" anchor="t">
            <a:noAutofit/>
          </a:bodyPr>
          <a:lstStyle/>
          <a:p>
            <a:pPr algn="l"/>
            <a:r>
              <a:rPr sz="700" b="0" i="1">
                <a:solidFill>
                  <a:srgbClr val="9A9A9A"/>
                </a:solidFill>
                <a:latin typeface="Calibri"/>
              </a:rPr>
              <a:t>SmartCompany, Nov 2025</a:t>
            </a:r>
          </a:p>
        </p:txBody>
      </p:sp>
      <p:sp>
        <p:nvSpPr>
          <p:cNvPr id="21" name="Rectangle 20"/>
          <p:cNvSpPr/>
          <p:nvPr/>
        </p:nvSpPr>
        <p:spPr>
          <a:xfrm>
            <a:off x="4215384" y="2148840"/>
            <a:ext cx="1810512" cy="13716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15384" y="2148840"/>
            <a:ext cx="1810512" cy="381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25112" y="2258568"/>
            <a:ext cx="1591056" cy="457200"/>
          </a:xfrm>
          <a:prstGeom prst="rect">
            <a:avLst/>
          </a:prstGeom>
          <a:noFill/>
        </p:spPr>
        <p:txBody>
          <a:bodyPr wrap="square" anchor="t">
            <a:noAutofit/>
          </a:bodyPr>
          <a:lstStyle/>
          <a:p>
            <a:pPr algn="l"/>
            <a:r>
              <a:rPr sz="2700" b="1" i="0">
                <a:solidFill>
                  <a:srgbClr val="F8C806"/>
                </a:solidFill>
                <a:latin typeface="Georgia"/>
              </a:rPr>
              <a:t>300K+</a:t>
            </a:r>
          </a:p>
        </p:txBody>
      </p:sp>
      <p:sp>
        <p:nvSpPr>
          <p:cNvPr id="24" name="TextBox 23"/>
          <p:cNvSpPr txBox="1"/>
          <p:nvPr/>
        </p:nvSpPr>
        <p:spPr>
          <a:xfrm>
            <a:off x="4325112" y="2715768"/>
            <a:ext cx="1591056" cy="502920"/>
          </a:xfrm>
          <a:prstGeom prst="rect">
            <a:avLst/>
          </a:prstGeom>
          <a:noFill/>
        </p:spPr>
        <p:txBody>
          <a:bodyPr wrap="square">
            <a:spAutoFit/>
          </a:bodyPr>
          <a:lstStyle/>
          <a:p>
            <a:pPr algn="l">
              <a:lnSpc>
                <a:spcPct val="100000"/>
              </a:lnSpc>
              <a:spcAft>
                <a:spcPts val="0"/>
              </a:spcAft>
            </a:pPr>
            <a:r>
              <a:rPr sz="1000" b="0">
                <a:solidFill>
                  <a:srgbClr val="E6E5DE"/>
                </a:solidFill>
                <a:latin typeface="Calibri"/>
              </a:rPr>
              <a:t>Global customers</a:t>
            </a:r>
          </a:p>
        </p:txBody>
      </p:sp>
      <p:sp>
        <p:nvSpPr>
          <p:cNvPr id="25" name="TextBox 24"/>
          <p:cNvSpPr txBox="1"/>
          <p:nvPr/>
        </p:nvSpPr>
        <p:spPr>
          <a:xfrm>
            <a:off x="4325112" y="3227832"/>
            <a:ext cx="1591056" cy="256032"/>
          </a:xfrm>
          <a:prstGeom prst="rect">
            <a:avLst/>
          </a:prstGeom>
          <a:noFill/>
        </p:spPr>
        <p:txBody>
          <a:bodyPr wrap="square" anchor="t">
            <a:noAutofit/>
          </a:bodyPr>
          <a:lstStyle/>
          <a:p>
            <a:pPr algn="l"/>
            <a:r>
              <a:rPr sz="700" b="0" i="1">
                <a:solidFill>
                  <a:srgbClr val="9A9A9A"/>
                </a:solidFill>
                <a:latin typeface="Calibri"/>
              </a:rPr>
              <a:t>Inside Retail, Aug 2026</a:t>
            </a:r>
          </a:p>
        </p:txBody>
      </p:sp>
      <p:sp>
        <p:nvSpPr>
          <p:cNvPr id="26" name="Rectangle 25"/>
          <p:cNvSpPr/>
          <p:nvPr/>
        </p:nvSpPr>
        <p:spPr>
          <a:xfrm>
            <a:off x="6163056" y="2148840"/>
            <a:ext cx="1810512" cy="13716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2148840"/>
            <a:ext cx="1810512" cy="381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2784" y="2258568"/>
            <a:ext cx="1591056" cy="457200"/>
          </a:xfrm>
          <a:prstGeom prst="rect">
            <a:avLst/>
          </a:prstGeom>
          <a:noFill/>
        </p:spPr>
        <p:txBody>
          <a:bodyPr wrap="square" anchor="t">
            <a:noAutofit/>
          </a:bodyPr>
          <a:lstStyle/>
          <a:p>
            <a:pPr algn="l"/>
            <a:r>
              <a:rPr sz="2700" b="1" i="0">
                <a:solidFill>
                  <a:srgbClr val="F8C806"/>
                </a:solidFill>
                <a:latin typeface="Georgia"/>
              </a:rPr>
              <a:t>2020</a:t>
            </a:r>
          </a:p>
        </p:txBody>
      </p:sp>
      <p:sp>
        <p:nvSpPr>
          <p:cNvPr id="29" name="TextBox 28"/>
          <p:cNvSpPr txBox="1"/>
          <p:nvPr/>
        </p:nvSpPr>
        <p:spPr>
          <a:xfrm>
            <a:off x="6272784" y="2715768"/>
            <a:ext cx="1591056" cy="502920"/>
          </a:xfrm>
          <a:prstGeom prst="rect">
            <a:avLst/>
          </a:prstGeom>
          <a:noFill/>
        </p:spPr>
        <p:txBody>
          <a:bodyPr wrap="square">
            <a:spAutoFit/>
          </a:bodyPr>
          <a:lstStyle/>
          <a:p>
            <a:pPr algn="l">
              <a:lnSpc>
                <a:spcPct val="100000"/>
              </a:lnSpc>
              <a:spcAft>
                <a:spcPts val="0"/>
              </a:spcAft>
            </a:pPr>
            <a:r>
              <a:rPr sz="1000" b="0">
                <a:solidFill>
                  <a:srgbClr val="E6E5DE"/>
                </a:solidFill>
                <a:latin typeface="Calibri"/>
              </a:rPr>
              <a:t>Founded, garage</a:t>
            </a:r>
          </a:p>
          <a:p>
            <a:pPr algn="l">
              <a:lnSpc>
                <a:spcPct val="100000"/>
              </a:lnSpc>
              <a:spcAft>
                <a:spcPts val="0"/>
              </a:spcAft>
            </a:pPr>
            <a:r>
              <a:rPr sz="1000" b="0">
                <a:solidFill>
                  <a:srgbClr val="E6E5DE"/>
                </a:solidFill>
                <a:latin typeface="Calibri"/>
              </a:rPr>
              <a:t>start in Melbourne</a:t>
            </a:r>
          </a:p>
        </p:txBody>
      </p:sp>
      <p:sp>
        <p:nvSpPr>
          <p:cNvPr id="30" name="TextBox 29"/>
          <p:cNvSpPr txBox="1"/>
          <p:nvPr/>
        </p:nvSpPr>
        <p:spPr>
          <a:xfrm>
            <a:off x="6272784" y="3227832"/>
            <a:ext cx="1591056" cy="256032"/>
          </a:xfrm>
          <a:prstGeom prst="rect">
            <a:avLst/>
          </a:prstGeom>
          <a:noFill/>
        </p:spPr>
        <p:txBody>
          <a:bodyPr wrap="square" anchor="t">
            <a:noAutofit/>
          </a:bodyPr>
          <a:lstStyle/>
          <a:p>
            <a:pPr algn="l"/>
            <a:r>
              <a:rPr sz="700" b="0" i="1">
                <a:solidFill>
                  <a:srgbClr val="9A9A9A"/>
                </a:solidFill>
                <a:latin typeface="Calibri"/>
              </a:rPr>
              <a:t>Power Retail profile</a:t>
            </a:r>
          </a:p>
        </p:txBody>
      </p:sp>
      <p:sp>
        <p:nvSpPr>
          <p:cNvPr id="31" name="Rectangle 30"/>
          <p:cNvSpPr/>
          <p:nvPr/>
        </p:nvSpPr>
        <p:spPr>
          <a:xfrm>
            <a:off x="8110728" y="2148840"/>
            <a:ext cx="1810512" cy="13716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10728" y="2148840"/>
            <a:ext cx="1810512" cy="381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0456" y="2258568"/>
            <a:ext cx="1591056" cy="457200"/>
          </a:xfrm>
          <a:prstGeom prst="rect">
            <a:avLst/>
          </a:prstGeom>
          <a:noFill/>
        </p:spPr>
        <p:txBody>
          <a:bodyPr wrap="square" anchor="t">
            <a:noAutofit/>
          </a:bodyPr>
          <a:lstStyle/>
          <a:p>
            <a:pPr algn="l"/>
            <a:r>
              <a:rPr sz="2700" b="1" i="0">
                <a:solidFill>
                  <a:srgbClr val="F8C806"/>
                </a:solidFill>
                <a:latin typeface="Georgia"/>
              </a:rPr>
              <a:t>60+</a:t>
            </a:r>
          </a:p>
        </p:txBody>
      </p:sp>
      <p:sp>
        <p:nvSpPr>
          <p:cNvPr id="34" name="TextBox 33"/>
          <p:cNvSpPr txBox="1"/>
          <p:nvPr/>
        </p:nvSpPr>
        <p:spPr>
          <a:xfrm>
            <a:off x="8220456" y="2715768"/>
            <a:ext cx="1591056" cy="502920"/>
          </a:xfrm>
          <a:prstGeom prst="rect">
            <a:avLst/>
          </a:prstGeom>
          <a:noFill/>
        </p:spPr>
        <p:txBody>
          <a:bodyPr wrap="square">
            <a:spAutoFit/>
          </a:bodyPr>
          <a:lstStyle/>
          <a:p>
            <a:pPr algn="l">
              <a:lnSpc>
                <a:spcPct val="100000"/>
              </a:lnSpc>
              <a:spcAft>
                <a:spcPts val="0"/>
              </a:spcAft>
            </a:pPr>
            <a:r>
              <a:rPr sz="1000" b="0">
                <a:solidFill>
                  <a:srgbClr val="E6E5DE"/>
                </a:solidFill>
                <a:latin typeface="Calibri"/>
              </a:rPr>
              <a:t>Products across</a:t>
            </a:r>
          </a:p>
          <a:p>
            <a:pPr algn="l">
              <a:lnSpc>
                <a:spcPct val="100000"/>
              </a:lnSpc>
              <a:spcAft>
                <a:spcPts val="0"/>
              </a:spcAft>
            </a:pPr>
            <a:r>
              <a:rPr sz="1000" b="0">
                <a:solidFill>
                  <a:srgbClr val="E6E5DE"/>
                </a:solidFill>
                <a:latin typeface="Calibri"/>
              </a:rPr>
              <a:t>four categories</a:t>
            </a:r>
          </a:p>
        </p:txBody>
      </p:sp>
      <p:sp>
        <p:nvSpPr>
          <p:cNvPr id="35" name="TextBox 34"/>
          <p:cNvSpPr txBox="1"/>
          <p:nvPr/>
        </p:nvSpPr>
        <p:spPr>
          <a:xfrm>
            <a:off x="8220456" y="3227832"/>
            <a:ext cx="1591056" cy="256032"/>
          </a:xfrm>
          <a:prstGeom prst="rect">
            <a:avLst/>
          </a:prstGeom>
          <a:noFill/>
        </p:spPr>
        <p:txBody>
          <a:bodyPr wrap="square" anchor="t">
            <a:noAutofit/>
          </a:bodyPr>
          <a:lstStyle/>
          <a:p>
            <a:pPr algn="l"/>
            <a:r>
              <a:rPr sz="700" b="0" i="1">
                <a:solidFill>
                  <a:srgbClr val="9A9A9A"/>
                </a:solidFill>
                <a:latin typeface="Calibri"/>
              </a:rPr>
              <a:t>Inside Retail, Aug 2026</a:t>
            </a:r>
          </a:p>
        </p:txBody>
      </p:sp>
      <p:sp>
        <p:nvSpPr>
          <p:cNvPr id="36" name="Rectangle 35"/>
          <p:cNvSpPr/>
          <p:nvPr/>
        </p:nvSpPr>
        <p:spPr>
          <a:xfrm>
            <a:off x="10058400" y="2148840"/>
            <a:ext cx="1810512" cy="13716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058400" y="2148840"/>
            <a:ext cx="1810512" cy="381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68128" y="2258568"/>
            <a:ext cx="1591056" cy="457200"/>
          </a:xfrm>
          <a:prstGeom prst="rect">
            <a:avLst/>
          </a:prstGeom>
          <a:noFill/>
        </p:spPr>
        <p:txBody>
          <a:bodyPr wrap="square" anchor="t">
            <a:noAutofit/>
          </a:bodyPr>
          <a:lstStyle/>
          <a:p>
            <a:pPr algn="l"/>
            <a:r>
              <a:rPr sz="2700" b="1" i="0">
                <a:solidFill>
                  <a:srgbClr val="F8C806"/>
                </a:solidFill>
                <a:latin typeface="Georgia"/>
              </a:rPr>
              <a:t>26</a:t>
            </a:r>
          </a:p>
        </p:txBody>
      </p:sp>
      <p:sp>
        <p:nvSpPr>
          <p:cNvPr id="39" name="TextBox 38"/>
          <p:cNvSpPr txBox="1"/>
          <p:nvPr/>
        </p:nvSpPr>
        <p:spPr>
          <a:xfrm>
            <a:off x="10168128" y="2715768"/>
            <a:ext cx="1591056" cy="502920"/>
          </a:xfrm>
          <a:prstGeom prst="rect">
            <a:avLst/>
          </a:prstGeom>
          <a:noFill/>
        </p:spPr>
        <p:txBody>
          <a:bodyPr wrap="square">
            <a:spAutoFit/>
          </a:bodyPr>
          <a:lstStyle/>
          <a:p>
            <a:pPr algn="l">
              <a:lnSpc>
                <a:spcPct val="100000"/>
              </a:lnSpc>
              <a:spcAft>
                <a:spcPts val="0"/>
              </a:spcAft>
            </a:pPr>
            <a:r>
              <a:rPr sz="1000" b="0">
                <a:solidFill>
                  <a:srgbClr val="E6E5DE"/>
                </a:solidFill>
                <a:latin typeface="Calibri"/>
              </a:rPr>
              <a:t>Team, full time</a:t>
            </a:r>
          </a:p>
          <a:p>
            <a:pPr algn="l">
              <a:lnSpc>
                <a:spcPct val="100000"/>
              </a:lnSpc>
              <a:spcAft>
                <a:spcPts val="0"/>
              </a:spcAft>
            </a:pPr>
            <a:r>
              <a:rPr sz="1000" b="0">
                <a:solidFill>
                  <a:srgbClr val="E6E5DE"/>
                </a:solidFill>
                <a:latin typeface="Calibri"/>
              </a:rPr>
              <a:t>and casual staff</a:t>
            </a:r>
          </a:p>
        </p:txBody>
      </p:sp>
      <p:sp>
        <p:nvSpPr>
          <p:cNvPr id="40" name="TextBox 39"/>
          <p:cNvSpPr txBox="1"/>
          <p:nvPr/>
        </p:nvSpPr>
        <p:spPr>
          <a:xfrm>
            <a:off x="10168128" y="3227832"/>
            <a:ext cx="1591056" cy="256032"/>
          </a:xfrm>
          <a:prstGeom prst="rect">
            <a:avLst/>
          </a:prstGeom>
          <a:noFill/>
        </p:spPr>
        <p:txBody>
          <a:bodyPr wrap="square" anchor="t">
            <a:noAutofit/>
          </a:bodyPr>
          <a:lstStyle/>
          <a:p>
            <a:pPr algn="l"/>
            <a:r>
              <a:rPr sz="700" b="0" i="1">
                <a:solidFill>
                  <a:srgbClr val="9A9A9A"/>
                </a:solidFill>
                <a:latin typeface="Calibri"/>
              </a:rPr>
              <a:t>SmartCompany Smart50 profile</a:t>
            </a:r>
          </a:p>
        </p:txBody>
      </p:sp>
      <p:sp>
        <p:nvSpPr>
          <p:cNvPr id="41" name="Rectangle 40"/>
          <p:cNvSpPr/>
          <p:nvPr/>
        </p:nvSpPr>
        <p:spPr>
          <a:xfrm>
            <a:off x="320040" y="3767328"/>
            <a:ext cx="3566160" cy="233172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4632" y="3877056"/>
            <a:ext cx="3236976" cy="274320"/>
          </a:xfrm>
          <a:prstGeom prst="rect">
            <a:avLst/>
          </a:prstGeom>
          <a:noFill/>
        </p:spPr>
        <p:txBody>
          <a:bodyPr wrap="square" anchor="t">
            <a:noAutofit/>
          </a:bodyPr>
          <a:lstStyle/>
          <a:p>
            <a:pPr algn="l"/>
            <a:r>
              <a:rPr sz="1000" b="1" i="0">
                <a:solidFill>
                  <a:srgbClr val="01A296"/>
                </a:solidFill>
                <a:latin typeface="Calibri"/>
              </a:rPr>
              <a:t>REVENUE, FY22 TO FY25</a:t>
            </a:r>
          </a:p>
        </p:txBody>
      </p:sp>
      <p:sp>
        <p:nvSpPr>
          <p:cNvPr id="43" name="Rectangle 42"/>
          <p:cNvSpPr/>
          <p:nvPr/>
        </p:nvSpPr>
        <p:spPr>
          <a:xfrm>
            <a:off x="1234440" y="5431993"/>
            <a:ext cx="777240" cy="209854"/>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51560" y="5139385"/>
            <a:ext cx="1143000" cy="256032"/>
          </a:xfrm>
          <a:prstGeom prst="rect">
            <a:avLst/>
          </a:prstGeom>
          <a:noFill/>
        </p:spPr>
        <p:txBody>
          <a:bodyPr wrap="square" anchor="t">
            <a:noAutofit/>
          </a:bodyPr>
          <a:lstStyle/>
          <a:p>
            <a:pPr algn="ctr"/>
            <a:r>
              <a:rPr sz="1000" b="1" i="0">
                <a:solidFill>
                  <a:srgbClr val="000000"/>
                </a:solidFill>
                <a:latin typeface="Calibri"/>
              </a:rPr>
              <a:t>$1.7M</a:t>
            </a:r>
          </a:p>
        </p:txBody>
      </p:sp>
      <p:sp>
        <p:nvSpPr>
          <p:cNvPr id="45" name="TextBox 44"/>
          <p:cNvSpPr txBox="1"/>
          <p:nvPr/>
        </p:nvSpPr>
        <p:spPr>
          <a:xfrm>
            <a:off x="1051560" y="5696711"/>
            <a:ext cx="1143000" cy="256032"/>
          </a:xfrm>
          <a:prstGeom prst="rect">
            <a:avLst/>
          </a:prstGeom>
          <a:noFill/>
        </p:spPr>
        <p:txBody>
          <a:bodyPr wrap="square" anchor="t">
            <a:noAutofit/>
          </a:bodyPr>
          <a:lstStyle/>
          <a:p>
            <a:pPr algn="ctr"/>
            <a:r>
              <a:rPr sz="900" b="0" i="0">
                <a:solidFill>
                  <a:srgbClr val="555555"/>
                </a:solidFill>
                <a:latin typeface="Calibri"/>
              </a:rPr>
              <a:t>FY2022</a:t>
            </a:r>
          </a:p>
        </p:txBody>
      </p:sp>
      <p:sp>
        <p:nvSpPr>
          <p:cNvPr id="46" name="Rectangle 45"/>
          <p:cNvSpPr/>
          <p:nvPr/>
        </p:nvSpPr>
        <p:spPr>
          <a:xfrm>
            <a:off x="2423160" y="4407407"/>
            <a:ext cx="777240" cy="123444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240280" y="4114799"/>
            <a:ext cx="1143000" cy="256032"/>
          </a:xfrm>
          <a:prstGeom prst="rect">
            <a:avLst/>
          </a:prstGeom>
          <a:noFill/>
        </p:spPr>
        <p:txBody>
          <a:bodyPr wrap="square" anchor="t">
            <a:noAutofit/>
          </a:bodyPr>
          <a:lstStyle/>
          <a:p>
            <a:pPr algn="ctr"/>
            <a:r>
              <a:rPr sz="1000" b="1" i="0">
                <a:solidFill>
                  <a:srgbClr val="000000"/>
                </a:solidFill>
                <a:latin typeface="Calibri"/>
              </a:rPr>
              <a:t>$10.0M</a:t>
            </a:r>
          </a:p>
        </p:txBody>
      </p:sp>
      <p:sp>
        <p:nvSpPr>
          <p:cNvPr id="48" name="TextBox 47"/>
          <p:cNvSpPr txBox="1"/>
          <p:nvPr/>
        </p:nvSpPr>
        <p:spPr>
          <a:xfrm>
            <a:off x="2240280" y="5696711"/>
            <a:ext cx="1143000" cy="256032"/>
          </a:xfrm>
          <a:prstGeom prst="rect">
            <a:avLst/>
          </a:prstGeom>
          <a:noFill/>
        </p:spPr>
        <p:txBody>
          <a:bodyPr wrap="square" anchor="t">
            <a:noAutofit/>
          </a:bodyPr>
          <a:lstStyle/>
          <a:p>
            <a:pPr algn="ctr"/>
            <a:r>
              <a:rPr sz="900" b="0" i="0">
                <a:solidFill>
                  <a:srgbClr val="555555"/>
                </a:solidFill>
                <a:latin typeface="Calibri"/>
              </a:rPr>
              <a:t>FY2025</a:t>
            </a:r>
          </a:p>
        </p:txBody>
      </p:sp>
      <p:sp>
        <p:nvSpPr>
          <p:cNvPr id="49" name="Rectangle 48"/>
          <p:cNvSpPr/>
          <p:nvPr/>
        </p:nvSpPr>
        <p:spPr>
          <a:xfrm>
            <a:off x="484632" y="5641847"/>
            <a:ext cx="3236976" cy="12700"/>
          </a:xfrm>
          <a:prstGeom prst="rect">
            <a:avLst/>
          </a:prstGeom>
          <a:solidFill>
            <a:srgbClr val="AAA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84632" y="5824728"/>
            <a:ext cx="3236976" cy="237744"/>
          </a:xfrm>
          <a:prstGeom prst="rect">
            <a:avLst/>
          </a:prstGeom>
          <a:noFill/>
        </p:spPr>
        <p:txBody>
          <a:bodyPr wrap="square" anchor="t">
            <a:noAutofit/>
          </a:bodyPr>
          <a:lstStyle/>
          <a:p>
            <a:pPr algn="l"/>
            <a:r>
              <a:rPr sz="700" b="0" i="1">
                <a:solidFill>
                  <a:srgbClr val="777777"/>
                </a:solidFill>
                <a:latin typeface="Calibri"/>
              </a:rPr>
              <a:t>Source: SmartCompany Smart50 2025 growth profile</a:t>
            </a:r>
          </a:p>
        </p:txBody>
      </p:sp>
      <p:sp>
        <p:nvSpPr>
          <p:cNvPr id="51" name="TextBox 50"/>
          <p:cNvSpPr txBox="1"/>
          <p:nvPr/>
        </p:nvSpPr>
        <p:spPr>
          <a:xfrm>
            <a:off x="4160520" y="3767328"/>
            <a:ext cx="7708392" cy="274320"/>
          </a:xfrm>
          <a:prstGeom prst="rect">
            <a:avLst/>
          </a:prstGeom>
          <a:noFill/>
        </p:spPr>
        <p:txBody>
          <a:bodyPr wrap="square" anchor="t">
            <a:noAutofit/>
          </a:bodyPr>
          <a:lstStyle/>
          <a:p>
            <a:pPr algn="l"/>
            <a:r>
              <a:rPr sz="1100" b="1" i="0">
                <a:solidFill>
                  <a:srgbClr val="01A296"/>
                </a:solidFill>
                <a:latin typeface="Calibri"/>
              </a:rPr>
              <a:t>KEY COMMERCIAL SIGNALS</a:t>
            </a:r>
          </a:p>
        </p:txBody>
      </p:sp>
      <p:sp>
        <p:nvSpPr>
          <p:cNvPr id="52" name="TextBox 51"/>
          <p:cNvSpPr txBox="1"/>
          <p:nvPr/>
        </p:nvSpPr>
        <p:spPr>
          <a:xfrm>
            <a:off x="4160520" y="4133088"/>
            <a:ext cx="7708392" cy="1920240"/>
          </a:xfrm>
          <a:prstGeom prst="rect">
            <a:avLst/>
          </a:prstGeom>
          <a:noFill/>
        </p:spPr>
        <p:txBody>
          <a:bodyPr wrap="square">
            <a:spAutoFit/>
          </a:bodyPr>
          <a:lstStyle/>
          <a:p>
            <a:pPr algn="l">
              <a:lnSpc>
                <a:spcPct val="105000"/>
              </a:lnSpc>
              <a:spcAft>
                <a:spcPts val="800"/>
              </a:spcAft>
            </a:pPr>
            <a:r>
              <a:rPr sz="1100" b="0">
                <a:solidFill>
                  <a:srgbClr val="222222"/>
                </a:solidFill>
                <a:latin typeface="Calibri"/>
              </a:rPr>
              <a:t>Revenue grew from $1.7M (FY22) to $10.0M (FY25), Smart50 2025 rank 15 of 50.</a:t>
            </a:r>
          </a:p>
          <a:p>
            <a:pPr algn="l">
              <a:lnSpc>
                <a:spcPct val="105000"/>
              </a:lnSpc>
              <a:spcAft>
                <a:spcPts val="800"/>
              </a:spcAft>
            </a:pPr>
            <a:r>
              <a:rPr sz="1100" b="0">
                <a:solidFill>
                  <a:srgbClr val="222222"/>
                </a:solidFill>
                <a:latin typeface="Calibri"/>
              </a:rPr>
              <a:t>Converted pop up trials into two permanent stores, QV Melbourne and South Melbourne.</a:t>
            </a:r>
          </a:p>
          <a:p>
            <a:pPr algn="l">
              <a:lnSpc>
                <a:spcPct val="105000"/>
              </a:lnSpc>
              <a:spcAft>
                <a:spcPts val="800"/>
              </a:spcAft>
            </a:pPr>
            <a:r>
              <a:rPr sz="1100" b="0">
                <a:solidFill>
                  <a:srgbClr val="222222"/>
                </a:solidFill>
                <a:latin typeface="Calibri"/>
              </a:rPr>
              <a:t>Entered the United States market in 2026, its first launch outside ANZ.</a:t>
            </a:r>
          </a:p>
          <a:p>
            <a:pPr algn="l">
              <a:lnSpc>
                <a:spcPct val="105000"/>
              </a:lnSpc>
              <a:spcAft>
                <a:spcPts val="800"/>
              </a:spcAft>
            </a:pPr>
            <a:r>
              <a:rPr sz="1100" b="0">
                <a:solidFill>
                  <a:srgbClr val="222222"/>
                </a:solidFill>
                <a:latin typeface="Calibri"/>
              </a:rPr>
              <a:t>Also trading into Singapore and Malaysia; range now exceeds 60 SKUs.</a:t>
            </a:r>
          </a:p>
          <a:p>
            <a:pPr algn="l">
              <a:lnSpc>
                <a:spcPct val="105000"/>
              </a:lnSpc>
              <a:spcAft>
                <a:spcPts val="800"/>
              </a:spcAft>
            </a:pPr>
            <a:r>
              <a:rPr sz="1100" b="0">
                <a:solidFill>
                  <a:srgbClr val="222222"/>
                </a:solidFill>
                <a:latin typeface="Calibri"/>
              </a:rPr>
              <a:t>Declined Shark Tank Australia offers in November 2024, staying founder funded.</a:t>
            </a:r>
          </a:p>
          <a:p>
            <a:pPr algn="l">
              <a:lnSpc>
                <a:spcPct val="105000"/>
              </a:lnSpc>
              <a:spcAft>
                <a:spcPts val="800"/>
              </a:spcAft>
            </a:pPr>
            <a:r>
              <a:rPr sz="1100" b="0">
                <a:solidFill>
                  <a:srgbClr val="222222"/>
                </a:solidFill>
                <a:latin typeface="Calibri"/>
              </a:rPr>
              <a:t>Planning further Melbourne and Sydney stores within the next 12 to 18 months.</a:t>
            </a:r>
          </a:p>
        </p:txBody>
      </p:sp>
      <p:sp>
        <p:nvSpPr>
          <p:cNvPr id="53" name="TextBox 52"/>
          <p:cNvSpPr txBox="1"/>
          <p:nvPr/>
        </p:nvSpPr>
        <p:spPr>
          <a:xfrm>
            <a:off x="4160520" y="5989320"/>
            <a:ext cx="7708392" cy="274320"/>
          </a:xfrm>
          <a:prstGeom prst="rect">
            <a:avLst/>
          </a:prstGeom>
          <a:noFill/>
        </p:spPr>
        <p:txBody>
          <a:bodyPr wrap="square" anchor="t">
            <a:noAutofit/>
          </a:bodyPr>
          <a:lstStyle/>
          <a:p>
            <a:pPr algn="l"/>
            <a:r>
              <a:rPr sz="700" b="0" i="1">
                <a:solidFill>
                  <a:srgbClr val="777777"/>
                </a:solidFill>
                <a:latin typeface="Calibri"/>
              </a:rPr>
              <a:t>Sources: SmartCompany Smart50 2025 series, Inside Retail Aug 2026, FashionUnited Aug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anchor="t">
            <a:noAutofit/>
          </a:bodyPr>
          <a:lstStyle/>
          <a:p>
            <a:pPr algn="l"/>
            <a:r>
              <a:rPr sz="1200" b="1" i="0">
                <a:solidFill>
                  <a:srgbClr val="E6E5DE"/>
                </a:solidFill>
                <a:latin typeface="Calibri"/>
              </a:rPr>
              <a:t>THE OPPORTUNITY</a:t>
            </a:r>
          </a:p>
        </p:txBody>
      </p:sp>
      <p:sp>
        <p:nvSpPr>
          <p:cNvPr id="5" name="TextBox 4"/>
          <p:cNvSpPr txBox="1"/>
          <p:nvPr/>
        </p:nvSpPr>
        <p:spPr>
          <a:xfrm>
            <a:off x="8686800" y="292608"/>
            <a:ext cx="3291840" cy="365760"/>
          </a:xfrm>
          <a:prstGeom prst="rect">
            <a:avLst/>
          </a:prstGeom>
          <a:noFill/>
        </p:spPr>
        <p:txBody>
          <a:bodyPr wrap="square" anchor="t">
            <a:noAutofit/>
          </a:bodyPr>
          <a:lstStyle/>
          <a:p>
            <a:pPr algn="r"/>
            <a:r>
              <a:rPr sz="1200" b="1" i="0">
                <a:solidFill>
                  <a:srgbClr val="01A296"/>
                </a:solidFill>
                <a:latin typeface="Calibri"/>
              </a:rPr>
              <a:t>PROFITPULSE</a:t>
            </a:r>
          </a:p>
        </p:txBody>
      </p:sp>
      <p:sp>
        <p:nvSpPr>
          <p:cNvPr id="6" name="Rectangle 5"/>
          <p:cNvSpPr/>
          <p:nvPr/>
        </p:nvSpPr>
        <p:spPr>
          <a:xfrm>
            <a:off x="320040" y="6419088"/>
            <a:ext cx="1152144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473952"/>
            <a:ext cx="8686800" cy="320040"/>
          </a:xfrm>
          <a:prstGeom prst="rect">
            <a:avLst/>
          </a:prstGeom>
          <a:noFill/>
        </p:spPr>
        <p:txBody>
          <a:bodyPr wrap="square" anchor="t">
            <a:noAutofit/>
          </a:bodyPr>
          <a:lstStyle/>
          <a:p>
            <a:pPr algn="l"/>
            <a:r>
              <a:rPr sz="800" b="0" i="0">
                <a:solidFill>
                  <a:srgbClr val="666666"/>
                </a:solidFill>
                <a:latin typeface="Calibri"/>
              </a:rPr>
              <a:t>Prepared by Nitesh Roopa CA, Managing Partner and Founder, ProfitPulse, Profit-Pulse.com.au</a:t>
            </a:r>
          </a:p>
        </p:txBody>
      </p:sp>
      <p:sp>
        <p:nvSpPr>
          <p:cNvPr id="8" name="TextBox 7"/>
          <p:cNvSpPr txBox="1"/>
          <p:nvPr/>
        </p:nvSpPr>
        <p:spPr>
          <a:xfrm>
            <a:off x="9601200" y="6473952"/>
            <a:ext cx="2286000" cy="320040"/>
          </a:xfrm>
          <a:prstGeom prst="rect">
            <a:avLst/>
          </a:prstGeom>
          <a:noFill/>
        </p:spPr>
        <p:txBody>
          <a:bodyPr wrap="square" anchor="t">
            <a:noAutofit/>
          </a:bodyPr>
          <a:lstStyle/>
          <a:p>
            <a:pPr algn="r"/>
            <a:r>
              <a:rPr sz="800" b="0" i="0">
                <a:solidFill>
                  <a:srgbClr val="666666"/>
                </a:solidFill>
                <a:latin typeface="Calibri"/>
              </a:rPr>
              <a:t>25 Aug 2026</a:t>
            </a:r>
          </a:p>
        </p:txBody>
      </p:sp>
      <p:sp>
        <p:nvSpPr>
          <p:cNvPr id="9" name="TextBox 8"/>
          <p:cNvSpPr txBox="1"/>
          <p:nvPr/>
        </p:nvSpPr>
        <p:spPr>
          <a:xfrm>
            <a:off x="320040" y="932688"/>
            <a:ext cx="11521440" cy="365760"/>
          </a:xfrm>
          <a:prstGeom prst="rect">
            <a:avLst/>
          </a:prstGeom>
          <a:noFill/>
        </p:spPr>
        <p:txBody>
          <a:bodyPr wrap="square" anchor="t">
            <a:noAutofit/>
          </a:bodyPr>
          <a:lstStyle/>
          <a:p>
            <a:pPr algn="l"/>
            <a:r>
              <a:rPr sz="1300" b="1" i="0">
                <a:solidFill>
                  <a:srgbClr val="000000"/>
                </a:solidFill>
                <a:latin typeface="Calibri"/>
              </a:rPr>
              <a:t>Paire: three commercial observations from ProfitPulse</a:t>
            </a:r>
          </a:p>
        </p:txBody>
      </p:sp>
      <p:sp>
        <p:nvSpPr>
          <p:cNvPr id="10" name="Rectangle 9"/>
          <p:cNvSpPr/>
          <p:nvPr/>
        </p:nvSpPr>
        <p:spPr>
          <a:xfrm>
            <a:off x="320040" y="1417320"/>
            <a:ext cx="3785615" cy="36576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 y="1581912"/>
            <a:ext cx="3383279" cy="685800"/>
          </a:xfrm>
          <a:prstGeom prst="rect">
            <a:avLst/>
          </a:prstGeom>
          <a:noFill/>
        </p:spPr>
        <p:txBody>
          <a:bodyPr wrap="square" anchor="t">
            <a:noAutofit/>
          </a:bodyPr>
          <a:lstStyle/>
          <a:p>
            <a:pPr algn="l"/>
            <a:r>
              <a:rPr sz="3400" b="1" i="0">
                <a:solidFill>
                  <a:srgbClr val="000000"/>
                </a:solidFill>
                <a:latin typeface="Georgia"/>
              </a:rPr>
              <a:t>01</a:t>
            </a:r>
          </a:p>
        </p:txBody>
      </p:sp>
      <p:sp>
        <p:nvSpPr>
          <p:cNvPr id="12" name="TextBox 11"/>
          <p:cNvSpPr txBox="1"/>
          <p:nvPr/>
        </p:nvSpPr>
        <p:spPr>
          <a:xfrm>
            <a:off x="521208" y="2286000"/>
            <a:ext cx="3383279" cy="685800"/>
          </a:xfrm>
          <a:prstGeom prst="rect">
            <a:avLst/>
          </a:prstGeom>
          <a:noFill/>
        </p:spPr>
        <p:txBody>
          <a:bodyPr wrap="square" anchor="t">
            <a:noAutofit/>
          </a:bodyPr>
          <a:lstStyle/>
          <a:p>
            <a:pPr algn="l"/>
            <a:r>
              <a:rPr sz="1500" b="1" i="0">
                <a:solidFill>
                  <a:srgbClr val="000000"/>
                </a:solidFill>
                <a:latin typeface="Georgia"/>
              </a:rPr>
              <a:t>Cash is funding four fronts at once</a:t>
            </a:r>
          </a:p>
        </p:txBody>
      </p:sp>
      <p:sp>
        <p:nvSpPr>
          <p:cNvPr id="13" name="TextBox 12"/>
          <p:cNvSpPr txBox="1"/>
          <p:nvPr/>
        </p:nvSpPr>
        <p:spPr>
          <a:xfrm>
            <a:off x="521208" y="3017520"/>
            <a:ext cx="3383279" cy="1965960"/>
          </a:xfrm>
          <a:prstGeom prst="rect">
            <a:avLst/>
          </a:prstGeom>
          <a:noFill/>
        </p:spPr>
        <p:txBody>
          <a:bodyPr wrap="square" anchor="t">
            <a:noAutofit/>
          </a:bodyPr>
          <a:lstStyle/>
          <a:p>
            <a:pPr algn="l">
              <a:lnSpc>
                <a:spcPct val="115000"/>
              </a:lnSpc>
            </a:pPr>
            <a:r>
              <a:rPr sz="1100" b="0" i="0">
                <a:solidFill>
                  <a:srgbClr val="000000"/>
                </a:solidFill>
                <a:latin typeface="Calibri"/>
              </a:rPr>
              <a:t>Paire now trades in five markets at once: Australia, the US, Singapore and Malaysia online, plus two Melbourne stores. Each market and each store needs its own stock position before a single sale converts back to cash. Funding this many fronts simultaneously, on top of a wider domestic rollout already planned, is a working capital question before it is anything else. A Working Capital Unlock maps exactly where that cash is trapped.</a:t>
            </a:r>
          </a:p>
        </p:txBody>
      </p:sp>
      <p:sp>
        <p:nvSpPr>
          <p:cNvPr id="14" name="Rectangle 13"/>
          <p:cNvSpPr/>
          <p:nvPr/>
        </p:nvSpPr>
        <p:spPr>
          <a:xfrm>
            <a:off x="4242815" y="1417320"/>
            <a:ext cx="3785615" cy="36576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43983" y="1581912"/>
            <a:ext cx="3383279" cy="685800"/>
          </a:xfrm>
          <a:prstGeom prst="rect">
            <a:avLst/>
          </a:prstGeom>
          <a:noFill/>
        </p:spPr>
        <p:txBody>
          <a:bodyPr wrap="square" anchor="t">
            <a:noAutofit/>
          </a:bodyPr>
          <a:lstStyle/>
          <a:p>
            <a:pPr algn="l"/>
            <a:r>
              <a:rPr sz="3400" b="1" i="0">
                <a:solidFill>
                  <a:srgbClr val="FFFFFF"/>
                </a:solidFill>
                <a:latin typeface="Georgia"/>
              </a:rPr>
              <a:t>02</a:t>
            </a:r>
          </a:p>
        </p:txBody>
      </p:sp>
      <p:sp>
        <p:nvSpPr>
          <p:cNvPr id="16" name="TextBox 15"/>
          <p:cNvSpPr txBox="1"/>
          <p:nvPr/>
        </p:nvSpPr>
        <p:spPr>
          <a:xfrm>
            <a:off x="4443983" y="2286000"/>
            <a:ext cx="3383279" cy="685800"/>
          </a:xfrm>
          <a:prstGeom prst="rect">
            <a:avLst/>
          </a:prstGeom>
          <a:noFill/>
        </p:spPr>
        <p:txBody>
          <a:bodyPr wrap="square" anchor="t">
            <a:noAutofit/>
          </a:bodyPr>
          <a:lstStyle/>
          <a:p>
            <a:pPr algn="l"/>
            <a:r>
              <a:rPr sz="1500" b="1" i="0">
                <a:solidFill>
                  <a:srgbClr val="FFFFFF"/>
                </a:solidFill>
                <a:latin typeface="Georgia"/>
              </a:rPr>
              <a:t>SKU growth has outpaced margin visibility</a:t>
            </a:r>
          </a:p>
        </p:txBody>
      </p:sp>
      <p:sp>
        <p:nvSpPr>
          <p:cNvPr id="17" name="TextBox 16"/>
          <p:cNvSpPr txBox="1"/>
          <p:nvPr/>
        </p:nvSpPr>
        <p:spPr>
          <a:xfrm>
            <a:off x="4443983" y="3017520"/>
            <a:ext cx="3383279" cy="1965960"/>
          </a:xfrm>
          <a:prstGeom prst="rect">
            <a:avLst/>
          </a:prstGeom>
          <a:noFill/>
        </p:spPr>
        <p:txBody>
          <a:bodyPr wrap="square" anchor="t">
            <a:noAutofit/>
          </a:bodyPr>
          <a:lstStyle/>
          <a:p>
            <a:pPr algn="l">
              <a:lnSpc>
                <a:spcPct val="115000"/>
              </a:lnSpc>
            </a:pPr>
            <a:r>
              <a:rPr sz="1100" b="0" i="0">
                <a:solidFill>
                  <a:srgbClr val="FFFFFF"/>
                </a:solidFill>
                <a:latin typeface="Calibri"/>
              </a:rPr>
              <a:t>Sixty plus products now sit across socks, underwear, activewear and outerwear, sold through direct online, two flagship stores and three overseas markets. At $1.7 million the product mix was simple to read by eye. At $10.0 million across this many channels, blended revenue growth can mask lines and markets that are actually thin on margin once freight, duty and store overhead are allocated properly against each one.</a:t>
            </a:r>
          </a:p>
        </p:txBody>
      </p:sp>
      <p:sp>
        <p:nvSpPr>
          <p:cNvPr id="18" name="Rectangle 17"/>
          <p:cNvSpPr/>
          <p:nvPr/>
        </p:nvSpPr>
        <p:spPr>
          <a:xfrm>
            <a:off x="8165590" y="1417320"/>
            <a:ext cx="3785615" cy="3657600"/>
          </a:xfrm>
          <a:prstGeom prst="rect">
            <a:avLst/>
          </a:prstGeom>
          <a:solidFill>
            <a:srgbClr val="E3A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58" y="1581912"/>
            <a:ext cx="3383279" cy="685800"/>
          </a:xfrm>
          <a:prstGeom prst="rect">
            <a:avLst/>
          </a:prstGeom>
          <a:noFill/>
        </p:spPr>
        <p:txBody>
          <a:bodyPr wrap="square" anchor="t">
            <a:noAutofit/>
          </a:bodyPr>
          <a:lstStyle/>
          <a:p>
            <a:pPr algn="l"/>
            <a:r>
              <a:rPr sz="3400" b="1" i="0">
                <a:solidFill>
                  <a:srgbClr val="000000"/>
                </a:solidFill>
                <a:latin typeface="Georgia"/>
              </a:rPr>
              <a:t>03</a:t>
            </a:r>
          </a:p>
        </p:txBody>
      </p:sp>
      <p:sp>
        <p:nvSpPr>
          <p:cNvPr id="20" name="TextBox 19"/>
          <p:cNvSpPr txBox="1"/>
          <p:nvPr/>
        </p:nvSpPr>
        <p:spPr>
          <a:xfrm>
            <a:off x="8366758" y="2286000"/>
            <a:ext cx="3383279" cy="685800"/>
          </a:xfrm>
          <a:prstGeom prst="rect">
            <a:avLst/>
          </a:prstGeom>
          <a:noFill/>
        </p:spPr>
        <p:txBody>
          <a:bodyPr wrap="square" anchor="t">
            <a:noAutofit/>
          </a:bodyPr>
          <a:lstStyle/>
          <a:p>
            <a:pPr algn="l"/>
            <a:r>
              <a:rPr sz="1500" b="1" i="0">
                <a:solidFill>
                  <a:srgbClr val="000000"/>
                </a:solidFill>
                <a:latin typeface="Georgia"/>
              </a:rPr>
              <a:t>Growth is entirely founder funded</a:t>
            </a:r>
          </a:p>
        </p:txBody>
      </p:sp>
      <p:sp>
        <p:nvSpPr>
          <p:cNvPr id="21" name="TextBox 20"/>
          <p:cNvSpPr txBox="1"/>
          <p:nvPr/>
        </p:nvSpPr>
        <p:spPr>
          <a:xfrm>
            <a:off x="8366758" y="3017520"/>
            <a:ext cx="3383279" cy="1965960"/>
          </a:xfrm>
          <a:prstGeom prst="rect">
            <a:avLst/>
          </a:prstGeom>
          <a:noFill/>
        </p:spPr>
        <p:txBody>
          <a:bodyPr wrap="square" anchor="t">
            <a:noAutofit/>
          </a:bodyPr>
          <a:lstStyle/>
          <a:p>
            <a:pPr algn="l">
              <a:lnSpc>
                <a:spcPct val="115000"/>
              </a:lnSpc>
            </a:pPr>
            <a:r>
              <a:rPr sz="1100" b="0" i="0">
                <a:solidFill>
                  <a:srgbClr val="000000"/>
                </a:solidFill>
                <a:latin typeface="Calibri"/>
              </a:rPr>
              <a:t>Paire walked away from Shark Tank offers in November 2024 rather than give up 2.5 percent of the business. That discipline means every store opening and every new market this year is funded from trading cash, not investor cash, which raises the cost of any dollar left sitting idle in stock or receivables, and makes disciplined cash management the difference between funding the next market and stalling before it.</a:t>
            </a:r>
          </a:p>
        </p:txBody>
      </p:sp>
      <p:sp>
        <p:nvSpPr>
          <p:cNvPr id="22" name="TextBox 21"/>
          <p:cNvSpPr txBox="1"/>
          <p:nvPr/>
        </p:nvSpPr>
        <p:spPr>
          <a:xfrm>
            <a:off x="320040" y="5440680"/>
            <a:ext cx="11521440" cy="502920"/>
          </a:xfrm>
          <a:prstGeom prst="rect">
            <a:avLst/>
          </a:prstGeom>
          <a:noFill/>
        </p:spPr>
        <p:txBody>
          <a:bodyPr wrap="square" anchor="t">
            <a:noAutofit/>
          </a:bodyPr>
          <a:lstStyle/>
          <a:p>
            <a:pPr algn="l"/>
            <a:r>
              <a:rPr sz="1150" b="0" i="1">
                <a:solidFill>
                  <a:srgbClr val="444444"/>
                </a:solidFill>
                <a:latin typeface="Calibri"/>
              </a:rPr>
              <a:t>These are observations offered in good faith. Paire has built something genuinely impressive from a garage start. The question is simply whether the cash engine is built to match the ambition of five markets at once.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anchor="t">
            <a:noAutofit/>
          </a:bodyPr>
          <a:lstStyle/>
          <a:p>
            <a:pPr algn="l"/>
            <a:r>
              <a:rPr sz="1200" b="1" i="0">
                <a:solidFill>
                  <a:srgbClr val="E6E5DE"/>
                </a:solidFill>
                <a:latin typeface="Calibri"/>
              </a:rPr>
              <a:t>THE RECOMMENDATION</a:t>
            </a:r>
          </a:p>
        </p:txBody>
      </p:sp>
      <p:sp>
        <p:nvSpPr>
          <p:cNvPr id="5" name="TextBox 4"/>
          <p:cNvSpPr txBox="1"/>
          <p:nvPr/>
        </p:nvSpPr>
        <p:spPr>
          <a:xfrm>
            <a:off x="8686800" y="292608"/>
            <a:ext cx="3291840" cy="365760"/>
          </a:xfrm>
          <a:prstGeom prst="rect">
            <a:avLst/>
          </a:prstGeom>
          <a:noFill/>
        </p:spPr>
        <p:txBody>
          <a:bodyPr wrap="square" anchor="t">
            <a:noAutofit/>
          </a:bodyPr>
          <a:lstStyle/>
          <a:p>
            <a:pPr algn="r"/>
            <a:r>
              <a:rPr sz="1200" b="1" i="0">
                <a:solidFill>
                  <a:srgbClr val="01A296"/>
                </a:solidFill>
                <a:latin typeface="Calibri"/>
              </a:rPr>
              <a:t>PROFITPULSE</a:t>
            </a:r>
          </a:p>
        </p:txBody>
      </p:sp>
      <p:sp>
        <p:nvSpPr>
          <p:cNvPr id="6" name="Rectangle 5"/>
          <p:cNvSpPr/>
          <p:nvPr/>
        </p:nvSpPr>
        <p:spPr>
          <a:xfrm>
            <a:off x="320040" y="6419088"/>
            <a:ext cx="1152144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473952"/>
            <a:ext cx="8686800" cy="320040"/>
          </a:xfrm>
          <a:prstGeom prst="rect">
            <a:avLst/>
          </a:prstGeom>
          <a:noFill/>
        </p:spPr>
        <p:txBody>
          <a:bodyPr wrap="square" anchor="t">
            <a:noAutofit/>
          </a:bodyPr>
          <a:lstStyle/>
          <a:p>
            <a:pPr algn="l"/>
            <a:r>
              <a:rPr sz="800" b="0" i="0">
                <a:solidFill>
                  <a:srgbClr val="666666"/>
                </a:solidFill>
                <a:latin typeface="Calibri"/>
              </a:rPr>
              <a:t>Prepared by Nitesh Roopa CA, Managing Partner and Founder, ProfitPulse, Profit-Pulse.com.au</a:t>
            </a:r>
          </a:p>
        </p:txBody>
      </p:sp>
      <p:sp>
        <p:nvSpPr>
          <p:cNvPr id="8" name="TextBox 7"/>
          <p:cNvSpPr txBox="1"/>
          <p:nvPr/>
        </p:nvSpPr>
        <p:spPr>
          <a:xfrm>
            <a:off x="9601200" y="6473952"/>
            <a:ext cx="2286000" cy="320040"/>
          </a:xfrm>
          <a:prstGeom prst="rect">
            <a:avLst/>
          </a:prstGeom>
          <a:noFill/>
        </p:spPr>
        <p:txBody>
          <a:bodyPr wrap="square" anchor="t">
            <a:noAutofit/>
          </a:bodyPr>
          <a:lstStyle/>
          <a:p>
            <a:pPr algn="r"/>
            <a:r>
              <a:rPr sz="800" b="0" i="0">
                <a:solidFill>
                  <a:srgbClr val="666666"/>
                </a:solidFill>
                <a:latin typeface="Calibri"/>
              </a:rPr>
              <a:t>25 Aug 2026</a:t>
            </a:r>
          </a:p>
        </p:txBody>
      </p:sp>
      <p:sp>
        <p:nvSpPr>
          <p:cNvPr id="9" name="TextBox 8"/>
          <p:cNvSpPr txBox="1"/>
          <p:nvPr/>
        </p:nvSpPr>
        <p:spPr>
          <a:xfrm>
            <a:off x="320040" y="1051560"/>
            <a:ext cx="6949440" cy="502920"/>
          </a:xfrm>
          <a:prstGeom prst="rect">
            <a:avLst/>
          </a:prstGeom>
          <a:noFill/>
        </p:spPr>
        <p:txBody>
          <a:bodyPr wrap="square" anchor="t">
            <a:noAutofit/>
          </a:bodyPr>
          <a:lstStyle/>
          <a:p>
            <a:pPr algn="l"/>
            <a:r>
              <a:rPr sz="2500" b="1" i="0">
                <a:solidFill>
                  <a:srgbClr val="000000"/>
                </a:solidFill>
                <a:latin typeface="Georgia"/>
              </a:rPr>
              <a:t>Working Capital Unlock</a:t>
            </a:r>
          </a:p>
        </p:txBody>
      </p:sp>
      <p:sp>
        <p:nvSpPr>
          <p:cNvPr id="10" name="TextBox 9"/>
          <p:cNvSpPr txBox="1"/>
          <p:nvPr/>
        </p:nvSpPr>
        <p:spPr>
          <a:xfrm>
            <a:off x="320040" y="1536192"/>
            <a:ext cx="6949440" cy="320040"/>
          </a:xfrm>
          <a:prstGeom prst="rect">
            <a:avLst/>
          </a:prstGeom>
          <a:noFill/>
        </p:spPr>
        <p:txBody>
          <a:bodyPr wrap="square" anchor="t">
            <a:noAutofit/>
          </a:bodyPr>
          <a:lstStyle/>
          <a:p>
            <a:pPr algn="l"/>
            <a:r>
              <a:rPr sz="1500" b="1" i="0">
                <a:solidFill>
                  <a:srgbClr val="01A296"/>
                </a:solidFill>
                <a:latin typeface="Calibri"/>
              </a:rPr>
              <a:t>$6,000 one off</a:t>
            </a:r>
          </a:p>
        </p:txBody>
      </p:sp>
      <p:sp>
        <p:nvSpPr>
          <p:cNvPr id="11" name="TextBox 10"/>
          <p:cNvSpPr txBox="1"/>
          <p:nvPr/>
        </p:nvSpPr>
        <p:spPr>
          <a:xfrm>
            <a:off x="320040" y="1901952"/>
            <a:ext cx="6949440" cy="914400"/>
          </a:xfrm>
          <a:prstGeom prst="rect">
            <a:avLst/>
          </a:prstGeom>
          <a:noFill/>
        </p:spPr>
        <p:txBody>
          <a:bodyPr wrap="square" anchor="t">
            <a:noAutofit/>
          </a:bodyPr>
          <a:lstStyle/>
          <a:p>
            <a:pPr algn="l">
              <a:lnSpc>
                <a:spcPct val="110000"/>
              </a:lnSpc>
            </a:pPr>
            <a:r>
              <a:rPr sz="1100" b="0" i="0">
                <a:solidFill>
                  <a:srgbClr val="222222"/>
                </a:solidFill>
                <a:latin typeface="Calibri"/>
              </a:rPr>
              <a:t>A four week project that maps cash trapped in stock, receivables, supplier terms and banking facilities across every Paire channel and market, then hands over a prioritised release plan. Typical clients release 8 to 15 percent of revenue back into the business without raising outside capital.</a:t>
            </a:r>
          </a:p>
        </p:txBody>
      </p:sp>
      <p:sp>
        <p:nvSpPr>
          <p:cNvPr id="12" name="Rectangle 11"/>
          <p:cNvSpPr/>
          <p:nvPr/>
        </p:nvSpPr>
        <p:spPr>
          <a:xfrm>
            <a:off x="320040" y="2971800"/>
            <a:ext cx="6949440" cy="123444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090672"/>
            <a:ext cx="6583680" cy="292608"/>
          </a:xfrm>
          <a:prstGeom prst="rect">
            <a:avLst/>
          </a:prstGeom>
          <a:noFill/>
        </p:spPr>
        <p:txBody>
          <a:bodyPr wrap="square" anchor="t">
            <a:noAutofit/>
          </a:bodyPr>
          <a:lstStyle/>
          <a:p>
            <a:pPr algn="l"/>
            <a:r>
              <a:rPr sz="1200" b="1" i="0">
                <a:solidFill>
                  <a:srgbClr val="000000"/>
                </a:solidFill>
                <a:latin typeface="Calibri"/>
              </a:rPr>
              <a:t>Step one, answer a few quick questions</a:t>
            </a:r>
          </a:p>
        </p:txBody>
      </p:sp>
      <p:sp>
        <p:nvSpPr>
          <p:cNvPr id="14" name="TextBox 13"/>
          <p:cNvSpPr txBox="1"/>
          <p:nvPr/>
        </p:nvSpPr>
        <p:spPr>
          <a:xfrm>
            <a:off x="502920" y="3401568"/>
            <a:ext cx="6583680" cy="274320"/>
          </a:xfrm>
          <a:prstGeom prst="rect">
            <a:avLst/>
          </a:prstGeom>
          <a:noFill/>
        </p:spPr>
        <p:txBody>
          <a:bodyPr wrap="square" anchor="t">
            <a:noAutofit/>
          </a:bodyPr>
          <a:lstStyle/>
          <a:p>
            <a:pPr algn="l"/>
            <a:r>
              <a:rPr sz="1050" b="0" i="0">
                <a:solidFill>
                  <a:srgbClr val="333333"/>
                </a:solidFill>
                <a:latin typeface="Calibri"/>
              </a:rPr>
              <a:t>See the solutions matched to your size and industry.</a:t>
            </a:r>
          </a:p>
        </p:txBody>
      </p:sp>
      <p:sp>
        <p:nvSpPr>
          <p:cNvPr id="15" name="TextBox 14"/>
          <p:cNvSpPr txBox="1"/>
          <p:nvPr/>
        </p:nvSpPr>
        <p:spPr>
          <a:xfrm>
            <a:off x="502920" y="3703320"/>
            <a:ext cx="6583680" cy="320040"/>
          </a:xfrm>
          <a:prstGeom prst="rect">
            <a:avLst/>
          </a:prstGeom>
          <a:noFill/>
        </p:spPr>
        <p:txBody>
          <a:bodyPr wrap="square">
            <a:spAutoFit/>
          </a:bodyPr>
          <a:lstStyle/>
          <a:p>
            <a:pPr algn="l"/>
            <a:r>
              <a:rPr sz="1200" b="1" u="sng">
                <a:solidFill>
                  <a:srgbClr val="01A296"/>
                </a:solidFill>
                <a:latin typeface="Calibri"/>
                <a:hlinkClick r:id="rId2"/>
              </a:rPr>
              <a:t>profit-pulse.com.au/services/find-your-fit</a:t>
            </a:r>
          </a:p>
        </p:txBody>
      </p:sp>
      <p:sp>
        <p:nvSpPr>
          <p:cNvPr id="16" name="Rectangle 15"/>
          <p:cNvSpPr/>
          <p:nvPr/>
        </p:nvSpPr>
        <p:spPr>
          <a:xfrm>
            <a:off x="320040" y="4370832"/>
            <a:ext cx="6949440" cy="566928"/>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4370832"/>
            <a:ext cx="6949440" cy="566928"/>
          </a:xfrm>
          <a:prstGeom prst="rect">
            <a:avLst/>
          </a:prstGeom>
          <a:noFill/>
        </p:spPr>
        <p:txBody>
          <a:bodyPr wrap="square" anchor="ctr">
            <a:spAutoFit/>
          </a:bodyPr>
          <a:lstStyle/>
          <a:p>
            <a:pPr algn="ctr"/>
            <a:r>
              <a:rPr sz="1300" b="1">
                <a:solidFill>
                  <a:srgbClr val="000000"/>
                </a:solidFill>
                <a:latin typeface="Calibri"/>
                <a:hlinkClick r:id="rId3"/>
              </a:rPr>
              <a:t>Purchase the suggested product now to get started</a:t>
            </a:r>
          </a:p>
        </p:txBody>
      </p:sp>
      <p:sp>
        <p:nvSpPr>
          <p:cNvPr id="18" name="TextBox 17"/>
          <p:cNvSpPr txBox="1"/>
          <p:nvPr/>
        </p:nvSpPr>
        <p:spPr>
          <a:xfrm>
            <a:off x="320040" y="5138928"/>
            <a:ext cx="6949440" cy="274320"/>
          </a:xfrm>
          <a:prstGeom prst="rect">
            <a:avLst/>
          </a:prstGeom>
          <a:noFill/>
        </p:spPr>
        <p:txBody>
          <a:bodyPr wrap="square" anchor="t">
            <a:noAutofit/>
          </a:bodyPr>
          <a:lstStyle/>
          <a:p>
            <a:pPr algn="l"/>
            <a:r>
              <a:rPr sz="1100" b="0" i="0">
                <a:solidFill>
                  <a:srgbClr val="333333"/>
                </a:solidFill>
                <a:latin typeface="Calibri"/>
              </a:rPr>
              <a:t>Prefer a conversation first?</a:t>
            </a:r>
          </a:p>
        </p:txBody>
      </p:sp>
      <p:sp>
        <p:nvSpPr>
          <p:cNvPr id="19" name="TextBox 18"/>
          <p:cNvSpPr txBox="1"/>
          <p:nvPr/>
        </p:nvSpPr>
        <p:spPr>
          <a:xfrm>
            <a:off x="320040" y="5413248"/>
            <a:ext cx="6949440" cy="320040"/>
          </a:xfrm>
          <a:prstGeom prst="rect">
            <a:avLst/>
          </a:prstGeom>
          <a:noFill/>
        </p:spPr>
        <p:txBody>
          <a:bodyPr wrap="square">
            <a:spAutoFit/>
          </a:bodyPr>
          <a:lstStyle/>
          <a:p>
            <a:pPr algn="l"/>
            <a:r>
              <a:rPr sz="1100" b="1" u="sng">
                <a:solidFill>
                  <a:srgbClr val="01A296"/>
                </a:solidFill>
                <a:latin typeface="Calibri"/>
                <a:hlinkClick r:id="rId4"/>
              </a:rPr>
              <a:t>Book a complimentary discovery call</a:t>
            </a:r>
          </a:p>
        </p:txBody>
      </p:sp>
      <p:sp>
        <p:nvSpPr>
          <p:cNvPr id="20" name="Rectangle 19"/>
          <p:cNvSpPr/>
          <p:nvPr/>
        </p:nvSpPr>
        <p:spPr>
          <a:xfrm>
            <a:off x="7543800" y="1051560"/>
            <a:ext cx="4325112" cy="4343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0" y="1234440"/>
            <a:ext cx="3867912" cy="365760"/>
          </a:xfrm>
          <a:prstGeom prst="rect">
            <a:avLst/>
          </a:prstGeom>
          <a:noFill/>
        </p:spPr>
        <p:txBody>
          <a:bodyPr wrap="square" anchor="t">
            <a:noAutofit/>
          </a:bodyPr>
          <a:lstStyle/>
          <a:p>
            <a:pPr algn="l"/>
            <a:r>
              <a:rPr sz="1800" b="1" i="0">
                <a:solidFill>
                  <a:srgbClr val="F8C806"/>
                </a:solidFill>
                <a:latin typeface="Georgia"/>
              </a:rPr>
              <a:t>Nitesh Roopa</a:t>
            </a:r>
          </a:p>
        </p:txBody>
      </p:sp>
      <p:sp>
        <p:nvSpPr>
          <p:cNvPr id="22" name="TextBox 21"/>
          <p:cNvSpPr txBox="1"/>
          <p:nvPr/>
        </p:nvSpPr>
        <p:spPr>
          <a:xfrm>
            <a:off x="7772400" y="1627632"/>
            <a:ext cx="3867912" cy="292608"/>
          </a:xfrm>
          <a:prstGeom prst="rect">
            <a:avLst/>
          </a:prstGeom>
          <a:noFill/>
        </p:spPr>
        <p:txBody>
          <a:bodyPr wrap="square" anchor="t">
            <a:noAutofit/>
          </a:bodyPr>
          <a:lstStyle/>
          <a:p>
            <a:pPr algn="l"/>
            <a:r>
              <a:rPr sz="1150" b="0" i="0">
                <a:solidFill>
                  <a:srgbClr val="FFFFFF"/>
                </a:solidFill>
                <a:latin typeface="Calibri"/>
              </a:rPr>
              <a:t>CA, Managing Partner, ProfitPulse</a:t>
            </a:r>
          </a:p>
        </p:txBody>
      </p:sp>
      <p:sp>
        <p:nvSpPr>
          <p:cNvPr id="23" name="Rectangle 22"/>
          <p:cNvSpPr/>
          <p:nvPr/>
        </p:nvSpPr>
        <p:spPr>
          <a:xfrm>
            <a:off x="7772400" y="1993392"/>
            <a:ext cx="3867912" cy="1905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0" y="2148840"/>
            <a:ext cx="3867912" cy="1371600"/>
          </a:xfrm>
          <a:prstGeom prst="rect">
            <a:avLst/>
          </a:prstGeom>
          <a:noFill/>
        </p:spPr>
        <p:txBody>
          <a:bodyPr wrap="square">
            <a:spAutoFit/>
          </a:bodyPr>
          <a:lstStyle/>
          <a:p>
            <a:pPr algn="l">
              <a:lnSpc>
                <a:spcPct val="110000"/>
              </a:lnSpc>
              <a:spcAft>
                <a:spcPts val="600"/>
              </a:spcAft>
            </a:pPr>
            <a:r>
              <a:rPr sz="1050" b="0">
                <a:solidFill>
                  <a:srgbClr val="E6E5DE"/>
                </a:solidFill>
                <a:latin typeface="Calibri"/>
              </a:rPr>
              <a:t>16 years across 4 countries</a:t>
            </a:r>
          </a:p>
          <a:p>
            <a:pPr algn="l">
              <a:lnSpc>
                <a:spcPct val="110000"/>
              </a:lnSpc>
              <a:spcAft>
                <a:spcPts val="600"/>
              </a:spcAft>
            </a:pPr>
            <a:r>
              <a:rPr sz="1050" b="0">
                <a:solidFill>
                  <a:srgbClr val="E6E5DE"/>
                </a:solidFill>
                <a:latin typeface="Calibri"/>
              </a:rPr>
              <a:t>52 deals executed and managed</a:t>
            </a:r>
          </a:p>
          <a:p>
            <a:pPr algn="l">
              <a:lnSpc>
                <a:spcPct val="110000"/>
              </a:lnSpc>
              <a:spcAft>
                <a:spcPts val="600"/>
              </a:spcAft>
            </a:pPr>
            <a:r>
              <a:rPr sz="1050" b="0">
                <a:solidFill>
                  <a:srgbClr val="E6E5DE"/>
                </a:solidFill>
                <a:latin typeface="Calibri"/>
              </a:rPr>
              <a:t>Largest single deal, USD 1.3 billion, Cahora Bassa</a:t>
            </a:r>
          </a:p>
          <a:p>
            <a:pPr algn="l">
              <a:lnSpc>
                <a:spcPct val="110000"/>
              </a:lnSpc>
              <a:spcAft>
                <a:spcPts val="600"/>
              </a:spcAft>
            </a:pPr>
            <a:r>
              <a:rPr sz="1050" b="0">
                <a:solidFill>
                  <a:srgbClr val="E6E5DE"/>
                </a:solidFill>
                <a:latin typeface="Calibri"/>
              </a:rPr>
              <a:t>Total GRBT project value over AUD 10 billion</a:t>
            </a:r>
          </a:p>
        </p:txBody>
      </p:sp>
      <p:sp>
        <p:nvSpPr>
          <p:cNvPr id="25" name="Rectangle 24"/>
          <p:cNvSpPr/>
          <p:nvPr/>
        </p:nvSpPr>
        <p:spPr>
          <a:xfrm>
            <a:off x="7772400" y="3611880"/>
            <a:ext cx="3867912" cy="1905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3767328"/>
            <a:ext cx="3867912" cy="1280160"/>
          </a:xfrm>
          <a:prstGeom prst="rect">
            <a:avLst/>
          </a:prstGeom>
          <a:noFill/>
        </p:spPr>
        <p:txBody>
          <a:bodyPr wrap="square">
            <a:spAutoFit/>
          </a:bodyPr>
          <a:lstStyle/>
          <a:p>
            <a:pPr algn="l">
              <a:lnSpc>
                <a:spcPct val="110000"/>
              </a:lnSpc>
              <a:spcAft>
                <a:spcPts val="600"/>
              </a:spcAft>
            </a:pPr>
            <a:r>
              <a:rPr sz="1050" b="0">
                <a:solidFill>
                  <a:srgbClr val="E6E5DE"/>
                </a:solidFill>
                <a:latin typeface="Calibri"/>
              </a:rPr>
              <a:t>Profit-Pulse.com.au</a:t>
            </a:r>
          </a:p>
          <a:p>
            <a:pPr algn="l">
              <a:lnSpc>
                <a:spcPct val="110000"/>
              </a:lnSpc>
              <a:spcAft>
                <a:spcPts val="600"/>
              </a:spcAft>
            </a:pPr>
            <a:r>
              <a:rPr sz="1050" b="0">
                <a:solidFill>
                  <a:srgbClr val="01A296"/>
                </a:solidFill>
                <a:latin typeface="Calibri"/>
              </a:rPr>
              <a:t>Nitesh@Profit-Pulse.com.au</a:t>
            </a:r>
          </a:p>
          <a:p>
            <a:pPr algn="l">
              <a:lnSpc>
                <a:spcPct val="110000"/>
              </a:lnSpc>
              <a:spcAft>
                <a:spcPts val="600"/>
              </a:spcAft>
            </a:pPr>
            <a:r>
              <a:rPr sz="1050" b="0">
                <a:solidFill>
                  <a:srgbClr val="E6E5DE"/>
                </a:solidFill>
                <a:latin typeface="Calibri"/>
              </a:rPr>
              <a:t>+61 411 876 267</a:t>
            </a:r>
          </a:p>
          <a:p>
            <a:pPr algn="l">
              <a:lnSpc>
                <a:spcPct val="110000"/>
              </a:lnSpc>
              <a:spcAft>
                <a:spcPts val="600"/>
              </a:spcAft>
            </a:pPr>
            <a:r>
              <a:rPr sz="1050" b="0">
                <a:solidFill>
                  <a:srgbClr val="01A296"/>
                </a:solidFill>
                <a:latin typeface="Calibri"/>
              </a:rPr>
              <a:t>linkedin.com/in/nitesh-roopa-77594163</a:t>
            </a:r>
          </a:p>
        </p:txBody>
      </p:sp>
      <p:sp>
        <p:nvSpPr>
          <p:cNvPr id="27" name="Rectangle 26"/>
          <p:cNvSpPr/>
          <p:nvPr/>
        </p:nvSpPr>
        <p:spPr>
          <a:xfrm>
            <a:off x="7772400" y="4709160"/>
            <a:ext cx="3867912" cy="1905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0" y="4846320"/>
            <a:ext cx="3867912" cy="502920"/>
          </a:xfrm>
          <a:prstGeom prst="rect">
            <a:avLst/>
          </a:prstGeom>
          <a:noFill/>
        </p:spPr>
        <p:txBody>
          <a:bodyPr wrap="square" anchor="t">
            <a:noAutofit/>
          </a:bodyPr>
          <a:lstStyle/>
          <a:p>
            <a:pPr algn="l"/>
            <a:r>
              <a:rPr sz="1000" b="0" i="1">
                <a:solidFill>
                  <a:srgbClr val="E6E5DE"/>
                </a:solidFill>
                <a:latin typeface="Calibri"/>
              </a:rPr>
              <a:t>Fractional CFO for growth stage SMEs: cash flow, investor ready reporting and growth strategy.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