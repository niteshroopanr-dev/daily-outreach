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3cI4gA1qw5280yQgYT3ks0w"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310896"/>
            <a:ext cx="7772400" cy="365760"/>
          </a:xfrm>
          <a:prstGeom prst="rect">
            <a:avLst/>
          </a:prstGeom>
          <a:noFill/>
        </p:spPr>
        <p:txBody>
          <a:bodyPr wrap="square" lIns="0" rIns="0" tIns="0" bIns="0">
            <a:noAutofit/>
          </a:bodyPr>
          <a:lstStyle/>
          <a:p>
            <a:pPr algn="l"/>
            <a:r>
              <a:rPr sz="1200" b="1" i="0">
                <a:solidFill>
                  <a:srgbClr val="E6E5DE"/>
                </a:solidFill>
                <a:latin typeface="Calibri"/>
              </a:rPr>
              <a:t>COMMERCIAL INTELLIGENCE BRIEF</a:t>
            </a:r>
          </a:p>
        </p:txBody>
      </p:sp>
      <p:sp>
        <p:nvSpPr>
          <p:cNvPr id="5" name="TextBox 4"/>
          <p:cNvSpPr txBox="1"/>
          <p:nvPr/>
        </p:nvSpPr>
        <p:spPr>
          <a:xfrm>
            <a:off x="8686800" y="310896"/>
            <a:ext cx="3108960" cy="365760"/>
          </a:xfrm>
          <a:prstGeom prst="rect">
            <a:avLst/>
          </a:prstGeom>
          <a:noFill/>
        </p:spPr>
        <p:txBody>
          <a:bodyPr wrap="square" lIns="0" rIns="0" tIns="0" bIns="0">
            <a:noAutofit/>
          </a:bodyPr>
          <a:lstStyle/>
          <a:p>
            <a:pPr algn="r"/>
            <a:r>
              <a:rPr sz="1200" b="1" i="0">
                <a:solidFill>
                  <a:srgbClr val="01A296"/>
                </a:solidFill>
                <a:latin typeface="Calibri"/>
              </a:rPr>
              <a:t>PROFITPULSE</a:t>
            </a:r>
          </a:p>
        </p:txBody>
      </p:sp>
      <p:sp>
        <p:nvSpPr>
          <p:cNvPr id="6" name="TextBox 5"/>
          <p:cNvSpPr txBox="1"/>
          <p:nvPr/>
        </p:nvSpPr>
        <p:spPr>
          <a:xfrm>
            <a:off x="320040" y="6473952"/>
            <a:ext cx="7772400" cy="274320"/>
          </a:xfrm>
          <a:prstGeom prst="rect">
            <a:avLst/>
          </a:prstGeom>
          <a:noFill/>
        </p:spPr>
        <p:txBody>
          <a:bodyPr wrap="square" lIns="0" rIns="0" tIns="0" bIns="0">
            <a:noAutofit/>
          </a:bodyPr>
          <a:lstStyle/>
          <a:p>
            <a:pPr algn="l"/>
            <a:r>
              <a:rPr sz="800" b="0" i="0">
                <a:solidFill>
                  <a:srgbClr val="000000"/>
                </a:solidFill>
                <a:latin typeface="Calibri"/>
              </a:rPr>
              <a:t>Prepared by Nitesh Roopa CA, Managing Partner, ProfitPulse, Profit-Pulse.com.au</a:t>
            </a:r>
          </a:p>
        </p:txBody>
      </p:sp>
      <p:sp>
        <p:nvSpPr>
          <p:cNvPr id="7" name="TextBox 6"/>
          <p:cNvSpPr txBox="1"/>
          <p:nvPr/>
        </p:nvSpPr>
        <p:spPr>
          <a:xfrm>
            <a:off x="9601200" y="6473952"/>
            <a:ext cx="2286000" cy="274320"/>
          </a:xfrm>
          <a:prstGeom prst="rect">
            <a:avLst/>
          </a:prstGeom>
          <a:noFill/>
        </p:spPr>
        <p:txBody>
          <a:bodyPr wrap="square" lIns="0" rIns="0" tIns="0" bIns="0">
            <a:noAutofit/>
          </a:bodyPr>
          <a:lstStyle/>
          <a:p>
            <a:pPr algn="r"/>
            <a:r>
              <a:rPr sz="800" b="0" i="0">
                <a:solidFill>
                  <a:srgbClr val="000000"/>
                </a:solidFill>
                <a:latin typeface="Calibri"/>
              </a:rPr>
              <a:t>22 Aug 2026</a:t>
            </a:r>
          </a:p>
        </p:txBody>
      </p:sp>
      <p:sp>
        <p:nvSpPr>
          <p:cNvPr id="8" name="TextBox 7"/>
          <p:cNvSpPr txBox="1"/>
          <p:nvPr/>
        </p:nvSpPr>
        <p:spPr>
          <a:xfrm>
            <a:off x="320040" y="1024128"/>
            <a:ext cx="8229600" cy="685800"/>
          </a:xfrm>
          <a:prstGeom prst="rect">
            <a:avLst/>
          </a:prstGeom>
          <a:noFill/>
        </p:spPr>
        <p:txBody>
          <a:bodyPr wrap="square" lIns="0" rIns="0" tIns="0" bIns="0">
            <a:noAutofit/>
          </a:bodyPr>
          <a:lstStyle/>
          <a:p>
            <a:pPr algn="l"/>
            <a:r>
              <a:rPr sz="4200" b="1" i="0">
                <a:solidFill>
                  <a:srgbClr val="000000"/>
                </a:solidFill>
                <a:latin typeface="Georgia"/>
              </a:rPr>
              <a:t>Taskforce Australia</a:t>
            </a:r>
          </a:p>
        </p:txBody>
      </p:sp>
      <p:sp>
        <p:nvSpPr>
          <p:cNvPr id="9" name="TextBox 8"/>
          <p:cNvSpPr txBox="1"/>
          <p:nvPr/>
        </p:nvSpPr>
        <p:spPr>
          <a:xfrm>
            <a:off x="320040" y="1691640"/>
            <a:ext cx="9601200" cy="320040"/>
          </a:xfrm>
          <a:prstGeom prst="rect">
            <a:avLst/>
          </a:prstGeom>
          <a:noFill/>
        </p:spPr>
        <p:txBody>
          <a:bodyPr wrap="square" lIns="0" rIns="0" tIns="0" bIns="0">
            <a:noAutofit/>
          </a:bodyPr>
          <a:lstStyle/>
          <a:p>
            <a:pPr algn="l"/>
            <a:r>
              <a:rPr sz="1200" b="0" i="0">
                <a:solidFill>
                  <a:srgbClr val="000000"/>
                </a:solidFill>
                <a:latin typeface="Calibri"/>
              </a:rPr>
              <a:t>National property compliance and maintenance platform, Burnley, Melbourne VIC</a:t>
            </a:r>
          </a:p>
        </p:txBody>
      </p:sp>
      <p:sp>
        <p:nvSpPr>
          <p:cNvPr id="10" name="Rectangle 9"/>
          <p:cNvSpPr/>
          <p:nvPr/>
        </p:nvSpPr>
        <p:spPr>
          <a:xfrm>
            <a:off x="320040" y="2148840"/>
            <a:ext cx="1818589" cy="1417320"/>
          </a:xfrm>
          <a:prstGeom prst="rect">
            <a:avLst/>
          </a:prstGeom>
          <a:solidFill>
            <a:srgbClr val="000000"/>
          </a:solidFill>
          <a:ln>
            <a:noFill/>
          </a:ln>
          <a:effectLst/>
        </p:spPr>
        <p:txBody>
          <a:bodyPr rtlCol="0" anchor="ctr"/>
          <a:lstStyle/>
          <a:p>
            <a:pPr algn="ctr"/>
          </a:p>
        </p:txBody>
      </p:sp>
      <p:sp>
        <p:nvSpPr>
          <p:cNvPr id="11" name="Rectangle 10"/>
          <p:cNvSpPr/>
          <p:nvPr/>
        </p:nvSpPr>
        <p:spPr>
          <a:xfrm>
            <a:off x="320040" y="2148840"/>
            <a:ext cx="1818589" cy="45720"/>
          </a:xfrm>
          <a:prstGeom prst="rect">
            <a:avLst/>
          </a:prstGeom>
          <a:solidFill>
            <a:srgbClr val="01A296"/>
          </a:solidFill>
          <a:ln>
            <a:noFill/>
          </a:ln>
          <a:effectLst/>
        </p:spPr>
        <p:txBody>
          <a:bodyPr rtlCol="0" anchor="ctr"/>
          <a:lstStyle/>
          <a:p>
            <a:pPr algn="ctr"/>
          </a:p>
        </p:txBody>
      </p:sp>
      <p:sp>
        <p:nvSpPr>
          <p:cNvPr id="12" name="TextBox 11"/>
          <p:cNvSpPr txBox="1"/>
          <p:nvPr/>
        </p:nvSpPr>
        <p:spPr>
          <a:xfrm>
            <a:off x="429768" y="2295144"/>
            <a:ext cx="1599133" cy="457200"/>
          </a:xfrm>
          <a:prstGeom prst="rect">
            <a:avLst/>
          </a:prstGeom>
          <a:noFill/>
        </p:spPr>
        <p:txBody>
          <a:bodyPr wrap="square" lIns="0" rIns="0" tIns="0" bIns="0">
            <a:noAutofit/>
          </a:bodyPr>
          <a:lstStyle/>
          <a:p>
            <a:pPr algn="l"/>
            <a:r>
              <a:rPr sz="2700" b="1" i="0">
                <a:solidFill>
                  <a:srgbClr val="F8C806"/>
                </a:solidFill>
                <a:latin typeface="Georgia"/>
              </a:rPr>
              <a:t>$12.8M</a:t>
            </a:r>
          </a:p>
        </p:txBody>
      </p:sp>
      <p:sp>
        <p:nvSpPr>
          <p:cNvPr id="13" name="TextBox 12"/>
          <p:cNvSpPr txBox="1"/>
          <p:nvPr/>
        </p:nvSpPr>
        <p:spPr>
          <a:xfrm>
            <a:off x="429768" y="2770632"/>
            <a:ext cx="1599133" cy="502920"/>
          </a:xfrm>
          <a:prstGeom prst="rect">
            <a:avLst/>
          </a:prstGeom>
          <a:noFill/>
        </p:spPr>
        <p:txBody>
          <a:bodyPr wrap="square" lIns="0" rIns="0" tIns="0" bIns="0">
            <a:noAutofit/>
          </a:bodyPr>
          <a:lstStyle/>
          <a:p>
            <a:pPr algn="l">
              <a:lnSpc>
                <a:spcPct val="100000"/>
              </a:lnSpc>
            </a:pPr>
            <a:r>
              <a:rPr sz="1000" b="0" i="0">
                <a:solidFill>
                  <a:srgbClr val="E6E5DE"/>
                </a:solidFill>
                <a:latin typeface="Calibri"/>
              </a:rPr>
              <a:t>Revenue, FY2025</a:t>
            </a:r>
          </a:p>
        </p:txBody>
      </p:sp>
      <p:sp>
        <p:nvSpPr>
          <p:cNvPr id="14" name="TextBox 13"/>
          <p:cNvSpPr txBox="1"/>
          <p:nvPr/>
        </p:nvSpPr>
        <p:spPr>
          <a:xfrm>
            <a:off x="429768" y="3310128"/>
            <a:ext cx="1599133" cy="219456"/>
          </a:xfrm>
          <a:prstGeom prst="rect">
            <a:avLst/>
          </a:prstGeom>
          <a:noFill/>
        </p:spPr>
        <p:txBody>
          <a:bodyPr wrap="square" lIns="0" rIns="0" tIns="0" bIns="0">
            <a:noAutofit/>
          </a:bodyPr>
          <a:lstStyle/>
          <a:p>
            <a:pPr algn="l"/>
            <a:r>
              <a:rPr sz="700" b="0" i="1">
                <a:solidFill>
                  <a:srgbClr val="FFFFFF"/>
                </a:solidFill>
                <a:latin typeface="Calibri"/>
              </a:rPr>
              <a:t>Smart50 2025, rank 37</a:t>
            </a:r>
          </a:p>
        </p:txBody>
      </p:sp>
      <p:sp>
        <p:nvSpPr>
          <p:cNvPr id="15" name="Rectangle 14"/>
          <p:cNvSpPr/>
          <p:nvPr/>
        </p:nvSpPr>
        <p:spPr>
          <a:xfrm>
            <a:off x="2266645" y="2148840"/>
            <a:ext cx="1818589" cy="1417320"/>
          </a:xfrm>
          <a:prstGeom prst="rect">
            <a:avLst/>
          </a:prstGeom>
          <a:solidFill>
            <a:srgbClr val="000000"/>
          </a:solidFill>
          <a:ln>
            <a:noFill/>
          </a:ln>
          <a:effectLst/>
        </p:spPr>
        <p:txBody>
          <a:bodyPr rtlCol="0" anchor="ctr"/>
          <a:lstStyle/>
          <a:p>
            <a:pPr algn="ctr"/>
          </a:p>
        </p:txBody>
      </p:sp>
      <p:sp>
        <p:nvSpPr>
          <p:cNvPr id="16" name="Rectangle 15"/>
          <p:cNvSpPr/>
          <p:nvPr/>
        </p:nvSpPr>
        <p:spPr>
          <a:xfrm>
            <a:off x="2266645" y="2148840"/>
            <a:ext cx="1818589" cy="45720"/>
          </a:xfrm>
          <a:prstGeom prst="rect">
            <a:avLst/>
          </a:prstGeom>
          <a:solidFill>
            <a:srgbClr val="01A296"/>
          </a:solidFill>
          <a:ln>
            <a:noFill/>
          </a:ln>
          <a:effectLst/>
        </p:spPr>
        <p:txBody>
          <a:bodyPr rtlCol="0" anchor="ctr"/>
          <a:lstStyle/>
          <a:p>
            <a:pPr algn="ctr"/>
          </a:p>
        </p:txBody>
      </p:sp>
      <p:sp>
        <p:nvSpPr>
          <p:cNvPr id="17" name="TextBox 16"/>
          <p:cNvSpPr txBox="1"/>
          <p:nvPr/>
        </p:nvSpPr>
        <p:spPr>
          <a:xfrm>
            <a:off x="2376373" y="2295144"/>
            <a:ext cx="1599133" cy="457200"/>
          </a:xfrm>
          <a:prstGeom prst="rect">
            <a:avLst/>
          </a:prstGeom>
          <a:noFill/>
        </p:spPr>
        <p:txBody>
          <a:bodyPr wrap="square" lIns="0" rIns="0" tIns="0" bIns="0">
            <a:noAutofit/>
          </a:bodyPr>
          <a:lstStyle/>
          <a:p>
            <a:pPr algn="l"/>
            <a:r>
              <a:rPr sz="2700" b="1" i="0">
                <a:solidFill>
                  <a:srgbClr val="F8C806"/>
                </a:solidFill>
                <a:latin typeface="Georgia"/>
              </a:rPr>
              <a:t>31%</a:t>
            </a:r>
          </a:p>
        </p:txBody>
      </p:sp>
      <p:sp>
        <p:nvSpPr>
          <p:cNvPr id="18" name="TextBox 17"/>
          <p:cNvSpPr txBox="1"/>
          <p:nvPr/>
        </p:nvSpPr>
        <p:spPr>
          <a:xfrm>
            <a:off x="2376373" y="2770632"/>
            <a:ext cx="1599133" cy="502920"/>
          </a:xfrm>
          <a:prstGeom prst="rect">
            <a:avLst/>
          </a:prstGeom>
          <a:noFill/>
        </p:spPr>
        <p:txBody>
          <a:bodyPr wrap="square" lIns="0" rIns="0" tIns="0" bIns="0">
            <a:noAutofit/>
          </a:bodyPr>
          <a:lstStyle/>
          <a:p>
            <a:pPr algn="l">
              <a:lnSpc>
                <a:spcPct val="100000"/>
              </a:lnSpc>
            </a:pPr>
            <a:r>
              <a:rPr sz="1000" b="0" i="0">
                <a:solidFill>
                  <a:srgbClr val="E6E5DE"/>
                </a:solidFill>
                <a:latin typeface="Calibri"/>
              </a:rPr>
              <a:t>Revenue growth</a:t>
            </a:r>
          </a:p>
          <a:p>
            <a:pPr algn="l">
              <a:lnSpc>
                <a:spcPct val="100000"/>
              </a:lnSpc>
            </a:pPr>
            <a:r>
              <a:rPr sz="1000" b="0" i="0">
                <a:solidFill>
                  <a:srgbClr val="E6E5DE"/>
                </a:solidFill>
                <a:latin typeface="Calibri"/>
              </a:rPr>
              <a:t>in FY2025</a:t>
            </a:r>
          </a:p>
        </p:txBody>
      </p:sp>
      <p:sp>
        <p:nvSpPr>
          <p:cNvPr id="19" name="TextBox 18"/>
          <p:cNvSpPr txBox="1"/>
          <p:nvPr/>
        </p:nvSpPr>
        <p:spPr>
          <a:xfrm>
            <a:off x="2376373" y="3310128"/>
            <a:ext cx="1599133" cy="219456"/>
          </a:xfrm>
          <a:prstGeom prst="rect">
            <a:avLst/>
          </a:prstGeom>
          <a:noFill/>
        </p:spPr>
        <p:txBody>
          <a:bodyPr wrap="square" lIns="0" rIns="0" tIns="0" bIns="0">
            <a:noAutofit/>
          </a:bodyPr>
          <a:lstStyle/>
          <a:p>
            <a:pPr algn="l"/>
            <a:r>
              <a:rPr sz="700" b="0" i="1">
                <a:solidFill>
                  <a:srgbClr val="FFFFFF"/>
                </a:solidFill>
                <a:latin typeface="Calibri"/>
              </a:rPr>
              <a:t>Smart50 2025 citation</a:t>
            </a:r>
          </a:p>
        </p:txBody>
      </p:sp>
      <p:sp>
        <p:nvSpPr>
          <p:cNvPr id="20" name="Rectangle 19"/>
          <p:cNvSpPr/>
          <p:nvPr/>
        </p:nvSpPr>
        <p:spPr>
          <a:xfrm>
            <a:off x="4213250" y="2148840"/>
            <a:ext cx="1818589" cy="1417320"/>
          </a:xfrm>
          <a:prstGeom prst="rect">
            <a:avLst/>
          </a:prstGeom>
          <a:solidFill>
            <a:srgbClr val="000000"/>
          </a:solidFill>
          <a:ln>
            <a:noFill/>
          </a:ln>
          <a:effectLst/>
        </p:spPr>
        <p:txBody>
          <a:bodyPr rtlCol="0" anchor="ctr"/>
          <a:lstStyle/>
          <a:p>
            <a:pPr algn="ctr"/>
          </a:p>
        </p:txBody>
      </p:sp>
      <p:sp>
        <p:nvSpPr>
          <p:cNvPr id="21" name="Rectangle 20"/>
          <p:cNvSpPr/>
          <p:nvPr/>
        </p:nvSpPr>
        <p:spPr>
          <a:xfrm>
            <a:off x="4213250" y="2148840"/>
            <a:ext cx="1818589" cy="45720"/>
          </a:xfrm>
          <a:prstGeom prst="rect">
            <a:avLst/>
          </a:prstGeom>
          <a:solidFill>
            <a:srgbClr val="01A296"/>
          </a:solidFill>
          <a:ln>
            <a:noFill/>
          </a:ln>
          <a:effectLst/>
        </p:spPr>
        <p:txBody>
          <a:bodyPr rtlCol="0" anchor="ctr"/>
          <a:lstStyle/>
          <a:p>
            <a:pPr algn="ctr"/>
          </a:p>
        </p:txBody>
      </p:sp>
      <p:sp>
        <p:nvSpPr>
          <p:cNvPr id="22" name="TextBox 21"/>
          <p:cNvSpPr txBox="1"/>
          <p:nvPr/>
        </p:nvSpPr>
        <p:spPr>
          <a:xfrm>
            <a:off x="4322978" y="2295144"/>
            <a:ext cx="1599133" cy="457200"/>
          </a:xfrm>
          <a:prstGeom prst="rect">
            <a:avLst/>
          </a:prstGeom>
          <a:noFill/>
        </p:spPr>
        <p:txBody>
          <a:bodyPr wrap="square" lIns="0" rIns="0" tIns="0" bIns="0">
            <a:noAutofit/>
          </a:bodyPr>
          <a:lstStyle/>
          <a:p>
            <a:pPr algn="l"/>
            <a:r>
              <a:rPr sz="2700" b="1" i="0">
                <a:solidFill>
                  <a:srgbClr val="F8C806"/>
                </a:solidFill>
                <a:latin typeface="Georgia"/>
              </a:rPr>
              <a:t>19</a:t>
            </a:r>
          </a:p>
        </p:txBody>
      </p:sp>
      <p:sp>
        <p:nvSpPr>
          <p:cNvPr id="23" name="TextBox 22"/>
          <p:cNvSpPr txBox="1"/>
          <p:nvPr/>
        </p:nvSpPr>
        <p:spPr>
          <a:xfrm>
            <a:off x="4322978" y="2770632"/>
            <a:ext cx="1599133" cy="502920"/>
          </a:xfrm>
          <a:prstGeom prst="rect">
            <a:avLst/>
          </a:prstGeom>
          <a:noFill/>
        </p:spPr>
        <p:txBody>
          <a:bodyPr wrap="square" lIns="0" rIns="0" tIns="0" bIns="0">
            <a:noAutofit/>
          </a:bodyPr>
          <a:lstStyle/>
          <a:p>
            <a:pPr algn="l">
              <a:lnSpc>
                <a:spcPct val="100000"/>
              </a:lnSpc>
            </a:pPr>
            <a:r>
              <a:rPr sz="1000" b="0" i="0">
                <a:solidFill>
                  <a:srgbClr val="E6E5DE"/>
                </a:solidFill>
                <a:latin typeface="Calibri"/>
              </a:rPr>
              <a:t>Employees</a:t>
            </a:r>
          </a:p>
          <a:p>
            <a:pPr algn="l">
              <a:lnSpc>
                <a:spcPct val="100000"/>
              </a:lnSpc>
            </a:pPr>
            <a:r>
              <a:rPr sz="1000" b="0" i="0">
                <a:solidFill>
                  <a:srgbClr val="E6E5DE"/>
                </a:solidFill>
                <a:latin typeface="Calibri"/>
              </a:rPr>
              <a:t>nationally</a:t>
            </a:r>
          </a:p>
        </p:txBody>
      </p:sp>
      <p:sp>
        <p:nvSpPr>
          <p:cNvPr id="24" name="TextBox 23"/>
          <p:cNvSpPr txBox="1"/>
          <p:nvPr/>
        </p:nvSpPr>
        <p:spPr>
          <a:xfrm>
            <a:off x="4322978" y="3310128"/>
            <a:ext cx="1599133" cy="219456"/>
          </a:xfrm>
          <a:prstGeom prst="rect">
            <a:avLst/>
          </a:prstGeom>
          <a:noFill/>
        </p:spPr>
        <p:txBody>
          <a:bodyPr wrap="square" lIns="0" rIns="0" tIns="0" bIns="0">
            <a:noAutofit/>
          </a:bodyPr>
          <a:lstStyle/>
          <a:p>
            <a:pPr algn="l"/>
            <a:r>
              <a:rPr sz="700" b="0" i="1">
                <a:solidFill>
                  <a:srgbClr val="FFFFFF"/>
                </a:solidFill>
                <a:latin typeface="Calibri"/>
              </a:rPr>
              <a:t>Smart50 2025 citation</a:t>
            </a:r>
          </a:p>
        </p:txBody>
      </p:sp>
      <p:sp>
        <p:nvSpPr>
          <p:cNvPr id="25" name="Rectangle 24"/>
          <p:cNvSpPr/>
          <p:nvPr/>
        </p:nvSpPr>
        <p:spPr>
          <a:xfrm>
            <a:off x="6159855" y="2148840"/>
            <a:ext cx="1818589" cy="1417320"/>
          </a:xfrm>
          <a:prstGeom prst="rect">
            <a:avLst/>
          </a:prstGeom>
          <a:solidFill>
            <a:srgbClr val="000000"/>
          </a:solidFill>
          <a:ln>
            <a:noFill/>
          </a:ln>
          <a:effectLst/>
        </p:spPr>
        <p:txBody>
          <a:bodyPr rtlCol="0" anchor="ctr"/>
          <a:lstStyle/>
          <a:p>
            <a:pPr algn="ctr"/>
          </a:p>
        </p:txBody>
      </p:sp>
      <p:sp>
        <p:nvSpPr>
          <p:cNvPr id="26" name="Rectangle 25"/>
          <p:cNvSpPr/>
          <p:nvPr/>
        </p:nvSpPr>
        <p:spPr>
          <a:xfrm>
            <a:off x="6159855" y="2148840"/>
            <a:ext cx="1818589" cy="45720"/>
          </a:xfrm>
          <a:prstGeom prst="rect">
            <a:avLst/>
          </a:prstGeom>
          <a:solidFill>
            <a:srgbClr val="01A296"/>
          </a:solidFill>
          <a:ln>
            <a:noFill/>
          </a:ln>
          <a:effectLst/>
        </p:spPr>
        <p:txBody>
          <a:bodyPr rtlCol="0" anchor="ctr"/>
          <a:lstStyle/>
          <a:p>
            <a:pPr algn="ctr"/>
          </a:p>
        </p:txBody>
      </p:sp>
      <p:sp>
        <p:nvSpPr>
          <p:cNvPr id="27" name="TextBox 26"/>
          <p:cNvSpPr txBox="1"/>
          <p:nvPr/>
        </p:nvSpPr>
        <p:spPr>
          <a:xfrm>
            <a:off x="6269583" y="2295144"/>
            <a:ext cx="1599133" cy="457200"/>
          </a:xfrm>
          <a:prstGeom prst="rect">
            <a:avLst/>
          </a:prstGeom>
          <a:noFill/>
        </p:spPr>
        <p:txBody>
          <a:bodyPr wrap="square" lIns="0" rIns="0" tIns="0" bIns="0">
            <a:noAutofit/>
          </a:bodyPr>
          <a:lstStyle/>
          <a:p>
            <a:pPr algn="l"/>
            <a:r>
              <a:rPr sz="2700" b="1" i="0">
                <a:solidFill>
                  <a:srgbClr val="F8C806"/>
                </a:solidFill>
                <a:latin typeface="Georgia"/>
              </a:rPr>
              <a:t>2014</a:t>
            </a:r>
          </a:p>
        </p:txBody>
      </p:sp>
      <p:sp>
        <p:nvSpPr>
          <p:cNvPr id="28" name="TextBox 27"/>
          <p:cNvSpPr txBox="1"/>
          <p:nvPr/>
        </p:nvSpPr>
        <p:spPr>
          <a:xfrm>
            <a:off x="6269583" y="2770632"/>
            <a:ext cx="1599133" cy="502920"/>
          </a:xfrm>
          <a:prstGeom prst="rect">
            <a:avLst/>
          </a:prstGeom>
          <a:noFill/>
        </p:spPr>
        <p:txBody>
          <a:bodyPr wrap="square" lIns="0" rIns="0" tIns="0" bIns="0">
            <a:noAutofit/>
          </a:bodyPr>
          <a:lstStyle/>
          <a:p>
            <a:pPr algn="l">
              <a:lnSpc>
                <a:spcPct val="100000"/>
              </a:lnSpc>
            </a:pPr>
            <a:r>
              <a:rPr sz="1000" b="0" i="0">
                <a:solidFill>
                  <a:srgbClr val="E6E5DE"/>
                </a:solidFill>
                <a:latin typeface="Calibri"/>
              </a:rPr>
              <a:t>Founded, Melbourne</a:t>
            </a:r>
          </a:p>
        </p:txBody>
      </p:sp>
      <p:sp>
        <p:nvSpPr>
          <p:cNvPr id="29" name="TextBox 28"/>
          <p:cNvSpPr txBox="1"/>
          <p:nvPr/>
        </p:nvSpPr>
        <p:spPr>
          <a:xfrm>
            <a:off x="6269583" y="3310128"/>
            <a:ext cx="1599133" cy="219456"/>
          </a:xfrm>
          <a:prstGeom prst="rect">
            <a:avLst/>
          </a:prstGeom>
          <a:noFill/>
        </p:spPr>
        <p:txBody>
          <a:bodyPr wrap="square" lIns="0" rIns="0" tIns="0" bIns="0">
            <a:noAutofit/>
          </a:bodyPr>
          <a:lstStyle/>
          <a:p>
            <a:pPr algn="l"/>
            <a:r>
              <a:rPr sz="700" b="0" i="1">
                <a:solidFill>
                  <a:srgbClr val="FFFFFF"/>
                </a:solidFill>
                <a:latin typeface="Calibri"/>
              </a:rPr>
              <a:t>Smart50 award profiles</a:t>
            </a:r>
          </a:p>
        </p:txBody>
      </p:sp>
      <p:sp>
        <p:nvSpPr>
          <p:cNvPr id="30" name="Rectangle 29"/>
          <p:cNvSpPr/>
          <p:nvPr/>
        </p:nvSpPr>
        <p:spPr>
          <a:xfrm>
            <a:off x="8106460" y="2148840"/>
            <a:ext cx="1818589" cy="1417320"/>
          </a:xfrm>
          <a:prstGeom prst="rect">
            <a:avLst/>
          </a:prstGeom>
          <a:solidFill>
            <a:srgbClr val="000000"/>
          </a:solidFill>
          <a:ln>
            <a:noFill/>
          </a:ln>
          <a:effectLst/>
        </p:spPr>
        <p:txBody>
          <a:bodyPr rtlCol="0" anchor="ctr"/>
          <a:lstStyle/>
          <a:p>
            <a:pPr algn="ctr"/>
          </a:p>
        </p:txBody>
      </p:sp>
      <p:sp>
        <p:nvSpPr>
          <p:cNvPr id="31" name="Rectangle 30"/>
          <p:cNvSpPr/>
          <p:nvPr/>
        </p:nvSpPr>
        <p:spPr>
          <a:xfrm>
            <a:off x="8106460" y="2148840"/>
            <a:ext cx="1818589" cy="45720"/>
          </a:xfrm>
          <a:prstGeom prst="rect">
            <a:avLst/>
          </a:prstGeom>
          <a:solidFill>
            <a:srgbClr val="01A296"/>
          </a:solidFill>
          <a:ln>
            <a:noFill/>
          </a:ln>
          <a:effectLst/>
        </p:spPr>
        <p:txBody>
          <a:bodyPr rtlCol="0" anchor="ctr"/>
          <a:lstStyle/>
          <a:p>
            <a:pPr algn="ctr"/>
          </a:p>
        </p:txBody>
      </p:sp>
      <p:sp>
        <p:nvSpPr>
          <p:cNvPr id="32" name="TextBox 31"/>
          <p:cNvSpPr txBox="1"/>
          <p:nvPr/>
        </p:nvSpPr>
        <p:spPr>
          <a:xfrm>
            <a:off x="8216188" y="2295144"/>
            <a:ext cx="1599133" cy="457200"/>
          </a:xfrm>
          <a:prstGeom prst="rect">
            <a:avLst/>
          </a:prstGeom>
          <a:noFill/>
        </p:spPr>
        <p:txBody>
          <a:bodyPr wrap="square" lIns="0" rIns="0" tIns="0" bIns="0">
            <a:noAutofit/>
          </a:bodyPr>
          <a:lstStyle/>
          <a:p>
            <a:pPr algn="l"/>
            <a:r>
              <a:rPr sz="2700" b="1" i="0">
                <a:solidFill>
                  <a:srgbClr val="F8C806"/>
                </a:solidFill>
                <a:latin typeface="Georgia"/>
              </a:rPr>
              <a:t>140K+</a:t>
            </a:r>
          </a:p>
        </p:txBody>
      </p:sp>
      <p:sp>
        <p:nvSpPr>
          <p:cNvPr id="33" name="TextBox 32"/>
          <p:cNvSpPr txBox="1"/>
          <p:nvPr/>
        </p:nvSpPr>
        <p:spPr>
          <a:xfrm>
            <a:off x="8216188" y="2770632"/>
            <a:ext cx="1599133" cy="502920"/>
          </a:xfrm>
          <a:prstGeom prst="rect">
            <a:avLst/>
          </a:prstGeom>
          <a:noFill/>
        </p:spPr>
        <p:txBody>
          <a:bodyPr wrap="square" lIns="0" rIns="0" tIns="0" bIns="0">
            <a:noAutofit/>
          </a:bodyPr>
          <a:lstStyle/>
          <a:p>
            <a:pPr algn="l">
              <a:lnSpc>
                <a:spcPct val="100000"/>
              </a:lnSpc>
            </a:pPr>
            <a:r>
              <a:rPr sz="1000" b="0" i="0">
                <a:solidFill>
                  <a:srgbClr val="E6E5DE"/>
                </a:solidFill>
                <a:latin typeface="Calibri"/>
              </a:rPr>
              <a:t>Compliance jobs</a:t>
            </a:r>
          </a:p>
          <a:p>
            <a:pPr algn="l">
              <a:lnSpc>
                <a:spcPct val="100000"/>
              </a:lnSpc>
            </a:pPr>
            <a:r>
              <a:rPr sz="1000" b="0" i="0">
                <a:solidFill>
                  <a:srgbClr val="E6E5DE"/>
                </a:solidFill>
                <a:latin typeface="Calibri"/>
              </a:rPr>
              <a:t>delivered since 2021</a:t>
            </a:r>
          </a:p>
        </p:txBody>
      </p:sp>
      <p:sp>
        <p:nvSpPr>
          <p:cNvPr id="34" name="TextBox 33"/>
          <p:cNvSpPr txBox="1"/>
          <p:nvPr/>
        </p:nvSpPr>
        <p:spPr>
          <a:xfrm>
            <a:off x="8216188" y="3310128"/>
            <a:ext cx="1599133" cy="219456"/>
          </a:xfrm>
          <a:prstGeom prst="rect">
            <a:avLst/>
          </a:prstGeom>
          <a:noFill/>
        </p:spPr>
        <p:txBody>
          <a:bodyPr wrap="square" lIns="0" rIns="0" tIns="0" bIns="0">
            <a:noAutofit/>
          </a:bodyPr>
          <a:lstStyle/>
          <a:p>
            <a:pPr algn="l"/>
            <a:r>
              <a:rPr sz="700" b="0" i="1">
                <a:solidFill>
                  <a:srgbClr val="FFFFFF"/>
                </a:solidFill>
                <a:latin typeface="Calibri"/>
              </a:rPr>
              <a:t>Taskforce RentSafe site</a:t>
            </a:r>
          </a:p>
        </p:txBody>
      </p:sp>
      <p:sp>
        <p:nvSpPr>
          <p:cNvPr id="35" name="Rectangle 34"/>
          <p:cNvSpPr/>
          <p:nvPr/>
        </p:nvSpPr>
        <p:spPr>
          <a:xfrm>
            <a:off x="10053066" y="2148840"/>
            <a:ext cx="1818589" cy="1417320"/>
          </a:xfrm>
          <a:prstGeom prst="rect">
            <a:avLst/>
          </a:prstGeom>
          <a:solidFill>
            <a:srgbClr val="000000"/>
          </a:solidFill>
          <a:ln>
            <a:noFill/>
          </a:ln>
          <a:effectLst/>
        </p:spPr>
        <p:txBody>
          <a:bodyPr rtlCol="0" anchor="ctr"/>
          <a:lstStyle/>
          <a:p>
            <a:pPr algn="ctr"/>
          </a:p>
        </p:txBody>
      </p:sp>
      <p:sp>
        <p:nvSpPr>
          <p:cNvPr id="36" name="Rectangle 35"/>
          <p:cNvSpPr/>
          <p:nvPr/>
        </p:nvSpPr>
        <p:spPr>
          <a:xfrm>
            <a:off x="10053066" y="2148840"/>
            <a:ext cx="1818589" cy="45720"/>
          </a:xfrm>
          <a:prstGeom prst="rect">
            <a:avLst/>
          </a:prstGeom>
          <a:solidFill>
            <a:srgbClr val="01A296"/>
          </a:solidFill>
          <a:ln>
            <a:noFill/>
          </a:ln>
          <a:effectLst/>
        </p:spPr>
        <p:txBody>
          <a:bodyPr rtlCol="0" anchor="ctr"/>
          <a:lstStyle/>
          <a:p>
            <a:pPr algn="ctr"/>
          </a:p>
        </p:txBody>
      </p:sp>
      <p:sp>
        <p:nvSpPr>
          <p:cNvPr id="37" name="TextBox 36"/>
          <p:cNvSpPr txBox="1"/>
          <p:nvPr/>
        </p:nvSpPr>
        <p:spPr>
          <a:xfrm>
            <a:off x="10162794" y="2295144"/>
            <a:ext cx="1599133" cy="457200"/>
          </a:xfrm>
          <a:prstGeom prst="rect">
            <a:avLst/>
          </a:prstGeom>
          <a:noFill/>
        </p:spPr>
        <p:txBody>
          <a:bodyPr wrap="square" lIns="0" rIns="0" tIns="0" bIns="0">
            <a:noAutofit/>
          </a:bodyPr>
          <a:lstStyle/>
          <a:p>
            <a:pPr algn="l"/>
            <a:r>
              <a:rPr sz="2700" b="1" i="0">
                <a:solidFill>
                  <a:srgbClr val="F8C806"/>
                </a:solidFill>
                <a:latin typeface="Georgia"/>
              </a:rPr>
              <a:t>5,500+</a:t>
            </a:r>
          </a:p>
        </p:txBody>
      </p:sp>
      <p:sp>
        <p:nvSpPr>
          <p:cNvPr id="38" name="TextBox 37"/>
          <p:cNvSpPr txBox="1"/>
          <p:nvPr/>
        </p:nvSpPr>
        <p:spPr>
          <a:xfrm>
            <a:off x="10162794" y="2770632"/>
            <a:ext cx="1599133" cy="502920"/>
          </a:xfrm>
          <a:prstGeom prst="rect">
            <a:avLst/>
          </a:prstGeom>
          <a:noFill/>
        </p:spPr>
        <p:txBody>
          <a:bodyPr wrap="square" lIns="0" rIns="0" tIns="0" bIns="0">
            <a:noAutofit/>
          </a:bodyPr>
          <a:lstStyle/>
          <a:p>
            <a:pPr algn="l">
              <a:lnSpc>
                <a:spcPct val="100000"/>
              </a:lnSpc>
            </a:pPr>
            <a:r>
              <a:rPr sz="1000" b="0" i="0">
                <a:solidFill>
                  <a:srgbClr val="E6E5DE"/>
                </a:solidFill>
                <a:latin typeface="Calibri"/>
              </a:rPr>
              <a:t>Trades in the</a:t>
            </a:r>
          </a:p>
          <a:p>
            <a:pPr algn="l">
              <a:lnSpc>
                <a:spcPct val="100000"/>
              </a:lnSpc>
            </a:pPr>
            <a:r>
              <a:rPr sz="1000" b="0" i="0">
                <a:solidFill>
                  <a:srgbClr val="E6E5DE"/>
                </a:solidFill>
                <a:latin typeface="Calibri"/>
              </a:rPr>
              <a:t>national network</a:t>
            </a:r>
          </a:p>
        </p:txBody>
      </p:sp>
      <p:sp>
        <p:nvSpPr>
          <p:cNvPr id="39" name="TextBox 38"/>
          <p:cNvSpPr txBox="1"/>
          <p:nvPr/>
        </p:nvSpPr>
        <p:spPr>
          <a:xfrm>
            <a:off x="10162794" y="3310128"/>
            <a:ext cx="1599133" cy="219456"/>
          </a:xfrm>
          <a:prstGeom prst="rect">
            <a:avLst/>
          </a:prstGeom>
          <a:noFill/>
        </p:spPr>
        <p:txBody>
          <a:bodyPr wrap="square" lIns="0" rIns="0" tIns="0" bIns="0">
            <a:noAutofit/>
          </a:bodyPr>
          <a:lstStyle/>
          <a:p>
            <a:pPr algn="l"/>
            <a:r>
              <a:rPr sz="700" b="0" i="1">
                <a:solidFill>
                  <a:srgbClr val="FFFFFF"/>
                </a:solidFill>
                <a:latin typeface="Calibri"/>
              </a:rPr>
              <a:t>Taskforce Australia site</a:t>
            </a:r>
          </a:p>
        </p:txBody>
      </p:sp>
      <p:sp>
        <p:nvSpPr>
          <p:cNvPr id="40" name="TextBox 39"/>
          <p:cNvSpPr txBox="1"/>
          <p:nvPr/>
        </p:nvSpPr>
        <p:spPr>
          <a:xfrm>
            <a:off x="320040" y="3822192"/>
            <a:ext cx="5486400" cy="274320"/>
          </a:xfrm>
          <a:prstGeom prst="rect">
            <a:avLst/>
          </a:prstGeom>
          <a:noFill/>
        </p:spPr>
        <p:txBody>
          <a:bodyPr wrap="square" lIns="0" rIns="0" tIns="0" bIns="0">
            <a:noAutofit/>
          </a:bodyPr>
          <a:lstStyle/>
          <a:p>
            <a:pPr algn="l"/>
            <a:r>
              <a:rPr sz="1100" b="1" i="0">
                <a:solidFill>
                  <a:srgbClr val="01A296"/>
                </a:solidFill>
                <a:latin typeface="Calibri"/>
              </a:rPr>
              <a:t>KEY COMMERCIAL SIGNALS</a:t>
            </a:r>
          </a:p>
        </p:txBody>
      </p:sp>
      <p:sp>
        <p:nvSpPr>
          <p:cNvPr id="41" name="TextBox 40"/>
          <p:cNvSpPr txBox="1"/>
          <p:nvPr/>
        </p:nvSpPr>
        <p:spPr>
          <a:xfrm>
            <a:off x="320040" y="4114800"/>
            <a:ext cx="11551615" cy="1965960"/>
          </a:xfrm>
          <a:prstGeom prst="rect">
            <a:avLst/>
          </a:prstGeom>
          <a:noFill/>
        </p:spPr>
        <p:txBody>
          <a:bodyPr wrap="square" lIns="0" rIns="0" tIns="0" bIns="0">
            <a:noAutofit/>
          </a:bodyPr>
          <a:lstStyle/>
          <a:p>
            <a:pPr algn="l">
              <a:lnSpc>
                <a:spcPct val="112000"/>
              </a:lnSpc>
              <a:spcAft>
                <a:spcPts val="600"/>
              </a:spcAft>
            </a:pPr>
            <a:r>
              <a:rPr sz="1100" b="0" i="0">
                <a:solidFill>
                  <a:srgbClr val="000000"/>
                </a:solidFill>
                <a:latin typeface="Calibri"/>
              </a:rPr>
              <a:t>•  Revenue moved from $7.43M to $9.7M to $12.8M across three straight Smart50 citations, 2023 to 2025.</a:t>
            </a:r>
          </a:p>
          <a:p>
            <a:pPr algn="l">
              <a:lnSpc>
                <a:spcPct val="112000"/>
              </a:lnSpc>
              <a:spcAft>
                <a:spcPts val="600"/>
              </a:spcAft>
            </a:pPr>
            <a:r>
              <a:rPr sz="1100" b="0" i="0">
                <a:solidFill>
                  <a:srgbClr val="000000"/>
                </a:solidFill>
                <a:latin typeface="Calibri"/>
              </a:rPr>
              <a:t>•  Target of 50 to 60% compound annual growth over the next three years, self funded organic growth (Smart50 2024 profile).</a:t>
            </a:r>
          </a:p>
          <a:p>
            <a:pPr algn="l">
              <a:lnSpc>
                <a:spcPct val="112000"/>
              </a:lnSpc>
              <a:spcAft>
                <a:spcPts val="600"/>
              </a:spcAft>
            </a:pPr>
            <a:r>
              <a:rPr sz="1100" b="0" i="0">
                <a:solidFill>
                  <a:srgbClr val="000000"/>
                </a:solidFill>
                <a:latin typeface="Calibri"/>
              </a:rPr>
              <a:t>•  New preferred supplier agreement with BigginScott Group real estate group, effective 1 July 2025 (Real+ partner listing).</a:t>
            </a:r>
          </a:p>
          <a:p>
            <a:pPr algn="l">
              <a:lnSpc>
                <a:spcPct val="112000"/>
              </a:lnSpc>
              <a:spcAft>
                <a:spcPts val="600"/>
              </a:spcAft>
            </a:pPr>
            <a:r>
              <a:rPr sz="1100" b="0" i="0">
                <a:solidFill>
                  <a:srgbClr val="000000"/>
                </a:solidFill>
                <a:latin typeface="Calibri"/>
              </a:rPr>
              <a:t>•  RentSafe platform has delivered 140,000+ jobs across 300 real estate offices and 180 major brands (Taskforce RentSafe site).</a:t>
            </a:r>
          </a:p>
          <a:p>
            <a:pPr algn="l">
              <a:lnSpc>
                <a:spcPct val="112000"/>
              </a:lnSpc>
              <a:spcAft>
                <a:spcPts val="600"/>
              </a:spcAft>
            </a:pPr>
            <a:r>
              <a:rPr sz="1100" b="0" i="0">
                <a:solidFill>
                  <a:srgbClr val="000000"/>
                </a:solidFill>
                <a:latin typeface="Calibri"/>
              </a:rPr>
              <a:t>•  Won the Proptech Association Award in 2024 and 2025; founder Jason Bright a 2026 Leader of the Year finalist (Proptech Australia).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256032"/>
            <a:ext cx="6400800" cy="320040"/>
          </a:xfrm>
          <a:prstGeom prst="rect">
            <a:avLst/>
          </a:prstGeom>
          <a:noFill/>
        </p:spPr>
        <p:txBody>
          <a:bodyPr wrap="square" lIns="0" rIns="0" tIns="0" bIns="0">
            <a:noAutofit/>
          </a:bodyPr>
          <a:lstStyle/>
          <a:p>
            <a:pPr algn="l"/>
            <a:r>
              <a:rPr sz="1200" b="1" i="0">
                <a:solidFill>
                  <a:srgbClr val="E6E5DE"/>
                </a:solidFill>
                <a:latin typeface="Calibri"/>
              </a:rPr>
              <a:t>THE OPPORTUNITY</a:t>
            </a:r>
          </a:p>
        </p:txBody>
      </p:sp>
      <p:sp>
        <p:nvSpPr>
          <p:cNvPr id="5" name="TextBox 4"/>
          <p:cNvSpPr txBox="1"/>
          <p:nvPr/>
        </p:nvSpPr>
        <p:spPr>
          <a:xfrm>
            <a:off x="320040" y="548640"/>
            <a:ext cx="8229600" cy="320040"/>
          </a:xfrm>
          <a:prstGeom prst="rect">
            <a:avLst/>
          </a:prstGeom>
          <a:noFill/>
        </p:spPr>
        <p:txBody>
          <a:bodyPr wrap="square" lIns="0" rIns="0" tIns="0" bIns="0">
            <a:noAutofit/>
          </a:bodyPr>
          <a:lstStyle/>
          <a:p>
            <a:pPr algn="l"/>
            <a:r>
              <a:rPr sz="1000" b="0" i="0">
                <a:solidFill>
                  <a:srgbClr val="01A296"/>
                </a:solidFill>
                <a:latin typeface="Calibri"/>
              </a:rPr>
              <a:t>Taskforce Australia. Three commercial observations from ProfitPulse.</a:t>
            </a:r>
          </a:p>
        </p:txBody>
      </p:sp>
      <p:sp>
        <p:nvSpPr>
          <p:cNvPr id="6" name="TextBox 5"/>
          <p:cNvSpPr txBox="1"/>
          <p:nvPr/>
        </p:nvSpPr>
        <p:spPr>
          <a:xfrm>
            <a:off x="8686800" y="310896"/>
            <a:ext cx="3108960" cy="365760"/>
          </a:xfrm>
          <a:prstGeom prst="rect">
            <a:avLst/>
          </a:prstGeom>
          <a:noFill/>
        </p:spPr>
        <p:txBody>
          <a:bodyPr wrap="square" lIns="0" rIns="0" tIns="0" bIns="0">
            <a:noAutofit/>
          </a:bodyPr>
          <a:lstStyle/>
          <a:p>
            <a:pPr algn="r"/>
            <a:r>
              <a:rPr sz="1200" b="1" i="0">
                <a:solidFill>
                  <a:srgbClr val="01A296"/>
                </a:solidFill>
                <a:latin typeface="Calibri"/>
              </a:rPr>
              <a:t>PROFITPULSE</a:t>
            </a:r>
          </a:p>
        </p:txBody>
      </p:sp>
      <p:sp>
        <p:nvSpPr>
          <p:cNvPr id="7" name="Rectangle 6"/>
          <p:cNvSpPr/>
          <p:nvPr/>
        </p:nvSpPr>
        <p:spPr>
          <a:xfrm>
            <a:off x="91440" y="914400"/>
            <a:ext cx="4002938" cy="4892040"/>
          </a:xfrm>
          <a:prstGeom prst="rect">
            <a:avLst/>
          </a:prstGeom>
          <a:solidFill>
            <a:srgbClr val="01A296"/>
          </a:solidFill>
          <a:ln>
            <a:noFill/>
          </a:ln>
          <a:effectLst/>
        </p:spPr>
        <p:txBody>
          <a:bodyPr rtlCol="0" anchor="ctr"/>
          <a:lstStyle/>
          <a:p>
            <a:pPr algn="ctr"/>
          </a:p>
        </p:txBody>
      </p:sp>
      <p:sp>
        <p:nvSpPr>
          <p:cNvPr id="8" name="TextBox 7"/>
          <p:cNvSpPr txBox="1"/>
          <p:nvPr/>
        </p:nvSpPr>
        <p:spPr>
          <a:xfrm>
            <a:off x="347472" y="1115568"/>
            <a:ext cx="3490874" cy="731520"/>
          </a:xfrm>
          <a:prstGeom prst="rect">
            <a:avLst/>
          </a:prstGeom>
          <a:noFill/>
        </p:spPr>
        <p:txBody>
          <a:bodyPr wrap="square" lIns="0" rIns="0" tIns="0" bIns="0">
            <a:noAutofit/>
          </a:bodyPr>
          <a:lstStyle/>
          <a:p>
            <a:pPr algn="l"/>
            <a:r>
              <a:rPr sz="4000" b="1" i="0">
                <a:solidFill>
                  <a:srgbClr val="FFFFFF"/>
                </a:solidFill>
                <a:latin typeface="Georgia"/>
              </a:rPr>
              <a:t>01</a:t>
            </a:r>
          </a:p>
        </p:txBody>
      </p:sp>
      <p:sp>
        <p:nvSpPr>
          <p:cNvPr id="9" name="TextBox 8"/>
          <p:cNvSpPr txBox="1"/>
          <p:nvPr/>
        </p:nvSpPr>
        <p:spPr>
          <a:xfrm>
            <a:off x="347472" y="1874519"/>
            <a:ext cx="3490874" cy="777240"/>
          </a:xfrm>
          <a:prstGeom prst="rect">
            <a:avLst/>
          </a:prstGeom>
          <a:noFill/>
        </p:spPr>
        <p:txBody>
          <a:bodyPr wrap="square" lIns="0" rIns="0" tIns="0" bIns="0">
            <a:noAutofit/>
          </a:bodyPr>
          <a:lstStyle/>
          <a:p>
            <a:pPr algn="l">
              <a:lnSpc>
                <a:spcPct val="105000"/>
              </a:lnSpc>
            </a:pPr>
            <a:r>
              <a:rPr sz="1500" b="1" i="0">
                <a:solidFill>
                  <a:srgbClr val="000000"/>
                </a:solidFill>
                <a:latin typeface="Georgia"/>
              </a:rPr>
              <a:t>Revenue is compounding faster than the team</a:t>
            </a:r>
          </a:p>
        </p:txBody>
      </p:sp>
      <p:sp>
        <p:nvSpPr>
          <p:cNvPr id="10" name="TextBox 9"/>
          <p:cNvSpPr txBox="1"/>
          <p:nvPr/>
        </p:nvSpPr>
        <p:spPr>
          <a:xfrm>
            <a:off x="347472" y="2697480"/>
            <a:ext cx="3490874" cy="2880360"/>
          </a:xfrm>
          <a:prstGeom prst="rect">
            <a:avLst/>
          </a:prstGeom>
          <a:noFill/>
        </p:spPr>
        <p:txBody>
          <a:bodyPr wrap="square" lIns="0" rIns="0" tIns="0" bIns="0">
            <a:noAutofit/>
          </a:bodyPr>
          <a:lstStyle/>
          <a:p>
            <a:pPr algn="l">
              <a:lnSpc>
                <a:spcPct val="118000"/>
              </a:lnSpc>
            </a:pPr>
            <a:r>
              <a:rPr sz="1050" b="0" i="0">
                <a:solidFill>
                  <a:srgbClr val="000000"/>
                </a:solidFill>
                <a:latin typeface="Calibri"/>
              </a:rPr>
              <a:t>Revenue moved from $7.43 million to $9.7 million to $12.8 million across three consecutive Smart50 citations, a 31 percent lift in the most recent year, while headcount held at 19 across the same period. Revenue compounding well ahead of headcount is a strong platform signal, but it leaves less internal capacity to build the cash forecasting discipline the next phase needs.</a:t>
            </a:r>
          </a:p>
        </p:txBody>
      </p:sp>
      <p:sp>
        <p:nvSpPr>
          <p:cNvPr id="11" name="Rectangle 10"/>
          <p:cNvSpPr/>
          <p:nvPr/>
        </p:nvSpPr>
        <p:spPr>
          <a:xfrm>
            <a:off x="4094378" y="914400"/>
            <a:ext cx="4002938" cy="4892040"/>
          </a:xfrm>
          <a:prstGeom prst="rect">
            <a:avLst/>
          </a:prstGeom>
          <a:solidFill>
            <a:srgbClr val="000000"/>
          </a:solidFill>
          <a:ln>
            <a:noFill/>
          </a:ln>
          <a:effectLst/>
        </p:spPr>
        <p:txBody>
          <a:bodyPr rtlCol="0" anchor="ctr"/>
          <a:lstStyle/>
          <a:p>
            <a:pPr algn="ctr"/>
          </a:p>
        </p:txBody>
      </p:sp>
      <p:sp>
        <p:nvSpPr>
          <p:cNvPr id="12" name="TextBox 11"/>
          <p:cNvSpPr txBox="1"/>
          <p:nvPr/>
        </p:nvSpPr>
        <p:spPr>
          <a:xfrm>
            <a:off x="4350410" y="1115568"/>
            <a:ext cx="3490874" cy="731520"/>
          </a:xfrm>
          <a:prstGeom prst="rect">
            <a:avLst/>
          </a:prstGeom>
          <a:noFill/>
        </p:spPr>
        <p:txBody>
          <a:bodyPr wrap="square" lIns="0" rIns="0" tIns="0" bIns="0">
            <a:noAutofit/>
          </a:bodyPr>
          <a:lstStyle/>
          <a:p>
            <a:pPr algn="l"/>
            <a:r>
              <a:rPr sz="4000" b="1" i="0">
                <a:solidFill>
                  <a:srgbClr val="F8C806"/>
                </a:solidFill>
                <a:latin typeface="Georgia"/>
              </a:rPr>
              <a:t>02</a:t>
            </a:r>
          </a:p>
        </p:txBody>
      </p:sp>
      <p:sp>
        <p:nvSpPr>
          <p:cNvPr id="13" name="TextBox 12"/>
          <p:cNvSpPr txBox="1"/>
          <p:nvPr/>
        </p:nvSpPr>
        <p:spPr>
          <a:xfrm>
            <a:off x="4350410" y="1874519"/>
            <a:ext cx="3490874" cy="777240"/>
          </a:xfrm>
          <a:prstGeom prst="rect">
            <a:avLst/>
          </a:prstGeom>
          <a:noFill/>
        </p:spPr>
        <p:txBody>
          <a:bodyPr wrap="square" lIns="0" rIns="0" tIns="0" bIns="0">
            <a:noAutofit/>
          </a:bodyPr>
          <a:lstStyle/>
          <a:p>
            <a:pPr algn="l">
              <a:lnSpc>
                <a:spcPct val="105000"/>
              </a:lnSpc>
            </a:pPr>
            <a:r>
              <a:rPr sz="1500" b="1" i="0">
                <a:solidFill>
                  <a:srgbClr val="E6E5DE"/>
                </a:solidFill>
                <a:latin typeface="Georgia"/>
              </a:rPr>
              <a:t>A three year target raises the cash stakes</a:t>
            </a:r>
          </a:p>
        </p:txBody>
      </p:sp>
      <p:sp>
        <p:nvSpPr>
          <p:cNvPr id="14" name="TextBox 13"/>
          <p:cNvSpPr txBox="1"/>
          <p:nvPr/>
        </p:nvSpPr>
        <p:spPr>
          <a:xfrm>
            <a:off x="4350410" y="2697480"/>
            <a:ext cx="3490874" cy="2880360"/>
          </a:xfrm>
          <a:prstGeom prst="rect">
            <a:avLst/>
          </a:prstGeom>
          <a:noFill/>
        </p:spPr>
        <p:txBody>
          <a:bodyPr wrap="square" lIns="0" rIns="0" tIns="0" bIns="0">
            <a:noAutofit/>
          </a:bodyPr>
          <a:lstStyle/>
          <a:p>
            <a:pPr algn="l">
              <a:lnSpc>
                <a:spcPct val="118000"/>
              </a:lnSpc>
            </a:pPr>
            <a:r>
              <a:rPr sz="1050" b="0" i="0">
                <a:solidFill>
                  <a:srgbClr val="E6E5DE"/>
                </a:solidFill>
                <a:latin typeface="Calibri"/>
              </a:rPr>
              <a:t>Taskforce has set a target of 50 to 60 percent compound annual growth for the next three years, funded through self funded organic growth rather than a further capital raise. Funding that pace from operating cash, on top of the new BigginScott Group volume from 1 July 2025, narrows the margin for error on receivables timing and contractor payment runs as the base scales.</a:t>
            </a:r>
          </a:p>
        </p:txBody>
      </p:sp>
      <p:sp>
        <p:nvSpPr>
          <p:cNvPr id="15" name="Rectangle 14"/>
          <p:cNvSpPr/>
          <p:nvPr/>
        </p:nvSpPr>
        <p:spPr>
          <a:xfrm>
            <a:off x="8097316" y="914400"/>
            <a:ext cx="4002938" cy="4892040"/>
          </a:xfrm>
          <a:prstGeom prst="rect">
            <a:avLst/>
          </a:prstGeom>
          <a:solidFill>
            <a:srgbClr val="E3A712"/>
          </a:solidFill>
          <a:ln>
            <a:noFill/>
          </a:ln>
          <a:effectLst/>
        </p:spPr>
        <p:txBody>
          <a:bodyPr rtlCol="0" anchor="ctr"/>
          <a:lstStyle/>
          <a:p>
            <a:pPr algn="ctr"/>
          </a:p>
        </p:txBody>
      </p:sp>
      <p:sp>
        <p:nvSpPr>
          <p:cNvPr id="16" name="TextBox 15"/>
          <p:cNvSpPr txBox="1"/>
          <p:nvPr/>
        </p:nvSpPr>
        <p:spPr>
          <a:xfrm>
            <a:off x="8353348" y="1115568"/>
            <a:ext cx="3490874" cy="731520"/>
          </a:xfrm>
          <a:prstGeom prst="rect">
            <a:avLst/>
          </a:prstGeom>
          <a:noFill/>
        </p:spPr>
        <p:txBody>
          <a:bodyPr wrap="square" lIns="0" rIns="0" tIns="0" bIns="0">
            <a:noAutofit/>
          </a:bodyPr>
          <a:lstStyle/>
          <a:p>
            <a:pPr algn="l"/>
            <a:r>
              <a:rPr sz="4000" b="1" i="0">
                <a:solidFill>
                  <a:srgbClr val="FFFFFF"/>
                </a:solidFill>
                <a:latin typeface="Georgia"/>
              </a:rPr>
              <a:t>03</a:t>
            </a:r>
          </a:p>
        </p:txBody>
      </p:sp>
      <p:sp>
        <p:nvSpPr>
          <p:cNvPr id="17" name="TextBox 16"/>
          <p:cNvSpPr txBox="1"/>
          <p:nvPr/>
        </p:nvSpPr>
        <p:spPr>
          <a:xfrm>
            <a:off x="8353348" y="1874519"/>
            <a:ext cx="3490874" cy="777240"/>
          </a:xfrm>
          <a:prstGeom prst="rect">
            <a:avLst/>
          </a:prstGeom>
          <a:noFill/>
        </p:spPr>
        <p:txBody>
          <a:bodyPr wrap="square" lIns="0" rIns="0" tIns="0" bIns="0">
            <a:noAutofit/>
          </a:bodyPr>
          <a:lstStyle/>
          <a:p>
            <a:pPr algn="l">
              <a:lnSpc>
                <a:spcPct val="105000"/>
              </a:lnSpc>
            </a:pPr>
            <a:r>
              <a:rPr sz="1500" b="1" i="0">
                <a:solidFill>
                  <a:srgbClr val="000000"/>
                </a:solidFill>
                <a:latin typeface="Georgia"/>
              </a:rPr>
              <a:t>Scale across 300 offices concentrates risk in the middle</a:t>
            </a:r>
          </a:p>
        </p:txBody>
      </p:sp>
      <p:sp>
        <p:nvSpPr>
          <p:cNvPr id="18" name="TextBox 17"/>
          <p:cNvSpPr txBox="1"/>
          <p:nvPr/>
        </p:nvSpPr>
        <p:spPr>
          <a:xfrm>
            <a:off x="8353348" y="2697480"/>
            <a:ext cx="3490874" cy="2880360"/>
          </a:xfrm>
          <a:prstGeom prst="rect">
            <a:avLst/>
          </a:prstGeom>
          <a:noFill/>
        </p:spPr>
        <p:txBody>
          <a:bodyPr wrap="square" lIns="0" rIns="0" tIns="0" bIns="0">
            <a:noAutofit/>
          </a:bodyPr>
          <a:lstStyle/>
          <a:p>
            <a:pPr algn="l">
              <a:lnSpc>
                <a:spcPct val="118000"/>
              </a:lnSpc>
            </a:pPr>
            <a:r>
              <a:rPr sz="1050" b="0" i="0">
                <a:solidFill>
                  <a:srgbClr val="000000"/>
                </a:solidFill>
                <a:latin typeface="Calibri"/>
              </a:rPr>
              <a:t>RentSafe has delivered more than 140,000 jobs across 300 real estate offices and 180 major brands since 2021, and the new BigginScott Group relationship adds to that book from July 2025. Growth this diversified is a genuine strength, but running it well depends on knowing, week to week, which invoicing cycles and contractor payment runs are keeping pace with volume.</a:t>
            </a:r>
          </a:p>
        </p:txBody>
      </p:sp>
      <p:sp>
        <p:nvSpPr>
          <p:cNvPr id="19" name="TextBox 18"/>
          <p:cNvSpPr txBox="1"/>
          <p:nvPr/>
        </p:nvSpPr>
        <p:spPr>
          <a:xfrm>
            <a:off x="320040" y="5897879"/>
            <a:ext cx="11521440" cy="502920"/>
          </a:xfrm>
          <a:prstGeom prst="rect">
            <a:avLst/>
          </a:prstGeom>
          <a:noFill/>
        </p:spPr>
        <p:txBody>
          <a:bodyPr wrap="square" lIns="0" rIns="0" tIns="0" bIns="0">
            <a:noAutofit/>
          </a:bodyPr>
          <a:lstStyle/>
          <a:p>
            <a:pPr algn="l"/>
            <a:r>
              <a:rPr sz="1050" b="0" i="1">
                <a:solidFill>
                  <a:srgbClr val="000000"/>
                </a:solidFill>
                <a:latin typeface="Calibri"/>
              </a:rPr>
              <a:t>These observations are offered in good faith. Taskforce has built something genuinely well regarded in its category. The question is simply whether the weekly cash rhythm keeps pace with the growth target the business has set for itself.</a:t>
            </a:r>
          </a:p>
        </p:txBody>
      </p:sp>
      <p:sp>
        <p:nvSpPr>
          <p:cNvPr id="20" name="Rectangle 19"/>
          <p:cNvSpPr/>
          <p:nvPr/>
        </p:nvSpPr>
        <p:spPr>
          <a:xfrm>
            <a:off x="91440" y="6446520"/>
            <a:ext cx="12100255" cy="320040"/>
          </a:xfrm>
          <a:prstGeom prst="rect">
            <a:avLst/>
          </a:prstGeom>
          <a:solidFill>
            <a:srgbClr val="000000"/>
          </a:solidFill>
          <a:ln>
            <a:noFill/>
          </a:ln>
          <a:effectLst/>
        </p:spPr>
        <p:txBody>
          <a:bodyPr rtlCol="0" anchor="ctr"/>
          <a:lstStyle/>
          <a:p>
            <a:pPr algn="ctr"/>
          </a:p>
        </p:txBody>
      </p:sp>
      <p:sp>
        <p:nvSpPr>
          <p:cNvPr id="21" name="TextBox 20"/>
          <p:cNvSpPr txBox="1"/>
          <p:nvPr/>
        </p:nvSpPr>
        <p:spPr>
          <a:xfrm>
            <a:off x="320040" y="6510528"/>
            <a:ext cx="7772400" cy="228600"/>
          </a:xfrm>
          <a:prstGeom prst="rect">
            <a:avLst/>
          </a:prstGeom>
          <a:noFill/>
        </p:spPr>
        <p:txBody>
          <a:bodyPr wrap="square" lIns="0" rIns="0" tIns="0" bIns="0">
            <a:noAutofit/>
          </a:bodyPr>
          <a:lstStyle/>
          <a:p>
            <a:pPr algn="l"/>
            <a:r>
              <a:rPr sz="800" b="0" i="0">
                <a:solidFill>
                  <a:srgbClr val="E6E5DE"/>
                </a:solidFill>
                <a:latin typeface="Calibri"/>
              </a:rPr>
              <a:t>Prepared by Nitesh Roopa CA, Managing Partner, ProfitPulse, Profit-Pulse.com.au</a:t>
            </a:r>
          </a:p>
        </p:txBody>
      </p:sp>
      <p:sp>
        <p:nvSpPr>
          <p:cNvPr id="22" name="TextBox 21"/>
          <p:cNvSpPr txBox="1"/>
          <p:nvPr/>
        </p:nvSpPr>
        <p:spPr>
          <a:xfrm>
            <a:off x="9601200" y="6510528"/>
            <a:ext cx="2286000" cy="228600"/>
          </a:xfrm>
          <a:prstGeom prst="rect">
            <a:avLst/>
          </a:prstGeom>
          <a:noFill/>
        </p:spPr>
        <p:txBody>
          <a:bodyPr wrap="square" lIns="0" rIns="0" tIns="0" bIns="0">
            <a:noAutofit/>
          </a:bodyPr>
          <a:lstStyle/>
          <a:p>
            <a:pPr algn="r"/>
            <a:r>
              <a:rPr sz="800" b="0" i="0">
                <a:solidFill>
                  <a:srgbClr val="E6E5DE"/>
                </a:solidFill>
                <a:latin typeface="Calibri"/>
              </a:rPr>
              <a:t>22 Aug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310896"/>
            <a:ext cx="7772400" cy="365760"/>
          </a:xfrm>
          <a:prstGeom prst="rect">
            <a:avLst/>
          </a:prstGeom>
          <a:noFill/>
        </p:spPr>
        <p:txBody>
          <a:bodyPr wrap="square" lIns="0" rIns="0" tIns="0" bIns="0">
            <a:noAutofit/>
          </a:bodyPr>
          <a:lstStyle/>
          <a:p>
            <a:pPr algn="l"/>
            <a:r>
              <a:rPr sz="1200" b="1" i="0">
                <a:solidFill>
                  <a:srgbClr val="E6E5DE"/>
                </a:solidFill>
                <a:latin typeface="Calibri"/>
              </a:rPr>
              <a:t>THE RECOMMENDATION</a:t>
            </a:r>
          </a:p>
        </p:txBody>
      </p:sp>
      <p:sp>
        <p:nvSpPr>
          <p:cNvPr id="5" name="TextBox 4"/>
          <p:cNvSpPr txBox="1"/>
          <p:nvPr/>
        </p:nvSpPr>
        <p:spPr>
          <a:xfrm>
            <a:off x="8686800" y="310896"/>
            <a:ext cx="3108960" cy="365760"/>
          </a:xfrm>
          <a:prstGeom prst="rect">
            <a:avLst/>
          </a:prstGeom>
          <a:noFill/>
        </p:spPr>
        <p:txBody>
          <a:bodyPr wrap="square" lIns="0" rIns="0" tIns="0" bIns="0">
            <a:noAutofit/>
          </a:bodyPr>
          <a:lstStyle/>
          <a:p>
            <a:pPr algn="r"/>
            <a:r>
              <a:rPr sz="1200" b="1" i="0">
                <a:solidFill>
                  <a:srgbClr val="01A296"/>
                </a:solidFill>
                <a:latin typeface="Calibri"/>
              </a:rPr>
              <a:t>PROFITPULSE</a:t>
            </a:r>
          </a:p>
        </p:txBody>
      </p:sp>
      <p:sp>
        <p:nvSpPr>
          <p:cNvPr id="6" name="TextBox 5"/>
          <p:cNvSpPr txBox="1"/>
          <p:nvPr/>
        </p:nvSpPr>
        <p:spPr>
          <a:xfrm>
            <a:off x="320040" y="6473952"/>
            <a:ext cx="7772400" cy="274320"/>
          </a:xfrm>
          <a:prstGeom prst="rect">
            <a:avLst/>
          </a:prstGeom>
          <a:noFill/>
        </p:spPr>
        <p:txBody>
          <a:bodyPr wrap="square" lIns="0" rIns="0" tIns="0" bIns="0">
            <a:noAutofit/>
          </a:bodyPr>
          <a:lstStyle/>
          <a:p>
            <a:pPr algn="l"/>
            <a:r>
              <a:rPr sz="800" b="0" i="0">
                <a:solidFill>
                  <a:srgbClr val="000000"/>
                </a:solidFill>
                <a:latin typeface="Calibri"/>
              </a:rPr>
              <a:t>Prepared by Nitesh Roopa CA, Managing Partner, ProfitPulse, Profit-Pulse.com.au</a:t>
            </a:r>
          </a:p>
        </p:txBody>
      </p:sp>
      <p:sp>
        <p:nvSpPr>
          <p:cNvPr id="7" name="TextBox 6"/>
          <p:cNvSpPr txBox="1"/>
          <p:nvPr/>
        </p:nvSpPr>
        <p:spPr>
          <a:xfrm>
            <a:off x="9601200" y="6473952"/>
            <a:ext cx="2286000" cy="274320"/>
          </a:xfrm>
          <a:prstGeom prst="rect">
            <a:avLst/>
          </a:prstGeom>
          <a:noFill/>
        </p:spPr>
        <p:txBody>
          <a:bodyPr wrap="square" lIns="0" rIns="0" tIns="0" bIns="0">
            <a:noAutofit/>
          </a:bodyPr>
          <a:lstStyle/>
          <a:p>
            <a:pPr algn="r"/>
            <a:r>
              <a:rPr sz="800" b="0" i="0">
                <a:solidFill>
                  <a:srgbClr val="000000"/>
                </a:solidFill>
                <a:latin typeface="Calibri"/>
              </a:rPr>
              <a:t>22 Aug 2026</a:t>
            </a:r>
          </a:p>
        </p:txBody>
      </p:sp>
      <p:sp>
        <p:nvSpPr>
          <p:cNvPr id="8" name="TextBox 7"/>
          <p:cNvSpPr txBox="1"/>
          <p:nvPr/>
        </p:nvSpPr>
        <p:spPr>
          <a:xfrm>
            <a:off x="320040" y="1051560"/>
            <a:ext cx="6720840" cy="502920"/>
          </a:xfrm>
          <a:prstGeom prst="rect">
            <a:avLst/>
          </a:prstGeom>
          <a:noFill/>
        </p:spPr>
        <p:txBody>
          <a:bodyPr wrap="square" lIns="0" rIns="0" tIns="0" bIns="0">
            <a:noAutofit/>
          </a:bodyPr>
          <a:lstStyle/>
          <a:p>
            <a:pPr algn="l"/>
            <a:r>
              <a:rPr sz="2800" b="1" i="0">
                <a:solidFill>
                  <a:srgbClr val="000000"/>
                </a:solidFill>
                <a:latin typeface="Georgia"/>
              </a:rPr>
              <a:t>13 Week Cash Flow Build</a:t>
            </a:r>
          </a:p>
        </p:txBody>
      </p:sp>
      <p:sp>
        <p:nvSpPr>
          <p:cNvPr id="9" name="TextBox 8"/>
          <p:cNvSpPr txBox="1"/>
          <p:nvPr/>
        </p:nvSpPr>
        <p:spPr>
          <a:xfrm>
            <a:off x="320040" y="1664208"/>
            <a:ext cx="6720840" cy="365760"/>
          </a:xfrm>
          <a:prstGeom prst="rect">
            <a:avLst/>
          </a:prstGeom>
          <a:noFill/>
        </p:spPr>
        <p:txBody>
          <a:bodyPr wrap="square" lIns="0" rIns="0" tIns="0" bIns="0">
            <a:noAutofit/>
          </a:bodyPr>
          <a:lstStyle/>
          <a:p>
            <a:pPr algn="l"/>
            <a:r>
              <a:rPr sz="1600" b="1" i="0">
                <a:solidFill>
                  <a:srgbClr val="01A296"/>
                </a:solidFill>
                <a:latin typeface="Calibri"/>
              </a:rPr>
              <a:t>$2,650 one off</a:t>
            </a:r>
          </a:p>
        </p:txBody>
      </p:sp>
      <p:sp>
        <p:nvSpPr>
          <p:cNvPr id="10" name="TextBox 9"/>
          <p:cNvSpPr txBox="1"/>
          <p:nvPr/>
        </p:nvSpPr>
        <p:spPr>
          <a:xfrm>
            <a:off x="320040" y="2148840"/>
            <a:ext cx="6720840" cy="594360"/>
          </a:xfrm>
          <a:prstGeom prst="rect">
            <a:avLst/>
          </a:prstGeom>
          <a:noFill/>
        </p:spPr>
        <p:txBody>
          <a:bodyPr wrap="square" lIns="0" rIns="0" tIns="0" bIns="0">
            <a:noAutofit/>
          </a:bodyPr>
          <a:lstStyle/>
          <a:p>
            <a:pPr algn="l">
              <a:lnSpc>
                <a:spcPct val="120000"/>
              </a:lnSpc>
            </a:pPr>
            <a:r>
              <a:rPr sz="1150" b="0" i="0">
                <a:solidFill>
                  <a:srgbClr val="000000"/>
                </a:solidFill>
                <a:latin typeface="Calibri"/>
              </a:rPr>
              <a:t>A rolling 13 week cash flow forecast built from your accounting data, with three scenarios and a weekly cadence playbook your team can run after handover.</a:t>
            </a:r>
          </a:p>
        </p:txBody>
      </p:sp>
      <p:sp>
        <p:nvSpPr>
          <p:cNvPr id="11" name="Rectangle 10"/>
          <p:cNvSpPr/>
          <p:nvPr/>
        </p:nvSpPr>
        <p:spPr>
          <a:xfrm>
            <a:off x="320040" y="2971800"/>
            <a:ext cx="6720840" cy="1417320"/>
          </a:xfrm>
          <a:prstGeom prst="rect">
            <a:avLst/>
          </a:prstGeom>
          <a:solidFill>
            <a:srgbClr val="01A296"/>
          </a:solidFill>
          <a:ln w="12700">
            <a:solidFill>
              <a:srgbClr val="01A296"/>
            </a:solidFill>
          </a:ln>
          <a:effectLst/>
        </p:spPr>
        <p:txBody>
          <a:bodyPr rtlCol="0" anchor="ctr"/>
          <a:lstStyle/>
          <a:p>
            <a:pPr algn="ctr"/>
          </a:p>
        </p:txBody>
      </p:sp>
      <p:sp>
        <p:nvSpPr>
          <p:cNvPr id="12" name="TextBox 11"/>
          <p:cNvSpPr txBox="1"/>
          <p:nvPr/>
        </p:nvSpPr>
        <p:spPr>
          <a:xfrm>
            <a:off x="539496" y="3163824"/>
            <a:ext cx="6281927" cy="320040"/>
          </a:xfrm>
          <a:prstGeom prst="rect">
            <a:avLst/>
          </a:prstGeom>
          <a:noFill/>
        </p:spPr>
        <p:txBody>
          <a:bodyPr wrap="square" lIns="0" rIns="0" tIns="0" bIns="0">
            <a:noAutofit/>
          </a:bodyPr>
          <a:lstStyle/>
          <a:p>
            <a:pPr algn="l"/>
            <a:r>
              <a:rPr sz="1350" b="1" i="0">
                <a:solidFill>
                  <a:srgbClr val="000000"/>
                </a:solidFill>
                <a:latin typeface="Calibri"/>
              </a:rPr>
              <a:t>Step one, answer a few quick questions</a:t>
            </a:r>
          </a:p>
        </p:txBody>
      </p:sp>
      <p:sp>
        <p:nvSpPr>
          <p:cNvPr id="13" name="TextBox 12"/>
          <p:cNvSpPr txBox="1"/>
          <p:nvPr/>
        </p:nvSpPr>
        <p:spPr>
          <a:xfrm>
            <a:off x="539496" y="3511296"/>
            <a:ext cx="6281927" cy="320040"/>
          </a:xfrm>
          <a:prstGeom prst="rect">
            <a:avLst/>
          </a:prstGeom>
          <a:noFill/>
        </p:spPr>
        <p:txBody>
          <a:bodyPr wrap="square" lIns="0" rIns="0" tIns="0" bIns="0">
            <a:noAutofit/>
          </a:bodyPr>
          <a:lstStyle/>
          <a:p>
            <a:pPr algn="l"/>
            <a:r>
              <a:rPr sz="1150" b="0" i="0">
                <a:solidFill>
                  <a:srgbClr val="000000"/>
                </a:solidFill>
                <a:latin typeface="Calibri"/>
              </a:rPr>
              <a:t>See the solutions matched to your size and industry.</a:t>
            </a:r>
          </a:p>
        </p:txBody>
      </p:sp>
      <p:sp>
        <p:nvSpPr>
          <p:cNvPr id="14" name="TextBox 13"/>
          <p:cNvSpPr txBox="1"/>
          <p:nvPr/>
        </p:nvSpPr>
        <p:spPr>
          <a:xfrm>
            <a:off x="539496" y="3877056"/>
            <a:ext cx="6281927" cy="320040"/>
          </a:xfrm>
          <a:prstGeom prst="rect">
            <a:avLst/>
          </a:prstGeom>
          <a:noFill/>
        </p:spPr>
        <p:txBody>
          <a:bodyPr wrap="square" lIns="0" rIns="0" tIns="0" bIns="0">
            <a:noAutofit/>
          </a:bodyPr>
          <a:lstStyle/>
          <a:p>
            <a:pPr algn="l"/>
            <a:r>
              <a:rPr sz="1250" b="1" i="0" u="sng">
                <a:solidFill>
                  <a:srgbClr val="000000"/>
                </a:solidFill>
                <a:latin typeface="Calibri"/>
                <a:hlinkClick r:id="rId2"/>
              </a:rPr>
              <a:t>profit-pulse.com.au/services/find-your-fit</a:t>
            </a:r>
          </a:p>
        </p:txBody>
      </p:sp>
      <p:sp>
        <p:nvSpPr>
          <p:cNvPr id="15" name="Rectangle 14"/>
          <p:cNvSpPr/>
          <p:nvPr/>
        </p:nvSpPr>
        <p:spPr>
          <a:xfrm>
            <a:off x="320040" y="4663440"/>
            <a:ext cx="6720840" cy="566928"/>
          </a:xfrm>
          <a:prstGeom prst="rect">
            <a:avLst/>
          </a:prstGeom>
          <a:solidFill>
            <a:srgbClr val="FFFFFF"/>
          </a:solidFill>
          <a:ln w="19050">
            <a:solidFill>
              <a:srgbClr val="F6A102"/>
            </a:solidFill>
          </a:ln>
          <a:effectLst/>
        </p:spPr>
        <p:txBody>
          <a:bodyPr rtlCol="0" anchor="ctr"/>
          <a:lstStyle/>
          <a:p>
            <a:pPr algn="ctr"/>
          </a:p>
        </p:txBody>
      </p:sp>
      <p:sp>
        <p:nvSpPr>
          <p:cNvPr id="16" name="TextBox 15"/>
          <p:cNvSpPr txBox="1"/>
          <p:nvPr/>
        </p:nvSpPr>
        <p:spPr>
          <a:xfrm>
            <a:off x="502920" y="4818888"/>
            <a:ext cx="6355079" cy="320040"/>
          </a:xfrm>
          <a:prstGeom prst="rect">
            <a:avLst/>
          </a:prstGeom>
          <a:noFill/>
        </p:spPr>
        <p:txBody>
          <a:bodyPr wrap="square" lIns="0" rIns="0" tIns="0" bIns="0">
            <a:noAutofit/>
          </a:bodyPr>
          <a:lstStyle/>
          <a:p>
            <a:pPr algn="l"/>
            <a:r>
              <a:rPr sz="1250" b="1" i="0" u="sng">
                <a:solidFill>
                  <a:srgbClr val="000000"/>
                </a:solidFill>
                <a:latin typeface="Calibri"/>
                <a:hlinkClick r:id="rId3"/>
              </a:rPr>
              <a:t>Purchase the suggested product now to get started</a:t>
            </a:r>
          </a:p>
        </p:txBody>
      </p:sp>
      <p:sp>
        <p:nvSpPr>
          <p:cNvPr id="17" name="TextBox 16"/>
          <p:cNvSpPr txBox="1"/>
          <p:nvPr/>
        </p:nvSpPr>
        <p:spPr>
          <a:xfrm>
            <a:off x="320040" y="5468112"/>
            <a:ext cx="6720840" cy="292608"/>
          </a:xfrm>
          <a:prstGeom prst="rect">
            <a:avLst/>
          </a:prstGeom>
          <a:noFill/>
        </p:spPr>
        <p:txBody>
          <a:bodyPr wrap="square" lIns="0" rIns="0" tIns="0" bIns="0">
            <a:noAutofit/>
          </a:bodyPr>
          <a:lstStyle/>
          <a:p>
            <a:pPr algn="l"/>
            <a:r>
              <a:rPr sz="1150" b="0" i="0">
                <a:solidFill>
                  <a:srgbClr val="000000"/>
                </a:solidFill>
                <a:latin typeface="Calibri"/>
              </a:rPr>
              <a:t>Prefer a conversation first?</a:t>
            </a:r>
          </a:p>
        </p:txBody>
      </p:sp>
      <p:sp>
        <p:nvSpPr>
          <p:cNvPr id="18" name="TextBox 17"/>
          <p:cNvSpPr txBox="1"/>
          <p:nvPr/>
        </p:nvSpPr>
        <p:spPr>
          <a:xfrm>
            <a:off x="320040" y="5779008"/>
            <a:ext cx="6720840" cy="292608"/>
          </a:xfrm>
          <a:prstGeom prst="rect">
            <a:avLst/>
          </a:prstGeom>
          <a:noFill/>
        </p:spPr>
        <p:txBody>
          <a:bodyPr wrap="square" lIns="0" rIns="0" tIns="0" bIns="0">
            <a:noAutofit/>
          </a:bodyPr>
          <a:lstStyle/>
          <a:p>
            <a:pPr algn="l"/>
            <a:r>
              <a:rPr sz="1200" b="1" i="0" u="sng">
                <a:solidFill>
                  <a:srgbClr val="000000"/>
                </a:solidFill>
                <a:latin typeface="Calibri"/>
                <a:hlinkClick r:id="rId4"/>
              </a:rPr>
              <a:t>Book a complimentary discovery call</a:t>
            </a:r>
          </a:p>
        </p:txBody>
      </p:sp>
      <p:sp>
        <p:nvSpPr>
          <p:cNvPr id="19" name="Rectangle 18"/>
          <p:cNvSpPr/>
          <p:nvPr/>
        </p:nvSpPr>
        <p:spPr>
          <a:xfrm>
            <a:off x="7360920" y="1051560"/>
            <a:ext cx="4507992" cy="5074920"/>
          </a:xfrm>
          <a:prstGeom prst="rect">
            <a:avLst/>
          </a:prstGeom>
          <a:solidFill>
            <a:srgbClr val="000000"/>
          </a:solidFill>
          <a:ln>
            <a:noFill/>
          </a:ln>
          <a:effectLst/>
        </p:spPr>
        <p:txBody>
          <a:bodyPr rtlCol="0" anchor="ctr"/>
          <a:lstStyle/>
          <a:p>
            <a:pPr algn="ctr"/>
          </a:p>
        </p:txBody>
      </p:sp>
      <p:sp>
        <p:nvSpPr>
          <p:cNvPr id="20" name="TextBox 19"/>
          <p:cNvSpPr txBox="1"/>
          <p:nvPr/>
        </p:nvSpPr>
        <p:spPr>
          <a:xfrm>
            <a:off x="7616952" y="1234440"/>
            <a:ext cx="3995927" cy="365760"/>
          </a:xfrm>
          <a:prstGeom prst="rect">
            <a:avLst/>
          </a:prstGeom>
          <a:noFill/>
        </p:spPr>
        <p:txBody>
          <a:bodyPr wrap="square" lIns="0" rIns="0" tIns="0" bIns="0">
            <a:noAutofit/>
          </a:bodyPr>
          <a:lstStyle/>
          <a:p>
            <a:pPr algn="l"/>
            <a:r>
              <a:rPr sz="1700" b="1" i="0">
                <a:solidFill>
                  <a:srgbClr val="F8C806"/>
                </a:solidFill>
                <a:latin typeface="Georgia"/>
              </a:rPr>
              <a:t>NITESH ROOPA</a:t>
            </a:r>
          </a:p>
        </p:txBody>
      </p:sp>
      <p:sp>
        <p:nvSpPr>
          <p:cNvPr id="21" name="TextBox 20"/>
          <p:cNvSpPr txBox="1"/>
          <p:nvPr/>
        </p:nvSpPr>
        <p:spPr>
          <a:xfrm>
            <a:off x="7616952" y="1627632"/>
            <a:ext cx="3995927" cy="292608"/>
          </a:xfrm>
          <a:prstGeom prst="rect">
            <a:avLst/>
          </a:prstGeom>
          <a:noFill/>
        </p:spPr>
        <p:txBody>
          <a:bodyPr wrap="square" lIns="0" rIns="0" tIns="0" bIns="0">
            <a:noAutofit/>
          </a:bodyPr>
          <a:lstStyle/>
          <a:p>
            <a:pPr algn="l"/>
            <a:r>
              <a:rPr sz="1150" b="0" i="0">
                <a:solidFill>
                  <a:srgbClr val="FFFFFF"/>
                </a:solidFill>
                <a:latin typeface="Calibri"/>
              </a:rPr>
              <a:t>CA, Managing Partner, ProfitPulse</a:t>
            </a:r>
          </a:p>
        </p:txBody>
      </p:sp>
      <p:sp>
        <p:nvSpPr>
          <p:cNvPr id="22" name="Rectangle 21"/>
          <p:cNvSpPr/>
          <p:nvPr/>
        </p:nvSpPr>
        <p:spPr>
          <a:xfrm>
            <a:off x="7616952" y="1993392"/>
            <a:ext cx="3995927" cy="27432"/>
          </a:xfrm>
          <a:prstGeom prst="rect">
            <a:avLst/>
          </a:prstGeom>
          <a:solidFill>
            <a:srgbClr val="01A296"/>
          </a:solidFill>
          <a:ln>
            <a:noFill/>
          </a:ln>
          <a:effectLst/>
        </p:spPr>
        <p:txBody>
          <a:bodyPr rtlCol="0" anchor="ctr"/>
          <a:lstStyle/>
          <a:p>
            <a:pPr algn="ctr"/>
          </a:p>
        </p:txBody>
      </p:sp>
      <p:sp>
        <p:nvSpPr>
          <p:cNvPr id="23" name="TextBox 22"/>
          <p:cNvSpPr txBox="1"/>
          <p:nvPr/>
        </p:nvSpPr>
        <p:spPr>
          <a:xfrm>
            <a:off x="7616952" y="2240280"/>
            <a:ext cx="3995927" cy="2011680"/>
          </a:xfrm>
          <a:prstGeom prst="rect">
            <a:avLst/>
          </a:prstGeom>
          <a:noFill/>
        </p:spPr>
        <p:txBody>
          <a:bodyPr wrap="square" lIns="0" rIns="0" tIns="0" bIns="0">
            <a:noAutofit/>
          </a:bodyPr>
          <a:lstStyle/>
          <a:p>
            <a:pPr algn="l">
              <a:lnSpc>
                <a:spcPct val="125000"/>
              </a:lnSpc>
              <a:spcAft>
                <a:spcPts val="1400"/>
              </a:spcAft>
            </a:pPr>
            <a:r>
              <a:rPr sz="1150" b="0" i="0">
                <a:solidFill>
                  <a:srgbClr val="E6E5DE"/>
                </a:solidFill>
                <a:latin typeface="Calibri"/>
              </a:rPr>
              <a:t>16 years of experience across 4 countries</a:t>
            </a:r>
          </a:p>
          <a:p>
            <a:pPr algn="l">
              <a:lnSpc>
                <a:spcPct val="125000"/>
              </a:lnSpc>
              <a:spcAft>
                <a:spcPts val="1400"/>
              </a:spcAft>
            </a:pPr>
            <a:r>
              <a:rPr sz="1150" b="0" i="0">
                <a:solidFill>
                  <a:srgbClr val="E6E5DE"/>
                </a:solidFill>
                <a:latin typeface="Calibri"/>
              </a:rPr>
              <a:t>52 deals executed and managed</a:t>
            </a:r>
          </a:p>
          <a:p>
            <a:pPr algn="l">
              <a:lnSpc>
                <a:spcPct val="125000"/>
              </a:lnSpc>
              <a:spcAft>
                <a:spcPts val="1400"/>
              </a:spcAft>
            </a:pPr>
            <a:r>
              <a:rPr sz="1150" b="0" i="0">
                <a:solidFill>
                  <a:srgbClr val="E6E5DE"/>
                </a:solidFill>
                <a:latin typeface="Calibri"/>
              </a:rPr>
              <a:t>Largest single deal, USD 1.3 billion, Cahora Bassa, Mozambique Government, Hydro</a:t>
            </a:r>
          </a:p>
          <a:p>
            <a:pPr algn="l">
              <a:lnSpc>
                <a:spcPct val="125000"/>
              </a:lnSpc>
              <a:spcAft>
                <a:spcPts val="1400"/>
              </a:spcAft>
            </a:pPr>
            <a:r>
              <a:rPr sz="1150" b="0" i="0">
                <a:solidFill>
                  <a:srgbClr val="E6E5DE"/>
                </a:solidFill>
                <a:latin typeface="Calibri"/>
              </a:rPr>
              <a:t>Total GRBT project value over AUD 10 billion</a:t>
            </a:r>
          </a:p>
        </p:txBody>
      </p:sp>
      <p:sp>
        <p:nvSpPr>
          <p:cNvPr id="24" name="Rectangle 23"/>
          <p:cNvSpPr/>
          <p:nvPr/>
        </p:nvSpPr>
        <p:spPr>
          <a:xfrm>
            <a:off x="7616952" y="4526280"/>
            <a:ext cx="3995927" cy="27432"/>
          </a:xfrm>
          <a:prstGeom prst="rect">
            <a:avLst/>
          </a:prstGeom>
          <a:solidFill>
            <a:srgbClr val="01A296"/>
          </a:solidFill>
          <a:ln>
            <a:noFill/>
          </a:ln>
          <a:effectLst/>
        </p:spPr>
        <p:txBody>
          <a:bodyPr rtlCol="0" anchor="ctr"/>
          <a:lstStyle/>
          <a:p>
            <a:pPr algn="ctr"/>
          </a:p>
        </p:txBody>
      </p:sp>
      <p:sp>
        <p:nvSpPr>
          <p:cNvPr id="25" name="TextBox 24"/>
          <p:cNvSpPr txBox="1"/>
          <p:nvPr/>
        </p:nvSpPr>
        <p:spPr>
          <a:xfrm>
            <a:off x="7616952" y="4754880"/>
            <a:ext cx="3995927" cy="1463040"/>
          </a:xfrm>
          <a:prstGeom prst="rect">
            <a:avLst/>
          </a:prstGeom>
          <a:noFill/>
        </p:spPr>
        <p:txBody>
          <a:bodyPr wrap="square" lIns="0" rIns="0" tIns="0" bIns="0">
            <a:noAutofit/>
          </a:bodyPr>
          <a:lstStyle/>
          <a:p>
            <a:pPr algn="l">
              <a:lnSpc>
                <a:spcPct val="130000"/>
              </a:lnSpc>
              <a:spcAft>
                <a:spcPts val="1000"/>
              </a:spcAft>
            </a:pPr>
            <a:r>
              <a:rPr sz="1200" b="0" i="0">
                <a:solidFill>
                  <a:srgbClr val="01A296"/>
                </a:solidFill>
                <a:latin typeface="Calibri"/>
              </a:rPr>
              <a:t>Profit-Pulse.com.au</a:t>
            </a:r>
          </a:p>
          <a:p>
            <a:pPr algn="l">
              <a:lnSpc>
                <a:spcPct val="130000"/>
              </a:lnSpc>
              <a:spcAft>
                <a:spcPts val="1000"/>
              </a:spcAft>
            </a:pPr>
            <a:r>
              <a:rPr sz="1200" b="0" i="0">
                <a:solidFill>
                  <a:srgbClr val="01A296"/>
                </a:solidFill>
                <a:latin typeface="Calibri"/>
              </a:rPr>
              <a:t>Nitesh@Profit-Pulse.com.au</a:t>
            </a:r>
          </a:p>
          <a:p>
            <a:pPr algn="l">
              <a:lnSpc>
                <a:spcPct val="130000"/>
              </a:lnSpc>
              <a:spcAft>
                <a:spcPts val="1000"/>
              </a:spcAft>
            </a:pPr>
            <a:r>
              <a:rPr sz="1200" b="0" i="0">
                <a:solidFill>
                  <a:srgbClr val="FFFFFF"/>
                </a:solidFill>
                <a:latin typeface="Calibri"/>
              </a:rPr>
              <a:t>+61 411 876 267</a:t>
            </a:r>
          </a:p>
          <a:p>
            <a:pPr algn="l">
              <a:lnSpc>
                <a:spcPct val="130000"/>
              </a:lnSpc>
              <a:spcAft>
                <a:spcPts val="1000"/>
              </a:spcAft>
            </a:pPr>
            <a:r>
              <a:rPr sz="1100" b="0" i="0">
                <a:solidFill>
                  <a:srgbClr val="FFFFFF"/>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