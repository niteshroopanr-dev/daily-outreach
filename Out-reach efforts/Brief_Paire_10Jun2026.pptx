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28EbJ2edi0LSbdugYT3ks1D"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8686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201168"/>
            <a:ext cx="7315200" cy="457200"/>
          </a:xfrm>
          <a:prstGeom prst="rect">
            <a:avLst/>
          </a:prstGeom>
          <a:noFill/>
        </p:spPr>
        <p:txBody>
          <a:bodyPr wrap="square">
            <a:spAutoFit/>
          </a:bodyPr>
          <a:lstStyle/>
          <a:p>
            <a:pPr algn="l"/>
            <a:r>
              <a:rPr sz="1100" b="1" i="0">
                <a:solidFill>
                  <a:srgbClr val="E6E5DE"/>
                </a:solidFill>
                <a:latin typeface="Arial"/>
              </a:rPr>
              <a:t>COMMERCIAL INTELLIGENCE BRIEF</a:t>
            </a:r>
          </a:p>
        </p:txBody>
      </p:sp>
      <p:sp>
        <p:nvSpPr>
          <p:cNvPr id="5" name="TextBox 4"/>
          <p:cNvSpPr txBox="1"/>
          <p:nvPr/>
        </p:nvSpPr>
        <p:spPr>
          <a:xfrm>
            <a:off x="201168" y="201168"/>
            <a:ext cx="11789359" cy="457200"/>
          </a:xfrm>
          <a:prstGeom prst="rect">
            <a:avLst/>
          </a:prstGeom>
          <a:noFill/>
        </p:spPr>
        <p:txBody>
          <a:bodyPr wrap="square">
            <a:spAutoFit/>
          </a:bodyPr>
          <a:lstStyle/>
          <a:p>
            <a:pPr algn="r"/>
            <a:r>
              <a:rPr sz="1100" b="1" i="0">
                <a:solidFill>
                  <a:srgbClr val="E6E5DE"/>
                </a:solidFill>
                <a:latin typeface="Arial"/>
              </a:rPr>
              <a:t>Paire</a:t>
            </a:r>
          </a:p>
        </p:txBody>
      </p:sp>
      <p:sp>
        <p:nvSpPr>
          <p:cNvPr id="6" name="TextBox 5"/>
          <p:cNvSpPr txBox="1"/>
          <p:nvPr/>
        </p:nvSpPr>
        <p:spPr>
          <a:xfrm>
            <a:off x="201168" y="960120"/>
            <a:ext cx="8229600" cy="685800"/>
          </a:xfrm>
          <a:prstGeom prst="rect">
            <a:avLst/>
          </a:prstGeom>
          <a:noFill/>
        </p:spPr>
        <p:txBody>
          <a:bodyPr wrap="square">
            <a:spAutoFit/>
          </a:bodyPr>
          <a:lstStyle/>
          <a:p>
            <a:pPr algn="l"/>
            <a:r>
              <a:rPr sz="4400" b="1" i="0">
                <a:solidFill>
                  <a:srgbClr val="000000"/>
                </a:solidFill>
                <a:latin typeface="Georgia"/>
              </a:rPr>
              <a:t>Paire</a:t>
            </a:r>
          </a:p>
        </p:txBody>
      </p:sp>
      <p:sp>
        <p:nvSpPr>
          <p:cNvPr id="7" name="TextBox 6"/>
          <p:cNvSpPr txBox="1"/>
          <p:nvPr/>
        </p:nvSpPr>
        <p:spPr>
          <a:xfrm>
            <a:off x="201168" y="1673352"/>
            <a:ext cx="9144000" cy="365760"/>
          </a:xfrm>
          <a:prstGeom prst="rect">
            <a:avLst/>
          </a:prstGeom>
          <a:noFill/>
        </p:spPr>
        <p:txBody>
          <a:bodyPr wrap="square">
            <a:spAutoFit/>
          </a:bodyPr>
          <a:lstStyle/>
          <a:p>
            <a:pPr algn="l"/>
            <a:r>
              <a:rPr sz="1200" b="0" i="0">
                <a:solidFill>
                  <a:srgbClr val="01A296"/>
                </a:solidFill>
                <a:latin typeface="Arial"/>
              </a:rPr>
              <a:t>Sustainable direct to consumer apparel brand, South Melbourne VIC</a:t>
            </a:r>
          </a:p>
        </p:txBody>
      </p:sp>
      <p:sp>
        <p:nvSpPr>
          <p:cNvPr id="8" name="TextBox 7"/>
          <p:cNvSpPr txBox="1"/>
          <p:nvPr/>
        </p:nvSpPr>
        <p:spPr>
          <a:xfrm>
            <a:off x="201168" y="2103120"/>
            <a:ext cx="3657600" cy="274320"/>
          </a:xfrm>
          <a:prstGeom prst="rect">
            <a:avLst/>
          </a:prstGeom>
          <a:noFill/>
        </p:spPr>
        <p:txBody>
          <a:bodyPr wrap="square">
            <a:spAutoFit/>
          </a:bodyPr>
          <a:lstStyle/>
          <a:p>
            <a:pPr algn="l"/>
            <a:r>
              <a:rPr sz="1100" b="1" i="0">
                <a:solidFill>
                  <a:srgbClr val="01A296"/>
                </a:solidFill>
                <a:latin typeface="Arial"/>
              </a:rPr>
              <a:t>KEY METRICS</a:t>
            </a:r>
          </a:p>
        </p:txBody>
      </p:sp>
      <p:sp>
        <p:nvSpPr>
          <p:cNvPr id="9" name="Rectangle 8"/>
          <p:cNvSpPr/>
          <p:nvPr/>
        </p:nvSpPr>
        <p:spPr>
          <a:xfrm>
            <a:off x="201168" y="2414016"/>
            <a:ext cx="2249424" cy="129844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2414016"/>
            <a:ext cx="224942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 y="2505456"/>
            <a:ext cx="2112264" cy="502920"/>
          </a:xfrm>
          <a:prstGeom prst="rect">
            <a:avLst/>
          </a:prstGeom>
          <a:noFill/>
        </p:spPr>
        <p:txBody>
          <a:bodyPr wrap="square">
            <a:spAutoFit/>
          </a:bodyPr>
          <a:lstStyle/>
          <a:p>
            <a:pPr algn="l"/>
            <a:r>
              <a:rPr sz="2600" b="1" i="0">
                <a:solidFill>
                  <a:srgbClr val="FFFFFF"/>
                </a:solidFill>
                <a:latin typeface="Arial"/>
              </a:rPr>
              <a:t>$10M</a:t>
            </a:r>
          </a:p>
        </p:txBody>
      </p:sp>
      <p:sp>
        <p:nvSpPr>
          <p:cNvPr id="12" name="TextBox 11"/>
          <p:cNvSpPr txBox="1"/>
          <p:nvPr/>
        </p:nvSpPr>
        <p:spPr>
          <a:xfrm>
            <a:off x="310896" y="3017520"/>
            <a:ext cx="2112264" cy="457200"/>
          </a:xfrm>
          <a:prstGeom prst="rect">
            <a:avLst/>
          </a:prstGeom>
          <a:noFill/>
        </p:spPr>
        <p:txBody>
          <a:bodyPr wrap="square">
            <a:spAutoFit/>
          </a:bodyPr>
          <a:lstStyle/>
          <a:p>
            <a:pPr algn="l">
              <a:spcAft>
                <a:spcPts val="100"/>
              </a:spcAft>
            </a:pPr>
            <a:r>
              <a:rPr sz="1000" b="0" i="0">
                <a:solidFill>
                  <a:srgbClr val="E6E5DE"/>
                </a:solidFill>
                <a:latin typeface="Arial"/>
              </a:rPr>
              <a:t>Revenue FY2025</a:t>
            </a:r>
          </a:p>
          <a:p>
            <a:pPr algn="l">
              <a:spcAft>
                <a:spcPts val="100"/>
              </a:spcAft>
            </a:pPr>
            <a:r>
              <a:rPr sz="1000" b="0" i="0">
                <a:solidFill>
                  <a:srgbClr val="E6E5DE"/>
                </a:solidFill>
                <a:latin typeface="Arial"/>
              </a:rPr>
              <a:t/>
            </a:r>
          </a:p>
        </p:txBody>
      </p:sp>
      <p:sp>
        <p:nvSpPr>
          <p:cNvPr id="13" name="TextBox 12"/>
          <p:cNvSpPr txBox="1"/>
          <p:nvPr/>
        </p:nvSpPr>
        <p:spPr>
          <a:xfrm>
            <a:off x="310896" y="3493008"/>
            <a:ext cx="2112264" cy="201168"/>
          </a:xfrm>
          <a:prstGeom prst="rect">
            <a:avLst/>
          </a:prstGeom>
          <a:noFill/>
        </p:spPr>
        <p:txBody>
          <a:bodyPr wrap="square">
            <a:spAutoFit/>
          </a:bodyPr>
          <a:lstStyle/>
          <a:p>
            <a:pPr algn="l"/>
            <a:r>
              <a:rPr sz="700" b="0" i="1">
                <a:solidFill>
                  <a:srgbClr val="888888"/>
                </a:solidFill>
                <a:latin typeface="Arial"/>
              </a:rPr>
              <a:t>SmartCompany Smart50 2025</a:t>
            </a:r>
          </a:p>
        </p:txBody>
      </p:sp>
      <p:sp>
        <p:nvSpPr>
          <p:cNvPr id="14" name="Rectangle 13"/>
          <p:cNvSpPr/>
          <p:nvPr/>
        </p:nvSpPr>
        <p:spPr>
          <a:xfrm>
            <a:off x="2569464" y="2414016"/>
            <a:ext cx="2249424" cy="129844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9464" y="2414016"/>
            <a:ext cx="224942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79192" y="2505456"/>
            <a:ext cx="2112264" cy="502920"/>
          </a:xfrm>
          <a:prstGeom prst="rect">
            <a:avLst/>
          </a:prstGeom>
          <a:noFill/>
        </p:spPr>
        <p:txBody>
          <a:bodyPr wrap="square">
            <a:spAutoFit/>
          </a:bodyPr>
          <a:lstStyle/>
          <a:p>
            <a:pPr algn="l"/>
            <a:r>
              <a:rPr sz="2600" b="1" i="0">
                <a:solidFill>
                  <a:srgbClr val="FFFFFF"/>
                </a:solidFill>
                <a:latin typeface="Arial"/>
              </a:rPr>
              <a:t>64%</a:t>
            </a:r>
          </a:p>
        </p:txBody>
      </p:sp>
      <p:sp>
        <p:nvSpPr>
          <p:cNvPr id="17" name="TextBox 16"/>
          <p:cNvSpPr txBox="1"/>
          <p:nvPr/>
        </p:nvSpPr>
        <p:spPr>
          <a:xfrm>
            <a:off x="2679192" y="3017520"/>
            <a:ext cx="2112264" cy="457200"/>
          </a:xfrm>
          <a:prstGeom prst="rect">
            <a:avLst/>
          </a:prstGeom>
          <a:noFill/>
        </p:spPr>
        <p:txBody>
          <a:bodyPr wrap="square">
            <a:spAutoFit/>
          </a:bodyPr>
          <a:lstStyle/>
          <a:p>
            <a:pPr algn="l">
              <a:spcAft>
                <a:spcPts val="100"/>
              </a:spcAft>
            </a:pPr>
            <a:r>
              <a:rPr sz="1000" b="0" i="0">
                <a:solidFill>
                  <a:srgbClr val="E6E5DE"/>
                </a:solidFill>
                <a:latin typeface="Arial"/>
              </a:rPr>
              <a:t>Revenue growth</a:t>
            </a:r>
          </a:p>
          <a:p>
            <a:pPr algn="l">
              <a:spcAft>
                <a:spcPts val="100"/>
              </a:spcAft>
            </a:pPr>
            <a:r>
              <a:rPr sz="1000" b="0" i="0">
                <a:solidFill>
                  <a:srgbClr val="E6E5DE"/>
                </a:solidFill>
                <a:latin typeface="Arial"/>
              </a:rPr>
              <a:t>three year average</a:t>
            </a:r>
          </a:p>
        </p:txBody>
      </p:sp>
      <p:sp>
        <p:nvSpPr>
          <p:cNvPr id="18" name="TextBox 17"/>
          <p:cNvSpPr txBox="1"/>
          <p:nvPr/>
        </p:nvSpPr>
        <p:spPr>
          <a:xfrm>
            <a:off x="2679192" y="3493008"/>
            <a:ext cx="2112264" cy="201168"/>
          </a:xfrm>
          <a:prstGeom prst="rect">
            <a:avLst/>
          </a:prstGeom>
          <a:noFill/>
        </p:spPr>
        <p:txBody>
          <a:bodyPr wrap="square">
            <a:spAutoFit/>
          </a:bodyPr>
          <a:lstStyle/>
          <a:p>
            <a:pPr algn="l"/>
            <a:r>
              <a:rPr sz="700" b="0" i="1">
                <a:solidFill>
                  <a:srgbClr val="888888"/>
                </a:solidFill>
                <a:latin typeface="Arial"/>
              </a:rPr>
              <a:t>SmartCompany Smart50 2025</a:t>
            </a:r>
          </a:p>
        </p:txBody>
      </p:sp>
      <p:sp>
        <p:nvSpPr>
          <p:cNvPr id="19" name="Rectangle 18"/>
          <p:cNvSpPr/>
          <p:nvPr/>
        </p:nvSpPr>
        <p:spPr>
          <a:xfrm>
            <a:off x="4937760" y="2414016"/>
            <a:ext cx="2249424" cy="129844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0" y="2414016"/>
            <a:ext cx="224942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7488" y="2505456"/>
            <a:ext cx="2112264" cy="502920"/>
          </a:xfrm>
          <a:prstGeom prst="rect">
            <a:avLst/>
          </a:prstGeom>
          <a:noFill/>
        </p:spPr>
        <p:txBody>
          <a:bodyPr wrap="square">
            <a:spAutoFit/>
          </a:bodyPr>
          <a:lstStyle/>
          <a:p>
            <a:pPr algn="l"/>
            <a:r>
              <a:rPr sz="2600" b="1" i="0">
                <a:solidFill>
                  <a:srgbClr val="FFFFFF"/>
                </a:solidFill>
                <a:latin typeface="Arial"/>
              </a:rPr>
              <a:t>26</a:t>
            </a:r>
          </a:p>
        </p:txBody>
      </p:sp>
      <p:sp>
        <p:nvSpPr>
          <p:cNvPr id="22" name="TextBox 21"/>
          <p:cNvSpPr txBox="1"/>
          <p:nvPr/>
        </p:nvSpPr>
        <p:spPr>
          <a:xfrm>
            <a:off x="5047488" y="3017520"/>
            <a:ext cx="2112264" cy="457200"/>
          </a:xfrm>
          <a:prstGeom prst="rect">
            <a:avLst/>
          </a:prstGeom>
          <a:noFill/>
        </p:spPr>
        <p:txBody>
          <a:bodyPr wrap="square">
            <a:spAutoFit/>
          </a:bodyPr>
          <a:lstStyle/>
          <a:p>
            <a:pPr algn="l">
              <a:spcAft>
                <a:spcPts val="100"/>
              </a:spcAft>
            </a:pPr>
            <a:r>
              <a:rPr sz="1000" b="0" i="0">
                <a:solidFill>
                  <a:srgbClr val="E6E5DE"/>
                </a:solidFill>
                <a:latin typeface="Arial"/>
              </a:rPr>
              <a:t>Employees</a:t>
            </a:r>
          </a:p>
          <a:p>
            <a:pPr algn="l">
              <a:spcAft>
                <a:spcPts val="100"/>
              </a:spcAft>
            </a:pPr>
            <a:r>
              <a:rPr sz="1000" b="0" i="0">
                <a:solidFill>
                  <a:srgbClr val="E6E5DE"/>
                </a:solidFill>
                <a:latin typeface="Arial"/>
              </a:rPr>
              <a:t>16 FTE plus 10 casual</a:t>
            </a:r>
          </a:p>
        </p:txBody>
      </p:sp>
      <p:sp>
        <p:nvSpPr>
          <p:cNvPr id="23" name="TextBox 22"/>
          <p:cNvSpPr txBox="1"/>
          <p:nvPr/>
        </p:nvSpPr>
        <p:spPr>
          <a:xfrm>
            <a:off x="5047488" y="3493008"/>
            <a:ext cx="2112264" cy="201168"/>
          </a:xfrm>
          <a:prstGeom prst="rect">
            <a:avLst/>
          </a:prstGeom>
          <a:noFill/>
        </p:spPr>
        <p:txBody>
          <a:bodyPr wrap="square">
            <a:spAutoFit/>
          </a:bodyPr>
          <a:lstStyle/>
          <a:p>
            <a:pPr algn="l"/>
            <a:r>
              <a:rPr sz="700" b="0" i="1">
                <a:solidFill>
                  <a:srgbClr val="888888"/>
                </a:solidFill>
                <a:latin typeface="Arial"/>
              </a:rPr>
              <a:t>SmartCompany Jul 2025</a:t>
            </a:r>
          </a:p>
        </p:txBody>
      </p:sp>
      <p:sp>
        <p:nvSpPr>
          <p:cNvPr id="24" name="Rectangle 23"/>
          <p:cNvSpPr/>
          <p:nvPr/>
        </p:nvSpPr>
        <p:spPr>
          <a:xfrm>
            <a:off x="7306056" y="2414016"/>
            <a:ext cx="2249424" cy="129844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6056" y="2414016"/>
            <a:ext cx="224942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5784" y="2505456"/>
            <a:ext cx="2112264" cy="502920"/>
          </a:xfrm>
          <a:prstGeom prst="rect">
            <a:avLst/>
          </a:prstGeom>
          <a:noFill/>
        </p:spPr>
        <p:txBody>
          <a:bodyPr wrap="square">
            <a:spAutoFit/>
          </a:bodyPr>
          <a:lstStyle/>
          <a:p>
            <a:pPr algn="l"/>
            <a:r>
              <a:rPr sz="2600" b="1" i="0">
                <a:solidFill>
                  <a:srgbClr val="FFFFFF"/>
                </a:solidFill>
                <a:latin typeface="Arial"/>
              </a:rPr>
              <a:t>15</a:t>
            </a:r>
          </a:p>
        </p:txBody>
      </p:sp>
      <p:sp>
        <p:nvSpPr>
          <p:cNvPr id="27" name="TextBox 26"/>
          <p:cNvSpPr txBox="1"/>
          <p:nvPr/>
        </p:nvSpPr>
        <p:spPr>
          <a:xfrm>
            <a:off x="7415784" y="3017520"/>
            <a:ext cx="2112264" cy="457200"/>
          </a:xfrm>
          <a:prstGeom prst="rect">
            <a:avLst/>
          </a:prstGeom>
          <a:noFill/>
        </p:spPr>
        <p:txBody>
          <a:bodyPr wrap="square">
            <a:spAutoFit/>
          </a:bodyPr>
          <a:lstStyle/>
          <a:p>
            <a:pPr algn="l">
              <a:spcAft>
                <a:spcPts val="100"/>
              </a:spcAft>
            </a:pPr>
            <a:r>
              <a:rPr sz="1000" b="0" i="0">
                <a:solidFill>
                  <a:srgbClr val="E6E5DE"/>
                </a:solidFill>
                <a:latin typeface="Arial"/>
              </a:rPr>
              <a:t>International wholesale</a:t>
            </a:r>
          </a:p>
          <a:p>
            <a:pPr algn="l">
              <a:spcAft>
                <a:spcPts val="100"/>
              </a:spcAft>
            </a:pPr>
            <a:r>
              <a:rPr sz="1000" b="0" i="0">
                <a:solidFill>
                  <a:srgbClr val="E6E5DE"/>
                </a:solidFill>
                <a:latin typeface="Arial"/>
              </a:rPr>
              <a:t>stores: Singapore and Malaysia</a:t>
            </a:r>
          </a:p>
        </p:txBody>
      </p:sp>
      <p:sp>
        <p:nvSpPr>
          <p:cNvPr id="28" name="TextBox 27"/>
          <p:cNvSpPr txBox="1"/>
          <p:nvPr/>
        </p:nvSpPr>
        <p:spPr>
          <a:xfrm>
            <a:off x="7415784" y="3493008"/>
            <a:ext cx="2112264" cy="201168"/>
          </a:xfrm>
          <a:prstGeom prst="rect">
            <a:avLst/>
          </a:prstGeom>
          <a:noFill/>
        </p:spPr>
        <p:txBody>
          <a:bodyPr wrap="square">
            <a:spAutoFit/>
          </a:bodyPr>
          <a:lstStyle/>
          <a:p>
            <a:pPr algn="l"/>
            <a:r>
              <a:rPr sz="700" b="0" i="1">
                <a:solidFill>
                  <a:srgbClr val="888888"/>
                </a:solidFill>
                <a:latin typeface="Arial"/>
              </a:rPr>
              <a:t>businessnewsaustralia.com 2025</a:t>
            </a:r>
          </a:p>
        </p:txBody>
      </p:sp>
      <p:sp>
        <p:nvSpPr>
          <p:cNvPr id="29" name="Rectangle 28"/>
          <p:cNvSpPr/>
          <p:nvPr/>
        </p:nvSpPr>
        <p:spPr>
          <a:xfrm>
            <a:off x="9674352" y="2414016"/>
            <a:ext cx="2249424" cy="129844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674352" y="2414016"/>
            <a:ext cx="224942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0" y="2505456"/>
            <a:ext cx="2112264" cy="502920"/>
          </a:xfrm>
          <a:prstGeom prst="rect">
            <a:avLst/>
          </a:prstGeom>
          <a:noFill/>
        </p:spPr>
        <p:txBody>
          <a:bodyPr wrap="square">
            <a:spAutoFit/>
          </a:bodyPr>
          <a:lstStyle/>
          <a:p>
            <a:pPr algn="l"/>
            <a:r>
              <a:rPr sz="2600" b="1" i="0">
                <a:solidFill>
                  <a:srgbClr val="FFFFFF"/>
                </a:solidFill>
                <a:latin typeface="Arial"/>
              </a:rPr>
              <a:t>70%</a:t>
            </a:r>
          </a:p>
        </p:txBody>
      </p:sp>
      <p:sp>
        <p:nvSpPr>
          <p:cNvPr id="32" name="TextBox 31"/>
          <p:cNvSpPr txBox="1"/>
          <p:nvPr/>
        </p:nvSpPr>
        <p:spPr>
          <a:xfrm>
            <a:off x="9784080" y="3017520"/>
            <a:ext cx="2112264" cy="457200"/>
          </a:xfrm>
          <a:prstGeom prst="rect">
            <a:avLst/>
          </a:prstGeom>
          <a:noFill/>
        </p:spPr>
        <p:txBody>
          <a:bodyPr wrap="square">
            <a:spAutoFit/>
          </a:bodyPr>
          <a:lstStyle/>
          <a:p>
            <a:pPr algn="l">
              <a:spcAft>
                <a:spcPts val="100"/>
              </a:spcAft>
            </a:pPr>
            <a:r>
              <a:rPr sz="1000" b="0" i="0">
                <a:solidFill>
                  <a:srgbClr val="E6E5DE"/>
                </a:solidFill>
                <a:latin typeface="Arial"/>
              </a:rPr>
              <a:t>Repeat customer rate</a:t>
            </a:r>
          </a:p>
          <a:p>
            <a:pPr algn="l">
              <a:spcAft>
                <a:spcPts val="100"/>
              </a:spcAft>
            </a:pPr>
            <a:r>
              <a:rPr sz="1000" b="0" i="0">
                <a:solidFill>
                  <a:srgbClr val="E6E5DE"/>
                </a:solidFill>
                <a:latin typeface="Arial"/>
              </a:rPr>
              <a:t>brand loyalty metric</a:t>
            </a:r>
          </a:p>
        </p:txBody>
      </p:sp>
      <p:sp>
        <p:nvSpPr>
          <p:cNvPr id="33" name="TextBox 32"/>
          <p:cNvSpPr txBox="1"/>
          <p:nvPr/>
        </p:nvSpPr>
        <p:spPr>
          <a:xfrm>
            <a:off x="9784080" y="3493008"/>
            <a:ext cx="2112264" cy="201168"/>
          </a:xfrm>
          <a:prstGeom prst="rect">
            <a:avLst/>
          </a:prstGeom>
          <a:noFill/>
        </p:spPr>
        <p:txBody>
          <a:bodyPr wrap="square">
            <a:spAutoFit/>
          </a:bodyPr>
          <a:lstStyle/>
          <a:p>
            <a:pPr algn="l"/>
            <a:r>
              <a:rPr sz="700" b="0" i="1">
                <a:solidFill>
                  <a:srgbClr val="888888"/>
                </a:solidFill>
                <a:latin typeface="Arial"/>
              </a:rPr>
              <a:t>SmartCompany 2025</a:t>
            </a:r>
          </a:p>
        </p:txBody>
      </p:sp>
      <p:sp>
        <p:nvSpPr>
          <p:cNvPr id="34" name="TextBox 33"/>
          <p:cNvSpPr txBox="1"/>
          <p:nvPr/>
        </p:nvSpPr>
        <p:spPr>
          <a:xfrm>
            <a:off x="201168" y="3840480"/>
            <a:ext cx="4572000" cy="274320"/>
          </a:xfrm>
          <a:prstGeom prst="rect">
            <a:avLst/>
          </a:prstGeom>
          <a:noFill/>
        </p:spPr>
        <p:txBody>
          <a:bodyPr wrap="square">
            <a:spAutoFit/>
          </a:bodyPr>
          <a:lstStyle/>
          <a:p>
            <a:pPr algn="l"/>
            <a:r>
              <a:rPr sz="1100" b="1" i="0">
                <a:solidFill>
                  <a:srgbClr val="01A296"/>
                </a:solidFill>
                <a:latin typeface="Arial"/>
              </a:rPr>
              <a:t>REVENUE TRAJECTORY</a:t>
            </a:r>
          </a:p>
        </p:txBody>
      </p:sp>
      <p:sp>
        <p:nvSpPr>
          <p:cNvPr id="35" name="Rectangle 34"/>
          <p:cNvSpPr/>
          <p:nvPr/>
        </p:nvSpPr>
        <p:spPr>
          <a:xfrm>
            <a:off x="502920" y="5692140"/>
            <a:ext cx="594360" cy="16002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5399532"/>
            <a:ext cx="685800" cy="256032"/>
          </a:xfrm>
          <a:prstGeom prst="rect">
            <a:avLst/>
          </a:prstGeom>
          <a:noFill/>
        </p:spPr>
        <p:txBody>
          <a:bodyPr wrap="square">
            <a:spAutoFit/>
          </a:bodyPr>
          <a:lstStyle/>
          <a:p>
            <a:pPr algn="ctr"/>
            <a:r>
              <a:rPr sz="900" b="1" i="0">
                <a:solidFill>
                  <a:srgbClr val="000000"/>
                </a:solidFill>
                <a:latin typeface="Arial"/>
              </a:rPr>
              <a:t>$1M</a:t>
            </a:r>
          </a:p>
        </p:txBody>
      </p:sp>
      <p:sp>
        <p:nvSpPr>
          <p:cNvPr id="37" name="TextBox 36"/>
          <p:cNvSpPr txBox="1"/>
          <p:nvPr/>
        </p:nvSpPr>
        <p:spPr>
          <a:xfrm>
            <a:off x="457200" y="5897880"/>
            <a:ext cx="685800" cy="228600"/>
          </a:xfrm>
          <a:prstGeom prst="rect">
            <a:avLst/>
          </a:prstGeom>
          <a:noFill/>
        </p:spPr>
        <p:txBody>
          <a:bodyPr wrap="square">
            <a:spAutoFit/>
          </a:bodyPr>
          <a:lstStyle/>
          <a:p>
            <a:pPr algn="ctr"/>
            <a:r>
              <a:rPr sz="900" b="0" i="0">
                <a:solidFill>
                  <a:srgbClr val="444444"/>
                </a:solidFill>
                <a:latin typeface="Arial"/>
              </a:rPr>
              <a:t>FY21</a:t>
            </a:r>
          </a:p>
        </p:txBody>
      </p:sp>
      <p:sp>
        <p:nvSpPr>
          <p:cNvPr id="38" name="Rectangle 37"/>
          <p:cNvSpPr/>
          <p:nvPr/>
        </p:nvSpPr>
        <p:spPr>
          <a:xfrm>
            <a:off x="1508760" y="5580126"/>
            <a:ext cx="594360" cy="27203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63040" y="5287518"/>
            <a:ext cx="685800" cy="256032"/>
          </a:xfrm>
          <a:prstGeom prst="rect">
            <a:avLst/>
          </a:prstGeom>
          <a:noFill/>
        </p:spPr>
        <p:txBody>
          <a:bodyPr wrap="square">
            <a:spAutoFit/>
          </a:bodyPr>
          <a:lstStyle/>
          <a:p>
            <a:pPr algn="ctr"/>
            <a:r>
              <a:rPr sz="900" b="1" i="0">
                <a:solidFill>
                  <a:srgbClr val="000000"/>
                </a:solidFill>
                <a:latin typeface="Arial"/>
              </a:rPr>
              <a:t>$1.7M</a:t>
            </a:r>
          </a:p>
        </p:txBody>
      </p:sp>
      <p:sp>
        <p:nvSpPr>
          <p:cNvPr id="40" name="TextBox 39"/>
          <p:cNvSpPr txBox="1"/>
          <p:nvPr/>
        </p:nvSpPr>
        <p:spPr>
          <a:xfrm>
            <a:off x="1463040" y="5897880"/>
            <a:ext cx="685800" cy="228600"/>
          </a:xfrm>
          <a:prstGeom prst="rect">
            <a:avLst/>
          </a:prstGeom>
          <a:noFill/>
        </p:spPr>
        <p:txBody>
          <a:bodyPr wrap="square">
            <a:spAutoFit/>
          </a:bodyPr>
          <a:lstStyle/>
          <a:p>
            <a:pPr algn="ctr"/>
            <a:r>
              <a:rPr sz="900" b="0" i="0">
                <a:solidFill>
                  <a:srgbClr val="444444"/>
                </a:solidFill>
                <a:latin typeface="Arial"/>
              </a:rPr>
              <a:t>FY22</a:t>
            </a:r>
          </a:p>
        </p:txBody>
      </p:sp>
      <p:sp>
        <p:nvSpPr>
          <p:cNvPr id="41" name="Rectangle 40"/>
          <p:cNvSpPr/>
          <p:nvPr/>
        </p:nvSpPr>
        <p:spPr>
          <a:xfrm>
            <a:off x="2514600" y="4892040"/>
            <a:ext cx="594360" cy="96012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468880" y="4599432"/>
            <a:ext cx="685800" cy="256032"/>
          </a:xfrm>
          <a:prstGeom prst="rect">
            <a:avLst/>
          </a:prstGeom>
          <a:noFill/>
        </p:spPr>
        <p:txBody>
          <a:bodyPr wrap="square">
            <a:spAutoFit/>
          </a:bodyPr>
          <a:lstStyle/>
          <a:p>
            <a:pPr algn="ctr"/>
            <a:r>
              <a:rPr sz="900" b="1" i="0">
                <a:solidFill>
                  <a:srgbClr val="000000"/>
                </a:solidFill>
                <a:latin typeface="Arial"/>
              </a:rPr>
              <a:t>$6M</a:t>
            </a:r>
          </a:p>
        </p:txBody>
      </p:sp>
      <p:sp>
        <p:nvSpPr>
          <p:cNvPr id="43" name="TextBox 42"/>
          <p:cNvSpPr txBox="1"/>
          <p:nvPr/>
        </p:nvSpPr>
        <p:spPr>
          <a:xfrm>
            <a:off x="2468880" y="5897880"/>
            <a:ext cx="685800" cy="228600"/>
          </a:xfrm>
          <a:prstGeom prst="rect">
            <a:avLst/>
          </a:prstGeom>
          <a:noFill/>
        </p:spPr>
        <p:txBody>
          <a:bodyPr wrap="square">
            <a:spAutoFit/>
          </a:bodyPr>
          <a:lstStyle/>
          <a:p>
            <a:pPr algn="ctr"/>
            <a:r>
              <a:rPr sz="900" b="0" i="0">
                <a:solidFill>
                  <a:srgbClr val="444444"/>
                </a:solidFill>
                <a:latin typeface="Arial"/>
              </a:rPr>
              <a:t>FY24</a:t>
            </a:r>
          </a:p>
        </p:txBody>
      </p:sp>
      <p:sp>
        <p:nvSpPr>
          <p:cNvPr id="44" name="Rectangle 43"/>
          <p:cNvSpPr/>
          <p:nvPr/>
        </p:nvSpPr>
        <p:spPr>
          <a:xfrm>
            <a:off x="3520440" y="4251960"/>
            <a:ext cx="594360" cy="16002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74720" y="3959352"/>
            <a:ext cx="685800" cy="256032"/>
          </a:xfrm>
          <a:prstGeom prst="rect">
            <a:avLst/>
          </a:prstGeom>
          <a:noFill/>
        </p:spPr>
        <p:txBody>
          <a:bodyPr wrap="square">
            <a:spAutoFit/>
          </a:bodyPr>
          <a:lstStyle/>
          <a:p>
            <a:pPr algn="ctr"/>
            <a:r>
              <a:rPr sz="900" b="1" i="0">
                <a:solidFill>
                  <a:srgbClr val="000000"/>
                </a:solidFill>
                <a:latin typeface="Arial"/>
              </a:rPr>
              <a:t>$10M</a:t>
            </a:r>
          </a:p>
        </p:txBody>
      </p:sp>
      <p:sp>
        <p:nvSpPr>
          <p:cNvPr id="46" name="TextBox 45"/>
          <p:cNvSpPr txBox="1"/>
          <p:nvPr/>
        </p:nvSpPr>
        <p:spPr>
          <a:xfrm>
            <a:off x="3474720" y="5897880"/>
            <a:ext cx="685800" cy="228600"/>
          </a:xfrm>
          <a:prstGeom prst="rect">
            <a:avLst/>
          </a:prstGeom>
          <a:noFill/>
        </p:spPr>
        <p:txBody>
          <a:bodyPr wrap="square">
            <a:spAutoFit/>
          </a:bodyPr>
          <a:lstStyle/>
          <a:p>
            <a:pPr algn="ctr"/>
            <a:r>
              <a:rPr sz="900" b="0" i="0">
                <a:solidFill>
                  <a:srgbClr val="444444"/>
                </a:solidFill>
                <a:latin typeface="Arial"/>
              </a:rPr>
              <a:t>FY25</a:t>
            </a:r>
          </a:p>
        </p:txBody>
      </p:sp>
      <p:sp>
        <p:nvSpPr>
          <p:cNvPr id="47" name="Rectangle 46"/>
          <p:cNvSpPr/>
          <p:nvPr/>
        </p:nvSpPr>
        <p:spPr>
          <a:xfrm>
            <a:off x="457200" y="5852160"/>
            <a:ext cx="4572000" cy="13716"/>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01168" y="6144768"/>
            <a:ext cx="4572000" cy="256032"/>
          </a:xfrm>
          <a:prstGeom prst="rect">
            <a:avLst/>
          </a:prstGeom>
          <a:noFill/>
        </p:spPr>
        <p:txBody>
          <a:bodyPr wrap="square">
            <a:spAutoFit/>
          </a:bodyPr>
          <a:lstStyle/>
          <a:p>
            <a:pPr algn="l"/>
            <a:r>
              <a:rPr sz="700" b="0" i="1">
                <a:solidFill>
                  <a:srgbClr val="888888"/>
                </a:solidFill>
                <a:latin typeface="Arial"/>
              </a:rPr>
              <a:t>Sources: SmartCompany Smart50 2025, SmartCompany articles 2021 to 2025</a:t>
            </a:r>
          </a:p>
        </p:txBody>
      </p:sp>
      <p:sp>
        <p:nvSpPr>
          <p:cNvPr id="49" name="TextBox 48"/>
          <p:cNvSpPr txBox="1"/>
          <p:nvPr/>
        </p:nvSpPr>
        <p:spPr>
          <a:xfrm>
            <a:off x="5303520" y="3840480"/>
            <a:ext cx="6675120" cy="274320"/>
          </a:xfrm>
          <a:prstGeom prst="rect">
            <a:avLst/>
          </a:prstGeom>
          <a:noFill/>
        </p:spPr>
        <p:txBody>
          <a:bodyPr wrap="square">
            <a:spAutoFit/>
          </a:bodyPr>
          <a:lstStyle/>
          <a:p>
            <a:pPr algn="l"/>
            <a:r>
              <a:rPr sz="1100" b="1" i="0">
                <a:solidFill>
                  <a:srgbClr val="01A296"/>
                </a:solidFill>
                <a:latin typeface="Arial"/>
              </a:rPr>
              <a:t>KEY COMMERCIAL SIGNALS</a:t>
            </a:r>
          </a:p>
        </p:txBody>
      </p:sp>
      <p:sp>
        <p:nvSpPr>
          <p:cNvPr id="50" name="Rectangle 49"/>
          <p:cNvSpPr/>
          <p:nvPr/>
        </p:nvSpPr>
        <p:spPr>
          <a:xfrm>
            <a:off x="5303520" y="4251960"/>
            <a:ext cx="73152" cy="7315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0" y="4160520"/>
            <a:ext cx="6492240" cy="347472"/>
          </a:xfrm>
          <a:prstGeom prst="rect">
            <a:avLst/>
          </a:prstGeom>
          <a:noFill/>
        </p:spPr>
        <p:txBody>
          <a:bodyPr wrap="square">
            <a:spAutoFit/>
          </a:bodyPr>
          <a:lstStyle/>
          <a:p>
            <a:pPr algn="l">
              <a:spcAft>
                <a:spcPts val="100"/>
              </a:spcAft>
            </a:pPr>
            <a:r>
              <a:rPr sz="1100" b="0" i="0">
                <a:solidFill>
                  <a:srgbClr val="000000"/>
                </a:solidFill>
                <a:latin typeface="Arial"/>
              </a:rPr>
              <a:t>Smart50 2025 rank 15 confirms revenue above AUD 5M eligibility threshold</a:t>
            </a:r>
          </a:p>
          <a:p>
            <a:pPr algn="l">
              <a:spcAft>
                <a:spcPts val="100"/>
              </a:spcAft>
            </a:pPr>
            <a:r>
              <a:rPr sz="700" b="0" i="1">
                <a:solidFill>
                  <a:srgbClr val="888888"/>
                </a:solidFill>
                <a:latin typeface="Arial"/>
              </a:rPr>
              <a:t>SmartCompany Smart50 2025</a:t>
            </a:r>
          </a:p>
        </p:txBody>
      </p:sp>
      <p:sp>
        <p:nvSpPr>
          <p:cNvPr id="52" name="Rectangle 51"/>
          <p:cNvSpPr/>
          <p:nvPr/>
        </p:nvSpPr>
        <p:spPr>
          <a:xfrm>
            <a:off x="5303520" y="4636008"/>
            <a:ext cx="73152" cy="7315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0" y="4544568"/>
            <a:ext cx="6492240" cy="347472"/>
          </a:xfrm>
          <a:prstGeom prst="rect">
            <a:avLst/>
          </a:prstGeom>
          <a:noFill/>
        </p:spPr>
        <p:txBody>
          <a:bodyPr wrap="square">
            <a:spAutoFit/>
          </a:bodyPr>
          <a:lstStyle/>
          <a:p>
            <a:pPr algn="l">
              <a:spcAft>
                <a:spcPts val="100"/>
              </a:spcAft>
            </a:pPr>
            <a:r>
              <a:rPr sz="1100" b="0" i="0">
                <a:solidFill>
                  <a:srgbClr val="000000"/>
                </a:solidFill>
                <a:latin typeface="Arial"/>
              </a:rPr>
              <a:t>Permanent bricks and mortar retail: QV Melbourne CBD flagship and South Melbourne store</a:t>
            </a:r>
          </a:p>
          <a:p>
            <a:pPr algn="l">
              <a:spcAft>
                <a:spcPts val="100"/>
              </a:spcAft>
            </a:pPr>
            <a:r>
              <a:rPr sz="700" b="0" i="1">
                <a:solidFill>
                  <a:srgbClr val="888888"/>
                </a:solidFill>
                <a:latin typeface="Arial"/>
              </a:rPr>
              <a:t>Ragtrader 2025 / Inside Retail Australia 2025</a:t>
            </a:r>
          </a:p>
        </p:txBody>
      </p:sp>
      <p:sp>
        <p:nvSpPr>
          <p:cNvPr id="54" name="Rectangle 53"/>
          <p:cNvSpPr/>
          <p:nvPr/>
        </p:nvSpPr>
        <p:spPr>
          <a:xfrm>
            <a:off x="5303520" y="5020056"/>
            <a:ext cx="73152" cy="7315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0" y="4928616"/>
            <a:ext cx="6492240" cy="347472"/>
          </a:xfrm>
          <a:prstGeom prst="rect">
            <a:avLst/>
          </a:prstGeom>
          <a:noFill/>
        </p:spPr>
        <p:txBody>
          <a:bodyPr wrap="square">
            <a:spAutoFit/>
          </a:bodyPr>
          <a:lstStyle/>
          <a:p>
            <a:pPr algn="l">
              <a:spcAft>
                <a:spcPts val="100"/>
              </a:spcAft>
            </a:pPr>
            <a:r>
              <a:rPr sz="1100" b="0" i="0">
                <a:solidFill>
                  <a:srgbClr val="000000"/>
                </a:solidFill>
                <a:latin typeface="Arial"/>
              </a:rPr>
              <a:t>International wholesale entry: 12 Boarding Gate stores in Singapore and 3 stores in Malaysia</a:t>
            </a:r>
          </a:p>
          <a:p>
            <a:pPr algn="l">
              <a:spcAft>
                <a:spcPts val="100"/>
              </a:spcAft>
            </a:pPr>
            <a:r>
              <a:rPr sz="700" b="0" i="1">
                <a:solidFill>
                  <a:srgbClr val="888888"/>
                </a:solidFill>
                <a:latin typeface="Arial"/>
              </a:rPr>
              <a:t>businessnewsaustralia.com 2025</a:t>
            </a:r>
          </a:p>
        </p:txBody>
      </p:sp>
      <p:sp>
        <p:nvSpPr>
          <p:cNvPr id="56" name="Rectangle 55"/>
          <p:cNvSpPr/>
          <p:nvPr/>
        </p:nvSpPr>
        <p:spPr>
          <a:xfrm>
            <a:off x="5303520" y="5404104"/>
            <a:ext cx="73152" cy="7315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0" y="5312664"/>
            <a:ext cx="6492240" cy="347472"/>
          </a:xfrm>
          <a:prstGeom prst="rect">
            <a:avLst/>
          </a:prstGeom>
          <a:noFill/>
        </p:spPr>
        <p:txBody>
          <a:bodyPr wrap="square">
            <a:spAutoFit/>
          </a:bodyPr>
          <a:lstStyle/>
          <a:p>
            <a:pPr algn="l">
              <a:spcAft>
                <a:spcPts val="100"/>
              </a:spcAft>
            </a:pPr>
            <a:r>
              <a:rPr sz="1100" b="0" i="0">
                <a:solidFill>
                  <a:srgbClr val="000000"/>
                </a:solidFill>
                <a:latin typeface="Arial"/>
              </a:rPr>
              <a:t>Raised AUD 500,000 for 4 percent equity on Shark Tank Australia, implied valuation AUD 12.5M</a:t>
            </a:r>
          </a:p>
          <a:p>
            <a:pPr algn="l">
              <a:spcAft>
                <a:spcPts val="100"/>
              </a:spcAft>
            </a:pPr>
            <a:r>
              <a:rPr sz="700" b="0" i="1">
                <a:solidFill>
                  <a:srgbClr val="888888"/>
                </a:solidFill>
                <a:latin typeface="Arial"/>
              </a:rPr>
              <a:t>SmartCompany Shark Tank recap Nov 2024</a:t>
            </a:r>
          </a:p>
        </p:txBody>
      </p:sp>
      <p:sp>
        <p:nvSpPr>
          <p:cNvPr id="58" name="Rectangle 57"/>
          <p:cNvSpPr/>
          <p:nvPr/>
        </p:nvSpPr>
        <p:spPr>
          <a:xfrm>
            <a:off x="5303520" y="5788152"/>
            <a:ext cx="73152" cy="7315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0" y="5696712"/>
            <a:ext cx="6492240" cy="347472"/>
          </a:xfrm>
          <a:prstGeom prst="rect">
            <a:avLst/>
          </a:prstGeom>
          <a:noFill/>
        </p:spPr>
        <p:txBody>
          <a:bodyPr wrap="square">
            <a:spAutoFit/>
          </a:bodyPr>
          <a:lstStyle/>
          <a:p>
            <a:pPr algn="l">
              <a:spcAft>
                <a:spcPts val="100"/>
              </a:spcAft>
            </a:pPr>
            <a:r>
              <a:rPr sz="1100" b="0" i="0">
                <a:solidFill>
                  <a:srgbClr val="000000"/>
                </a:solidFill>
                <a:latin typeface="Arial"/>
              </a:rPr>
              <a:t>CEO Nathan Yun has publicly stated the focus is now profitability over hyper growth</a:t>
            </a:r>
          </a:p>
          <a:p>
            <a:pPr algn="l">
              <a:spcAft>
                <a:spcPts val="100"/>
              </a:spcAft>
            </a:pPr>
            <a:r>
              <a:rPr sz="700" b="0" i="1">
                <a:solidFill>
                  <a:srgbClr val="888888"/>
                </a:solidFill>
                <a:latin typeface="Arial"/>
              </a:rPr>
              <a:t>SmartCompany 2025</a:t>
            </a:r>
          </a:p>
        </p:txBody>
      </p:sp>
      <p:sp>
        <p:nvSpPr>
          <p:cNvPr id="60" name="Rectangle 59"/>
          <p:cNvSpPr/>
          <p:nvPr/>
        </p:nvSpPr>
        <p:spPr>
          <a:xfrm>
            <a:off x="5303520" y="6172200"/>
            <a:ext cx="73152" cy="7315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86400" y="6080760"/>
            <a:ext cx="6492240" cy="347472"/>
          </a:xfrm>
          <a:prstGeom prst="rect">
            <a:avLst/>
          </a:prstGeom>
          <a:noFill/>
        </p:spPr>
        <p:txBody>
          <a:bodyPr wrap="square">
            <a:spAutoFit/>
          </a:bodyPr>
          <a:lstStyle/>
          <a:p>
            <a:pPr algn="l">
              <a:spcAft>
                <a:spcPts val="100"/>
              </a:spcAft>
            </a:pPr>
            <a:r>
              <a:rPr sz="1100" b="0" i="0">
                <a:solidFill>
                  <a:srgbClr val="000000"/>
                </a:solidFill>
                <a:latin typeface="Arial"/>
              </a:rPr>
              <a:t>20,000 units of underwear sold monthly, confirming category scale in a single product line</a:t>
            </a:r>
          </a:p>
          <a:p>
            <a:pPr algn="l">
              <a:spcAft>
                <a:spcPts val="100"/>
              </a:spcAft>
            </a:pPr>
            <a:r>
              <a:rPr sz="700" b="0" i="1">
                <a:solidFill>
                  <a:srgbClr val="888888"/>
                </a:solidFill>
                <a:latin typeface="Arial"/>
              </a:rPr>
              <a:t>SmartCompany 2025</a:t>
            </a:r>
          </a:p>
        </p:txBody>
      </p:sp>
      <p:sp>
        <p:nvSpPr>
          <p:cNvPr id="62" name="Rectangle 61"/>
          <p:cNvSpPr/>
          <p:nvPr/>
        </p:nvSpPr>
        <p:spPr>
          <a:xfrm>
            <a:off x="73152" y="6446520"/>
            <a:ext cx="12118543" cy="13716"/>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01168" y="6510528"/>
            <a:ext cx="8229600" cy="274320"/>
          </a:xfrm>
          <a:prstGeom prst="rect">
            <a:avLst/>
          </a:prstGeom>
          <a:noFill/>
        </p:spPr>
        <p:txBody>
          <a:bodyPr wrap="square">
            <a:spAutoFit/>
          </a:bodyPr>
          <a:lstStyle/>
          <a:p>
            <a:pPr algn="l"/>
            <a:r>
              <a:rPr sz="800" b="0" i="0">
                <a:solidFill>
                  <a:srgbClr val="444444"/>
                </a:solidFill>
                <a:latin typeface="Arial"/>
              </a:rPr>
              <a:t>Prepared by Nitesh Roopa CA, Managing Partner, ProfitPulse, Profit-Pulse.com.au</a:t>
            </a:r>
          </a:p>
        </p:txBody>
      </p:sp>
      <p:sp>
        <p:nvSpPr>
          <p:cNvPr id="64" name="TextBox 63"/>
          <p:cNvSpPr txBox="1"/>
          <p:nvPr/>
        </p:nvSpPr>
        <p:spPr>
          <a:xfrm>
            <a:off x="201168" y="6510528"/>
            <a:ext cx="11789359" cy="274320"/>
          </a:xfrm>
          <a:prstGeom prst="rect">
            <a:avLst/>
          </a:prstGeom>
          <a:noFill/>
        </p:spPr>
        <p:txBody>
          <a:bodyPr wrap="square">
            <a:spAutoFit/>
          </a:bodyPr>
          <a:lstStyle/>
          <a:p>
            <a:pPr algn="r"/>
            <a:r>
              <a:rPr sz="800" b="0" i="0">
                <a:solidFill>
                  <a:srgbClr val="444444"/>
                </a:solidFill>
                <a:latin typeface="Arial"/>
              </a:rPr>
              <a:t>10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8686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91440"/>
            <a:ext cx="5486400" cy="347472"/>
          </a:xfrm>
          <a:prstGeom prst="rect">
            <a:avLst/>
          </a:prstGeom>
          <a:noFill/>
        </p:spPr>
        <p:txBody>
          <a:bodyPr wrap="square">
            <a:spAutoFit/>
          </a:bodyPr>
          <a:lstStyle/>
          <a:p>
            <a:pPr algn="l"/>
            <a:r>
              <a:rPr sz="1100" b="1" i="0">
                <a:solidFill>
                  <a:srgbClr val="E6E5DE"/>
                </a:solidFill>
                <a:latin typeface="Arial"/>
              </a:rPr>
              <a:t>THE OPPORTUNITY</a:t>
            </a:r>
          </a:p>
        </p:txBody>
      </p:sp>
      <p:sp>
        <p:nvSpPr>
          <p:cNvPr id="5" name="TextBox 4"/>
          <p:cNvSpPr txBox="1"/>
          <p:nvPr/>
        </p:nvSpPr>
        <p:spPr>
          <a:xfrm>
            <a:off x="201168" y="457200"/>
            <a:ext cx="7315200" cy="347472"/>
          </a:xfrm>
          <a:prstGeom prst="rect">
            <a:avLst/>
          </a:prstGeom>
          <a:noFill/>
        </p:spPr>
        <p:txBody>
          <a:bodyPr wrap="square">
            <a:spAutoFit/>
          </a:bodyPr>
          <a:lstStyle/>
          <a:p>
            <a:pPr algn="l"/>
            <a:r>
              <a:rPr sz="1100" b="0" i="0">
                <a:solidFill>
                  <a:srgbClr val="888888"/>
                </a:solidFill>
                <a:latin typeface="Arial"/>
              </a:rPr>
              <a:t>Paire: three commercial observations from ProfitPulse</a:t>
            </a:r>
          </a:p>
        </p:txBody>
      </p:sp>
      <p:sp>
        <p:nvSpPr>
          <p:cNvPr id="6" name="TextBox 5"/>
          <p:cNvSpPr txBox="1"/>
          <p:nvPr/>
        </p:nvSpPr>
        <p:spPr>
          <a:xfrm>
            <a:off x="201168" y="91440"/>
            <a:ext cx="11789359" cy="347472"/>
          </a:xfrm>
          <a:prstGeom prst="rect">
            <a:avLst/>
          </a:prstGeom>
          <a:noFill/>
        </p:spPr>
        <p:txBody>
          <a:bodyPr wrap="square">
            <a:spAutoFit/>
          </a:bodyPr>
          <a:lstStyle/>
          <a:p>
            <a:pPr algn="r"/>
            <a:r>
              <a:rPr sz="1100" b="1" i="0">
                <a:solidFill>
                  <a:srgbClr val="01A296"/>
                </a:solidFill>
                <a:latin typeface="Arial"/>
              </a:rPr>
              <a:t>Paire</a:t>
            </a:r>
          </a:p>
        </p:txBody>
      </p:sp>
      <p:sp>
        <p:nvSpPr>
          <p:cNvPr id="7" name="Rectangle 6"/>
          <p:cNvSpPr/>
          <p:nvPr/>
        </p:nvSpPr>
        <p:spPr>
          <a:xfrm>
            <a:off x="73152" y="868680"/>
            <a:ext cx="4032504" cy="489204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1051560"/>
            <a:ext cx="3758184" cy="594360"/>
          </a:xfrm>
          <a:prstGeom prst="rect">
            <a:avLst/>
          </a:prstGeom>
          <a:noFill/>
        </p:spPr>
        <p:txBody>
          <a:bodyPr wrap="square">
            <a:spAutoFit/>
          </a:bodyPr>
          <a:lstStyle/>
          <a:p>
            <a:pPr algn="l"/>
            <a:r>
              <a:rPr sz="4000" b="1" i="0">
                <a:solidFill>
                  <a:srgbClr val="000000"/>
                </a:solidFill>
                <a:latin typeface="Georgia"/>
              </a:rPr>
              <a:t>01</a:t>
            </a:r>
          </a:p>
        </p:txBody>
      </p:sp>
      <p:sp>
        <p:nvSpPr>
          <p:cNvPr id="9" name="TextBox 8"/>
          <p:cNvSpPr txBox="1"/>
          <p:nvPr/>
        </p:nvSpPr>
        <p:spPr>
          <a:xfrm>
            <a:off x="256032" y="1737360"/>
            <a:ext cx="3758184" cy="640080"/>
          </a:xfrm>
          <a:prstGeom prst="rect">
            <a:avLst/>
          </a:prstGeom>
          <a:noFill/>
        </p:spPr>
        <p:txBody>
          <a:bodyPr wrap="square">
            <a:spAutoFit/>
          </a:bodyPr>
          <a:lstStyle/>
          <a:p>
            <a:pPr algn="l"/>
            <a:r>
              <a:rPr sz="1200" b="1" i="0">
                <a:solidFill>
                  <a:srgbClr val="000000"/>
                </a:solidFill>
                <a:latin typeface="Arial"/>
              </a:rPr>
              <a:t>Four channels, one P and L: where is the margin?</a:t>
            </a:r>
          </a:p>
        </p:txBody>
      </p:sp>
      <p:sp>
        <p:nvSpPr>
          <p:cNvPr id="10" name="TextBox 9"/>
          <p:cNvSpPr txBox="1"/>
          <p:nvPr/>
        </p:nvSpPr>
        <p:spPr>
          <a:xfrm>
            <a:off x="256032" y="2441448"/>
            <a:ext cx="3758184" cy="3108960"/>
          </a:xfrm>
          <a:prstGeom prst="rect">
            <a:avLst/>
          </a:prstGeom>
          <a:noFill/>
        </p:spPr>
        <p:txBody>
          <a:bodyPr wrap="square">
            <a:spAutoFit/>
          </a:bodyPr>
          <a:lstStyle/>
          <a:p>
            <a:pPr algn="l"/>
            <a:r>
              <a:rPr sz="1000" b="0" i="0">
                <a:solidFill>
                  <a:srgbClr val="000000"/>
                </a:solidFill>
                <a:latin typeface="Arial"/>
              </a:rPr>
              <a:t>Paire now earns revenue across four distinct commercial channels: DTC online, QV Melbourne CBD store, South Melbourne store, and wholesale export across 15 retail doors in Singapore and Malaysia. Each channel carries a materially different cost and margin structure. DTC online captures the highest margin per unit with no intermediary. Physical retail adds fixed lease, staff, and fit-out costs that absorb contribution margin. Wholesale reduces per-unit margin but opens volume at scale. Without a channel by channel profitability view, growth capital flows to the highest revenue source rather than the highest return source. The four channel question needs a financial answer, not a revenue answer.</a:t>
            </a:r>
          </a:p>
        </p:txBody>
      </p:sp>
      <p:sp>
        <p:nvSpPr>
          <p:cNvPr id="11" name="Rectangle 10"/>
          <p:cNvSpPr/>
          <p:nvPr/>
        </p:nvSpPr>
        <p:spPr>
          <a:xfrm>
            <a:off x="4114800" y="868680"/>
            <a:ext cx="4032504" cy="4892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051560"/>
            <a:ext cx="3758184" cy="594360"/>
          </a:xfrm>
          <a:prstGeom prst="rect">
            <a:avLst/>
          </a:prstGeom>
          <a:noFill/>
        </p:spPr>
        <p:txBody>
          <a:bodyPr wrap="square">
            <a:spAutoFit/>
          </a:bodyPr>
          <a:lstStyle/>
          <a:p>
            <a:pPr algn="l"/>
            <a:r>
              <a:rPr sz="4000" b="1" i="0">
                <a:solidFill>
                  <a:srgbClr val="F8C806"/>
                </a:solidFill>
                <a:latin typeface="Georgia"/>
              </a:rPr>
              <a:t>02</a:t>
            </a:r>
          </a:p>
        </p:txBody>
      </p:sp>
      <p:sp>
        <p:nvSpPr>
          <p:cNvPr id="13" name="TextBox 12"/>
          <p:cNvSpPr txBox="1"/>
          <p:nvPr/>
        </p:nvSpPr>
        <p:spPr>
          <a:xfrm>
            <a:off x="4297680" y="1737360"/>
            <a:ext cx="3758184" cy="640080"/>
          </a:xfrm>
          <a:prstGeom prst="rect">
            <a:avLst/>
          </a:prstGeom>
          <a:noFill/>
        </p:spPr>
        <p:txBody>
          <a:bodyPr wrap="square">
            <a:spAutoFit/>
          </a:bodyPr>
          <a:lstStyle/>
          <a:p>
            <a:pPr algn="l"/>
            <a:r>
              <a:rPr sz="1200" b="1" i="0">
                <a:solidFill>
                  <a:srgbClr val="E6E5DE"/>
                </a:solidFill>
                <a:latin typeface="Arial"/>
              </a:rPr>
              <a:t>Six product categories and one question: which ones win?</a:t>
            </a:r>
          </a:p>
        </p:txBody>
      </p:sp>
      <p:sp>
        <p:nvSpPr>
          <p:cNvPr id="14" name="TextBox 13"/>
          <p:cNvSpPr txBox="1"/>
          <p:nvPr/>
        </p:nvSpPr>
        <p:spPr>
          <a:xfrm>
            <a:off x="4297680" y="2441448"/>
            <a:ext cx="3758184" cy="3108960"/>
          </a:xfrm>
          <a:prstGeom prst="rect">
            <a:avLst/>
          </a:prstGeom>
          <a:noFill/>
        </p:spPr>
        <p:txBody>
          <a:bodyPr wrap="square">
            <a:spAutoFit/>
          </a:bodyPr>
          <a:lstStyle/>
          <a:p>
            <a:pPr algn="l"/>
            <a:r>
              <a:rPr sz="1000" b="0" i="0">
                <a:solidFill>
                  <a:srgbClr val="E6E5DE"/>
                </a:solidFill>
                <a:latin typeface="Arial"/>
              </a:rPr>
              <a:t>Paire launched in 2020 with a single product and now sells socks, underwear, bras, tops, leggings, activewear, and loungewear. Selling 20,000 units of underwear each month signals genuine category scale in at least one line. In DTC apparel brands at this stage, a small share of product categories typically drives the majority of gross margin while others generate volume at low or zero contribution. Identifying which categories to scale, which to reprice, and which are diluting return on working capital is the foundation for every inventory, marketing, and expansion decision the business faces now. The Shark Tank capital deserves to flow to the proven winners.</a:t>
            </a:r>
          </a:p>
        </p:txBody>
      </p:sp>
      <p:sp>
        <p:nvSpPr>
          <p:cNvPr id="15" name="Rectangle 14"/>
          <p:cNvSpPr/>
          <p:nvPr/>
        </p:nvSpPr>
        <p:spPr>
          <a:xfrm>
            <a:off x="8156448" y="868680"/>
            <a:ext cx="4032504" cy="489204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1051560"/>
            <a:ext cx="3758184" cy="594360"/>
          </a:xfrm>
          <a:prstGeom prst="rect">
            <a:avLst/>
          </a:prstGeom>
          <a:noFill/>
        </p:spPr>
        <p:txBody>
          <a:bodyPr wrap="square">
            <a:spAutoFit/>
          </a:bodyPr>
          <a:lstStyle/>
          <a:p>
            <a:pPr algn="l"/>
            <a:r>
              <a:rPr sz="4000" b="1" i="0">
                <a:solidFill>
                  <a:srgbClr val="000000"/>
                </a:solidFill>
                <a:latin typeface="Georgia"/>
              </a:rPr>
              <a:t>03</a:t>
            </a:r>
          </a:p>
        </p:txBody>
      </p:sp>
      <p:sp>
        <p:nvSpPr>
          <p:cNvPr id="17" name="TextBox 16"/>
          <p:cNvSpPr txBox="1"/>
          <p:nvPr/>
        </p:nvSpPr>
        <p:spPr>
          <a:xfrm>
            <a:off x="8339328" y="1737360"/>
            <a:ext cx="3758184" cy="640080"/>
          </a:xfrm>
          <a:prstGeom prst="rect">
            <a:avLst/>
          </a:prstGeom>
          <a:noFill/>
        </p:spPr>
        <p:txBody>
          <a:bodyPr wrap="square">
            <a:spAutoFit/>
          </a:bodyPr>
          <a:lstStyle/>
          <a:p>
            <a:pPr algn="l"/>
            <a:r>
              <a:rPr sz="1200" b="1" i="0">
                <a:solidFill>
                  <a:srgbClr val="000000"/>
                </a:solidFill>
                <a:latin typeface="Arial"/>
              </a:rPr>
              <a:t>Investor backed business needs a margin map, not just a revenue line</a:t>
            </a:r>
          </a:p>
        </p:txBody>
      </p:sp>
      <p:sp>
        <p:nvSpPr>
          <p:cNvPr id="18" name="TextBox 17"/>
          <p:cNvSpPr txBox="1"/>
          <p:nvPr/>
        </p:nvSpPr>
        <p:spPr>
          <a:xfrm>
            <a:off x="8339328" y="2441448"/>
            <a:ext cx="3758184" cy="3108960"/>
          </a:xfrm>
          <a:prstGeom prst="rect">
            <a:avLst/>
          </a:prstGeom>
          <a:noFill/>
        </p:spPr>
        <p:txBody>
          <a:bodyPr wrap="square">
            <a:spAutoFit/>
          </a:bodyPr>
          <a:lstStyle/>
          <a:p>
            <a:pPr algn="l"/>
            <a:r>
              <a:rPr sz="1000" b="0" i="0">
                <a:solidFill>
                  <a:srgbClr val="000000"/>
                </a:solidFill>
                <a:latin typeface="Arial"/>
              </a:rPr>
              <a:t>Raising AUD 500,000 for 4 percent equity on Shark Tank Australia created an implied valuation of AUD 12.5 million and attached investor expectations. The sharks described it as the most successful company to appear on Shark Tank Australia. CEO Nathan Yun has publicly stated the next chapter is profitability over hyper growth. That pivot, stated publicly, requires a financial architecture that can answer: which products carry the business, which channels deliver real return, and where does growth capital generate the highest ROI. A product and channel profitability map is the prerequisite for that conversation, and for the next investor discussion.</a:t>
            </a:r>
          </a:p>
        </p:txBody>
      </p:sp>
      <p:sp>
        <p:nvSpPr>
          <p:cNvPr id="19" name="Rectangle 18"/>
          <p:cNvSpPr/>
          <p:nvPr/>
        </p:nvSpPr>
        <p:spPr>
          <a:xfrm>
            <a:off x="73152" y="5815584"/>
            <a:ext cx="12118543" cy="13716"/>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 y="5888736"/>
            <a:ext cx="11789359" cy="457200"/>
          </a:xfrm>
          <a:prstGeom prst="rect">
            <a:avLst/>
          </a:prstGeom>
          <a:noFill/>
        </p:spPr>
        <p:txBody>
          <a:bodyPr wrap="square">
            <a:spAutoFit/>
          </a:bodyPr>
          <a:lstStyle/>
          <a:p>
            <a:pPr algn="l"/>
            <a:r>
              <a:rPr sz="1000" b="0" i="1">
                <a:solidFill>
                  <a:srgbClr val="444444"/>
                </a:solidFill>
                <a:latin typeface="Arial"/>
              </a:rPr>
              <a:t>These are observations offered in good faith. Paire has built something genuinely impressive. The question is simply whether the financial architecture now matches the ambition.</a:t>
            </a:r>
          </a:p>
        </p:txBody>
      </p:sp>
      <p:sp>
        <p:nvSpPr>
          <p:cNvPr id="21" name="Rectangle 20"/>
          <p:cNvSpPr/>
          <p:nvPr/>
        </p:nvSpPr>
        <p:spPr>
          <a:xfrm>
            <a:off x="73152" y="6446520"/>
            <a:ext cx="12118543" cy="13716"/>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6510528"/>
            <a:ext cx="8229600" cy="274320"/>
          </a:xfrm>
          <a:prstGeom prst="rect">
            <a:avLst/>
          </a:prstGeom>
          <a:noFill/>
        </p:spPr>
        <p:txBody>
          <a:bodyPr wrap="square">
            <a:spAutoFit/>
          </a:bodyPr>
          <a:lstStyle/>
          <a:p>
            <a:pPr algn="l"/>
            <a:r>
              <a:rPr sz="800" b="0" i="0">
                <a:solidFill>
                  <a:srgbClr val="444444"/>
                </a:solidFill>
                <a:latin typeface="Arial"/>
              </a:rPr>
              <a:t>Prepared by Nitesh Roopa CA, Managing Partner, ProfitPulse, Profit-Pulse.com.au</a:t>
            </a:r>
          </a:p>
        </p:txBody>
      </p:sp>
      <p:sp>
        <p:nvSpPr>
          <p:cNvPr id="23" name="TextBox 22"/>
          <p:cNvSpPr txBox="1"/>
          <p:nvPr/>
        </p:nvSpPr>
        <p:spPr>
          <a:xfrm>
            <a:off x="201168" y="6510528"/>
            <a:ext cx="11789359" cy="274320"/>
          </a:xfrm>
          <a:prstGeom prst="rect">
            <a:avLst/>
          </a:prstGeom>
          <a:noFill/>
        </p:spPr>
        <p:txBody>
          <a:bodyPr wrap="square">
            <a:spAutoFit/>
          </a:bodyPr>
          <a:lstStyle/>
          <a:p>
            <a:pPr algn="r"/>
            <a:r>
              <a:rPr sz="800" b="0" i="0">
                <a:solidFill>
                  <a:srgbClr val="444444"/>
                </a:solidFill>
                <a:latin typeface="Arial"/>
              </a:rPr>
              <a:t>10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8686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201168"/>
            <a:ext cx="7315200" cy="457200"/>
          </a:xfrm>
          <a:prstGeom prst="rect">
            <a:avLst/>
          </a:prstGeom>
          <a:noFill/>
        </p:spPr>
        <p:txBody>
          <a:bodyPr wrap="square">
            <a:spAutoFit/>
          </a:bodyPr>
          <a:lstStyle/>
          <a:p>
            <a:pPr algn="l"/>
            <a:r>
              <a:rPr sz="1100" b="1" i="0">
                <a:solidFill>
                  <a:srgbClr val="E6E5DE"/>
                </a:solidFill>
                <a:latin typeface="Arial"/>
              </a:rPr>
              <a:t>THE RECOMMENDATION</a:t>
            </a:r>
          </a:p>
        </p:txBody>
      </p:sp>
      <p:sp>
        <p:nvSpPr>
          <p:cNvPr id="5" name="TextBox 4"/>
          <p:cNvSpPr txBox="1"/>
          <p:nvPr/>
        </p:nvSpPr>
        <p:spPr>
          <a:xfrm>
            <a:off x="201168" y="201168"/>
            <a:ext cx="11789359" cy="457200"/>
          </a:xfrm>
          <a:prstGeom prst="rect">
            <a:avLst/>
          </a:prstGeom>
          <a:noFill/>
        </p:spPr>
        <p:txBody>
          <a:bodyPr wrap="square">
            <a:spAutoFit/>
          </a:bodyPr>
          <a:lstStyle/>
          <a:p>
            <a:pPr algn="r"/>
            <a:r>
              <a:rPr sz="1100" b="1" i="0">
                <a:solidFill>
                  <a:srgbClr val="01A296"/>
                </a:solidFill>
                <a:latin typeface="Arial"/>
              </a:rPr>
              <a:t>Paire</a:t>
            </a:r>
          </a:p>
        </p:txBody>
      </p:sp>
      <p:sp>
        <p:nvSpPr>
          <p:cNvPr id="6" name="Rectangle 5"/>
          <p:cNvSpPr/>
          <p:nvPr/>
        </p:nvSpPr>
        <p:spPr>
          <a:xfrm>
            <a:off x="7498079" y="960120"/>
            <a:ext cx="10972" cy="534924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1005840"/>
            <a:ext cx="7132320" cy="594360"/>
          </a:xfrm>
          <a:prstGeom prst="rect">
            <a:avLst/>
          </a:prstGeom>
          <a:noFill/>
        </p:spPr>
        <p:txBody>
          <a:bodyPr wrap="square">
            <a:spAutoFit/>
          </a:bodyPr>
          <a:lstStyle/>
          <a:p>
            <a:pPr algn="l"/>
            <a:r>
              <a:rPr sz="2200" b="1" i="0">
                <a:solidFill>
                  <a:srgbClr val="000000"/>
                </a:solidFill>
                <a:latin typeface="Georgia"/>
              </a:rPr>
              <a:t>Product and Service Line Profitability</a:t>
            </a:r>
          </a:p>
        </p:txBody>
      </p:sp>
      <p:sp>
        <p:nvSpPr>
          <p:cNvPr id="8" name="TextBox 7"/>
          <p:cNvSpPr txBox="1"/>
          <p:nvPr/>
        </p:nvSpPr>
        <p:spPr>
          <a:xfrm>
            <a:off x="201168" y="1645920"/>
            <a:ext cx="7132320" cy="320040"/>
          </a:xfrm>
          <a:prstGeom prst="rect">
            <a:avLst/>
          </a:prstGeom>
          <a:noFill/>
        </p:spPr>
        <p:txBody>
          <a:bodyPr wrap="square">
            <a:spAutoFit/>
          </a:bodyPr>
          <a:lstStyle/>
          <a:p>
            <a:pPr algn="l"/>
            <a:r>
              <a:rPr sz="1400" b="1" i="0">
                <a:solidFill>
                  <a:srgbClr val="01A296"/>
                </a:solidFill>
                <a:latin typeface="Arial"/>
              </a:rPr>
              <a:t>$3,950 one off</a:t>
            </a:r>
          </a:p>
        </p:txBody>
      </p:sp>
      <p:sp>
        <p:nvSpPr>
          <p:cNvPr id="9" name="TextBox 8"/>
          <p:cNvSpPr txBox="1"/>
          <p:nvPr/>
        </p:nvSpPr>
        <p:spPr>
          <a:xfrm>
            <a:off x="201168" y="2011680"/>
            <a:ext cx="7132320" cy="731520"/>
          </a:xfrm>
          <a:prstGeom prst="rect">
            <a:avLst/>
          </a:prstGeom>
          <a:noFill/>
        </p:spPr>
        <p:txBody>
          <a:bodyPr wrap="square">
            <a:spAutoFit/>
          </a:bodyPr>
          <a:lstStyle/>
          <a:p>
            <a:pPr algn="l"/>
            <a:r>
              <a:rPr sz="1100" b="0" i="0">
                <a:solidFill>
                  <a:srgbClr val="000000"/>
                </a:solidFill>
                <a:latin typeface="Arial"/>
              </a:rPr>
              <a:t>A three week project ranking every product line and revenue channel by gross margin, contribution margin, and operational drag, with a kill, fix, or scale decision on each. For Paire: maps six product categories across four channels and shows where the Shark Tank capital generates the highest return.</a:t>
            </a:r>
          </a:p>
        </p:txBody>
      </p:sp>
      <p:sp>
        <p:nvSpPr>
          <p:cNvPr id="10" name="Rectangle 9"/>
          <p:cNvSpPr/>
          <p:nvPr/>
        </p:nvSpPr>
        <p:spPr>
          <a:xfrm>
            <a:off x="201168" y="2834640"/>
            <a:ext cx="7040880" cy="1097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2926080"/>
            <a:ext cx="2743200" cy="274320"/>
          </a:xfrm>
          <a:prstGeom prst="rect">
            <a:avLst/>
          </a:prstGeom>
          <a:noFill/>
        </p:spPr>
        <p:txBody>
          <a:bodyPr wrap="square">
            <a:spAutoFit/>
          </a:bodyPr>
          <a:lstStyle/>
          <a:p>
            <a:pPr algn="l"/>
            <a:r>
              <a:rPr sz="1000" b="1" i="0">
                <a:solidFill>
                  <a:srgbClr val="01A296"/>
                </a:solidFill>
                <a:latin typeface="Arial"/>
              </a:rPr>
              <a:t>STEP ONE</a:t>
            </a:r>
          </a:p>
        </p:txBody>
      </p:sp>
      <p:sp>
        <p:nvSpPr>
          <p:cNvPr id="12" name="TextBox 11"/>
          <p:cNvSpPr txBox="1"/>
          <p:nvPr/>
        </p:nvSpPr>
        <p:spPr>
          <a:xfrm>
            <a:off x="201168" y="3218688"/>
            <a:ext cx="7132320" cy="320040"/>
          </a:xfrm>
          <a:prstGeom prst="rect">
            <a:avLst/>
          </a:prstGeom>
          <a:noFill/>
        </p:spPr>
        <p:txBody>
          <a:bodyPr wrap="square">
            <a:spAutoFit/>
          </a:bodyPr>
          <a:lstStyle/>
          <a:p>
            <a:pPr algn="l"/>
            <a:r>
              <a:rPr sz="1300" b="1" i="0">
                <a:solidFill>
                  <a:srgbClr val="000000"/>
                </a:solidFill>
                <a:latin typeface="Arial"/>
              </a:rPr>
              <a:t>Answer a few quick questions</a:t>
            </a:r>
          </a:p>
        </p:txBody>
      </p:sp>
      <p:sp>
        <p:nvSpPr>
          <p:cNvPr id="13" name="TextBox 12"/>
          <p:cNvSpPr txBox="1"/>
          <p:nvPr/>
        </p:nvSpPr>
        <p:spPr>
          <a:xfrm>
            <a:off x="201168" y="3566160"/>
            <a:ext cx="7132320" cy="274320"/>
          </a:xfrm>
          <a:prstGeom prst="rect">
            <a:avLst/>
          </a:prstGeom>
          <a:noFill/>
        </p:spPr>
        <p:txBody>
          <a:bodyPr wrap="square">
            <a:spAutoFit/>
          </a:bodyPr>
          <a:lstStyle/>
          <a:p>
            <a:pPr algn="l"/>
            <a:r>
              <a:rPr sz="1100" b="0" i="0">
                <a:solidFill>
                  <a:srgbClr val="444444"/>
                </a:solidFill>
                <a:latin typeface="Arial"/>
              </a:rPr>
              <a:t>See the solutions matched to your size and industry</a:t>
            </a:r>
          </a:p>
        </p:txBody>
      </p:sp>
      <p:sp>
        <p:nvSpPr>
          <p:cNvPr id="14" name="TextBox 13"/>
          <p:cNvSpPr txBox="1"/>
          <p:nvPr/>
        </p:nvSpPr>
        <p:spPr>
          <a:xfrm>
            <a:off x="201168" y="3867912"/>
            <a:ext cx="7132320" cy="320040"/>
          </a:xfrm>
          <a:prstGeom prst="rect">
            <a:avLst/>
          </a:prstGeom>
          <a:noFill/>
        </p:spPr>
        <p:txBody>
          <a:bodyPr wrap="square">
            <a:spAutoFit/>
          </a:bodyPr>
          <a:lstStyle/>
          <a:p>
            <a:pPr algn="l"/>
            <a:r>
              <a:rPr sz="1200" b="0">
                <a:solidFill>
                  <a:srgbClr val="01A296"/>
                </a:solidFill>
                <a:latin typeface="Arial"/>
                <a:hlinkClick r:id="rId2"/>
              </a:rPr>
              <a:t>profit-pulse.com.au/full-suite-of-products</a:t>
            </a:r>
          </a:p>
        </p:txBody>
      </p:sp>
      <p:sp>
        <p:nvSpPr>
          <p:cNvPr id="15" name="Rectangle 14"/>
          <p:cNvSpPr/>
          <p:nvPr/>
        </p:nvSpPr>
        <p:spPr>
          <a:xfrm>
            <a:off x="201168" y="4261104"/>
            <a:ext cx="7040880" cy="10972"/>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1168" y="4343400"/>
            <a:ext cx="7132320" cy="347472"/>
          </a:xfrm>
          <a:prstGeom prst="rect">
            <a:avLst/>
          </a:prstGeom>
          <a:noFill/>
        </p:spPr>
        <p:txBody>
          <a:bodyPr wrap="square">
            <a:spAutoFit/>
          </a:bodyPr>
          <a:lstStyle/>
          <a:p>
            <a:pPr algn="l"/>
            <a:r>
              <a:rPr sz="1200" b="1">
                <a:solidFill>
                  <a:srgbClr val="F6A102"/>
                </a:solidFill>
                <a:latin typeface="Arial"/>
                <a:hlinkClick r:id="rId3"/>
              </a:rPr>
              <a:t>Purchase the suggested product now to get started</a:t>
            </a:r>
          </a:p>
        </p:txBody>
      </p:sp>
      <p:sp>
        <p:nvSpPr>
          <p:cNvPr id="17" name="Rectangle 16"/>
          <p:cNvSpPr/>
          <p:nvPr/>
        </p:nvSpPr>
        <p:spPr>
          <a:xfrm>
            <a:off x="201168" y="4800600"/>
            <a:ext cx="7040880" cy="10972"/>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4892040"/>
            <a:ext cx="7132320" cy="274320"/>
          </a:xfrm>
          <a:prstGeom prst="rect">
            <a:avLst/>
          </a:prstGeom>
          <a:noFill/>
        </p:spPr>
        <p:txBody>
          <a:bodyPr wrap="square">
            <a:spAutoFit/>
          </a:bodyPr>
          <a:lstStyle/>
          <a:p>
            <a:pPr algn="l"/>
            <a:r>
              <a:rPr sz="1100" b="0" i="0">
                <a:solidFill>
                  <a:srgbClr val="444444"/>
                </a:solidFill>
                <a:latin typeface="Arial"/>
              </a:rPr>
              <a:t>Prefer a conversation first?</a:t>
            </a:r>
          </a:p>
        </p:txBody>
      </p:sp>
      <p:sp>
        <p:nvSpPr>
          <p:cNvPr id="19" name="TextBox 18"/>
          <p:cNvSpPr txBox="1"/>
          <p:nvPr/>
        </p:nvSpPr>
        <p:spPr>
          <a:xfrm>
            <a:off x="201168" y="5184648"/>
            <a:ext cx="7132320" cy="320040"/>
          </a:xfrm>
          <a:prstGeom prst="rect">
            <a:avLst/>
          </a:prstGeom>
          <a:noFill/>
        </p:spPr>
        <p:txBody>
          <a:bodyPr wrap="square">
            <a:spAutoFit/>
          </a:bodyPr>
          <a:lstStyle/>
          <a:p>
            <a:pPr algn="l"/>
            <a:r>
              <a:rPr sz="1200" b="1">
                <a:solidFill>
                  <a:srgbClr val="01A296"/>
                </a:solidFill>
                <a:latin typeface="Arial"/>
                <a:hlinkClick r:id="rId4"/>
              </a:rPr>
              <a:t>Book a complimentary discovery call</a:t>
            </a:r>
          </a:p>
        </p:txBody>
      </p:sp>
      <p:sp>
        <p:nvSpPr>
          <p:cNvPr id="20" name="TextBox 19"/>
          <p:cNvSpPr txBox="1"/>
          <p:nvPr/>
        </p:nvSpPr>
        <p:spPr>
          <a:xfrm>
            <a:off x="201168" y="5650992"/>
            <a:ext cx="7132320" cy="274320"/>
          </a:xfrm>
          <a:prstGeom prst="rect">
            <a:avLst/>
          </a:prstGeom>
          <a:noFill/>
        </p:spPr>
        <p:txBody>
          <a:bodyPr wrap="square">
            <a:spAutoFit/>
          </a:bodyPr>
          <a:lstStyle/>
          <a:p>
            <a:pPr algn="l"/>
            <a:r>
              <a:rPr sz="900" b="0" i="0">
                <a:solidFill>
                  <a:srgbClr val="888888"/>
                </a:solidFill>
                <a:latin typeface="Arial"/>
              </a:rPr>
              <a:t>Supporting services: C2 Working Capital Unlock  |  D2 Pricing Reset</a:t>
            </a:r>
          </a:p>
        </p:txBody>
      </p:sp>
      <p:sp>
        <p:nvSpPr>
          <p:cNvPr id="21" name="TextBox 20"/>
          <p:cNvSpPr txBox="1"/>
          <p:nvPr/>
        </p:nvSpPr>
        <p:spPr>
          <a:xfrm>
            <a:off x="7726679" y="1005840"/>
            <a:ext cx="4282136" cy="502920"/>
          </a:xfrm>
          <a:prstGeom prst="rect">
            <a:avLst/>
          </a:prstGeom>
          <a:noFill/>
        </p:spPr>
        <p:txBody>
          <a:bodyPr wrap="square">
            <a:spAutoFit/>
          </a:bodyPr>
          <a:lstStyle/>
          <a:p>
            <a:pPr algn="l"/>
            <a:r>
              <a:rPr sz="2000" b="1" i="0">
                <a:solidFill>
                  <a:srgbClr val="000000"/>
                </a:solidFill>
                <a:latin typeface="Georgia"/>
              </a:rPr>
              <a:t>Nitesh Roopa</a:t>
            </a:r>
          </a:p>
        </p:txBody>
      </p:sp>
      <p:sp>
        <p:nvSpPr>
          <p:cNvPr id="22" name="TextBox 21"/>
          <p:cNvSpPr txBox="1"/>
          <p:nvPr/>
        </p:nvSpPr>
        <p:spPr>
          <a:xfrm>
            <a:off x="7726679" y="1536192"/>
            <a:ext cx="4282136" cy="274320"/>
          </a:xfrm>
          <a:prstGeom prst="rect">
            <a:avLst/>
          </a:prstGeom>
          <a:noFill/>
        </p:spPr>
        <p:txBody>
          <a:bodyPr wrap="square">
            <a:spAutoFit/>
          </a:bodyPr>
          <a:lstStyle/>
          <a:p>
            <a:pPr algn="l"/>
            <a:r>
              <a:rPr sz="1200" b="0" i="0">
                <a:solidFill>
                  <a:srgbClr val="444444"/>
                </a:solidFill>
                <a:latin typeface="Arial"/>
              </a:rPr>
              <a:t>CA, Managing Partner</a:t>
            </a:r>
          </a:p>
        </p:txBody>
      </p:sp>
      <p:sp>
        <p:nvSpPr>
          <p:cNvPr id="23" name="TextBox 22"/>
          <p:cNvSpPr txBox="1"/>
          <p:nvPr/>
        </p:nvSpPr>
        <p:spPr>
          <a:xfrm>
            <a:off x="7726679" y="1828800"/>
            <a:ext cx="4282136" cy="365760"/>
          </a:xfrm>
          <a:prstGeom prst="rect">
            <a:avLst/>
          </a:prstGeom>
          <a:noFill/>
        </p:spPr>
        <p:txBody>
          <a:bodyPr wrap="square">
            <a:spAutoFit/>
          </a:bodyPr>
          <a:lstStyle/>
          <a:p>
            <a:pPr algn="l"/>
            <a:r>
              <a:rPr sz="1600" b="1" i="0">
                <a:solidFill>
                  <a:srgbClr val="01A296"/>
                </a:solidFill>
                <a:latin typeface="Arial"/>
              </a:rPr>
              <a:t>ProfitPulse</a:t>
            </a:r>
          </a:p>
        </p:txBody>
      </p:sp>
      <p:sp>
        <p:nvSpPr>
          <p:cNvPr id="24" name="Rectangle 23"/>
          <p:cNvSpPr/>
          <p:nvPr/>
        </p:nvSpPr>
        <p:spPr>
          <a:xfrm>
            <a:off x="7726679" y="2240280"/>
            <a:ext cx="4099256" cy="1097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26679" y="2468880"/>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91271" y="2377440"/>
            <a:ext cx="4099256" cy="320040"/>
          </a:xfrm>
          <a:prstGeom prst="rect">
            <a:avLst/>
          </a:prstGeom>
          <a:noFill/>
        </p:spPr>
        <p:txBody>
          <a:bodyPr wrap="square">
            <a:spAutoFit/>
          </a:bodyPr>
          <a:lstStyle/>
          <a:p>
            <a:pPr algn="l"/>
            <a:r>
              <a:rPr sz="1000" b="0" i="0">
                <a:solidFill>
                  <a:srgbClr val="000000"/>
                </a:solidFill>
                <a:latin typeface="Arial"/>
              </a:rPr>
              <a:t>16 years across 4 countries</a:t>
            </a:r>
          </a:p>
        </p:txBody>
      </p:sp>
      <p:sp>
        <p:nvSpPr>
          <p:cNvPr id="27" name="Rectangle 26"/>
          <p:cNvSpPr/>
          <p:nvPr/>
        </p:nvSpPr>
        <p:spPr>
          <a:xfrm>
            <a:off x="7726679" y="2816352"/>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91271" y="2724912"/>
            <a:ext cx="4099256" cy="320040"/>
          </a:xfrm>
          <a:prstGeom prst="rect">
            <a:avLst/>
          </a:prstGeom>
          <a:noFill/>
        </p:spPr>
        <p:txBody>
          <a:bodyPr wrap="square">
            <a:spAutoFit/>
          </a:bodyPr>
          <a:lstStyle/>
          <a:p>
            <a:pPr algn="l"/>
            <a:r>
              <a:rPr sz="1000" b="0" i="0">
                <a:solidFill>
                  <a:srgbClr val="000000"/>
                </a:solidFill>
                <a:latin typeface="Arial"/>
              </a:rPr>
              <a:t>52 deals executed and managed</a:t>
            </a:r>
          </a:p>
        </p:txBody>
      </p:sp>
      <p:sp>
        <p:nvSpPr>
          <p:cNvPr id="29" name="Rectangle 28"/>
          <p:cNvSpPr/>
          <p:nvPr/>
        </p:nvSpPr>
        <p:spPr>
          <a:xfrm>
            <a:off x="7726679" y="3163824"/>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91271" y="3072384"/>
            <a:ext cx="4099256" cy="320040"/>
          </a:xfrm>
          <a:prstGeom prst="rect">
            <a:avLst/>
          </a:prstGeom>
          <a:noFill/>
        </p:spPr>
        <p:txBody>
          <a:bodyPr wrap="square">
            <a:spAutoFit/>
          </a:bodyPr>
          <a:lstStyle/>
          <a:p>
            <a:pPr algn="l"/>
            <a:r>
              <a:rPr sz="1000" b="0" i="0">
                <a:solidFill>
                  <a:srgbClr val="000000"/>
                </a:solidFill>
                <a:latin typeface="Arial"/>
              </a:rPr>
              <a:t>Total GRBT project value: over AUD 10 billion</a:t>
            </a:r>
          </a:p>
        </p:txBody>
      </p:sp>
      <p:sp>
        <p:nvSpPr>
          <p:cNvPr id="31" name="Rectangle 30"/>
          <p:cNvSpPr/>
          <p:nvPr/>
        </p:nvSpPr>
        <p:spPr>
          <a:xfrm>
            <a:off x="7726679" y="3511296"/>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91271" y="3419856"/>
            <a:ext cx="4099256" cy="320040"/>
          </a:xfrm>
          <a:prstGeom prst="rect">
            <a:avLst/>
          </a:prstGeom>
          <a:noFill/>
        </p:spPr>
        <p:txBody>
          <a:bodyPr wrap="square">
            <a:spAutoFit/>
          </a:bodyPr>
          <a:lstStyle/>
          <a:p>
            <a:pPr algn="l"/>
            <a:r>
              <a:rPr sz="1000" b="0" i="0">
                <a:solidFill>
                  <a:srgbClr val="000000"/>
                </a:solidFill>
                <a:latin typeface="Arial"/>
              </a:rPr>
              <a:t>Largest single deal: USD 1.3 billion (Cahora Bassa)</a:t>
            </a:r>
          </a:p>
        </p:txBody>
      </p:sp>
      <p:sp>
        <p:nvSpPr>
          <p:cNvPr id="33" name="Rectangle 32"/>
          <p:cNvSpPr/>
          <p:nvPr/>
        </p:nvSpPr>
        <p:spPr>
          <a:xfrm>
            <a:off x="7726679" y="3840480"/>
            <a:ext cx="4099256" cy="10972"/>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26679" y="3995928"/>
            <a:ext cx="4282136" cy="274320"/>
          </a:xfrm>
          <a:prstGeom prst="rect">
            <a:avLst/>
          </a:prstGeom>
          <a:noFill/>
        </p:spPr>
        <p:txBody>
          <a:bodyPr wrap="square">
            <a:spAutoFit/>
          </a:bodyPr>
          <a:lstStyle/>
          <a:p>
            <a:pPr algn="l"/>
            <a:r>
              <a:rPr sz="1000" b="0" i="0">
                <a:solidFill>
                  <a:srgbClr val="000000"/>
                </a:solidFill>
                <a:latin typeface="Arial"/>
              </a:rPr>
              <a:t>Profit-Pulse.com.au</a:t>
            </a:r>
          </a:p>
        </p:txBody>
      </p:sp>
      <p:sp>
        <p:nvSpPr>
          <p:cNvPr id="35" name="TextBox 34"/>
          <p:cNvSpPr txBox="1"/>
          <p:nvPr/>
        </p:nvSpPr>
        <p:spPr>
          <a:xfrm>
            <a:off x="7726679" y="4297680"/>
            <a:ext cx="4282136" cy="274320"/>
          </a:xfrm>
          <a:prstGeom prst="rect">
            <a:avLst/>
          </a:prstGeom>
          <a:noFill/>
        </p:spPr>
        <p:txBody>
          <a:bodyPr wrap="square">
            <a:spAutoFit/>
          </a:bodyPr>
          <a:lstStyle/>
          <a:p>
            <a:pPr algn="l"/>
            <a:r>
              <a:rPr sz="1000" b="0" i="0">
                <a:solidFill>
                  <a:srgbClr val="01A296"/>
                </a:solidFill>
                <a:latin typeface="Arial"/>
              </a:rPr>
              <a:t>Nitesh@Profit-Pulse.com.au</a:t>
            </a:r>
          </a:p>
        </p:txBody>
      </p:sp>
      <p:sp>
        <p:nvSpPr>
          <p:cNvPr id="36" name="TextBox 35"/>
          <p:cNvSpPr txBox="1"/>
          <p:nvPr/>
        </p:nvSpPr>
        <p:spPr>
          <a:xfrm>
            <a:off x="7726679" y="4599432"/>
            <a:ext cx="4282136" cy="274320"/>
          </a:xfrm>
          <a:prstGeom prst="rect">
            <a:avLst/>
          </a:prstGeom>
          <a:noFill/>
        </p:spPr>
        <p:txBody>
          <a:bodyPr wrap="square">
            <a:spAutoFit/>
          </a:bodyPr>
          <a:lstStyle/>
          <a:p>
            <a:pPr algn="l"/>
            <a:r>
              <a:rPr sz="1000" b="0" i="0">
                <a:solidFill>
                  <a:srgbClr val="000000"/>
                </a:solidFill>
                <a:latin typeface="Arial"/>
              </a:rPr>
              <a:t>+61 411 876 267</a:t>
            </a:r>
          </a:p>
        </p:txBody>
      </p:sp>
      <p:sp>
        <p:nvSpPr>
          <p:cNvPr id="37" name="TextBox 36"/>
          <p:cNvSpPr txBox="1"/>
          <p:nvPr/>
        </p:nvSpPr>
        <p:spPr>
          <a:xfrm>
            <a:off x="7726679" y="4901184"/>
            <a:ext cx="4282136" cy="274320"/>
          </a:xfrm>
          <a:prstGeom prst="rect">
            <a:avLst/>
          </a:prstGeom>
          <a:noFill/>
        </p:spPr>
        <p:txBody>
          <a:bodyPr wrap="square">
            <a:spAutoFit/>
          </a:bodyPr>
          <a:lstStyle/>
          <a:p>
            <a:pPr algn="l"/>
            <a:r>
              <a:rPr sz="1000" b="0" i="0">
                <a:solidFill>
                  <a:srgbClr val="444444"/>
                </a:solidFill>
                <a:latin typeface="Arial"/>
              </a:rPr>
              <a:t>linkedin.com/in/nitesh-roopa-77594163</a:t>
            </a:r>
          </a:p>
        </p:txBody>
      </p:sp>
      <p:sp>
        <p:nvSpPr>
          <p:cNvPr id="38" name="Rectangle 37"/>
          <p:cNvSpPr/>
          <p:nvPr/>
        </p:nvSpPr>
        <p:spPr>
          <a:xfrm>
            <a:off x="73152" y="6446520"/>
            <a:ext cx="12118543" cy="13716"/>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1168" y="6510528"/>
            <a:ext cx="8229600" cy="274320"/>
          </a:xfrm>
          <a:prstGeom prst="rect">
            <a:avLst/>
          </a:prstGeom>
          <a:noFill/>
        </p:spPr>
        <p:txBody>
          <a:bodyPr wrap="square">
            <a:spAutoFit/>
          </a:bodyPr>
          <a:lstStyle/>
          <a:p>
            <a:pPr algn="l"/>
            <a:r>
              <a:rPr sz="800" b="0" i="0">
                <a:solidFill>
                  <a:srgbClr val="444444"/>
                </a:solidFill>
                <a:latin typeface="Arial"/>
              </a:rPr>
              <a:t>Prepared by Nitesh Roopa CA, Managing Partner, ProfitPulse, Profit-Pulse.com.au</a:t>
            </a:r>
          </a:p>
        </p:txBody>
      </p:sp>
      <p:sp>
        <p:nvSpPr>
          <p:cNvPr id="40" name="TextBox 39"/>
          <p:cNvSpPr txBox="1"/>
          <p:nvPr/>
        </p:nvSpPr>
        <p:spPr>
          <a:xfrm>
            <a:off x="201168" y="6510528"/>
            <a:ext cx="11789359" cy="274320"/>
          </a:xfrm>
          <a:prstGeom prst="rect">
            <a:avLst/>
          </a:prstGeom>
          <a:noFill/>
        </p:spPr>
        <p:txBody>
          <a:bodyPr wrap="square">
            <a:spAutoFit/>
          </a:bodyPr>
          <a:lstStyle/>
          <a:p>
            <a:pPr algn="r"/>
            <a:r>
              <a:rPr sz="800" b="0" i="0">
                <a:solidFill>
                  <a:srgbClr val="444444"/>
                </a:solidFill>
                <a:latin typeface="Arial"/>
              </a:rPr>
              <a:t>10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