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28EbJ2edi0LSbdugYT3ks1D"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04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7744" y="73152"/>
            <a:ext cx="6858000" cy="731520"/>
          </a:xfrm>
          <a:prstGeom prst="rect">
            <a:avLst/>
          </a:prstGeom>
          <a:noFill/>
        </p:spPr>
        <p:txBody>
          <a:bodyPr wrap="square">
            <a:spAutoFit/>
          </a:bodyPr>
          <a:lstStyle/>
          <a:p/>
          <a:p>
            <a:pPr algn="l"/>
            <a:r>
              <a:rPr b="1" i="0" sz="1100">
                <a:solidFill>
                  <a:srgbClr val="E6E5DE"/>
                </a:solidFill>
                <a:latin typeface="Calibri"/>
              </a:rPr>
              <a:t>COMMERCIAL INTELLIGENCE BRIEF</a:t>
            </a:r>
          </a:p>
        </p:txBody>
      </p:sp>
      <p:sp>
        <p:nvSpPr>
          <p:cNvPr id="5" name="TextBox 4"/>
          <p:cNvSpPr txBox="1"/>
          <p:nvPr/>
        </p:nvSpPr>
        <p:spPr>
          <a:xfrm>
            <a:off x="9628632" y="73152"/>
            <a:ext cx="2377440" cy="731520"/>
          </a:xfrm>
          <a:prstGeom prst="rect">
            <a:avLst/>
          </a:prstGeom>
          <a:noFill/>
        </p:spPr>
        <p:txBody>
          <a:bodyPr wrap="square">
            <a:spAutoFit/>
          </a:bodyPr>
          <a:lstStyle/>
          <a:p/>
          <a:p>
            <a:pPr algn="r"/>
            <a:r>
              <a:rPr b="1" i="0" sz="1300">
                <a:solidFill>
                  <a:srgbClr val="F8C806"/>
                </a:solidFill>
                <a:latin typeface="Georgia"/>
              </a:rPr>
              <a:t>PROFITPULSE</a:t>
            </a:r>
          </a:p>
        </p:txBody>
      </p:sp>
      <p:sp>
        <p:nvSpPr>
          <p:cNvPr id="6" name="TextBox 5"/>
          <p:cNvSpPr txBox="1"/>
          <p:nvPr/>
        </p:nvSpPr>
        <p:spPr>
          <a:xfrm>
            <a:off x="237744" y="841248"/>
            <a:ext cx="8686800" cy="658368"/>
          </a:xfrm>
          <a:prstGeom prst="rect">
            <a:avLst/>
          </a:prstGeom>
          <a:noFill/>
        </p:spPr>
        <p:txBody>
          <a:bodyPr wrap="square">
            <a:spAutoFit/>
          </a:bodyPr>
          <a:lstStyle/>
          <a:p/>
          <a:p>
            <a:pPr algn="l"/>
            <a:r>
              <a:rPr b="1" i="0" sz="4200">
                <a:solidFill>
                  <a:srgbClr val="000000"/>
                </a:solidFill>
                <a:latin typeface="Georgia"/>
              </a:rPr>
              <a:t>National Media</a:t>
            </a:r>
          </a:p>
        </p:txBody>
      </p:sp>
      <p:sp>
        <p:nvSpPr>
          <p:cNvPr id="7" name="TextBox 6"/>
          <p:cNvSpPr txBox="1"/>
          <p:nvPr/>
        </p:nvSpPr>
        <p:spPr>
          <a:xfrm>
            <a:off x="237744" y="1527048"/>
            <a:ext cx="10058400" cy="292608"/>
          </a:xfrm>
          <a:prstGeom prst="rect">
            <a:avLst/>
          </a:prstGeom>
          <a:noFill/>
        </p:spPr>
        <p:txBody>
          <a:bodyPr wrap="square">
            <a:spAutoFit/>
          </a:bodyPr>
          <a:lstStyle/>
          <a:p/>
          <a:p>
            <a:pPr algn="l"/>
            <a:r>
              <a:rPr b="0" i="0" sz="1100">
                <a:solidFill>
                  <a:srgbClr val="01A296"/>
                </a:solidFill>
                <a:latin typeface="Calibri"/>
              </a:rPr>
              <a:t>B2B exhibition and event producer  |  Bundall, Gold Coast QLD</a:t>
            </a:r>
          </a:p>
        </p:txBody>
      </p:sp>
      <p:sp>
        <p:nvSpPr>
          <p:cNvPr id="8" name="Rectangle 7"/>
          <p:cNvSpPr/>
          <p:nvPr/>
        </p:nvSpPr>
        <p:spPr>
          <a:xfrm>
            <a:off x="237744" y="1892807"/>
            <a:ext cx="191566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37744" y="1892807"/>
            <a:ext cx="191566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984248"/>
            <a:ext cx="1842516" cy="530352"/>
          </a:xfrm>
          <a:prstGeom prst="rect">
            <a:avLst/>
          </a:prstGeom>
          <a:noFill/>
        </p:spPr>
        <p:txBody>
          <a:bodyPr wrap="square">
            <a:spAutoFit/>
          </a:bodyPr>
          <a:lstStyle/>
          <a:p/>
          <a:p>
            <a:pPr algn="ctr"/>
            <a:r>
              <a:rPr b="1" i="0" sz="2600">
                <a:solidFill>
                  <a:srgbClr val="FFFFFF"/>
                </a:solidFill>
                <a:latin typeface="Georgia"/>
              </a:rPr>
              <a:t>$18.4M</a:t>
            </a:r>
          </a:p>
        </p:txBody>
      </p:sp>
      <p:sp>
        <p:nvSpPr>
          <p:cNvPr id="11" name="TextBox 10"/>
          <p:cNvSpPr txBox="1"/>
          <p:nvPr/>
        </p:nvSpPr>
        <p:spPr>
          <a:xfrm>
            <a:off x="274320" y="2551176"/>
            <a:ext cx="1842516" cy="402336"/>
          </a:xfrm>
          <a:prstGeom prst="rect">
            <a:avLst/>
          </a:prstGeom>
          <a:noFill/>
        </p:spPr>
        <p:txBody>
          <a:bodyPr wrap="square">
            <a:spAutoFit/>
          </a:bodyPr>
          <a:lstStyle/>
          <a:p/>
          <a:p>
            <a:pPr algn="ctr"/>
            <a:r>
              <a:rPr b="0" i="0" sz="850">
                <a:solidFill>
                  <a:srgbClr val="E6E5DE"/>
                </a:solidFill>
                <a:latin typeface="Calibri"/>
              </a:rPr>
              <a:t>Revenue</a:t>
            </a:r>
          </a:p>
        </p:txBody>
      </p:sp>
      <p:sp>
        <p:nvSpPr>
          <p:cNvPr id="12" name="TextBox 11"/>
          <p:cNvSpPr txBox="1"/>
          <p:nvPr/>
        </p:nvSpPr>
        <p:spPr>
          <a:xfrm>
            <a:off x="274320" y="2962656"/>
            <a:ext cx="1842516" cy="219456"/>
          </a:xfrm>
          <a:prstGeom prst="rect">
            <a:avLst/>
          </a:prstGeom>
          <a:noFill/>
        </p:spPr>
        <p:txBody>
          <a:bodyPr wrap="square">
            <a:spAutoFit/>
          </a:bodyPr>
          <a:lstStyle/>
          <a:p/>
          <a:p>
            <a:pPr algn="ctr"/>
            <a:r>
              <a:rPr b="0" i="0" sz="650">
                <a:solidFill>
                  <a:srgbClr val="E6E5DE"/>
                </a:solidFill>
                <a:latin typeface="Calibri"/>
              </a:rPr>
              <a:t>Smart50 Awards, Nov 2025</a:t>
            </a:r>
          </a:p>
        </p:txBody>
      </p:sp>
      <p:sp>
        <p:nvSpPr>
          <p:cNvPr id="13" name="Rectangle 12"/>
          <p:cNvSpPr/>
          <p:nvPr/>
        </p:nvSpPr>
        <p:spPr>
          <a:xfrm>
            <a:off x="2226564" y="1892807"/>
            <a:ext cx="191566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26564" y="1892807"/>
            <a:ext cx="191566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63140" y="1984248"/>
            <a:ext cx="1842516" cy="530352"/>
          </a:xfrm>
          <a:prstGeom prst="rect">
            <a:avLst/>
          </a:prstGeom>
          <a:noFill/>
        </p:spPr>
        <p:txBody>
          <a:bodyPr wrap="square">
            <a:spAutoFit/>
          </a:bodyPr>
          <a:lstStyle/>
          <a:p/>
          <a:p>
            <a:pPr algn="ctr"/>
            <a:r>
              <a:rPr b="1" i="0" sz="2600">
                <a:solidFill>
                  <a:srgbClr val="FFFFFF"/>
                </a:solidFill>
                <a:latin typeface="Georgia"/>
              </a:rPr>
              <a:t>42%</a:t>
            </a:r>
          </a:p>
        </p:txBody>
      </p:sp>
      <p:sp>
        <p:nvSpPr>
          <p:cNvPr id="16" name="TextBox 15"/>
          <p:cNvSpPr txBox="1"/>
          <p:nvPr/>
        </p:nvSpPr>
        <p:spPr>
          <a:xfrm>
            <a:off x="2263140" y="2551176"/>
            <a:ext cx="1842516" cy="402336"/>
          </a:xfrm>
          <a:prstGeom prst="rect">
            <a:avLst/>
          </a:prstGeom>
          <a:noFill/>
        </p:spPr>
        <p:txBody>
          <a:bodyPr wrap="square">
            <a:spAutoFit/>
          </a:bodyPr>
          <a:lstStyle/>
          <a:p/>
          <a:p>
            <a:pPr algn="ctr"/>
            <a:r>
              <a:rPr b="0" i="0" sz="850">
                <a:solidFill>
                  <a:srgbClr val="E6E5DE"/>
                </a:solidFill>
                <a:latin typeface="Calibri"/>
              </a:rPr>
              <a:t>3yr avg growth</a:t>
            </a:r>
          </a:p>
        </p:txBody>
      </p:sp>
      <p:sp>
        <p:nvSpPr>
          <p:cNvPr id="17" name="TextBox 16"/>
          <p:cNvSpPr txBox="1"/>
          <p:nvPr/>
        </p:nvSpPr>
        <p:spPr>
          <a:xfrm>
            <a:off x="2263140" y="2962656"/>
            <a:ext cx="1842516" cy="219456"/>
          </a:xfrm>
          <a:prstGeom prst="rect">
            <a:avLst/>
          </a:prstGeom>
          <a:noFill/>
        </p:spPr>
        <p:txBody>
          <a:bodyPr wrap="square">
            <a:spAutoFit/>
          </a:bodyPr>
          <a:lstStyle/>
          <a:p/>
          <a:p>
            <a:pPr algn="ctr"/>
            <a:r>
              <a:rPr b="0" i="0" sz="650">
                <a:solidFill>
                  <a:srgbClr val="E6E5DE"/>
                </a:solidFill>
                <a:latin typeface="Calibri"/>
              </a:rPr>
              <a:t>Smart50 Awards, Nov 2025</a:t>
            </a:r>
          </a:p>
        </p:txBody>
      </p:sp>
      <p:sp>
        <p:nvSpPr>
          <p:cNvPr id="18" name="Rectangle 17"/>
          <p:cNvSpPr/>
          <p:nvPr/>
        </p:nvSpPr>
        <p:spPr>
          <a:xfrm>
            <a:off x="4215384" y="1892807"/>
            <a:ext cx="191566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15384" y="1892807"/>
            <a:ext cx="191566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51960" y="1984248"/>
            <a:ext cx="1842516" cy="530352"/>
          </a:xfrm>
          <a:prstGeom prst="rect">
            <a:avLst/>
          </a:prstGeom>
          <a:noFill/>
        </p:spPr>
        <p:txBody>
          <a:bodyPr wrap="square">
            <a:spAutoFit/>
          </a:bodyPr>
          <a:lstStyle/>
          <a:p/>
          <a:p>
            <a:pPr algn="ctr"/>
            <a:r>
              <a:rPr b="1" i="0" sz="2600">
                <a:solidFill>
                  <a:srgbClr val="FFFFFF"/>
                </a:solidFill>
                <a:latin typeface="Georgia"/>
              </a:rPr>
              <a:t>#28</a:t>
            </a:r>
          </a:p>
        </p:txBody>
      </p:sp>
      <p:sp>
        <p:nvSpPr>
          <p:cNvPr id="21" name="TextBox 20"/>
          <p:cNvSpPr txBox="1"/>
          <p:nvPr/>
        </p:nvSpPr>
        <p:spPr>
          <a:xfrm>
            <a:off x="4251960" y="2551176"/>
            <a:ext cx="1842516" cy="402336"/>
          </a:xfrm>
          <a:prstGeom prst="rect">
            <a:avLst/>
          </a:prstGeom>
          <a:noFill/>
        </p:spPr>
        <p:txBody>
          <a:bodyPr wrap="square">
            <a:spAutoFit/>
          </a:bodyPr>
          <a:lstStyle/>
          <a:p/>
          <a:p>
            <a:pPr algn="ctr"/>
            <a:r>
              <a:rPr b="0" i="0" sz="850">
                <a:solidFill>
                  <a:srgbClr val="E6E5DE"/>
                </a:solidFill>
                <a:latin typeface="Calibri"/>
              </a:rPr>
              <a:t>Smart50 rank 2025</a:t>
            </a:r>
          </a:p>
        </p:txBody>
      </p:sp>
      <p:sp>
        <p:nvSpPr>
          <p:cNvPr id="22" name="TextBox 21"/>
          <p:cNvSpPr txBox="1"/>
          <p:nvPr/>
        </p:nvSpPr>
        <p:spPr>
          <a:xfrm>
            <a:off x="4251960" y="2962656"/>
            <a:ext cx="1842516" cy="219456"/>
          </a:xfrm>
          <a:prstGeom prst="rect">
            <a:avLst/>
          </a:prstGeom>
          <a:noFill/>
        </p:spPr>
        <p:txBody>
          <a:bodyPr wrap="square">
            <a:spAutoFit/>
          </a:bodyPr>
          <a:lstStyle/>
          <a:p/>
          <a:p>
            <a:pPr algn="ctr"/>
            <a:r>
              <a:rPr b="0" i="0" sz="650">
                <a:solidFill>
                  <a:srgbClr val="E6E5DE"/>
                </a:solidFill>
                <a:latin typeface="Calibri"/>
              </a:rPr>
              <a:t>SmartCompany, Nov 2025</a:t>
            </a:r>
          </a:p>
        </p:txBody>
      </p:sp>
      <p:sp>
        <p:nvSpPr>
          <p:cNvPr id="23" name="Rectangle 22"/>
          <p:cNvSpPr/>
          <p:nvPr/>
        </p:nvSpPr>
        <p:spPr>
          <a:xfrm>
            <a:off x="6204204" y="1892807"/>
            <a:ext cx="191566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1892807"/>
            <a:ext cx="191566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1984248"/>
            <a:ext cx="1842516" cy="530352"/>
          </a:xfrm>
          <a:prstGeom prst="rect">
            <a:avLst/>
          </a:prstGeom>
          <a:noFill/>
        </p:spPr>
        <p:txBody>
          <a:bodyPr wrap="square">
            <a:spAutoFit/>
          </a:bodyPr>
          <a:lstStyle/>
          <a:p/>
          <a:p>
            <a:pPr algn="ctr"/>
            <a:r>
              <a:rPr b="1" i="0" sz="2600">
                <a:solidFill>
                  <a:srgbClr val="FFFFFF"/>
                </a:solidFill>
                <a:latin typeface="Georgia"/>
              </a:rPr>
              <a:t>48</a:t>
            </a:r>
          </a:p>
        </p:txBody>
      </p:sp>
      <p:sp>
        <p:nvSpPr>
          <p:cNvPr id="26" name="TextBox 25"/>
          <p:cNvSpPr txBox="1"/>
          <p:nvPr/>
        </p:nvSpPr>
        <p:spPr>
          <a:xfrm>
            <a:off x="6240780" y="2551176"/>
            <a:ext cx="1842516" cy="402336"/>
          </a:xfrm>
          <a:prstGeom prst="rect">
            <a:avLst/>
          </a:prstGeom>
          <a:noFill/>
        </p:spPr>
        <p:txBody>
          <a:bodyPr wrap="square">
            <a:spAutoFit/>
          </a:bodyPr>
          <a:lstStyle/>
          <a:p/>
          <a:p>
            <a:pPr algn="ctr"/>
            <a:r>
              <a:rPr b="0" i="0" sz="850">
                <a:solidFill>
                  <a:srgbClr val="E6E5DE"/>
                </a:solidFill>
                <a:latin typeface="Calibri"/>
              </a:rPr>
              <a:t>Team members</a:t>
            </a:r>
          </a:p>
        </p:txBody>
      </p:sp>
      <p:sp>
        <p:nvSpPr>
          <p:cNvPr id="27" name="TextBox 26"/>
          <p:cNvSpPr txBox="1"/>
          <p:nvPr/>
        </p:nvSpPr>
        <p:spPr>
          <a:xfrm>
            <a:off x="6240780" y="2962656"/>
            <a:ext cx="1842516" cy="219456"/>
          </a:xfrm>
          <a:prstGeom prst="rect">
            <a:avLst/>
          </a:prstGeom>
          <a:noFill/>
        </p:spPr>
        <p:txBody>
          <a:bodyPr wrap="square">
            <a:spAutoFit/>
          </a:bodyPr>
          <a:lstStyle/>
          <a:p/>
          <a:p>
            <a:pPr algn="ctr"/>
            <a:r>
              <a:rPr b="0" i="0" sz="650">
                <a:solidFill>
                  <a:srgbClr val="E6E5DE"/>
                </a:solidFill>
                <a:latin typeface="Calibri"/>
              </a:rPr>
              <a:t>Smart50 Awards 2025 data</a:t>
            </a:r>
          </a:p>
        </p:txBody>
      </p:sp>
      <p:sp>
        <p:nvSpPr>
          <p:cNvPr id="28" name="Rectangle 27"/>
          <p:cNvSpPr/>
          <p:nvPr/>
        </p:nvSpPr>
        <p:spPr>
          <a:xfrm>
            <a:off x="8193024" y="1892807"/>
            <a:ext cx="191566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93024" y="1892807"/>
            <a:ext cx="191566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1984248"/>
            <a:ext cx="1842516" cy="530352"/>
          </a:xfrm>
          <a:prstGeom prst="rect">
            <a:avLst/>
          </a:prstGeom>
          <a:noFill/>
        </p:spPr>
        <p:txBody>
          <a:bodyPr wrap="square">
            <a:spAutoFit/>
          </a:bodyPr>
          <a:lstStyle/>
          <a:p/>
          <a:p>
            <a:pPr algn="ctr"/>
            <a:r>
              <a:rPr b="1" i="0" sz="2600">
                <a:solidFill>
                  <a:srgbClr val="FFFFFF"/>
                </a:solidFill>
                <a:latin typeface="Georgia"/>
              </a:rPr>
              <a:t>30+</a:t>
            </a:r>
          </a:p>
        </p:txBody>
      </p:sp>
      <p:sp>
        <p:nvSpPr>
          <p:cNvPr id="31" name="TextBox 30"/>
          <p:cNvSpPr txBox="1"/>
          <p:nvPr/>
        </p:nvSpPr>
        <p:spPr>
          <a:xfrm>
            <a:off x="8229600" y="2551176"/>
            <a:ext cx="1842516" cy="402336"/>
          </a:xfrm>
          <a:prstGeom prst="rect">
            <a:avLst/>
          </a:prstGeom>
          <a:noFill/>
        </p:spPr>
        <p:txBody>
          <a:bodyPr wrap="square">
            <a:spAutoFit/>
          </a:bodyPr>
          <a:lstStyle/>
          <a:p/>
          <a:p>
            <a:pPr algn="ctr"/>
            <a:r>
              <a:rPr b="0" i="0" sz="850">
                <a:solidFill>
                  <a:srgbClr val="E6E5DE"/>
                </a:solidFill>
                <a:latin typeface="Calibri"/>
              </a:rPr>
              <a:t>Event brands</a:t>
            </a:r>
          </a:p>
        </p:txBody>
      </p:sp>
      <p:sp>
        <p:nvSpPr>
          <p:cNvPr id="32" name="TextBox 31"/>
          <p:cNvSpPr txBox="1"/>
          <p:nvPr/>
        </p:nvSpPr>
        <p:spPr>
          <a:xfrm>
            <a:off x="8229600" y="2962656"/>
            <a:ext cx="1842516" cy="219456"/>
          </a:xfrm>
          <a:prstGeom prst="rect">
            <a:avLst/>
          </a:prstGeom>
          <a:noFill/>
        </p:spPr>
        <p:txBody>
          <a:bodyPr wrap="square">
            <a:spAutoFit/>
          </a:bodyPr>
          <a:lstStyle/>
          <a:p/>
          <a:p>
            <a:pPr algn="ctr"/>
            <a:r>
              <a:rPr b="0" i="0" sz="650">
                <a:solidFill>
                  <a:srgbClr val="E6E5DE"/>
                </a:solidFill>
                <a:latin typeface="Calibri"/>
              </a:rPr>
              <a:t>nationalmedia.com.au</a:t>
            </a:r>
          </a:p>
        </p:txBody>
      </p:sp>
      <p:sp>
        <p:nvSpPr>
          <p:cNvPr id="33" name="Rectangle 32"/>
          <p:cNvSpPr/>
          <p:nvPr/>
        </p:nvSpPr>
        <p:spPr>
          <a:xfrm>
            <a:off x="10181844" y="1892807"/>
            <a:ext cx="191566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181844" y="1892807"/>
            <a:ext cx="191566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18420" y="1984248"/>
            <a:ext cx="1842516" cy="530352"/>
          </a:xfrm>
          <a:prstGeom prst="rect">
            <a:avLst/>
          </a:prstGeom>
          <a:noFill/>
        </p:spPr>
        <p:txBody>
          <a:bodyPr wrap="square">
            <a:spAutoFit/>
          </a:bodyPr>
          <a:lstStyle/>
          <a:p/>
          <a:p>
            <a:pPr algn="ctr"/>
            <a:r>
              <a:rPr b="1" i="0" sz="2600">
                <a:solidFill>
                  <a:srgbClr val="FFFFFF"/>
                </a:solidFill>
                <a:latin typeface="Georgia"/>
              </a:rPr>
              <a:t>1993</a:t>
            </a:r>
          </a:p>
        </p:txBody>
      </p:sp>
      <p:sp>
        <p:nvSpPr>
          <p:cNvPr id="36" name="TextBox 35"/>
          <p:cNvSpPr txBox="1"/>
          <p:nvPr/>
        </p:nvSpPr>
        <p:spPr>
          <a:xfrm>
            <a:off x="10218420" y="2551176"/>
            <a:ext cx="1842516" cy="402336"/>
          </a:xfrm>
          <a:prstGeom prst="rect">
            <a:avLst/>
          </a:prstGeom>
          <a:noFill/>
        </p:spPr>
        <p:txBody>
          <a:bodyPr wrap="square">
            <a:spAutoFit/>
          </a:bodyPr>
          <a:lstStyle/>
          <a:p/>
          <a:p>
            <a:pPr algn="ctr"/>
            <a:r>
              <a:rPr b="0" i="0" sz="850">
                <a:solidFill>
                  <a:srgbClr val="E6E5DE"/>
                </a:solidFill>
                <a:latin typeface="Calibri"/>
              </a:rPr>
              <a:t>Founded</a:t>
            </a:r>
          </a:p>
        </p:txBody>
      </p:sp>
      <p:sp>
        <p:nvSpPr>
          <p:cNvPr id="37" name="TextBox 36"/>
          <p:cNvSpPr txBox="1"/>
          <p:nvPr/>
        </p:nvSpPr>
        <p:spPr>
          <a:xfrm>
            <a:off x="10218420" y="2962656"/>
            <a:ext cx="1842516" cy="219456"/>
          </a:xfrm>
          <a:prstGeom prst="rect">
            <a:avLst/>
          </a:prstGeom>
          <a:noFill/>
        </p:spPr>
        <p:txBody>
          <a:bodyPr wrap="square">
            <a:spAutoFit/>
          </a:bodyPr>
          <a:lstStyle/>
          <a:p/>
          <a:p>
            <a:pPr algn="ctr"/>
            <a:r>
              <a:rPr b="0" i="0" sz="650">
                <a:solidFill>
                  <a:srgbClr val="E6E5DE"/>
                </a:solidFill>
                <a:latin typeface="Calibri"/>
              </a:rPr>
              <a:t>Company history</a:t>
            </a:r>
          </a:p>
        </p:txBody>
      </p:sp>
      <p:sp>
        <p:nvSpPr>
          <p:cNvPr id="38" name="TextBox 37"/>
          <p:cNvSpPr txBox="1"/>
          <p:nvPr/>
        </p:nvSpPr>
        <p:spPr>
          <a:xfrm>
            <a:off x="237744" y="3346703"/>
            <a:ext cx="5486400" cy="237744"/>
          </a:xfrm>
          <a:prstGeom prst="rect">
            <a:avLst/>
          </a:prstGeom>
          <a:noFill/>
        </p:spPr>
        <p:txBody>
          <a:bodyPr wrap="square">
            <a:spAutoFit/>
          </a:bodyPr>
          <a:lstStyle/>
          <a:p/>
          <a:p>
            <a:pPr algn="l"/>
            <a:r>
              <a:rPr b="1" i="0" sz="950">
                <a:solidFill>
                  <a:srgbClr val="01A296"/>
                </a:solidFill>
                <a:latin typeface="Calibri"/>
              </a:rPr>
              <a:t>KEY COMMERCIAL SIGNALS</a:t>
            </a:r>
          </a:p>
        </p:txBody>
      </p:sp>
      <p:sp>
        <p:nvSpPr>
          <p:cNvPr id="39" name="TextBox 38"/>
          <p:cNvSpPr txBox="1"/>
          <p:nvPr/>
        </p:nvSpPr>
        <p:spPr>
          <a:xfrm>
            <a:off x="237744" y="3621023"/>
            <a:ext cx="5792724" cy="2898648"/>
          </a:xfrm>
          <a:prstGeom prst="rect">
            <a:avLst/>
          </a:prstGeom>
          <a:noFill/>
        </p:spPr>
        <p:txBody>
          <a:bodyPr wrap="square">
            <a:spAutoFit/>
          </a:bodyPr>
          <a:lstStyle/>
          <a:p/>
          <a:p>
            <a:pPr algn="l"/>
            <a:r>
              <a:rPr b="0" i="0" sz="900">
                <a:solidFill>
                  <a:srgbClr val="000000"/>
                </a:solidFill>
                <a:latin typeface="Calibri"/>
              </a:rPr>
              <a:t>•  Smart50 rank 28 with 42% three year average growth rate (SmartCompany Smart50 Awards, Nov 2025)</a:t>
            </a:r>
          </a:p>
          <a:p>
            <a:pPr algn="l">
              <a:spcBef>
                <a:spcPts val="400"/>
              </a:spcBef>
            </a:pPr>
            <a:r>
              <a:rPr b="0" i="0" sz="900">
                <a:solidFill>
                  <a:srgbClr val="000000"/>
                </a:solidFill>
                <a:latin typeface="Calibri"/>
              </a:rPr>
              <a:t>•  Acquired WHS Shows in Sydney, Brisbane and Melbourne from Specialised Events (foodserviceaustralia.com.au)</a:t>
            </a:r>
          </a:p>
          <a:p>
            <a:pPr algn="l">
              <a:spcBef>
                <a:spcPts val="400"/>
              </a:spcBef>
            </a:pPr>
            <a:r>
              <a:rPr b="0" i="0" sz="900">
                <a:solidFill>
                  <a:srgbClr val="000000"/>
                </a:solidFill>
                <a:latin typeface="Calibri"/>
              </a:rPr>
              <a:t>•  Acquired Foodservice Australia, Food and Hospitality Queensland and four associated hospitality events from Specialised Events (foodserviceaustralia.com.au)</a:t>
            </a:r>
          </a:p>
        </p:txBody>
      </p:sp>
      <p:sp>
        <p:nvSpPr>
          <p:cNvPr id="40" name="TextBox 39"/>
          <p:cNvSpPr txBox="1"/>
          <p:nvPr/>
        </p:nvSpPr>
        <p:spPr>
          <a:xfrm>
            <a:off x="6259068" y="3621023"/>
            <a:ext cx="5792724" cy="2898648"/>
          </a:xfrm>
          <a:prstGeom prst="rect">
            <a:avLst/>
          </a:prstGeom>
          <a:noFill/>
        </p:spPr>
        <p:txBody>
          <a:bodyPr wrap="square">
            <a:spAutoFit/>
          </a:bodyPr>
          <a:lstStyle/>
          <a:p/>
          <a:p>
            <a:pPr algn="l"/>
            <a:r>
              <a:rPr b="0" i="0" sz="900">
                <a:solidFill>
                  <a:srgbClr val="000000"/>
                </a:solidFill>
                <a:latin typeface="Calibri"/>
              </a:rPr>
              <a:t>•  Launched the Food and Beverage Group as a new dedicated vertical division post acquisition (foodserviceaustralia.com.au)</a:t>
            </a:r>
          </a:p>
          <a:p>
            <a:pPr algn="l">
              <a:spcBef>
                <a:spcPts val="400"/>
              </a:spcBef>
            </a:pPr>
            <a:r>
              <a:rPr b="0" i="0" sz="900">
                <a:solidFill>
                  <a:srgbClr val="000000"/>
                </a:solidFill>
                <a:latin typeface="Calibri"/>
              </a:rPr>
              <a:t>•  Over 30 event brands across food service, hospitality, WHS, fitness, wellness, architecture, design and construction (nationalmedia.com.au)</a:t>
            </a:r>
          </a:p>
          <a:p>
            <a:pPr algn="l">
              <a:spcBef>
                <a:spcPts val="400"/>
              </a:spcBef>
            </a:pPr>
            <a:r>
              <a:rPr b="0" i="0" sz="900">
                <a:solidFill>
                  <a:srgbClr val="000000"/>
                </a:solidFill>
                <a:latin typeface="Calibri"/>
              </a:rPr>
              <a:t>•  Digital media and information division launched: newsletters, sponsored content, advertising and lead generation (Smart50 2025 profile)</a:t>
            </a:r>
          </a:p>
        </p:txBody>
      </p:sp>
      <p:sp>
        <p:nvSpPr>
          <p:cNvPr id="41" name="Rectangle 40"/>
          <p:cNvSpPr/>
          <p:nvPr/>
        </p:nvSpPr>
        <p:spPr>
          <a:xfrm>
            <a:off x="118872" y="6565392"/>
            <a:ext cx="120700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37744" y="6601968"/>
            <a:ext cx="11859768" cy="201168"/>
          </a:xfrm>
          <a:prstGeom prst="rect">
            <a:avLst/>
          </a:prstGeom>
          <a:noFill/>
        </p:spPr>
        <p:txBody>
          <a:bodyPr wrap="square">
            <a:spAutoFit/>
          </a:bodyPr>
          <a:lstStyle/>
          <a:p/>
          <a:p>
            <a:pPr algn="l"/>
            <a:r>
              <a:rPr b="0" i="0" sz="750">
                <a:solidFill>
                  <a:srgbClr val="E6E5DE"/>
                </a:solidFill>
                <a:latin typeface="Calibri"/>
              </a:rPr>
              <a:t>Prepared by Nitesh Roopa CA, Managing Partner, ProfitPulse | Profit-Pulse.com.au | 24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04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7744" y="73152"/>
            <a:ext cx="6858000" cy="731520"/>
          </a:xfrm>
          <a:prstGeom prst="rect">
            <a:avLst/>
          </a:prstGeom>
          <a:noFill/>
        </p:spPr>
        <p:txBody>
          <a:bodyPr wrap="square">
            <a:spAutoFit/>
          </a:bodyPr>
          <a:lstStyle/>
          <a:p/>
          <a:p>
            <a:pPr algn="l"/>
            <a:r>
              <a:rPr b="1" i="0" sz="1100">
                <a:solidFill>
                  <a:srgbClr val="E6E5DE"/>
                </a:solidFill>
                <a:latin typeface="Calibri"/>
              </a:rPr>
              <a:t>THE OPPORTUNITY</a:t>
            </a:r>
          </a:p>
        </p:txBody>
      </p:sp>
      <p:sp>
        <p:nvSpPr>
          <p:cNvPr id="5" name="TextBox 4"/>
          <p:cNvSpPr txBox="1"/>
          <p:nvPr/>
        </p:nvSpPr>
        <p:spPr>
          <a:xfrm>
            <a:off x="9628632" y="73152"/>
            <a:ext cx="2377440" cy="731520"/>
          </a:xfrm>
          <a:prstGeom prst="rect">
            <a:avLst/>
          </a:prstGeom>
          <a:noFill/>
        </p:spPr>
        <p:txBody>
          <a:bodyPr wrap="square">
            <a:spAutoFit/>
          </a:bodyPr>
          <a:lstStyle/>
          <a:p/>
          <a:p>
            <a:pPr algn="r"/>
            <a:r>
              <a:rPr b="1" i="0" sz="1300">
                <a:solidFill>
                  <a:srgbClr val="F8C806"/>
                </a:solidFill>
                <a:latin typeface="Georgia"/>
              </a:rPr>
              <a:t>National Media</a:t>
            </a:r>
          </a:p>
        </p:txBody>
      </p:sp>
      <p:sp>
        <p:nvSpPr>
          <p:cNvPr id="6" name="TextBox 5"/>
          <p:cNvSpPr txBox="1"/>
          <p:nvPr/>
        </p:nvSpPr>
        <p:spPr>
          <a:xfrm>
            <a:off x="237744" y="822960"/>
            <a:ext cx="11859768" cy="292608"/>
          </a:xfrm>
          <a:prstGeom prst="rect">
            <a:avLst/>
          </a:prstGeom>
          <a:noFill/>
        </p:spPr>
        <p:txBody>
          <a:bodyPr wrap="square">
            <a:spAutoFit/>
          </a:bodyPr>
          <a:lstStyle/>
          <a:p/>
          <a:p>
            <a:pPr algn="l"/>
            <a:r>
              <a:rPr b="0" i="0" sz="1100">
                <a:solidFill>
                  <a:srgbClr val="01A296"/>
                </a:solidFill>
                <a:latin typeface="Calibri"/>
              </a:rPr>
              <a:t>Three commercial observations from ProfitPulse</a:t>
            </a:r>
          </a:p>
        </p:txBody>
      </p:sp>
      <p:sp>
        <p:nvSpPr>
          <p:cNvPr id="7" name="Rectangle 6"/>
          <p:cNvSpPr/>
          <p:nvPr/>
        </p:nvSpPr>
        <p:spPr>
          <a:xfrm>
            <a:off x="118872" y="1170432"/>
            <a:ext cx="4005072" cy="489204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464" y="1335024"/>
            <a:ext cx="3694175" cy="502920"/>
          </a:xfrm>
          <a:prstGeom prst="rect">
            <a:avLst/>
          </a:prstGeom>
          <a:noFill/>
        </p:spPr>
        <p:txBody>
          <a:bodyPr wrap="square">
            <a:spAutoFit/>
          </a:bodyPr>
          <a:lstStyle/>
          <a:p/>
          <a:p>
            <a:pPr algn="l"/>
            <a:r>
              <a:rPr b="1" i="0" sz="3200">
                <a:solidFill>
                  <a:srgbClr val="000000"/>
                </a:solidFill>
                <a:latin typeface="Georgia"/>
              </a:rPr>
              <a:t>01</a:t>
            </a:r>
          </a:p>
        </p:txBody>
      </p:sp>
      <p:sp>
        <p:nvSpPr>
          <p:cNvPr id="9" name="TextBox 8"/>
          <p:cNvSpPr txBox="1"/>
          <p:nvPr/>
        </p:nvSpPr>
        <p:spPr>
          <a:xfrm>
            <a:off x="283464" y="1883664"/>
            <a:ext cx="3694175" cy="566928"/>
          </a:xfrm>
          <a:prstGeom prst="rect">
            <a:avLst/>
          </a:prstGeom>
          <a:noFill/>
        </p:spPr>
        <p:txBody>
          <a:bodyPr wrap="square">
            <a:spAutoFit/>
          </a:bodyPr>
          <a:lstStyle/>
          <a:p/>
          <a:p>
            <a:pPr algn="l"/>
            <a:r>
              <a:rPr b="1" i="0" sz="1050">
                <a:solidFill>
                  <a:srgbClr val="000000"/>
                </a:solidFill>
                <a:latin typeface="Calibri"/>
              </a:rPr>
              <a:t>Two acquisitions, two portfolios to integrate</a:t>
            </a:r>
          </a:p>
        </p:txBody>
      </p:sp>
      <p:sp>
        <p:nvSpPr>
          <p:cNvPr id="10" name="TextBox 9"/>
          <p:cNvSpPr txBox="1"/>
          <p:nvPr/>
        </p:nvSpPr>
        <p:spPr>
          <a:xfrm>
            <a:off x="283464" y="2487168"/>
            <a:ext cx="3694175" cy="3520439"/>
          </a:xfrm>
          <a:prstGeom prst="rect">
            <a:avLst/>
          </a:prstGeom>
          <a:noFill/>
        </p:spPr>
        <p:txBody>
          <a:bodyPr wrap="square">
            <a:spAutoFit/>
          </a:bodyPr>
          <a:lstStyle/>
          <a:p/>
          <a:p>
            <a:pPr algn="l"/>
            <a:r>
              <a:rPr b="0" i="0" sz="900">
                <a:solidFill>
                  <a:srgbClr val="000000"/>
                </a:solidFill>
                <a:latin typeface="Calibri"/>
              </a:rPr>
              <a:t>National Media has absorbed the Workplace Health and Safety Shows in three cities and the entire Foodservice Australia portfolio including Foodservice Australia, Food and Hospitality Queensland, the Aged Care Catering Summit, the National Restaurant Conference and the Australian Chef of the Year competition. Each acquisition brings event brands with different cost structures, margin profiles and customer economics from the existing portfolio. Without a line by line profitability view, reinvestment decisions rest on revenue alone rather than contribution.</a:t>
            </a:r>
          </a:p>
        </p:txBody>
      </p:sp>
      <p:sp>
        <p:nvSpPr>
          <p:cNvPr id="11" name="Rectangle 10"/>
          <p:cNvSpPr/>
          <p:nvPr/>
        </p:nvSpPr>
        <p:spPr>
          <a:xfrm>
            <a:off x="4142231" y="1170432"/>
            <a:ext cx="4005072" cy="4892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06823" y="1335024"/>
            <a:ext cx="3694175" cy="502920"/>
          </a:xfrm>
          <a:prstGeom prst="rect">
            <a:avLst/>
          </a:prstGeom>
          <a:noFill/>
        </p:spPr>
        <p:txBody>
          <a:bodyPr wrap="square">
            <a:spAutoFit/>
          </a:bodyPr>
          <a:lstStyle/>
          <a:p/>
          <a:p>
            <a:pPr algn="l"/>
            <a:r>
              <a:rPr b="1" i="0" sz="3200">
                <a:solidFill>
                  <a:srgbClr val="FFFFFF"/>
                </a:solidFill>
                <a:latin typeface="Georgia"/>
              </a:rPr>
              <a:t>02</a:t>
            </a:r>
          </a:p>
        </p:txBody>
      </p:sp>
      <p:sp>
        <p:nvSpPr>
          <p:cNvPr id="13" name="TextBox 12"/>
          <p:cNvSpPr txBox="1"/>
          <p:nvPr/>
        </p:nvSpPr>
        <p:spPr>
          <a:xfrm>
            <a:off x="4306823" y="1883664"/>
            <a:ext cx="3694175" cy="566928"/>
          </a:xfrm>
          <a:prstGeom prst="rect">
            <a:avLst/>
          </a:prstGeom>
          <a:noFill/>
        </p:spPr>
        <p:txBody>
          <a:bodyPr wrap="square">
            <a:spAutoFit/>
          </a:bodyPr>
          <a:lstStyle/>
          <a:p/>
          <a:p>
            <a:pPr algn="l"/>
            <a:r>
              <a:rPr b="1" i="0" sz="1050">
                <a:solidFill>
                  <a:srgbClr val="FFFFFF"/>
                </a:solidFill>
                <a:latin typeface="Calibri"/>
              </a:rPr>
              <a:t>Thirty-plus event brands, but not all events carry equal margin</a:t>
            </a:r>
          </a:p>
        </p:txBody>
      </p:sp>
      <p:sp>
        <p:nvSpPr>
          <p:cNvPr id="14" name="TextBox 13"/>
          <p:cNvSpPr txBox="1"/>
          <p:nvPr/>
        </p:nvSpPr>
        <p:spPr>
          <a:xfrm>
            <a:off x="4306823" y="2487168"/>
            <a:ext cx="3694175" cy="3520439"/>
          </a:xfrm>
          <a:prstGeom prst="rect">
            <a:avLst/>
          </a:prstGeom>
          <a:noFill/>
        </p:spPr>
        <p:txBody>
          <a:bodyPr wrap="square">
            <a:spAutoFit/>
          </a:bodyPr>
          <a:lstStyle/>
          <a:p/>
          <a:p>
            <a:pPr algn="l"/>
            <a:r>
              <a:rPr b="0" i="0" sz="900">
                <a:solidFill>
                  <a:srgbClr val="FFFFFF"/>
                </a:solidFill>
                <a:latin typeface="Calibri"/>
              </a:rPr>
              <a:t>A portfolio this size almost certainly contains high margin events quietly subsidising underperformers. Some brands will be in growing industries with strong exhibitor economics; others may be mature or requiring disproportionate effort to fill. Understanding contribution margin, operational drag and revenue per staff hour by brand gives management a clear kill, fix or scale decision set for each line in the portfolio and sharpens reinvestment priorities as the Food and Beverage Group is integrated.</a:t>
            </a:r>
          </a:p>
        </p:txBody>
      </p:sp>
      <p:sp>
        <p:nvSpPr>
          <p:cNvPr id="15" name="Rectangle 14"/>
          <p:cNvSpPr/>
          <p:nvPr/>
        </p:nvSpPr>
        <p:spPr>
          <a:xfrm>
            <a:off x="8165592" y="1170432"/>
            <a:ext cx="4005072" cy="489204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3" y="1335024"/>
            <a:ext cx="3694175" cy="502920"/>
          </a:xfrm>
          <a:prstGeom prst="rect">
            <a:avLst/>
          </a:prstGeom>
          <a:noFill/>
        </p:spPr>
        <p:txBody>
          <a:bodyPr wrap="square">
            <a:spAutoFit/>
          </a:bodyPr>
          <a:lstStyle/>
          <a:p/>
          <a:p>
            <a:pPr algn="l"/>
            <a:r>
              <a:rPr b="1" i="0" sz="3200">
                <a:solidFill>
                  <a:srgbClr val="000000"/>
                </a:solidFill>
                <a:latin typeface="Georgia"/>
              </a:rPr>
              <a:t>03</a:t>
            </a:r>
          </a:p>
        </p:txBody>
      </p:sp>
      <p:sp>
        <p:nvSpPr>
          <p:cNvPr id="17" name="TextBox 16"/>
          <p:cNvSpPr txBox="1"/>
          <p:nvPr/>
        </p:nvSpPr>
        <p:spPr>
          <a:xfrm>
            <a:off x="8330183" y="1883664"/>
            <a:ext cx="3694175" cy="566928"/>
          </a:xfrm>
          <a:prstGeom prst="rect">
            <a:avLst/>
          </a:prstGeom>
          <a:noFill/>
        </p:spPr>
        <p:txBody>
          <a:bodyPr wrap="square">
            <a:spAutoFit/>
          </a:bodyPr>
          <a:lstStyle/>
          <a:p/>
          <a:p>
            <a:pPr algn="l"/>
            <a:r>
              <a:rPr b="1" i="0" sz="1050">
                <a:solidFill>
                  <a:srgbClr val="000000"/>
                </a:solidFill>
                <a:latin typeface="Calibri"/>
              </a:rPr>
              <a:t>A digital division adds recurring revenue alongside seasonal event cash flows</a:t>
            </a:r>
          </a:p>
        </p:txBody>
      </p:sp>
      <p:sp>
        <p:nvSpPr>
          <p:cNvPr id="18" name="TextBox 17"/>
          <p:cNvSpPr txBox="1"/>
          <p:nvPr/>
        </p:nvSpPr>
        <p:spPr>
          <a:xfrm>
            <a:off x="8330183" y="2487168"/>
            <a:ext cx="3694175" cy="3520439"/>
          </a:xfrm>
          <a:prstGeom prst="rect">
            <a:avLst/>
          </a:prstGeom>
          <a:noFill/>
        </p:spPr>
        <p:txBody>
          <a:bodyPr wrap="square">
            <a:spAutoFit/>
          </a:bodyPr>
          <a:lstStyle/>
          <a:p/>
          <a:p>
            <a:pPr algn="l"/>
            <a:r>
              <a:rPr b="0" i="0" sz="900">
                <a:solidFill>
                  <a:srgbClr val="000000"/>
                </a:solidFill>
                <a:latin typeface="Calibri"/>
              </a:rPr>
              <a:t>National Media now carries two structurally different revenue models under one P and L: exhibitions that generate lumpy, event-tied cash inflows and a digital media division producing recurring monthly revenue from newsletters, sponsored content and lead generation. Managing these two streams without separate margin visibility creates blind spots in capital allocation decisions and makes it difficult to understand the true cost of growth in each line.</a:t>
            </a:r>
          </a:p>
        </p:txBody>
      </p:sp>
      <p:sp>
        <p:nvSpPr>
          <p:cNvPr id="19" name="TextBox 18"/>
          <p:cNvSpPr txBox="1"/>
          <p:nvPr/>
        </p:nvSpPr>
        <p:spPr>
          <a:xfrm>
            <a:off x="237744" y="6135624"/>
            <a:ext cx="11859768" cy="347472"/>
          </a:xfrm>
          <a:prstGeom prst="rect">
            <a:avLst/>
          </a:prstGeom>
          <a:noFill/>
        </p:spPr>
        <p:txBody>
          <a:bodyPr wrap="square">
            <a:spAutoFit/>
          </a:bodyPr>
          <a:lstStyle/>
          <a:p/>
          <a:p>
            <a:pPr algn="ctr"/>
            <a:r>
              <a:rPr b="0" i="1" sz="950">
                <a:solidFill>
                  <a:srgbClr val="000000"/>
                </a:solidFill>
                <a:latin typeface="Calibri"/>
              </a:rPr>
              <a:t>These observations are offered in good faith. National Media has built something genuinely impressive over three decades and especially in the last three years. The question is simply whether the financial architecture now matches the ambition of the expanded portfolio.</a:t>
            </a:r>
          </a:p>
        </p:txBody>
      </p:sp>
      <p:sp>
        <p:nvSpPr>
          <p:cNvPr id="20" name="Rectangle 19"/>
          <p:cNvSpPr/>
          <p:nvPr/>
        </p:nvSpPr>
        <p:spPr>
          <a:xfrm>
            <a:off x="118872" y="6565392"/>
            <a:ext cx="120700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7744" y="6601968"/>
            <a:ext cx="11859768" cy="201168"/>
          </a:xfrm>
          <a:prstGeom prst="rect">
            <a:avLst/>
          </a:prstGeom>
          <a:noFill/>
        </p:spPr>
        <p:txBody>
          <a:bodyPr wrap="square">
            <a:spAutoFit/>
          </a:bodyPr>
          <a:lstStyle/>
          <a:p/>
          <a:p>
            <a:pPr algn="l"/>
            <a:r>
              <a:rPr b="0" i="0" sz="750">
                <a:solidFill>
                  <a:srgbClr val="E6E5DE"/>
                </a:solidFill>
                <a:latin typeface="Calibri"/>
              </a:rPr>
              <a:t>Prepared by Nitesh Roopa CA, Managing Partner, ProfitPulse | Profit-Pulse.com.au | 24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04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7744" y="73152"/>
            <a:ext cx="6858000" cy="731520"/>
          </a:xfrm>
          <a:prstGeom prst="rect">
            <a:avLst/>
          </a:prstGeom>
          <a:noFill/>
        </p:spPr>
        <p:txBody>
          <a:bodyPr wrap="square">
            <a:spAutoFit/>
          </a:bodyPr>
          <a:lstStyle/>
          <a:p/>
          <a:p>
            <a:pPr algn="l"/>
            <a:r>
              <a:rPr b="1" i="0" sz="1100">
                <a:solidFill>
                  <a:srgbClr val="E6E5DE"/>
                </a:solidFill>
                <a:latin typeface="Calibri"/>
              </a:rPr>
              <a:t>THE RECOMMENDATION</a:t>
            </a:r>
          </a:p>
        </p:txBody>
      </p:sp>
      <p:sp>
        <p:nvSpPr>
          <p:cNvPr id="5" name="TextBox 4"/>
          <p:cNvSpPr txBox="1"/>
          <p:nvPr/>
        </p:nvSpPr>
        <p:spPr>
          <a:xfrm>
            <a:off x="9628632" y="73152"/>
            <a:ext cx="2377440" cy="731520"/>
          </a:xfrm>
          <a:prstGeom prst="rect">
            <a:avLst/>
          </a:prstGeom>
          <a:noFill/>
        </p:spPr>
        <p:txBody>
          <a:bodyPr wrap="square">
            <a:spAutoFit/>
          </a:bodyPr>
          <a:lstStyle/>
          <a:p/>
          <a:p>
            <a:pPr algn="r"/>
            <a:r>
              <a:rPr b="1" i="0" sz="1300">
                <a:solidFill>
                  <a:srgbClr val="F8C806"/>
                </a:solidFill>
                <a:latin typeface="Georgia"/>
              </a:rPr>
              <a:t>PROFITPULSE</a:t>
            </a:r>
          </a:p>
        </p:txBody>
      </p:sp>
      <p:sp>
        <p:nvSpPr>
          <p:cNvPr id="6" name="TextBox 5"/>
          <p:cNvSpPr txBox="1"/>
          <p:nvPr/>
        </p:nvSpPr>
        <p:spPr>
          <a:xfrm>
            <a:off x="237744" y="841248"/>
            <a:ext cx="7223760" cy="530352"/>
          </a:xfrm>
          <a:prstGeom prst="rect">
            <a:avLst/>
          </a:prstGeom>
          <a:noFill/>
        </p:spPr>
        <p:txBody>
          <a:bodyPr wrap="square">
            <a:spAutoFit/>
          </a:bodyPr>
          <a:lstStyle/>
          <a:p/>
          <a:p>
            <a:pPr algn="l"/>
            <a:r>
              <a:rPr b="1" i="0" sz="2000">
                <a:solidFill>
                  <a:srgbClr val="000000"/>
                </a:solidFill>
                <a:latin typeface="Georgia"/>
              </a:rPr>
              <a:t>Product and Service Line Profitability</a:t>
            </a:r>
          </a:p>
        </p:txBody>
      </p:sp>
      <p:sp>
        <p:nvSpPr>
          <p:cNvPr id="7" name="TextBox 6"/>
          <p:cNvSpPr txBox="1"/>
          <p:nvPr/>
        </p:nvSpPr>
        <p:spPr>
          <a:xfrm>
            <a:off x="237744" y="1389888"/>
            <a:ext cx="7223760" cy="292608"/>
          </a:xfrm>
          <a:prstGeom prst="rect">
            <a:avLst/>
          </a:prstGeom>
          <a:noFill/>
        </p:spPr>
        <p:txBody>
          <a:bodyPr wrap="square">
            <a:spAutoFit/>
          </a:bodyPr>
          <a:lstStyle/>
          <a:p/>
          <a:p>
            <a:pPr algn="l"/>
            <a:r>
              <a:rPr b="1" i="0" sz="1200">
                <a:solidFill>
                  <a:srgbClr val="F6A102"/>
                </a:solidFill>
                <a:latin typeface="Calibri"/>
              </a:rPr>
              <a:t>$3,950  |  one off engagement</a:t>
            </a:r>
          </a:p>
        </p:txBody>
      </p:sp>
      <p:sp>
        <p:nvSpPr>
          <p:cNvPr id="8" name="TextBox 7"/>
          <p:cNvSpPr txBox="1"/>
          <p:nvPr/>
        </p:nvSpPr>
        <p:spPr>
          <a:xfrm>
            <a:off x="237744" y="1737360"/>
            <a:ext cx="7223760" cy="777240"/>
          </a:xfrm>
          <a:prstGeom prst="rect">
            <a:avLst/>
          </a:prstGeom>
          <a:noFill/>
        </p:spPr>
        <p:txBody>
          <a:bodyPr wrap="square">
            <a:spAutoFit/>
          </a:bodyPr>
          <a:lstStyle/>
          <a:p/>
          <a:p>
            <a:pPr algn="l"/>
            <a:r>
              <a:rPr b="0" i="0" sz="1000">
                <a:solidFill>
                  <a:srgbClr val="000000"/>
                </a:solidFill>
                <a:latin typeface="Calibri"/>
              </a:rPr>
              <a:t>A three week project that ranks every event brand and revenue line by gross margin, contribution margin and operational drag. For National Media, this means a clear kill, fix or scale decision on each of the 30 plus brands including the newly acquired WHS and food and beverage events, so reinvestment flows to the brands that generate the best return per dollar of effort.</a:t>
            </a:r>
          </a:p>
        </p:txBody>
      </p:sp>
      <p:sp>
        <p:nvSpPr>
          <p:cNvPr id="9" name="Rectangle 8"/>
          <p:cNvSpPr/>
          <p:nvPr/>
        </p:nvSpPr>
        <p:spPr>
          <a:xfrm>
            <a:off x="237744" y="2578608"/>
            <a:ext cx="7040880" cy="1828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 y="2651760"/>
            <a:ext cx="7223760" cy="256032"/>
          </a:xfrm>
          <a:prstGeom prst="rect">
            <a:avLst/>
          </a:prstGeom>
          <a:noFill/>
        </p:spPr>
        <p:txBody>
          <a:bodyPr wrap="square">
            <a:spAutoFit/>
          </a:bodyPr>
          <a:lstStyle/>
          <a:p/>
          <a:p>
            <a:pPr algn="l"/>
            <a:r>
              <a:rPr b="1" i="0" sz="900">
                <a:solidFill>
                  <a:srgbClr val="01A296"/>
                </a:solidFill>
                <a:latin typeface="Calibri"/>
              </a:rPr>
              <a:t>STEP ONE</a:t>
            </a:r>
          </a:p>
        </p:txBody>
      </p:sp>
      <p:sp>
        <p:nvSpPr>
          <p:cNvPr id="11" name="TextBox 10"/>
          <p:cNvSpPr txBox="1"/>
          <p:nvPr/>
        </p:nvSpPr>
        <p:spPr>
          <a:xfrm>
            <a:off x="237744" y="2907792"/>
            <a:ext cx="7223760" cy="237744"/>
          </a:xfrm>
          <a:prstGeom prst="rect">
            <a:avLst/>
          </a:prstGeom>
          <a:noFill/>
        </p:spPr>
        <p:txBody>
          <a:bodyPr wrap="square">
            <a:spAutoFit/>
          </a:bodyPr>
          <a:lstStyle/>
          <a:p/>
          <a:p>
            <a:pPr algn="l"/>
            <a:r>
              <a:rPr b="0" i="0" sz="1000">
                <a:solidFill>
                  <a:srgbClr val="000000"/>
                </a:solidFill>
                <a:latin typeface="Calibri"/>
              </a:rPr>
              <a:t>Answer a few quick questions and see the solutions matched to your size and industry.</a:t>
            </a:r>
          </a:p>
        </p:txBody>
      </p:sp>
      <p:sp>
        <p:nvSpPr>
          <p:cNvPr id="12" name="TextBox 11"/>
          <p:cNvSpPr txBox="1"/>
          <p:nvPr/>
        </p:nvSpPr>
        <p:spPr>
          <a:xfrm>
            <a:off x="237744" y="3182112"/>
            <a:ext cx="7223760" cy="256032"/>
          </a:xfrm>
          <a:prstGeom prst="rect">
            <a:avLst/>
          </a:prstGeom>
          <a:noFill/>
        </p:spPr>
        <p:txBody>
          <a:bodyPr wrap="square">
            <a:spAutoFit/>
          </a:bodyPr>
          <a:lstStyle/>
          <a:p>
            <a:pPr algn="l"/>
            <a:r>
              <a:rPr sz="1000" b="1">
                <a:solidFill>
                  <a:srgbClr val="01A296"/>
                </a:solidFill>
                <a:latin typeface="Calibri"/>
                <a:hlinkClick r:id="rId2"/>
              </a:rPr>
              <a:t>profit-pulse.com.au/full-suite-of-products</a:t>
            </a:r>
          </a:p>
        </p:txBody>
      </p:sp>
      <p:sp>
        <p:nvSpPr>
          <p:cNvPr id="13" name="Rectangle 12"/>
          <p:cNvSpPr/>
          <p:nvPr/>
        </p:nvSpPr>
        <p:spPr>
          <a:xfrm>
            <a:off x="237744" y="3493008"/>
            <a:ext cx="7040880" cy="18288"/>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7744" y="3566160"/>
            <a:ext cx="7223760" cy="256032"/>
          </a:xfrm>
          <a:prstGeom prst="rect">
            <a:avLst/>
          </a:prstGeom>
          <a:noFill/>
        </p:spPr>
        <p:txBody>
          <a:bodyPr wrap="square">
            <a:spAutoFit/>
          </a:bodyPr>
          <a:lstStyle/>
          <a:p>
            <a:pPr algn="l"/>
            <a:r>
              <a:rPr sz="1000" b="1">
                <a:solidFill>
                  <a:srgbClr val="F6A102"/>
                </a:solidFill>
                <a:latin typeface="Calibri"/>
                <a:hlinkClick r:id="rId3"/>
              </a:rPr>
              <a:t>Purchase the suggested product now to get started</a:t>
            </a:r>
          </a:p>
        </p:txBody>
      </p:sp>
      <p:sp>
        <p:nvSpPr>
          <p:cNvPr id="15" name="TextBox 14"/>
          <p:cNvSpPr txBox="1"/>
          <p:nvPr/>
        </p:nvSpPr>
        <p:spPr>
          <a:xfrm>
            <a:off x="237744" y="3895344"/>
            <a:ext cx="7223760" cy="475488"/>
          </a:xfrm>
          <a:prstGeom prst="rect">
            <a:avLst/>
          </a:prstGeom>
          <a:noFill/>
        </p:spPr>
        <p:txBody>
          <a:bodyPr wrap="square">
            <a:spAutoFit/>
          </a:bodyPr>
          <a:lstStyle/>
          <a:p/>
          <a:p>
            <a:pPr algn="l"/>
            <a:r>
              <a:rPr b="1" i="0" sz="950">
                <a:solidFill>
                  <a:srgbClr val="000000"/>
                </a:solidFill>
                <a:latin typeface="Calibri"/>
              </a:rPr>
              <a:t>Prefer a conversation first?</a:t>
            </a:r>
          </a:p>
          <a:p>
            <a:pPr>
              <a:spcBef>
                <a:spcPts val="200"/>
              </a:spcBef>
            </a:pPr>
            <a:r>
              <a:rPr sz="950">
                <a:solidFill>
                  <a:srgbClr val="01A296"/>
                </a:solidFill>
                <a:latin typeface="Calibri"/>
                <a:hlinkClick r:id="rId4"/>
              </a:rPr>
              <a:t>Book a complimentary discovery call</a:t>
            </a:r>
          </a:p>
        </p:txBody>
      </p:sp>
      <p:sp>
        <p:nvSpPr>
          <p:cNvPr id="16" name="Rectangle 15"/>
          <p:cNvSpPr/>
          <p:nvPr/>
        </p:nvSpPr>
        <p:spPr>
          <a:xfrm>
            <a:off x="7598664" y="841248"/>
            <a:ext cx="4498848" cy="5669279"/>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99831" y="914400"/>
            <a:ext cx="4270248" cy="475488"/>
          </a:xfrm>
          <a:prstGeom prst="rect">
            <a:avLst/>
          </a:prstGeom>
          <a:noFill/>
        </p:spPr>
        <p:txBody>
          <a:bodyPr wrap="square">
            <a:spAutoFit/>
          </a:bodyPr>
          <a:lstStyle/>
          <a:p/>
          <a:p>
            <a:pPr algn="l"/>
            <a:r>
              <a:rPr b="1" i="0" sz="1800">
                <a:solidFill>
                  <a:srgbClr val="000000"/>
                </a:solidFill>
                <a:latin typeface="Georgia"/>
              </a:rPr>
              <a:t>Nitesh Roopa</a:t>
            </a:r>
          </a:p>
        </p:txBody>
      </p:sp>
      <p:sp>
        <p:nvSpPr>
          <p:cNvPr id="18" name="TextBox 17"/>
          <p:cNvSpPr txBox="1"/>
          <p:nvPr/>
        </p:nvSpPr>
        <p:spPr>
          <a:xfrm>
            <a:off x="7799831" y="1408176"/>
            <a:ext cx="4270248" cy="256032"/>
          </a:xfrm>
          <a:prstGeom prst="rect">
            <a:avLst/>
          </a:prstGeom>
          <a:noFill/>
        </p:spPr>
        <p:txBody>
          <a:bodyPr wrap="square">
            <a:spAutoFit/>
          </a:bodyPr>
          <a:lstStyle/>
          <a:p/>
          <a:p>
            <a:pPr algn="l"/>
            <a:r>
              <a:rPr b="1" i="0" sz="950">
                <a:solidFill>
                  <a:srgbClr val="000000"/>
                </a:solidFill>
                <a:latin typeface="Calibri"/>
              </a:rPr>
              <a:t>CA, Managing Partner, ProfitPulse</a:t>
            </a:r>
          </a:p>
        </p:txBody>
      </p:sp>
      <p:sp>
        <p:nvSpPr>
          <p:cNvPr id="19" name="Rectangle 18"/>
          <p:cNvSpPr/>
          <p:nvPr/>
        </p:nvSpPr>
        <p:spPr>
          <a:xfrm>
            <a:off x="7781544" y="1719072"/>
            <a:ext cx="4224528" cy="2286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99831" y="1783080"/>
            <a:ext cx="4270248" cy="2011680"/>
          </a:xfrm>
          <a:prstGeom prst="rect">
            <a:avLst/>
          </a:prstGeom>
          <a:noFill/>
        </p:spPr>
        <p:txBody>
          <a:bodyPr wrap="square">
            <a:spAutoFit/>
          </a:bodyPr>
          <a:lstStyle/>
          <a:p/>
          <a:p>
            <a:pPr algn="l"/>
            <a:r>
              <a:rPr b="0" i="0" sz="900">
                <a:solidFill>
                  <a:srgbClr val="000000"/>
                </a:solidFill>
                <a:latin typeface="Calibri"/>
              </a:rPr>
              <a:t>•  16 years of experience across 4 countries</a:t>
            </a:r>
          </a:p>
          <a:p>
            <a:pPr algn="l">
              <a:spcBef>
                <a:spcPts val="500"/>
              </a:spcBef>
            </a:pPr>
            <a:r>
              <a:rPr b="0" i="0" sz="900">
                <a:solidFill>
                  <a:srgbClr val="000000"/>
                </a:solidFill>
                <a:latin typeface="Calibri"/>
              </a:rPr>
              <a:t>•  52 deals executed and managed</a:t>
            </a:r>
          </a:p>
          <a:p>
            <a:pPr algn="l">
              <a:spcBef>
                <a:spcPts val="500"/>
              </a:spcBef>
            </a:pPr>
            <a:r>
              <a:rPr b="0" i="0" sz="900">
                <a:solidFill>
                  <a:srgbClr val="000000"/>
                </a:solidFill>
                <a:latin typeface="Calibri"/>
              </a:rPr>
              <a:t>•  Largest single deal: USD 1.3 billion  Cahora Bassa hydro, Mozambique Government</a:t>
            </a:r>
          </a:p>
          <a:p>
            <a:pPr algn="l">
              <a:spcBef>
                <a:spcPts val="500"/>
              </a:spcBef>
            </a:pPr>
            <a:r>
              <a:rPr b="0" i="0" sz="900">
                <a:solidFill>
                  <a:srgbClr val="000000"/>
                </a:solidFill>
                <a:latin typeface="Calibri"/>
              </a:rPr>
              <a:t>•  Total GRBT project value in Queensland: over AUD 10 billion</a:t>
            </a:r>
          </a:p>
        </p:txBody>
      </p:sp>
      <p:sp>
        <p:nvSpPr>
          <p:cNvPr id="21" name="Rectangle 20"/>
          <p:cNvSpPr/>
          <p:nvPr/>
        </p:nvSpPr>
        <p:spPr>
          <a:xfrm>
            <a:off x="7781544" y="3858768"/>
            <a:ext cx="4224528" cy="2286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99831" y="3931920"/>
            <a:ext cx="4270248" cy="2011680"/>
          </a:xfrm>
          <a:prstGeom prst="rect">
            <a:avLst/>
          </a:prstGeom>
          <a:noFill/>
        </p:spPr>
        <p:txBody>
          <a:bodyPr wrap="square">
            <a:spAutoFit/>
          </a:bodyPr>
          <a:lstStyle/>
          <a:p/>
          <a:p>
            <a:pPr algn="l"/>
            <a:r>
              <a:rPr b="0" i="0" sz="900">
                <a:solidFill>
                  <a:srgbClr val="000000"/>
                </a:solidFill>
                <a:latin typeface="Calibri"/>
              </a:rPr>
              <a:t>Profit-Pulse.com.au</a:t>
            </a:r>
          </a:p>
          <a:p>
            <a:pPr algn="l">
              <a:spcBef>
                <a:spcPts val="400"/>
              </a:spcBef>
            </a:pPr>
            <a:r>
              <a:rPr b="0" i="0" sz="900">
                <a:solidFill>
                  <a:srgbClr val="000000"/>
                </a:solidFill>
                <a:latin typeface="Calibri"/>
              </a:rPr>
              <a:t>Nitesh@Profit-Pulse.com.au</a:t>
            </a:r>
          </a:p>
          <a:p>
            <a:pPr algn="l">
              <a:spcBef>
                <a:spcPts val="400"/>
              </a:spcBef>
            </a:pPr>
            <a:r>
              <a:rPr b="0" i="0" sz="900">
                <a:solidFill>
                  <a:srgbClr val="000000"/>
                </a:solidFill>
                <a:latin typeface="Calibri"/>
              </a:rPr>
              <a:t>+61 411 876 267</a:t>
            </a:r>
          </a:p>
          <a:p>
            <a:pPr algn="l">
              <a:spcBef>
                <a:spcPts val="400"/>
              </a:spcBef>
            </a:pPr>
            <a:r>
              <a:rPr b="0" i="0" sz="900">
                <a:solidFill>
                  <a:srgbClr val="000000"/>
                </a:solidFill>
                <a:latin typeface="Calibri"/>
              </a:rPr>
              <a:t>linkedin.com/in/nitesh-roopa-77594163</a:t>
            </a:r>
          </a:p>
        </p:txBody>
      </p:sp>
      <p:sp>
        <p:nvSpPr>
          <p:cNvPr id="23" name="Rectangle 22"/>
          <p:cNvSpPr/>
          <p:nvPr/>
        </p:nvSpPr>
        <p:spPr>
          <a:xfrm>
            <a:off x="118872" y="6565392"/>
            <a:ext cx="120700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7744" y="6601968"/>
            <a:ext cx="11859768" cy="201168"/>
          </a:xfrm>
          <a:prstGeom prst="rect">
            <a:avLst/>
          </a:prstGeom>
          <a:noFill/>
        </p:spPr>
        <p:txBody>
          <a:bodyPr wrap="square">
            <a:spAutoFit/>
          </a:bodyPr>
          <a:lstStyle/>
          <a:p/>
          <a:p>
            <a:pPr algn="l"/>
            <a:r>
              <a:rPr b="0" i="0" sz="750">
                <a:solidFill>
                  <a:srgbClr val="E6E5DE"/>
                </a:solidFill>
                <a:latin typeface="Calibri"/>
              </a:rPr>
              <a:t>Prepared by Nitesh Roopa CA, Managing Partner, ProfitPulse | Profit-Pulse.com.au | 24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