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services/find-your-fit/" TargetMode="External"/><Relationship Id="rId3" Type="http://schemas.openxmlformats.org/officeDocument/2006/relationships/hyperlink" Target="https://buy.stripe.com/3cI4gA1qw5280yQgYT3ks0w"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00000"/>
          </a:solidFill>
          <a:ln>
            <a:noFill/>
          </a:ln>
          <a:effectLst/>
        </p:spPr>
        <p:txBody>
          <a:bodyPr rtlCol="0" anchor="ctr"/>
          <a:lstStyle/>
          <a:p>
            <a:pPr algn="ctr"/>
          </a:p>
        </p:txBody>
      </p:sp>
      <p:sp>
        <p:nvSpPr>
          <p:cNvPr id="3" name="TextBox 2"/>
          <p:cNvSpPr txBox="1"/>
          <p:nvPr/>
        </p:nvSpPr>
        <p:spPr>
          <a:xfrm>
            <a:off x="320040" y="292608"/>
            <a:ext cx="7315200" cy="365760"/>
          </a:xfrm>
          <a:prstGeom prst="rect">
            <a:avLst/>
          </a:prstGeom>
          <a:noFill/>
        </p:spPr>
        <p:txBody>
          <a:bodyPr wrap="square" lIns="0" rIns="0" tIns="0" bIns="0" anchor="ctr">
            <a:spAutoFit/>
          </a:bodyPr>
          <a:lstStyle/>
          <a:p>
            <a:pPr algn="l"/>
            <a:r>
              <a:rPr sz="1300" b="1" i="0">
                <a:solidFill>
                  <a:srgbClr val="E6E5DE"/>
                </a:solidFill>
                <a:latin typeface="Calibri"/>
              </a:rPr>
              <a:t>COMMERCIAL INTELLIGENCE BRIEF</a:t>
            </a:r>
          </a:p>
        </p:txBody>
      </p:sp>
      <p:sp>
        <p:nvSpPr>
          <p:cNvPr id="4" name="TextBox 3"/>
          <p:cNvSpPr txBox="1"/>
          <p:nvPr/>
        </p:nvSpPr>
        <p:spPr>
          <a:xfrm>
            <a:off x="7772400" y="292608"/>
            <a:ext cx="4099255" cy="365760"/>
          </a:xfrm>
          <a:prstGeom prst="rect">
            <a:avLst/>
          </a:prstGeom>
          <a:noFill/>
        </p:spPr>
        <p:txBody>
          <a:bodyPr wrap="square" lIns="0" rIns="0" tIns="0" bIns="0" anchor="ctr">
            <a:spAutoFit/>
          </a:bodyPr>
          <a:lstStyle/>
          <a:p>
            <a:pPr algn="r"/>
            <a:r>
              <a:rPr sz="1300" b="1" i="0">
                <a:solidFill>
                  <a:srgbClr val="F8C806"/>
                </a:solidFill>
                <a:latin typeface="Calibri"/>
              </a:rPr>
              <a:t>PROFITPULSE</a:t>
            </a:r>
          </a:p>
        </p:txBody>
      </p:sp>
      <p:sp>
        <p:nvSpPr>
          <p:cNvPr id="5" name="Rectangle 4"/>
          <p:cNvSpPr/>
          <p:nvPr/>
        </p:nvSpPr>
        <p:spPr>
          <a:xfrm>
            <a:off x="0" y="0"/>
            <a:ext cx="91440" cy="6858000"/>
          </a:xfrm>
          <a:prstGeom prst="rect">
            <a:avLst/>
          </a:prstGeom>
          <a:solidFill>
            <a:srgbClr val="F8C806"/>
          </a:solidFill>
          <a:ln>
            <a:noFill/>
          </a:ln>
          <a:effectLst/>
        </p:spPr>
        <p:txBody>
          <a:bodyPr rtlCol="0" anchor="ctr"/>
          <a:lstStyle/>
          <a:p>
            <a:pPr algn="ctr"/>
          </a:p>
        </p:txBody>
      </p:sp>
      <p:sp>
        <p:nvSpPr>
          <p:cNvPr id="6" name="TextBox 5"/>
          <p:cNvSpPr txBox="1"/>
          <p:nvPr/>
        </p:nvSpPr>
        <p:spPr>
          <a:xfrm>
            <a:off x="320040" y="1051560"/>
            <a:ext cx="10515600" cy="640080"/>
          </a:xfrm>
          <a:prstGeom prst="rect">
            <a:avLst/>
          </a:prstGeom>
          <a:noFill/>
        </p:spPr>
        <p:txBody>
          <a:bodyPr wrap="square" lIns="0" rIns="0" tIns="0" bIns="0">
            <a:spAutoFit/>
          </a:bodyPr>
          <a:lstStyle/>
          <a:p>
            <a:pPr algn="l"/>
            <a:r>
              <a:rPr sz="4000" b="1" i="0">
                <a:solidFill>
                  <a:srgbClr val="000000"/>
                </a:solidFill>
                <a:latin typeface="Cambria"/>
              </a:rPr>
              <a:t>Equality Media + Marketing</a:t>
            </a:r>
          </a:p>
        </p:txBody>
      </p:sp>
      <p:sp>
        <p:nvSpPr>
          <p:cNvPr id="7" name="TextBox 6"/>
          <p:cNvSpPr txBox="1"/>
          <p:nvPr/>
        </p:nvSpPr>
        <p:spPr>
          <a:xfrm>
            <a:off x="320040" y="1737360"/>
            <a:ext cx="10515600" cy="365760"/>
          </a:xfrm>
          <a:prstGeom prst="rect">
            <a:avLst/>
          </a:prstGeom>
          <a:noFill/>
        </p:spPr>
        <p:txBody>
          <a:bodyPr wrap="square" lIns="0" rIns="0" tIns="0" bIns="0">
            <a:spAutoFit/>
          </a:bodyPr>
          <a:lstStyle/>
          <a:p>
            <a:pPr algn="l"/>
            <a:r>
              <a:rPr sz="1400" b="0" i="0">
                <a:solidFill>
                  <a:srgbClr val="000000"/>
                </a:solidFill>
                <a:latin typeface="Calibri"/>
              </a:rPr>
              <a:t>Independent media and marketing agency, Richmond, Melbourne VIC</a:t>
            </a:r>
          </a:p>
        </p:txBody>
      </p:sp>
      <p:sp>
        <p:nvSpPr>
          <p:cNvPr id="8" name="Rectangle 7"/>
          <p:cNvSpPr/>
          <p:nvPr/>
        </p:nvSpPr>
        <p:spPr>
          <a:xfrm>
            <a:off x="320040" y="2194560"/>
            <a:ext cx="1810512" cy="1463040"/>
          </a:xfrm>
          <a:prstGeom prst="rect">
            <a:avLst/>
          </a:prstGeom>
          <a:solidFill>
            <a:srgbClr val="000000"/>
          </a:solidFill>
          <a:ln>
            <a:noFill/>
          </a:ln>
          <a:effectLst/>
        </p:spPr>
        <p:txBody>
          <a:bodyPr rtlCol="0" anchor="ctr"/>
          <a:lstStyle/>
          <a:p>
            <a:pPr algn="ctr"/>
          </a:p>
        </p:txBody>
      </p:sp>
      <p:sp>
        <p:nvSpPr>
          <p:cNvPr id="9" name="Rectangle 8"/>
          <p:cNvSpPr/>
          <p:nvPr/>
        </p:nvSpPr>
        <p:spPr>
          <a:xfrm>
            <a:off x="320040" y="2194560"/>
            <a:ext cx="1810512" cy="50800"/>
          </a:xfrm>
          <a:prstGeom prst="rect">
            <a:avLst/>
          </a:prstGeom>
          <a:solidFill>
            <a:srgbClr val="01A296"/>
          </a:solidFill>
          <a:ln>
            <a:noFill/>
          </a:ln>
          <a:effectLst/>
        </p:spPr>
        <p:txBody>
          <a:bodyPr rtlCol="0" anchor="ctr"/>
          <a:lstStyle/>
          <a:p>
            <a:pPr algn="ctr"/>
          </a:p>
        </p:txBody>
      </p:sp>
      <p:sp>
        <p:nvSpPr>
          <p:cNvPr id="10" name="TextBox 9"/>
          <p:cNvSpPr txBox="1"/>
          <p:nvPr/>
        </p:nvSpPr>
        <p:spPr>
          <a:xfrm>
            <a:off x="429768" y="2304288"/>
            <a:ext cx="1591056" cy="457200"/>
          </a:xfrm>
          <a:prstGeom prst="rect">
            <a:avLst/>
          </a:prstGeom>
          <a:noFill/>
        </p:spPr>
        <p:txBody>
          <a:bodyPr wrap="square" lIns="0" rIns="0" tIns="0" bIns="0">
            <a:spAutoFit/>
          </a:bodyPr>
          <a:lstStyle/>
          <a:p>
            <a:pPr algn="l"/>
            <a:r>
              <a:rPr sz="2800" b="1" i="0">
                <a:solidFill>
                  <a:srgbClr val="F8C806"/>
                </a:solidFill>
                <a:latin typeface="Cambria"/>
              </a:rPr>
              <a:t>$13M</a:t>
            </a:r>
          </a:p>
        </p:txBody>
      </p:sp>
      <p:sp>
        <p:nvSpPr>
          <p:cNvPr id="11" name="TextBox 10"/>
          <p:cNvSpPr txBox="1"/>
          <p:nvPr/>
        </p:nvSpPr>
        <p:spPr>
          <a:xfrm>
            <a:off x="429768" y="2761488"/>
            <a:ext cx="1591056" cy="502920"/>
          </a:xfrm>
          <a:prstGeom prst="rect">
            <a:avLst/>
          </a:prstGeom>
          <a:noFill/>
        </p:spPr>
        <p:txBody>
          <a:bodyPr wrap="square" lIns="0" rIns="0" tIns="0" bIns="0">
            <a:spAutoFit/>
          </a:bodyPr>
          <a:lstStyle/>
          <a:p>
            <a:pPr algn="l">
              <a:lnSpc>
                <a:spcPct val="100000"/>
              </a:lnSpc>
              <a:spcAft>
                <a:spcPts val="0"/>
              </a:spcAft>
            </a:pPr>
            <a:r>
              <a:rPr sz="1100" b="0">
                <a:solidFill>
                  <a:srgbClr val="E6E5DE"/>
                </a:solidFill>
                <a:latin typeface="Calibri"/>
              </a:rPr>
              <a:t>Annual revenue,</a:t>
            </a:r>
          </a:p>
          <a:p>
            <a:pPr algn="l">
              <a:lnSpc>
                <a:spcPct val="100000"/>
              </a:lnSpc>
              <a:spcAft>
                <a:spcPts val="0"/>
              </a:spcAft>
            </a:pPr>
            <a:r>
              <a:rPr sz="1100" b="0">
                <a:solidFill>
                  <a:srgbClr val="E6E5DE"/>
                </a:solidFill>
                <a:latin typeface="Calibri"/>
              </a:rPr>
              <a:t>Smart50 rank 24</a:t>
            </a:r>
          </a:p>
        </p:txBody>
      </p:sp>
      <p:sp>
        <p:nvSpPr>
          <p:cNvPr id="12" name="TextBox 11"/>
          <p:cNvSpPr txBox="1"/>
          <p:nvPr/>
        </p:nvSpPr>
        <p:spPr>
          <a:xfrm>
            <a:off x="429768" y="3364992"/>
            <a:ext cx="1591056" cy="228600"/>
          </a:xfrm>
          <a:prstGeom prst="rect">
            <a:avLst/>
          </a:prstGeom>
          <a:noFill/>
        </p:spPr>
        <p:txBody>
          <a:bodyPr wrap="square" lIns="0" rIns="0" tIns="0" bIns="0">
            <a:spAutoFit/>
          </a:bodyPr>
          <a:lstStyle/>
          <a:p>
            <a:pPr algn="l"/>
            <a:r>
              <a:rPr sz="800" b="0" i="1">
                <a:solidFill>
                  <a:srgbClr val="E6E5DE"/>
                </a:solidFill>
                <a:latin typeface="Calibri"/>
              </a:rPr>
              <a:t>SmartCompany Smart50 2025</a:t>
            </a:r>
          </a:p>
        </p:txBody>
      </p:sp>
      <p:sp>
        <p:nvSpPr>
          <p:cNvPr id="13" name="Rectangle 12"/>
          <p:cNvSpPr/>
          <p:nvPr/>
        </p:nvSpPr>
        <p:spPr>
          <a:xfrm>
            <a:off x="2267712" y="2194560"/>
            <a:ext cx="1810512" cy="1463040"/>
          </a:xfrm>
          <a:prstGeom prst="rect">
            <a:avLst/>
          </a:prstGeom>
          <a:solidFill>
            <a:srgbClr val="000000"/>
          </a:solidFill>
          <a:ln>
            <a:noFill/>
          </a:ln>
          <a:effectLst/>
        </p:spPr>
        <p:txBody>
          <a:bodyPr rtlCol="0" anchor="ctr"/>
          <a:lstStyle/>
          <a:p>
            <a:pPr algn="ctr"/>
          </a:p>
        </p:txBody>
      </p:sp>
      <p:sp>
        <p:nvSpPr>
          <p:cNvPr id="14" name="Rectangle 13"/>
          <p:cNvSpPr/>
          <p:nvPr/>
        </p:nvSpPr>
        <p:spPr>
          <a:xfrm>
            <a:off x="2267712" y="2194560"/>
            <a:ext cx="1810512" cy="50800"/>
          </a:xfrm>
          <a:prstGeom prst="rect">
            <a:avLst/>
          </a:prstGeom>
          <a:solidFill>
            <a:srgbClr val="01A296"/>
          </a:solidFill>
          <a:ln>
            <a:noFill/>
          </a:ln>
          <a:effectLst/>
        </p:spPr>
        <p:txBody>
          <a:bodyPr rtlCol="0" anchor="ctr"/>
          <a:lstStyle/>
          <a:p>
            <a:pPr algn="ctr"/>
          </a:p>
        </p:txBody>
      </p:sp>
      <p:sp>
        <p:nvSpPr>
          <p:cNvPr id="15" name="TextBox 14"/>
          <p:cNvSpPr txBox="1"/>
          <p:nvPr/>
        </p:nvSpPr>
        <p:spPr>
          <a:xfrm>
            <a:off x="2377440" y="2304288"/>
            <a:ext cx="1591056" cy="457200"/>
          </a:xfrm>
          <a:prstGeom prst="rect">
            <a:avLst/>
          </a:prstGeom>
          <a:noFill/>
        </p:spPr>
        <p:txBody>
          <a:bodyPr wrap="square" lIns="0" rIns="0" tIns="0" bIns="0">
            <a:spAutoFit/>
          </a:bodyPr>
          <a:lstStyle/>
          <a:p>
            <a:pPr algn="l"/>
            <a:r>
              <a:rPr sz="2800" b="1" i="0">
                <a:solidFill>
                  <a:srgbClr val="F8C806"/>
                </a:solidFill>
                <a:latin typeface="Cambria"/>
              </a:rPr>
              <a:t>49%</a:t>
            </a:r>
          </a:p>
        </p:txBody>
      </p:sp>
      <p:sp>
        <p:nvSpPr>
          <p:cNvPr id="16" name="TextBox 15"/>
          <p:cNvSpPr txBox="1"/>
          <p:nvPr/>
        </p:nvSpPr>
        <p:spPr>
          <a:xfrm>
            <a:off x="2377440" y="2761488"/>
            <a:ext cx="1591056" cy="502920"/>
          </a:xfrm>
          <a:prstGeom prst="rect">
            <a:avLst/>
          </a:prstGeom>
          <a:noFill/>
        </p:spPr>
        <p:txBody>
          <a:bodyPr wrap="square" lIns="0" rIns="0" tIns="0" bIns="0">
            <a:spAutoFit/>
          </a:bodyPr>
          <a:lstStyle/>
          <a:p>
            <a:pPr algn="l">
              <a:lnSpc>
                <a:spcPct val="100000"/>
              </a:lnSpc>
              <a:spcAft>
                <a:spcPts val="0"/>
              </a:spcAft>
            </a:pPr>
            <a:r>
              <a:rPr sz="1100" b="0">
                <a:solidFill>
                  <a:srgbClr val="E6E5DE"/>
                </a:solidFill>
                <a:latin typeface="Calibri"/>
              </a:rPr>
              <a:t>Three year average</a:t>
            </a:r>
          </a:p>
          <a:p>
            <a:pPr algn="l">
              <a:lnSpc>
                <a:spcPct val="100000"/>
              </a:lnSpc>
              <a:spcAft>
                <a:spcPts val="0"/>
              </a:spcAft>
            </a:pPr>
            <a:r>
              <a:rPr sz="1100" b="0">
                <a:solidFill>
                  <a:srgbClr val="E6E5DE"/>
                </a:solidFill>
                <a:latin typeface="Calibri"/>
              </a:rPr>
              <a:t>revenue growth</a:t>
            </a:r>
          </a:p>
        </p:txBody>
      </p:sp>
      <p:sp>
        <p:nvSpPr>
          <p:cNvPr id="17" name="TextBox 16"/>
          <p:cNvSpPr txBox="1"/>
          <p:nvPr/>
        </p:nvSpPr>
        <p:spPr>
          <a:xfrm>
            <a:off x="2377440" y="3364992"/>
            <a:ext cx="1591056" cy="228600"/>
          </a:xfrm>
          <a:prstGeom prst="rect">
            <a:avLst/>
          </a:prstGeom>
          <a:noFill/>
        </p:spPr>
        <p:txBody>
          <a:bodyPr wrap="square" lIns="0" rIns="0" tIns="0" bIns="0">
            <a:spAutoFit/>
          </a:bodyPr>
          <a:lstStyle/>
          <a:p>
            <a:pPr algn="l"/>
            <a:r>
              <a:rPr sz="800" b="0" i="1">
                <a:solidFill>
                  <a:srgbClr val="E6E5DE"/>
                </a:solidFill>
                <a:latin typeface="Calibri"/>
              </a:rPr>
              <a:t>SmartCompany Smart50 2025</a:t>
            </a:r>
          </a:p>
        </p:txBody>
      </p:sp>
      <p:sp>
        <p:nvSpPr>
          <p:cNvPr id="18" name="Rectangle 17"/>
          <p:cNvSpPr/>
          <p:nvPr/>
        </p:nvSpPr>
        <p:spPr>
          <a:xfrm>
            <a:off x="4215384" y="2194560"/>
            <a:ext cx="1810512" cy="1463040"/>
          </a:xfrm>
          <a:prstGeom prst="rect">
            <a:avLst/>
          </a:prstGeom>
          <a:solidFill>
            <a:srgbClr val="000000"/>
          </a:solidFill>
          <a:ln>
            <a:noFill/>
          </a:ln>
          <a:effectLst/>
        </p:spPr>
        <p:txBody>
          <a:bodyPr rtlCol="0" anchor="ctr"/>
          <a:lstStyle/>
          <a:p>
            <a:pPr algn="ctr"/>
          </a:p>
        </p:txBody>
      </p:sp>
      <p:sp>
        <p:nvSpPr>
          <p:cNvPr id="19" name="Rectangle 18"/>
          <p:cNvSpPr/>
          <p:nvPr/>
        </p:nvSpPr>
        <p:spPr>
          <a:xfrm>
            <a:off x="4215384" y="2194560"/>
            <a:ext cx="1810512" cy="50800"/>
          </a:xfrm>
          <a:prstGeom prst="rect">
            <a:avLst/>
          </a:prstGeom>
          <a:solidFill>
            <a:srgbClr val="01A296"/>
          </a:solidFill>
          <a:ln>
            <a:noFill/>
          </a:ln>
          <a:effectLst/>
        </p:spPr>
        <p:txBody>
          <a:bodyPr rtlCol="0" anchor="ctr"/>
          <a:lstStyle/>
          <a:p>
            <a:pPr algn="ctr"/>
          </a:p>
        </p:txBody>
      </p:sp>
      <p:sp>
        <p:nvSpPr>
          <p:cNvPr id="20" name="TextBox 19"/>
          <p:cNvSpPr txBox="1"/>
          <p:nvPr/>
        </p:nvSpPr>
        <p:spPr>
          <a:xfrm>
            <a:off x="4325112" y="2304288"/>
            <a:ext cx="1591056" cy="457200"/>
          </a:xfrm>
          <a:prstGeom prst="rect">
            <a:avLst/>
          </a:prstGeom>
          <a:noFill/>
        </p:spPr>
        <p:txBody>
          <a:bodyPr wrap="square" lIns="0" rIns="0" tIns="0" bIns="0">
            <a:spAutoFit/>
          </a:bodyPr>
          <a:lstStyle/>
          <a:p>
            <a:pPr algn="l"/>
            <a:r>
              <a:rPr sz="2800" b="1" i="0">
                <a:solidFill>
                  <a:srgbClr val="F8C806"/>
                </a:solidFill>
                <a:latin typeface="Cambria"/>
              </a:rPr>
              <a:t>30</a:t>
            </a:r>
          </a:p>
        </p:txBody>
      </p:sp>
      <p:sp>
        <p:nvSpPr>
          <p:cNvPr id="21" name="TextBox 20"/>
          <p:cNvSpPr txBox="1"/>
          <p:nvPr/>
        </p:nvSpPr>
        <p:spPr>
          <a:xfrm>
            <a:off x="4325112" y="2761488"/>
            <a:ext cx="1591056" cy="502920"/>
          </a:xfrm>
          <a:prstGeom prst="rect">
            <a:avLst/>
          </a:prstGeom>
          <a:noFill/>
        </p:spPr>
        <p:txBody>
          <a:bodyPr wrap="square" lIns="0" rIns="0" tIns="0" bIns="0">
            <a:spAutoFit/>
          </a:bodyPr>
          <a:lstStyle/>
          <a:p>
            <a:pPr algn="l">
              <a:lnSpc>
                <a:spcPct val="100000"/>
              </a:lnSpc>
              <a:spcAft>
                <a:spcPts val="0"/>
              </a:spcAft>
            </a:pPr>
            <a:r>
              <a:rPr sz="1100" b="0">
                <a:solidFill>
                  <a:srgbClr val="E6E5DE"/>
                </a:solidFill>
                <a:latin typeface="Calibri"/>
              </a:rPr>
              <a:t>People on the</a:t>
            </a:r>
          </a:p>
          <a:p>
            <a:pPr algn="l">
              <a:lnSpc>
                <a:spcPct val="100000"/>
              </a:lnSpc>
              <a:spcAft>
                <a:spcPts val="0"/>
              </a:spcAft>
            </a:pPr>
            <a:r>
              <a:rPr sz="1100" b="0">
                <a:solidFill>
                  <a:srgbClr val="E6E5DE"/>
                </a:solidFill>
                <a:latin typeface="Calibri"/>
              </a:rPr>
              <a:t>Richmond team</a:t>
            </a:r>
          </a:p>
        </p:txBody>
      </p:sp>
      <p:sp>
        <p:nvSpPr>
          <p:cNvPr id="22" name="TextBox 21"/>
          <p:cNvSpPr txBox="1"/>
          <p:nvPr/>
        </p:nvSpPr>
        <p:spPr>
          <a:xfrm>
            <a:off x="4325112" y="3364992"/>
            <a:ext cx="1591056" cy="228600"/>
          </a:xfrm>
          <a:prstGeom prst="rect">
            <a:avLst/>
          </a:prstGeom>
          <a:noFill/>
        </p:spPr>
        <p:txBody>
          <a:bodyPr wrap="square" lIns="0" rIns="0" tIns="0" bIns="0">
            <a:spAutoFit/>
          </a:bodyPr>
          <a:lstStyle/>
          <a:p>
            <a:pPr algn="l"/>
            <a:r>
              <a:rPr sz="800" b="0" i="1">
                <a:solidFill>
                  <a:srgbClr val="E6E5DE"/>
                </a:solidFill>
                <a:latin typeface="Calibri"/>
              </a:rPr>
              <a:t>AFR BOSS coverage, 2025</a:t>
            </a:r>
          </a:p>
        </p:txBody>
      </p:sp>
      <p:sp>
        <p:nvSpPr>
          <p:cNvPr id="23" name="Rectangle 22"/>
          <p:cNvSpPr/>
          <p:nvPr/>
        </p:nvSpPr>
        <p:spPr>
          <a:xfrm>
            <a:off x="6163056" y="2194560"/>
            <a:ext cx="1810512" cy="1463040"/>
          </a:xfrm>
          <a:prstGeom prst="rect">
            <a:avLst/>
          </a:prstGeom>
          <a:solidFill>
            <a:srgbClr val="000000"/>
          </a:solidFill>
          <a:ln>
            <a:noFill/>
          </a:ln>
          <a:effectLst/>
        </p:spPr>
        <p:txBody>
          <a:bodyPr rtlCol="0" anchor="ctr"/>
          <a:lstStyle/>
          <a:p>
            <a:pPr algn="ctr"/>
          </a:p>
        </p:txBody>
      </p:sp>
      <p:sp>
        <p:nvSpPr>
          <p:cNvPr id="24" name="Rectangle 23"/>
          <p:cNvSpPr/>
          <p:nvPr/>
        </p:nvSpPr>
        <p:spPr>
          <a:xfrm>
            <a:off x="6163056" y="2194560"/>
            <a:ext cx="1810512" cy="50800"/>
          </a:xfrm>
          <a:prstGeom prst="rect">
            <a:avLst/>
          </a:prstGeom>
          <a:solidFill>
            <a:srgbClr val="01A296"/>
          </a:solidFill>
          <a:ln>
            <a:noFill/>
          </a:ln>
          <a:effectLst/>
        </p:spPr>
        <p:txBody>
          <a:bodyPr rtlCol="0" anchor="ctr"/>
          <a:lstStyle/>
          <a:p>
            <a:pPr algn="ctr"/>
          </a:p>
        </p:txBody>
      </p:sp>
      <p:sp>
        <p:nvSpPr>
          <p:cNvPr id="25" name="TextBox 24"/>
          <p:cNvSpPr txBox="1"/>
          <p:nvPr/>
        </p:nvSpPr>
        <p:spPr>
          <a:xfrm>
            <a:off x="6272784" y="2304288"/>
            <a:ext cx="1591056" cy="457200"/>
          </a:xfrm>
          <a:prstGeom prst="rect">
            <a:avLst/>
          </a:prstGeom>
          <a:noFill/>
        </p:spPr>
        <p:txBody>
          <a:bodyPr wrap="square" lIns="0" rIns="0" tIns="0" bIns="0">
            <a:spAutoFit/>
          </a:bodyPr>
          <a:lstStyle/>
          <a:p>
            <a:pPr algn="l"/>
            <a:r>
              <a:rPr sz="2800" b="1" i="0">
                <a:solidFill>
                  <a:srgbClr val="F8C806"/>
                </a:solidFill>
                <a:latin typeface="Cambria"/>
              </a:rPr>
              <a:t>2018</a:t>
            </a:r>
          </a:p>
        </p:txBody>
      </p:sp>
      <p:sp>
        <p:nvSpPr>
          <p:cNvPr id="26" name="TextBox 25"/>
          <p:cNvSpPr txBox="1"/>
          <p:nvPr/>
        </p:nvSpPr>
        <p:spPr>
          <a:xfrm>
            <a:off x="6272784" y="2761488"/>
            <a:ext cx="1591056" cy="502920"/>
          </a:xfrm>
          <a:prstGeom prst="rect">
            <a:avLst/>
          </a:prstGeom>
          <a:noFill/>
        </p:spPr>
        <p:txBody>
          <a:bodyPr wrap="square" lIns="0" rIns="0" tIns="0" bIns="0">
            <a:spAutoFit/>
          </a:bodyPr>
          <a:lstStyle/>
          <a:p>
            <a:pPr algn="l">
              <a:lnSpc>
                <a:spcPct val="100000"/>
              </a:lnSpc>
              <a:spcAft>
                <a:spcPts val="0"/>
              </a:spcAft>
            </a:pPr>
            <a:r>
              <a:rPr sz="1100" b="0">
                <a:solidFill>
                  <a:srgbClr val="E6E5DE"/>
                </a:solidFill>
                <a:latin typeface="Calibri"/>
              </a:rPr>
              <a:t>Year founded by</a:t>
            </a:r>
          </a:p>
          <a:p>
            <a:pPr algn="l">
              <a:lnSpc>
                <a:spcPct val="100000"/>
              </a:lnSpc>
              <a:spcAft>
                <a:spcPts val="0"/>
              </a:spcAft>
            </a:pPr>
            <a:r>
              <a:rPr sz="1100" b="0">
                <a:solidFill>
                  <a:srgbClr val="E6E5DE"/>
                </a:solidFill>
                <a:latin typeface="Calibri"/>
              </a:rPr>
              <a:t>Marilla Akkermans</a:t>
            </a:r>
          </a:p>
        </p:txBody>
      </p:sp>
      <p:sp>
        <p:nvSpPr>
          <p:cNvPr id="27" name="TextBox 26"/>
          <p:cNvSpPr txBox="1"/>
          <p:nvPr/>
        </p:nvSpPr>
        <p:spPr>
          <a:xfrm>
            <a:off x="6272784" y="3364992"/>
            <a:ext cx="1591056" cy="228600"/>
          </a:xfrm>
          <a:prstGeom prst="rect">
            <a:avLst/>
          </a:prstGeom>
          <a:noFill/>
        </p:spPr>
        <p:txBody>
          <a:bodyPr wrap="square" lIns="0" rIns="0" tIns="0" bIns="0">
            <a:spAutoFit/>
          </a:bodyPr>
          <a:lstStyle/>
          <a:p>
            <a:pPr algn="l"/>
            <a:r>
              <a:rPr sz="800" b="0" i="1">
                <a:solidFill>
                  <a:srgbClr val="E6E5DE"/>
                </a:solidFill>
                <a:latin typeface="Calibri"/>
              </a:rPr>
              <a:t>Company and press records</a:t>
            </a:r>
          </a:p>
        </p:txBody>
      </p:sp>
      <p:sp>
        <p:nvSpPr>
          <p:cNvPr id="28" name="Rectangle 27"/>
          <p:cNvSpPr/>
          <p:nvPr/>
        </p:nvSpPr>
        <p:spPr>
          <a:xfrm>
            <a:off x="8110728" y="2194560"/>
            <a:ext cx="1810512" cy="1463040"/>
          </a:xfrm>
          <a:prstGeom prst="rect">
            <a:avLst/>
          </a:prstGeom>
          <a:solidFill>
            <a:srgbClr val="000000"/>
          </a:solidFill>
          <a:ln>
            <a:noFill/>
          </a:ln>
          <a:effectLst/>
        </p:spPr>
        <p:txBody>
          <a:bodyPr rtlCol="0" anchor="ctr"/>
          <a:lstStyle/>
          <a:p>
            <a:pPr algn="ctr"/>
          </a:p>
        </p:txBody>
      </p:sp>
      <p:sp>
        <p:nvSpPr>
          <p:cNvPr id="29" name="Rectangle 28"/>
          <p:cNvSpPr/>
          <p:nvPr/>
        </p:nvSpPr>
        <p:spPr>
          <a:xfrm>
            <a:off x="8110728" y="2194560"/>
            <a:ext cx="1810512" cy="50800"/>
          </a:xfrm>
          <a:prstGeom prst="rect">
            <a:avLst/>
          </a:prstGeom>
          <a:solidFill>
            <a:srgbClr val="01A296"/>
          </a:solidFill>
          <a:ln>
            <a:noFill/>
          </a:ln>
          <a:effectLst/>
        </p:spPr>
        <p:txBody>
          <a:bodyPr rtlCol="0" anchor="ctr"/>
          <a:lstStyle/>
          <a:p>
            <a:pPr algn="ctr"/>
          </a:p>
        </p:txBody>
      </p:sp>
      <p:sp>
        <p:nvSpPr>
          <p:cNvPr id="30" name="TextBox 29"/>
          <p:cNvSpPr txBox="1"/>
          <p:nvPr/>
        </p:nvSpPr>
        <p:spPr>
          <a:xfrm>
            <a:off x="8220456" y="2304288"/>
            <a:ext cx="1591056" cy="457200"/>
          </a:xfrm>
          <a:prstGeom prst="rect">
            <a:avLst/>
          </a:prstGeom>
          <a:noFill/>
        </p:spPr>
        <p:txBody>
          <a:bodyPr wrap="square" lIns="0" rIns="0" tIns="0" bIns="0">
            <a:spAutoFit/>
          </a:bodyPr>
          <a:lstStyle/>
          <a:p>
            <a:pPr algn="l"/>
            <a:r>
              <a:rPr sz="2800" b="1" i="0">
                <a:solidFill>
                  <a:srgbClr val="F8C806"/>
                </a:solidFill>
                <a:latin typeface="Cambria"/>
              </a:rPr>
              <a:t>#1</a:t>
            </a:r>
          </a:p>
        </p:txBody>
      </p:sp>
      <p:sp>
        <p:nvSpPr>
          <p:cNvPr id="31" name="TextBox 30"/>
          <p:cNvSpPr txBox="1"/>
          <p:nvPr/>
        </p:nvSpPr>
        <p:spPr>
          <a:xfrm>
            <a:off x="8220456" y="2761488"/>
            <a:ext cx="1591056" cy="502920"/>
          </a:xfrm>
          <a:prstGeom prst="rect">
            <a:avLst/>
          </a:prstGeom>
          <a:noFill/>
        </p:spPr>
        <p:txBody>
          <a:bodyPr wrap="square" lIns="0" rIns="0" tIns="0" bIns="0">
            <a:spAutoFit/>
          </a:bodyPr>
          <a:lstStyle/>
          <a:p>
            <a:pPr algn="l">
              <a:lnSpc>
                <a:spcPct val="100000"/>
              </a:lnSpc>
              <a:spcAft>
                <a:spcPts val="0"/>
              </a:spcAft>
            </a:pPr>
            <a:r>
              <a:rPr sz="1100" b="0">
                <a:solidFill>
                  <a:srgbClr val="E6E5DE"/>
                </a:solidFill>
                <a:latin typeface="Calibri"/>
              </a:rPr>
              <a:t>Best Place to Work</a:t>
            </a:r>
          </a:p>
          <a:p>
            <a:pPr algn="l">
              <a:lnSpc>
                <a:spcPct val="100000"/>
              </a:lnSpc>
              <a:spcAft>
                <a:spcPts val="0"/>
              </a:spcAft>
            </a:pPr>
            <a:r>
              <a:rPr sz="1100" b="0">
                <a:solidFill>
                  <a:srgbClr val="E6E5DE"/>
                </a:solidFill>
                <a:latin typeface="Calibri"/>
              </a:rPr>
              <a:t>in Media, 2025</a:t>
            </a:r>
          </a:p>
        </p:txBody>
      </p:sp>
      <p:sp>
        <p:nvSpPr>
          <p:cNvPr id="32" name="TextBox 31"/>
          <p:cNvSpPr txBox="1"/>
          <p:nvPr/>
        </p:nvSpPr>
        <p:spPr>
          <a:xfrm>
            <a:off x="8220456" y="3364992"/>
            <a:ext cx="1591056" cy="228600"/>
          </a:xfrm>
          <a:prstGeom prst="rect">
            <a:avLst/>
          </a:prstGeom>
          <a:noFill/>
        </p:spPr>
        <p:txBody>
          <a:bodyPr wrap="square" lIns="0" rIns="0" tIns="0" bIns="0">
            <a:spAutoFit/>
          </a:bodyPr>
          <a:lstStyle/>
          <a:p>
            <a:pPr algn="l"/>
            <a:r>
              <a:rPr sz="800" b="0" i="1">
                <a:solidFill>
                  <a:srgbClr val="E6E5DE"/>
                </a:solidFill>
                <a:latin typeface="Calibri"/>
              </a:rPr>
              <a:t>AdNews, April 2025</a:t>
            </a:r>
          </a:p>
        </p:txBody>
      </p:sp>
      <p:sp>
        <p:nvSpPr>
          <p:cNvPr id="33" name="Rectangle 32"/>
          <p:cNvSpPr/>
          <p:nvPr/>
        </p:nvSpPr>
        <p:spPr>
          <a:xfrm>
            <a:off x="10058400" y="2194560"/>
            <a:ext cx="1810512" cy="1463040"/>
          </a:xfrm>
          <a:prstGeom prst="rect">
            <a:avLst/>
          </a:prstGeom>
          <a:solidFill>
            <a:srgbClr val="000000"/>
          </a:solidFill>
          <a:ln>
            <a:noFill/>
          </a:ln>
          <a:effectLst/>
        </p:spPr>
        <p:txBody>
          <a:bodyPr rtlCol="0" anchor="ctr"/>
          <a:lstStyle/>
          <a:p>
            <a:pPr algn="ctr"/>
          </a:p>
        </p:txBody>
      </p:sp>
      <p:sp>
        <p:nvSpPr>
          <p:cNvPr id="34" name="Rectangle 33"/>
          <p:cNvSpPr/>
          <p:nvPr/>
        </p:nvSpPr>
        <p:spPr>
          <a:xfrm>
            <a:off x="10058400" y="2194560"/>
            <a:ext cx="1810512" cy="50800"/>
          </a:xfrm>
          <a:prstGeom prst="rect">
            <a:avLst/>
          </a:prstGeom>
          <a:solidFill>
            <a:srgbClr val="01A296"/>
          </a:solidFill>
          <a:ln>
            <a:noFill/>
          </a:ln>
          <a:effectLst/>
        </p:spPr>
        <p:txBody>
          <a:bodyPr rtlCol="0" anchor="ctr"/>
          <a:lstStyle/>
          <a:p>
            <a:pPr algn="ctr"/>
          </a:p>
        </p:txBody>
      </p:sp>
      <p:sp>
        <p:nvSpPr>
          <p:cNvPr id="35" name="TextBox 34"/>
          <p:cNvSpPr txBox="1"/>
          <p:nvPr/>
        </p:nvSpPr>
        <p:spPr>
          <a:xfrm>
            <a:off x="10168128" y="2304288"/>
            <a:ext cx="1591056" cy="457200"/>
          </a:xfrm>
          <a:prstGeom prst="rect">
            <a:avLst/>
          </a:prstGeom>
          <a:noFill/>
        </p:spPr>
        <p:txBody>
          <a:bodyPr wrap="square" lIns="0" rIns="0" tIns="0" bIns="0">
            <a:spAutoFit/>
          </a:bodyPr>
          <a:lstStyle/>
          <a:p>
            <a:pPr algn="l"/>
            <a:r>
              <a:rPr sz="2800" b="1" i="0">
                <a:solidFill>
                  <a:srgbClr val="F8C806"/>
                </a:solidFill>
                <a:latin typeface="Cambria"/>
              </a:rPr>
              <a:t>$250K</a:t>
            </a:r>
          </a:p>
        </p:txBody>
      </p:sp>
      <p:sp>
        <p:nvSpPr>
          <p:cNvPr id="36" name="TextBox 35"/>
          <p:cNvSpPr txBox="1"/>
          <p:nvPr/>
        </p:nvSpPr>
        <p:spPr>
          <a:xfrm>
            <a:off x="10168128" y="2761488"/>
            <a:ext cx="1591056" cy="502920"/>
          </a:xfrm>
          <a:prstGeom prst="rect">
            <a:avLst/>
          </a:prstGeom>
          <a:noFill/>
        </p:spPr>
        <p:txBody>
          <a:bodyPr wrap="square" lIns="0" rIns="0" tIns="0" bIns="0">
            <a:spAutoFit/>
          </a:bodyPr>
          <a:lstStyle/>
          <a:p>
            <a:pPr algn="l">
              <a:lnSpc>
                <a:spcPct val="100000"/>
              </a:lnSpc>
              <a:spcAft>
                <a:spcPts val="0"/>
              </a:spcAft>
            </a:pPr>
            <a:r>
              <a:rPr sz="1100" b="0">
                <a:solidFill>
                  <a:srgbClr val="E6E5DE"/>
                </a:solidFill>
                <a:latin typeface="Calibri"/>
              </a:rPr>
              <a:t>Donated to Women's</a:t>
            </a:r>
          </a:p>
          <a:p>
            <a:pPr algn="l">
              <a:lnSpc>
                <a:spcPct val="100000"/>
              </a:lnSpc>
              <a:spcAft>
                <a:spcPts val="0"/>
              </a:spcAft>
            </a:pPr>
            <a:r>
              <a:rPr sz="1100" b="0">
                <a:solidFill>
                  <a:srgbClr val="E6E5DE"/>
                </a:solidFill>
                <a:latin typeface="Calibri"/>
              </a:rPr>
              <a:t>Property Initiatives</a:t>
            </a:r>
          </a:p>
        </p:txBody>
      </p:sp>
      <p:sp>
        <p:nvSpPr>
          <p:cNvPr id="37" name="TextBox 36"/>
          <p:cNvSpPr txBox="1"/>
          <p:nvPr/>
        </p:nvSpPr>
        <p:spPr>
          <a:xfrm>
            <a:off x="10168128" y="3364992"/>
            <a:ext cx="1591056" cy="228600"/>
          </a:xfrm>
          <a:prstGeom prst="rect">
            <a:avLst/>
          </a:prstGeom>
          <a:noFill/>
        </p:spPr>
        <p:txBody>
          <a:bodyPr wrap="square" lIns="0" rIns="0" tIns="0" bIns="0">
            <a:spAutoFit/>
          </a:bodyPr>
          <a:lstStyle/>
          <a:p>
            <a:pPr algn="l"/>
            <a:r>
              <a:rPr sz="800" b="0" i="1">
                <a:solidFill>
                  <a:srgbClr val="E6E5DE"/>
                </a:solidFill>
                <a:latin typeface="Calibri"/>
              </a:rPr>
              <a:t>B&amp;T, April 2025</a:t>
            </a:r>
          </a:p>
        </p:txBody>
      </p:sp>
      <p:sp>
        <p:nvSpPr>
          <p:cNvPr id="38" name="TextBox 37"/>
          <p:cNvSpPr txBox="1"/>
          <p:nvPr/>
        </p:nvSpPr>
        <p:spPr>
          <a:xfrm>
            <a:off x="320040" y="3822191"/>
            <a:ext cx="7315200" cy="274320"/>
          </a:xfrm>
          <a:prstGeom prst="rect">
            <a:avLst/>
          </a:prstGeom>
          <a:noFill/>
        </p:spPr>
        <p:txBody>
          <a:bodyPr wrap="square" lIns="0" rIns="0" tIns="0" bIns="0">
            <a:spAutoFit/>
          </a:bodyPr>
          <a:lstStyle/>
          <a:p>
            <a:pPr algn="l"/>
            <a:r>
              <a:rPr sz="1300" b="1" i="0">
                <a:solidFill>
                  <a:srgbClr val="01A296"/>
                </a:solidFill>
                <a:latin typeface="Calibri"/>
              </a:rPr>
              <a:t>KEY COMMERCIAL SIGNALS</a:t>
            </a:r>
          </a:p>
        </p:txBody>
      </p:sp>
      <p:sp>
        <p:nvSpPr>
          <p:cNvPr id="39" name="TextBox 38"/>
          <p:cNvSpPr txBox="1"/>
          <p:nvPr/>
        </p:nvSpPr>
        <p:spPr>
          <a:xfrm>
            <a:off x="320040" y="4133087"/>
            <a:ext cx="11521440" cy="2103120"/>
          </a:xfrm>
          <a:prstGeom prst="rect">
            <a:avLst/>
          </a:prstGeom>
          <a:noFill/>
        </p:spPr>
        <p:txBody>
          <a:bodyPr wrap="square" lIns="0" rIns="0" tIns="0" bIns="0">
            <a:spAutoFit/>
          </a:bodyPr>
          <a:lstStyle/>
          <a:p>
            <a:pPr algn="l">
              <a:lnSpc>
                <a:spcPct val="105000"/>
              </a:lnSpc>
              <a:spcAft>
                <a:spcPts val="600"/>
              </a:spcAft>
            </a:pPr>
            <a:r>
              <a:rPr sz="1200" b="0">
                <a:solidFill>
                  <a:srgbClr val="000000"/>
                </a:solidFill>
                <a:latin typeface="Calibri"/>
              </a:rPr>
              <a:t>• Team grew from 15 to 30 across 2024 to 25 while the studio footprint expanded (Smart50; AdNews)</a:t>
            </a:r>
          </a:p>
          <a:p>
            <a:pPr algn="l">
              <a:lnSpc>
                <a:spcPct val="105000"/>
              </a:lnSpc>
              <a:spcAft>
                <a:spcPts val="600"/>
              </a:spcAft>
            </a:pPr>
            <a:r>
              <a:rPr sz="1200" b="0">
                <a:solidFill>
                  <a:srgbClr val="000000"/>
                </a:solidFill>
                <a:latin typeface="Calibri"/>
              </a:rPr>
              <a:t>• Named number one AFR BOSS Best Place to Work in Media, third year running (AdNews, April 2025)</a:t>
            </a:r>
          </a:p>
          <a:p>
            <a:pPr algn="l">
              <a:lnSpc>
                <a:spcPct val="105000"/>
              </a:lnSpc>
              <a:spcAft>
                <a:spcPts val="600"/>
              </a:spcAft>
            </a:pPr>
            <a:r>
              <a:rPr sz="1200" b="0">
                <a:solidFill>
                  <a:srgbClr val="000000"/>
                </a:solidFill>
                <a:latin typeface="Calibri"/>
              </a:rPr>
              <a:t>• Runs a four day, full pay 32 hour week with 19 extra leave days across the team (B&amp;T, 2025)</a:t>
            </a:r>
          </a:p>
          <a:p>
            <a:pPr algn="l">
              <a:lnSpc>
                <a:spcPct val="105000"/>
              </a:lnSpc>
              <a:spcAft>
                <a:spcPts val="600"/>
              </a:spcAft>
            </a:pPr>
            <a:r>
              <a:rPr sz="1200" b="0">
                <a:solidFill>
                  <a:srgbClr val="000000"/>
                </a:solidFill>
                <a:latin typeface="Calibri"/>
              </a:rPr>
              <a:t>• Donates 10 percent of annual profit to Women's Property Initiatives, $250,000 in 2025 (B&amp;T)</a:t>
            </a:r>
          </a:p>
          <a:p>
            <a:pPr algn="l">
              <a:lnSpc>
                <a:spcPct val="105000"/>
              </a:lnSpc>
              <a:spcAft>
                <a:spcPts val="600"/>
              </a:spcAft>
            </a:pPr>
            <a:r>
              <a:rPr sz="1200" b="0">
                <a:solidFill>
                  <a:srgbClr val="000000"/>
                </a:solidFill>
                <a:latin typeface="Calibri"/>
              </a:rPr>
              <a:t>• Won the BIODERMA ANZ media account, full funnel strategy and channel remit (AdNews, March 2026)</a:t>
            </a:r>
          </a:p>
          <a:p>
            <a:pPr algn="l">
              <a:lnSpc>
                <a:spcPct val="105000"/>
              </a:lnSpc>
              <a:spcAft>
                <a:spcPts val="600"/>
              </a:spcAft>
            </a:pPr>
            <a:r>
              <a:rPr sz="1200" b="0">
                <a:solidFill>
                  <a:srgbClr val="000000"/>
                </a:solidFill>
                <a:latin typeface="Calibri"/>
              </a:rPr>
              <a:t>• Great Place to Work certified, single studio location in Richmond VIC (Great Place to Work AU)</a:t>
            </a:r>
          </a:p>
        </p:txBody>
      </p:sp>
      <p:sp>
        <p:nvSpPr>
          <p:cNvPr id="40" name="TextBox 39"/>
          <p:cNvSpPr txBox="1"/>
          <p:nvPr/>
        </p:nvSpPr>
        <p:spPr>
          <a:xfrm>
            <a:off x="320040" y="6446520"/>
            <a:ext cx="8686800" cy="274320"/>
          </a:xfrm>
          <a:prstGeom prst="rect">
            <a:avLst/>
          </a:prstGeom>
          <a:noFill/>
        </p:spPr>
        <p:txBody>
          <a:bodyPr wrap="square" lIns="0" rIns="0" tIns="0" bIns="0">
            <a:spAutoFit/>
          </a:bodyPr>
          <a:lstStyle/>
          <a:p>
            <a:pPr algn="l"/>
            <a:r>
              <a:rPr sz="900" b="0" i="0">
                <a:solidFill>
                  <a:srgbClr val="000000"/>
                </a:solidFill>
                <a:latin typeface="Calibri"/>
              </a:rPr>
              <a:t>Prepared by Nitesh Roopa CA, Managing Partner and Founder, ProfitPulse, Profit-Pulse.com.au</a:t>
            </a:r>
          </a:p>
        </p:txBody>
      </p:sp>
      <p:sp>
        <p:nvSpPr>
          <p:cNvPr id="41" name="TextBox 40"/>
          <p:cNvSpPr txBox="1"/>
          <p:nvPr/>
        </p:nvSpPr>
        <p:spPr>
          <a:xfrm>
            <a:off x="9144000" y="6446520"/>
            <a:ext cx="2724912" cy="274320"/>
          </a:xfrm>
          <a:prstGeom prst="rect">
            <a:avLst/>
          </a:prstGeom>
          <a:noFill/>
        </p:spPr>
        <p:txBody>
          <a:bodyPr wrap="square" lIns="0" rIns="0" tIns="0" bIns="0">
            <a:spAutoFit/>
          </a:bodyPr>
          <a:lstStyle/>
          <a:p>
            <a:pPr algn="r"/>
            <a:r>
              <a:rPr sz="900" b="0" i="0">
                <a:solidFill>
                  <a:srgbClr val="000000"/>
                </a:solidFill>
                <a:latin typeface="Calibri"/>
              </a:rPr>
              <a:t>09 Jul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00000"/>
          </a:solidFill>
          <a:ln>
            <a:noFill/>
          </a:ln>
          <a:effectLst/>
        </p:spPr>
        <p:txBody>
          <a:bodyPr rtlCol="0" anchor="ctr"/>
          <a:lstStyle/>
          <a:p>
            <a:pPr algn="ctr"/>
          </a:p>
        </p:txBody>
      </p:sp>
      <p:sp>
        <p:nvSpPr>
          <p:cNvPr id="3" name="TextBox 2"/>
          <p:cNvSpPr txBox="1"/>
          <p:nvPr/>
        </p:nvSpPr>
        <p:spPr>
          <a:xfrm>
            <a:off x="320040" y="292608"/>
            <a:ext cx="7315200" cy="365760"/>
          </a:xfrm>
          <a:prstGeom prst="rect">
            <a:avLst/>
          </a:prstGeom>
          <a:noFill/>
        </p:spPr>
        <p:txBody>
          <a:bodyPr wrap="square" lIns="0" rIns="0" tIns="0" bIns="0" anchor="ctr">
            <a:spAutoFit/>
          </a:bodyPr>
          <a:lstStyle/>
          <a:p>
            <a:pPr algn="l"/>
            <a:r>
              <a:rPr sz="1300" b="1" i="0">
                <a:solidFill>
                  <a:srgbClr val="E6E5DE"/>
                </a:solidFill>
                <a:latin typeface="Calibri"/>
              </a:rPr>
              <a:t>THE OPPORTUNITY</a:t>
            </a:r>
          </a:p>
        </p:txBody>
      </p:sp>
      <p:sp>
        <p:nvSpPr>
          <p:cNvPr id="4" name="TextBox 3"/>
          <p:cNvSpPr txBox="1"/>
          <p:nvPr/>
        </p:nvSpPr>
        <p:spPr>
          <a:xfrm>
            <a:off x="7772400" y="292608"/>
            <a:ext cx="4099255" cy="365760"/>
          </a:xfrm>
          <a:prstGeom prst="rect">
            <a:avLst/>
          </a:prstGeom>
          <a:noFill/>
        </p:spPr>
        <p:txBody>
          <a:bodyPr wrap="square" lIns="0" rIns="0" tIns="0" bIns="0" anchor="ctr">
            <a:spAutoFit/>
          </a:bodyPr>
          <a:lstStyle/>
          <a:p>
            <a:pPr algn="r"/>
            <a:r>
              <a:rPr sz="1300" b="1" i="0">
                <a:solidFill>
                  <a:srgbClr val="F8C806"/>
                </a:solidFill>
                <a:latin typeface="Calibri"/>
              </a:rPr>
              <a:t>PROFITPULSE</a:t>
            </a:r>
          </a:p>
        </p:txBody>
      </p:sp>
      <p:sp>
        <p:nvSpPr>
          <p:cNvPr id="5" name="Rectangle 4"/>
          <p:cNvSpPr/>
          <p:nvPr/>
        </p:nvSpPr>
        <p:spPr>
          <a:xfrm>
            <a:off x="0" y="0"/>
            <a:ext cx="91440" cy="6858000"/>
          </a:xfrm>
          <a:prstGeom prst="rect">
            <a:avLst/>
          </a:prstGeom>
          <a:solidFill>
            <a:srgbClr val="F8C806"/>
          </a:solidFill>
          <a:ln>
            <a:noFill/>
          </a:ln>
          <a:effectLst/>
        </p:spPr>
        <p:txBody>
          <a:bodyPr rtlCol="0" anchor="ctr"/>
          <a:lstStyle/>
          <a:p>
            <a:pPr algn="ctr"/>
          </a:p>
        </p:txBody>
      </p:sp>
      <p:sp>
        <p:nvSpPr>
          <p:cNvPr id="6" name="TextBox 5"/>
          <p:cNvSpPr txBox="1"/>
          <p:nvPr/>
        </p:nvSpPr>
        <p:spPr>
          <a:xfrm>
            <a:off x="320040" y="1024128"/>
            <a:ext cx="11521440" cy="411480"/>
          </a:xfrm>
          <a:prstGeom prst="rect">
            <a:avLst/>
          </a:prstGeom>
          <a:noFill/>
        </p:spPr>
        <p:txBody>
          <a:bodyPr wrap="square" lIns="0" rIns="0" tIns="0" bIns="0">
            <a:spAutoFit/>
          </a:bodyPr>
          <a:lstStyle/>
          <a:p>
            <a:pPr algn="l"/>
            <a:r>
              <a:rPr sz="1600" b="1" i="0">
                <a:solidFill>
                  <a:srgbClr val="01A296"/>
                </a:solidFill>
                <a:latin typeface="Calibri"/>
              </a:rPr>
              <a:t>Equality Media + Marketing: Three commercial observations from ProfitPulse</a:t>
            </a:r>
          </a:p>
        </p:txBody>
      </p:sp>
      <p:sp>
        <p:nvSpPr>
          <p:cNvPr id="7" name="Rectangle 6"/>
          <p:cNvSpPr/>
          <p:nvPr/>
        </p:nvSpPr>
        <p:spPr>
          <a:xfrm>
            <a:off x="320040" y="1508760"/>
            <a:ext cx="3777386" cy="3611880"/>
          </a:xfrm>
          <a:prstGeom prst="rect">
            <a:avLst/>
          </a:prstGeom>
          <a:solidFill>
            <a:srgbClr val="01A296"/>
          </a:solidFill>
          <a:ln>
            <a:noFill/>
          </a:ln>
          <a:effectLst/>
        </p:spPr>
        <p:txBody>
          <a:bodyPr rtlCol="0" anchor="ctr"/>
          <a:lstStyle/>
          <a:p>
            <a:pPr algn="ctr"/>
          </a:p>
        </p:txBody>
      </p:sp>
      <p:sp>
        <p:nvSpPr>
          <p:cNvPr id="8" name="TextBox 7"/>
          <p:cNvSpPr txBox="1"/>
          <p:nvPr/>
        </p:nvSpPr>
        <p:spPr>
          <a:xfrm>
            <a:off x="548640" y="1645920"/>
            <a:ext cx="3320186" cy="640080"/>
          </a:xfrm>
          <a:prstGeom prst="rect">
            <a:avLst/>
          </a:prstGeom>
          <a:noFill/>
        </p:spPr>
        <p:txBody>
          <a:bodyPr wrap="square" lIns="0" rIns="0" tIns="0" bIns="0">
            <a:spAutoFit/>
          </a:bodyPr>
          <a:lstStyle/>
          <a:p>
            <a:pPr algn="l"/>
            <a:r>
              <a:rPr sz="4000" b="1" i="0">
                <a:solidFill>
                  <a:srgbClr val="000000"/>
                </a:solidFill>
                <a:latin typeface="Cambria"/>
              </a:rPr>
              <a:t>01</a:t>
            </a:r>
          </a:p>
        </p:txBody>
      </p:sp>
      <p:sp>
        <p:nvSpPr>
          <p:cNvPr id="9" name="TextBox 8"/>
          <p:cNvSpPr txBox="1"/>
          <p:nvPr/>
        </p:nvSpPr>
        <p:spPr>
          <a:xfrm>
            <a:off x="548640" y="2377440"/>
            <a:ext cx="3320186" cy="640080"/>
          </a:xfrm>
          <a:prstGeom prst="rect">
            <a:avLst/>
          </a:prstGeom>
          <a:noFill/>
        </p:spPr>
        <p:txBody>
          <a:bodyPr wrap="square" lIns="0" rIns="0" tIns="0" bIns="0">
            <a:spAutoFit/>
          </a:bodyPr>
          <a:lstStyle/>
          <a:p>
            <a:pPr algn="l"/>
            <a:r>
              <a:rPr sz="1600" b="1" i="0">
                <a:solidFill>
                  <a:srgbClr val="000000"/>
                </a:solidFill>
                <a:latin typeface="Cambria"/>
              </a:rPr>
              <a:t>Growth has outpaced the finance rhythm</a:t>
            </a:r>
          </a:p>
        </p:txBody>
      </p:sp>
      <p:sp>
        <p:nvSpPr>
          <p:cNvPr id="10" name="TextBox 9"/>
          <p:cNvSpPr txBox="1"/>
          <p:nvPr/>
        </p:nvSpPr>
        <p:spPr>
          <a:xfrm>
            <a:off x="548640" y="3017520"/>
            <a:ext cx="3320186" cy="2606040"/>
          </a:xfrm>
          <a:prstGeom prst="rect">
            <a:avLst/>
          </a:prstGeom>
          <a:noFill/>
        </p:spPr>
        <p:txBody>
          <a:bodyPr wrap="square" lIns="0" rIns="0" tIns="0" bIns="0">
            <a:spAutoFit/>
          </a:bodyPr>
          <a:lstStyle/>
          <a:p>
            <a:pPr algn="l">
              <a:lnSpc>
                <a:spcPct val="112000"/>
              </a:lnSpc>
            </a:pPr>
            <a:r>
              <a:rPr sz="1100" b="0" i="0">
                <a:solidFill>
                  <a:srgbClr val="000000"/>
                </a:solidFill>
                <a:latin typeface="Calibri"/>
              </a:rPr>
              <a:t>The team has roughly doubled in the past year, from 15 to 30 people, while the studio kept its four day week at full pay and an expanded leave framework in place. Payroll now moves ahead of revenue recognition on retainer and campaign work, and without a rolling forecast the exact week that gap bites is hard to see in advance.</a:t>
            </a:r>
          </a:p>
        </p:txBody>
      </p:sp>
      <p:sp>
        <p:nvSpPr>
          <p:cNvPr id="11" name="Rectangle 10"/>
          <p:cNvSpPr/>
          <p:nvPr/>
        </p:nvSpPr>
        <p:spPr>
          <a:xfrm>
            <a:off x="4207154" y="1508760"/>
            <a:ext cx="3777386" cy="3611880"/>
          </a:xfrm>
          <a:prstGeom prst="rect">
            <a:avLst/>
          </a:prstGeom>
          <a:solidFill>
            <a:srgbClr val="000000"/>
          </a:solidFill>
          <a:ln>
            <a:noFill/>
          </a:ln>
          <a:effectLst/>
        </p:spPr>
        <p:txBody>
          <a:bodyPr rtlCol="0" anchor="ctr"/>
          <a:lstStyle/>
          <a:p>
            <a:pPr algn="ctr"/>
          </a:p>
        </p:txBody>
      </p:sp>
      <p:sp>
        <p:nvSpPr>
          <p:cNvPr id="12" name="TextBox 11"/>
          <p:cNvSpPr txBox="1"/>
          <p:nvPr/>
        </p:nvSpPr>
        <p:spPr>
          <a:xfrm>
            <a:off x="4435754" y="1645920"/>
            <a:ext cx="3320186" cy="640080"/>
          </a:xfrm>
          <a:prstGeom prst="rect">
            <a:avLst/>
          </a:prstGeom>
          <a:noFill/>
        </p:spPr>
        <p:txBody>
          <a:bodyPr wrap="square" lIns="0" rIns="0" tIns="0" bIns="0">
            <a:spAutoFit/>
          </a:bodyPr>
          <a:lstStyle/>
          <a:p>
            <a:pPr algn="l"/>
            <a:r>
              <a:rPr sz="4000" b="1" i="0">
                <a:solidFill>
                  <a:srgbClr val="FFFFFF"/>
                </a:solidFill>
                <a:latin typeface="Cambria"/>
              </a:rPr>
              <a:t>02</a:t>
            </a:r>
          </a:p>
        </p:txBody>
      </p:sp>
      <p:sp>
        <p:nvSpPr>
          <p:cNvPr id="13" name="TextBox 12"/>
          <p:cNvSpPr txBox="1"/>
          <p:nvPr/>
        </p:nvSpPr>
        <p:spPr>
          <a:xfrm>
            <a:off x="4435754" y="2377440"/>
            <a:ext cx="3320186" cy="640080"/>
          </a:xfrm>
          <a:prstGeom prst="rect">
            <a:avLst/>
          </a:prstGeom>
          <a:noFill/>
        </p:spPr>
        <p:txBody>
          <a:bodyPr wrap="square" lIns="0" rIns="0" tIns="0" bIns="0">
            <a:spAutoFit/>
          </a:bodyPr>
          <a:lstStyle/>
          <a:p>
            <a:pPr algn="l"/>
            <a:r>
              <a:rPr sz="1600" b="1" i="0">
                <a:solidFill>
                  <a:srgbClr val="FFFFFF"/>
                </a:solidFill>
                <a:latin typeface="Cambria"/>
              </a:rPr>
              <a:t>Self funded growth raises the stakes on cash timing</a:t>
            </a:r>
          </a:p>
        </p:txBody>
      </p:sp>
      <p:sp>
        <p:nvSpPr>
          <p:cNvPr id="14" name="TextBox 13"/>
          <p:cNvSpPr txBox="1"/>
          <p:nvPr/>
        </p:nvSpPr>
        <p:spPr>
          <a:xfrm>
            <a:off x="4435754" y="3017520"/>
            <a:ext cx="3320186" cy="2606040"/>
          </a:xfrm>
          <a:prstGeom prst="rect">
            <a:avLst/>
          </a:prstGeom>
          <a:noFill/>
        </p:spPr>
        <p:txBody>
          <a:bodyPr wrap="square" lIns="0" rIns="0" tIns="0" bIns="0">
            <a:spAutoFit/>
          </a:bodyPr>
          <a:lstStyle/>
          <a:p>
            <a:pPr algn="l">
              <a:lnSpc>
                <a:spcPct val="112000"/>
              </a:lnSpc>
            </a:pPr>
            <a:r>
              <a:rPr sz="1100" b="0" i="0">
                <a:solidFill>
                  <a:srgbClr val="FFFFFF"/>
                </a:solidFill>
                <a:latin typeface="Calibri"/>
              </a:rPr>
              <a:t>No funding round or facility has been publicly reported alongside this expansion, which points to growth funded from trading cash flow. That is a strong result, but it also means every hire and every new client onboarding draws on the same pool of cash the business needs for its own payroll and commitments.</a:t>
            </a:r>
          </a:p>
        </p:txBody>
      </p:sp>
      <p:sp>
        <p:nvSpPr>
          <p:cNvPr id="15" name="Rectangle 14"/>
          <p:cNvSpPr/>
          <p:nvPr/>
        </p:nvSpPr>
        <p:spPr>
          <a:xfrm>
            <a:off x="8094268" y="1508760"/>
            <a:ext cx="3777386" cy="3611880"/>
          </a:xfrm>
          <a:prstGeom prst="rect">
            <a:avLst/>
          </a:prstGeom>
          <a:solidFill>
            <a:srgbClr val="E3A712"/>
          </a:solidFill>
          <a:ln>
            <a:noFill/>
          </a:ln>
          <a:effectLst/>
        </p:spPr>
        <p:txBody>
          <a:bodyPr rtlCol="0" anchor="ctr"/>
          <a:lstStyle/>
          <a:p>
            <a:pPr algn="ctr"/>
          </a:p>
        </p:txBody>
      </p:sp>
      <p:sp>
        <p:nvSpPr>
          <p:cNvPr id="16" name="TextBox 15"/>
          <p:cNvSpPr txBox="1"/>
          <p:nvPr/>
        </p:nvSpPr>
        <p:spPr>
          <a:xfrm>
            <a:off x="8322868" y="1645920"/>
            <a:ext cx="3320186" cy="640080"/>
          </a:xfrm>
          <a:prstGeom prst="rect">
            <a:avLst/>
          </a:prstGeom>
          <a:noFill/>
        </p:spPr>
        <p:txBody>
          <a:bodyPr wrap="square" lIns="0" rIns="0" tIns="0" bIns="0">
            <a:spAutoFit/>
          </a:bodyPr>
          <a:lstStyle/>
          <a:p>
            <a:pPr algn="l"/>
            <a:r>
              <a:rPr sz="4000" b="1" i="0">
                <a:solidFill>
                  <a:srgbClr val="000000"/>
                </a:solidFill>
                <a:latin typeface="Cambria"/>
              </a:rPr>
              <a:t>03</a:t>
            </a:r>
          </a:p>
        </p:txBody>
      </p:sp>
      <p:sp>
        <p:nvSpPr>
          <p:cNvPr id="17" name="TextBox 16"/>
          <p:cNvSpPr txBox="1"/>
          <p:nvPr/>
        </p:nvSpPr>
        <p:spPr>
          <a:xfrm>
            <a:off x="8322868" y="2377440"/>
            <a:ext cx="3320186" cy="640080"/>
          </a:xfrm>
          <a:prstGeom prst="rect">
            <a:avLst/>
          </a:prstGeom>
          <a:noFill/>
        </p:spPr>
        <p:txBody>
          <a:bodyPr wrap="square" lIns="0" rIns="0" tIns="0" bIns="0">
            <a:spAutoFit/>
          </a:bodyPr>
          <a:lstStyle/>
          <a:p>
            <a:pPr algn="l"/>
            <a:r>
              <a:rPr sz="1600" b="1" i="0">
                <a:solidFill>
                  <a:srgbClr val="000000"/>
                </a:solidFill>
                <a:latin typeface="Cambria"/>
              </a:rPr>
              <a:t>The culture commitments are a genuine cost line</a:t>
            </a:r>
          </a:p>
        </p:txBody>
      </p:sp>
      <p:sp>
        <p:nvSpPr>
          <p:cNvPr id="18" name="TextBox 17"/>
          <p:cNvSpPr txBox="1"/>
          <p:nvPr/>
        </p:nvSpPr>
        <p:spPr>
          <a:xfrm>
            <a:off x="8322868" y="3017520"/>
            <a:ext cx="3320186" cy="2606040"/>
          </a:xfrm>
          <a:prstGeom prst="rect">
            <a:avLst/>
          </a:prstGeom>
          <a:noFill/>
        </p:spPr>
        <p:txBody>
          <a:bodyPr wrap="square" lIns="0" rIns="0" tIns="0" bIns="0">
            <a:spAutoFit/>
          </a:bodyPr>
          <a:lstStyle/>
          <a:p>
            <a:pPr algn="l">
              <a:lnSpc>
                <a:spcPct val="112000"/>
              </a:lnSpc>
            </a:pPr>
            <a:r>
              <a:rPr sz="1100" b="0" i="0">
                <a:solidFill>
                  <a:srgbClr val="000000"/>
                </a:solidFill>
                <a:latin typeface="Calibri"/>
              </a:rPr>
              <a:t>The four day week, the extended leave framework, and the $250,000 given to Women's Property Initiatives in 2025 are a deliberate cost structure, not an incidental one. Protecting it through further growth depends on knowing, week by week, what the business can actually afford to commit.</a:t>
            </a:r>
          </a:p>
        </p:txBody>
      </p:sp>
      <p:sp>
        <p:nvSpPr>
          <p:cNvPr id="19" name="TextBox 18"/>
          <p:cNvSpPr txBox="1"/>
          <p:nvPr/>
        </p:nvSpPr>
        <p:spPr>
          <a:xfrm>
            <a:off x="320040" y="5440680"/>
            <a:ext cx="11521440" cy="548640"/>
          </a:xfrm>
          <a:prstGeom prst="rect">
            <a:avLst/>
          </a:prstGeom>
          <a:noFill/>
        </p:spPr>
        <p:txBody>
          <a:bodyPr wrap="square" lIns="0" rIns="0" tIns="0" bIns="0">
            <a:spAutoFit/>
          </a:bodyPr>
          <a:lstStyle/>
          <a:p>
            <a:pPr algn="l">
              <a:lnSpc>
                <a:spcPct val="115000"/>
              </a:lnSpc>
            </a:pPr>
            <a:r>
              <a:rPr sz="1200" b="0" i="1">
                <a:solidFill>
                  <a:srgbClr val="000000"/>
                </a:solidFill>
                <a:latin typeface="Calibri"/>
              </a:rPr>
              <a:t>These are observations offered in good faith. The agency has built a workplace people want to be part of. The question is simply whether the cash rhythm keeps pace with the growth and the culture it is funding.</a:t>
            </a:r>
          </a:p>
        </p:txBody>
      </p:sp>
      <p:sp>
        <p:nvSpPr>
          <p:cNvPr id="20" name="TextBox 19"/>
          <p:cNvSpPr txBox="1"/>
          <p:nvPr/>
        </p:nvSpPr>
        <p:spPr>
          <a:xfrm>
            <a:off x="320040" y="6446520"/>
            <a:ext cx="8686800" cy="274320"/>
          </a:xfrm>
          <a:prstGeom prst="rect">
            <a:avLst/>
          </a:prstGeom>
          <a:noFill/>
        </p:spPr>
        <p:txBody>
          <a:bodyPr wrap="square" lIns="0" rIns="0" tIns="0" bIns="0">
            <a:spAutoFit/>
          </a:bodyPr>
          <a:lstStyle/>
          <a:p>
            <a:pPr algn="l"/>
            <a:r>
              <a:rPr sz="900" b="0" i="0">
                <a:solidFill>
                  <a:srgbClr val="000000"/>
                </a:solidFill>
                <a:latin typeface="Calibri"/>
              </a:rPr>
              <a:t>Prepared by Nitesh Roopa CA, Managing Partner and Founder, ProfitPulse, Profit-Pulse.com.au</a:t>
            </a:r>
          </a:p>
        </p:txBody>
      </p:sp>
      <p:sp>
        <p:nvSpPr>
          <p:cNvPr id="21" name="TextBox 20"/>
          <p:cNvSpPr txBox="1"/>
          <p:nvPr/>
        </p:nvSpPr>
        <p:spPr>
          <a:xfrm>
            <a:off x="9144000" y="6446520"/>
            <a:ext cx="2724912" cy="274320"/>
          </a:xfrm>
          <a:prstGeom prst="rect">
            <a:avLst/>
          </a:prstGeom>
          <a:noFill/>
        </p:spPr>
        <p:txBody>
          <a:bodyPr wrap="square" lIns="0" rIns="0" tIns="0" bIns="0">
            <a:spAutoFit/>
          </a:bodyPr>
          <a:lstStyle/>
          <a:p>
            <a:pPr algn="r"/>
            <a:r>
              <a:rPr sz="900" b="0" i="0">
                <a:solidFill>
                  <a:srgbClr val="000000"/>
                </a:solidFill>
                <a:latin typeface="Calibri"/>
              </a:rPr>
              <a:t>09 Jul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00000"/>
          </a:solidFill>
          <a:ln>
            <a:noFill/>
          </a:ln>
          <a:effectLst/>
        </p:spPr>
        <p:txBody>
          <a:bodyPr rtlCol="0" anchor="ctr"/>
          <a:lstStyle/>
          <a:p>
            <a:pPr algn="ctr"/>
          </a:p>
        </p:txBody>
      </p:sp>
      <p:sp>
        <p:nvSpPr>
          <p:cNvPr id="3" name="TextBox 2"/>
          <p:cNvSpPr txBox="1"/>
          <p:nvPr/>
        </p:nvSpPr>
        <p:spPr>
          <a:xfrm>
            <a:off x="320040" y="292608"/>
            <a:ext cx="7315200" cy="365760"/>
          </a:xfrm>
          <a:prstGeom prst="rect">
            <a:avLst/>
          </a:prstGeom>
          <a:noFill/>
        </p:spPr>
        <p:txBody>
          <a:bodyPr wrap="square" lIns="0" rIns="0" tIns="0" bIns="0" anchor="ctr">
            <a:spAutoFit/>
          </a:bodyPr>
          <a:lstStyle/>
          <a:p>
            <a:pPr algn="l"/>
            <a:r>
              <a:rPr sz="1300" b="1" i="0">
                <a:solidFill>
                  <a:srgbClr val="E6E5DE"/>
                </a:solidFill>
                <a:latin typeface="Calibri"/>
              </a:rPr>
              <a:t>THE RECOMMENDATION</a:t>
            </a:r>
          </a:p>
        </p:txBody>
      </p:sp>
      <p:sp>
        <p:nvSpPr>
          <p:cNvPr id="4" name="TextBox 3"/>
          <p:cNvSpPr txBox="1"/>
          <p:nvPr/>
        </p:nvSpPr>
        <p:spPr>
          <a:xfrm>
            <a:off x="7772400" y="292608"/>
            <a:ext cx="4099255" cy="365760"/>
          </a:xfrm>
          <a:prstGeom prst="rect">
            <a:avLst/>
          </a:prstGeom>
          <a:noFill/>
        </p:spPr>
        <p:txBody>
          <a:bodyPr wrap="square" lIns="0" rIns="0" tIns="0" bIns="0" anchor="ctr">
            <a:spAutoFit/>
          </a:bodyPr>
          <a:lstStyle/>
          <a:p>
            <a:pPr algn="r"/>
            <a:r>
              <a:rPr sz="1300" b="1" i="0">
                <a:solidFill>
                  <a:srgbClr val="F8C806"/>
                </a:solidFill>
                <a:latin typeface="Calibri"/>
              </a:rPr>
              <a:t>PROFITPULSE</a:t>
            </a:r>
          </a:p>
        </p:txBody>
      </p:sp>
      <p:sp>
        <p:nvSpPr>
          <p:cNvPr id="5" name="Rectangle 4"/>
          <p:cNvSpPr/>
          <p:nvPr/>
        </p:nvSpPr>
        <p:spPr>
          <a:xfrm>
            <a:off x="0" y="0"/>
            <a:ext cx="91440" cy="6858000"/>
          </a:xfrm>
          <a:prstGeom prst="rect">
            <a:avLst/>
          </a:prstGeom>
          <a:solidFill>
            <a:srgbClr val="F8C806"/>
          </a:solidFill>
          <a:ln>
            <a:noFill/>
          </a:ln>
          <a:effectLst/>
        </p:spPr>
        <p:txBody>
          <a:bodyPr rtlCol="0" anchor="ctr"/>
          <a:lstStyle/>
          <a:p>
            <a:pPr algn="ctr"/>
          </a:p>
        </p:txBody>
      </p:sp>
      <p:sp>
        <p:nvSpPr>
          <p:cNvPr id="6" name="Rectangle 5"/>
          <p:cNvSpPr/>
          <p:nvPr/>
        </p:nvSpPr>
        <p:spPr>
          <a:xfrm>
            <a:off x="7452360" y="1051560"/>
            <a:ext cx="19050" cy="5257800"/>
          </a:xfrm>
          <a:prstGeom prst="rect">
            <a:avLst/>
          </a:prstGeom>
          <a:solidFill>
            <a:srgbClr val="01A296"/>
          </a:solidFill>
          <a:ln>
            <a:noFill/>
          </a:ln>
          <a:effectLst/>
        </p:spPr>
        <p:txBody>
          <a:bodyPr rtlCol="0" anchor="ctr"/>
          <a:lstStyle/>
          <a:p>
            <a:pPr algn="ctr"/>
          </a:p>
        </p:txBody>
      </p:sp>
      <p:sp>
        <p:nvSpPr>
          <p:cNvPr id="7" name="TextBox 6"/>
          <p:cNvSpPr txBox="1"/>
          <p:nvPr/>
        </p:nvSpPr>
        <p:spPr>
          <a:xfrm>
            <a:off x="320040" y="1097280"/>
            <a:ext cx="6949440" cy="502920"/>
          </a:xfrm>
          <a:prstGeom prst="rect">
            <a:avLst/>
          </a:prstGeom>
          <a:noFill/>
        </p:spPr>
        <p:txBody>
          <a:bodyPr wrap="square" lIns="0" rIns="0" tIns="0" bIns="0">
            <a:spAutoFit/>
          </a:bodyPr>
          <a:lstStyle/>
          <a:p>
            <a:pPr algn="l"/>
            <a:r>
              <a:rPr sz="2400" b="1" i="0">
                <a:solidFill>
                  <a:srgbClr val="000000"/>
                </a:solidFill>
                <a:latin typeface="Cambria"/>
              </a:rPr>
              <a:t>13 Week Cash Flow Build</a:t>
            </a:r>
          </a:p>
        </p:txBody>
      </p:sp>
      <p:sp>
        <p:nvSpPr>
          <p:cNvPr id="8" name="TextBox 7"/>
          <p:cNvSpPr txBox="1"/>
          <p:nvPr/>
        </p:nvSpPr>
        <p:spPr>
          <a:xfrm>
            <a:off x="320040" y="1627632"/>
            <a:ext cx="6949440" cy="365760"/>
          </a:xfrm>
          <a:prstGeom prst="rect">
            <a:avLst/>
          </a:prstGeom>
          <a:noFill/>
        </p:spPr>
        <p:txBody>
          <a:bodyPr wrap="square" lIns="0" rIns="0" tIns="0" bIns="0">
            <a:spAutoFit/>
          </a:bodyPr>
          <a:lstStyle/>
          <a:p>
            <a:pPr algn="l"/>
            <a:r>
              <a:rPr sz="1800" b="1" i="0">
                <a:solidFill>
                  <a:srgbClr val="F6A102"/>
                </a:solidFill>
                <a:latin typeface="Calibri"/>
              </a:rPr>
              <a:t>$2,650 one off</a:t>
            </a:r>
          </a:p>
        </p:txBody>
      </p:sp>
      <p:sp>
        <p:nvSpPr>
          <p:cNvPr id="9" name="TextBox 8"/>
          <p:cNvSpPr txBox="1"/>
          <p:nvPr/>
        </p:nvSpPr>
        <p:spPr>
          <a:xfrm>
            <a:off x="320040" y="2048256"/>
            <a:ext cx="6949440" cy="548640"/>
          </a:xfrm>
          <a:prstGeom prst="rect">
            <a:avLst/>
          </a:prstGeom>
          <a:noFill/>
        </p:spPr>
        <p:txBody>
          <a:bodyPr wrap="square" lIns="0" rIns="0" tIns="0" bIns="0">
            <a:spAutoFit/>
          </a:bodyPr>
          <a:lstStyle/>
          <a:p>
            <a:pPr algn="l">
              <a:lnSpc>
                <a:spcPct val="110000"/>
              </a:lnSpc>
            </a:pPr>
            <a:r>
              <a:rPr sz="1200" b="0" i="0">
                <a:solidFill>
                  <a:srgbClr val="000000"/>
                </a:solidFill>
                <a:latin typeface="Calibri"/>
              </a:rPr>
              <a:t>A rolling 13 week cash flow forecast with three scenarios, so payroll timing is planned, not guessed, while the team keeps growing.</a:t>
            </a:r>
          </a:p>
        </p:txBody>
      </p:sp>
      <p:sp>
        <p:nvSpPr>
          <p:cNvPr id="10" name="Rounded Rectangle 9"/>
          <p:cNvSpPr/>
          <p:nvPr/>
        </p:nvSpPr>
        <p:spPr>
          <a:xfrm>
            <a:off x="320040" y="2743200"/>
            <a:ext cx="6949440" cy="1371600"/>
          </a:xfrm>
          <a:prstGeom prst="roundRect">
            <a:avLst/>
          </a:prstGeom>
          <a:solidFill>
            <a:srgbClr val="FFFFFF"/>
          </a:solidFill>
          <a:ln w="15875">
            <a:solidFill>
              <a:srgbClr val="01A296"/>
            </a:solidFill>
          </a:ln>
          <a:effectLst/>
        </p:spPr>
        <p:txBody>
          <a:bodyPr rtlCol="0" anchor="ctr"/>
          <a:lstStyle/>
          <a:p>
            <a:pPr algn="ctr"/>
          </a:p>
        </p:txBody>
      </p:sp>
      <p:sp>
        <p:nvSpPr>
          <p:cNvPr id="11" name="TextBox 10"/>
          <p:cNvSpPr txBox="1"/>
          <p:nvPr/>
        </p:nvSpPr>
        <p:spPr>
          <a:xfrm>
            <a:off x="502920" y="2852928"/>
            <a:ext cx="6583680" cy="320040"/>
          </a:xfrm>
          <a:prstGeom prst="rect">
            <a:avLst/>
          </a:prstGeom>
          <a:noFill/>
        </p:spPr>
        <p:txBody>
          <a:bodyPr wrap="square" lIns="0" rIns="0" tIns="0" bIns="0">
            <a:spAutoFit/>
          </a:bodyPr>
          <a:lstStyle/>
          <a:p>
            <a:pPr algn="l"/>
            <a:r>
              <a:rPr sz="1300" b="1" i="0">
                <a:solidFill>
                  <a:srgbClr val="000000"/>
                </a:solidFill>
                <a:latin typeface="Calibri"/>
              </a:rPr>
              <a:t>Step one: answer a few quick questions</a:t>
            </a:r>
          </a:p>
        </p:txBody>
      </p:sp>
      <p:sp>
        <p:nvSpPr>
          <p:cNvPr id="12" name="TextBox 11"/>
          <p:cNvSpPr txBox="1"/>
          <p:nvPr/>
        </p:nvSpPr>
        <p:spPr>
          <a:xfrm>
            <a:off x="502920" y="3200400"/>
            <a:ext cx="6583680" cy="320040"/>
          </a:xfrm>
          <a:prstGeom prst="rect">
            <a:avLst/>
          </a:prstGeom>
          <a:noFill/>
        </p:spPr>
        <p:txBody>
          <a:bodyPr wrap="square" lIns="0" rIns="0" tIns="0" bIns="0">
            <a:spAutoFit/>
          </a:bodyPr>
          <a:lstStyle/>
          <a:p>
            <a:pPr algn="l"/>
            <a:r>
              <a:rPr sz="1100" b="0" i="0">
                <a:solidFill>
                  <a:srgbClr val="000000"/>
                </a:solidFill>
                <a:latin typeface="Calibri"/>
              </a:rPr>
              <a:t>See the solutions matched to your size and industry.</a:t>
            </a:r>
          </a:p>
        </p:txBody>
      </p:sp>
      <p:sp>
        <p:nvSpPr>
          <p:cNvPr id="13" name="TextBox 12">
            <a:hlinkClick r:id="rId2"/>
          </p:cNvPr>
          <p:cNvSpPr txBox="1"/>
          <p:nvPr/>
        </p:nvSpPr>
        <p:spPr>
          <a:xfrm>
            <a:off x="502920" y="3566160"/>
            <a:ext cx="6583680" cy="365760"/>
          </a:xfrm>
          <a:prstGeom prst="rect">
            <a:avLst/>
          </a:prstGeom>
          <a:noFill/>
        </p:spPr>
        <p:txBody>
          <a:bodyPr wrap="square" lIns="0" rIns="0" tIns="0" bIns="0">
            <a:spAutoFit/>
          </a:bodyPr>
          <a:lstStyle/>
          <a:p>
            <a:pPr algn="l"/>
            <a:r>
              <a:rPr sz="1300" b="1" i="0" u="sng">
                <a:solidFill>
                  <a:srgbClr val="01A296"/>
                </a:solidFill>
                <a:latin typeface="Calibri"/>
              </a:rPr>
              <a:t>profit-pulse.com.au/services/find-your-fit</a:t>
            </a:r>
          </a:p>
        </p:txBody>
      </p:sp>
      <p:sp>
        <p:nvSpPr>
          <p:cNvPr id="14" name="Rounded Rectangle 13">
            <a:hlinkClick r:id="rId3"/>
          </p:cNvPr>
          <p:cNvSpPr/>
          <p:nvPr/>
        </p:nvSpPr>
        <p:spPr>
          <a:xfrm>
            <a:off x="502920" y="4434840"/>
            <a:ext cx="4480560" cy="548640"/>
          </a:xfrm>
          <a:prstGeom prst="roundRect">
            <a:avLst>
              <a:gd name="adj" fmla="val 50000"/>
            </a:avLst>
          </a:prstGeom>
          <a:solidFill>
            <a:srgbClr val="F6A102"/>
          </a:solidFill>
          <a:ln>
            <a:noFill/>
          </a:ln>
          <a:effectLst/>
        </p:spPr>
        <p:txBody>
          <a:bodyPr rtlCol="0" anchor="ctr" wrap="square" lIns="76200" rIns="76200"/>
          <a:lstStyle/>
          <a:p>
            <a:pPr algn="ctr"/>
            <a:r>
              <a:rPr sz="1200" b="1">
                <a:solidFill>
                  <a:srgbClr val="FFFFFF"/>
                </a:solidFill>
                <a:latin typeface="Calibri"/>
              </a:rPr>
              <a:t>Purchase the suggested product now to get started</a:t>
            </a:r>
          </a:p>
        </p:txBody>
      </p:sp>
      <p:sp>
        <p:nvSpPr>
          <p:cNvPr id="15" name="TextBox 14"/>
          <p:cNvSpPr txBox="1"/>
          <p:nvPr/>
        </p:nvSpPr>
        <p:spPr>
          <a:xfrm>
            <a:off x="320040" y="5257800"/>
            <a:ext cx="6949440" cy="320040"/>
          </a:xfrm>
          <a:prstGeom prst="rect">
            <a:avLst/>
          </a:prstGeom>
          <a:noFill/>
        </p:spPr>
        <p:txBody>
          <a:bodyPr wrap="square" lIns="0" rIns="0" tIns="0" bIns="0">
            <a:spAutoFit/>
          </a:bodyPr>
          <a:lstStyle/>
          <a:p>
            <a:pPr algn="l"/>
            <a:r>
              <a:rPr sz="1100" b="0" i="0">
                <a:solidFill>
                  <a:srgbClr val="000000"/>
                </a:solidFill>
                <a:latin typeface="Calibri"/>
              </a:rPr>
              <a:t>Prefer a conversation first?</a:t>
            </a:r>
          </a:p>
        </p:txBody>
      </p:sp>
      <p:sp>
        <p:nvSpPr>
          <p:cNvPr id="16" name="TextBox 15">
            <a:hlinkClick r:id="rId4"/>
          </p:cNvPr>
          <p:cNvSpPr txBox="1"/>
          <p:nvPr/>
        </p:nvSpPr>
        <p:spPr>
          <a:xfrm>
            <a:off x="320040" y="5577840"/>
            <a:ext cx="6949440" cy="365760"/>
          </a:xfrm>
          <a:prstGeom prst="rect">
            <a:avLst/>
          </a:prstGeom>
          <a:noFill/>
        </p:spPr>
        <p:txBody>
          <a:bodyPr wrap="square" lIns="0" rIns="0" tIns="0" bIns="0">
            <a:spAutoFit/>
          </a:bodyPr>
          <a:lstStyle/>
          <a:p>
            <a:pPr algn="l"/>
            <a:r>
              <a:rPr sz="1200" b="1" i="0" u="sng">
                <a:solidFill>
                  <a:srgbClr val="01A296"/>
                </a:solidFill>
                <a:latin typeface="Calibri"/>
              </a:rPr>
              <a:t>Book a complimentary discovery call</a:t>
            </a:r>
          </a:p>
        </p:txBody>
      </p:sp>
      <p:sp>
        <p:nvSpPr>
          <p:cNvPr id="17" name="Rectangle 16"/>
          <p:cNvSpPr/>
          <p:nvPr/>
        </p:nvSpPr>
        <p:spPr>
          <a:xfrm>
            <a:off x="7589520" y="1051560"/>
            <a:ext cx="4282135" cy="5120640"/>
          </a:xfrm>
          <a:prstGeom prst="rect">
            <a:avLst/>
          </a:prstGeom>
          <a:solidFill>
            <a:srgbClr val="000000"/>
          </a:solidFill>
          <a:ln>
            <a:noFill/>
          </a:ln>
          <a:effectLst/>
        </p:spPr>
        <p:txBody>
          <a:bodyPr rtlCol="0" anchor="ctr"/>
          <a:lstStyle/>
          <a:p>
            <a:pPr algn="ctr"/>
          </a:p>
        </p:txBody>
      </p:sp>
      <p:sp>
        <p:nvSpPr>
          <p:cNvPr id="18" name="TextBox 17"/>
          <p:cNvSpPr txBox="1"/>
          <p:nvPr/>
        </p:nvSpPr>
        <p:spPr>
          <a:xfrm>
            <a:off x="7818120" y="1234440"/>
            <a:ext cx="3840480" cy="457200"/>
          </a:xfrm>
          <a:prstGeom prst="rect">
            <a:avLst/>
          </a:prstGeom>
          <a:noFill/>
        </p:spPr>
        <p:txBody>
          <a:bodyPr wrap="square" lIns="0" rIns="0" tIns="0" bIns="0">
            <a:spAutoFit/>
          </a:bodyPr>
          <a:lstStyle/>
          <a:p>
            <a:pPr algn="l"/>
            <a:r>
              <a:rPr sz="1900" b="1" i="0">
                <a:solidFill>
                  <a:srgbClr val="F8C806"/>
                </a:solidFill>
                <a:latin typeface="Cambria"/>
              </a:rPr>
              <a:t>NITESH ROOPA</a:t>
            </a:r>
          </a:p>
        </p:txBody>
      </p:sp>
      <p:sp>
        <p:nvSpPr>
          <p:cNvPr id="19" name="TextBox 18"/>
          <p:cNvSpPr txBox="1"/>
          <p:nvPr/>
        </p:nvSpPr>
        <p:spPr>
          <a:xfrm>
            <a:off x="7818120" y="1691640"/>
            <a:ext cx="3840480" cy="320040"/>
          </a:xfrm>
          <a:prstGeom prst="rect">
            <a:avLst/>
          </a:prstGeom>
          <a:noFill/>
        </p:spPr>
        <p:txBody>
          <a:bodyPr wrap="square" lIns="0" rIns="0" tIns="0" bIns="0">
            <a:spAutoFit/>
          </a:bodyPr>
          <a:lstStyle/>
          <a:p>
            <a:pPr algn="l"/>
            <a:r>
              <a:rPr sz="1300" b="0" i="0">
                <a:solidFill>
                  <a:srgbClr val="FFFFFF"/>
                </a:solidFill>
                <a:latin typeface="Calibri"/>
              </a:rPr>
              <a:t>CA, Managing Partner, ProfitPulse</a:t>
            </a:r>
          </a:p>
        </p:txBody>
      </p:sp>
      <p:sp>
        <p:nvSpPr>
          <p:cNvPr id="20" name="Rectangle 19"/>
          <p:cNvSpPr/>
          <p:nvPr/>
        </p:nvSpPr>
        <p:spPr>
          <a:xfrm>
            <a:off x="7818120" y="2084831"/>
            <a:ext cx="3657600" cy="19050"/>
          </a:xfrm>
          <a:prstGeom prst="rect">
            <a:avLst/>
          </a:prstGeom>
          <a:solidFill>
            <a:srgbClr val="01A296"/>
          </a:solidFill>
          <a:ln>
            <a:noFill/>
          </a:ln>
          <a:effectLst/>
        </p:spPr>
        <p:txBody>
          <a:bodyPr rtlCol="0" anchor="ctr"/>
          <a:lstStyle/>
          <a:p>
            <a:pPr algn="ctr"/>
          </a:p>
        </p:txBody>
      </p:sp>
      <p:sp>
        <p:nvSpPr>
          <p:cNvPr id="21" name="TextBox 20"/>
          <p:cNvSpPr txBox="1"/>
          <p:nvPr/>
        </p:nvSpPr>
        <p:spPr>
          <a:xfrm>
            <a:off x="7818120" y="2267712"/>
            <a:ext cx="3840480" cy="1554480"/>
          </a:xfrm>
          <a:prstGeom prst="rect">
            <a:avLst/>
          </a:prstGeom>
          <a:noFill/>
        </p:spPr>
        <p:txBody>
          <a:bodyPr wrap="square" lIns="0" rIns="0" tIns="0" bIns="0">
            <a:spAutoFit/>
          </a:bodyPr>
          <a:lstStyle/>
          <a:p>
            <a:pPr algn="l">
              <a:lnSpc>
                <a:spcPct val="120000"/>
              </a:lnSpc>
              <a:spcAft>
                <a:spcPts val="600"/>
              </a:spcAft>
            </a:pPr>
            <a:r>
              <a:rPr sz="1100" b="0">
                <a:solidFill>
                  <a:srgbClr val="E6E5DE"/>
                </a:solidFill>
                <a:latin typeface="Calibri"/>
              </a:rPr>
              <a:t>• 16 years across 4 countries</a:t>
            </a:r>
          </a:p>
          <a:p>
            <a:pPr algn="l">
              <a:lnSpc>
                <a:spcPct val="120000"/>
              </a:lnSpc>
              <a:spcAft>
                <a:spcPts val="600"/>
              </a:spcAft>
            </a:pPr>
            <a:r>
              <a:rPr sz="1100" b="0">
                <a:solidFill>
                  <a:srgbClr val="E6E5DE"/>
                </a:solidFill>
                <a:latin typeface="Calibri"/>
              </a:rPr>
              <a:t>• 52 deals executed and managed</a:t>
            </a:r>
          </a:p>
          <a:p>
            <a:pPr algn="l">
              <a:lnSpc>
                <a:spcPct val="120000"/>
              </a:lnSpc>
              <a:spcAft>
                <a:spcPts val="600"/>
              </a:spcAft>
            </a:pPr>
            <a:r>
              <a:rPr sz="1100" b="0">
                <a:solidFill>
                  <a:srgbClr val="E6E5DE"/>
                </a:solidFill>
                <a:latin typeface="Calibri"/>
              </a:rPr>
              <a:t>• Largest single deal, USD 1.3 billion, Cahora Bassa</a:t>
            </a:r>
          </a:p>
          <a:p>
            <a:pPr algn="l">
              <a:lnSpc>
                <a:spcPct val="120000"/>
              </a:lnSpc>
              <a:spcAft>
                <a:spcPts val="600"/>
              </a:spcAft>
            </a:pPr>
            <a:r>
              <a:rPr sz="1100" b="0">
                <a:solidFill>
                  <a:srgbClr val="E6E5DE"/>
                </a:solidFill>
                <a:latin typeface="Calibri"/>
              </a:rPr>
              <a:t>• Total GRBT project value over AUD 10 billion</a:t>
            </a:r>
          </a:p>
        </p:txBody>
      </p:sp>
      <p:sp>
        <p:nvSpPr>
          <p:cNvPr id="22" name="TextBox 21"/>
          <p:cNvSpPr txBox="1"/>
          <p:nvPr/>
        </p:nvSpPr>
        <p:spPr>
          <a:xfrm>
            <a:off x="7818120" y="3977639"/>
            <a:ext cx="3840480" cy="1463040"/>
          </a:xfrm>
          <a:prstGeom prst="rect">
            <a:avLst/>
          </a:prstGeom>
          <a:noFill/>
        </p:spPr>
        <p:txBody>
          <a:bodyPr wrap="square" lIns="0" rIns="0" tIns="0" bIns="0">
            <a:spAutoFit/>
          </a:bodyPr>
          <a:lstStyle/>
          <a:p>
            <a:pPr algn="l">
              <a:lnSpc>
                <a:spcPct val="130000"/>
              </a:lnSpc>
              <a:spcAft>
                <a:spcPts val="400"/>
              </a:spcAft>
            </a:pPr>
            <a:r>
              <a:rPr sz="1200" b="0">
                <a:solidFill>
                  <a:srgbClr val="01A296"/>
                </a:solidFill>
                <a:latin typeface="Calibri"/>
              </a:rPr>
              <a:t>Profit-Pulse.com.au</a:t>
            </a:r>
          </a:p>
          <a:p>
            <a:pPr algn="l">
              <a:lnSpc>
                <a:spcPct val="130000"/>
              </a:lnSpc>
              <a:spcAft>
                <a:spcPts val="400"/>
              </a:spcAft>
            </a:pPr>
            <a:r>
              <a:rPr sz="1200" b="0">
                <a:solidFill>
                  <a:srgbClr val="01A296"/>
                </a:solidFill>
                <a:latin typeface="Calibri"/>
              </a:rPr>
              <a:t>Nitesh@Profit-Pulse.com.au</a:t>
            </a:r>
          </a:p>
          <a:p>
            <a:pPr algn="l">
              <a:lnSpc>
                <a:spcPct val="130000"/>
              </a:lnSpc>
              <a:spcAft>
                <a:spcPts val="400"/>
              </a:spcAft>
            </a:pPr>
            <a:r>
              <a:rPr sz="1200" b="0">
                <a:solidFill>
                  <a:srgbClr val="E6E5DE"/>
                </a:solidFill>
                <a:latin typeface="Calibri"/>
              </a:rPr>
              <a:t>+61 411 876 267</a:t>
            </a:r>
          </a:p>
          <a:p>
            <a:pPr algn="l">
              <a:lnSpc>
                <a:spcPct val="130000"/>
              </a:lnSpc>
              <a:spcAft>
                <a:spcPts val="400"/>
              </a:spcAft>
            </a:pPr>
            <a:r>
              <a:rPr sz="1100" b="0">
                <a:solidFill>
                  <a:srgbClr val="01A296"/>
                </a:solidFill>
                <a:latin typeface="Calibri"/>
              </a:rPr>
              <a:t>linkedin.com/in/nitesh-roopa-77594163</a:t>
            </a:r>
          </a:p>
        </p:txBody>
      </p:sp>
      <p:sp>
        <p:nvSpPr>
          <p:cNvPr id="23" name="TextBox 22"/>
          <p:cNvSpPr txBox="1"/>
          <p:nvPr/>
        </p:nvSpPr>
        <p:spPr>
          <a:xfrm>
            <a:off x="320040" y="6446520"/>
            <a:ext cx="8686800" cy="274320"/>
          </a:xfrm>
          <a:prstGeom prst="rect">
            <a:avLst/>
          </a:prstGeom>
          <a:noFill/>
        </p:spPr>
        <p:txBody>
          <a:bodyPr wrap="square" lIns="0" rIns="0" tIns="0" bIns="0">
            <a:spAutoFit/>
          </a:bodyPr>
          <a:lstStyle/>
          <a:p>
            <a:pPr algn="l"/>
            <a:r>
              <a:rPr sz="900" b="0" i="0">
                <a:solidFill>
                  <a:srgbClr val="000000"/>
                </a:solidFill>
                <a:latin typeface="Calibri"/>
              </a:rPr>
              <a:t>Prepared by Nitesh Roopa CA, Managing Partner and Founder, ProfitPulse, Profit-Pulse.com.au</a:t>
            </a:r>
          </a:p>
        </p:txBody>
      </p:sp>
      <p:sp>
        <p:nvSpPr>
          <p:cNvPr id="24" name="TextBox 23"/>
          <p:cNvSpPr txBox="1"/>
          <p:nvPr/>
        </p:nvSpPr>
        <p:spPr>
          <a:xfrm>
            <a:off x="9144000" y="6446520"/>
            <a:ext cx="2724912" cy="274320"/>
          </a:xfrm>
          <a:prstGeom prst="rect">
            <a:avLst/>
          </a:prstGeom>
          <a:noFill/>
        </p:spPr>
        <p:txBody>
          <a:bodyPr wrap="square" lIns="0" rIns="0" tIns="0" bIns="0">
            <a:spAutoFit/>
          </a:bodyPr>
          <a:lstStyle/>
          <a:p>
            <a:pPr algn="r"/>
            <a:r>
              <a:rPr sz="900" b="0" i="0">
                <a:solidFill>
                  <a:srgbClr val="000000"/>
                </a:solidFill>
                <a:latin typeface="Calibri"/>
              </a:rPr>
              <a:t>09 Jul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