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bJe00kc5agKQepG0ZV3ks1x"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spAutoFit/>
          </a:bodyPr>
          <a:lstStyle/>
          <a:p>
            <a:pPr algn="l"/>
            <a:r>
              <a:rPr sz="1200" b="1" i="0">
                <a:solidFill>
                  <a:srgbClr val="E6E5DE"/>
                </a:solidFill>
                <a:latin typeface="Calibri"/>
              </a:rPr>
              <a:t>COMMERCIAL INTELLIGENCE BRIEF</a:t>
            </a:r>
          </a:p>
        </p:txBody>
      </p:sp>
      <p:sp>
        <p:nvSpPr>
          <p:cNvPr id="5" name="TextBox 4"/>
          <p:cNvSpPr txBox="1"/>
          <p:nvPr/>
        </p:nvSpPr>
        <p:spPr>
          <a:xfrm>
            <a:off x="8229600" y="292608"/>
            <a:ext cx="3657600" cy="365760"/>
          </a:xfrm>
          <a:prstGeom prst="rect">
            <a:avLst/>
          </a:prstGeom>
          <a:noFill/>
        </p:spPr>
        <p:txBody>
          <a:bodyPr wrap="square" lIns="0" rIns="0" tIns="0" bIns="0">
            <a:spAutoFit/>
          </a:bodyPr>
          <a:lstStyle/>
          <a:p>
            <a:pPr algn="r"/>
            <a:r>
              <a:rPr sz="1200" b="1" i="0">
                <a:solidFill>
                  <a:srgbClr val="01A296"/>
                </a:solidFill>
                <a:latin typeface="Calibri"/>
              </a:rPr>
              <a:t>My Wealth Solutions</a:t>
            </a:r>
          </a:p>
        </p:txBody>
      </p:sp>
      <p:sp>
        <p:nvSpPr>
          <p:cNvPr id="6" name="Rectangle 5"/>
          <p:cNvSpPr/>
          <p:nvPr/>
        </p:nvSpPr>
        <p:spPr>
          <a:xfrm>
            <a:off x="320040" y="6446520"/>
            <a:ext cx="11551615"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lIns="0" rIns="0" tIns="0" bIns="0">
            <a:spAutoFit/>
          </a:bodyPr>
          <a:lstStyle/>
          <a:p>
            <a:pPr algn="l"/>
            <a:r>
              <a:rPr sz="800" b="0" i="0">
                <a:solidFill>
                  <a:srgbClr val="666666"/>
                </a:solidFill>
                <a:latin typeface="Calibri"/>
              </a:rPr>
              <a:t>Prepared by Nitesh Roopa CA, Managing Partner and Founder, ProfitPulse, Profit-Pulse.com.au</a:t>
            </a:r>
          </a:p>
        </p:txBody>
      </p:sp>
      <p:sp>
        <p:nvSpPr>
          <p:cNvPr id="8" name="TextBox 7"/>
          <p:cNvSpPr txBox="1"/>
          <p:nvPr/>
        </p:nvSpPr>
        <p:spPr>
          <a:xfrm>
            <a:off x="9601200" y="6510528"/>
            <a:ext cx="2270455" cy="274320"/>
          </a:xfrm>
          <a:prstGeom prst="rect">
            <a:avLst/>
          </a:prstGeom>
          <a:noFill/>
        </p:spPr>
        <p:txBody>
          <a:bodyPr wrap="square" lIns="0" rIns="0" tIns="0" bIns="0">
            <a:spAutoFit/>
          </a:bodyPr>
          <a:lstStyle/>
          <a:p>
            <a:pPr algn="r"/>
            <a:r>
              <a:rPr sz="800" b="0" i="0">
                <a:solidFill>
                  <a:srgbClr val="666666"/>
                </a:solidFill>
                <a:latin typeface="Calibri"/>
              </a:rPr>
              <a:t>20 Aug 2026</a:t>
            </a:r>
          </a:p>
        </p:txBody>
      </p:sp>
      <p:sp>
        <p:nvSpPr>
          <p:cNvPr id="9" name="TextBox 8"/>
          <p:cNvSpPr txBox="1"/>
          <p:nvPr/>
        </p:nvSpPr>
        <p:spPr>
          <a:xfrm>
            <a:off x="320040" y="1115568"/>
            <a:ext cx="8686800" cy="640080"/>
          </a:xfrm>
          <a:prstGeom prst="rect">
            <a:avLst/>
          </a:prstGeom>
          <a:noFill/>
        </p:spPr>
        <p:txBody>
          <a:bodyPr wrap="square" lIns="0" rIns="0" tIns="0" bIns="0">
            <a:spAutoFit/>
          </a:bodyPr>
          <a:lstStyle/>
          <a:p>
            <a:pPr algn="l"/>
            <a:r>
              <a:rPr sz="4000" b="1" i="0">
                <a:solidFill>
                  <a:srgbClr val="000000"/>
                </a:solidFill>
                <a:latin typeface="Georgia"/>
              </a:rPr>
              <a:t>My Wealth Solutions</a:t>
            </a:r>
          </a:p>
        </p:txBody>
      </p:sp>
      <p:sp>
        <p:nvSpPr>
          <p:cNvPr id="10" name="TextBox 9"/>
          <p:cNvSpPr txBox="1"/>
          <p:nvPr/>
        </p:nvSpPr>
        <p:spPr>
          <a:xfrm>
            <a:off x="320040" y="1755648"/>
            <a:ext cx="10058400" cy="320040"/>
          </a:xfrm>
          <a:prstGeom prst="rect">
            <a:avLst/>
          </a:prstGeom>
          <a:noFill/>
        </p:spPr>
        <p:txBody>
          <a:bodyPr wrap="square" lIns="0" rIns="0" tIns="0" bIns="0">
            <a:spAutoFit/>
          </a:bodyPr>
          <a:lstStyle/>
          <a:p>
            <a:pPr algn="l"/>
            <a:r>
              <a:rPr sz="1300" b="0" i="0">
                <a:solidFill>
                  <a:srgbClr val="333333"/>
                </a:solidFill>
                <a:latin typeface="Calibri"/>
              </a:rPr>
              <a:t>Financial planning and wealth advisory group, Newstead, Brisbane QLD</a:t>
            </a:r>
          </a:p>
        </p:txBody>
      </p:sp>
      <p:sp>
        <p:nvSpPr>
          <p:cNvPr id="11" name="Rectangle 10"/>
          <p:cNvSpPr/>
          <p:nvPr/>
        </p:nvSpPr>
        <p:spPr>
          <a:xfrm>
            <a:off x="320040"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194560"/>
            <a:ext cx="1810969"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2322576"/>
            <a:ext cx="1591513" cy="457200"/>
          </a:xfrm>
          <a:prstGeom prst="rect">
            <a:avLst/>
          </a:prstGeom>
          <a:noFill/>
        </p:spPr>
        <p:txBody>
          <a:bodyPr wrap="square" lIns="0" rIns="0" tIns="0" bIns="0">
            <a:spAutoFit/>
          </a:bodyPr>
          <a:lstStyle/>
          <a:p>
            <a:pPr algn="l"/>
            <a:r>
              <a:rPr sz="2800" b="1" i="0">
                <a:solidFill>
                  <a:srgbClr val="F8C806"/>
                </a:solidFill>
                <a:latin typeface="Georgia"/>
              </a:rPr>
              <a:t>$9.9M</a:t>
            </a:r>
          </a:p>
        </p:txBody>
      </p:sp>
      <p:sp>
        <p:nvSpPr>
          <p:cNvPr id="14" name="TextBox 13"/>
          <p:cNvSpPr txBox="1"/>
          <p:nvPr/>
        </p:nvSpPr>
        <p:spPr>
          <a:xfrm>
            <a:off x="429768" y="2816352"/>
            <a:ext cx="1591513" cy="502920"/>
          </a:xfrm>
          <a:prstGeom prst="rect">
            <a:avLst/>
          </a:prstGeom>
          <a:noFill/>
        </p:spPr>
        <p:txBody>
          <a:bodyPr wrap="square" lIns="0" rIns="0" tIns="0" bIns="0">
            <a:spAutoFit/>
          </a:bodyPr>
          <a:lstStyle/>
          <a:p>
            <a:pPr algn="l">
              <a:lnSpc>
                <a:spcPct val="100000"/>
              </a:lnSpc>
              <a:spcAft>
                <a:spcPts val="0"/>
              </a:spcAft>
            </a:pPr>
            <a:r>
              <a:rPr sz="1000" b="0" i="0">
                <a:solidFill>
                  <a:srgbClr val="E6E5DE"/>
                </a:solidFill>
                <a:latin typeface="Calibri"/>
              </a:rPr>
              <a:t>FY2025 revenue,</a:t>
            </a:r>
          </a:p>
          <a:p>
            <a:pPr algn="l">
              <a:lnSpc>
                <a:spcPct val="100000"/>
              </a:lnSpc>
              <a:spcAft>
                <a:spcPts val="0"/>
              </a:spcAft>
            </a:pPr>
            <a:r>
              <a:rPr sz="1000" b="0" i="0">
                <a:solidFill>
                  <a:srgbClr val="E6E5DE"/>
                </a:solidFill>
                <a:latin typeface="Calibri"/>
              </a:rPr>
              <a:t>Smart50 profile</a:t>
            </a:r>
          </a:p>
        </p:txBody>
      </p:sp>
      <p:sp>
        <p:nvSpPr>
          <p:cNvPr id="15" name="TextBox 14"/>
          <p:cNvSpPr txBox="1"/>
          <p:nvPr/>
        </p:nvSpPr>
        <p:spPr>
          <a:xfrm>
            <a:off x="429768" y="3401568"/>
            <a:ext cx="1591513" cy="219456"/>
          </a:xfrm>
          <a:prstGeom prst="rect">
            <a:avLst/>
          </a:prstGeom>
          <a:noFill/>
        </p:spPr>
        <p:txBody>
          <a:bodyPr wrap="square" lIns="0" rIns="0" tIns="0" bIns="0">
            <a:spAutoFit/>
          </a:bodyPr>
          <a:lstStyle/>
          <a:p>
            <a:pPr algn="l"/>
            <a:r>
              <a:rPr sz="700" b="0" i="1">
                <a:solidFill>
                  <a:srgbClr val="01A296"/>
                </a:solidFill>
                <a:latin typeface="Calibri"/>
              </a:rPr>
              <a:t>SmartCompany Smart50 2025</a:t>
            </a:r>
          </a:p>
        </p:txBody>
      </p:sp>
      <p:sp>
        <p:nvSpPr>
          <p:cNvPr id="16" name="Rectangle 15"/>
          <p:cNvSpPr/>
          <p:nvPr/>
        </p:nvSpPr>
        <p:spPr>
          <a:xfrm>
            <a:off x="2268169"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68169" y="2194560"/>
            <a:ext cx="1810969"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897" y="2322576"/>
            <a:ext cx="1591513" cy="457200"/>
          </a:xfrm>
          <a:prstGeom prst="rect">
            <a:avLst/>
          </a:prstGeom>
          <a:noFill/>
        </p:spPr>
        <p:txBody>
          <a:bodyPr wrap="square" lIns="0" rIns="0" tIns="0" bIns="0">
            <a:spAutoFit/>
          </a:bodyPr>
          <a:lstStyle/>
          <a:p>
            <a:pPr algn="l"/>
            <a:r>
              <a:rPr sz="2800" b="1" i="0">
                <a:solidFill>
                  <a:srgbClr val="F8C806"/>
                </a:solidFill>
                <a:latin typeface="Georgia"/>
              </a:rPr>
              <a:t>47%</a:t>
            </a:r>
          </a:p>
        </p:txBody>
      </p:sp>
      <p:sp>
        <p:nvSpPr>
          <p:cNvPr id="19" name="TextBox 18"/>
          <p:cNvSpPr txBox="1"/>
          <p:nvPr/>
        </p:nvSpPr>
        <p:spPr>
          <a:xfrm>
            <a:off x="2377897" y="2816352"/>
            <a:ext cx="1591513" cy="502920"/>
          </a:xfrm>
          <a:prstGeom prst="rect">
            <a:avLst/>
          </a:prstGeom>
          <a:noFill/>
        </p:spPr>
        <p:txBody>
          <a:bodyPr wrap="square" lIns="0" rIns="0" tIns="0" bIns="0">
            <a:spAutoFit/>
          </a:bodyPr>
          <a:lstStyle/>
          <a:p>
            <a:pPr algn="l">
              <a:lnSpc>
                <a:spcPct val="100000"/>
              </a:lnSpc>
              <a:spcAft>
                <a:spcPts val="0"/>
              </a:spcAft>
            </a:pPr>
            <a:r>
              <a:rPr sz="1000" b="0" i="0">
                <a:solidFill>
                  <a:srgbClr val="E6E5DE"/>
                </a:solidFill>
                <a:latin typeface="Calibri"/>
              </a:rPr>
              <a:t>Revenue growth</a:t>
            </a:r>
          </a:p>
          <a:p>
            <a:pPr algn="l">
              <a:lnSpc>
                <a:spcPct val="100000"/>
              </a:lnSpc>
              <a:spcAft>
                <a:spcPts val="0"/>
              </a:spcAft>
            </a:pPr>
            <a:r>
              <a:rPr sz="1000" b="0" i="0">
                <a:solidFill>
                  <a:srgbClr val="E6E5DE"/>
                </a:solidFill>
                <a:latin typeface="Calibri"/>
              </a:rPr>
              <a:t>rate, Smart50</a:t>
            </a:r>
          </a:p>
        </p:txBody>
      </p:sp>
      <p:sp>
        <p:nvSpPr>
          <p:cNvPr id="20" name="TextBox 19"/>
          <p:cNvSpPr txBox="1"/>
          <p:nvPr/>
        </p:nvSpPr>
        <p:spPr>
          <a:xfrm>
            <a:off x="2377897" y="3401568"/>
            <a:ext cx="1591513" cy="219456"/>
          </a:xfrm>
          <a:prstGeom prst="rect">
            <a:avLst/>
          </a:prstGeom>
          <a:noFill/>
        </p:spPr>
        <p:txBody>
          <a:bodyPr wrap="square" lIns="0" rIns="0" tIns="0" bIns="0">
            <a:spAutoFit/>
          </a:bodyPr>
          <a:lstStyle/>
          <a:p>
            <a:pPr algn="l"/>
            <a:r>
              <a:rPr sz="700" b="0" i="1">
                <a:solidFill>
                  <a:srgbClr val="01A296"/>
                </a:solidFill>
                <a:latin typeface="Calibri"/>
              </a:rPr>
              <a:t>SmartCompany Smart50 2025</a:t>
            </a:r>
          </a:p>
        </p:txBody>
      </p:sp>
      <p:sp>
        <p:nvSpPr>
          <p:cNvPr id="21" name="Rectangle 20"/>
          <p:cNvSpPr/>
          <p:nvPr/>
        </p:nvSpPr>
        <p:spPr>
          <a:xfrm>
            <a:off x="4216298"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16298" y="2194560"/>
            <a:ext cx="1810969"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26026" y="2322576"/>
            <a:ext cx="1591513" cy="457200"/>
          </a:xfrm>
          <a:prstGeom prst="rect">
            <a:avLst/>
          </a:prstGeom>
          <a:noFill/>
        </p:spPr>
        <p:txBody>
          <a:bodyPr wrap="square" lIns="0" rIns="0" tIns="0" bIns="0">
            <a:spAutoFit/>
          </a:bodyPr>
          <a:lstStyle/>
          <a:p>
            <a:pPr algn="l"/>
            <a:r>
              <a:rPr sz="2800" b="1" i="0">
                <a:solidFill>
                  <a:srgbClr val="F8C806"/>
                </a:solidFill>
                <a:latin typeface="Georgia"/>
              </a:rPr>
              <a:t>#25</a:t>
            </a:r>
          </a:p>
        </p:txBody>
      </p:sp>
      <p:sp>
        <p:nvSpPr>
          <p:cNvPr id="24" name="TextBox 23"/>
          <p:cNvSpPr txBox="1"/>
          <p:nvPr/>
        </p:nvSpPr>
        <p:spPr>
          <a:xfrm>
            <a:off x="4326026" y="2816352"/>
            <a:ext cx="1591513" cy="502920"/>
          </a:xfrm>
          <a:prstGeom prst="rect">
            <a:avLst/>
          </a:prstGeom>
          <a:noFill/>
        </p:spPr>
        <p:txBody>
          <a:bodyPr wrap="square" lIns="0" rIns="0" tIns="0" bIns="0">
            <a:spAutoFit/>
          </a:bodyPr>
          <a:lstStyle/>
          <a:p>
            <a:pPr algn="l">
              <a:lnSpc>
                <a:spcPct val="100000"/>
              </a:lnSpc>
              <a:spcAft>
                <a:spcPts val="0"/>
              </a:spcAft>
            </a:pPr>
            <a:r>
              <a:rPr sz="1000" b="0" i="0">
                <a:solidFill>
                  <a:srgbClr val="E6E5DE"/>
                </a:solidFill>
                <a:latin typeface="Calibri"/>
              </a:rPr>
              <a:t>Smart50 2025</a:t>
            </a:r>
          </a:p>
          <a:p>
            <a:pPr algn="l">
              <a:lnSpc>
                <a:spcPct val="100000"/>
              </a:lnSpc>
              <a:spcAft>
                <a:spcPts val="0"/>
              </a:spcAft>
            </a:pPr>
            <a:r>
              <a:rPr sz="1000" b="0" i="0">
                <a:solidFill>
                  <a:srgbClr val="E6E5DE"/>
                </a:solidFill>
                <a:latin typeface="Calibri"/>
              </a:rPr>
              <a:t>rank of 50</a:t>
            </a:r>
          </a:p>
        </p:txBody>
      </p:sp>
      <p:sp>
        <p:nvSpPr>
          <p:cNvPr id="25" name="TextBox 24"/>
          <p:cNvSpPr txBox="1"/>
          <p:nvPr/>
        </p:nvSpPr>
        <p:spPr>
          <a:xfrm>
            <a:off x="4326026" y="3401568"/>
            <a:ext cx="1591513" cy="219456"/>
          </a:xfrm>
          <a:prstGeom prst="rect">
            <a:avLst/>
          </a:prstGeom>
          <a:noFill/>
        </p:spPr>
        <p:txBody>
          <a:bodyPr wrap="square" lIns="0" rIns="0" tIns="0" bIns="0">
            <a:spAutoFit/>
          </a:bodyPr>
          <a:lstStyle/>
          <a:p>
            <a:pPr algn="l"/>
            <a:r>
              <a:rPr sz="700" b="0" i="1">
                <a:solidFill>
                  <a:srgbClr val="01A296"/>
                </a:solidFill>
                <a:latin typeface="Calibri"/>
              </a:rPr>
              <a:t>SmartCompany Smart50 2025</a:t>
            </a:r>
          </a:p>
        </p:txBody>
      </p:sp>
      <p:sp>
        <p:nvSpPr>
          <p:cNvPr id="26" name="Rectangle 25"/>
          <p:cNvSpPr/>
          <p:nvPr/>
        </p:nvSpPr>
        <p:spPr>
          <a:xfrm>
            <a:off x="6164427"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4427" y="2194560"/>
            <a:ext cx="1810969"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4155" y="2322576"/>
            <a:ext cx="1591513" cy="457200"/>
          </a:xfrm>
          <a:prstGeom prst="rect">
            <a:avLst/>
          </a:prstGeom>
          <a:noFill/>
        </p:spPr>
        <p:txBody>
          <a:bodyPr wrap="square" lIns="0" rIns="0" tIns="0" bIns="0">
            <a:spAutoFit/>
          </a:bodyPr>
          <a:lstStyle/>
          <a:p>
            <a:pPr algn="l"/>
            <a:r>
              <a:rPr sz="2800" b="1" i="0">
                <a:solidFill>
                  <a:srgbClr val="F8C806"/>
                </a:solidFill>
                <a:latin typeface="Georgia"/>
              </a:rPr>
              <a:t>55</a:t>
            </a:r>
          </a:p>
        </p:txBody>
      </p:sp>
      <p:sp>
        <p:nvSpPr>
          <p:cNvPr id="29" name="TextBox 28"/>
          <p:cNvSpPr txBox="1"/>
          <p:nvPr/>
        </p:nvSpPr>
        <p:spPr>
          <a:xfrm>
            <a:off x="6274155" y="2816352"/>
            <a:ext cx="1591513" cy="502920"/>
          </a:xfrm>
          <a:prstGeom prst="rect">
            <a:avLst/>
          </a:prstGeom>
          <a:noFill/>
        </p:spPr>
        <p:txBody>
          <a:bodyPr wrap="square" lIns="0" rIns="0" tIns="0" bIns="0">
            <a:spAutoFit/>
          </a:bodyPr>
          <a:lstStyle/>
          <a:p>
            <a:pPr algn="l">
              <a:lnSpc>
                <a:spcPct val="100000"/>
              </a:lnSpc>
              <a:spcAft>
                <a:spcPts val="0"/>
              </a:spcAft>
            </a:pPr>
            <a:r>
              <a:rPr sz="1000" b="0" i="0">
                <a:solidFill>
                  <a:srgbClr val="E6E5DE"/>
                </a:solidFill>
                <a:latin typeface="Calibri"/>
              </a:rPr>
              <a:t>People across</a:t>
            </a:r>
          </a:p>
          <a:p>
            <a:pPr algn="l">
              <a:lnSpc>
                <a:spcPct val="100000"/>
              </a:lnSpc>
              <a:spcAft>
                <a:spcPts val="0"/>
              </a:spcAft>
            </a:pPr>
            <a:r>
              <a:rPr sz="1000" b="0" i="0">
                <a:solidFill>
                  <a:srgbClr val="E6E5DE"/>
                </a:solidFill>
                <a:latin typeface="Calibri"/>
              </a:rPr>
              <a:t>six offices</a:t>
            </a:r>
          </a:p>
        </p:txBody>
      </p:sp>
      <p:sp>
        <p:nvSpPr>
          <p:cNvPr id="30" name="TextBox 29"/>
          <p:cNvSpPr txBox="1"/>
          <p:nvPr/>
        </p:nvSpPr>
        <p:spPr>
          <a:xfrm>
            <a:off x="6274155" y="3401568"/>
            <a:ext cx="1591513" cy="219456"/>
          </a:xfrm>
          <a:prstGeom prst="rect">
            <a:avLst/>
          </a:prstGeom>
          <a:noFill/>
        </p:spPr>
        <p:txBody>
          <a:bodyPr wrap="square" lIns="0" rIns="0" tIns="0" bIns="0">
            <a:spAutoFit/>
          </a:bodyPr>
          <a:lstStyle/>
          <a:p>
            <a:pPr algn="l"/>
            <a:r>
              <a:rPr sz="700" b="0" i="1">
                <a:solidFill>
                  <a:srgbClr val="01A296"/>
                </a:solidFill>
                <a:latin typeface="Calibri"/>
              </a:rPr>
              <a:t>Company website, 2026</a:t>
            </a:r>
          </a:p>
        </p:txBody>
      </p:sp>
      <p:sp>
        <p:nvSpPr>
          <p:cNvPr id="31" name="Rectangle 30"/>
          <p:cNvSpPr/>
          <p:nvPr/>
        </p:nvSpPr>
        <p:spPr>
          <a:xfrm>
            <a:off x="8112556"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12556" y="2194560"/>
            <a:ext cx="1810969"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2284" y="2322576"/>
            <a:ext cx="1591513" cy="457200"/>
          </a:xfrm>
          <a:prstGeom prst="rect">
            <a:avLst/>
          </a:prstGeom>
          <a:noFill/>
        </p:spPr>
        <p:txBody>
          <a:bodyPr wrap="square" lIns="0" rIns="0" tIns="0" bIns="0">
            <a:spAutoFit/>
          </a:bodyPr>
          <a:lstStyle/>
          <a:p>
            <a:pPr algn="l"/>
            <a:r>
              <a:rPr sz="2800" b="1" i="0">
                <a:solidFill>
                  <a:srgbClr val="F8C806"/>
                </a:solidFill>
                <a:latin typeface="Georgia"/>
              </a:rPr>
              <a:t>2011</a:t>
            </a:r>
          </a:p>
        </p:txBody>
      </p:sp>
      <p:sp>
        <p:nvSpPr>
          <p:cNvPr id="34" name="TextBox 33"/>
          <p:cNvSpPr txBox="1"/>
          <p:nvPr/>
        </p:nvSpPr>
        <p:spPr>
          <a:xfrm>
            <a:off x="8222284" y="2816352"/>
            <a:ext cx="1591513" cy="502920"/>
          </a:xfrm>
          <a:prstGeom prst="rect">
            <a:avLst/>
          </a:prstGeom>
          <a:noFill/>
        </p:spPr>
        <p:txBody>
          <a:bodyPr wrap="square" lIns="0" rIns="0" tIns="0" bIns="0">
            <a:spAutoFit/>
          </a:bodyPr>
          <a:lstStyle/>
          <a:p>
            <a:pPr algn="l">
              <a:lnSpc>
                <a:spcPct val="100000"/>
              </a:lnSpc>
              <a:spcAft>
                <a:spcPts val="0"/>
              </a:spcAft>
            </a:pPr>
            <a:r>
              <a:rPr sz="1000" b="0" i="0">
                <a:solidFill>
                  <a:srgbClr val="E6E5DE"/>
                </a:solidFill>
                <a:latin typeface="Calibri"/>
              </a:rPr>
              <a:t>Founded in</a:t>
            </a:r>
          </a:p>
          <a:p>
            <a:pPr algn="l">
              <a:lnSpc>
                <a:spcPct val="100000"/>
              </a:lnSpc>
              <a:spcAft>
                <a:spcPts val="0"/>
              </a:spcAft>
            </a:pPr>
            <a:r>
              <a:rPr sz="1000" b="0" i="0">
                <a:solidFill>
                  <a:srgbClr val="E6E5DE"/>
                </a:solidFill>
                <a:latin typeface="Calibri"/>
              </a:rPr>
              <a:t>Newstead, QLD</a:t>
            </a:r>
          </a:p>
        </p:txBody>
      </p:sp>
      <p:sp>
        <p:nvSpPr>
          <p:cNvPr id="35" name="TextBox 34"/>
          <p:cNvSpPr txBox="1"/>
          <p:nvPr/>
        </p:nvSpPr>
        <p:spPr>
          <a:xfrm>
            <a:off x="8222284" y="3401568"/>
            <a:ext cx="1591513" cy="219456"/>
          </a:xfrm>
          <a:prstGeom prst="rect">
            <a:avLst/>
          </a:prstGeom>
          <a:noFill/>
        </p:spPr>
        <p:txBody>
          <a:bodyPr wrap="square" lIns="0" rIns="0" tIns="0" bIns="0">
            <a:spAutoFit/>
          </a:bodyPr>
          <a:lstStyle/>
          <a:p>
            <a:pPr algn="l"/>
            <a:r>
              <a:rPr sz="700" b="0" i="1">
                <a:solidFill>
                  <a:srgbClr val="01A296"/>
                </a:solidFill>
                <a:latin typeface="Calibri"/>
              </a:rPr>
              <a:t>Company website, our story</a:t>
            </a:r>
          </a:p>
        </p:txBody>
      </p:sp>
      <p:sp>
        <p:nvSpPr>
          <p:cNvPr id="36" name="Rectangle 35"/>
          <p:cNvSpPr/>
          <p:nvPr/>
        </p:nvSpPr>
        <p:spPr>
          <a:xfrm>
            <a:off x="10060685"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060685" y="2194560"/>
            <a:ext cx="1810969"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0413" y="2322576"/>
            <a:ext cx="1591513" cy="457200"/>
          </a:xfrm>
          <a:prstGeom prst="rect">
            <a:avLst/>
          </a:prstGeom>
          <a:noFill/>
        </p:spPr>
        <p:txBody>
          <a:bodyPr wrap="square" lIns="0" rIns="0" tIns="0" bIns="0">
            <a:spAutoFit/>
          </a:bodyPr>
          <a:lstStyle/>
          <a:p>
            <a:pPr algn="l"/>
            <a:r>
              <a:rPr sz="2800" b="1" i="0">
                <a:solidFill>
                  <a:srgbClr val="F8C806"/>
                </a:solidFill>
                <a:latin typeface="Georgia"/>
              </a:rPr>
              <a:t>3x</a:t>
            </a:r>
          </a:p>
        </p:txBody>
      </p:sp>
      <p:sp>
        <p:nvSpPr>
          <p:cNvPr id="39" name="TextBox 38"/>
          <p:cNvSpPr txBox="1"/>
          <p:nvPr/>
        </p:nvSpPr>
        <p:spPr>
          <a:xfrm>
            <a:off x="10170413" y="2816352"/>
            <a:ext cx="1591513" cy="502920"/>
          </a:xfrm>
          <a:prstGeom prst="rect">
            <a:avLst/>
          </a:prstGeom>
          <a:noFill/>
        </p:spPr>
        <p:txBody>
          <a:bodyPr wrap="square" lIns="0" rIns="0" tIns="0" bIns="0">
            <a:spAutoFit/>
          </a:bodyPr>
          <a:lstStyle/>
          <a:p>
            <a:pPr algn="l">
              <a:lnSpc>
                <a:spcPct val="100000"/>
              </a:lnSpc>
              <a:spcAft>
                <a:spcPts val="0"/>
              </a:spcAft>
            </a:pPr>
            <a:r>
              <a:rPr sz="1000" b="0" i="0">
                <a:solidFill>
                  <a:srgbClr val="E6E5DE"/>
                </a:solidFill>
                <a:latin typeface="Calibri"/>
              </a:rPr>
              <a:t>GPS Wealth Practice</a:t>
            </a:r>
          </a:p>
          <a:p>
            <a:pPr algn="l">
              <a:lnSpc>
                <a:spcPct val="100000"/>
              </a:lnSpc>
              <a:spcAft>
                <a:spcPts val="0"/>
              </a:spcAft>
            </a:pPr>
            <a:r>
              <a:rPr sz="1000" b="0" i="0">
                <a:solidFill>
                  <a:srgbClr val="E6E5DE"/>
                </a:solidFill>
                <a:latin typeface="Calibri"/>
              </a:rPr>
              <a:t>of the Year winner</a:t>
            </a:r>
          </a:p>
        </p:txBody>
      </p:sp>
      <p:sp>
        <p:nvSpPr>
          <p:cNvPr id="40" name="TextBox 39"/>
          <p:cNvSpPr txBox="1"/>
          <p:nvPr/>
        </p:nvSpPr>
        <p:spPr>
          <a:xfrm>
            <a:off x="10170413" y="3401568"/>
            <a:ext cx="1591513" cy="219456"/>
          </a:xfrm>
          <a:prstGeom prst="rect">
            <a:avLst/>
          </a:prstGeom>
          <a:noFill/>
        </p:spPr>
        <p:txBody>
          <a:bodyPr wrap="square" lIns="0" rIns="0" tIns="0" bIns="0">
            <a:spAutoFit/>
          </a:bodyPr>
          <a:lstStyle/>
          <a:p>
            <a:pPr algn="l"/>
            <a:r>
              <a:rPr sz="700" b="0" i="1">
                <a:solidFill>
                  <a:srgbClr val="01A296"/>
                </a:solidFill>
                <a:latin typeface="Calibri"/>
              </a:rPr>
              <a:t>GPS Wealth conference recaps</a:t>
            </a:r>
          </a:p>
        </p:txBody>
      </p:sp>
      <p:sp>
        <p:nvSpPr>
          <p:cNvPr id="41" name="TextBox 40"/>
          <p:cNvSpPr txBox="1"/>
          <p:nvPr/>
        </p:nvSpPr>
        <p:spPr>
          <a:xfrm>
            <a:off x="320040" y="3913632"/>
            <a:ext cx="5486400" cy="274320"/>
          </a:xfrm>
          <a:prstGeom prst="rect">
            <a:avLst/>
          </a:prstGeom>
          <a:noFill/>
        </p:spPr>
        <p:txBody>
          <a:bodyPr wrap="square" lIns="0" rIns="0" tIns="0" bIns="0">
            <a:spAutoFit/>
          </a:bodyPr>
          <a:lstStyle/>
          <a:p>
            <a:pPr algn="l"/>
            <a:r>
              <a:rPr sz="1200" b="1" i="0">
                <a:solidFill>
                  <a:srgbClr val="01A296"/>
                </a:solidFill>
                <a:latin typeface="Calibri"/>
              </a:rPr>
              <a:t>KEY COMMERCIAL SIGNALS</a:t>
            </a:r>
          </a:p>
        </p:txBody>
      </p:sp>
      <p:sp>
        <p:nvSpPr>
          <p:cNvPr id="42" name="TextBox 41"/>
          <p:cNvSpPr txBox="1"/>
          <p:nvPr/>
        </p:nvSpPr>
        <p:spPr>
          <a:xfrm>
            <a:off x="320040" y="4261104"/>
            <a:ext cx="11338560" cy="384048"/>
          </a:xfrm>
          <a:prstGeom prst="rect">
            <a:avLst/>
          </a:prstGeom>
          <a:noFill/>
        </p:spPr>
        <p:txBody>
          <a:bodyPr wrap="square" lIns="0" rIns="0" tIns="0" bIns="0">
            <a:spAutoFit/>
          </a:bodyPr>
          <a:lstStyle/>
          <a:p>
            <a:pPr algn="l"/>
            <a:r>
              <a:rPr sz="1100" b="0" i="0">
                <a:solidFill>
                  <a:srgbClr val="222222"/>
                </a:solidFill>
                <a:latin typeface="Calibri"/>
              </a:rPr>
              <a:t>•  Ranked 25th nationally, 2025 Smart50 Awards. Source: SmartCompany Smart50 2025 profile.</a:t>
            </a:r>
          </a:p>
        </p:txBody>
      </p:sp>
      <p:sp>
        <p:nvSpPr>
          <p:cNvPr id="43" name="TextBox 42"/>
          <p:cNvSpPr txBox="1"/>
          <p:nvPr/>
        </p:nvSpPr>
        <p:spPr>
          <a:xfrm>
            <a:off x="320040" y="4681728"/>
            <a:ext cx="11338560" cy="384048"/>
          </a:xfrm>
          <a:prstGeom prst="rect">
            <a:avLst/>
          </a:prstGeom>
          <a:noFill/>
        </p:spPr>
        <p:txBody>
          <a:bodyPr wrap="square" lIns="0" rIns="0" tIns="0" bIns="0">
            <a:spAutoFit/>
          </a:bodyPr>
          <a:lstStyle/>
          <a:p>
            <a:pPr algn="l"/>
            <a:r>
              <a:rPr sz="1100" b="0" i="0">
                <a:solidFill>
                  <a:srgbClr val="222222"/>
                </a:solidFill>
                <a:latin typeface="Calibri"/>
              </a:rPr>
              <a:t>•  Grew to six offices: Newstead, Sydney CBD, Neutral Bay, Gold Coast, Melbourne, Townsville. Source: company website.</a:t>
            </a:r>
          </a:p>
        </p:txBody>
      </p:sp>
      <p:sp>
        <p:nvSpPr>
          <p:cNvPr id="44" name="TextBox 43"/>
          <p:cNvSpPr txBox="1"/>
          <p:nvPr/>
        </p:nvSpPr>
        <p:spPr>
          <a:xfrm>
            <a:off x="320040" y="5102352"/>
            <a:ext cx="11338560" cy="384048"/>
          </a:xfrm>
          <a:prstGeom prst="rect">
            <a:avLst/>
          </a:prstGeom>
          <a:noFill/>
        </p:spPr>
        <p:txBody>
          <a:bodyPr wrap="square" lIns="0" rIns="0" tIns="0" bIns="0">
            <a:spAutoFit/>
          </a:bodyPr>
          <a:lstStyle/>
          <a:p>
            <a:pPr algn="l"/>
            <a:r>
              <a:rPr sz="1100" b="0" i="0">
                <a:solidFill>
                  <a:srgbClr val="222222"/>
                </a:solidFill>
                <a:latin typeface="Calibri"/>
              </a:rPr>
              <a:t>•  Named GPS Wealth Practice of the Year three years running. Source: company blog, GPS Wealth conference recaps.</a:t>
            </a:r>
          </a:p>
        </p:txBody>
      </p:sp>
      <p:sp>
        <p:nvSpPr>
          <p:cNvPr id="45" name="TextBox 44"/>
          <p:cNvSpPr txBox="1"/>
          <p:nvPr/>
        </p:nvSpPr>
        <p:spPr>
          <a:xfrm>
            <a:off x="320040" y="5522976"/>
            <a:ext cx="11338560" cy="384048"/>
          </a:xfrm>
          <a:prstGeom prst="rect">
            <a:avLst/>
          </a:prstGeom>
          <a:noFill/>
        </p:spPr>
        <p:txBody>
          <a:bodyPr wrap="square" lIns="0" rIns="0" tIns="0" bIns="0">
            <a:spAutoFit/>
          </a:bodyPr>
          <a:lstStyle/>
          <a:p>
            <a:pPr algn="l"/>
            <a:r>
              <a:rPr sz="1100" b="0" i="0">
                <a:solidFill>
                  <a:srgbClr val="222222"/>
                </a:solidFill>
                <a:latin typeface="Calibri"/>
              </a:rPr>
              <a:t>•  Recognised in the AFR Fast 100 and the 2025 ifa Excellence Awards. Source: company website, ifa Excellence Awards 2025.</a:t>
            </a:r>
          </a:p>
        </p:txBody>
      </p:sp>
      <p:sp>
        <p:nvSpPr>
          <p:cNvPr id="46" name="TextBox 45"/>
          <p:cNvSpPr txBox="1"/>
          <p:nvPr/>
        </p:nvSpPr>
        <p:spPr>
          <a:xfrm>
            <a:off x="320040" y="5943600"/>
            <a:ext cx="11338560" cy="384048"/>
          </a:xfrm>
          <a:prstGeom prst="rect">
            <a:avLst/>
          </a:prstGeom>
          <a:noFill/>
        </p:spPr>
        <p:txBody>
          <a:bodyPr wrap="square" lIns="0" rIns="0" tIns="0" bIns="0">
            <a:spAutoFit/>
          </a:bodyPr>
          <a:lstStyle/>
          <a:p>
            <a:pPr algn="l"/>
            <a:r>
              <a:rPr sz="1100" b="0" i="0">
                <a:solidFill>
                  <a:srgbClr val="222222"/>
                </a:solidFill>
                <a:latin typeface="Calibri"/>
              </a:rPr>
              <a:t>•  Founded 2011 by Guy Freeman and Ben Budge, both trained together in financial planning. Source: company Our Story page.</a:t>
            </a:r>
          </a:p>
        </p:txBody>
      </p:sp>
      <p:sp>
        <p:nvSpPr>
          <p:cNvPr id="47" name="TextBox 46"/>
          <p:cNvSpPr txBox="1"/>
          <p:nvPr/>
        </p:nvSpPr>
        <p:spPr>
          <a:xfrm>
            <a:off x="320040" y="6364224"/>
            <a:ext cx="11338560" cy="384048"/>
          </a:xfrm>
          <a:prstGeom prst="rect">
            <a:avLst/>
          </a:prstGeom>
          <a:noFill/>
        </p:spPr>
        <p:txBody>
          <a:bodyPr wrap="square" lIns="0" rIns="0" tIns="0" bIns="0">
            <a:spAutoFit/>
          </a:bodyPr>
          <a:lstStyle/>
          <a:p>
            <a:pPr algn="l"/>
            <a:r>
              <a:rPr sz="1100" b="0" i="0">
                <a:solidFill>
                  <a:srgbClr val="222222"/>
                </a:solidFill>
                <a:latin typeface="Calibri"/>
              </a:rPr>
              <a:t>•  Rated a top 1 percent Australian financial planner, Brisbane Outer Suburbs 2026. Source: Quality Business Awards Australia.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spAutoFit/>
          </a:bodyPr>
          <a:lstStyle/>
          <a:p>
            <a:pPr algn="l"/>
            <a:r>
              <a:rPr sz="1200" b="1" i="0">
                <a:solidFill>
                  <a:srgbClr val="E6E5DE"/>
                </a:solidFill>
                <a:latin typeface="Calibri"/>
              </a:rPr>
              <a:t>THE OPPORTUNITY</a:t>
            </a:r>
          </a:p>
        </p:txBody>
      </p:sp>
      <p:sp>
        <p:nvSpPr>
          <p:cNvPr id="5" name="TextBox 4"/>
          <p:cNvSpPr txBox="1"/>
          <p:nvPr/>
        </p:nvSpPr>
        <p:spPr>
          <a:xfrm>
            <a:off x="8229600" y="292608"/>
            <a:ext cx="3657600" cy="365760"/>
          </a:xfrm>
          <a:prstGeom prst="rect">
            <a:avLst/>
          </a:prstGeom>
          <a:noFill/>
        </p:spPr>
        <p:txBody>
          <a:bodyPr wrap="square" lIns="0" rIns="0" tIns="0" bIns="0">
            <a:spAutoFit/>
          </a:bodyPr>
          <a:lstStyle/>
          <a:p>
            <a:pPr algn="r"/>
            <a:r>
              <a:rPr sz="1200" b="1" i="0">
                <a:solidFill>
                  <a:srgbClr val="01A296"/>
                </a:solidFill>
                <a:latin typeface="Calibri"/>
              </a:rPr>
              <a:t>My Wealth Solutions</a:t>
            </a:r>
          </a:p>
        </p:txBody>
      </p:sp>
      <p:sp>
        <p:nvSpPr>
          <p:cNvPr id="6" name="Rectangle 5"/>
          <p:cNvSpPr/>
          <p:nvPr/>
        </p:nvSpPr>
        <p:spPr>
          <a:xfrm>
            <a:off x="320040" y="6446520"/>
            <a:ext cx="11551615"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lIns="0" rIns="0" tIns="0" bIns="0">
            <a:spAutoFit/>
          </a:bodyPr>
          <a:lstStyle/>
          <a:p>
            <a:pPr algn="l"/>
            <a:r>
              <a:rPr sz="800" b="0" i="0">
                <a:solidFill>
                  <a:srgbClr val="666666"/>
                </a:solidFill>
                <a:latin typeface="Calibri"/>
              </a:rPr>
              <a:t>Prepared by Nitesh Roopa CA, Managing Partner and Founder, ProfitPulse, Profit-Pulse.com.au</a:t>
            </a:r>
          </a:p>
        </p:txBody>
      </p:sp>
      <p:sp>
        <p:nvSpPr>
          <p:cNvPr id="8" name="TextBox 7"/>
          <p:cNvSpPr txBox="1"/>
          <p:nvPr/>
        </p:nvSpPr>
        <p:spPr>
          <a:xfrm>
            <a:off x="9601200" y="6510528"/>
            <a:ext cx="2270455" cy="274320"/>
          </a:xfrm>
          <a:prstGeom prst="rect">
            <a:avLst/>
          </a:prstGeom>
          <a:noFill/>
        </p:spPr>
        <p:txBody>
          <a:bodyPr wrap="square" lIns="0" rIns="0" tIns="0" bIns="0">
            <a:spAutoFit/>
          </a:bodyPr>
          <a:lstStyle/>
          <a:p>
            <a:pPr algn="r"/>
            <a:r>
              <a:rPr sz="800" b="0" i="0">
                <a:solidFill>
                  <a:srgbClr val="666666"/>
                </a:solidFill>
                <a:latin typeface="Calibri"/>
              </a:rPr>
              <a:t>20 Aug 2026</a:t>
            </a:r>
          </a:p>
        </p:txBody>
      </p:sp>
      <p:sp>
        <p:nvSpPr>
          <p:cNvPr id="9" name="TextBox 8"/>
          <p:cNvSpPr txBox="1"/>
          <p:nvPr/>
        </p:nvSpPr>
        <p:spPr>
          <a:xfrm>
            <a:off x="320040" y="1097280"/>
            <a:ext cx="11338560" cy="365760"/>
          </a:xfrm>
          <a:prstGeom prst="rect">
            <a:avLst/>
          </a:prstGeom>
          <a:noFill/>
        </p:spPr>
        <p:txBody>
          <a:bodyPr wrap="square" lIns="0" rIns="0" tIns="0" bIns="0">
            <a:spAutoFit/>
          </a:bodyPr>
          <a:lstStyle/>
          <a:p>
            <a:pPr algn="l"/>
            <a:r>
              <a:rPr sz="1500" b="1" i="0">
                <a:solidFill>
                  <a:srgbClr val="000000"/>
                </a:solidFill>
                <a:latin typeface="Georgia"/>
              </a:rPr>
              <a:t>My Wealth Solutions: three commercial observations from ProfitPulse</a:t>
            </a:r>
          </a:p>
        </p:txBody>
      </p:sp>
      <p:sp>
        <p:nvSpPr>
          <p:cNvPr id="10" name="Rectangle 9"/>
          <p:cNvSpPr/>
          <p:nvPr/>
        </p:nvSpPr>
        <p:spPr>
          <a:xfrm>
            <a:off x="320040" y="1554480"/>
            <a:ext cx="3759098" cy="416052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1737360"/>
            <a:ext cx="3356762" cy="548640"/>
          </a:xfrm>
          <a:prstGeom prst="rect">
            <a:avLst/>
          </a:prstGeom>
          <a:noFill/>
        </p:spPr>
        <p:txBody>
          <a:bodyPr wrap="square" lIns="0" rIns="0" tIns="0" bIns="0">
            <a:spAutoFit/>
          </a:bodyPr>
          <a:lstStyle/>
          <a:p>
            <a:pPr algn="l"/>
            <a:r>
              <a:rPr sz="3200" b="1" i="0">
                <a:solidFill>
                  <a:srgbClr val="000000"/>
                </a:solidFill>
                <a:latin typeface="Georgia"/>
              </a:rPr>
              <a:t>01</a:t>
            </a:r>
          </a:p>
        </p:txBody>
      </p:sp>
      <p:sp>
        <p:nvSpPr>
          <p:cNvPr id="12" name="TextBox 11"/>
          <p:cNvSpPr txBox="1"/>
          <p:nvPr/>
        </p:nvSpPr>
        <p:spPr>
          <a:xfrm>
            <a:off x="521208" y="2423160"/>
            <a:ext cx="3356762" cy="822960"/>
          </a:xfrm>
          <a:prstGeom prst="rect">
            <a:avLst/>
          </a:prstGeom>
          <a:noFill/>
        </p:spPr>
        <p:txBody>
          <a:bodyPr wrap="square" lIns="0" rIns="0" tIns="0" bIns="0">
            <a:spAutoFit/>
          </a:bodyPr>
          <a:lstStyle/>
          <a:p>
            <a:pPr algn="l">
              <a:lnSpc>
                <a:spcPct val="105000"/>
              </a:lnSpc>
            </a:pPr>
            <a:r>
              <a:rPr sz="1400" b="1" i="0">
                <a:solidFill>
                  <a:srgbClr val="000000"/>
                </a:solidFill>
                <a:latin typeface="Calibri"/>
              </a:rPr>
              <a:t>Six offices, one performance picture, or not yet</a:t>
            </a:r>
          </a:p>
        </p:txBody>
      </p:sp>
      <p:sp>
        <p:nvSpPr>
          <p:cNvPr id="13" name="TextBox 12"/>
          <p:cNvSpPr txBox="1"/>
          <p:nvPr/>
        </p:nvSpPr>
        <p:spPr>
          <a:xfrm>
            <a:off x="521208" y="3246120"/>
            <a:ext cx="3356762" cy="2377440"/>
          </a:xfrm>
          <a:prstGeom prst="rect">
            <a:avLst/>
          </a:prstGeom>
          <a:noFill/>
        </p:spPr>
        <p:txBody>
          <a:bodyPr wrap="square" lIns="0" rIns="0" tIns="0" bIns="0">
            <a:spAutoFit/>
          </a:bodyPr>
          <a:lstStyle/>
          <a:p>
            <a:pPr algn="l">
              <a:lnSpc>
                <a:spcPct val="112000"/>
              </a:lnSpc>
            </a:pPr>
            <a:r>
              <a:rPr sz="1050" b="0" i="0">
                <a:solidFill>
                  <a:srgbClr val="000000"/>
                </a:solidFill>
                <a:latin typeface="Calibri"/>
              </a:rPr>
              <a:t>The practice has grown from one Newstead office in 2011 to six locations across Queensland, New South Wales, and Victoria, lifting revenue 47 percent to 9.9 million dollars in the year that earned Smart50 rank 25. Each office carries its own referral splits, servicing cost, and licensee fees. Without a location by location margin view, a quietly subsidised office can look identical to a strong one.</a:t>
            </a:r>
          </a:p>
        </p:txBody>
      </p:sp>
      <p:sp>
        <p:nvSpPr>
          <p:cNvPr id="14" name="Rectangle 13"/>
          <p:cNvSpPr/>
          <p:nvPr/>
        </p:nvSpPr>
        <p:spPr>
          <a:xfrm>
            <a:off x="4216298" y="1554480"/>
            <a:ext cx="3759098" cy="4160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737360"/>
            <a:ext cx="3356762" cy="548640"/>
          </a:xfrm>
          <a:prstGeom prst="rect">
            <a:avLst/>
          </a:prstGeom>
          <a:noFill/>
        </p:spPr>
        <p:txBody>
          <a:bodyPr wrap="square" lIns="0" rIns="0" tIns="0" bIns="0">
            <a:spAutoFit/>
          </a:bodyPr>
          <a:lstStyle/>
          <a:p>
            <a:pPr algn="l"/>
            <a:r>
              <a:rPr sz="3200" b="1" i="0">
                <a:solidFill>
                  <a:srgbClr val="E6E5DE"/>
                </a:solidFill>
                <a:latin typeface="Georgia"/>
              </a:rPr>
              <a:t>02</a:t>
            </a:r>
          </a:p>
        </p:txBody>
      </p:sp>
      <p:sp>
        <p:nvSpPr>
          <p:cNvPr id="16" name="TextBox 15"/>
          <p:cNvSpPr txBox="1"/>
          <p:nvPr/>
        </p:nvSpPr>
        <p:spPr>
          <a:xfrm>
            <a:off x="4417466" y="2423160"/>
            <a:ext cx="3356762" cy="822960"/>
          </a:xfrm>
          <a:prstGeom prst="rect">
            <a:avLst/>
          </a:prstGeom>
          <a:noFill/>
        </p:spPr>
        <p:txBody>
          <a:bodyPr wrap="square" lIns="0" rIns="0" tIns="0" bIns="0">
            <a:spAutoFit/>
          </a:bodyPr>
          <a:lstStyle/>
          <a:p>
            <a:pPr algn="l">
              <a:lnSpc>
                <a:spcPct val="105000"/>
              </a:lnSpc>
            </a:pPr>
            <a:r>
              <a:rPr sz="1400" b="1" i="0">
                <a:solidFill>
                  <a:srgbClr val="FFFFFF"/>
                </a:solidFill>
                <a:latin typeface="Calibri"/>
              </a:rPr>
              <a:t>Fifty five people is a company, not a practice</a:t>
            </a:r>
          </a:p>
        </p:txBody>
      </p:sp>
      <p:sp>
        <p:nvSpPr>
          <p:cNvPr id="17" name="TextBox 16"/>
          <p:cNvSpPr txBox="1"/>
          <p:nvPr/>
        </p:nvSpPr>
        <p:spPr>
          <a:xfrm>
            <a:off x="4417466" y="3246120"/>
            <a:ext cx="3356762" cy="2377440"/>
          </a:xfrm>
          <a:prstGeom prst="rect">
            <a:avLst/>
          </a:prstGeom>
          <a:noFill/>
        </p:spPr>
        <p:txBody>
          <a:bodyPr wrap="square" lIns="0" rIns="0" tIns="0" bIns="0">
            <a:spAutoFit/>
          </a:bodyPr>
          <a:lstStyle/>
          <a:p>
            <a:pPr algn="l">
              <a:lnSpc>
                <a:spcPct val="112000"/>
              </a:lnSpc>
            </a:pPr>
            <a:r>
              <a:rPr sz="1050" b="0" i="0">
                <a:solidFill>
                  <a:srgbClr val="FFFFFF"/>
                </a:solidFill>
                <a:latin typeface="Calibri"/>
              </a:rPr>
              <a:t>Headcount has grown to 55 alongside revenue, a point where informal, founder led oversight usually starts to strain. Three consecutive GPS Wealth Practice of the Year wins confirm client outcomes are strong. What those awards do not confirm is whether cost base and workforce capacity are still returning a proportional margin as the team has grown.</a:t>
            </a:r>
          </a:p>
        </p:txBody>
      </p:sp>
      <p:sp>
        <p:nvSpPr>
          <p:cNvPr id="18" name="Rectangle 17"/>
          <p:cNvSpPr/>
          <p:nvPr/>
        </p:nvSpPr>
        <p:spPr>
          <a:xfrm>
            <a:off x="8112556" y="1554480"/>
            <a:ext cx="3759098" cy="416052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3724" y="1737360"/>
            <a:ext cx="3356762" cy="548640"/>
          </a:xfrm>
          <a:prstGeom prst="rect">
            <a:avLst/>
          </a:prstGeom>
          <a:noFill/>
        </p:spPr>
        <p:txBody>
          <a:bodyPr wrap="square" lIns="0" rIns="0" tIns="0" bIns="0">
            <a:spAutoFit/>
          </a:bodyPr>
          <a:lstStyle/>
          <a:p>
            <a:pPr algn="l"/>
            <a:r>
              <a:rPr sz="3200" b="1" i="0">
                <a:solidFill>
                  <a:srgbClr val="000000"/>
                </a:solidFill>
                <a:latin typeface="Georgia"/>
              </a:rPr>
              <a:t>03</a:t>
            </a:r>
          </a:p>
        </p:txBody>
      </p:sp>
      <p:sp>
        <p:nvSpPr>
          <p:cNvPr id="20" name="TextBox 19"/>
          <p:cNvSpPr txBox="1"/>
          <p:nvPr/>
        </p:nvSpPr>
        <p:spPr>
          <a:xfrm>
            <a:off x="8313724" y="2423160"/>
            <a:ext cx="3356762" cy="822960"/>
          </a:xfrm>
          <a:prstGeom prst="rect">
            <a:avLst/>
          </a:prstGeom>
          <a:noFill/>
        </p:spPr>
        <p:txBody>
          <a:bodyPr wrap="square" lIns="0" rIns="0" tIns="0" bIns="0">
            <a:spAutoFit/>
          </a:bodyPr>
          <a:lstStyle/>
          <a:p>
            <a:pPr algn="l">
              <a:lnSpc>
                <a:spcPct val="105000"/>
              </a:lnSpc>
            </a:pPr>
            <a:r>
              <a:rPr sz="1400" b="1" i="0">
                <a:solidFill>
                  <a:srgbClr val="000000"/>
                </a:solidFill>
                <a:latin typeface="Calibri"/>
              </a:rPr>
              <a:t>The award record is proof, the numbers are the next step</a:t>
            </a:r>
          </a:p>
        </p:txBody>
      </p:sp>
      <p:sp>
        <p:nvSpPr>
          <p:cNvPr id="21" name="TextBox 20"/>
          <p:cNvSpPr txBox="1"/>
          <p:nvPr/>
        </p:nvSpPr>
        <p:spPr>
          <a:xfrm>
            <a:off x="8313724" y="3246120"/>
            <a:ext cx="3356762" cy="2377440"/>
          </a:xfrm>
          <a:prstGeom prst="rect">
            <a:avLst/>
          </a:prstGeom>
          <a:noFill/>
        </p:spPr>
        <p:txBody>
          <a:bodyPr wrap="square" lIns="0" rIns="0" tIns="0" bIns="0">
            <a:spAutoFit/>
          </a:bodyPr>
          <a:lstStyle/>
          <a:p>
            <a:pPr algn="l">
              <a:lnSpc>
                <a:spcPct val="112000"/>
              </a:lnSpc>
            </a:pPr>
            <a:r>
              <a:rPr sz="1050" b="0" i="0">
                <a:solidFill>
                  <a:srgbClr val="000000"/>
                </a:solidFill>
                <a:latin typeface="Calibri"/>
              </a:rPr>
              <a:t>An AFR Fast 100 mention, an ifa Excellence Awards nod, and three GPS Wealth trophies make this one of the more credentialed growth stories in Australian financial advice. That record carries real weight with a bank, a licensee, or a future partner. Businesses that convert growth stories into value are the ones holding clean, location level numbers behind the headline.</a:t>
            </a:r>
          </a:p>
        </p:txBody>
      </p:sp>
      <p:sp>
        <p:nvSpPr>
          <p:cNvPr id="22" name="TextBox 21"/>
          <p:cNvSpPr txBox="1"/>
          <p:nvPr/>
        </p:nvSpPr>
        <p:spPr>
          <a:xfrm>
            <a:off x="320040" y="5852160"/>
            <a:ext cx="11521440" cy="548640"/>
          </a:xfrm>
          <a:prstGeom prst="rect">
            <a:avLst/>
          </a:prstGeom>
          <a:noFill/>
        </p:spPr>
        <p:txBody>
          <a:bodyPr wrap="square" lIns="0" rIns="0" tIns="0" bIns="0">
            <a:spAutoFit/>
          </a:bodyPr>
          <a:lstStyle/>
          <a:p>
            <a:pPr algn="l"/>
            <a:r>
              <a:rPr sz="1100" b="0" i="1">
                <a:solidFill>
                  <a:srgbClr val="333333"/>
                </a:solidFill>
                <a:latin typeface="Calibri"/>
              </a:rPr>
              <a:t>These observations are offered in good faith. My Wealth Solutions has built something genuinely impressive in fifteen years. The question is simply whether the financial architecture across six offices is keeping pace with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spAutoFit/>
          </a:bodyPr>
          <a:lstStyle/>
          <a:p>
            <a:pPr algn="l"/>
            <a:r>
              <a:rPr sz="1200" b="1" i="0">
                <a:solidFill>
                  <a:srgbClr val="E6E5DE"/>
                </a:solidFill>
                <a:latin typeface="Calibri"/>
              </a:rPr>
              <a:t>THE RECOMMENDATION</a:t>
            </a:r>
          </a:p>
        </p:txBody>
      </p:sp>
      <p:sp>
        <p:nvSpPr>
          <p:cNvPr id="5" name="TextBox 4"/>
          <p:cNvSpPr txBox="1"/>
          <p:nvPr/>
        </p:nvSpPr>
        <p:spPr>
          <a:xfrm>
            <a:off x="8229600" y="292608"/>
            <a:ext cx="3657600" cy="365760"/>
          </a:xfrm>
          <a:prstGeom prst="rect">
            <a:avLst/>
          </a:prstGeom>
          <a:noFill/>
        </p:spPr>
        <p:txBody>
          <a:bodyPr wrap="square" lIns="0" rIns="0" tIns="0" bIns="0">
            <a:spAutoFit/>
          </a:bodyPr>
          <a:lstStyle/>
          <a:p>
            <a:pPr algn="r"/>
            <a:r>
              <a:rPr sz="1200" b="1" i="0">
                <a:solidFill>
                  <a:srgbClr val="01A296"/>
                </a:solidFill>
                <a:latin typeface="Calibri"/>
              </a:rPr>
              <a:t>PROFITPULSE</a:t>
            </a:r>
          </a:p>
        </p:txBody>
      </p:sp>
      <p:sp>
        <p:nvSpPr>
          <p:cNvPr id="6" name="Rectangle 5"/>
          <p:cNvSpPr/>
          <p:nvPr/>
        </p:nvSpPr>
        <p:spPr>
          <a:xfrm>
            <a:off x="320040" y="6446520"/>
            <a:ext cx="11551615"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lIns="0" rIns="0" tIns="0" bIns="0">
            <a:spAutoFit/>
          </a:bodyPr>
          <a:lstStyle/>
          <a:p>
            <a:pPr algn="l"/>
            <a:r>
              <a:rPr sz="800" b="0" i="0">
                <a:solidFill>
                  <a:srgbClr val="666666"/>
                </a:solidFill>
                <a:latin typeface="Calibri"/>
              </a:rPr>
              <a:t>Prepared by Nitesh Roopa CA, Managing Partner and Founder, ProfitPulse, Profit-Pulse.com.au</a:t>
            </a:r>
          </a:p>
        </p:txBody>
      </p:sp>
      <p:sp>
        <p:nvSpPr>
          <p:cNvPr id="8" name="TextBox 7"/>
          <p:cNvSpPr txBox="1"/>
          <p:nvPr/>
        </p:nvSpPr>
        <p:spPr>
          <a:xfrm>
            <a:off x="9601200" y="6510528"/>
            <a:ext cx="2270455" cy="274320"/>
          </a:xfrm>
          <a:prstGeom prst="rect">
            <a:avLst/>
          </a:prstGeom>
          <a:noFill/>
        </p:spPr>
        <p:txBody>
          <a:bodyPr wrap="square" lIns="0" rIns="0" tIns="0" bIns="0">
            <a:spAutoFit/>
          </a:bodyPr>
          <a:lstStyle/>
          <a:p>
            <a:pPr algn="r"/>
            <a:r>
              <a:rPr sz="800" b="0" i="0">
                <a:solidFill>
                  <a:srgbClr val="666666"/>
                </a:solidFill>
                <a:latin typeface="Calibri"/>
              </a:rPr>
              <a:t>20 Aug 2026</a:t>
            </a:r>
          </a:p>
        </p:txBody>
      </p:sp>
      <p:sp>
        <p:nvSpPr>
          <p:cNvPr id="9" name="TextBox 8"/>
          <p:cNvSpPr txBox="1"/>
          <p:nvPr/>
        </p:nvSpPr>
        <p:spPr>
          <a:xfrm>
            <a:off x="320040" y="1097280"/>
            <a:ext cx="6766560" cy="502920"/>
          </a:xfrm>
          <a:prstGeom prst="rect">
            <a:avLst/>
          </a:prstGeom>
          <a:noFill/>
        </p:spPr>
        <p:txBody>
          <a:bodyPr wrap="square" lIns="0" rIns="0" tIns="0" bIns="0">
            <a:spAutoFit/>
          </a:bodyPr>
          <a:lstStyle/>
          <a:p>
            <a:pPr algn="l"/>
            <a:r>
              <a:rPr sz="2400" b="1" i="0">
                <a:solidFill>
                  <a:srgbClr val="000000"/>
                </a:solidFill>
                <a:latin typeface="Georgia"/>
              </a:rPr>
              <a:t>Operational Intelligence Review</a:t>
            </a:r>
          </a:p>
        </p:txBody>
      </p:sp>
      <p:sp>
        <p:nvSpPr>
          <p:cNvPr id="10" name="TextBox 9"/>
          <p:cNvSpPr txBox="1"/>
          <p:nvPr/>
        </p:nvSpPr>
        <p:spPr>
          <a:xfrm>
            <a:off x="320040" y="1627632"/>
            <a:ext cx="6766560" cy="365760"/>
          </a:xfrm>
          <a:prstGeom prst="rect">
            <a:avLst/>
          </a:prstGeom>
          <a:noFill/>
        </p:spPr>
        <p:txBody>
          <a:bodyPr wrap="square" lIns="0" rIns="0" tIns="0" bIns="0">
            <a:spAutoFit/>
          </a:bodyPr>
          <a:lstStyle/>
          <a:p>
            <a:pPr algn="l"/>
            <a:r>
              <a:rPr sz="1800" b="1" i="0">
                <a:solidFill>
                  <a:srgbClr val="F6A102"/>
                </a:solidFill>
                <a:latin typeface="Calibri"/>
              </a:rPr>
              <a:t>$6,500 one off</a:t>
            </a:r>
          </a:p>
        </p:txBody>
      </p:sp>
      <p:sp>
        <p:nvSpPr>
          <p:cNvPr id="11" name="TextBox 10"/>
          <p:cNvSpPr txBox="1"/>
          <p:nvPr/>
        </p:nvSpPr>
        <p:spPr>
          <a:xfrm>
            <a:off x="320040" y="2084831"/>
            <a:ext cx="6766560" cy="777240"/>
          </a:xfrm>
          <a:prstGeom prst="rect">
            <a:avLst/>
          </a:prstGeom>
          <a:noFill/>
        </p:spPr>
        <p:txBody>
          <a:bodyPr wrap="square" lIns="0" rIns="0" tIns="0" bIns="0">
            <a:spAutoFit/>
          </a:bodyPr>
          <a:lstStyle/>
          <a:p>
            <a:pPr algn="l">
              <a:lnSpc>
                <a:spcPct val="115000"/>
              </a:lnSpc>
            </a:pPr>
            <a:r>
              <a:rPr sz="1150" b="0" i="0">
                <a:solidFill>
                  <a:srgbClr val="222222"/>
                </a:solidFill>
                <a:latin typeface="Calibri"/>
              </a:rPr>
              <a:t>A six week review across four lenses: customer concentration and profitability, product and service line margin, workforce capacity, and operational bottlenecks, mapped office by office and adviser by adviser.</a:t>
            </a:r>
          </a:p>
        </p:txBody>
      </p:sp>
      <p:sp>
        <p:nvSpPr>
          <p:cNvPr id="12" name="Rectangle 11"/>
          <p:cNvSpPr/>
          <p:nvPr/>
        </p:nvSpPr>
        <p:spPr>
          <a:xfrm>
            <a:off x="320040" y="2999232"/>
            <a:ext cx="6766560" cy="1234440"/>
          </a:xfrm>
          <a:prstGeom prst="rect">
            <a:avLst/>
          </a:prstGeom>
          <a:solidFill>
            <a:srgbClr val="F4F4F2"/>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127248"/>
            <a:ext cx="6400800" cy="320040"/>
          </a:xfrm>
          <a:prstGeom prst="rect">
            <a:avLst/>
          </a:prstGeom>
          <a:noFill/>
        </p:spPr>
        <p:txBody>
          <a:bodyPr wrap="square" lIns="0" rIns="0" tIns="0" bIns="0">
            <a:spAutoFit/>
          </a:bodyPr>
          <a:lstStyle/>
          <a:p>
            <a:pPr algn="l"/>
            <a:r>
              <a:rPr sz="1300" b="1" i="0">
                <a:solidFill>
                  <a:srgbClr val="01A296"/>
                </a:solidFill>
                <a:latin typeface="Calibri"/>
              </a:rPr>
              <a:t>Step one, answer a few quick questions</a:t>
            </a:r>
          </a:p>
        </p:txBody>
      </p:sp>
      <p:sp>
        <p:nvSpPr>
          <p:cNvPr id="14" name="TextBox 13"/>
          <p:cNvSpPr txBox="1"/>
          <p:nvPr/>
        </p:nvSpPr>
        <p:spPr>
          <a:xfrm>
            <a:off x="502920" y="3438144"/>
            <a:ext cx="6400800" cy="292608"/>
          </a:xfrm>
          <a:prstGeom prst="rect">
            <a:avLst/>
          </a:prstGeom>
          <a:noFill/>
        </p:spPr>
        <p:txBody>
          <a:bodyPr wrap="square" lIns="0" rIns="0" tIns="0" bIns="0">
            <a:spAutoFit/>
          </a:bodyPr>
          <a:lstStyle/>
          <a:p>
            <a:pPr algn="l"/>
            <a:r>
              <a:rPr sz="1100" b="0" i="0">
                <a:solidFill>
                  <a:srgbClr val="222222"/>
                </a:solidFill>
                <a:latin typeface="Calibri"/>
              </a:rPr>
              <a:t>See the solutions matched to your size and industry.</a:t>
            </a:r>
          </a:p>
        </p:txBody>
      </p:sp>
      <p:sp>
        <p:nvSpPr>
          <p:cNvPr id="15" name="TextBox 14"/>
          <p:cNvSpPr txBox="1"/>
          <p:nvPr/>
        </p:nvSpPr>
        <p:spPr>
          <a:xfrm>
            <a:off x="502920" y="3749039"/>
            <a:ext cx="6400800" cy="320040"/>
          </a:xfrm>
          <a:prstGeom prst="rect">
            <a:avLst/>
          </a:prstGeom>
          <a:noFill/>
        </p:spPr>
        <p:txBody>
          <a:bodyPr wrap="square" lIns="0" rIns="0" tIns="0" bIns="0">
            <a:spAutoFit/>
          </a:bodyPr>
          <a:lstStyle/>
          <a:p>
            <a:pPr algn="l"/>
            <a:r>
              <a:rPr sz="1300" b="1" u="sng">
                <a:solidFill>
                  <a:srgbClr val="01A296"/>
                </a:solidFill>
                <a:latin typeface="Calibri"/>
                <a:hlinkClick r:id="rId2"/>
              </a:rPr>
              <a:t>profit-pulse.com.au/services/find-your-fit</a:t>
            </a:r>
          </a:p>
        </p:txBody>
      </p:sp>
      <p:sp>
        <p:nvSpPr>
          <p:cNvPr id="16" name="Rectangle 15"/>
          <p:cNvSpPr/>
          <p:nvPr/>
        </p:nvSpPr>
        <p:spPr>
          <a:xfrm>
            <a:off x="320040" y="4434840"/>
            <a:ext cx="4206240" cy="502920"/>
          </a:xfrm>
          <a:prstGeom prst="rect">
            <a:avLst/>
          </a:prstGeom>
          <a:noFill/>
          <a:ln w="19050">
            <a:solidFill>
              <a:srgbClr val="F6A10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6A102"/>
                </a:solidFill>
                <a:latin typeface="Calibri"/>
                <a:hlinkClick r:id="rId3"/>
              </a:rPr>
              <a:t>Purchase the suggested product now to get started</a:t>
            </a:r>
          </a:p>
        </p:txBody>
      </p:sp>
      <p:sp>
        <p:nvSpPr>
          <p:cNvPr id="17" name="TextBox 16"/>
          <p:cNvSpPr txBox="1"/>
          <p:nvPr/>
        </p:nvSpPr>
        <p:spPr>
          <a:xfrm>
            <a:off x="320040" y="5166360"/>
            <a:ext cx="6766560" cy="292608"/>
          </a:xfrm>
          <a:prstGeom prst="rect">
            <a:avLst/>
          </a:prstGeom>
          <a:noFill/>
        </p:spPr>
        <p:txBody>
          <a:bodyPr wrap="square" lIns="0" rIns="0" tIns="0" bIns="0">
            <a:spAutoFit/>
          </a:bodyPr>
          <a:lstStyle/>
          <a:p>
            <a:pPr algn="l"/>
            <a:r>
              <a:rPr sz="1100" b="0" i="0">
                <a:solidFill>
                  <a:srgbClr val="222222"/>
                </a:solidFill>
                <a:latin typeface="Calibri"/>
              </a:rPr>
              <a:t>Prefer a conversation first?</a:t>
            </a:r>
          </a:p>
        </p:txBody>
      </p:sp>
      <p:sp>
        <p:nvSpPr>
          <p:cNvPr id="18" name="TextBox 17"/>
          <p:cNvSpPr txBox="1"/>
          <p:nvPr/>
        </p:nvSpPr>
        <p:spPr>
          <a:xfrm>
            <a:off x="320040" y="5449824"/>
            <a:ext cx="6766560" cy="320040"/>
          </a:xfrm>
          <a:prstGeom prst="rect">
            <a:avLst/>
          </a:prstGeom>
          <a:noFill/>
        </p:spPr>
        <p:txBody>
          <a:bodyPr wrap="square" lIns="0" rIns="0" tIns="0" bIns="0">
            <a:spAutoFit/>
          </a:bodyPr>
          <a:lstStyle/>
          <a:p>
            <a:pPr algn="l"/>
            <a:r>
              <a:rPr sz="1200" b="1" u="sng">
                <a:solidFill>
                  <a:srgbClr val="01A296"/>
                </a:solidFill>
                <a:latin typeface="Calibri"/>
                <a:hlinkClick r:id="rId4"/>
              </a:rPr>
              <a:t>Book a complimentary discovery call</a:t>
            </a:r>
          </a:p>
        </p:txBody>
      </p:sp>
      <p:sp>
        <p:nvSpPr>
          <p:cNvPr id="19" name="Rectangle 18"/>
          <p:cNvSpPr/>
          <p:nvPr/>
        </p:nvSpPr>
        <p:spPr>
          <a:xfrm>
            <a:off x="7360920" y="1051560"/>
            <a:ext cx="4507992" cy="5257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1234440"/>
            <a:ext cx="4050792" cy="365760"/>
          </a:xfrm>
          <a:prstGeom prst="rect">
            <a:avLst/>
          </a:prstGeom>
          <a:noFill/>
        </p:spPr>
        <p:txBody>
          <a:bodyPr wrap="square" lIns="0" rIns="0" tIns="0" bIns="0">
            <a:spAutoFit/>
          </a:bodyPr>
          <a:lstStyle/>
          <a:p>
            <a:pPr algn="l"/>
            <a:r>
              <a:rPr sz="1700" b="1" i="0">
                <a:solidFill>
                  <a:srgbClr val="F8C806"/>
                </a:solidFill>
                <a:latin typeface="Georgia"/>
              </a:rPr>
              <a:t>NITESH ROOPA</a:t>
            </a:r>
          </a:p>
        </p:txBody>
      </p:sp>
      <p:sp>
        <p:nvSpPr>
          <p:cNvPr id="21" name="TextBox 20"/>
          <p:cNvSpPr txBox="1"/>
          <p:nvPr/>
        </p:nvSpPr>
        <p:spPr>
          <a:xfrm>
            <a:off x="7589520" y="1627632"/>
            <a:ext cx="4050792" cy="292608"/>
          </a:xfrm>
          <a:prstGeom prst="rect">
            <a:avLst/>
          </a:prstGeom>
          <a:noFill/>
        </p:spPr>
        <p:txBody>
          <a:bodyPr wrap="square" lIns="0" rIns="0" tIns="0" bIns="0">
            <a:spAutoFit/>
          </a:bodyPr>
          <a:lstStyle/>
          <a:p>
            <a:pPr algn="l"/>
            <a:r>
              <a:rPr sz="1200" b="0" i="0">
                <a:solidFill>
                  <a:srgbClr val="FFFFFF"/>
                </a:solidFill>
                <a:latin typeface="Calibri"/>
              </a:rPr>
              <a:t>CA, Managing Partner, ProfitPulse</a:t>
            </a:r>
          </a:p>
        </p:txBody>
      </p:sp>
      <p:sp>
        <p:nvSpPr>
          <p:cNvPr id="22" name="Rectangle 21"/>
          <p:cNvSpPr/>
          <p:nvPr/>
        </p:nvSpPr>
        <p:spPr>
          <a:xfrm>
            <a:off x="7589520" y="1993392"/>
            <a:ext cx="405079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2148840"/>
            <a:ext cx="4050792" cy="1737360"/>
          </a:xfrm>
          <a:prstGeom prst="rect">
            <a:avLst/>
          </a:prstGeom>
          <a:noFill/>
        </p:spPr>
        <p:txBody>
          <a:bodyPr wrap="square" lIns="0" rIns="0" tIns="0" bIns="0">
            <a:spAutoFit/>
          </a:bodyPr>
          <a:lstStyle/>
          <a:p>
            <a:pPr algn="l">
              <a:lnSpc>
                <a:spcPct val="110000"/>
              </a:lnSpc>
              <a:spcAft>
                <a:spcPts val="800"/>
              </a:spcAft>
            </a:pPr>
            <a:r>
              <a:rPr sz="1050" b="0" i="0">
                <a:solidFill>
                  <a:srgbClr val="E6E5DE"/>
                </a:solidFill>
                <a:latin typeface="Calibri"/>
              </a:rPr>
              <a:t>16 years of experience across 4 countries</a:t>
            </a:r>
          </a:p>
          <a:p>
            <a:pPr algn="l">
              <a:lnSpc>
                <a:spcPct val="110000"/>
              </a:lnSpc>
              <a:spcAft>
                <a:spcPts val="800"/>
              </a:spcAft>
            </a:pPr>
            <a:r>
              <a:rPr sz="1050" b="0" i="0">
                <a:solidFill>
                  <a:srgbClr val="E6E5DE"/>
                </a:solidFill>
                <a:latin typeface="Calibri"/>
              </a:rPr>
              <a:t>Over 52 deals executed and managed across the career</a:t>
            </a:r>
          </a:p>
          <a:p>
            <a:pPr algn="l">
              <a:lnSpc>
                <a:spcPct val="110000"/>
              </a:lnSpc>
              <a:spcAft>
                <a:spcPts val="800"/>
              </a:spcAft>
            </a:pPr>
            <a:r>
              <a:rPr sz="1050" b="0" i="0">
                <a:solidFill>
                  <a:srgbClr val="E6E5DE"/>
                </a:solidFill>
                <a:latin typeface="Calibri"/>
              </a:rPr>
              <a:t>Largest single deal: USD 1.3 billion, Cahora Bassa, Mozambique</a:t>
            </a:r>
          </a:p>
          <a:p>
            <a:pPr algn="l">
              <a:lnSpc>
                <a:spcPct val="110000"/>
              </a:lnSpc>
              <a:spcAft>
                <a:spcPts val="800"/>
              </a:spcAft>
            </a:pPr>
            <a:r>
              <a:rPr sz="1050" b="0" i="0">
                <a:solidFill>
                  <a:srgbClr val="E6E5DE"/>
                </a:solidFill>
                <a:latin typeface="Calibri"/>
              </a:rPr>
              <a:t>Over AUD 10 billion Gympie Road Bypass Tunnel, total project value</a:t>
            </a:r>
          </a:p>
        </p:txBody>
      </p:sp>
      <p:sp>
        <p:nvSpPr>
          <p:cNvPr id="24" name="Rectangle 23"/>
          <p:cNvSpPr/>
          <p:nvPr/>
        </p:nvSpPr>
        <p:spPr>
          <a:xfrm>
            <a:off x="7589520" y="3977639"/>
            <a:ext cx="4050792" cy="1270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0" y="4160520"/>
            <a:ext cx="4050792" cy="1463040"/>
          </a:xfrm>
          <a:prstGeom prst="rect">
            <a:avLst/>
          </a:prstGeom>
          <a:noFill/>
        </p:spPr>
        <p:txBody>
          <a:bodyPr wrap="square" lIns="0" rIns="0" tIns="0" bIns="0">
            <a:spAutoFit/>
          </a:bodyPr>
          <a:lstStyle/>
          <a:p>
            <a:pPr algn="l">
              <a:spcAft>
                <a:spcPts val="800"/>
              </a:spcAft>
            </a:pPr>
            <a:r>
              <a:rPr sz="1100" b="0" i="0">
                <a:solidFill>
                  <a:srgbClr val="E6E5DE"/>
                </a:solidFill>
                <a:latin typeface="Calibri"/>
              </a:rPr>
              <a:t>Profit-Pulse.com.au</a:t>
            </a:r>
          </a:p>
          <a:p>
            <a:pPr algn="l">
              <a:spcAft>
                <a:spcPts val="800"/>
              </a:spcAft>
            </a:pPr>
            <a:r>
              <a:rPr sz="1100" b="0" i="0">
                <a:solidFill>
                  <a:srgbClr val="01A296"/>
                </a:solidFill>
                <a:latin typeface="Calibri"/>
              </a:rPr>
              <a:t>Nitesh@Profit-Pulse.com.au</a:t>
            </a:r>
          </a:p>
          <a:p>
            <a:pPr algn="l">
              <a:spcAft>
                <a:spcPts val="800"/>
              </a:spcAft>
            </a:pPr>
            <a:r>
              <a:rPr sz="1100" b="0" i="0">
                <a:solidFill>
                  <a:srgbClr val="E6E5DE"/>
                </a:solidFill>
                <a:latin typeface="Calibri"/>
              </a:rPr>
              <a:t>+61 411 876 267</a:t>
            </a:r>
          </a:p>
          <a:p>
            <a:pPr algn="l">
              <a:spcAft>
                <a:spcPts val="800"/>
              </a:spcAft>
            </a:pPr>
            <a:r>
              <a:rPr sz="1100" b="0" i="0">
                <a:solidFill>
                  <a:srgbClr val="01A296"/>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