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cNi28s0msgKQ0yQeQL3ks0A"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29184"/>
            <a:ext cx="7772400" cy="320040"/>
          </a:xfrm>
          <a:prstGeom prst="rect">
            <a:avLst/>
          </a:prstGeom>
          <a:noFill/>
        </p:spPr>
        <p:txBody>
          <a:bodyPr wrap="square" anchor="t" lIns="0" rIns="0" tIns="0" bIns="0">
            <a:spAutoFit/>
          </a:bodyPr>
          <a:lstStyle/>
          <a:p>
            <a:pPr algn="l"/>
            <a:r>
              <a:rPr sz="1200" b="1" i="0">
                <a:solidFill>
                  <a:srgbClr val="E6E5DE"/>
                </a:solidFill>
                <a:latin typeface="Arial"/>
              </a:rPr>
              <a:t>COMMERCIAL INTELLIGENCE BRIEF</a:t>
            </a:r>
          </a:p>
        </p:txBody>
      </p:sp>
      <p:sp>
        <p:nvSpPr>
          <p:cNvPr id="4" name="TextBox 3"/>
          <p:cNvSpPr txBox="1"/>
          <p:nvPr/>
        </p:nvSpPr>
        <p:spPr>
          <a:xfrm>
            <a:off x="8595360" y="329184"/>
            <a:ext cx="3291840" cy="320040"/>
          </a:xfrm>
          <a:prstGeom prst="rect">
            <a:avLst/>
          </a:prstGeom>
          <a:noFill/>
        </p:spPr>
        <p:txBody>
          <a:bodyPr wrap="square" anchor="t" lIns="0" rIns="0" tIns="0" bIns="0">
            <a:spAutoFit/>
          </a:bodyPr>
          <a:lstStyle/>
          <a:p>
            <a:pPr algn="r"/>
            <a:r>
              <a:rPr sz="1200" b="1" i="0">
                <a:solidFill>
                  <a:srgbClr val="FFFFFF"/>
                </a:solidFill>
                <a:latin typeface="Arial"/>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6419088"/>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nchor="t" lIns="0" rIns="0" tIns="0" bIns="0">
            <a:sp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86000" cy="274320"/>
          </a:xfrm>
          <a:prstGeom prst="rect">
            <a:avLst/>
          </a:prstGeom>
          <a:noFill/>
        </p:spPr>
        <p:txBody>
          <a:bodyPr wrap="square" anchor="t" lIns="0" rIns="0" tIns="0" bIns="0">
            <a:spAutoFit/>
          </a:bodyPr>
          <a:lstStyle/>
          <a:p>
            <a:pPr algn="r"/>
            <a:r>
              <a:rPr sz="800" b="0" i="0">
                <a:solidFill>
                  <a:srgbClr val="000000"/>
                </a:solidFill>
                <a:latin typeface="Arial"/>
              </a:rPr>
              <a:t>12 Aug 2026</a:t>
            </a:r>
          </a:p>
        </p:txBody>
      </p:sp>
      <p:sp>
        <p:nvSpPr>
          <p:cNvPr id="9" name="TextBox 8"/>
          <p:cNvSpPr txBox="1"/>
          <p:nvPr/>
        </p:nvSpPr>
        <p:spPr>
          <a:xfrm>
            <a:off x="320040" y="1051560"/>
            <a:ext cx="10515600" cy="685800"/>
          </a:xfrm>
          <a:prstGeom prst="rect">
            <a:avLst/>
          </a:prstGeom>
          <a:noFill/>
        </p:spPr>
        <p:txBody>
          <a:bodyPr wrap="square" anchor="t" lIns="0" rIns="0" tIns="0" bIns="0">
            <a:spAutoFit/>
          </a:bodyPr>
          <a:lstStyle/>
          <a:p>
            <a:pPr algn="l"/>
            <a:r>
              <a:rPr sz="4000" b="1" i="0">
                <a:solidFill>
                  <a:srgbClr val="000000"/>
                </a:solidFill>
                <a:latin typeface="Georgia"/>
              </a:rPr>
              <a:t>TMC Fine Jewellers</a:t>
            </a:r>
          </a:p>
        </p:txBody>
      </p:sp>
      <p:sp>
        <p:nvSpPr>
          <p:cNvPr id="10" name="TextBox 9"/>
          <p:cNvSpPr txBox="1"/>
          <p:nvPr/>
        </p:nvSpPr>
        <p:spPr>
          <a:xfrm>
            <a:off x="320040" y="1874519"/>
            <a:ext cx="11430000" cy="365760"/>
          </a:xfrm>
          <a:prstGeom prst="rect">
            <a:avLst/>
          </a:prstGeom>
          <a:noFill/>
        </p:spPr>
        <p:txBody>
          <a:bodyPr wrap="square" anchor="t" lIns="0" rIns="0" tIns="0" bIns="0">
            <a:spAutoFit/>
          </a:bodyPr>
          <a:lstStyle/>
          <a:p>
            <a:pPr algn="l"/>
            <a:r>
              <a:rPr sz="1300" b="0" i="0">
                <a:solidFill>
                  <a:srgbClr val="000000"/>
                </a:solidFill>
                <a:latin typeface="Arial"/>
              </a:rPr>
              <a:t>Lab grown diamond and moissanite bridal jewellery house, New Farm, Brisbane QLD</a:t>
            </a:r>
          </a:p>
        </p:txBody>
      </p:sp>
      <p:sp>
        <p:nvSpPr>
          <p:cNvPr id="11" name="Rectangle 10"/>
          <p:cNvSpPr/>
          <p:nvPr/>
        </p:nvSpPr>
        <p:spPr>
          <a:xfrm>
            <a:off x="320040" y="233172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33172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 y="2496312"/>
            <a:ext cx="1773936" cy="502920"/>
          </a:xfrm>
          <a:prstGeom prst="rect">
            <a:avLst/>
          </a:prstGeom>
          <a:noFill/>
        </p:spPr>
        <p:txBody>
          <a:bodyPr wrap="square" anchor="t" lIns="0" rIns="0" tIns="0" bIns="0">
            <a:spAutoFit/>
          </a:bodyPr>
          <a:lstStyle/>
          <a:p>
            <a:pPr algn="l"/>
            <a:r>
              <a:rPr sz="2800" b="1" i="0">
                <a:solidFill>
                  <a:srgbClr val="F8C806"/>
                </a:solidFill>
                <a:latin typeface="Georgia"/>
              </a:rPr>
              <a:t>$12.7M</a:t>
            </a:r>
          </a:p>
        </p:txBody>
      </p:sp>
      <p:sp>
        <p:nvSpPr>
          <p:cNvPr id="14" name="TextBox 13"/>
          <p:cNvSpPr txBox="1"/>
          <p:nvPr/>
        </p:nvSpPr>
        <p:spPr>
          <a:xfrm>
            <a:off x="484632" y="3063240"/>
            <a:ext cx="1773936" cy="457200"/>
          </a:xfrm>
          <a:prstGeom prst="rect">
            <a:avLst/>
          </a:prstGeom>
          <a:noFill/>
        </p:spPr>
        <p:txBody>
          <a:bodyPr wrap="square" anchor="t" lIns="0" rIns="0" tIns="0" bIns="0">
            <a:spAutoFit/>
          </a:bodyPr>
          <a:lstStyle/>
          <a:p>
            <a:pPr algn="l">
              <a:lnSpc>
                <a:spcPct val="105000"/>
              </a:lnSpc>
              <a:spcAft>
                <a:spcPts val="0"/>
              </a:spcAft>
            </a:pPr>
            <a:r>
              <a:rPr sz="1100" b="0" i="0">
                <a:solidFill>
                  <a:srgbClr val="E6E5DE"/>
                </a:solidFill>
                <a:latin typeface="Arial"/>
              </a:rPr>
              <a:t>FY2025 revenue</a:t>
            </a:r>
          </a:p>
        </p:txBody>
      </p:sp>
      <p:sp>
        <p:nvSpPr>
          <p:cNvPr id="15" name="TextBox 14"/>
          <p:cNvSpPr txBox="1"/>
          <p:nvPr/>
        </p:nvSpPr>
        <p:spPr>
          <a:xfrm>
            <a:off x="484632" y="3557016"/>
            <a:ext cx="1773936" cy="201168"/>
          </a:xfrm>
          <a:prstGeom prst="rect">
            <a:avLst/>
          </a:prstGeom>
          <a:noFill/>
        </p:spPr>
        <p:txBody>
          <a:bodyPr wrap="square" anchor="t" lIns="0" rIns="0" tIns="0" bIns="0">
            <a:spAutoFit/>
          </a:bodyPr>
          <a:lstStyle/>
          <a:p>
            <a:pPr algn="l"/>
            <a:r>
              <a:rPr sz="800" b="0" i="0">
                <a:solidFill>
                  <a:srgbClr val="E6E5DE"/>
                </a:solidFill>
                <a:latin typeface="Arial"/>
              </a:rPr>
              <a:t>Smart50 2025, rank 5</a:t>
            </a:r>
          </a:p>
        </p:txBody>
      </p:sp>
      <p:sp>
        <p:nvSpPr>
          <p:cNvPr id="16" name="Rectangle 15"/>
          <p:cNvSpPr/>
          <p:nvPr/>
        </p:nvSpPr>
        <p:spPr>
          <a:xfrm>
            <a:off x="2560320" y="233172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0" y="233172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24912" y="2496312"/>
            <a:ext cx="1773936" cy="502920"/>
          </a:xfrm>
          <a:prstGeom prst="rect">
            <a:avLst/>
          </a:prstGeom>
          <a:noFill/>
        </p:spPr>
        <p:txBody>
          <a:bodyPr wrap="square" anchor="t" lIns="0" rIns="0" tIns="0" bIns="0">
            <a:spAutoFit/>
          </a:bodyPr>
          <a:lstStyle/>
          <a:p>
            <a:pPr algn="l"/>
            <a:r>
              <a:rPr sz="2800" b="1" i="0">
                <a:solidFill>
                  <a:srgbClr val="F8C806"/>
                </a:solidFill>
                <a:latin typeface="Georgia"/>
              </a:rPr>
              <a:t>95%</a:t>
            </a:r>
          </a:p>
        </p:txBody>
      </p:sp>
      <p:sp>
        <p:nvSpPr>
          <p:cNvPr id="19" name="TextBox 18"/>
          <p:cNvSpPr txBox="1"/>
          <p:nvPr/>
        </p:nvSpPr>
        <p:spPr>
          <a:xfrm>
            <a:off x="2724912" y="3063240"/>
            <a:ext cx="1773936" cy="457200"/>
          </a:xfrm>
          <a:prstGeom prst="rect">
            <a:avLst/>
          </a:prstGeom>
          <a:noFill/>
        </p:spPr>
        <p:txBody>
          <a:bodyPr wrap="square" anchor="t" lIns="0" rIns="0" tIns="0" bIns="0">
            <a:spAutoFit/>
          </a:bodyPr>
          <a:lstStyle/>
          <a:p>
            <a:pPr algn="l">
              <a:lnSpc>
                <a:spcPct val="105000"/>
              </a:lnSpc>
              <a:spcAft>
                <a:spcPts val="0"/>
              </a:spcAft>
            </a:pPr>
            <a:r>
              <a:rPr sz="1100" b="0" i="0">
                <a:solidFill>
                  <a:srgbClr val="E6E5DE"/>
                </a:solidFill>
                <a:latin typeface="Arial"/>
              </a:rPr>
              <a:t>Revenue growth, FY25</a:t>
            </a:r>
          </a:p>
        </p:txBody>
      </p:sp>
      <p:sp>
        <p:nvSpPr>
          <p:cNvPr id="20" name="TextBox 19"/>
          <p:cNvSpPr txBox="1"/>
          <p:nvPr/>
        </p:nvSpPr>
        <p:spPr>
          <a:xfrm>
            <a:off x="2724912" y="3557016"/>
            <a:ext cx="1773936" cy="201168"/>
          </a:xfrm>
          <a:prstGeom prst="rect">
            <a:avLst/>
          </a:prstGeom>
          <a:noFill/>
        </p:spPr>
        <p:txBody>
          <a:bodyPr wrap="square" anchor="t" lIns="0" rIns="0" tIns="0" bIns="0">
            <a:spAutoFit/>
          </a:bodyPr>
          <a:lstStyle/>
          <a:p>
            <a:pPr algn="l"/>
            <a:r>
              <a:rPr sz="800" b="0" i="0">
                <a:solidFill>
                  <a:srgbClr val="E6E5DE"/>
                </a:solidFill>
                <a:latin typeface="Arial"/>
              </a:rPr>
              <a:t>Smart50 2025 citation</a:t>
            </a:r>
          </a:p>
        </p:txBody>
      </p:sp>
      <p:sp>
        <p:nvSpPr>
          <p:cNvPr id="21" name="Rectangle 20"/>
          <p:cNvSpPr/>
          <p:nvPr/>
        </p:nvSpPr>
        <p:spPr>
          <a:xfrm>
            <a:off x="4800600" y="233172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00600" y="233172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65192" y="2496312"/>
            <a:ext cx="1773936" cy="502920"/>
          </a:xfrm>
          <a:prstGeom prst="rect">
            <a:avLst/>
          </a:prstGeom>
          <a:noFill/>
        </p:spPr>
        <p:txBody>
          <a:bodyPr wrap="square" anchor="t" lIns="0" rIns="0" tIns="0" bIns="0">
            <a:spAutoFit/>
          </a:bodyPr>
          <a:lstStyle/>
          <a:p>
            <a:pPr algn="l"/>
            <a:r>
              <a:rPr sz="2800" b="1" i="0">
                <a:solidFill>
                  <a:srgbClr val="F8C806"/>
                </a:solidFill>
                <a:latin typeface="Georgia"/>
              </a:rPr>
              <a:t>35</a:t>
            </a:r>
          </a:p>
        </p:txBody>
      </p:sp>
      <p:sp>
        <p:nvSpPr>
          <p:cNvPr id="24" name="TextBox 23"/>
          <p:cNvSpPr txBox="1"/>
          <p:nvPr/>
        </p:nvSpPr>
        <p:spPr>
          <a:xfrm>
            <a:off x="4965192" y="3063240"/>
            <a:ext cx="1773936" cy="457200"/>
          </a:xfrm>
          <a:prstGeom prst="rect">
            <a:avLst/>
          </a:prstGeom>
          <a:noFill/>
        </p:spPr>
        <p:txBody>
          <a:bodyPr wrap="square" anchor="t" lIns="0" rIns="0" tIns="0" bIns="0">
            <a:spAutoFit/>
          </a:bodyPr>
          <a:lstStyle/>
          <a:p>
            <a:pPr algn="l">
              <a:lnSpc>
                <a:spcPct val="105000"/>
              </a:lnSpc>
              <a:spcAft>
                <a:spcPts val="0"/>
              </a:spcAft>
            </a:pPr>
            <a:r>
              <a:rPr sz="1100" b="0" i="0">
                <a:solidFill>
                  <a:srgbClr val="E6E5DE"/>
                </a:solidFill>
                <a:latin typeface="Arial"/>
              </a:rPr>
              <a:t>Team members</a:t>
            </a:r>
          </a:p>
        </p:txBody>
      </p:sp>
      <p:sp>
        <p:nvSpPr>
          <p:cNvPr id="25" name="TextBox 24"/>
          <p:cNvSpPr txBox="1"/>
          <p:nvPr/>
        </p:nvSpPr>
        <p:spPr>
          <a:xfrm>
            <a:off x="4965192" y="3557016"/>
            <a:ext cx="1773936" cy="201168"/>
          </a:xfrm>
          <a:prstGeom prst="rect">
            <a:avLst/>
          </a:prstGeom>
          <a:noFill/>
        </p:spPr>
        <p:txBody>
          <a:bodyPr wrap="square" anchor="t" lIns="0" rIns="0" tIns="0" bIns="0">
            <a:spAutoFit/>
          </a:bodyPr>
          <a:lstStyle/>
          <a:p>
            <a:pPr algn="l"/>
            <a:r>
              <a:rPr sz="800" b="0" i="0">
                <a:solidFill>
                  <a:srgbClr val="E6E5DE"/>
                </a:solidFill>
                <a:latin typeface="Arial"/>
              </a:rPr>
              <a:t>Smart50 2025 citation</a:t>
            </a:r>
          </a:p>
        </p:txBody>
      </p:sp>
      <p:sp>
        <p:nvSpPr>
          <p:cNvPr id="26" name="Rectangle 25"/>
          <p:cNvSpPr/>
          <p:nvPr/>
        </p:nvSpPr>
        <p:spPr>
          <a:xfrm>
            <a:off x="7040880" y="233172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40880" y="233172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05472" y="2496312"/>
            <a:ext cx="1773936" cy="502920"/>
          </a:xfrm>
          <a:prstGeom prst="rect">
            <a:avLst/>
          </a:prstGeom>
          <a:noFill/>
        </p:spPr>
        <p:txBody>
          <a:bodyPr wrap="square" anchor="t" lIns="0" rIns="0" tIns="0" bIns="0">
            <a:spAutoFit/>
          </a:bodyPr>
          <a:lstStyle/>
          <a:p>
            <a:pPr algn="l"/>
            <a:r>
              <a:rPr sz="2800" b="1" i="0">
                <a:solidFill>
                  <a:srgbClr val="F8C806"/>
                </a:solidFill>
                <a:latin typeface="Georgia"/>
              </a:rPr>
              <a:t>4</a:t>
            </a:r>
          </a:p>
        </p:txBody>
      </p:sp>
      <p:sp>
        <p:nvSpPr>
          <p:cNvPr id="29" name="TextBox 28"/>
          <p:cNvSpPr txBox="1"/>
          <p:nvPr/>
        </p:nvSpPr>
        <p:spPr>
          <a:xfrm>
            <a:off x="7205472" y="3063240"/>
            <a:ext cx="1773936" cy="457200"/>
          </a:xfrm>
          <a:prstGeom prst="rect">
            <a:avLst/>
          </a:prstGeom>
          <a:noFill/>
        </p:spPr>
        <p:txBody>
          <a:bodyPr wrap="square" anchor="t" lIns="0" rIns="0" tIns="0" bIns="0">
            <a:spAutoFit/>
          </a:bodyPr>
          <a:lstStyle/>
          <a:p>
            <a:pPr algn="l">
              <a:lnSpc>
                <a:spcPct val="105000"/>
              </a:lnSpc>
              <a:spcAft>
                <a:spcPts val="0"/>
              </a:spcAft>
            </a:pPr>
            <a:r>
              <a:rPr sz="1100" b="0" i="0">
                <a:solidFill>
                  <a:srgbClr val="E6E5DE"/>
                </a:solidFill>
                <a:latin typeface="Arial"/>
              </a:rPr>
              <a:t>Global showroom cities</a:t>
            </a:r>
          </a:p>
        </p:txBody>
      </p:sp>
      <p:sp>
        <p:nvSpPr>
          <p:cNvPr id="30" name="TextBox 29"/>
          <p:cNvSpPr txBox="1"/>
          <p:nvPr/>
        </p:nvSpPr>
        <p:spPr>
          <a:xfrm>
            <a:off x="7205472" y="3557016"/>
            <a:ext cx="1773936" cy="201168"/>
          </a:xfrm>
          <a:prstGeom prst="rect">
            <a:avLst/>
          </a:prstGeom>
          <a:noFill/>
        </p:spPr>
        <p:txBody>
          <a:bodyPr wrap="square" anchor="t" lIns="0" rIns="0" tIns="0" bIns="0">
            <a:spAutoFit/>
          </a:bodyPr>
          <a:lstStyle/>
          <a:p>
            <a:pPr algn="l"/>
            <a:r>
              <a:rPr sz="800" b="0" i="0">
                <a:solidFill>
                  <a:srgbClr val="E6E5DE"/>
                </a:solidFill>
                <a:latin typeface="Arial"/>
              </a:rPr>
              <a:t>TMC showroom pages</a:t>
            </a:r>
          </a:p>
        </p:txBody>
      </p:sp>
      <p:sp>
        <p:nvSpPr>
          <p:cNvPr id="31" name="Rectangle 30"/>
          <p:cNvSpPr/>
          <p:nvPr/>
        </p:nvSpPr>
        <p:spPr>
          <a:xfrm>
            <a:off x="9281160" y="233172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81160" y="233172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45752" y="2496312"/>
            <a:ext cx="1773936" cy="502920"/>
          </a:xfrm>
          <a:prstGeom prst="rect">
            <a:avLst/>
          </a:prstGeom>
          <a:noFill/>
        </p:spPr>
        <p:txBody>
          <a:bodyPr wrap="square" anchor="t" lIns="0" rIns="0" tIns="0" bIns="0">
            <a:spAutoFit/>
          </a:bodyPr>
          <a:lstStyle/>
          <a:p>
            <a:pPr algn="l"/>
            <a:r>
              <a:rPr sz="2800" b="1" i="0">
                <a:solidFill>
                  <a:srgbClr val="F8C806"/>
                </a:solidFill>
                <a:latin typeface="Georgia"/>
              </a:rPr>
              <a:t>2020</a:t>
            </a:r>
          </a:p>
        </p:txBody>
      </p:sp>
      <p:sp>
        <p:nvSpPr>
          <p:cNvPr id="34" name="TextBox 33"/>
          <p:cNvSpPr txBox="1"/>
          <p:nvPr/>
        </p:nvSpPr>
        <p:spPr>
          <a:xfrm>
            <a:off x="9445752" y="3063240"/>
            <a:ext cx="1773936" cy="457200"/>
          </a:xfrm>
          <a:prstGeom prst="rect">
            <a:avLst/>
          </a:prstGeom>
          <a:noFill/>
        </p:spPr>
        <p:txBody>
          <a:bodyPr wrap="square" anchor="t" lIns="0" rIns="0" tIns="0" bIns="0">
            <a:spAutoFit/>
          </a:bodyPr>
          <a:lstStyle/>
          <a:p>
            <a:pPr algn="l">
              <a:lnSpc>
                <a:spcPct val="105000"/>
              </a:lnSpc>
              <a:spcAft>
                <a:spcPts val="0"/>
              </a:spcAft>
            </a:pPr>
            <a:r>
              <a:rPr sz="1100" b="0" i="0">
                <a:solidFill>
                  <a:srgbClr val="E6E5DE"/>
                </a:solidFill>
                <a:latin typeface="Arial"/>
              </a:rPr>
              <a:t>Year founded</a:t>
            </a:r>
          </a:p>
        </p:txBody>
      </p:sp>
      <p:sp>
        <p:nvSpPr>
          <p:cNvPr id="35" name="TextBox 34"/>
          <p:cNvSpPr txBox="1"/>
          <p:nvPr/>
        </p:nvSpPr>
        <p:spPr>
          <a:xfrm>
            <a:off x="9445752" y="3557016"/>
            <a:ext cx="1773936" cy="201168"/>
          </a:xfrm>
          <a:prstGeom prst="rect">
            <a:avLst/>
          </a:prstGeom>
          <a:noFill/>
        </p:spPr>
        <p:txBody>
          <a:bodyPr wrap="square" anchor="t" lIns="0" rIns="0" tIns="0" bIns="0">
            <a:spAutoFit/>
          </a:bodyPr>
          <a:lstStyle/>
          <a:p>
            <a:pPr algn="l"/>
            <a:r>
              <a:rPr sz="800" b="0" i="0">
                <a:solidFill>
                  <a:srgbClr val="E6E5DE"/>
                </a:solidFill>
                <a:latin typeface="Arial"/>
              </a:rPr>
              <a:t>TMC Our Story page</a:t>
            </a:r>
          </a:p>
        </p:txBody>
      </p:sp>
      <p:sp>
        <p:nvSpPr>
          <p:cNvPr id="36" name="TextBox 35"/>
          <p:cNvSpPr txBox="1"/>
          <p:nvPr/>
        </p:nvSpPr>
        <p:spPr>
          <a:xfrm>
            <a:off x="320040" y="4114800"/>
            <a:ext cx="5486400" cy="274320"/>
          </a:xfrm>
          <a:prstGeom prst="rect">
            <a:avLst/>
          </a:prstGeom>
          <a:noFill/>
        </p:spPr>
        <p:txBody>
          <a:bodyPr wrap="square" anchor="t" lIns="0" rIns="0" tIns="0" bIns="0">
            <a:spAutoFit/>
          </a:bodyPr>
          <a:lstStyle/>
          <a:p>
            <a:pPr algn="l"/>
            <a:r>
              <a:rPr sz="1200" b="1" i="0">
                <a:solidFill>
                  <a:srgbClr val="01A296"/>
                </a:solidFill>
                <a:latin typeface="Arial"/>
              </a:rPr>
              <a:t>KEY COMMERCIAL SIGNALS</a:t>
            </a:r>
          </a:p>
        </p:txBody>
      </p:sp>
      <p:sp>
        <p:nvSpPr>
          <p:cNvPr id="37" name="TextBox 36"/>
          <p:cNvSpPr txBox="1"/>
          <p:nvPr/>
        </p:nvSpPr>
        <p:spPr>
          <a:xfrm>
            <a:off x="320040" y="4498848"/>
            <a:ext cx="11521440" cy="1920240"/>
          </a:xfrm>
          <a:prstGeom prst="rect">
            <a:avLst/>
          </a:prstGeom>
          <a:noFill/>
        </p:spPr>
        <p:txBody>
          <a:bodyPr wrap="square" anchor="t" lIns="0" rIns="0" tIns="0" bIns="0">
            <a:spAutoFit/>
          </a:bodyPr>
          <a:lstStyle/>
          <a:p>
            <a:pPr algn="l">
              <a:lnSpc>
                <a:spcPct val="118000"/>
              </a:lnSpc>
              <a:spcAft>
                <a:spcPts val="800"/>
              </a:spcAft>
            </a:pPr>
            <a:r>
              <a:rPr sz="1150" b="0" i="0">
                <a:solidFill>
                  <a:srgbClr val="000000"/>
                </a:solidFill>
                <a:latin typeface="Arial"/>
              </a:rPr>
              <a:t>Smart50 2025 ranks TMC fifth nationally with 95 percent three year growth to $12.7M, per SmartCompany.</a:t>
            </a:r>
          </a:p>
          <a:p>
            <a:pPr algn="l">
              <a:lnSpc>
                <a:spcPct val="118000"/>
              </a:lnSpc>
              <a:spcAft>
                <a:spcPts val="800"/>
              </a:spcAft>
            </a:pPr>
            <a:r>
              <a:rPr sz="1150" b="0" i="0">
                <a:solidFill>
                  <a:srgbClr val="000000"/>
                </a:solidFill>
                <a:latin typeface="Arial"/>
              </a:rPr>
              <a:t>Fourth global showroom opened in Armadale, Melbourne, 6 December 2025, after Brisbane, Sydney and a Mayfair, London pop up in June 2025, per Inside Retail.</a:t>
            </a:r>
          </a:p>
          <a:p>
            <a:pPr algn="l">
              <a:lnSpc>
                <a:spcPct val="118000"/>
              </a:lnSpc>
              <a:spcAft>
                <a:spcPts val="800"/>
              </a:spcAft>
            </a:pPr>
            <a:r>
              <a:rPr sz="1150" b="0" i="0">
                <a:solidFill>
                  <a:srgbClr val="000000"/>
                </a:solidFill>
                <a:latin typeface="Arial"/>
              </a:rPr>
              <a:t>BFCM week 2025 was targeted to deliver over $3.75 million, against $2.6 million and 1,200 customers in the 2024 event, per SmartCompany.</a:t>
            </a:r>
          </a:p>
          <a:p>
            <a:pPr algn="l">
              <a:lnSpc>
                <a:spcPct val="118000"/>
              </a:lnSpc>
              <a:spcAft>
                <a:spcPts val="800"/>
              </a:spcAft>
            </a:pPr>
            <a:r>
              <a:rPr sz="1150" b="0" i="0">
                <a:solidFill>
                  <a:srgbClr val="000000"/>
                </a:solidFill>
                <a:latin typeface="Arial"/>
              </a:rPr>
              <a:t>Brand renamed from The Moissanite Company to TMC Fine Jewellers as it broadened into lab grown diamonds, per Ragtrader.</a:t>
            </a:r>
          </a:p>
          <a:p>
            <a:pPr algn="l">
              <a:lnSpc>
                <a:spcPct val="118000"/>
              </a:lnSpc>
              <a:spcAft>
                <a:spcPts val="800"/>
              </a:spcAft>
            </a:pPr>
            <a:r>
              <a:rPr sz="1150" b="0" i="0">
                <a:solidFill>
                  <a:srgbClr val="000000"/>
                </a:solidFill>
                <a:latin typeface="Arial"/>
              </a:rPr>
              <a:t>Founded 2020 by Makayla and Tom Donovan on a $10,000 initial investment, per Onya Magazine and company published material.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29184"/>
            <a:ext cx="7772400" cy="320040"/>
          </a:xfrm>
          <a:prstGeom prst="rect">
            <a:avLst/>
          </a:prstGeom>
          <a:noFill/>
        </p:spPr>
        <p:txBody>
          <a:bodyPr wrap="square" anchor="t" lIns="0" rIns="0" tIns="0" bIns="0">
            <a:spAutoFit/>
          </a:bodyPr>
          <a:lstStyle/>
          <a:p>
            <a:pPr algn="l"/>
            <a:r>
              <a:rPr sz="1200" b="1" i="0">
                <a:solidFill>
                  <a:srgbClr val="E6E5DE"/>
                </a:solidFill>
                <a:latin typeface="Arial"/>
              </a:rPr>
              <a:t>THE OPPORTUNITY</a:t>
            </a:r>
          </a:p>
        </p:txBody>
      </p:sp>
      <p:sp>
        <p:nvSpPr>
          <p:cNvPr id="4" name="TextBox 3"/>
          <p:cNvSpPr txBox="1"/>
          <p:nvPr/>
        </p:nvSpPr>
        <p:spPr>
          <a:xfrm>
            <a:off x="8595360" y="329184"/>
            <a:ext cx="3291840" cy="320040"/>
          </a:xfrm>
          <a:prstGeom prst="rect">
            <a:avLst/>
          </a:prstGeom>
          <a:noFill/>
        </p:spPr>
        <p:txBody>
          <a:bodyPr wrap="square" anchor="t" lIns="0" rIns="0" tIns="0" bIns="0">
            <a:spAutoFit/>
          </a:bodyPr>
          <a:lstStyle/>
          <a:p>
            <a:pPr algn="r"/>
            <a:r>
              <a:rPr sz="1200" b="1" i="0">
                <a:solidFill>
                  <a:srgbClr val="FFFFFF"/>
                </a:solidFill>
                <a:latin typeface="Arial"/>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6419088"/>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nchor="t" lIns="0" rIns="0" tIns="0" bIns="0">
            <a:sp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86000" cy="274320"/>
          </a:xfrm>
          <a:prstGeom prst="rect">
            <a:avLst/>
          </a:prstGeom>
          <a:noFill/>
        </p:spPr>
        <p:txBody>
          <a:bodyPr wrap="square" anchor="t" lIns="0" rIns="0" tIns="0" bIns="0">
            <a:spAutoFit/>
          </a:bodyPr>
          <a:lstStyle/>
          <a:p>
            <a:pPr algn="r"/>
            <a:r>
              <a:rPr sz="800" b="0" i="0">
                <a:solidFill>
                  <a:srgbClr val="000000"/>
                </a:solidFill>
                <a:latin typeface="Arial"/>
              </a:rPr>
              <a:t>12 Aug 2026</a:t>
            </a:r>
          </a:p>
        </p:txBody>
      </p:sp>
      <p:sp>
        <p:nvSpPr>
          <p:cNvPr id="9" name="TextBox 8"/>
          <p:cNvSpPr txBox="1"/>
          <p:nvPr/>
        </p:nvSpPr>
        <p:spPr>
          <a:xfrm>
            <a:off x="320040" y="987552"/>
            <a:ext cx="11430000" cy="365760"/>
          </a:xfrm>
          <a:prstGeom prst="rect">
            <a:avLst/>
          </a:prstGeom>
          <a:noFill/>
        </p:spPr>
        <p:txBody>
          <a:bodyPr wrap="square" anchor="t" lIns="0" rIns="0" tIns="0" bIns="0">
            <a:spAutoFit/>
          </a:bodyPr>
          <a:lstStyle/>
          <a:p>
            <a:pPr algn="l"/>
            <a:r>
              <a:rPr sz="1600" b="1" i="0">
                <a:solidFill>
                  <a:srgbClr val="000000"/>
                </a:solidFill>
                <a:latin typeface="Georgia"/>
              </a:rPr>
              <a:t>TMC Fine Jewellers: three commercial observations from ProfitPulse</a:t>
            </a:r>
          </a:p>
        </p:txBody>
      </p:sp>
      <p:sp>
        <p:nvSpPr>
          <p:cNvPr id="10" name="Rectangle 9"/>
          <p:cNvSpPr/>
          <p:nvPr/>
        </p:nvSpPr>
        <p:spPr>
          <a:xfrm>
            <a:off x="320040" y="1508760"/>
            <a:ext cx="3877056" cy="44348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709928"/>
            <a:ext cx="3364992" cy="640080"/>
          </a:xfrm>
          <a:prstGeom prst="rect">
            <a:avLst/>
          </a:prstGeom>
          <a:noFill/>
        </p:spPr>
        <p:txBody>
          <a:bodyPr wrap="square" anchor="t" lIns="0" rIns="0" tIns="0" bIns="0">
            <a:spAutoFit/>
          </a:bodyPr>
          <a:lstStyle/>
          <a:p>
            <a:pPr algn="l"/>
            <a:r>
              <a:rPr sz="3400" b="1" i="0">
                <a:solidFill>
                  <a:srgbClr val="000000"/>
                </a:solidFill>
                <a:latin typeface="Georgia"/>
              </a:rPr>
              <a:t>01</a:t>
            </a:r>
          </a:p>
        </p:txBody>
      </p:sp>
      <p:sp>
        <p:nvSpPr>
          <p:cNvPr id="12" name="TextBox 11"/>
          <p:cNvSpPr txBox="1"/>
          <p:nvPr/>
        </p:nvSpPr>
        <p:spPr>
          <a:xfrm>
            <a:off x="576072" y="2377440"/>
            <a:ext cx="3364992" cy="777240"/>
          </a:xfrm>
          <a:prstGeom prst="rect">
            <a:avLst/>
          </a:prstGeom>
          <a:noFill/>
        </p:spPr>
        <p:txBody>
          <a:bodyPr wrap="square" anchor="t" lIns="0" rIns="0" tIns="0" bIns="0">
            <a:spAutoFit/>
          </a:bodyPr>
          <a:lstStyle/>
          <a:p>
            <a:pPr algn="l">
              <a:lnSpc>
                <a:spcPct val="108000"/>
              </a:lnSpc>
            </a:pPr>
            <a:r>
              <a:rPr sz="1500" b="1" i="0">
                <a:solidFill>
                  <a:srgbClr val="000000"/>
                </a:solidFill>
                <a:latin typeface="Georgia"/>
              </a:rPr>
              <a:t>Four showrooms, one working capital question</a:t>
            </a:r>
          </a:p>
        </p:txBody>
      </p:sp>
      <p:sp>
        <p:nvSpPr>
          <p:cNvPr id="13" name="TextBox 12"/>
          <p:cNvSpPr txBox="1"/>
          <p:nvPr/>
        </p:nvSpPr>
        <p:spPr>
          <a:xfrm>
            <a:off x="576072" y="3291840"/>
            <a:ext cx="3364992" cy="2560320"/>
          </a:xfrm>
          <a:prstGeom prst="rect">
            <a:avLst/>
          </a:prstGeom>
          <a:noFill/>
        </p:spPr>
        <p:txBody>
          <a:bodyPr wrap="square" anchor="t" lIns="0" rIns="0" tIns="0" bIns="0">
            <a:spAutoFit/>
          </a:bodyPr>
          <a:lstStyle/>
          <a:p>
            <a:pPr algn="l">
              <a:lnSpc>
                <a:spcPct val="122000"/>
              </a:lnSpc>
              <a:spcAft>
                <a:spcPts val="0"/>
              </a:spcAft>
            </a:pPr>
            <a:r>
              <a:rPr sz="1100" b="0" i="0">
                <a:solidFill>
                  <a:srgbClr val="000000"/>
                </a:solidFill>
                <a:latin typeface="Arial"/>
              </a:rPr>
              <a:t>Brisbane, Sydney, Melbourne and a London pop up now each hold moissanite and lab grown diamond stock ahead of sale. Every new showroom and every pre BFCM build locks up cash before it converts to revenue, and four sites multiply that exposure at once.</a:t>
            </a:r>
          </a:p>
        </p:txBody>
      </p:sp>
      <p:sp>
        <p:nvSpPr>
          <p:cNvPr id="14" name="Rectangle 13"/>
          <p:cNvSpPr/>
          <p:nvPr/>
        </p:nvSpPr>
        <p:spPr>
          <a:xfrm>
            <a:off x="4297680" y="1508760"/>
            <a:ext cx="3877056" cy="44348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709928"/>
            <a:ext cx="3364992" cy="640080"/>
          </a:xfrm>
          <a:prstGeom prst="rect">
            <a:avLst/>
          </a:prstGeom>
          <a:noFill/>
        </p:spPr>
        <p:txBody>
          <a:bodyPr wrap="square" anchor="t" lIns="0" rIns="0" tIns="0" bIns="0">
            <a:spAutoFit/>
          </a:bodyPr>
          <a:lstStyle/>
          <a:p>
            <a:pPr algn="l"/>
            <a:r>
              <a:rPr sz="3400" b="1" i="0">
                <a:solidFill>
                  <a:srgbClr val="01A296"/>
                </a:solidFill>
                <a:latin typeface="Georgia"/>
              </a:rPr>
              <a:t>02</a:t>
            </a:r>
          </a:p>
        </p:txBody>
      </p:sp>
      <p:sp>
        <p:nvSpPr>
          <p:cNvPr id="16" name="TextBox 15"/>
          <p:cNvSpPr txBox="1"/>
          <p:nvPr/>
        </p:nvSpPr>
        <p:spPr>
          <a:xfrm>
            <a:off x="4553712" y="2377440"/>
            <a:ext cx="3364992" cy="777240"/>
          </a:xfrm>
          <a:prstGeom prst="rect">
            <a:avLst/>
          </a:prstGeom>
          <a:noFill/>
        </p:spPr>
        <p:txBody>
          <a:bodyPr wrap="square" anchor="t" lIns="0" rIns="0" tIns="0" bIns="0">
            <a:spAutoFit/>
          </a:bodyPr>
          <a:lstStyle/>
          <a:p>
            <a:pPr algn="l">
              <a:lnSpc>
                <a:spcPct val="108000"/>
              </a:lnSpc>
            </a:pPr>
            <a:r>
              <a:rPr sz="1500" b="1" i="0">
                <a:solidFill>
                  <a:srgbClr val="FFFFFF"/>
                </a:solidFill>
                <a:latin typeface="Georgia"/>
              </a:rPr>
              <a:t>One week now carries close to a third of the year</a:t>
            </a:r>
          </a:p>
        </p:txBody>
      </p:sp>
      <p:sp>
        <p:nvSpPr>
          <p:cNvPr id="17" name="TextBox 16"/>
          <p:cNvSpPr txBox="1"/>
          <p:nvPr/>
        </p:nvSpPr>
        <p:spPr>
          <a:xfrm>
            <a:off x="4553712" y="3291840"/>
            <a:ext cx="3364992" cy="2560320"/>
          </a:xfrm>
          <a:prstGeom prst="rect">
            <a:avLst/>
          </a:prstGeom>
          <a:noFill/>
        </p:spPr>
        <p:txBody>
          <a:bodyPr wrap="square" anchor="t" lIns="0" rIns="0" tIns="0" bIns="0">
            <a:spAutoFit/>
          </a:bodyPr>
          <a:lstStyle/>
          <a:p>
            <a:pPr algn="l">
              <a:lnSpc>
                <a:spcPct val="122000"/>
              </a:lnSpc>
              <a:spcAft>
                <a:spcPts val="0"/>
              </a:spcAft>
            </a:pPr>
            <a:r>
              <a:rPr sz="1100" b="0" i="0">
                <a:solidFill>
                  <a:srgbClr val="FFFFFF"/>
                </a:solidFill>
                <a:latin typeface="Arial"/>
              </a:rPr>
              <a:t>The 2025 BFCM target of $3.75 million is planned six to eight months out, up from $2.6 million in 2024. That concentration is a strength when forecast well and a liquidity shock when the stock build outpaces the cash available to fund it.</a:t>
            </a:r>
          </a:p>
        </p:txBody>
      </p:sp>
      <p:sp>
        <p:nvSpPr>
          <p:cNvPr id="18" name="Rectangle 17"/>
          <p:cNvSpPr/>
          <p:nvPr/>
        </p:nvSpPr>
        <p:spPr>
          <a:xfrm>
            <a:off x="8275320" y="1508760"/>
            <a:ext cx="3877056" cy="443484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709928"/>
            <a:ext cx="3364992" cy="640080"/>
          </a:xfrm>
          <a:prstGeom prst="rect">
            <a:avLst/>
          </a:prstGeom>
          <a:noFill/>
        </p:spPr>
        <p:txBody>
          <a:bodyPr wrap="square" anchor="t" lIns="0" rIns="0" tIns="0" bIns="0">
            <a:spAutoFit/>
          </a:bodyPr>
          <a:lstStyle/>
          <a:p>
            <a:pPr algn="l"/>
            <a:r>
              <a:rPr sz="3400" b="1" i="0">
                <a:solidFill>
                  <a:srgbClr val="000000"/>
                </a:solidFill>
                <a:latin typeface="Georgia"/>
              </a:rPr>
              <a:t>03</a:t>
            </a:r>
          </a:p>
        </p:txBody>
      </p:sp>
      <p:sp>
        <p:nvSpPr>
          <p:cNvPr id="20" name="TextBox 19"/>
          <p:cNvSpPr txBox="1"/>
          <p:nvPr/>
        </p:nvSpPr>
        <p:spPr>
          <a:xfrm>
            <a:off x="8531352" y="2377440"/>
            <a:ext cx="3364992" cy="777240"/>
          </a:xfrm>
          <a:prstGeom prst="rect">
            <a:avLst/>
          </a:prstGeom>
          <a:noFill/>
        </p:spPr>
        <p:txBody>
          <a:bodyPr wrap="square" anchor="t" lIns="0" rIns="0" tIns="0" bIns="0">
            <a:spAutoFit/>
          </a:bodyPr>
          <a:lstStyle/>
          <a:p>
            <a:pPr algn="l">
              <a:lnSpc>
                <a:spcPct val="108000"/>
              </a:lnSpc>
            </a:pPr>
            <a:r>
              <a:rPr sz="1500" b="1" i="0">
                <a:solidFill>
                  <a:srgbClr val="000000"/>
                </a:solidFill>
                <a:latin typeface="Georgia"/>
              </a:rPr>
              <a:t>Growth has outrun the reporting cadence</a:t>
            </a:r>
          </a:p>
        </p:txBody>
      </p:sp>
      <p:sp>
        <p:nvSpPr>
          <p:cNvPr id="21" name="TextBox 20"/>
          <p:cNvSpPr txBox="1"/>
          <p:nvPr/>
        </p:nvSpPr>
        <p:spPr>
          <a:xfrm>
            <a:off x="8531352" y="3291840"/>
            <a:ext cx="3364992" cy="2560320"/>
          </a:xfrm>
          <a:prstGeom prst="rect">
            <a:avLst/>
          </a:prstGeom>
          <a:noFill/>
        </p:spPr>
        <p:txBody>
          <a:bodyPr wrap="square" anchor="t" lIns="0" rIns="0" tIns="0" bIns="0">
            <a:spAutoFit/>
          </a:bodyPr>
          <a:lstStyle/>
          <a:p>
            <a:pPr algn="l">
              <a:lnSpc>
                <a:spcPct val="122000"/>
              </a:lnSpc>
              <a:spcAft>
                <a:spcPts val="0"/>
              </a:spcAft>
            </a:pPr>
            <a:r>
              <a:rPr sz="1100" b="0" i="0">
                <a:solidFill>
                  <a:srgbClr val="000000"/>
                </a:solidFill>
                <a:latin typeface="Arial"/>
              </a:rPr>
              <a:t>Four showrooms across three countries within about eighteen months is a rapid build for a five year old business. Matching that pace with a costed twelve month plan keeps the next site funded by design rather than by whichever quarter had cash to spare.</a:t>
            </a:r>
          </a:p>
        </p:txBody>
      </p:sp>
      <p:sp>
        <p:nvSpPr>
          <p:cNvPr id="22" name="TextBox 21"/>
          <p:cNvSpPr txBox="1"/>
          <p:nvPr/>
        </p:nvSpPr>
        <p:spPr>
          <a:xfrm>
            <a:off x="320040" y="6035040"/>
            <a:ext cx="11521440" cy="457200"/>
          </a:xfrm>
          <a:prstGeom prst="rect">
            <a:avLst/>
          </a:prstGeom>
          <a:noFill/>
        </p:spPr>
        <p:txBody>
          <a:bodyPr wrap="square" anchor="t" lIns="0" rIns="0" tIns="0" bIns="0">
            <a:spAutoFit/>
          </a:bodyPr>
          <a:lstStyle/>
          <a:p>
            <a:pPr algn="l"/>
            <a:r>
              <a:rPr sz="1050" b="0" i="1">
                <a:solidFill>
                  <a:srgbClr val="000000"/>
                </a:solidFill>
                <a:latin typeface="Arial"/>
              </a:rPr>
              <a:t>These observations are offered in good faith. Makayla and Tom have built something rare in five years. The question is simply whether the financial architecture keeps pace with the shopfronts.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29184"/>
            <a:ext cx="7772400" cy="320040"/>
          </a:xfrm>
          <a:prstGeom prst="rect">
            <a:avLst/>
          </a:prstGeom>
          <a:noFill/>
        </p:spPr>
        <p:txBody>
          <a:bodyPr wrap="square" anchor="t" lIns="0" rIns="0" tIns="0" bIns="0">
            <a:spAutoFit/>
          </a:bodyPr>
          <a:lstStyle/>
          <a:p>
            <a:pPr algn="l"/>
            <a:r>
              <a:rPr sz="1200" b="1" i="0">
                <a:solidFill>
                  <a:srgbClr val="E6E5DE"/>
                </a:solidFill>
                <a:latin typeface="Arial"/>
              </a:rPr>
              <a:t>THE RECOMMENDATION</a:t>
            </a:r>
          </a:p>
        </p:txBody>
      </p:sp>
      <p:sp>
        <p:nvSpPr>
          <p:cNvPr id="4" name="TextBox 3"/>
          <p:cNvSpPr txBox="1"/>
          <p:nvPr/>
        </p:nvSpPr>
        <p:spPr>
          <a:xfrm>
            <a:off x="8595360" y="329184"/>
            <a:ext cx="3291840" cy="320040"/>
          </a:xfrm>
          <a:prstGeom prst="rect">
            <a:avLst/>
          </a:prstGeom>
          <a:noFill/>
        </p:spPr>
        <p:txBody>
          <a:bodyPr wrap="square" anchor="t" lIns="0" rIns="0" tIns="0" bIns="0">
            <a:spAutoFit/>
          </a:bodyPr>
          <a:lstStyle/>
          <a:p>
            <a:pPr algn="r"/>
            <a:r>
              <a:rPr sz="1200" b="1" i="0">
                <a:solidFill>
                  <a:srgbClr val="FFFFFF"/>
                </a:solidFill>
                <a:latin typeface="Arial"/>
              </a:rPr>
              <a:t>PROFITPULSE</a:t>
            </a:r>
          </a:p>
        </p:txBody>
      </p:sp>
      <p:sp>
        <p:nvSpPr>
          <p:cNvPr id="5" name="Rectangle 4"/>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6419088"/>
            <a:ext cx="11521440" cy="9525"/>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nchor="t" lIns="0" rIns="0" tIns="0" bIns="0">
            <a:spAutoFit/>
          </a:bodyPr>
          <a:lstStyle/>
          <a:p>
            <a:pPr algn="l"/>
            <a:r>
              <a:rPr sz="800" b="0" i="0">
                <a:solidFill>
                  <a:srgbClr val="000000"/>
                </a:solidFill>
                <a:latin typeface="Arial"/>
              </a:rPr>
              <a:t>Prepared by Nitesh Roopa CA, Managing Partner and Founder, ProfitPulse, Profit-Pulse.com.au</a:t>
            </a:r>
          </a:p>
        </p:txBody>
      </p:sp>
      <p:sp>
        <p:nvSpPr>
          <p:cNvPr id="8" name="TextBox 7"/>
          <p:cNvSpPr txBox="1"/>
          <p:nvPr/>
        </p:nvSpPr>
        <p:spPr>
          <a:xfrm>
            <a:off x="9601200" y="6492240"/>
            <a:ext cx="2286000" cy="274320"/>
          </a:xfrm>
          <a:prstGeom prst="rect">
            <a:avLst/>
          </a:prstGeom>
          <a:noFill/>
        </p:spPr>
        <p:txBody>
          <a:bodyPr wrap="square" anchor="t" lIns="0" rIns="0" tIns="0" bIns="0">
            <a:spAutoFit/>
          </a:bodyPr>
          <a:lstStyle/>
          <a:p>
            <a:pPr algn="r"/>
            <a:r>
              <a:rPr sz="800" b="0" i="0">
                <a:solidFill>
                  <a:srgbClr val="000000"/>
                </a:solidFill>
                <a:latin typeface="Arial"/>
              </a:rPr>
              <a:t>12 Aug 2026</a:t>
            </a:r>
          </a:p>
        </p:txBody>
      </p:sp>
      <p:sp>
        <p:nvSpPr>
          <p:cNvPr id="9" name="TextBox 8"/>
          <p:cNvSpPr txBox="1"/>
          <p:nvPr/>
        </p:nvSpPr>
        <p:spPr>
          <a:xfrm>
            <a:off x="320040" y="1051560"/>
            <a:ext cx="6995160" cy="502920"/>
          </a:xfrm>
          <a:prstGeom prst="rect">
            <a:avLst/>
          </a:prstGeom>
          <a:noFill/>
        </p:spPr>
        <p:txBody>
          <a:bodyPr wrap="square" anchor="t" lIns="0" rIns="0" tIns="0" bIns="0">
            <a:spAutoFit/>
          </a:bodyPr>
          <a:lstStyle/>
          <a:p>
            <a:pPr algn="l"/>
            <a:r>
              <a:rPr sz="2700" b="1" i="0">
                <a:solidFill>
                  <a:srgbClr val="000000"/>
                </a:solidFill>
                <a:latin typeface="Georgia"/>
              </a:rPr>
              <a:t>Working Capital Unlock</a:t>
            </a:r>
          </a:p>
        </p:txBody>
      </p:sp>
      <p:sp>
        <p:nvSpPr>
          <p:cNvPr id="10" name="TextBox 9"/>
          <p:cNvSpPr txBox="1"/>
          <p:nvPr/>
        </p:nvSpPr>
        <p:spPr>
          <a:xfrm>
            <a:off x="320040" y="1572768"/>
            <a:ext cx="6995160" cy="365760"/>
          </a:xfrm>
          <a:prstGeom prst="rect">
            <a:avLst/>
          </a:prstGeom>
          <a:noFill/>
        </p:spPr>
        <p:txBody>
          <a:bodyPr wrap="square" anchor="t" lIns="0" rIns="0" tIns="0" bIns="0">
            <a:spAutoFit/>
          </a:bodyPr>
          <a:lstStyle/>
          <a:p>
            <a:pPr algn="l"/>
            <a:r>
              <a:rPr sz="1600" b="1" i="0">
                <a:solidFill>
                  <a:srgbClr val="01A296"/>
                </a:solidFill>
                <a:latin typeface="Arial"/>
              </a:rPr>
              <a:t>$7,500 one off</a:t>
            </a:r>
          </a:p>
        </p:txBody>
      </p:sp>
      <p:sp>
        <p:nvSpPr>
          <p:cNvPr id="11" name="TextBox 10"/>
          <p:cNvSpPr txBox="1"/>
          <p:nvPr/>
        </p:nvSpPr>
        <p:spPr>
          <a:xfrm>
            <a:off x="320040" y="1993392"/>
            <a:ext cx="6995160" cy="685800"/>
          </a:xfrm>
          <a:prstGeom prst="rect">
            <a:avLst/>
          </a:prstGeom>
          <a:noFill/>
        </p:spPr>
        <p:txBody>
          <a:bodyPr wrap="square" anchor="t" lIns="0" rIns="0" tIns="0" bIns="0">
            <a:spAutoFit/>
          </a:bodyPr>
          <a:lstStyle/>
          <a:p>
            <a:pPr algn="l">
              <a:lnSpc>
                <a:spcPct val="120000"/>
              </a:lnSpc>
              <a:spcAft>
                <a:spcPts val="600"/>
              </a:spcAft>
            </a:pPr>
            <a:r>
              <a:rPr sz="1150" b="0" i="0">
                <a:solidFill>
                  <a:srgbClr val="000000"/>
                </a:solidFill>
                <a:latin typeface="Arial"/>
              </a:rPr>
              <a:t>Maps cash trapped in showroom stock, workshop inventory and supplier terms across all four sites, with a prioritised plan to release it before the next major sale week.</a:t>
            </a:r>
          </a:p>
        </p:txBody>
      </p:sp>
      <p:sp>
        <p:nvSpPr>
          <p:cNvPr id="12" name="Rectangle 11"/>
          <p:cNvSpPr/>
          <p:nvPr/>
        </p:nvSpPr>
        <p:spPr>
          <a:xfrm>
            <a:off x="320040" y="2788920"/>
            <a:ext cx="6995160" cy="141732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44368"/>
            <a:ext cx="6537960" cy="320040"/>
          </a:xfrm>
          <a:prstGeom prst="rect">
            <a:avLst/>
          </a:prstGeom>
          <a:noFill/>
        </p:spPr>
        <p:txBody>
          <a:bodyPr wrap="square" anchor="t" lIns="0" rIns="0" tIns="0" bIns="0">
            <a:spAutoFit/>
          </a:bodyPr>
          <a:lstStyle/>
          <a:p>
            <a:pPr algn="l"/>
            <a:r>
              <a:rPr sz="1300" b="1" i="0">
                <a:solidFill>
                  <a:srgbClr val="000000"/>
                </a:solidFill>
                <a:latin typeface="Arial"/>
              </a:rPr>
              <a:t>Step one, answer a few quick questions</a:t>
            </a:r>
          </a:p>
        </p:txBody>
      </p:sp>
      <p:sp>
        <p:nvSpPr>
          <p:cNvPr id="14" name="TextBox 13"/>
          <p:cNvSpPr txBox="1"/>
          <p:nvPr/>
        </p:nvSpPr>
        <p:spPr>
          <a:xfrm>
            <a:off x="548640" y="3310128"/>
            <a:ext cx="6537960" cy="274320"/>
          </a:xfrm>
          <a:prstGeom prst="rect">
            <a:avLst/>
          </a:prstGeom>
          <a:noFill/>
        </p:spPr>
        <p:txBody>
          <a:bodyPr wrap="square" anchor="t" lIns="0" rIns="0" tIns="0" bIns="0">
            <a:spAutoFit/>
          </a:bodyPr>
          <a:lstStyle/>
          <a:p>
            <a:pPr algn="l"/>
            <a:r>
              <a:rPr sz="1100" b="0" i="0">
                <a:solidFill>
                  <a:srgbClr val="000000"/>
                </a:solidFill>
                <a:latin typeface="Arial"/>
              </a:rPr>
              <a:t>See the solutions matched to your size and industry.</a:t>
            </a:r>
          </a:p>
        </p:txBody>
      </p:sp>
      <p:sp>
        <p:nvSpPr>
          <p:cNvPr id="15" name="TextBox 14"/>
          <p:cNvSpPr txBox="1"/>
          <p:nvPr/>
        </p:nvSpPr>
        <p:spPr>
          <a:xfrm>
            <a:off x="548640" y="3639312"/>
            <a:ext cx="6537960" cy="320040"/>
          </a:xfrm>
          <a:prstGeom prst="rect">
            <a:avLst/>
          </a:prstGeom>
          <a:noFill/>
        </p:spPr>
        <p:txBody>
          <a:bodyPr wrap="square" anchor="t" lIns="0" rIns="0" tIns="0" bIns="0">
            <a:spAutoFit/>
          </a:bodyPr>
          <a:lstStyle/>
          <a:p>
            <a:pPr algn="l"/>
            <a:r>
              <a:rPr sz="1300" b="1" i="0">
                <a:solidFill>
                  <a:srgbClr val="01A296"/>
                </a:solidFill>
                <a:latin typeface="Arial"/>
                <a:hlinkClick r:id="rId2"/>
              </a:rPr>
              <a:t>profit-pulse.com.au/services/find-your-fit</a:t>
            </a:r>
          </a:p>
        </p:txBody>
      </p:sp>
      <p:sp>
        <p:nvSpPr>
          <p:cNvPr id="16" name="Rectangle 15"/>
          <p:cNvSpPr/>
          <p:nvPr/>
        </p:nvSpPr>
        <p:spPr>
          <a:xfrm>
            <a:off x="320040" y="4370832"/>
            <a:ext cx="6995160" cy="64008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370832"/>
            <a:ext cx="6995160" cy="640080"/>
          </a:xfrm>
          <a:prstGeom prst="rect">
            <a:avLst/>
          </a:prstGeom>
          <a:noFill/>
        </p:spPr>
        <p:txBody>
          <a:bodyPr wrap="square" anchor="ctr" lIns="0" rIns="0" tIns="0" bIns="0">
            <a:spAutoFit/>
          </a:bodyPr>
          <a:lstStyle/>
          <a:p>
            <a:pPr algn="ctr"/>
            <a:r>
              <a:rPr sz="1300" b="1" i="0">
                <a:solidFill>
                  <a:srgbClr val="000000"/>
                </a:solidFill>
                <a:latin typeface="Arial"/>
                <a:hlinkClick r:id="rId3"/>
              </a:rPr>
              <a:t>Purchase the suggested product now to get started</a:t>
            </a:r>
          </a:p>
        </p:txBody>
      </p:sp>
      <p:sp>
        <p:nvSpPr>
          <p:cNvPr id="18" name="TextBox 17"/>
          <p:cNvSpPr txBox="1"/>
          <p:nvPr/>
        </p:nvSpPr>
        <p:spPr>
          <a:xfrm>
            <a:off x="320040" y="5193792"/>
            <a:ext cx="6995160" cy="274320"/>
          </a:xfrm>
          <a:prstGeom prst="rect">
            <a:avLst/>
          </a:prstGeom>
          <a:noFill/>
        </p:spPr>
        <p:txBody>
          <a:bodyPr wrap="square" anchor="t" lIns="0" rIns="0" tIns="0" bIns="0">
            <a:spAutoFit/>
          </a:bodyPr>
          <a:lstStyle/>
          <a:p>
            <a:pPr algn="l"/>
            <a:r>
              <a:rPr sz="1100" b="0" i="0">
                <a:solidFill>
                  <a:srgbClr val="000000"/>
                </a:solidFill>
                <a:latin typeface="Arial"/>
              </a:rPr>
              <a:t>Prefer a conversation first?</a:t>
            </a:r>
          </a:p>
        </p:txBody>
      </p:sp>
      <p:sp>
        <p:nvSpPr>
          <p:cNvPr id="19" name="TextBox 18"/>
          <p:cNvSpPr txBox="1"/>
          <p:nvPr/>
        </p:nvSpPr>
        <p:spPr>
          <a:xfrm>
            <a:off x="320040" y="5468112"/>
            <a:ext cx="6995160" cy="320040"/>
          </a:xfrm>
          <a:prstGeom prst="rect">
            <a:avLst/>
          </a:prstGeom>
          <a:noFill/>
        </p:spPr>
        <p:txBody>
          <a:bodyPr wrap="square" anchor="t" lIns="0" rIns="0" tIns="0" bIns="0">
            <a:spAutoFit/>
          </a:bodyPr>
          <a:lstStyle/>
          <a:p>
            <a:pPr algn="l"/>
            <a:r>
              <a:rPr sz="1200" b="1" i="0">
                <a:solidFill>
                  <a:srgbClr val="01A296"/>
                </a:solidFill>
                <a:latin typeface="Arial"/>
                <a:hlinkClick r:id="rId4"/>
              </a:rPr>
              <a:t>Book a complimentary discovery call</a:t>
            </a:r>
          </a:p>
        </p:txBody>
      </p:sp>
      <p:sp>
        <p:nvSpPr>
          <p:cNvPr id="20" name="Rectangle 19"/>
          <p:cNvSpPr/>
          <p:nvPr/>
        </p:nvSpPr>
        <p:spPr>
          <a:xfrm>
            <a:off x="7543800" y="1051560"/>
            <a:ext cx="4325112" cy="5029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43800" y="1051560"/>
            <a:ext cx="43251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1325880"/>
            <a:ext cx="3776472" cy="411480"/>
          </a:xfrm>
          <a:prstGeom prst="rect">
            <a:avLst/>
          </a:prstGeom>
          <a:noFill/>
        </p:spPr>
        <p:txBody>
          <a:bodyPr wrap="square" anchor="t" lIns="0" rIns="0" tIns="0" bIns="0">
            <a:spAutoFit/>
          </a:bodyPr>
          <a:lstStyle/>
          <a:p>
            <a:pPr algn="l"/>
            <a:r>
              <a:rPr sz="1900" b="1" i="0">
                <a:solidFill>
                  <a:srgbClr val="F8C806"/>
                </a:solidFill>
                <a:latin typeface="Georgia"/>
              </a:rPr>
              <a:t>Nitesh Roopa</a:t>
            </a:r>
          </a:p>
        </p:txBody>
      </p:sp>
      <p:sp>
        <p:nvSpPr>
          <p:cNvPr id="23" name="TextBox 22"/>
          <p:cNvSpPr txBox="1"/>
          <p:nvPr/>
        </p:nvSpPr>
        <p:spPr>
          <a:xfrm>
            <a:off x="7818120" y="1755648"/>
            <a:ext cx="3776472" cy="320040"/>
          </a:xfrm>
          <a:prstGeom prst="rect">
            <a:avLst/>
          </a:prstGeom>
          <a:noFill/>
        </p:spPr>
        <p:txBody>
          <a:bodyPr wrap="square" anchor="t" lIns="0" rIns="0" tIns="0" bIns="0">
            <a:spAutoFit/>
          </a:bodyPr>
          <a:lstStyle/>
          <a:p>
            <a:pPr algn="l"/>
            <a:r>
              <a:rPr sz="1200" b="0" i="0">
                <a:solidFill>
                  <a:srgbClr val="FFFFFF"/>
                </a:solidFill>
                <a:latin typeface="Arial"/>
              </a:rPr>
              <a:t>CA, Managing Partner, ProfitPulse</a:t>
            </a:r>
          </a:p>
        </p:txBody>
      </p:sp>
      <p:sp>
        <p:nvSpPr>
          <p:cNvPr id="24" name="TextBox 23"/>
          <p:cNvSpPr txBox="1"/>
          <p:nvPr/>
        </p:nvSpPr>
        <p:spPr>
          <a:xfrm>
            <a:off x="7818120" y="2240280"/>
            <a:ext cx="3776472" cy="1554480"/>
          </a:xfrm>
          <a:prstGeom prst="rect">
            <a:avLst/>
          </a:prstGeom>
          <a:noFill/>
        </p:spPr>
        <p:txBody>
          <a:bodyPr wrap="square" anchor="t" lIns="0" rIns="0" tIns="0" bIns="0">
            <a:spAutoFit/>
          </a:bodyPr>
          <a:lstStyle/>
          <a:p>
            <a:pPr algn="l">
              <a:lnSpc>
                <a:spcPct val="115000"/>
              </a:lnSpc>
              <a:spcAft>
                <a:spcPts val="800"/>
              </a:spcAft>
            </a:pPr>
            <a:r>
              <a:rPr sz="1100" b="0" i="0">
                <a:solidFill>
                  <a:srgbClr val="E6E5DE"/>
                </a:solidFill>
                <a:latin typeface="Arial"/>
              </a:rPr>
              <a:t>16 years across 4 countries</a:t>
            </a:r>
          </a:p>
          <a:p>
            <a:pPr algn="l">
              <a:lnSpc>
                <a:spcPct val="115000"/>
              </a:lnSpc>
              <a:spcAft>
                <a:spcPts val="800"/>
              </a:spcAft>
            </a:pPr>
            <a:r>
              <a:rPr sz="1100" b="0" i="0">
                <a:solidFill>
                  <a:srgbClr val="E6E5DE"/>
                </a:solidFill>
                <a:latin typeface="Arial"/>
              </a:rPr>
              <a:t>52 deals executed and managed</a:t>
            </a:r>
          </a:p>
          <a:p>
            <a:pPr algn="l">
              <a:lnSpc>
                <a:spcPct val="115000"/>
              </a:lnSpc>
              <a:spcAft>
                <a:spcPts val="800"/>
              </a:spcAft>
            </a:pPr>
            <a:r>
              <a:rPr sz="1100" b="0" i="0">
                <a:solidFill>
                  <a:srgbClr val="E6E5DE"/>
                </a:solidFill>
                <a:latin typeface="Arial"/>
              </a:rPr>
              <a:t>Largest single deal USD 1.3 billion, Cahora Bassa</a:t>
            </a:r>
          </a:p>
          <a:p>
            <a:pPr algn="l">
              <a:lnSpc>
                <a:spcPct val="115000"/>
              </a:lnSpc>
              <a:spcAft>
                <a:spcPts val="800"/>
              </a:spcAft>
            </a:pPr>
            <a:r>
              <a:rPr sz="1100" b="0" i="0">
                <a:solidFill>
                  <a:srgbClr val="E6E5DE"/>
                </a:solidFill>
                <a:latin typeface="Arial"/>
              </a:rPr>
              <a:t>Total GRBT project value over AUD 10 billion</a:t>
            </a:r>
          </a:p>
        </p:txBody>
      </p:sp>
      <p:sp>
        <p:nvSpPr>
          <p:cNvPr id="25" name="Rectangle 24"/>
          <p:cNvSpPr/>
          <p:nvPr/>
        </p:nvSpPr>
        <p:spPr>
          <a:xfrm>
            <a:off x="7818120" y="3886200"/>
            <a:ext cx="3776472"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4069080"/>
            <a:ext cx="3776472" cy="1645920"/>
          </a:xfrm>
          <a:prstGeom prst="rect">
            <a:avLst/>
          </a:prstGeom>
          <a:noFill/>
        </p:spPr>
        <p:txBody>
          <a:bodyPr wrap="square" anchor="t" lIns="0" rIns="0" tIns="0" bIns="0">
            <a:spAutoFit/>
          </a:bodyPr>
          <a:lstStyle/>
          <a:p>
            <a:pPr algn="l">
              <a:lnSpc>
                <a:spcPct val="125000"/>
              </a:lnSpc>
              <a:spcAft>
                <a:spcPts val="600"/>
              </a:spcAft>
            </a:pPr>
            <a:r>
              <a:rPr sz="1100" b="0" i="0">
                <a:solidFill>
                  <a:srgbClr val="E6E5DE"/>
                </a:solidFill>
                <a:latin typeface="Arial"/>
              </a:rPr>
              <a:t>Profit-Pulse.com.au</a:t>
            </a:r>
          </a:p>
          <a:p>
            <a:pPr algn="l">
              <a:lnSpc>
                <a:spcPct val="125000"/>
              </a:lnSpc>
              <a:spcAft>
                <a:spcPts val="600"/>
              </a:spcAft>
            </a:pPr>
            <a:r>
              <a:rPr sz="1100" b="0" i="0">
                <a:solidFill>
                  <a:srgbClr val="E6E5DE"/>
                </a:solidFill>
                <a:latin typeface="Arial"/>
              </a:rPr>
              <a:t>Nitesh@Profit-Pulse.com.au</a:t>
            </a:r>
          </a:p>
          <a:p>
            <a:pPr algn="l">
              <a:lnSpc>
                <a:spcPct val="125000"/>
              </a:lnSpc>
              <a:spcAft>
                <a:spcPts val="600"/>
              </a:spcAft>
            </a:pPr>
            <a:r>
              <a:rPr sz="1100" b="0" i="0">
                <a:solidFill>
                  <a:srgbClr val="E6E5DE"/>
                </a:solidFill>
                <a:latin typeface="Arial"/>
              </a:rPr>
              <a:t>+61 411 876 267</a:t>
            </a:r>
          </a:p>
          <a:p>
            <a:pPr algn="l">
              <a:lnSpc>
                <a:spcPct val="125000"/>
              </a:lnSpc>
              <a:spcAft>
                <a:spcPts val="600"/>
              </a:spcAft>
            </a:pPr>
            <a:r>
              <a:rPr sz="1100" b="0" i="0">
                <a:solidFill>
                  <a:srgbClr val="E6E5DE"/>
                </a:solidFill>
                <a:latin typeface="Arial"/>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