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utm_source=outreach&amp;utm_medium=pptx&amp;utm_campaign=nightly_outreach&amp;utm_content=affinity_msp" TargetMode="External"/><Relationship Id="rId3" Type="http://schemas.openxmlformats.org/officeDocument/2006/relationships/hyperlink" Target="https://buy.stripe.com/eVq9AU2uA66cbdu9wr3ks1F"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Calibri"/>
              </a:rPr>
              <a:t>COMMERCIAL INTELLIGENCE BRIEF</a:t>
            </a:r>
          </a:p>
        </p:txBody>
      </p:sp>
      <p:sp>
        <p:nvSpPr>
          <p:cNvPr id="5" name="TextBox 4"/>
          <p:cNvSpPr txBox="1"/>
          <p:nvPr/>
        </p:nvSpPr>
        <p:spPr>
          <a:xfrm>
            <a:off x="8229600" y="292608"/>
            <a:ext cx="3657600" cy="365760"/>
          </a:xfrm>
          <a:prstGeom prst="rect">
            <a:avLst/>
          </a:prstGeom>
          <a:noFill/>
        </p:spPr>
        <p:txBody>
          <a:bodyPr wrap="square">
            <a:noAutofit/>
          </a:bodyPr>
          <a:lstStyle/>
          <a:p>
            <a:pPr algn="r"/>
            <a:r>
              <a:rPr sz="1300" b="1" i="0">
                <a:solidFill>
                  <a:srgbClr val="01A296"/>
                </a:solidFill>
                <a:latin typeface="Calibri"/>
              </a:rPr>
              <a:t>PROFITPULSE</a:t>
            </a:r>
          </a:p>
        </p:txBody>
      </p:sp>
      <p:sp>
        <p:nvSpPr>
          <p:cNvPr id="6" name="Rectangle 5"/>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a:noAutofit/>
          </a:bodyPr>
          <a:lstStyle/>
          <a:p>
            <a:pPr algn="r"/>
            <a:r>
              <a:rPr sz="800" b="0" i="0">
                <a:solidFill>
                  <a:srgbClr val="000000"/>
                </a:solidFill>
                <a:latin typeface="Calibri"/>
              </a:rPr>
              <a:t>27 Aug 2026</a:t>
            </a:r>
          </a:p>
        </p:txBody>
      </p:sp>
      <p:sp>
        <p:nvSpPr>
          <p:cNvPr id="9" name="TextBox 8"/>
          <p:cNvSpPr txBox="1"/>
          <p:nvPr/>
        </p:nvSpPr>
        <p:spPr>
          <a:xfrm>
            <a:off x="320040" y="1078992"/>
            <a:ext cx="8686800" cy="685800"/>
          </a:xfrm>
          <a:prstGeom prst="rect">
            <a:avLst/>
          </a:prstGeom>
          <a:noFill/>
        </p:spPr>
        <p:txBody>
          <a:bodyPr wrap="square">
            <a:noAutofit/>
          </a:bodyPr>
          <a:lstStyle/>
          <a:p>
            <a:pPr algn="l"/>
            <a:r>
              <a:rPr sz="3800" b="1" i="0">
                <a:solidFill>
                  <a:srgbClr val="000000"/>
                </a:solidFill>
                <a:latin typeface="Cambria"/>
              </a:rPr>
              <a:t>Affinity MSP</a:t>
            </a:r>
          </a:p>
        </p:txBody>
      </p:sp>
      <p:sp>
        <p:nvSpPr>
          <p:cNvPr id="10" name="TextBox 9"/>
          <p:cNvSpPr txBox="1"/>
          <p:nvPr/>
        </p:nvSpPr>
        <p:spPr>
          <a:xfrm>
            <a:off x="320040" y="1691640"/>
            <a:ext cx="10515600" cy="320040"/>
          </a:xfrm>
          <a:prstGeom prst="rect">
            <a:avLst/>
          </a:prstGeom>
          <a:noFill/>
        </p:spPr>
        <p:txBody>
          <a:bodyPr wrap="square">
            <a:noAutofit/>
          </a:bodyPr>
          <a:lstStyle/>
          <a:p>
            <a:pPr algn="l"/>
            <a:r>
              <a:rPr sz="1300" b="0" i="0">
                <a:solidFill>
                  <a:srgbClr val="000000"/>
                </a:solidFill>
                <a:latin typeface="Calibri"/>
              </a:rPr>
              <a:t>Managed IT services provider, Mount Waverley, Melbourne VIC</a:t>
            </a:r>
          </a:p>
        </p:txBody>
      </p:sp>
      <p:sp>
        <p:nvSpPr>
          <p:cNvPr id="11" name="Rectangle 10"/>
          <p:cNvSpPr/>
          <p:nvPr/>
        </p:nvSpPr>
        <p:spPr>
          <a:xfrm>
            <a:off x="320040" y="2194560"/>
            <a:ext cx="1810969" cy="1463040"/>
          </a:xfrm>
          <a:prstGeom prst="rect">
            <a:avLst/>
          </a:prstGeom>
          <a:solidFill>
            <a:srgbClr val="000000"/>
          </a:solidFill>
          <a:ln>
            <a:noFill/>
          </a:ln>
          <a:effectLst/>
        </p:spPr>
        <p:txBody>
          <a:bodyPr rtlCol="0" anchor="ctr"/>
          <a:lstStyle/>
          <a:p>
            <a:pPr algn="ctr"/>
          </a:p>
        </p:txBody>
      </p:sp>
      <p:sp>
        <p:nvSpPr>
          <p:cNvPr id="12" name="Rectangle 11"/>
          <p:cNvSpPr/>
          <p:nvPr/>
        </p:nvSpPr>
        <p:spPr>
          <a:xfrm>
            <a:off x="320040" y="2194560"/>
            <a:ext cx="1810969" cy="38100"/>
          </a:xfrm>
          <a:prstGeom prst="rect">
            <a:avLst/>
          </a:prstGeom>
          <a:solidFill>
            <a:srgbClr val="01A296"/>
          </a:solidFill>
          <a:ln>
            <a:noFill/>
          </a:ln>
          <a:effectLst/>
        </p:spPr>
        <p:txBody>
          <a:bodyPr rtlCol="0" anchor="ctr"/>
          <a:lstStyle/>
          <a:p>
            <a:pPr algn="ctr"/>
          </a:p>
        </p:txBody>
      </p:sp>
      <p:sp>
        <p:nvSpPr>
          <p:cNvPr id="13" name="TextBox 12"/>
          <p:cNvSpPr txBox="1"/>
          <p:nvPr/>
        </p:nvSpPr>
        <p:spPr>
          <a:xfrm>
            <a:off x="429768" y="2359152"/>
            <a:ext cx="1591513" cy="502920"/>
          </a:xfrm>
          <a:prstGeom prst="rect">
            <a:avLst/>
          </a:prstGeom>
          <a:noFill/>
        </p:spPr>
        <p:txBody>
          <a:bodyPr wrap="square">
            <a:noAutofit/>
          </a:bodyPr>
          <a:lstStyle/>
          <a:p>
            <a:pPr algn="l"/>
            <a:r>
              <a:rPr sz="2700" b="1" i="0">
                <a:solidFill>
                  <a:srgbClr val="F8C806"/>
                </a:solidFill>
                <a:latin typeface="Cambria"/>
              </a:rPr>
              <a:t>$6.6M</a:t>
            </a:r>
          </a:p>
        </p:txBody>
      </p:sp>
      <p:sp>
        <p:nvSpPr>
          <p:cNvPr id="14" name="TextBox 13"/>
          <p:cNvSpPr txBox="1"/>
          <p:nvPr/>
        </p:nvSpPr>
        <p:spPr>
          <a:xfrm>
            <a:off x="429768"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FY revenue</a:t>
            </a:r>
          </a:p>
        </p:txBody>
      </p:sp>
      <p:sp>
        <p:nvSpPr>
          <p:cNvPr id="15" name="TextBox 14"/>
          <p:cNvSpPr txBox="1"/>
          <p:nvPr/>
        </p:nvSpPr>
        <p:spPr>
          <a:xfrm>
            <a:off x="429768" y="3401568"/>
            <a:ext cx="1591513" cy="228600"/>
          </a:xfrm>
          <a:prstGeom prst="rect">
            <a:avLst/>
          </a:prstGeom>
          <a:noFill/>
        </p:spPr>
        <p:txBody>
          <a:bodyPr wrap="square">
            <a:noAutofit/>
          </a:bodyPr>
          <a:lstStyle/>
          <a:p>
            <a:pPr algn="l"/>
            <a:r>
              <a:rPr sz="700" b="0" i="1">
                <a:solidFill>
                  <a:srgbClr val="E6E5DE"/>
                </a:solidFill>
                <a:latin typeface="Calibri"/>
              </a:rPr>
              <a:t>Smart50 2025 citation</a:t>
            </a:r>
          </a:p>
        </p:txBody>
      </p:sp>
      <p:sp>
        <p:nvSpPr>
          <p:cNvPr id="16" name="Rectangle 15"/>
          <p:cNvSpPr/>
          <p:nvPr/>
        </p:nvSpPr>
        <p:spPr>
          <a:xfrm>
            <a:off x="2268169" y="2194560"/>
            <a:ext cx="1810969" cy="1463040"/>
          </a:xfrm>
          <a:prstGeom prst="rect">
            <a:avLst/>
          </a:prstGeom>
          <a:solidFill>
            <a:srgbClr val="000000"/>
          </a:solidFill>
          <a:ln>
            <a:noFill/>
          </a:ln>
          <a:effectLst/>
        </p:spPr>
        <p:txBody>
          <a:bodyPr rtlCol="0" anchor="ctr"/>
          <a:lstStyle/>
          <a:p>
            <a:pPr algn="ctr"/>
          </a:p>
        </p:txBody>
      </p:sp>
      <p:sp>
        <p:nvSpPr>
          <p:cNvPr id="17" name="Rectangle 16"/>
          <p:cNvSpPr/>
          <p:nvPr/>
        </p:nvSpPr>
        <p:spPr>
          <a:xfrm>
            <a:off x="2268169" y="2194560"/>
            <a:ext cx="1810969" cy="38100"/>
          </a:xfrm>
          <a:prstGeom prst="rect">
            <a:avLst/>
          </a:prstGeom>
          <a:solidFill>
            <a:srgbClr val="01A296"/>
          </a:solidFill>
          <a:ln>
            <a:noFill/>
          </a:ln>
          <a:effectLst/>
        </p:spPr>
        <p:txBody>
          <a:bodyPr rtlCol="0" anchor="ctr"/>
          <a:lstStyle/>
          <a:p>
            <a:pPr algn="ctr"/>
          </a:p>
        </p:txBody>
      </p:sp>
      <p:sp>
        <p:nvSpPr>
          <p:cNvPr id="18" name="TextBox 17"/>
          <p:cNvSpPr txBox="1"/>
          <p:nvPr/>
        </p:nvSpPr>
        <p:spPr>
          <a:xfrm>
            <a:off x="2377897" y="2359152"/>
            <a:ext cx="1591513" cy="502920"/>
          </a:xfrm>
          <a:prstGeom prst="rect">
            <a:avLst/>
          </a:prstGeom>
          <a:noFill/>
        </p:spPr>
        <p:txBody>
          <a:bodyPr wrap="square">
            <a:noAutofit/>
          </a:bodyPr>
          <a:lstStyle/>
          <a:p>
            <a:pPr algn="l"/>
            <a:r>
              <a:rPr sz="2700" b="1" i="0">
                <a:solidFill>
                  <a:srgbClr val="F8C806"/>
                </a:solidFill>
                <a:latin typeface="Cambria"/>
              </a:rPr>
              <a:t>42%</a:t>
            </a:r>
          </a:p>
        </p:txBody>
      </p:sp>
      <p:sp>
        <p:nvSpPr>
          <p:cNvPr id="19" name="TextBox 18"/>
          <p:cNvSpPr txBox="1"/>
          <p:nvPr/>
        </p:nvSpPr>
        <p:spPr>
          <a:xfrm>
            <a:off x="2377897"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Three year revenue growth</a:t>
            </a:r>
          </a:p>
        </p:txBody>
      </p:sp>
      <p:sp>
        <p:nvSpPr>
          <p:cNvPr id="20" name="TextBox 19"/>
          <p:cNvSpPr txBox="1"/>
          <p:nvPr/>
        </p:nvSpPr>
        <p:spPr>
          <a:xfrm>
            <a:off x="2377897" y="3401568"/>
            <a:ext cx="1591513" cy="228600"/>
          </a:xfrm>
          <a:prstGeom prst="rect">
            <a:avLst/>
          </a:prstGeom>
          <a:noFill/>
        </p:spPr>
        <p:txBody>
          <a:bodyPr wrap="square">
            <a:noAutofit/>
          </a:bodyPr>
          <a:lstStyle/>
          <a:p>
            <a:pPr algn="l"/>
            <a:r>
              <a:rPr sz="700" b="0" i="1">
                <a:solidFill>
                  <a:srgbClr val="E6E5DE"/>
                </a:solidFill>
                <a:latin typeface="Calibri"/>
              </a:rPr>
              <a:t>Smart50 2025 citation</a:t>
            </a:r>
          </a:p>
        </p:txBody>
      </p:sp>
      <p:sp>
        <p:nvSpPr>
          <p:cNvPr id="21" name="Rectangle 20"/>
          <p:cNvSpPr/>
          <p:nvPr/>
        </p:nvSpPr>
        <p:spPr>
          <a:xfrm>
            <a:off x="4216298" y="2194560"/>
            <a:ext cx="1810969" cy="1463040"/>
          </a:xfrm>
          <a:prstGeom prst="rect">
            <a:avLst/>
          </a:prstGeom>
          <a:solidFill>
            <a:srgbClr val="000000"/>
          </a:solidFill>
          <a:ln>
            <a:noFill/>
          </a:ln>
          <a:effectLst/>
        </p:spPr>
        <p:txBody>
          <a:bodyPr rtlCol="0" anchor="ctr"/>
          <a:lstStyle/>
          <a:p>
            <a:pPr algn="ctr"/>
          </a:p>
        </p:txBody>
      </p:sp>
      <p:sp>
        <p:nvSpPr>
          <p:cNvPr id="22" name="Rectangle 21"/>
          <p:cNvSpPr/>
          <p:nvPr/>
        </p:nvSpPr>
        <p:spPr>
          <a:xfrm>
            <a:off x="4216298" y="2194560"/>
            <a:ext cx="1810969" cy="38100"/>
          </a:xfrm>
          <a:prstGeom prst="rect">
            <a:avLst/>
          </a:prstGeom>
          <a:solidFill>
            <a:srgbClr val="01A296"/>
          </a:solidFill>
          <a:ln>
            <a:noFill/>
          </a:ln>
          <a:effectLst/>
        </p:spPr>
        <p:txBody>
          <a:bodyPr rtlCol="0" anchor="ctr"/>
          <a:lstStyle/>
          <a:p>
            <a:pPr algn="ctr"/>
          </a:p>
        </p:txBody>
      </p:sp>
      <p:sp>
        <p:nvSpPr>
          <p:cNvPr id="23" name="TextBox 22"/>
          <p:cNvSpPr txBox="1"/>
          <p:nvPr/>
        </p:nvSpPr>
        <p:spPr>
          <a:xfrm>
            <a:off x="4326026" y="2359152"/>
            <a:ext cx="1591513" cy="502920"/>
          </a:xfrm>
          <a:prstGeom prst="rect">
            <a:avLst/>
          </a:prstGeom>
          <a:noFill/>
        </p:spPr>
        <p:txBody>
          <a:bodyPr wrap="square">
            <a:noAutofit/>
          </a:bodyPr>
          <a:lstStyle/>
          <a:p>
            <a:pPr algn="l"/>
            <a:r>
              <a:rPr sz="2700" b="1" i="0">
                <a:solidFill>
                  <a:srgbClr val="F8C806"/>
                </a:solidFill>
                <a:latin typeface="Cambria"/>
              </a:rPr>
              <a:t>36</a:t>
            </a:r>
          </a:p>
        </p:txBody>
      </p:sp>
      <p:sp>
        <p:nvSpPr>
          <p:cNvPr id="24" name="TextBox 23"/>
          <p:cNvSpPr txBox="1"/>
          <p:nvPr/>
        </p:nvSpPr>
        <p:spPr>
          <a:xfrm>
            <a:off x="4326026"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Team size, employees</a:t>
            </a:r>
          </a:p>
        </p:txBody>
      </p:sp>
      <p:sp>
        <p:nvSpPr>
          <p:cNvPr id="25" name="TextBox 24"/>
          <p:cNvSpPr txBox="1"/>
          <p:nvPr/>
        </p:nvSpPr>
        <p:spPr>
          <a:xfrm>
            <a:off x="4326026" y="3401568"/>
            <a:ext cx="1591513" cy="228600"/>
          </a:xfrm>
          <a:prstGeom prst="rect">
            <a:avLst/>
          </a:prstGeom>
          <a:noFill/>
        </p:spPr>
        <p:txBody>
          <a:bodyPr wrap="square">
            <a:noAutofit/>
          </a:bodyPr>
          <a:lstStyle/>
          <a:p>
            <a:pPr algn="l"/>
            <a:r>
              <a:rPr sz="700" b="0" i="1">
                <a:solidFill>
                  <a:srgbClr val="E6E5DE"/>
                </a:solidFill>
                <a:latin typeface="Calibri"/>
              </a:rPr>
              <a:t>Smart50 2025 citation</a:t>
            </a:r>
          </a:p>
        </p:txBody>
      </p:sp>
      <p:sp>
        <p:nvSpPr>
          <p:cNvPr id="26" name="Rectangle 25"/>
          <p:cNvSpPr/>
          <p:nvPr/>
        </p:nvSpPr>
        <p:spPr>
          <a:xfrm>
            <a:off x="6164427" y="2194560"/>
            <a:ext cx="1810969" cy="1463040"/>
          </a:xfrm>
          <a:prstGeom prst="rect">
            <a:avLst/>
          </a:prstGeom>
          <a:solidFill>
            <a:srgbClr val="000000"/>
          </a:solidFill>
          <a:ln>
            <a:noFill/>
          </a:ln>
          <a:effectLst/>
        </p:spPr>
        <p:txBody>
          <a:bodyPr rtlCol="0" anchor="ctr"/>
          <a:lstStyle/>
          <a:p>
            <a:pPr algn="ctr"/>
          </a:p>
        </p:txBody>
      </p:sp>
      <p:sp>
        <p:nvSpPr>
          <p:cNvPr id="27" name="Rectangle 26"/>
          <p:cNvSpPr/>
          <p:nvPr/>
        </p:nvSpPr>
        <p:spPr>
          <a:xfrm>
            <a:off x="6164427" y="2194560"/>
            <a:ext cx="1810969" cy="38100"/>
          </a:xfrm>
          <a:prstGeom prst="rect">
            <a:avLst/>
          </a:prstGeom>
          <a:solidFill>
            <a:srgbClr val="01A296"/>
          </a:solidFill>
          <a:ln>
            <a:noFill/>
          </a:ln>
          <a:effectLst/>
        </p:spPr>
        <p:txBody>
          <a:bodyPr rtlCol="0" anchor="ctr"/>
          <a:lstStyle/>
          <a:p>
            <a:pPr algn="ctr"/>
          </a:p>
        </p:txBody>
      </p:sp>
      <p:sp>
        <p:nvSpPr>
          <p:cNvPr id="28" name="TextBox 27"/>
          <p:cNvSpPr txBox="1"/>
          <p:nvPr/>
        </p:nvSpPr>
        <p:spPr>
          <a:xfrm>
            <a:off x="6274155" y="2359152"/>
            <a:ext cx="1591513" cy="502920"/>
          </a:xfrm>
          <a:prstGeom prst="rect">
            <a:avLst/>
          </a:prstGeom>
          <a:noFill/>
        </p:spPr>
        <p:txBody>
          <a:bodyPr wrap="square">
            <a:noAutofit/>
          </a:bodyPr>
          <a:lstStyle/>
          <a:p>
            <a:pPr algn="l"/>
            <a:r>
              <a:rPr sz="2700" b="1" i="0">
                <a:solidFill>
                  <a:srgbClr val="F8C806"/>
                </a:solidFill>
                <a:latin typeface="Cambria"/>
              </a:rPr>
              <a:t>#29</a:t>
            </a:r>
          </a:p>
        </p:txBody>
      </p:sp>
      <p:sp>
        <p:nvSpPr>
          <p:cNvPr id="29" name="TextBox 28"/>
          <p:cNvSpPr txBox="1"/>
          <p:nvPr/>
        </p:nvSpPr>
        <p:spPr>
          <a:xfrm>
            <a:off x="6274155"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Smart50 2025 national rank</a:t>
            </a:r>
          </a:p>
        </p:txBody>
      </p:sp>
      <p:sp>
        <p:nvSpPr>
          <p:cNvPr id="30" name="TextBox 29"/>
          <p:cNvSpPr txBox="1"/>
          <p:nvPr/>
        </p:nvSpPr>
        <p:spPr>
          <a:xfrm>
            <a:off x="6274155" y="3401568"/>
            <a:ext cx="1591513" cy="228600"/>
          </a:xfrm>
          <a:prstGeom prst="rect">
            <a:avLst/>
          </a:prstGeom>
          <a:noFill/>
        </p:spPr>
        <p:txBody>
          <a:bodyPr wrap="square">
            <a:noAutofit/>
          </a:bodyPr>
          <a:lstStyle/>
          <a:p>
            <a:pPr algn="l"/>
            <a:r>
              <a:rPr sz="700" b="0" i="1">
                <a:solidFill>
                  <a:srgbClr val="E6E5DE"/>
                </a:solidFill>
                <a:latin typeface="Calibri"/>
              </a:rPr>
              <a:t>SmartCompany Nov 2025</a:t>
            </a:r>
          </a:p>
        </p:txBody>
      </p:sp>
      <p:sp>
        <p:nvSpPr>
          <p:cNvPr id="31" name="Rectangle 30"/>
          <p:cNvSpPr/>
          <p:nvPr/>
        </p:nvSpPr>
        <p:spPr>
          <a:xfrm>
            <a:off x="8112556" y="2194560"/>
            <a:ext cx="1810969" cy="1463040"/>
          </a:xfrm>
          <a:prstGeom prst="rect">
            <a:avLst/>
          </a:prstGeom>
          <a:solidFill>
            <a:srgbClr val="000000"/>
          </a:solidFill>
          <a:ln>
            <a:noFill/>
          </a:ln>
          <a:effectLst/>
        </p:spPr>
        <p:txBody>
          <a:bodyPr rtlCol="0" anchor="ctr"/>
          <a:lstStyle/>
          <a:p>
            <a:pPr algn="ctr"/>
          </a:p>
        </p:txBody>
      </p:sp>
      <p:sp>
        <p:nvSpPr>
          <p:cNvPr id="32" name="Rectangle 31"/>
          <p:cNvSpPr/>
          <p:nvPr/>
        </p:nvSpPr>
        <p:spPr>
          <a:xfrm>
            <a:off x="8112556" y="2194560"/>
            <a:ext cx="1810969" cy="38100"/>
          </a:xfrm>
          <a:prstGeom prst="rect">
            <a:avLst/>
          </a:prstGeom>
          <a:solidFill>
            <a:srgbClr val="01A296"/>
          </a:solidFill>
          <a:ln>
            <a:noFill/>
          </a:ln>
          <a:effectLst/>
        </p:spPr>
        <p:txBody>
          <a:bodyPr rtlCol="0" anchor="ctr"/>
          <a:lstStyle/>
          <a:p>
            <a:pPr algn="ctr"/>
          </a:p>
        </p:txBody>
      </p:sp>
      <p:sp>
        <p:nvSpPr>
          <p:cNvPr id="33" name="TextBox 32"/>
          <p:cNvSpPr txBox="1"/>
          <p:nvPr/>
        </p:nvSpPr>
        <p:spPr>
          <a:xfrm>
            <a:off x="8222284" y="2359152"/>
            <a:ext cx="1591513" cy="502920"/>
          </a:xfrm>
          <a:prstGeom prst="rect">
            <a:avLst/>
          </a:prstGeom>
          <a:noFill/>
        </p:spPr>
        <p:txBody>
          <a:bodyPr wrap="square">
            <a:noAutofit/>
          </a:bodyPr>
          <a:lstStyle/>
          <a:p>
            <a:pPr algn="l"/>
            <a:r>
              <a:rPr sz="2700" b="1" i="0">
                <a:solidFill>
                  <a:srgbClr val="F8C806"/>
                </a:solidFill>
                <a:latin typeface="Cambria"/>
              </a:rPr>
              <a:t>#1 AU</a:t>
            </a:r>
          </a:p>
        </p:txBody>
      </p:sp>
      <p:sp>
        <p:nvSpPr>
          <p:cNvPr id="34" name="TextBox 33"/>
          <p:cNvSpPr txBox="1"/>
          <p:nvPr/>
        </p:nvSpPr>
        <p:spPr>
          <a:xfrm>
            <a:off x="8222284"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MSP 501 Australia rank</a:t>
            </a:r>
          </a:p>
        </p:txBody>
      </p:sp>
      <p:sp>
        <p:nvSpPr>
          <p:cNvPr id="35" name="TextBox 34"/>
          <p:cNvSpPr txBox="1"/>
          <p:nvPr/>
        </p:nvSpPr>
        <p:spPr>
          <a:xfrm>
            <a:off x="8222284" y="3401568"/>
            <a:ext cx="1591513" cy="228600"/>
          </a:xfrm>
          <a:prstGeom prst="rect">
            <a:avLst/>
          </a:prstGeom>
          <a:noFill/>
        </p:spPr>
        <p:txBody>
          <a:bodyPr wrap="square">
            <a:noAutofit/>
          </a:bodyPr>
          <a:lstStyle/>
          <a:p>
            <a:pPr algn="l"/>
            <a:r>
              <a:rPr sz="700" b="0" i="1">
                <a:solidFill>
                  <a:srgbClr val="E6E5DE"/>
                </a:solidFill>
                <a:latin typeface="Calibri"/>
              </a:rPr>
              <a:t>Channel Futures 2026</a:t>
            </a:r>
          </a:p>
        </p:txBody>
      </p:sp>
      <p:sp>
        <p:nvSpPr>
          <p:cNvPr id="36" name="Rectangle 35"/>
          <p:cNvSpPr/>
          <p:nvPr/>
        </p:nvSpPr>
        <p:spPr>
          <a:xfrm>
            <a:off x="10060685" y="2194560"/>
            <a:ext cx="1810969" cy="1463040"/>
          </a:xfrm>
          <a:prstGeom prst="rect">
            <a:avLst/>
          </a:prstGeom>
          <a:solidFill>
            <a:srgbClr val="000000"/>
          </a:solidFill>
          <a:ln>
            <a:noFill/>
          </a:ln>
          <a:effectLst/>
        </p:spPr>
        <p:txBody>
          <a:bodyPr rtlCol="0" anchor="ctr"/>
          <a:lstStyle/>
          <a:p>
            <a:pPr algn="ctr"/>
          </a:p>
        </p:txBody>
      </p:sp>
      <p:sp>
        <p:nvSpPr>
          <p:cNvPr id="37" name="Rectangle 36"/>
          <p:cNvSpPr/>
          <p:nvPr/>
        </p:nvSpPr>
        <p:spPr>
          <a:xfrm>
            <a:off x="10060685" y="2194560"/>
            <a:ext cx="1810969" cy="38100"/>
          </a:xfrm>
          <a:prstGeom prst="rect">
            <a:avLst/>
          </a:prstGeom>
          <a:solidFill>
            <a:srgbClr val="01A296"/>
          </a:solidFill>
          <a:ln>
            <a:noFill/>
          </a:ln>
          <a:effectLst/>
        </p:spPr>
        <p:txBody>
          <a:bodyPr rtlCol="0" anchor="ctr"/>
          <a:lstStyle/>
          <a:p>
            <a:pPr algn="ctr"/>
          </a:p>
        </p:txBody>
      </p:sp>
      <p:sp>
        <p:nvSpPr>
          <p:cNvPr id="38" name="TextBox 37"/>
          <p:cNvSpPr txBox="1"/>
          <p:nvPr/>
        </p:nvSpPr>
        <p:spPr>
          <a:xfrm>
            <a:off x="10170413" y="2359152"/>
            <a:ext cx="1591513" cy="502920"/>
          </a:xfrm>
          <a:prstGeom prst="rect">
            <a:avLst/>
          </a:prstGeom>
          <a:noFill/>
        </p:spPr>
        <p:txBody>
          <a:bodyPr wrap="square">
            <a:noAutofit/>
          </a:bodyPr>
          <a:lstStyle/>
          <a:p>
            <a:pPr algn="l"/>
            <a:r>
              <a:rPr sz="2700" b="1" i="0">
                <a:solidFill>
                  <a:srgbClr val="F8C806"/>
                </a:solidFill>
                <a:latin typeface="Cambria"/>
              </a:rPr>
              <a:t>2019</a:t>
            </a:r>
          </a:p>
        </p:txBody>
      </p:sp>
      <p:sp>
        <p:nvSpPr>
          <p:cNvPr id="39" name="TextBox 38"/>
          <p:cNvSpPr txBox="1"/>
          <p:nvPr/>
        </p:nvSpPr>
        <p:spPr>
          <a:xfrm>
            <a:off x="10170413" y="2907792"/>
            <a:ext cx="1591513" cy="457200"/>
          </a:xfrm>
          <a:prstGeom prst="rect">
            <a:avLst/>
          </a:prstGeom>
          <a:noFill/>
        </p:spPr>
        <p:txBody>
          <a:bodyPr wrap="square">
            <a:noAutofit/>
          </a:bodyPr>
          <a:lstStyle/>
          <a:p>
            <a:pPr algn="l">
              <a:lnSpc>
                <a:spcPct val="100000"/>
              </a:lnSpc>
            </a:pPr>
            <a:r>
              <a:rPr sz="1000" b="0" i="0">
                <a:solidFill>
                  <a:srgbClr val="FFFFFF"/>
                </a:solidFill>
                <a:latin typeface="Calibri"/>
              </a:rPr>
              <a:t>Year founded</a:t>
            </a:r>
          </a:p>
        </p:txBody>
      </p:sp>
      <p:sp>
        <p:nvSpPr>
          <p:cNvPr id="40" name="TextBox 39"/>
          <p:cNvSpPr txBox="1"/>
          <p:nvPr/>
        </p:nvSpPr>
        <p:spPr>
          <a:xfrm>
            <a:off x="10170413" y="3401568"/>
            <a:ext cx="1591513" cy="228600"/>
          </a:xfrm>
          <a:prstGeom prst="rect">
            <a:avLst/>
          </a:prstGeom>
          <a:noFill/>
        </p:spPr>
        <p:txBody>
          <a:bodyPr wrap="square">
            <a:noAutofit/>
          </a:bodyPr>
          <a:lstStyle/>
          <a:p>
            <a:pPr algn="l"/>
            <a:r>
              <a:rPr sz="700" b="0" i="1">
                <a:solidFill>
                  <a:srgbClr val="E6E5DE"/>
                </a:solidFill>
                <a:latin typeface="Calibri"/>
              </a:rPr>
              <a:t>Smart50 2025 citation</a:t>
            </a:r>
          </a:p>
        </p:txBody>
      </p:sp>
      <p:sp>
        <p:nvSpPr>
          <p:cNvPr id="41" name="TextBox 40"/>
          <p:cNvSpPr txBox="1"/>
          <p:nvPr/>
        </p:nvSpPr>
        <p:spPr>
          <a:xfrm>
            <a:off x="320040" y="3886200"/>
            <a:ext cx="5486400" cy="274320"/>
          </a:xfrm>
          <a:prstGeom prst="rect">
            <a:avLst/>
          </a:prstGeom>
          <a:noFill/>
        </p:spPr>
        <p:txBody>
          <a:bodyPr wrap="square">
            <a:noAutofit/>
          </a:bodyPr>
          <a:lstStyle/>
          <a:p>
            <a:pPr algn="l"/>
            <a:r>
              <a:rPr sz="1200" b="1" i="0">
                <a:solidFill>
                  <a:srgbClr val="01A296"/>
                </a:solidFill>
                <a:latin typeface="Calibri"/>
              </a:rPr>
              <a:t>KEY COMMERCIAL SIGNALS</a:t>
            </a:r>
          </a:p>
        </p:txBody>
      </p:sp>
      <p:sp>
        <p:nvSpPr>
          <p:cNvPr id="42" name="TextBox 41"/>
          <p:cNvSpPr txBox="1"/>
          <p:nvPr/>
        </p:nvSpPr>
        <p:spPr>
          <a:xfrm>
            <a:off x="320040" y="4206240"/>
            <a:ext cx="11521440" cy="2148840"/>
          </a:xfrm>
          <a:prstGeom prst="rect">
            <a:avLst/>
          </a:prstGeom>
          <a:noFill/>
        </p:spPr>
        <p:txBody>
          <a:bodyPr wrap="square">
            <a:spAutoFit/>
          </a:bodyPr>
          <a:lstStyle/>
          <a:p>
            <a:pPr algn="l">
              <a:lnSpc>
                <a:spcPct val="105000"/>
              </a:lnSpc>
              <a:spcAft>
                <a:spcPts val="1000"/>
              </a:spcAft>
            </a:pPr>
            <a:r>
              <a:rPr sz="1200" b="0" i="0">
                <a:solidFill>
                  <a:srgbClr val="000000"/>
                </a:solidFill>
                <a:latin typeface="Calibri"/>
              </a:rPr>
              <a:t>Ranked 29th, Smart50 2025, revenue $6.6M, 42% three year growth (SmartCompany, Nov 2025)</a:t>
            </a:r>
          </a:p>
          <a:p>
            <a:pPr algn="l">
              <a:lnSpc>
                <a:spcPct val="105000"/>
              </a:lnSpc>
              <a:spcAft>
                <a:spcPts val="1000"/>
              </a:spcAft>
            </a:pPr>
            <a:r>
              <a:rPr sz="1200" b="0" i="0">
                <a:solidFill>
                  <a:srgbClr val="000000"/>
                </a:solidFill>
                <a:latin typeface="Calibri"/>
              </a:rPr>
              <a:t>Named #1 Australian MSP, #69 globally, 2026 Channel Futures MSP 501 (Channel Futures, 2026)</a:t>
            </a:r>
          </a:p>
          <a:p>
            <a:pPr algn="l">
              <a:lnSpc>
                <a:spcPct val="105000"/>
              </a:lnSpc>
              <a:spcAft>
                <a:spcPts val="1000"/>
              </a:spcAft>
            </a:pPr>
            <a:r>
              <a:rPr sz="1200" b="0" i="0">
                <a:solidFill>
                  <a:srgbClr val="000000"/>
                </a:solidFill>
                <a:latin typeface="Calibri"/>
              </a:rPr>
              <a:t>36 staff on a utilisation based delivery model (Smart50 2025 award citation)</a:t>
            </a:r>
          </a:p>
          <a:p>
            <a:pPr algn="l">
              <a:lnSpc>
                <a:spcPct val="105000"/>
              </a:lnSpc>
              <a:spcAft>
                <a:spcPts val="1000"/>
              </a:spcAft>
            </a:pPr>
            <a:r>
              <a:rPr sz="1200" b="0" i="0">
                <a:solidFill>
                  <a:srgbClr val="000000"/>
                </a:solidFill>
                <a:latin typeface="Calibri"/>
              </a:rPr>
              <a:t>Built without external investors, has avoided pursuing mergers (Smart50 2025 coverage)</a:t>
            </a:r>
          </a:p>
          <a:p>
            <a:pPr algn="l">
              <a:lnSpc>
                <a:spcPct val="105000"/>
              </a:lnSpc>
              <a:spcAft>
                <a:spcPts val="1000"/>
              </a:spcAft>
            </a:pPr>
            <a:r>
              <a:rPr sz="1200" b="0" i="0">
                <a:solidFill>
                  <a:srgbClr val="000000"/>
                </a:solidFill>
                <a:latin typeface="Calibri"/>
              </a:rPr>
              <a:t>Founded 2019, Mount Waverley VIC, about 17km from Melbourne CBD (company site, directories)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182880"/>
            <a:ext cx="7315200" cy="320040"/>
          </a:xfrm>
          <a:prstGeom prst="rect">
            <a:avLst/>
          </a:prstGeom>
          <a:noFill/>
        </p:spPr>
        <p:txBody>
          <a:bodyPr wrap="square">
            <a:noAutofit/>
          </a:bodyPr>
          <a:lstStyle/>
          <a:p>
            <a:pPr algn="l"/>
            <a:r>
              <a:rPr sz="1200" b="1" i="0">
                <a:solidFill>
                  <a:srgbClr val="E6E5DE"/>
                </a:solidFill>
                <a:latin typeface="Calibri"/>
              </a:rPr>
              <a:t>THE OPPORTUNITY</a:t>
            </a:r>
          </a:p>
        </p:txBody>
      </p:sp>
      <p:sp>
        <p:nvSpPr>
          <p:cNvPr id="5" name="TextBox 4"/>
          <p:cNvSpPr txBox="1"/>
          <p:nvPr/>
        </p:nvSpPr>
        <p:spPr>
          <a:xfrm>
            <a:off x="320040" y="484632"/>
            <a:ext cx="8686800" cy="320040"/>
          </a:xfrm>
          <a:prstGeom prst="rect">
            <a:avLst/>
          </a:prstGeom>
          <a:noFill/>
        </p:spPr>
        <p:txBody>
          <a:bodyPr wrap="square">
            <a:noAutofit/>
          </a:bodyPr>
          <a:lstStyle/>
          <a:p>
            <a:pPr algn="l"/>
            <a:r>
              <a:rPr sz="1100" b="0" i="0">
                <a:solidFill>
                  <a:srgbClr val="01A296"/>
                </a:solidFill>
                <a:latin typeface="Calibri"/>
              </a:rPr>
              <a:t>Affinity MSP: three commercial observations from ProfitPulse</a:t>
            </a:r>
          </a:p>
        </p:txBody>
      </p:sp>
      <p:sp>
        <p:nvSpPr>
          <p:cNvPr id="6" name="TextBox 5"/>
          <p:cNvSpPr txBox="1"/>
          <p:nvPr/>
        </p:nvSpPr>
        <p:spPr>
          <a:xfrm>
            <a:off x="8229600" y="292608"/>
            <a:ext cx="3657600" cy="365760"/>
          </a:xfrm>
          <a:prstGeom prst="rect">
            <a:avLst/>
          </a:prstGeom>
          <a:noFill/>
        </p:spPr>
        <p:txBody>
          <a:bodyPr wrap="square">
            <a:noAutofit/>
          </a:bodyPr>
          <a:lstStyle/>
          <a:p>
            <a:pPr algn="r"/>
            <a:r>
              <a:rPr sz="1300" b="1" i="0">
                <a:solidFill>
                  <a:srgbClr val="01A296"/>
                </a:solidFill>
                <a:latin typeface="Calibri"/>
              </a:rPr>
              <a:t>PROFITPULSE</a:t>
            </a:r>
          </a:p>
        </p:txBody>
      </p:sp>
      <p:sp>
        <p:nvSpPr>
          <p:cNvPr id="7" name="Rectangle 6"/>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8" name="TextBox 7"/>
          <p:cNvSpPr txBox="1"/>
          <p:nvPr/>
        </p:nvSpPr>
        <p:spPr>
          <a:xfrm>
            <a:off x="320040" y="649224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9" name="TextBox 8"/>
          <p:cNvSpPr txBox="1"/>
          <p:nvPr/>
        </p:nvSpPr>
        <p:spPr>
          <a:xfrm>
            <a:off x="9601200" y="6492240"/>
            <a:ext cx="2240280" cy="274320"/>
          </a:xfrm>
          <a:prstGeom prst="rect">
            <a:avLst/>
          </a:prstGeom>
          <a:noFill/>
        </p:spPr>
        <p:txBody>
          <a:bodyPr wrap="square">
            <a:noAutofit/>
          </a:bodyPr>
          <a:lstStyle/>
          <a:p>
            <a:pPr algn="r"/>
            <a:r>
              <a:rPr sz="800" b="0" i="0">
                <a:solidFill>
                  <a:srgbClr val="000000"/>
                </a:solidFill>
                <a:latin typeface="Calibri"/>
              </a:rPr>
              <a:t>27 Aug 2026</a:t>
            </a:r>
          </a:p>
        </p:txBody>
      </p:sp>
      <p:sp>
        <p:nvSpPr>
          <p:cNvPr id="10" name="Rectangle 9"/>
          <p:cNvSpPr/>
          <p:nvPr/>
        </p:nvSpPr>
        <p:spPr>
          <a:xfrm>
            <a:off x="320040" y="1097280"/>
            <a:ext cx="3777386" cy="4434840"/>
          </a:xfrm>
          <a:prstGeom prst="rect">
            <a:avLst/>
          </a:prstGeom>
          <a:solidFill>
            <a:srgbClr val="01A296"/>
          </a:solidFill>
          <a:ln>
            <a:noFill/>
          </a:ln>
          <a:effectLst/>
        </p:spPr>
        <p:txBody>
          <a:bodyPr rtlCol="0" anchor="ctr"/>
          <a:lstStyle/>
          <a:p>
            <a:pPr algn="ctr"/>
          </a:p>
        </p:txBody>
      </p:sp>
      <p:sp>
        <p:nvSpPr>
          <p:cNvPr id="11" name="TextBox 10"/>
          <p:cNvSpPr txBox="1"/>
          <p:nvPr/>
        </p:nvSpPr>
        <p:spPr>
          <a:xfrm>
            <a:off x="548640" y="1280160"/>
            <a:ext cx="3320186" cy="640080"/>
          </a:xfrm>
          <a:prstGeom prst="rect">
            <a:avLst/>
          </a:prstGeom>
          <a:noFill/>
        </p:spPr>
        <p:txBody>
          <a:bodyPr wrap="square">
            <a:noAutofit/>
          </a:bodyPr>
          <a:lstStyle/>
          <a:p>
            <a:pPr algn="l"/>
            <a:r>
              <a:rPr sz="3000" b="1" i="0">
                <a:solidFill>
                  <a:srgbClr val="000000"/>
                </a:solidFill>
                <a:latin typeface="Cambria"/>
              </a:rPr>
              <a:t>01</a:t>
            </a:r>
          </a:p>
        </p:txBody>
      </p:sp>
      <p:sp>
        <p:nvSpPr>
          <p:cNvPr id="12" name="TextBox 11"/>
          <p:cNvSpPr txBox="1"/>
          <p:nvPr/>
        </p:nvSpPr>
        <p:spPr>
          <a:xfrm>
            <a:off x="548640" y="2011680"/>
            <a:ext cx="3320186" cy="822960"/>
          </a:xfrm>
          <a:prstGeom prst="rect">
            <a:avLst/>
          </a:prstGeom>
          <a:noFill/>
        </p:spPr>
        <p:txBody>
          <a:bodyPr wrap="square">
            <a:noAutofit/>
          </a:bodyPr>
          <a:lstStyle/>
          <a:p>
            <a:pPr algn="l">
              <a:lnSpc>
                <a:spcPct val="105000"/>
              </a:lnSpc>
            </a:pPr>
            <a:r>
              <a:rPr sz="1500" b="1" i="0">
                <a:solidFill>
                  <a:srgbClr val="000000"/>
                </a:solidFill>
                <a:latin typeface="Cambria"/>
              </a:rPr>
              <a:t>Growth is outrunning utilisation visibility</a:t>
            </a:r>
          </a:p>
        </p:txBody>
      </p:sp>
      <p:sp>
        <p:nvSpPr>
          <p:cNvPr id="13" name="TextBox 12"/>
          <p:cNvSpPr txBox="1"/>
          <p:nvPr/>
        </p:nvSpPr>
        <p:spPr>
          <a:xfrm>
            <a:off x="548640" y="2880360"/>
            <a:ext cx="3320186" cy="2514600"/>
          </a:xfrm>
          <a:prstGeom prst="rect">
            <a:avLst/>
          </a:prstGeom>
          <a:noFill/>
        </p:spPr>
        <p:txBody>
          <a:bodyPr wrap="square">
            <a:noAutofit/>
          </a:bodyPr>
          <a:lstStyle/>
          <a:p>
            <a:pPr algn="l">
              <a:lnSpc>
                <a:spcPct val="115000"/>
              </a:lnSpc>
            </a:pPr>
            <a:r>
              <a:rPr sz="1050" b="0" i="0">
                <a:solidFill>
                  <a:srgbClr val="000000"/>
                </a:solidFill>
                <a:latin typeface="Calibri"/>
              </a:rPr>
              <a:t>Affinity MSP has grown headcount to 36 while lifting revenue 42 percent over three years, and has just been named the top ranked Australian provider on the 2026 MSP 501 index. In a utilisation based model, that pace of hiring makes it easy for billable mix to drift lower before anyone notices.</a:t>
            </a:r>
          </a:p>
        </p:txBody>
      </p:sp>
      <p:sp>
        <p:nvSpPr>
          <p:cNvPr id="14" name="Rectangle 13"/>
          <p:cNvSpPr/>
          <p:nvPr/>
        </p:nvSpPr>
        <p:spPr>
          <a:xfrm>
            <a:off x="4207154" y="1097280"/>
            <a:ext cx="3777386" cy="4434840"/>
          </a:xfrm>
          <a:prstGeom prst="rect">
            <a:avLst/>
          </a:prstGeom>
          <a:solidFill>
            <a:srgbClr val="000000"/>
          </a:solidFill>
          <a:ln>
            <a:noFill/>
          </a:ln>
          <a:effectLst/>
        </p:spPr>
        <p:txBody>
          <a:bodyPr rtlCol="0" anchor="ctr"/>
          <a:lstStyle/>
          <a:p>
            <a:pPr algn="ctr"/>
          </a:p>
        </p:txBody>
      </p:sp>
      <p:sp>
        <p:nvSpPr>
          <p:cNvPr id="15" name="TextBox 14"/>
          <p:cNvSpPr txBox="1"/>
          <p:nvPr/>
        </p:nvSpPr>
        <p:spPr>
          <a:xfrm>
            <a:off x="4435754" y="1280160"/>
            <a:ext cx="3320186" cy="640080"/>
          </a:xfrm>
          <a:prstGeom prst="rect">
            <a:avLst/>
          </a:prstGeom>
          <a:noFill/>
        </p:spPr>
        <p:txBody>
          <a:bodyPr wrap="square">
            <a:noAutofit/>
          </a:bodyPr>
          <a:lstStyle/>
          <a:p>
            <a:pPr algn="l"/>
            <a:r>
              <a:rPr sz="3000" b="1" i="0">
                <a:solidFill>
                  <a:srgbClr val="F8C806"/>
                </a:solidFill>
                <a:latin typeface="Cambria"/>
              </a:rPr>
              <a:t>02</a:t>
            </a:r>
          </a:p>
        </p:txBody>
      </p:sp>
      <p:sp>
        <p:nvSpPr>
          <p:cNvPr id="16" name="TextBox 15"/>
          <p:cNvSpPr txBox="1"/>
          <p:nvPr/>
        </p:nvSpPr>
        <p:spPr>
          <a:xfrm>
            <a:off x="4435754" y="2011680"/>
            <a:ext cx="3320186" cy="822960"/>
          </a:xfrm>
          <a:prstGeom prst="rect">
            <a:avLst/>
          </a:prstGeom>
          <a:noFill/>
        </p:spPr>
        <p:txBody>
          <a:bodyPr wrap="square">
            <a:noAutofit/>
          </a:bodyPr>
          <a:lstStyle/>
          <a:p>
            <a:pPr algn="l">
              <a:lnSpc>
                <a:spcPct val="105000"/>
              </a:lnSpc>
            </a:pPr>
            <a:r>
              <a:rPr sz="1500" b="1" i="0">
                <a:solidFill>
                  <a:srgbClr val="FFFFFF"/>
                </a:solidFill>
                <a:latin typeface="Cambria"/>
              </a:rPr>
              <a:t>A bootstrapped model concentrates financial risk</a:t>
            </a:r>
          </a:p>
        </p:txBody>
      </p:sp>
      <p:sp>
        <p:nvSpPr>
          <p:cNvPr id="17" name="TextBox 16"/>
          <p:cNvSpPr txBox="1"/>
          <p:nvPr/>
        </p:nvSpPr>
        <p:spPr>
          <a:xfrm>
            <a:off x="4435754" y="2880360"/>
            <a:ext cx="3320186" cy="2514600"/>
          </a:xfrm>
          <a:prstGeom prst="rect">
            <a:avLst/>
          </a:prstGeom>
          <a:noFill/>
        </p:spPr>
        <p:txBody>
          <a:bodyPr wrap="square">
            <a:noAutofit/>
          </a:bodyPr>
          <a:lstStyle/>
          <a:p>
            <a:pPr algn="l">
              <a:lnSpc>
                <a:spcPct val="115000"/>
              </a:lnSpc>
            </a:pPr>
            <a:r>
              <a:rPr sz="1050" b="0" i="0">
                <a:solidFill>
                  <a:srgbClr val="FFFFFF"/>
                </a:solidFill>
                <a:latin typeface="Calibri"/>
              </a:rPr>
              <a:t>The business has grown without external investors and has reportedly chosen not to pursue mergers, protecting its independence. That discipline is admirable, but every capital and pricing decision runs through a founder led team with no dedicated finance function testing the numbers independently.</a:t>
            </a:r>
          </a:p>
        </p:txBody>
      </p:sp>
      <p:sp>
        <p:nvSpPr>
          <p:cNvPr id="18" name="Rectangle 17"/>
          <p:cNvSpPr/>
          <p:nvPr/>
        </p:nvSpPr>
        <p:spPr>
          <a:xfrm>
            <a:off x="8094268" y="1097280"/>
            <a:ext cx="3777386" cy="4434840"/>
          </a:xfrm>
          <a:prstGeom prst="rect">
            <a:avLst/>
          </a:prstGeom>
          <a:solidFill>
            <a:srgbClr val="E3A712"/>
          </a:solidFill>
          <a:ln>
            <a:noFill/>
          </a:ln>
          <a:effectLst/>
        </p:spPr>
        <p:txBody>
          <a:bodyPr rtlCol="0" anchor="ctr"/>
          <a:lstStyle/>
          <a:p>
            <a:pPr algn="ctr"/>
          </a:p>
        </p:txBody>
      </p:sp>
      <p:sp>
        <p:nvSpPr>
          <p:cNvPr id="19" name="TextBox 18"/>
          <p:cNvSpPr txBox="1"/>
          <p:nvPr/>
        </p:nvSpPr>
        <p:spPr>
          <a:xfrm>
            <a:off x="8322868" y="1280160"/>
            <a:ext cx="3320186" cy="640080"/>
          </a:xfrm>
          <a:prstGeom prst="rect">
            <a:avLst/>
          </a:prstGeom>
          <a:noFill/>
        </p:spPr>
        <p:txBody>
          <a:bodyPr wrap="square">
            <a:noAutofit/>
          </a:bodyPr>
          <a:lstStyle/>
          <a:p>
            <a:pPr algn="l"/>
            <a:r>
              <a:rPr sz="3000" b="1" i="0">
                <a:solidFill>
                  <a:srgbClr val="000000"/>
                </a:solidFill>
                <a:latin typeface="Cambria"/>
              </a:rPr>
              <a:t>03</a:t>
            </a:r>
          </a:p>
        </p:txBody>
      </p:sp>
      <p:sp>
        <p:nvSpPr>
          <p:cNvPr id="20" name="TextBox 19"/>
          <p:cNvSpPr txBox="1"/>
          <p:nvPr/>
        </p:nvSpPr>
        <p:spPr>
          <a:xfrm>
            <a:off x="8322868" y="2011680"/>
            <a:ext cx="3320186" cy="822960"/>
          </a:xfrm>
          <a:prstGeom prst="rect">
            <a:avLst/>
          </a:prstGeom>
          <a:noFill/>
        </p:spPr>
        <p:txBody>
          <a:bodyPr wrap="square">
            <a:noAutofit/>
          </a:bodyPr>
          <a:lstStyle/>
          <a:p>
            <a:pPr algn="l">
              <a:lnSpc>
                <a:spcPct val="105000"/>
              </a:lnSpc>
            </a:pPr>
            <a:r>
              <a:rPr sz="1500" b="1" i="0">
                <a:solidFill>
                  <a:srgbClr val="000000"/>
                </a:solidFill>
                <a:latin typeface="Cambria"/>
              </a:rPr>
              <a:t>External recognition should now trigger internal rigour</a:t>
            </a:r>
          </a:p>
        </p:txBody>
      </p:sp>
      <p:sp>
        <p:nvSpPr>
          <p:cNvPr id="21" name="TextBox 20"/>
          <p:cNvSpPr txBox="1"/>
          <p:nvPr/>
        </p:nvSpPr>
        <p:spPr>
          <a:xfrm>
            <a:off x="8322868" y="2880360"/>
            <a:ext cx="3320186" cy="2514600"/>
          </a:xfrm>
          <a:prstGeom prst="rect">
            <a:avLst/>
          </a:prstGeom>
          <a:noFill/>
        </p:spPr>
        <p:txBody>
          <a:bodyPr wrap="square">
            <a:noAutofit/>
          </a:bodyPr>
          <a:lstStyle/>
          <a:p>
            <a:pPr algn="l">
              <a:lnSpc>
                <a:spcPct val="115000"/>
              </a:lnSpc>
            </a:pPr>
            <a:r>
              <a:rPr sz="1050" b="0" i="0">
                <a:solidFill>
                  <a:srgbClr val="000000"/>
                </a:solidFill>
                <a:latin typeface="Calibri"/>
              </a:rPr>
              <a:t>Two award programs in twelve months, Smart50 nationally and MSP 501 globally, have validated growth and operational depth to outsiders. The next test is whether revenue per technician, capacity headroom, and margin by client are tracked with the same rigour the judges applied.</a:t>
            </a:r>
          </a:p>
        </p:txBody>
      </p:sp>
      <p:sp>
        <p:nvSpPr>
          <p:cNvPr id="22" name="TextBox 21"/>
          <p:cNvSpPr txBox="1"/>
          <p:nvPr/>
        </p:nvSpPr>
        <p:spPr>
          <a:xfrm>
            <a:off x="320040" y="5623560"/>
            <a:ext cx="11521440" cy="685800"/>
          </a:xfrm>
          <a:prstGeom prst="rect">
            <a:avLst/>
          </a:prstGeom>
          <a:noFill/>
        </p:spPr>
        <p:txBody>
          <a:bodyPr wrap="square">
            <a:noAutofit/>
          </a:bodyPr>
          <a:lstStyle/>
          <a:p>
            <a:pPr algn="l">
              <a:lnSpc>
                <a:spcPct val="110000"/>
              </a:lnSpc>
            </a:pPr>
            <a:r>
              <a:rPr sz="1100" b="0" i="1">
                <a:solidFill>
                  <a:srgbClr val="000000"/>
                </a:solidFill>
                <a:latin typeface="Calibri"/>
              </a:rPr>
              <a:t>These are observations offered in good faith. The business has built something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Calibri"/>
              </a:rPr>
              <a:t>THE RECOMMENDATION</a:t>
            </a:r>
          </a:p>
        </p:txBody>
      </p:sp>
      <p:sp>
        <p:nvSpPr>
          <p:cNvPr id="5" name="TextBox 4"/>
          <p:cNvSpPr txBox="1"/>
          <p:nvPr/>
        </p:nvSpPr>
        <p:spPr>
          <a:xfrm>
            <a:off x="8229600" y="292608"/>
            <a:ext cx="3657600" cy="365760"/>
          </a:xfrm>
          <a:prstGeom prst="rect">
            <a:avLst/>
          </a:prstGeom>
          <a:noFill/>
        </p:spPr>
        <p:txBody>
          <a:bodyPr wrap="square">
            <a:noAutofit/>
          </a:bodyPr>
          <a:lstStyle/>
          <a:p>
            <a:pPr algn="r"/>
            <a:r>
              <a:rPr sz="1300" b="1" i="0">
                <a:solidFill>
                  <a:srgbClr val="01A296"/>
                </a:solidFill>
                <a:latin typeface="Calibri"/>
              </a:rPr>
              <a:t>PROFITPULSE</a:t>
            </a:r>
          </a:p>
        </p:txBody>
      </p:sp>
      <p:sp>
        <p:nvSpPr>
          <p:cNvPr id="6" name="Rectangle 5"/>
          <p:cNvSpPr/>
          <p:nvPr/>
        </p:nvSpPr>
        <p:spPr>
          <a:xfrm>
            <a:off x="320040" y="6446520"/>
            <a:ext cx="11521440" cy="9525"/>
          </a:xfrm>
          <a:prstGeom prst="rect">
            <a:avLst/>
          </a:prstGeom>
          <a:solidFill>
            <a:srgbClr val="01A296"/>
          </a:solidFill>
          <a:ln>
            <a:noFill/>
          </a:ln>
          <a:effectLst/>
        </p:spPr>
        <p:txBody>
          <a:bodyPr rtlCol="0" anchor="ctr"/>
          <a:lstStyle/>
          <a:p>
            <a:pPr algn="ctr"/>
          </a:p>
        </p:txBody>
      </p:sp>
      <p:sp>
        <p:nvSpPr>
          <p:cNvPr id="7" name="TextBox 6"/>
          <p:cNvSpPr txBox="1"/>
          <p:nvPr/>
        </p:nvSpPr>
        <p:spPr>
          <a:xfrm>
            <a:off x="320040" y="649224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92240"/>
            <a:ext cx="2240280" cy="274320"/>
          </a:xfrm>
          <a:prstGeom prst="rect">
            <a:avLst/>
          </a:prstGeom>
          <a:noFill/>
        </p:spPr>
        <p:txBody>
          <a:bodyPr wrap="square">
            <a:noAutofit/>
          </a:bodyPr>
          <a:lstStyle/>
          <a:p>
            <a:pPr algn="r"/>
            <a:r>
              <a:rPr sz="800" b="0" i="0">
                <a:solidFill>
                  <a:srgbClr val="000000"/>
                </a:solidFill>
                <a:latin typeface="Calibri"/>
              </a:rPr>
              <a:t>27 Aug 2026</a:t>
            </a:r>
          </a:p>
        </p:txBody>
      </p:sp>
      <p:sp>
        <p:nvSpPr>
          <p:cNvPr id="9" name="TextBox 8"/>
          <p:cNvSpPr txBox="1"/>
          <p:nvPr/>
        </p:nvSpPr>
        <p:spPr>
          <a:xfrm>
            <a:off x="320040" y="1051560"/>
            <a:ext cx="6949440" cy="868680"/>
          </a:xfrm>
          <a:prstGeom prst="rect">
            <a:avLst/>
          </a:prstGeom>
          <a:noFill/>
        </p:spPr>
        <p:txBody>
          <a:bodyPr wrap="square">
            <a:noAutofit/>
          </a:bodyPr>
          <a:lstStyle/>
          <a:p>
            <a:pPr algn="l">
              <a:lnSpc>
                <a:spcPct val="105000"/>
              </a:lnSpc>
            </a:pPr>
            <a:r>
              <a:rPr sz="2100" b="1" i="0">
                <a:solidFill>
                  <a:srgbClr val="000000"/>
                </a:solidFill>
                <a:latin typeface="Cambria"/>
              </a:rPr>
              <a:t>Workforce Capacity and Utilisation Review</a:t>
            </a:r>
          </a:p>
        </p:txBody>
      </p:sp>
      <p:sp>
        <p:nvSpPr>
          <p:cNvPr id="10" name="TextBox 9"/>
          <p:cNvSpPr txBox="1"/>
          <p:nvPr/>
        </p:nvSpPr>
        <p:spPr>
          <a:xfrm>
            <a:off x="320040" y="1993392"/>
            <a:ext cx="6949440" cy="365760"/>
          </a:xfrm>
          <a:prstGeom prst="rect">
            <a:avLst/>
          </a:prstGeom>
          <a:noFill/>
        </p:spPr>
        <p:txBody>
          <a:bodyPr wrap="square">
            <a:noAutofit/>
          </a:bodyPr>
          <a:lstStyle/>
          <a:p>
            <a:pPr algn="l"/>
            <a:r>
              <a:rPr sz="1600" b="1" i="0">
                <a:solidFill>
                  <a:srgbClr val="01A296"/>
                </a:solidFill>
                <a:latin typeface="Calibri"/>
              </a:rPr>
              <a:t>$3,950 one off</a:t>
            </a:r>
          </a:p>
        </p:txBody>
      </p:sp>
      <p:sp>
        <p:nvSpPr>
          <p:cNvPr id="11" name="TextBox 10"/>
          <p:cNvSpPr txBox="1"/>
          <p:nvPr/>
        </p:nvSpPr>
        <p:spPr>
          <a:xfrm>
            <a:off x="320040" y="2395728"/>
            <a:ext cx="6949440" cy="594360"/>
          </a:xfrm>
          <a:prstGeom prst="rect">
            <a:avLst/>
          </a:prstGeom>
          <a:noFill/>
        </p:spPr>
        <p:txBody>
          <a:bodyPr wrap="square">
            <a:noAutofit/>
          </a:bodyPr>
          <a:lstStyle/>
          <a:p>
            <a:pPr algn="l">
              <a:lnSpc>
                <a:spcPct val="115000"/>
              </a:lnSpc>
            </a:pPr>
            <a:r>
              <a:rPr sz="1200" b="0" i="0">
                <a:solidFill>
                  <a:srgbClr val="000000"/>
                </a:solidFill>
                <a:latin typeface="Calibri"/>
              </a:rPr>
              <a:t>A four week review of billable mix, revenue per technician, and capacity headroom, so the next hire lands exactly where growth needs it.</a:t>
            </a:r>
          </a:p>
        </p:txBody>
      </p:sp>
      <p:sp>
        <p:nvSpPr>
          <p:cNvPr id="12" name="Rectangle 11"/>
          <p:cNvSpPr/>
          <p:nvPr/>
        </p:nvSpPr>
        <p:spPr>
          <a:xfrm>
            <a:off x="320040" y="3108960"/>
            <a:ext cx="6949440" cy="1188720"/>
          </a:xfrm>
          <a:prstGeom prst="rect">
            <a:avLst/>
          </a:prstGeom>
          <a:solidFill>
            <a:srgbClr val="E6E5DE"/>
          </a:solidFill>
          <a:ln>
            <a:noFill/>
          </a:ln>
          <a:effectLst/>
        </p:spPr>
        <p:txBody>
          <a:bodyPr rtlCol="0" anchor="ctr"/>
          <a:lstStyle/>
          <a:p>
            <a:pPr algn="ctr"/>
          </a:p>
        </p:txBody>
      </p:sp>
      <p:sp>
        <p:nvSpPr>
          <p:cNvPr id="13" name="TextBox 12"/>
          <p:cNvSpPr txBox="1"/>
          <p:nvPr/>
        </p:nvSpPr>
        <p:spPr>
          <a:xfrm>
            <a:off x="502920" y="3246120"/>
            <a:ext cx="6583680" cy="320040"/>
          </a:xfrm>
          <a:prstGeom prst="rect">
            <a:avLst/>
          </a:prstGeom>
          <a:noFill/>
        </p:spPr>
        <p:txBody>
          <a:bodyPr wrap="square">
            <a:noAutofit/>
          </a:bodyPr>
          <a:lstStyle/>
          <a:p>
            <a:pPr algn="l"/>
            <a:r>
              <a:rPr sz="1300" b="1" i="0">
                <a:solidFill>
                  <a:srgbClr val="000000"/>
                </a:solidFill>
                <a:latin typeface="Calibri"/>
              </a:rPr>
              <a:t>Step one, answer a few quick questions</a:t>
            </a:r>
          </a:p>
        </p:txBody>
      </p:sp>
      <p:sp>
        <p:nvSpPr>
          <p:cNvPr id="14" name="TextBox 13"/>
          <p:cNvSpPr txBox="1"/>
          <p:nvPr/>
        </p:nvSpPr>
        <p:spPr>
          <a:xfrm>
            <a:off x="502920" y="3584448"/>
            <a:ext cx="6583680" cy="320040"/>
          </a:xfrm>
          <a:prstGeom prst="rect">
            <a:avLst/>
          </a:prstGeom>
          <a:noFill/>
        </p:spPr>
        <p:txBody>
          <a:bodyPr wrap="square">
            <a:noAutofit/>
          </a:bodyPr>
          <a:lstStyle/>
          <a:p>
            <a:pPr algn="l"/>
            <a:r>
              <a:rPr sz="1100" b="0" i="0">
                <a:solidFill>
                  <a:srgbClr val="000000"/>
                </a:solidFill>
                <a:latin typeface="Calibri"/>
              </a:rPr>
              <a:t>See the solutions matched to your size and industry.</a:t>
            </a:r>
          </a:p>
        </p:txBody>
      </p:sp>
      <p:sp>
        <p:nvSpPr>
          <p:cNvPr id="15" name="TextBox 14"/>
          <p:cNvSpPr txBox="1"/>
          <p:nvPr/>
        </p:nvSpPr>
        <p:spPr>
          <a:xfrm>
            <a:off x="502920" y="3913632"/>
            <a:ext cx="6583680" cy="320040"/>
          </a:xfrm>
          <a:prstGeom prst="rect">
            <a:avLst/>
          </a:prstGeom>
          <a:noFill/>
        </p:spPr>
        <p:txBody>
          <a:bodyPr wrap="square">
            <a:noAutofit/>
          </a:bodyPr>
          <a:lstStyle/>
          <a:p>
            <a:pPr algn="l"/>
            <a:r>
              <a:rPr sz="1200" b="1" i="0">
                <a:solidFill>
                  <a:srgbClr val="01A296"/>
                </a:solidFill>
                <a:latin typeface="Calibri"/>
              </a:rPr>
              <a:t>profit-pulse.com.au/services/find-your-fit</a:t>
            </a:r>
          </a:p>
        </p:txBody>
      </p:sp>
      <p:sp>
        <p:nvSpPr>
          <p:cNvPr id="16" name="Rectangle 15">
            <a:hlinkClick r:id="rId2"/>
          </p:cNvPr>
          <p:cNvSpPr/>
          <p:nvPr/>
        </p:nvSpPr>
        <p:spPr>
          <a:xfrm>
            <a:off x="502920" y="3913632"/>
            <a:ext cx="384048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a:hlinkClick r:id="rId3"/>
          </p:cNvPr>
          <p:cNvSpPr/>
          <p:nvPr/>
        </p:nvSpPr>
        <p:spPr>
          <a:xfrm>
            <a:off x="320040" y="4526280"/>
            <a:ext cx="5669280" cy="457200"/>
          </a:xfrm>
          <a:prstGeom prst="rect">
            <a:avLst/>
          </a:prstGeom>
          <a:solidFill>
            <a:srgbClr val="F6A102"/>
          </a:solidFill>
          <a:ln>
            <a:noFill/>
          </a:ln>
          <a:effectLst/>
        </p:spPr>
        <p:txBody>
          <a:bodyPr rtlCol="0" anchor="ctr" wrap="none" lIns="25400" rIns="25400"/>
          <a:lstStyle/>
          <a:p>
            <a:pPr algn="ctr"/>
            <a:r>
              <a:rPr sz="1200" b="1">
                <a:solidFill>
                  <a:srgbClr val="000000"/>
                </a:solidFill>
                <a:latin typeface="Calibri"/>
              </a:rPr>
              <a:t>Purchase the suggested product now to get started</a:t>
            </a:r>
          </a:p>
        </p:txBody>
      </p:sp>
      <p:sp>
        <p:nvSpPr>
          <p:cNvPr id="18" name="TextBox 17"/>
          <p:cNvSpPr txBox="1"/>
          <p:nvPr/>
        </p:nvSpPr>
        <p:spPr>
          <a:xfrm>
            <a:off x="320040" y="5212080"/>
            <a:ext cx="6949440" cy="274320"/>
          </a:xfrm>
          <a:prstGeom prst="rect">
            <a:avLst/>
          </a:prstGeom>
          <a:noFill/>
        </p:spPr>
        <p:txBody>
          <a:bodyPr wrap="square">
            <a:noAutofit/>
          </a:bodyPr>
          <a:lstStyle/>
          <a:p>
            <a:pPr algn="l"/>
            <a:r>
              <a:rPr sz="1100" b="0" i="0">
                <a:solidFill>
                  <a:srgbClr val="000000"/>
                </a:solidFill>
                <a:latin typeface="Calibri"/>
              </a:rPr>
              <a:t>Prefer a conversation first?</a:t>
            </a:r>
          </a:p>
        </p:txBody>
      </p:sp>
      <p:sp>
        <p:nvSpPr>
          <p:cNvPr id="19" name="TextBox 18"/>
          <p:cNvSpPr txBox="1"/>
          <p:nvPr/>
        </p:nvSpPr>
        <p:spPr>
          <a:xfrm>
            <a:off x="320040" y="5504688"/>
            <a:ext cx="6949440" cy="320040"/>
          </a:xfrm>
          <a:prstGeom prst="rect">
            <a:avLst/>
          </a:prstGeom>
          <a:noFill/>
        </p:spPr>
        <p:txBody>
          <a:bodyPr wrap="square">
            <a:noAutofit/>
          </a:bodyPr>
          <a:lstStyle/>
          <a:p>
            <a:pPr algn="l"/>
            <a:r>
              <a:rPr sz="1200" b="1" i="0">
                <a:solidFill>
                  <a:srgbClr val="01A296"/>
                </a:solidFill>
                <a:latin typeface="Calibri"/>
              </a:rPr>
              <a:t>Book a complimentary discovery call</a:t>
            </a:r>
          </a:p>
        </p:txBody>
      </p:sp>
      <p:sp>
        <p:nvSpPr>
          <p:cNvPr id="20" name="Rectangle 19">
            <a:hlinkClick r:id="rId4"/>
          </p:cNvPr>
          <p:cNvSpPr/>
          <p:nvPr/>
        </p:nvSpPr>
        <p:spPr>
          <a:xfrm>
            <a:off x="320040" y="5504688"/>
            <a:ext cx="256032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52360" y="1097280"/>
            <a:ext cx="4434840" cy="4892040"/>
          </a:xfrm>
          <a:prstGeom prst="rect">
            <a:avLst/>
          </a:prstGeom>
          <a:solidFill>
            <a:srgbClr val="000000"/>
          </a:solidFill>
          <a:ln>
            <a:noFill/>
          </a:ln>
          <a:effectLst/>
        </p:spPr>
        <p:txBody>
          <a:bodyPr rtlCol="0" anchor="ctr"/>
          <a:lstStyle/>
          <a:p>
            <a:pPr algn="ctr"/>
          </a:p>
        </p:txBody>
      </p:sp>
      <p:sp>
        <p:nvSpPr>
          <p:cNvPr id="22" name="Rectangle 21"/>
          <p:cNvSpPr/>
          <p:nvPr/>
        </p:nvSpPr>
        <p:spPr>
          <a:xfrm>
            <a:off x="7452360" y="1097280"/>
            <a:ext cx="4434840" cy="38100"/>
          </a:xfrm>
          <a:prstGeom prst="rect">
            <a:avLst/>
          </a:prstGeom>
          <a:solidFill>
            <a:srgbClr val="01A296"/>
          </a:solidFill>
          <a:ln>
            <a:noFill/>
          </a:ln>
          <a:effectLst/>
        </p:spPr>
        <p:txBody>
          <a:bodyPr rtlCol="0" anchor="ctr"/>
          <a:lstStyle/>
          <a:p>
            <a:pPr algn="ctr"/>
          </a:p>
        </p:txBody>
      </p:sp>
      <p:sp>
        <p:nvSpPr>
          <p:cNvPr id="23" name="TextBox 22"/>
          <p:cNvSpPr txBox="1"/>
          <p:nvPr/>
        </p:nvSpPr>
        <p:spPr>
          <a:xfrm>
            <a:off x="7680960" y="1325880"/>
            <a:ext cx="3977640" cy="365760"/>
          </a:xfrm>
          <a:prstGeom prst="rect">
            <a:avLst/>
          </a:prstGeom>
          <a:noFill/>
        </p:spPr>
        <p:txBody>
          <a:bodyPr wrap="square">
            <a:noAutofit/>
          </a:bodyPr>
          <a:lstStyle/>
          <a:p>
            <a:pPr algn="l"/>
            <a:r>
              <a:rPr sz="1700" b="1" i="0">
                <a:solidFill>
                  <a:srgbClr val="F8C806"/>
                </a:solidFill>
                <a:latin typeface="Cambria"/>
              </a:rPr>
              <a:t>Nitesh Roopa</a:t>
            </a:r>
          </a:p>
        </p:txBody>
      </p:sp>
      <p:sp>
        <p:nvSpPr>
          <p:cNvPr id="24" name="TextBox 23"/>
          <p:cNvSpPr txBox="1"/>
          <p:nvPr/>
        </p:nvSpPr>
        <p:spPr>
          <a:xfrm>
            <a:off x="7680960" y="1691640"/>
            <a:ext cx="3977640" cy="320040"/>
          </a:xfrm>
          <a:prstGeom prst="rect">
            <a:avLst/>
          </a:prstGeom>
          <a:noFill/>
        </p:spPr>
        <p:txBody>
          <a:bodyPr wrap="square">
            <a:noAutofit/>
          </a:bodyPr>
          <a:lstStyle/>
          <a:p>
            <a:pPr algn="l"/>
            <a:r>
              <a:rPr sz="1150" b="0" i="0">
                <a:solidFill>
                  <a:srgbClr val="FFFFFF"/>
                </a:solidFill>
                <a:latin typeface="Calibri"/>
              </a:rPr>
              <a:t>CA, Managing Partner, ProfitPulse</a:t>
            </a:r>
          </a:p>
        </p:txBody>
      </p:sp>
      <p:sp>
        <p:nvSpPr>
          <p:cNvPr id="25" name="Rectangle 24"/>
          <p:cNvSpPr/>
          <p:nvPr/>
        </p:nvSpPr>
        <p:spPr>
          <a:xfrm>
            <a:off x="7680960" y="2103120"/>
            <a:ext cx="3977640" cy="15875"/>
          </a:xfrm>
          <a:prstGeom prst="rect">
            <a:avLst/>
          </a:prstGeom>
          <a:solidFill>
            <a:srgbClr val="01A296"/>
          </a:solidFill>
          <a:ln>
            <a:noFill/>
          </a:ln>
          <a:effectLst/>
        </p:spPr>
        <p:txBody>
          <a:bodyPr rtlCol="0" anchor="ctr"/>
          <a:lstStyle/>
          <a:p>
            <a:pPr algn="ctr"/>
          </a:p>
        </p:txBody>
      </p:sp>
      <p:sp>
        <p:nvSpPr>
          <p:cNvPr id="26" name="TextBox 25"/>
          <p:cNvSpPr txBox="1"/>
          <p:nvPr/>
        </p:nvSpPr>
        <p:spPr>
          <a:xfrm>
            <a:off x="7680960" y="2286000"/>
            <a:ext cx="3977640" cy="1737360"/>
          </a:xfrm>
          <a:prstGeom prst="rect">
            <a:avLst/>
          </a:prstGeom>
          <a:noFill/>
        </p:spPr>
        <p:txBody>
          <a:bodyPr wrap="square">
            <a:spAutoFit/>
          </a:bodyPr>
          <a:lstStyle/>
          <a:p>
            <a:pPr algn="l">
              <a:lnSpc>
                <a:spcPct val="110000"/>
              </a:lnSpc>
              <a:spcAft>
                <a:spcPts val="800"/>
              </a:spcAft>
            </a:pPr>
            <a:r>
              <a:rPr sz="1050" b="0" i="0">
                <a:solidFill>
                  <a:srgbClr val="E6E5DE"/>
                </a:solidFill>
                <a:latin typeface="Calibri"/>
              </a:rPr>
              <a:t>16 years across 4 countries</a:t>
            </a:r>
          </a:p>
          <a:p>
            <a:pPr algn="l">
              <a:lnSpc>
                <a:spcPct val="110000"/>
              </a:lnSpc>
              <a:spcAft>
                <a:spcPts val="800"/>
              </a:spcAft>
            </a:pPr>
            <a:r>
              <a:rPr sz="1050" b="0" i="0">
                <a:solidFill>
                  <a:srgbClr val="E6E5DE"/>
                </a:solidFill>
                <a:latin typeface="Calibri"/>
              </a:rPr>
              <a:t>52 deals executed and managed</a:t>
            </a:r>
          </a:p>
          <a:p>
            <a:pPr algn="l">
              <a:lnSpc>
                <a:spcPct val="110000"/>
              </a:lnSpc>
              <a:spcAft>
                <a:spcPts val="800"/>
              </a:spcAft>
            </a:pPr>
            <a:r>
              <a:rPr sz="1050" b="0" i="0">
                <a:solidFill>
                  <a:srgbClr val="E6E5DE"/>
                </a:solidFill>
                <a:latin typeface="Calibri"/>
              </a:rPr>
              <a:t>Largest single deal, USD 1.3 billion, Cahora Bassa</a:t>
            </a:r>
          </a:p>
          <a:p>
            <a:pPr algn="l">
              <a:lnSpc>
                <a:spcPct val="110000"/>
              </a:lnSpc>
              <a:spcAft>
                <a:spcPts val="800"/>
              </a:spcAft>
            </a:pPr>
            <a:r>
              <a:rPr sz="1050" b="0" i="0">
                <a:solidFill>
                  <a:srgbClr val="E6E5DE"/>
                </a:solidFill>
                <a:latin typeface="Calibri"/>
              </a:rPr>
              <a:t>Total GRBT project value over AUD 10 billion</a:t>
            </a:r>
          </a:p>
        </p:txBody>
      </p:sp>
      <p:sp>
        <p:nvSpPr>
          <p:cNvPr id="27" name="TextBox 26"/>
          <p:cNvSpPr txBox="1"/>
          <p:nvPr/>
        </p:nvSpPr>
        <p:spPr>
          <a:xfrm>
            <a:off x="7680960" y="4160520"/>
            <a:ext cx="3977640" cy="1645920"/>
          </a:xfrm>
          <a:prstGeom prst="rect">
            <a:avLst/>
          </a:prstGeom>
          <a:noFill/>
        </p:spPr>
        <p:txBody>
          <a:bodyPr wrap="square">
            <a:spAutoFit/>
          </a:bodyPr>
          <a:lstStyle/>
          <a:p>
            <a:pPr algn="l">
              <a:lnSpc>
                <a:spcPct val="110000"/>
              </a:lnSpc>
              <a:spcAft>
                <a:spcPts val="700"/>
              </a:spcAft>
            </a:pPr>
            <a:r>
              <a:rPr sz="1050" b="0" i="0">
                <a:solidFill>
                  <a:srgbClr val="E6E5DE"/>
                </a:solidFill>
                <a:latin typeface="Calibri"/>
              </a:rPr>
              <a:t>Profit-Pulse.com.au</a:t>
            </a:r>
          </a:p>
          <a:p>
            <a:pPr algn="l">
              <a:lnSpc>
                <a:spcPct val="110000"/>
              </a:lnSpc>
              <a:spcAft>
                <a:spcPts val="700"/>
              </a:spcAft>
            </a:pPr>
            <a:r>
              <a:rPr sz="1050" b="0" i="0">
                <a:solidFill>
                  <a:srgbClr val="01A296"/>
                </a:solidFill>
                <a:latin typeface="Calibri"/>
              </a:rPr>
              <a:t>Nitesh@Profit-Pulse.com.au</a:t>
            </a:r>
          </a:p>
          <a:p>
            <a:pPr algn="l">
              <a:lnSpc>
                <a:spcPct val="110000"/>
              </a:lnSpc>
              <a:spcAft>
                <a:spcPts val="700"/>
              </a:spcAft>
            </a:pPr>
            <a:r>
              <a:rPr sz="1050" b="0" i="0">
                <a:solidFill>
                  <a:srgbClr val="E6E5DE"/>
                </a:solidFill>
                <a:latin typeface="Calibri"/>
              </a:rPr>
              <a:t>+61 411 876 267</a:t>
            </a:r>
          </a:p>
          <a:p>
            <a:pPr algn="l">
              <a:lnSpc>
                <a:spcPct val="110000"/>
              </a:lnSpc>
              <a:spcAft>
                <a:spcPts val="700"/>
              </a:spcAft>
            </a:pPr>
            <a:r>
              <a:rPr sz="105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