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uy.stripe.com/eVqdRad9e66cftK23Z3ks0h" TargetMode="External"/><Relationship Id="rId3"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3657600" cy="365760"/>
          </a:xfrm>
          <a:prstGeom prst="rect">
            <a:avLst/>
          </a:prstGeom>
          <a:noFill/>
        </p:spPr>
        <p:txBody>
          <a:bodyPr wrap="square">
            <a:spAutoFit/>
          </a:bodyPr>
          <a:lstStyle/>
          <a:p>
            <a:pPr algn="l"/>
            <a:r>
              <a:rPr sz="900" b="1">
                <a:solidFill>
                  <a:srgbClr val="E6E5DE"/>
                </a:solidFill>
                <a:latin typeface="Calibri"/>
              </a:rPr>
              <a:t>PROSPECT BRIEF</a:t>
            </a:r>
          </a:p>
        </p:txBody>
      </p:sp>
      <p:sp>
        <p:nvSpPr>
          <p:cNvPr id="6" name="TextBox 5"/>
          <p:cNvSpPr txBox="1"/>
          <p:nvPr/>
        </p:nvSpPr>
        <p:spPr>
          <a:xfrm>
            <a:off x="7772400" y="73152"/>
            <a:ext cx="4297680" cy="365760"/>
          </a:xfrm>
          <a:prstGeom prst="rect">
            <a:avLst/>
          </a:prstGeom>
          <a:noFill/>
        </p:spPr>
        <p:txBody>
          <a:bodyPr wrap="square">
            <a:spAutoFit/>
          </a:bodyPr>
          <a:lstStyle/>
          <a:p>
            <a:pPr algn="r"/>
            <a:r>
              <a:rPr sz="900" b="1">
                <a:solidFill>
                  <a:srgbClr val="01A296"/>
                </a:solidFill>
                <a:latin typeface="Calibri"/>
              </a:rPr>
              <a:t>TASKFORCE AUSTRALIA</a:t>
            </a:r>
          </a:p>
        </p:txBody>
      </p:sp>
      <p:sp>
        <p:nvSpPr>
          <p:cNvPr id="7" name="TextBox 6"/>
          <p:cNvSpPr txBox="1"/>
          <p:nvPr/>
        </p:nvSpPr>
        <p:spPr>
          <a:xfrm>
            <a:off x="182880" y="320040"/>
            <a:ext cx="8229600" cy="502920"/>
          </a:xfrm>
          <a:prstGeom prst="rect">
            <a:avLst/>
          </a:prstGeom>
          <a:noFill/>
        </p:spPr>
        <p:txBody>
          <a:bodyPr wrap="square">
            <a:spAutoFit/>
          </a:bodyPr>
          <a:lstStyle/>
          <a:p>
            <a:pPr algn="l"/>
            <a:r>
              <a:rPr sz="2600" b="1">
                <a:solidFill>
                  <a:srgbClr val="FFFFFF"/>
                </a:solidFill>
                <a:latin typeface="Calibri"/>
              </a:rPr>
              <a:t>Taskforce Australia</a:t>
            </a:r>
          </a:p>
        </p:txBody>
      </p:sp>
      <p:sp>
        <p:nvSpPr>
          <p:cNvPr id="8" name="TextBox 7"/>
          <p:cNvSpPr txBox="1"/>
          <p:nvPr/>
        </p:nvSpPr>
        <p:spPr>
          <a:xfrm>
            <a:off x="9601200" y="320040"/>
            <a:ext cx="2468880" cy="502920"/>
          </a:xfrm>
          <a:prstGeom prst="rect">
            <a:avLst/>
          </a:prstGeom>
          <a:noFill/>
        </p:spPr>
        <p:txBody>
          <a:bodyPr wrap="square">
            <a:spAutoFit/>
          </a:bodyPr>
          <a:lstStyle/>
          <a:p>
            <a:pPr algn="r"/>
            <a:r>
              <a:rPr sz="1200" b="0">
                <a:solidFill>
                  <a:srgbClr val="E6E5DE"/>
                </a:solidFill>
                <a:latin typeface="Calibri"/>
              </a:rPr>
              <a:t>12 Jun 2026</a:t>
            </a:r>
          </a:p>
        </p:txBody>
      </p:sp>
      <p:sp>
        <p:nvSpPr>
          <p:cNvPr id="9" name="TextBox 8"/>
          <p:cNvSpPr txBox="1"/>
          <p:nvPr/>
        </p:nvSpPr>
        <p:spPr>
          <a:xfrm>
            <a:off x="182880" y="960120"/>
            <a:ext cx="9144000" cy="365760"/>
          </a:xfrm>
          <a:prstGeom prst="rect">
            <a:avLst/>
          </a:prstGeom>
          <a:noFill/>
        </p:spPr>
        <p:txBody>
          <a:bodyPr wrap="square">
            <a:spAutoFit/>
          </a:bodyPr>
          <a:lstStyle/>
          <a:p>
            <a:pPr algn="l"/>
            <a:r>
              <a:rPr sz="1100" b="0">
                <a:solidFill>
                  <a:srgbClr val="000000"/>
                </a:solidFill>
                <a:latin typeface="Calibri"/>
              </a:rPr>
              <a:t>Property maintenance technology platform | Melbourne VIC | Founded 2014</a:t>
            </a:r>
          </a:p>
        </p:txBody>
      </p:sp>
      <p:sp>
        <p:nvSpPr>
          <p:cNvPr id="10" name="Rectangle 9"/>
          <p:cNvSpPr/>
          <p:nvPr/>
        </p:nvSpPr>
        <p:spPr>
          <a:xfrm>
            <a:off x="182880"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1527048"/>
            <a:ext cx="1682496" cy="594360"/>
          </a:xfrm>
          <a:prstGeom prst="rect">
            <a:avLst/>
          </a:prstGeom>
          <a:noFill/>
        </p:spPr>
        <p:txBody>
          <a:bodyPr wrap="square">
            <a:spAutoFit/>
          </a:bodyPr>
          <a:lstStyle/>
          <a:p>
            <a:pPr algn="ctr"/>
            <a:r>
              <a:rPr sz="2600" b="1">
                <a:solidFill>
                  <a:srgbClr val="F8C806"/>
                </a:solidFill>
                <a:latin typeface="Calibri"/>
              </a:rPr>
              <a:t>$12.8M</a:t>
            </a:r>
          </a:p>
        </p:txBody>
      </p:sp>
      <p:sp>
        <p:nvSpPr>
          <p:cNvPr id="13" name="TextBox 12"/>
          <p:cNvSpPr txBox="1"/>
          <p:nvPr/>
        </p:nvSpPr>
        <p:spPr>
          <a:xfrm>
            <a:off x="237744" y="2130552"/>
            <a:ext cx="1719072" cy="384048"/>
          </a:xfrm>
          <a:prstGeom prst="rect">
            <a:avLst/>
          </a:prstGeom>
          <a:noFill/>
        </p:spPr>
        <p:txBody>
          <a:bodyPr wrap="square">
            <a:spAutoFit/>
          </a:bodyPr>
          <a:lstStyle/>
          <a:p>
            <a:pPr algn="ctr"/>
            <a:r>
              <a:rPr sz="900" b="0">
                <a:solidFill>
                  <a:srgbClr val="E6E5DE"/>
                </a:solidFill>
                <a:latin typeface="Calibri"/>
              </a:rPr>
              <a:t>Annual Revenue</a:t>
            </a:r>
          </a:p>
        </p:txBody>
      </p:sp>
      <p:sp>
        <p:nvSpPr>
          <p:cNvPr id="14" name="TextBox 13"/>
          <p:cNvSpPr txBox="1"/>
          <p:nvPr/>
        </p:nvSpPr>
        <p:spPr>
          <a:xfrm>
            <a:off x="237744" y="2514600"/>
            <a:ext cx="1719072" cy="274320"/>
          </a:xfrm>
          <a:prstGeom prst="rect">
            <a:avLst/>
          </a:prstGeom>
          <a:noFill/>
        </p:spPr>
        <p:txBody>
          <a:bodyPr wrap="square">
            <a:spAutoFit/>
          </a:bodyPr>
          <a:lstStyle/>
          <a:p>
            <a:pPr algn="ctr"/>
            <a:r>
              <a:rPr sz="700" b="0">
                <a:solidFill>
                  <a:srgbClr val="999999"/>
                </a:solidFill>
                <a:latin typeface="Calibri"/>
              </a:rPr>
              <a:t>Smart50 2025</a:t>
            </a:r>
          </a:p>
        </p:txBody>
      </p:sp>
      <p:sp>
        <p:nvSpPr>
          <p:cNvPr id="15" name="Rectangle 14"/>
          <p:cNvSpPr/>
          <p:nvPr/>
        </p:nvSpPr>
        <p:spPr>
          <a:xfrm>
            <a:off x="2121408"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21408"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1527048"/>
            <a:ext cx="1682496" cy="594360"/>
          </a:xfrm>
          <a:prstGeom prst="rect">
            <a:avLst/>
          </a:prstGeom>
          <a:noFill/>
        </p:spPr>
        <p:txBody>
          <a:bodyPr wrap="square">
            <a:spAutoFit/>
          </a:bodyPr>
          <a:lstStyle/>
          <a:p>
            <a:pPr algn="ctr"/>
            <a:r>
              <a:rPr sz="2600" b="1">
                <a:solidFill>
                  <a:srgbClr val="F8C806"/>
                </a:solidFill>
                <a:latin typeface="Calibri"/>
              </a:rPr>
              <a:t>19</a:t>
            </a:r>
          </a:p>
        </p:txBody>
      </p:sp>
      <p:sp>
        <p:nvSpPr>
          <p:cNvPr id="18" name="TextBox 17"/>
          <p:cNvSpPr txBox="1"/>
          <p:nvPr/>
        </p:nvSpPr>
        <p:spPr>
          <a:xfrm>
            <a:off x="2176272" y="2130552"/>
            <a:ext cx="1719072" cy="384048"/>
          </a:xfrm>
          <a:prstGeom prst="rect">
            <a:avLst/>
          </a:prstGeom>
          <a:noFill/>
        </p:spPr>
        <p:txBody>
          <a:bodyPr wrap="square">
            <a:spAutoFit/>
          </a:bodyPr>
          <a:lstStyle/>
          <a:p>
            <a:pPr algn="ctr"/>
            <a:r>
              <a:rPr sz="900" b="0">
                <a:solidFill>
                  <a:srgbClr val="E6E5DE"/>
                </a:solidFill>
                <a:latin typeface="Calibri"/>
              </a:rPr>
              <a:t>Team Members</a:t>
            </a:r>
          </a:p>
        </p:txBody>
      </p:sp>
      <p:sp>
        <p:nvSpPr>
          <p:cNvPr id="19" name="TextBox 18"/>
          <p:cNvSpPr txBox="1"/>
          <p:nvPr/>
        </p:nvSpPr>
        <p:spPr>
          <a:xfrm>
            <a:off x="2176272" y="2514600"/>
            <a:ext cx="1719072" cy="274320"/>
          </a:xfrm>
          <a:prstGeom prst="rect">
            <a:avLst/>
          </a:prstGeom>
          <a:noFill/>
        </p:spPr>
        <p:txBody>
          <a:bodyPr wrap="square">
            <a:spAutoFit/>
          </a:bodyPr>
          <a:lstStyle/>
          <a:p>
            <a:pPr algn="ctr"/>
            <a:r>
              <a:rPr sz="700" b="0">
                <a:solidFill>
                  <a:srgbClr val="999999"/>
                </a:solidFill>
                <a:latin typeface="Calibri"/>
              </a:rPr>
              <a:t>Smart50 2025</a:t>
            </a:r>
          </a:p>
        </p:txBody>
      </p:sp>
      <p:sp>
        <p:nvSpPr>
          <p:cNvPr id="20" name="Rectangle 19"/>
          <p:cNvSpPr/>
          <p:nvPr/>
        </p:nvSpPr>
        <p:spPr>
          <a:xfrm>
            <a:off x="4059936"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59936"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33088" y="1527048"/>
            <a:ext cx="1682496" cy="594360"/>
          </a:xfrm>
          <a:prstGeom prst="rect">
            <a:avLst/>
          </a:prstGeom>
          <a:noFill/>
        </p:spPr>
        <p:txBody>
          <a:bodyPr wrap="square">
            <a:spAutoFit/>
          </a:bodyPr>
          <a:lstStyle/>
          <a:p>
            <a:pPr algn="ctr"/>
            <a:r>
              <a:rPr sz="2600" b="1">
                <a:solidFill>
                  <a:srgbClr val="F8C806"/>
                </a:solidFill>
                <a:latin typeface="Calibri"/>
              </a:rPr>
              <a:t>#37</a:t>
            </a:r>
          </a:p>
        </p:txBody>
      </p:sp>
      <p:sp>
        <p:nvSpPr>
          <p:cNvPr id="23" name="TextBox 22"/>
          <p:cNvSpPr txBox="1"/>
          <p:nvPr/>
        </p:nvSpPr>
        <p:spPr>
          <a:xfrm>
            <a:off x="4114800" y="2130552"/>
            <a:ext cx="1719072" cy="384048"/>
          </a:xfrm>
          <a:prstGeom prst="rect">
            <a:avLst/>
          </a:prstGeom>
          <a:noFill/>
        </p:spPr>
        <p:txBody>
          <a:bodyPr wrap="square">
            <a:spAutoFit/>
          </a:bodyPr>
          <a:lstStyle/>
          <a:p>
            <a:pPr algn="ctr"/>
            <a:r>
              <a:rPr sz="900" b="0">
                <a:solidFill>
                  <a:srgbClr val="E6E5DE"/>
                </a:solidFill>
                <a:latin typeface="Calibri"/>
              </a:rPr>
              <a:t>Smart50 2025 Rank</a:t>
            </a:r>
          </a:p>
        </p:txBody>
      </p:sp>
      <p:sp>
        <p:nvSpPr>
          <p:cNvPr id="24" name="TextBox 23"/>
          <p:cNvSpPr txBox="1"/>
          <p:nvPr/>
        </p:nvSpPr>
        <p:spPr>
          <a:xfrm>
            <a:off x="4114800" y="2514600"/>
            <a:ext cx="1719072" cy="274320"/>
          </a:xfrm>
          <a:prstGeom prst="rect">
            <a:avLst/>
          </a:prstGeom>
          <a:noFill/>
        </p:spPr>
        <p:txBody>
          <a:bodyPr wrap="square">
            <a:spAutoFit/>
          </a:bodyPr>
          <a:lstStyle/>
          <a:p>
            <a:pPr algn="ctr"/>
            <a:r>
              <a:rPr sz="700" b="0">
                <a:solidFill>
                  <a:srgbClr val="999999"/>
                </a:solidFill>
                <a:latin typeface="Calibri"/>
              </a:rPr>
              <a:t>SmartCompany</a:t>
            </a:r>
          </a:p>
        </p:txBody>
      </p:sp>
      <p:sp>
        <p:nvSpPr>
          <p:cNvPr id="25" name="Rectangle 24"/>
          <p:cNvSpPr/>
          <p:nvPr/>
        </p:nvSpPr>
        <p:spPr>
          <a:xfrm>
            <a:off x="5998464"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98464"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71616" y="1527048"/>
            <a:ext cx="1682496" cy="594360"/>
          </a:xfrm>
          <a:prstGeom prst="rect">
            <a:avLst/>
          </a:prstGeom>
          <a:noFill/>
        </p:spPr>
        <p:txBody>
          <a:bodyPr wrap="square">
            <a:spAutoFit/>
          </a:bodyPr>
          <a:lstStyle/>
          <a:p>
            <a:pPr algn="ctr"/>
            <a:r>
              <a:rPr sz="2600" b="1">
                <a:solidFill>
                  <a:srgbClr val="F8C806"/>
                </a:solidFill>
                <a:latin typeface="Calibri"/>
              </a:rPr>
              <a:t>31%</a:t>
            </a:r>
          </a:p>
        </p:txBody>
      </p:sp>
      <p:sp>
        <p:nvSpPr>
          <p:cNvPr id="28" name="TextBox 27"/>
          <p:cNvSpPr txBox="1"/>
          <p:nvPr/>
        </p:nvSpPr>
        <p:spPr>
          <a:xfrm>
            <a:off x="6053328" y="2130552"/>
            <a:ext cx="1719072" cy="384048"/>
          </a:xfrm>
          <a:prstGeom prst="rect">
            <a:avLst/>
          </a:prstGeom>
          <a:noFill/>
        </p:spPr>
        <p:txBody>
          <a:bodyPr wrap="square">
            <a:spAutoFit/>
          </a:bodyPr>
          <a:lstStyle/>
          <a:p>
            <a:pPr algn="ctr"/>
            <a:r>
              <a:rPr sz="900" b="0">
                <a:solidFill>
                  <a:srgbClr val="E6E5DE"/>
                </a:solidFill>
                <a:latin typeface="Calibri"/>
              </a:rPr>
              <a:t>3Yr Avg Growth</a:t>
            </a:r>
          </a:p>
        </p:txBody>
      </p:sp>
      <p:sp>
        <p:nvSpPr>
          <p:cNvPr id="29" name="TextBox 28"/>
          <p:cNvSpPr txBox="1"/>
          <p:nvPr/>
        </p:nvSpPr>
        <p:spPr>
          <a:xfrm>
            <a:off x="6053328" y="2514600"/>
            <a:ext cx="1719072" cy="274320"/>
          </a:xfrm>
          <a:prstGeom prst="rect">
            <a:avLst/>
          </a:prstGeom>
          <a:noFill/>
        </p:spPr>
        <p:txBody>
          <a:bodyPr wrap="square">
            <a:spAutoFit/>
          </a:bodyPr>
          <a:lstStyle/>
          <a:p>
            <a:pPr algn="ctr"/>
            <a:r>
              <a:rPr sz="700" b="0">
                <a:solidFill>
                  <a:srgbClr val="999999"/>
                </a:solidFill>
                <a:latin typeface="Calibri"/>
              </a:rPr>
              <a:t>Smart50 2025</a:t>
            </a:r>
          </a:p>
        </p:txBody>
      </p:sp>
      <p:sp>
        <p:nvSpPr>
          <p:cNvPr id="30" name="Rectangle 29"/>
          <p:cNvSpPr/>
          <p:nvPr/>
        </p:nvSpPr>
        <p:spPr>
          <a:xfrm>
            <a:off x="7936992"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36992"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10144" y="1527048"/>
            <a:ext cx="1682496" cy="594360"/>
          </a:xfrm>
          <a:prstGeom prst="rect">
            <a:avLst/>
          </a:prstGeom>
          <a:noFill/>
        </p:spPr>
        <p:txBody>
          <a:bodyPr wrap="square">
            <a:spAutoFit/>
          </a:bodyPr>
          <a:lstStyle/>
          <a:p>
            <a:pPr algn="ctr"/>
            <a:r>
              <a:rPr sz="2600" b="1">
                <a:solidFill>
                  <a:srgbClr val="F8C806"/>
                </a:solidFill>
                <a:latin typeface="Calibri"/>
              </a:rPr>
              <a:t>140K+</a:t>
            </a:r>
          </a:p>
        </p:txBody>
      </p:sp>
      <p:sp>
        <p:nvSpPr>
          <p:cNvPr id="33" name="TextBox 32"/>
          <p:cNvSpPr txBox="1"/>
          <p:nvPr/>
        </p:nvSpPr>
        <p:spPr>
          <a:xfrm>
            <a:off x="7991856" y="2130552"/>
            <a:ext cx="1719072" cy="384048"/>
          </a:xfrm>
          <a:prstGeom prst="rect">
            <a:avLst/>
          </a:prstGeom>
          <a:noFill/>
        </p:spPr>
        <p:txBody>
          <a:bodyPr wrap="square">
            <a:spAutoFit/>
          </a:bodyPr>
          <a:lstStyle/>
          <a:p>
            <a:pPr algn="ctr"/>
            <a:r>
              <a:rPr sz="900" b="0">
                <a:solidFill>
                  <a:srgbClr val="E6E5DE"/>
                </a:solidFill>
                <a:latin typeface="Calibri"/>
              </a:rPr>
              <a:t>RentSafe Jobs</a:t>
            </a:r>
          </a:p>
        </p:txBody>
      </p:sp>
      <p:sp>
        <p:nvSpPr>
          <p:cNvPr id="34" name="TextBox 33"/>
          <p:cNvSpPr txBox="1"/>
          <p:nvPr/>
        </p:nvSpPr>
        <p:spPr>
          <a:xfrm>
            <a:off x="7991856" y="2514600"/>
            <a:ext cx="1719072" cy="274320"/>
          </a:xfrm>
          <a:prstGeom prst="rect">
            <a:avLst/>
          </a:prstGeom>
          <a:noFill/>
        </p:spPr>
        <p:txBody>
          <a:bodyPr wrap="square">
            <a:spAutoFit/>
          </a:bodyPr>
          <a:lstStyle/>
          <a:p>
            <a:pPr algn="ctr"/>
            <a:r>
              <a:rPr sz="700" b="0">
                <a:solidFill>
                  <a:srgbClr val="999999"/>
                </a:solidFill>
                <a:latin typeface="Calibri"/>
              </a:rPr>
              <a:t>rentsafe.taskforce.com.au</a:t>
            </a:r>
          </a:p>
        </p:txBody>
      </p:sp>
      <p:sp>
        <p:nvSpPr>
          <p:cNvPr id="35" name="Rectangle 34"/>
          <p:cNvSpPr/>
          <p:nvPr/>
        </p:nvSpPr>
        <p:spPr>
          <a:xfrm>
            <a:off x="9875520" y="1417320"/>
            <a:ext cx="1828800" cy="1417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75520" y="1417320"/>
            <a:ext cx="1828800"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48672" y="1527048"/>
            <a:ext cx="1682496" cy="594360"/>
          </a:xfrm>
          <a:prstGeom prst="rect">
            <a:avLst/>
          </a:prstGeom>
          <a:noFill/>
        </p:spPr>
        <p:txBody>
          <a:bodyPr wrap="square">
            <a:spAutoFit/>
          </a:bodyPr>
          <a:lstStyle/>
          <a:p>
            <a:pPr algn="ctr"/>
            <a:r>
              <a:rPr sz="2600" b="1">
                <a:solidFill>
                  <a:srgbClr val="F8C806"/>
                </a:solidFill>
                <a:latin typeface="Calibri"/>
              </a:rPr>
              <a:t>2014</a:t>
            </a:r>
          </a:p>
        </p:txBody>
      </p:sp>
      <p:sp>
        <p:nvSpPr>
          <p:cNvPr id="38" name="TextBox 37"/>
          <p:cNvSpPr txBox="1"/>
          <p:nvPr/>
        </p:nvSpPr>
        <p:spPr>
          <a:xfrm>
            <a:off x="9930384" y="2130552"/>
            <a:ext cx="1719072" cy="384048"/>
          </a:xfrm>
          <a:prstGeom prst="rect">
            <a:avLst/>
          </a:prstGeom>
          <a:noFill/>
        </p:spPr>
        <p:txBody>
          <a:bodyPr wrap="square">
            <a:spAutoFit/>
          </a:bodyPr>
          <a:lstStyle/>
          <a:p>
            <a:pPr algn="ctr"/>
            <a:r>
              <a:rPr sz="900" b="0">
                <a:solidFill>
                  <a:srgbClr val="E6E5DE"/>
                </a:solidFill>
                <a:latin typeface="Calibri"/>
              </a:rPr>
              <a:t>Year Founded</a:t>
            </a:r>
          </a:p>
        </p:txBody>
      </p:sp>
      <p:sp>
        <p:nvSpPr>
          <p:cNvPr id="39" name="TextBox 38"/>
          <p:cNvSpPr txBox="1"/>
          <p:nvPr/>
        </p:nvSpPr>
        <p:spPr>
          <a:xfrm>
            <a:off x="9930384" y="2514600"/>
            <a:ext cx="1719072" cy="274320"/>
          </a:xfrm>
          <a:prstGeom prst="rect">
            <a:avLst/>
          </a:prstGeom>
          <a:noFill/>
        </p:spPr>
        <p:txBody>
          <a:bodyPr wrap="square">
            <a:spAutoFit/>
          </a:bodyPr>
          <a:lstStyle/>
          <a:p>
            <a:pPr algn="ctr"/>
            <a:r>
              <a:rPr sz="700" b="0">
                <a:solidFill>
                  <a:srgbClr val="999999"/>
                </a:solidFill>
                <a:latin typeface="Calibri"/>
              </a:rPr>
              <a:t>Smart50 2023</a:t>
            </a:r>
          </a:p>
        </p:txBody>
      </p:sp>
      <p:sp>
        <p:nvSpPr>
          <p:cNvPr id="40" name="TextBox 39"/>
          <p:cNvSpPr txBox="1"/>
          <p:nvPr/>
        </p:nvSpPr>
        <p:spPr>
          <a:xfrm>
            <a:off x="182880" y="2971800"/>
            <a:ext cx="4572000" cy="274320"/>
          </a:xfrm>
          <a:prstGeom prst="rect">
            <a:avLst/>
          </a:prstGeom>
          <a:noFill/>
        </p:spPr>
        <p:txBody>
          <a:bodyPr wrap="square">
            <a:spAutoFit/>
          </a:bodyPr>
          <a:lstStyle/>
          <a:p>
            <a:pPr algn="l"/>
            <a:r>
              <a:rPr sz="900" b="1">
                <a:solidFill>
                  <a:srgbClr val="01A296"/>
                </a:solidFill>
                <a:latin typeface="Calibri"/>
              </a:rPr>
              <a:t>COMMERCIAL SIGNALS</a:t>
            </a:r>
          </a:p>
        </p:txBody>
      </p:sp>
      <p:sp>
        <p:nvSpPr>
          <p:cNvPr id="41" name="Rectangle 40"/>
          <p:cNvSpPr/>
          <p:nvPr/>
        </p:nvSpPr>
        <p:spPr>
          <a:xfrm>
            <a:off x="201168" y="338328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9184" y="3264408"/>
            <a:ext cx="11704320" cy="438912"/>
          </a:xfrm>
          <a:prstGeom prst="rect">
            <a:avLst/>
          </a:prstGeom>
          <a:noFill/>
        </p:spPr>
        <p:txBody>
          <a:bodyPr wrap="square">
            <a:spAutoFit/>
          </a:bodyPr>
          <a:lstStyle/>
          <a:p>
            <a:pPr algn="l"/>
            <a:r>
              <a:rPr sz="1000" b="0">
                <a:solidFill>
                  <a:srgbClr val="000000"/>
                </a:solidFill>
                <a:latin typeface="Calibri"/>
              </a:rPr>
              <a:t>Three consecutive Smart50 listings (2023, 2024, 2025); rank improved 46 to 37</a:t>
            </a:r>
          </a:p>
        </p:txBody>
      </p:sp>
      <p:sp>
        <p:nvSpPr>
          <p:cNvPr id="43" name="Rectangle 42"/>
          <p:cNvSpPr/>
          <p:nvPr/>
        </p:nvSpPr>
        <p:spPr>
          <a:xfrm>
            <a:off x="201168" y="387705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3758184"/>
            <a:ext cx="11704320" cy="438912"/>
          </a:xfrm>
          <a:prstGeom prst="rect">
            <a:avLst/>
          </a:prstGeom>
          <a:noFill/>
        </p:spPr>
        <p:txBody>
          <a:bodyPr wrap="square">
            <a:spAutoFit/>
          </a:bodyPr>
          <a:lstStyle/>
          <a:p>
            <a:pPr algn="l"/>
            <a:r>
              <a:rPr sz="1000" b="0">
                <a:solidFill>
                  <a:srgbClr val="000000"/>
                </a:solidFill>
                <a:latin typeface="Calibri"/>
              </a:rPr>
              <a:t>Stated growth target: 50 to 60 percent CAGR over three years, self funded</a:t>
            </a:r>
          </a:p>
        </p:txBody>
      </p:sp>
      <p:sp>
        <p:nvSpPr>
          <p:cNvPr id="45" name="Rectangle 44"/>
          <p:cNvSpPr/>
          <p:nvPr/>
        </p:nvSpPr>
        <p:spPr>
          <a:xfrm>
            <a:off x="201168" y="437083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184" y="4251960"/>
            <a:ext cx="11704320" cy="438912"/>
          </a:xfrm>
          <a:prstGeom prst="rect">
            <a:avLst/>
          </a:prstGeom>
          <a:noFill/>
        </p:spPr>
        <p:txBody>
          <a:bodyPr wrap="square">
            <a:spAutoFit/>
          </a:bodyPr>
          <a:lstStyle/>
          <a:p>
            <a:pPr algn="l"/>
            <a:r>
              <a:rPr sz="1000" b="0">
                <a:solidFill>
                  <a:srgbClr val="000000"/>
                </a:solidFill>
                <a:latin typeface="Calibri"/>
              </a:rPr>
              <a:t>RentRepair subscription maintenance launched at AREC 2023 from $54 per month</a:t>
            </a:r>
          </a:p>
        </p:txBody>
      </p:sp>
      <p:sp>
        <p:nvSpPr>
          <p:cNvPr id="47" name="Rectangle 46"/>
          <p:cNvSpPr/>
          <p:nvPr/>
        </p:nvSpPr>
        <p:spPr>
          <a:xfrm>
            <a:off x="201168" y="486460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9184" y="4745736"/>
            <a:ext cx="11704320" cy="438912"/>
          </a:xfrm>
          <a:prstGeom prst="rect">
            <a:avLst/>
          </a:prstGeom>
          <a:noFill/>
        </p:spPr>
        <p:txBody>
          <a:bodyPr wrap="square">
            <a:spAutoFit/>
          </a:bodyPr>
          <a:lstStyle/>
          <a:p>
            <a:pPr algn="l"/>
            <a:r>
              <a:rPr sz="1000" b="0">
                <a:solidFill>
                  <a:srgbClr val="000000"/>
                </a:solidFill>
                <a:latin typeface="Calibri"/>
              </a:rPr>
              <a:t>RentSafe platform: 140,000+ jobs delivered across 300 real estate offices</a:t>
            </a:r>
          </a:p>
        </p:txBody>
      </p:sp>
      <p:sp>
        <p:nvSpPr>
          <p:cNvPr id="49" name="Rectangle 48"/>
          <p:cNvSpPr/>
          <p:nvPr/>
        </p:nvSpPr>
        <p:spPr>
          <a:xfrm>
            <a:off x="201168" y="535838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9184" y="5239512"/>
            <a:ext cx="11704320" cy="438912"/>
          </a:xfrm>
          <a:prstGeom prst="rect">
            <a:avLst/>
          </a:prstGeom>
          <a:noFill/>
        </p:spPr>
        <p:txBody>
          <a:bodyPr wrap="square">
            <a:spAutoFit/>
          </a:bodyPr>
          <a:lstStyle/>
          <a:p>
            <a:pPr algn="l"/>
            <a:r>
              <a:rPr sz="1000" b="0">
                <a:solidFill>
                  <a:srgbClr val="000000"/>
                </a:solidFill>
                <a:latin typeface="Calibri"/>
              </a:rPr>
              <a:t>National network of over 5,000 tradespeople across Australia</a:t>
            </a:r>
          </a:p>
        </p:txBody>
      </p:sp>
      <p:sp>
        <p:nvSpPr>
          <p:cNvPr id="51" name="Rectangle 50"/>
          <p:cNvSpPr/>
          <p:nvPr/>
        </p:nvSpPr>
        <p:spPr>
          <a:xfrm>
            <a:off x="0" y="6583680"/>
            <a:ext cx="12191695" cy="274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82880" y="6601968"/>
            <a:ext cx="7315200" cy="237744"/>
          </a:xfrm>
          <a:prstGeom prst="rect">
            <a:avLst/>
          </a:prstGeom>
          <a:noFill/>
        </p:spPr>
        <p:txBody>
          <a:bodyPr wrap="square">
            <a:spAutoFit/>
          </a:bodyPr>
          <a:lstStyle/>
          <a:p>
            <a:pPr algn="l"/>
            <a:r>
              <a:rPr sz="800" b="0">
                <a:solidFill>
                  <a:srgbClr val="E6E5DE"/>
                </a:solidFill>
                <a:latin typeface="Calibri"/>
              </a:rPr>
              <a:t>Prepared by ProfitPulse | Profit-Pulse.com.au | Confidential</a:t>
            </a:r>
          </a:p>
        </p:txBody>
      </p:sp>
      <p:sp>
        <p:nvSpPr>
          <p:cNvPr id="53" name="TextBox 52"/>
          <p:cNvSpPr txBox="1"/>
          <p:nvPr/>
        </p:nvSpPr>
        <p:spPr>
          <a:xfrm>
            <a:off x="10820095" y="6601968"/>
            <a:ext cx="1188720" cy="237744"/>
          </a:xfrm>
          <a:prstGeom prst="rect">
            <a:avLst/>
          </a:prstGeom>
          <a:noFill/>
        </p:spPr>
        <p:txBody>
          <a:bodyPr wrap="square">
            <a:spAutoFit/>
          </a:bodyPr>
          <a:lstStyle/>
          <a:p>
            <a:pPr algn="r"/>
            <a:r>
              <a:rPr sz="800" b="0">
                <a:solidFill>
                  <a:srgbClr val="E6E5DE"/>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3657600" cy="365760"/>
          </a:xfrm>
          <a:prstGeom prst="rect">
            <a:avLst/>
          </a:prstGeom>
          <a:noFill/>
        </p:spPr>
        <p:txBody>
          <a:bodyPr wrap="square">
            <a:spAutoFit/>
          </a:bodyPr>
          <a:lstStyle/>
          <a:p>
            <a:pPr algn="l"/>
            <a:r>
              <a:rPr sz="900" b="1">
                <a:solidFill>
                  <a:srgbClr val="E6E5DE"/>
                </a:solidFill>
                <a:latin typeface="Calibri"/>
              </a:rPr>
              <a:t>OBSERVATIONS</a:t>
            </a:r>
          </a:p>
        </p:txBody>
      </p:sp>
      <p:sp>
        <p:nvSpPr>
          <p:cNvPr id="6" name="TextBox 5"/>
          <p:cNvSpPr txBox="1"/>
          <p:nvPr/>
        </p:nvSpPr>
        <p:spPr>
          <a:xfrm>
            <a:off x="7772400" y="73152"/>
            <a:ext cx="4297680" cy="365760"/>
          </a:xfrm>
          <a:prstGeom prst="rect">
            <a:avLst/>
          </a:prstGeom>
          <a:noFill/>
        </p:spPr>
        <p:txBody>
          <a:bodyPr wrap="square">
            <a:spAutoFit/>
          </a:bodyPr>
          <a:lstStyle/>
          <a:p>
            <a:pPr algn="r"/>
            <a:r>
              <a:rPr sz="900" b="1">
                <a:solidFill>
                  <a:srgbClr val="01A296"/>
                </a:solidFill>
                <a:latin typeface="Calibri"/>
              </a:rPr>
              <a:t>TASKFORCE AUSTRALIA</a:t>
            </a:r>
          </a:p>
        </p:txBody>
      </p:sp>
      <p:sp>
        <p:nvSpPr>
          <p:cNvPr id="7" name="TextBox 6"/>
          <p:cNvSpPr txBox="1"/>
          <p:nvPr/>
        </p:nvSpPr>
        <p:spPr>
          <a:xfrm>
            <a:off x="182880" y="347472"/>
            <a:ext cx="8229600" cy="457200"/>
          </a:xfrm>
          <a:prstGeom prst="rect">
            <a:avLst/>
          </a:prstGeom>
          <a:noFill/>
        </p:spPr>
        <p:txBody>
          <a:bodyPr wrap="square">
            <a:spAutoFit/>
          </a:bodyPr>
          <a:lstStyle/>
          <a:p>
            <a:pPr algn="l"/>
            <a:r>
              <a:rPr sz="2200" b="1">
                <a:solidFill>
                  <a:srgbClr val="FFFFFF"/>
                </a:solidFill>
                <a:latin typeface="Calibri"/>
              </a:rPr>
              <a:t>Three signals that define the growth picture</a:t>
            </a:r>
          </a:p>
        </p:txBody>
      </p:sp>
      <p:sp>
        <p:nvSpPr>
          <p:cNvPr id="8" name="TextBox 7"/>
          <p:cNvSpPr txBox="1"/>
          <p:nvPr/>
        </p:nvSpPr>
        <p:spPr>
          <a:xfrm>
            <a:off x="9601200" y="347472"/>
            <a:ext cx="2468880" cy="457200"/>
          </a:xfrm>
          <a:prstGeom prst="rect">
            <a:avLst/>
          </a:prstGeom>
          <a:noFill/>
        </p:spPr>
        <p:txBody>
          <a:bodyPr wrap="square">
            <a:spAutoFit/>
          </a:bodyPr>
          <a:lstStyle/>
          <a:p>
            <a:pPr algn="r"/>
            <a:r>
              <a:rPr sz="1200" b="0">
                <a:solidFill>
                  <a:srgbClr val="E6E5DE"/>
                </a:solidFill>
                <a:latin typeface="Calibri"/>
              </a:rPr>
              <a:t>12 Jun 2026</a:t>
            </a:r>
          </a:p>
        </p:txBody>
      </p:sp>
      <p:sp>
        <p:nvSpPr>
          <p:cNvPr id="9" name="Rectangle 8"/>
          <p:cNvSpPr/>
          <p:nvPr/>
        </p:nvSpPr>
        <p:spPr>
          <a:xfrm>
            <a:off x="182880" y="1005840"/>
            <a:ext cx="3657600" cy="5029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43000"/>
            <a:ext cx="640080" cy="502920"/>
          </a:xfrm>
          <a:prstGeom prst="rect">
            <a:avLst/>
          </a:prstGeom>
          <a:noFill/>
        </p:spPr>
        <p:txBody>
          <a:bodyPr wrap="square">
            <a:spAutoFit/>
          </a:bodyPr>
          <a:lstStyle/>
          <a:p>
            <a:pPr algn="l"/>
            <a:r>
              <a:rPr sz="3000" b="1">
                <a:solidFill>
                  <a:srgbClr val="000000"/>
                </a:solidFill>
                <a:latin typeface="Calibri"/>
              </a:rPr>
              <a:t>01</a:t>
            </a:r>
          </a:p>
        </p:txBody>
      </p:sp>
      <p:sp>
        <p:nvSpPr>
          <p:cNvPr id="11" name="TextBox 10"/>
          <p:cNvSpPr txBox="1"/>
          <p:nvPr/>
        </p:nvSpPr>
        <p:spPr>
          <a:xfrm>
            <a:off x="320040" y="1664208"/>
            <a:ext cx="3383280" cy="822960"/>
          </a:xfrm>
          <a:prstGeom prst="rect">
            <a:avLst/>
          </a:prstGeom>
          <a:noFill/>
        </p:spPr>
        <p:txBody>
          <a:bodyPr wrap="square">
            <a:spAutoFit/>
          </a:bodyPr>
          <a:lstStyle/>
          <a:p>
            <a:pPr algn="l"/>
            <a:r>
              <a:rPr sz="1400" b="1">
                <a:solidFill>
                  <a:srgbClr val="000000"/>
                </a:solidFill>
                <a:latin typeface="Calibri"/>
              </a:rPr>
              <a:t>Platform leverage meets product complexity</a:t>
            </a:r>
          </a:p>
        </p:txBody>
      </p:sp>
      <p:sp>
        <p:nvSpPr>
          <p:cNvPr id="12" name="TextBox 11"/>
          <p:cNvSpPr txBox="1"/>
          <p:nvPr/>
        </p:nvSpPr>
        <p:spPr>
          <a:xfrm>
            <a:off x="320040" y="2514600"/>
            <a:ext cx="3383280" cy="3291840"/>
          </a:xfrm>
          <a:prstGeom prst="rect">
            <a:avLst/>
          </a:prstGeom>
          <a:noFill/>
        </p:spPr>
        <p:txBody>
          <a:bodyPr wrap="square">
            <a:spAutoFit/>
          </a:bodyPr>
          <a:lstStyle/>
          <a:p>
            <a:pPr algn="l"/>
            <a:r>
              <a:rPr sz="1000" b="0">
                <a:solidFill>
                  <a:srgbClr val="000000"/>
                </a:solidFill>
                <a:latin typeface="Calibri"/>
              </a:rPr>
              <a:t>$12.8M revenue with 19 people signals strong platform leverage. The launch of RentRepair adds subscription economics alongside the existing compliance job model. These two revenue streams have different cost structures, different cash cycles and different margin profiles. Without a revenue stream map and margin by product line, the growth plan rests on an untested assumption that both will scale together without cannibalising cash or attention.</a:t>
            </a:r>
          </a:p>
        </p:txBody>
      </p:sp>
      <p:sp>
        <p:nvSpPr>
          <p:cNvPr id="13" name="Rectangle 12"/>
          <p:cNvSpPr/>
          <p:nvPr/>
        </p:nvSpPr>
        <p:spPr>
          <a:xfrm>
            <a:off x="4114800" y="1005840"/>
            <a:ext cx="3657600" cy="50292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1143000"/>
            <a:ext cx="640080" cy="502920"/>
          </a:xfrm>
          <a:prstGeom prst="rect">
            <a:avLst/>
          </a:prstGeom>
          <a:noFill/>
        </p:spPr>
        <p:txBody>
          <a:bodyPr wrap="square">
            <a:spAutoFit/>
          </a:bodyPr>
          <a:lstStyle/>
          <a:p>
            <a:pPr algn="l"/>
            <a:r>
              <a:rPr sz="3000" b="1">
                <a:solidFill>
                  <a:srgbClr val="F8C806"/>
                </a:solidFill>
                <a:latin typeface="Calibri"/>
              </a:rPr>
              <a:t>02</a:t>
            </a:r>
          </a:p>
        </p:txBody>
      </p:sp>
      <p:sp>
        <p:nvSpPr>
          <p:cNvPr id="15" name="TextBox 14"/>
          <p:cNvSpPr txBox="1"/>
          <p:nvPr/>
        </p:nvSpPr>
        <p:spPr>
          <a:xfrm>
            <a:off x="4251960" y="1664208"/>
            <a:ext cx="3383280" cy="822960"/>
          </a:xfrm>
          <a:prstGeom prst="rect">
            <a:avLst/>
          </a:prstGeom>
          <a:noFill/>
        </p:spPr>
        <p:txBody>
          <a:bodyPr wrap="square">
            <a:spAutoFit/>
          </a:bodyPr>
          <a:lstStyle/>
          <a:p>
            <a:pPr algn="l"/>
            <a:r>
              <a:rPr sz="1400" b="1">
                <a:solidFill>
                  <a:srgbClr val="FFFFFF"/>
                </a:solidFill>
                <a:latin typeface="Calibri"/>
              </a:rPr>
              <a:t>Three rankings confirm the trajectory. The next chapter needs a costed plan.</a:t>
            </a:r>
          </a:p>
        </p:txBody>
      </p:sp>
      <p:sp>
        <p:nvSpPr>
          <p:cNvPr id="16" name="TextBox 15"/>
          <p:cNvSpPr txBox="1"/>
          <p:nvPr/>
        </p:nvSpPr>
        <p:spPr>
          <a:xfrm>
            <a:off x="4251960" y="2514600"/>
            <a:ext cx="3383280" cy="3291840"/>
          </a:xfrm>
          <a:prstGeom prst="rect">
            <a:avLst/>
          </a:prstGeom>
          <a:noFill/>
        </p:spPr>
        <p:txBody>
          <a:bodyPr wrap="square">
            <a:spAutoFit/>
          </a:bodyPr>
          <a:lstStyle/>
          <a:p>
            <a:pPr algn="l"/>
            <a:r>
              <a:rPr sz="1000" b="0">
                <a:solidFill>
                  <a:srgbClr val="E6E5DE"/>
                </a:solidFill>
                <a:latin typeface="Calibri"/>
              </a:rPr>
              <a:t>Rank 46 to 37 across three Smart50 cycles and a 31 percent average growth rate are proof points, not a plan. The stated 50 to 60 percent CAGR target requires a concrete answer to three questions: what headcount is needed to hit that number, how much cash does the ramp consume before new revenue arrives, and what is the RentRepair subscriber acquisition cost and payback period? Without those numbers, the ambition is real but the roadmap is not yet costed.</a:t>
            </a:r>
          </a:p>
        </p:txBody>
      </p:sp>
      <p:sp>
        <p:nvSpPr>
          <p:cNvPr id="17" name="Rectangle 16"/>
          <p:cNvSpPr/>
          <p:nvPr/>
        </p:nvSpPr>
        <p:spPr>
          <a:xfrm>
            <a:off x="8046720" y="1005840"/>
            <a:ext cx="3657600" cy="502920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80" y="1143000"/>
            <a:ext cx="640080" cy="502920"/>
          </a:xfrm>
          <a:prstGeom prst="rect">
            <a:avLst/>
          </a:prstGeom>
          <a:noFill/>
        </p:spPr>
        <p:txBody>
          <a:bodyPr wrap="square">
            <a:spAutoFit/>
          </a:bodyPr>
          <a:lstStyle/>
          <a:p>
            <a:pPr algn="l"/>
            <a:r>
              <a:rPr sz="3000" b="1">
                <a:solidFill>
                  <a:srgbClr val="000000"/>
                </a:solidFill>
                <a:latin typeface="Calibri"/>
              </a:rPr>
              <a:t>03</a:t>
            </a:r>
          </a:p>
        </p:txBody>
      </p:sp>
      <p:sp>
        <p:nvSpPr>
          <p:cNvPr id="19" name="TextBox 18"/>
          <p:cNvSpPr txBox="1"/>
          <p:nvPr/>
        </p:nvSpPr>
        <p:spPr>
          <a:xfrm>
            <a:off x="8183880" y="1664208"/>
            <a:ext cx="3383280" cy="822960"/>
          </a:xfrm>
          <a:prstGeom prst="rect">
            <a:avLst/>
          </a:prstGeom>
          <a:noFill/>
        </p:spPr>
        <p:txBody>
          <a:bodyPr wrap="square">
            <a:spAutoFit/>
          </a:bodyPr>
          <a:lstStyle/>
          <a:p>
            <a:pPr algn="l"/>
            <a:r>
              <a:rPr sz="1400" b="1">
                <a:solidFill>
                  <a:srgbClr val="000000"/>
                </a:solidFill>
                <a:latin typeface="Calibri"/>
              </a:rPr>
              <a:t>Subscription economics are different from service economics</a:t>
            </a:r>
          </a:p>
        </p:txBody>
      </p:sp>
      <p:sp>
        <p:nvSpPr>
          <p:cNvPr id="20" name="TextBox 19"/>
          <p:cNvSpPr txBox="1"/>
          <p:nvPr/>
        </p:nvSpPr>
        <p:spPr>
          <a:xfrm>
            <a:off x="8183880" y="2514600"/>
            <a:ext cx="3383280" cy="3291840"/>
          </a:xfrm>
          <a:prstGeom prst="rect">
            <a:avLst/>
          </a:prstGeom>
          <a:noFill/>
        </p:spPr>
        <p:txBody>
          <a:bodyPr wrap="square">
            <a:spAutoFit/>
          </a:bodyPr>
          <a:lstStyle/>
          <a:p>
            <a:pPr algn="l"/>
            <a:r>
              <a:rPr sz="1000" b="0">
                <a:solidFill>
                  <a:srgbClr val="000000"/>
                </a:solidFill>
                <a:latin typeface="Calibri"/>
              </a:rPr>
              <a:t>RentRepair from $54 per month is a low entry price designed to drive volume adoption. The compliance job model (RentSafe) earns on each transaction. Mixing the two means upfront acquisition costs for subscribers sit against a slower cash recovery curve than the job flow generates today. Modelling unit economics for RentRepair separately, with cohort payback and churn sensitivity, is essential before scaling marketing spend on the subscription product.</a:t>
            </a:r>
          </a:p>
        </p:txBody>
      </p:sp>
      <p:sp>
        <p:nvSpPr>
          <p:cNvPr id="21" name="Rectangle 20"/>
          <p:cNvSpPr/>
          <p:nvPr/>
        </p:nvSpPr>
        <p:spPr>
          <a:xfrm>
            <a:off x="0" y="6583680"/>
            <a:ext cx="12191695" cy="274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6601968"/>
            <a:ext cx="7315200" cy="237744"/>
          </a:xfrm>
          <a:prstGeom prst="rect">
            <a:avLst/>
          </a:prstGeom>
          <a:noFill/>
        </p:spPr>
        <p:txBody>
          <a:bodyPr wrap="square">
            <a:spAutoFit/>
          </a:bodyPr>
          <a:lstStyle/>
          <a:p>
            <a:pPr algn="l"/>
            <a:r>
              <a:rPr sz="800" b="0">
                <a:solidFill>
                  <a:srgbClr val="E6E5DE"/>
                </a:solidFill>
                <a:latin typeface="Calibri"/>
              </a:rPr>
              <a:t>Prepared by ProfitPulse | Profit-Pulse.com.au | Confidential</a:t>
            </a:r>
          </a:p>
        </p:txBody>
      </p:sp>
      <p:sp>
        <p:nvSpPr>
          <p:cNvPr id="23" name="TextBox 22"/>
          <p:cNvSpPr txBox="1"/>
          <p:nvPr/>
        </p:nvSpPr>
        <p:spPr>
          <a:xfrm>
            <a:off x="10820095" y="6601968"/>
            <a:ext cx="1188720" cy="237744"/>
          </a:xfrm>
          <a:prstGeom prst="rect">
            <a:avLst/>
          </a:prstGeom>
          <a:noFill/>
        </p:spPr>
        <p:txBody>
          <a:bodyPr wrap="square">
            <a:spAutoFit/>
          </a:bodyPr>
          <a:lstStyle/>
          <a:p>
            <a:pPr algn="r"/>
            <a:r>
              <a:rPr sz="800" b="0">
                <a:solidFill>
                  <a:srgbClr val="E6E5DE"/>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73152"/>
            <a:ext cx="3657600" cy="365760"/>
          </a:xfrm>
          <a:prstGeom prst="rect">
            <a:avLst/>
          </a:prstGeom>
          <a:noFill/>
        </p:spPr>
        <p:txBody>
          <a:bodyPr wrap="square">
            <a:spAutoFit/>
          </a:bodyPr>
          <a:lstStyle/>
          <a:p>
            <a:pPr algn="l"/>
            <a:r>
              <a:rPr sz="900" b="1">
                <a:solidFill>
                  <a:srgbClr val="E6E5DE"/>
                </a:solidFill>
                <a:latin typeface="Calibri"/>
              </a:rPr>
              <a:t>NEXT STEP</a:t>
            </a:r>
          </a:p>
        </p:txBody>
      </p:sp>
      <p:sp>
        <p:nvSpPr>
          <p:cNvPr id="6" name="TextBox 5"/>
          <p:cNvSpPr txBox="1"/>
          <p:nvPr/>
        </p:nvSpPr>
        <p:spPr>
          <a:xfrm>
            <a:off x="7772400" y="73152"/>
            <a:ext cx="4297680" cy="365760"/>
          </a:xfrm>
          <a:prstGeom prst="rect">
            <a:avLst/>
          </a:prstGeom>
          <a:noFill/>
        </p:spPr>
        <p:txBody>
          <a:bodyPr wrap="square">
            <a:spAutoFit/>
          </a:bodyPr>
          <a:lstStyle/>
          <a:p>
            <a:pPr algn="r"/>
            <a:r>
              <a:rPr sz="900" b="1">
                <a:solidFill>
                  <a:srgbClr val="01A296"/>
                </a:solidFill>
                <a:latin typeface="Calibri"/>
              </a:rPr>
              <a:t>PROFITPULSE</a:t>
            </a:r>
          </a:p>
        </p:txBody>
      </p:sp>
      <p:sp>
        <p:nvSpPr>
          <p:cNvPr id="7" name="TextBox 6"/>
          <p:cNvSpPr txBox="1"/>
          <p:nvPr/>
        </p:nvSpPr>
        <p:spPr>
          <a:xfrm>
            <a:off x="182880" y="347472"/>
            <a:ext cx="8229600" cy="457200"/>
          </a:xfrm>
          <a:prstGeom prst="rect">
            <a:avLst/>
          </a:prstGeom>
          <a:noFill/>
        </p:spPr>
        <p:txBody>
          <a:bodyPr wrap="square">
            <a:spAutoFit/>
          </a:bodyPr>
          <a:lstStyle/>
          <a:p>
            <a:pPr algn="l"/>
            <a:r>
              <a:rPr sz="2200" b="1">
                <a:solidFill>
                  <a:srgbClr val="FFFFFF"/>
                </a:solidFill>
                <a:latin typeface="Calibri"/>
              </a:rPr>
              <a:t>Your growth is financeable. Let us show you how.</a:t>
            </a:r>
          </a:p>
        </p:txBody>
      </p:sp>
      <p:sp>
        <p:nvSpPr>
          <p:cNvPr id="8" name="TextBox 7"/>
          <p:cNvSpPr txBox="1"/>
          <p:nvPr/>
        </p:nvSpPr>
        <p:spPr>
          <a:xfrm>
            <a:off x="9601200" y="347472"/>
            <a:ext cx="2468880" cy="457200"/>
          </a:xfrm>
          <a:prstGeom prst="rect">
            <a:avLst/>
          </a:prstGeom>
          <a:noFill/>
        </p:spPr>
        <p:txBody>
          <a:bodyPr wrap="square">
            <a:spAutoFit/>
          </a:bodyPr>
          <a:lstStyle/>
          <a:p>
            <a:pPr algn="r"/>
            <a:r>
              <a:rPr sz="1200" b="0">
                <a:solidFill>
                  <a:srgbClr val="E6E5DE"/>
                </a:solidFill>
                <a:latin typeface="Calibri"/>
              </a:rPr>
              <a:t>12 Jun 2026</a:t>
            </a:r>
          </a:p>
        </p:txBody>
      </p:sp>
      <p:sp>
        <p:nvSpPr>
          <p:cNvPr id="9" name="Rectangle 8"/>
          <p:cNvSpPr/>
          <p:nvPr/>
        </p:nvSpPr>
        <p:spPr>
          <a:xfrm>
            <a:off x="6126480" y="1005840"/>
            <a:ext cx="18288" cy="557784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1051560"/>
            <a:ext cx="5760720" cy="502920"/>
          </a:xfrm>
          <a:prstGeom prst="rect">
            <a:avLst/>
          </a:prstGeom>
          <a:noFill/>
        </p:spPr>
        <p:txBody>
          <a:bodyPr wrap="square">
            <a:spAutoFit/>
          </a:bodyPr>
          <a:lstStyle/>
          <a:p>
            <a:pPr algn="l"/>
            <a:r>
              <a:rPr sz="2000" b="1">
                <a:solidFill>
                  <a:srgbClr val="000000"/>
                </a:solidFill>
                <a:latin typeface="Calibri"/>
              </a:rPr>
              <a:t>Strategic Growth Diagnostic</a:t>
            </a:r>
          </a:p>
        </p:txBody>
      </p:sp>
      <p:sp>
        <p:nvSpPr>
          <p:cNvPr id="11" name="Rectangle 10"/>
          <p:cNvSpPr/>
          <p:nvPr/>
        </p:nvSpPr>
        <p:spPr>
          <a:xfrm>
            <a:off x="182880" y="1600200"/>
            <a:ext cx="2286000" cy="5029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627632"/>
            <a:ext cx="2103120" cy="438912"/>
          </a:xfrm>
          <a:prstGeom prst="rect">
            <a:avLst/>
          </a:prstGeom>
          <a:noFill/>
        </p:spPr>
        <p:txBody>
          <a:bodyPr wrap="square">
            <a:spAutoFit/>
          </a:bodyPr>
          <a:lstStyle/>
          <a:p>
            <a:pPr algn="l"/>
            <a:r>
              <a:rPr sz="1600" b="1">
                <a:solidFill>
                  <a:srgbClr val="F8C806"/>
                </a:solidFill>
                <a:latin typeface="Calibri"/>
              </a:rPr>
              <a:t>$5,000  one off</a:t>
            </a:r>
          </a:p>
        </p:txBody>
      </p:sp>
      <p:sp>
        <p:nvSpPr>
          <p:cNvPr id="13" name="TextBox 12"/>
          <p:cNvSpPr txBox="1"/>
          <p:nvPr/>
        </p:nvSpPr>
        <p:spPr>
          <a:xfrm>
            <a:off x="182880" y="2212848"/>
            <a:ext cx="5760720" cy="1005840"/>
          </a:xfrm>
          <a:prstGeom prst="rect">
            <a:avLst/>
          </a:prstGeom>
          <a:noFill/>
        </p:spPr>
        <p:txBody>
          <a:bodyPr wrap="square">
            <a:spAutoFit/>
          </a:bodyPr>
          <a:lstStyle/>
          <a:p>
            <a:pPr algn="l"/>
            <a:r>
              <a:rPr sz="1100" b="0">
                <a:solidFill>
                  <a:srgbClr val="000000"/>
                </a:solidFill>
                <a:latin typeface="Calibri"/>
              </a:rPr>
              <a:t>A structured diagnostic that maps your customer concentration, identifies your highest profitability growth levers and builds a costed three year growth plan calibrated to your actual cash and headcount constraints.</a:t>
            </a:r>
          </a:p>
        </p:txBody>
      </p:sp>
      <p:sp>
        <p:nvSpPr>
          <p:cNvPr id="14" name="TextBox 13"/>
          <p:cNvSpPr txBox="1"/>
          <p:nvPr/>
        </p:nvSpPr>
        <p:spPr>
          <a:xfrm>
            <a:off x="182880" y="3291840"/>
            <a:ext cx="5760720" cy="685800"/>
          </a:xfrm>
          <a:prstGeom prst="rect">
            <a:avLst/>
          </a:prstGeom>
          <a:noFill/>
        </p:spPr>
        <p:txBody>
          <a:bodyPr wrap="square">
            <a:spAutoFit/>
          </a:bodyPr>
          <a:lstStyle/>
          <a:p>
            <a:pPr algn="l"/>
            <a:r>
              <a:rPr sz="1000" b="0">
                <a:solidFill>
                  <a:srgbClr val="000000"/>
                </a:solidFill>
                <a:latin typeface="Calibri"/>
              </a:rPr>
              <a:t>Deliverable: a board ready financial model and growth roadmap with explicit assumptions, sensitivity ranges and a clear first ninety day action plan.</a:t>
            </a:r>
          </a:p>
        </p:txBody>
      </p:sp>
      <p:sp>
        <p:nvSpPr>
          <p:cNvPr id="15" name="Rectangle 14"/>
          <p:cNvSpPr/>
          <p:nvPr/>
        </p:nvSpPr>
        <p:spPr>
          <a:xfrm>
            <a:off x="182880" y="4041648"/>
            <a:ext cx="5760720" cy="18288"/>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 y="4114800"/>
            <a:ext cx="5760720" cy="320040"/>
          </a:xfrm>
          <a:prstGeom prst="rect">
            <a:avLst/>
          </a:prstGeom>
          <a:noFill/>
        </p:spPr>
        <p:txBody>
          <a:bodyPr wrap="square">
            <a:spAutoFit/>
          </a:bodyPr>
          <a:lstStyle/>
          <a:p>
            <a:pPr algn="l"/>
            <a:r>
              <a:rPr sz="1100" b="1">
                <a:solidFill>
                  <a:srgbClr val="000000"/>
                </a:solidFill>
                <a:latin typeface="Calibri"/>
              </a:rPr>
              <a:t>Step one: answer a few quick questions</a:t>
            </a:r>
          </a:p>
        </p:txBody>
      </p:sp>
      <p:sp>
        <p:nvSpPr>
          <p:cNvPr id="17" name="TextBox 16"/>
          <p:cNvSpPr txBox="1"/>
          <p:nvPr/>
        </p:nvSpPr>
        <p:spPr>
          <a:xfrm>
            <a:off x="182880" y="4480560"/>
            <a:ext cx="5760720" cy="320040"/>
          </a:xfrm>
          <a:prstGeom prst="rect">
            <a:avLst/>
          </a:prstGeom>
          <a:noFill/>
        </p:spPr>
        <p:txBody>
          <a:bodyPr wrap="square">
            <a:spAutoFit/>
          </a:bodyPr>
          <a:lstStyle/>
          <a:p>
            <a:pPr algn="l"/>
            <a:r>
              <a:rPr sz="1100" b="0">
                <a:solidFill>
                  <a:srgbClr val="01A296"/>
                </a:solidFill>
                <a:latin typeface="Calibri"/>
              </a:rPr>
              <a:t>profit-pulse.com.au/full-suite-of-products</a:t>
            </a:r>
          </a:p>
        </p:txBody>
      </p:sp>
      <p:sp>
        <p:nvSpPr>
          <p:cNvPr id="18" name="Rectangle 17"/>
          <p:cNvSpPr/>
          <p:nvPr/>
        </p:nvSpPr>
        <p:spPr>
          <a:xfrm>
            <a:off x="182880" y="4892040"/>
            <a:ext cx="3474720" cy="457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10328"/>
            <a:ext cx="3291840" cy="420624"/>
          </a:xfrm>
          <a:prstGeom prst="rect">
            <a:avLst/>
          </a:prstGeom>
          <a:noFill/>
        </p:spPr>
        <p:txBody>
          <a:bodyPr wrap="square">
            <a:spAutoFit/>
          </a:bodyPr>
          <a:lstStyle/>
          <a:p>
            <a:pPr algn="ctr"/>
            <a:r>
              <a:rPr sz="1100" b="1">
                <a:solidFill>
                  <a:srgbClr val="FFFFFF"/>
                </a:solidFill>
                <a:latin typeface="Calibri"/>
                <a:hlinkClick r:id="rId2"/>
              </a:rPr>
              <a:t>Purchase the suggested product now to get started</a:t>
            </a:r>
          </a:p>
        </p:txBody>
      </p:sp>
      <p:sp>
        <p:nvSpPr>
          <p:cNvPr id="20" name="TextBox 19"/>
          <p:cNvSpPr txBox="1"/>
          <p:nvPr/>
        </p:nvSpPr>
        <p:spPr>
          <a:xfrm>
            <a:off x="182880" y="5468112"/>
            <a:ext cx="1828800" cy="274320"/>
          </a:xfrm>
          <a:prstGeom prst="rect">
            <a:avLst/>
          </a:prstGeom>
          <a:noFill/>
        </p:spPr>
        <p:txBody>
          <a:bodyPr wrap="square">
            <a:spAutoFit/>
          </a:bodyPr>
          <a:lstStyle/>
          <a:p>
            <a:pPr algn="l"/>
            <a:r>
              <a:rPr sz="1000" b="0">
                <a:solidFill>
                  <a:srgbClr val="000000"/>
                </a:solidFill>
                <a:latin typeface="Calibri"/>
              </a:rPr>
              <a:t>Or book a call:</a:t>
            </a:r>
          </a:p>
        </p:txBody>
      </p:sp>
      <p:sp>
        <p:nvSpPr>
          <p:cNvPr id="21" name="TextBox 20"/>
          <p:cNvSpPr txBox="1"/>
          <p:nvPr/>
        </p:nvSpPr>
        <p:spPr>
          <a:xfrm>
            <a:off x="1554480" y="5468112"/>
            <a:ext cx="4389120" cy="274320"/>
          </a:xfrm>
          <a:prstGeom prst="rect">
            <a:avLst/>
          </a:prstGeom>
          <a:noFill/>
        </p:spPr>
        <p:txBody>
          <a:bodyPr wrap="square">
            <a:spAutoFit/>
          </a:bodyPr>
          <a:lstStyle/>
          <a:p>
            <a:pPr algn="l"/>
            <a:r>
              <a:rPr sz="1000" b="1">
                <a:solidFill>
                  <a:srgbClr val="01A296"/>
                </a:solidFill>
                <a:latin typeface="Calibri"/>
                <a:hlinkClick r:id="rId3"/>
              </a:rPr>
              <a:t>Schedule a call with Nitesh</a:t>
            </a:r>
          </a:p>
        </p:txBody>
      </p:sp>
      <p:sp>
        <p:nvSpPr>
          <p:cNvPr id="22" name="TextBox 21"/>
          <p:cNvSpPr txBox="1"/>
          <p:nvPr/>
        </p:nvSpPr>
        <p:spPr>
          <a:xfrm>
            <a:off x="6263640" y="1051560"/>
            <a:ext cx="5760720" cy="411480"/>
          </a:xfrm>
          <a:prstGeom prst="rect">
            <a:avLst/>
          </a:prstGeom>
          <a:noFill/>
        </p:spPr>
        <p:txBody>
          <a:bodyPr wrap="square">
            <a:spAutoFit/>
          </a:bodyPr>
          <a:lstStyle/>
          <a:p>
            <a:pPr algn="l"/>
            <a:r>
              <a:rPr sz="1800" b="1">
                <a:solidFill>
                  <a:srgbClr val="000000"/>
                </a:solidFill>
                <a:latin typeface="Calibri"/>
              </a:rPr>
              <a:t>Nitesh Roopa  CA</a:t>
            </a:r>
          </a:p>
        </p:txBody>
      </p:sp>
      <p:sp>
        <p:nvSpPr>
          <p:cNvPr id="23" name="TextBox 22"/>
          <p:cNvSpPr txBox="1"/>
          <p:nvPr/>
        </p:nvSpPr>
        <p:spPr>
          <a:xfrm>
            <a:off x="6263640" y="1508760"/>
            <a:ext cx="5760720" cy="320040"/>
          </a:xfrm>
          <a:prstGeom prst="rect">
            <a:avLst/>
          </a:prstGeom>
          <a:noFill/>
        </p:spPr>
        <p:txBody>
          <a:bodyPr wrap="square">
            <a:spAutoFit/>
          </a:bodyPr>
          <a:lstStyle/>
          <a:p>
            <a:pPr algn="l"/>
            <a:r>
              <a:rPr sz="1200" b="0">
                <a:solidFill>
                  <a:srgbClr val="01A296"/>
                </a:solidFill>
                <a:latin typeface="Calibri"/>
              </a:rPr>
              <a:t>Managing Partner, ProfitPulse</a:t>
            </a:r>
          </a:p>
        </p:txBody>
      </p:sp>
      <p:sp>
        <p:nvSpPr>
          <p:cNvPr id="24" name="Rectangle 23"/>
          <p:cNvSpPr/>
          <p:nvPr/>
        </p:nvSpPr>
        <p:spPr>
          <a:xfrm>
            <a:off x="6263640" y="204825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920240"/>
            <a:ext cx="5577840" cy="365760"/>
          </a:xfrm>
          <a:prstGeom prst="rect">
            <a:avLst/>
          </a:prstGeom>
          <a:noFill/>
        </p:spPr>
        <p:txBody>
          <a:bodyPr wrap="square">
            <a:spAutoFit/>
          </a:bodyPr>
          <a:lstStyle/>
          <a:p>
            <a:pPr algn="l"/>
            <a:r>
              <a:rPr sz="1000" b="0">
                <a:solidFill>
                  <a:srgbClr val="000000"/>
                </a:solidFill>
                <a:latin typeface="Calibri"/>
              </a:rPr>
              <a:t>16 years in corporate finance and commercial advisory</a:t>
            </a:r>
          </a:p>
        </p:txBody>
      </p:sp>
      <p:sp>
        <p:nvSpPr>
          <p:cNvPr id="26" name="Rectangle 25"/>
          <p:cNvSpPr/>
          <p:nvPr/>
        </p:nvSpPr>
        <p:spPr>
          <a:xfrm>
            <a:off x="6263640" y="245059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322576"/>
            <a:ext cx="5577840" cy="365760"/>
          </a:xfrm>
          <a:prstGeom prst="rect">
            <a:avLst/>
          </a:prstGeom>
          <a:noFill/>
        </p:spPr>
        <p:txBody>
          <a:bodyPr wrap="square">
            <a:spAutoFit/>
          </a:bodyPr>
          <a:lstStyle/>
          <a:p>
            <a:pPr algn="l"/>
            <a:r>
              <a:rPr sz="1000" b="0">
                <a:solidFill>
                  <a:srgbClr val="000000"/>
                </a:solidFill>
                <a:latin typeface="Calibri"/>
              </a:rPr>
              <a:t>52 completed transactions totalling AUD 10B gross deal value</a:t>
            </a:r>
          </a:p>
        </p:txBody>
      </p:sp>
      <p:sp>
        <p:nvSpPr>
          <p:cNvPr id="28" name="Rectangle 27"/>
          <p:cNvSpPr/>
          <p:nvPr/>
        </p:nvSpPr>
        <p:spPr>
          <a:xfrm>
            <a:off x="6263640" y="285292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2724912"/>
            <a:ext cx="5577840" cy="365760"/>
          </a:xfrm>
          <a:prstGeom prst="rect">
            <a:avLst/>
          </a:prstGeom>
          <a:noFill/>
        </p:spPr>
        <p:txBody>
          <a:bodyPr wrap="square">
            <a:spAutoFit/>
          </a:bodyPr>
          <a:lstStyle/>
          <a:p>
            <a:pPr algn="l"/>
            <a:r>
              <a:rPr sz="1000" b="0">
                <a:solidFill>
                  <a:srgbClr val="000000"/>
                </a:solidFill>
                <a:latin typeface="Calibri"/>
              </a:rPr>
              <a:t>Largest single transaction: USD 1.3B</a:t>
            </a:r>
          </a:p>
        </p:txBody>
      </p:sp>
      <p:sp>
        <p:nvSpPr>
          <p:cNvPr id="30" name="Rectangle 29"/>
          <p:cNvSpPr/>
          <p:nvPr/>
        </p:nvSpPr>
        <p:spPr>
          <a:xfrm>
            <a:off x="6263640" y="325526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27248"/>
            <a:ext cx="5577840" cy="365760"/>
          </a:xfrm>
          <a:prstGeom prst="rect">
            <a:avLst/>
          </a:prstGeom>
          <a:noFill/>
        </p:spPr>
        <p:txBody>
          <a:bodyPr wrap="square">
            <a:spAutoFit/>
          </a:bodyPr>
          <a:lstStyle/>
          <a:p>
            <a:pPr algn="l"/>
            <a:r>
              <a:rPr sz="1000" b="0">
                <a:solidFill>
                  <a:srgbClr val="000000"/>
                </a:solidFill>
                <a:latin typeface="Calibri"/>
              </a:rPr>
              <a:t>Advisory work across Australia, South Africa, UK and UAE</a:t>
            </a:r>
          </a:p>
        </p:txBody>
      </p:sp>
      <p:sp>
        <p:nvSpPr>
          <p:cNvPr id="32" name="Rectangle 31"/>
          <p:cNvSpPr/>
          <p:nvPr/>
        </p:nvSpPr>
        <p:spPr>
          <a:xfrm>
            <a:off x="6263640" y="365760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529584"/>
            <a:ext cx="5577840" cy="365760"/>
          </a:xfrm>
          <a:prstGeom prst="rect">
            <a:avLst/>
          </a:prstGeom>
          <a:noFill/>
        </p:spPr>
        <p:txBody>
          <a:bodyPr wrap="square">
            <a:spAutoFit/>
          </a:bodyPr>
          <a:lstStyle/>
          <a:p>
            <a:pPr algn="l"/>
            <a:r>
              <a:rPr sz="1000" b="0">
                <a:solidFill>
                  <a:srgbClr val="000000"/>
                </a:solidFill>
                <a:latin typeface="Calibri"/>
              </a:rPr>
              <a:t>QIC (Queensland Investment Corporation) 2023 to 2025</a:t>
            </a:r>
          </a:p>
        </p:txBody>
      </p:sp>
      <p:sp>
        <p:nvSpPr>
          <p:cNvPr id="34" name="Rectangle 33"/>
          <p:cNvSpPr/>
          <p:nvPr/>
        </p:nvSpPr>
        <p:spPr>
          <a:xfrm>
            <a:off x="6263640" y="405993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931920"/>
            <a:ext cx="5577840" cy="365760"/>
          </a:xfrm>
          <a:prstGeom prst="rect">
            <a:avLst/>
          </a:prstGeom>
          <a:noFill/>
        </p:spPr>
        <p:txBody>
          <a:bodyPr wrap="square">
            <a:spAutoFit/>
          </a:bodyPr>
          <a:lstStyle/>
          <a:p>
            <a:pPr algn="l"/>
            <a:r>
              <a:rPr sz="1000" b="0">
                <a:solidFill>
                  <a:srgbClr val="000000"/>
                </a:solidFill>
                <a:latin typeface="Calibri"/>
              </a:rPr>
              <a:t>Nedbank Corporate and Investment Banking 2015 to 2022</a:t>
            </a:r>
          </a:p>
        </p:txBody>
      </p:sp>
      <p:sp>
        <p:nvSpPr>
          <p:cNvPr id="36" name="Rectangle 35"/>
          <p:cNvSpPr/>
          <p:nvPr/>
        </p:nvSpPr>
        <p:spPr>
          <a:xfrm>
            <a:off x="6263640" y="446227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4334256"/>
            <a:ext cx="5577840" cy="365760"/>
          </a:xfrm>
          <a:prstGeom prst="rect">
            <a:avLst/>
          </a:prstGeom>
          <a:noFill/>
        </p:spPr>
        <p:txBody>
          <a:bodyPr wrap="square">
            <a:spAutoFit/>
          </a:bodyPr>
          <a:lstStyle/>
          <a:p>
            <a:pPr algn="l"/>
            <a:r>
              <a:rPr sz="1000" b="0">
                <a:solidFill>
                  <a:srgbClr val="000000"/>
                </a:solidFill>
                <a:latin typeface="Calibri"/>
              </a:rPr>
              <a:t>PwC Deals 2010 to 2014</a:t>
            </a:r>
          </a:p>
        </p:txBody>
      </p:sp>
      <p:sp>
        <p:nvSpPr>
          <p:cNvPr id="38" name="Rectangle 37"/>
          <p:cNvSpPr/>
          <p:nvPr/>
        </p:nvSpPr>
        <p:spPr>
          <a:xfrm>
            <a:off x="6263640" y="486460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736592"/>
            <a:ext cx="5577840" cy="365760"/>
          </a:xfrm>
          <a:prstGeom prst="rect">
            <a:avLst/>
          </a:prstGeom>
          <a:noFill/>
        </p:spPr>
        <p:txBody>
          <a:bodyPr wrap="square">
            <a:spAutoFit/>
          </a:bodyPr>
          <a:lstStyle/>
          <a:p>
            <a:pPr algn="l"/>
            <a:r>
              <a:rPr sz="1000" b="0">
                <a:solidFill>
                  <a:srgbClr val="000000"/>
                </a:solidFill>
                <a:latin typeface="Calibri"/>
              </a:rPr>
              <a:t>Qualified CA under SAICA (South African Institute of Chartered Accountants)</a:t>
            </a:r>
          </a:p>
        </p:txBody>
      </p:sp>
      <p:sp>
        <p:nvSpPr>
          <p:cNvPr id="40" name="Rectangle 39"/>
          <p:cNvSpPr/>
          <p:nvPr/>
        </p:nvSpPr>
        <p:spPr>
          <a:xfrm>
            <a:off x="6263640" y="5303520"/>
            <a:ext cx="5760720" cy="182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5358384"/>
            <a:ext cx="5760720" cy="320040"/>
          </a:xfrm>
          <a:prstGeom prst="rect">
            <a:avLst/>
          </a:prstGeom>
          <a:noFill/>
        </p:spPr>
        <p:txBody>
          <a:bodyPr wrap="square">
            <a:spAutoFit/>
          </a:bodyPr>
          <a:lstStyle/>
          <a:p>
            <a:pPr algn="l"/>
            <a:r>
              <a:rPr sz="900" b="0">
                <a:solidFill>
                  <a:srgbClr val="000000"/>
                </a:solidFill>
                <a:latin typeface="Calibri"/>
              </a:rPr>
              <a:t>Nitesh@Profit-Pulse.com.au   |   +61 411 876 267   |   Profit-Pulse.com.au</a:t>
            </a:r>
          </a:p>
        </p:txBody>
      </p:sp>
      <p:sp>
        <p:nvSpPr>
          <p:cNvPr id="42" name="Rectangle 41"/>
          <p:cNvSpPr/>
          <p:nvPr/>
        </p:nvSpPr>
        <p:spPr>
          <a:xfrm>
            <a:off x="0" y="6583680"/>
            <a:ext cx="12191695" cy="2743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6601968"/>
            <a:ext cx="7315200" cy="237744"/>
          </a:xfrm>
          <a:prstGeom prst="rect">
            <a:avLst/>
          </a:prstGeom>
          <a:noFill/>
        </p:spPr>
        <p:txBody>
          <a:bodyPr wrap="square">
            <a:spAutoFit/>
          </a:bodyPr>
          <a:lstStyle/>
          <a:p>
            <a:pPr algn="l"/>
            <a:r>
              <a:rPr sz="800" b="0">
                <a:solidFill>
                  <a:srgbClr val="E6E5DE"/>
                </a:solidFill>
                <a:latin typeface="Calibri"/>
              </a:rPr>
              <a:t>Prepared by ProfitPulse | Profit-Pulse.com.au | Confidential</a:t>
            </a:r>
          </a:p>
        </p:txBody>
      </p:sp>
      <p:sp>
        <p:nvSpPr>
          <p:cNvPr id="44" name="TextBox 43"/>
          <p:cNvSpPr txBox="1"/>
          <p:nvPr/>
        </p:nvSpPr>
        <p:spPr>
          <a:xfrm>
            <a:off x="10820095" y="6601968"/>
            <a:ext cx="1188720" cy="237744"/>
          </a:xfrm>
          <a:prstGeom prst="rect">
            <a:avLst/>
          </a:prstGeom>
          <a:noFill/>
        </p:spPr>
        <p:txBody>
          <a:bodyPr wrap="square">
            <a:spAutoFit/>
          </a:bodyPr>
          <a:lstStyle/>
          <a:p>
            <a:pPr algn="r"/>
            <a:r>
              <a:rPr sz="800" b="0">
                <a:solidFill>
                  <a:srgbClr val="E6E5DE"/>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