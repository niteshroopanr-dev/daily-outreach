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full-suite-of-products" TargetMode="External"/><Relationship Id="rId3" Type="http://schemas.openxmlformats.org/officeDocument/2006/relationships/hyperlink" Target="https://buy.stripe.com/dRmbJ22uA8ekdlCgYT3ks0r" TargetMode="External"/><Relationship Id="rId4" Type="http://schemas.openxmlformats.org/officeDocument/2006/relationships/hyperlink" Target="https://bookings.cloud.microsoft/book/ProfitPulse1@profit-pulse.com.au/?ismsaljsauthenabled=true" TargetMode="External"/><Relationship Id="rId5" Type="http://schemas.openxmlformats.org/officeDocument/2006/relationships/hyperlink" Target="https://linkedin.com/in/nitesh-roopa-77594163"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5143500"/>
          </a:xfrm>
          <a:prstGeom prst="rect">
            <a:avLst/>
          </a:prstGeom>
          <a:solidFill>
            <a:srgbClr val="F8C8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9070848" cy="7772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64008"/>
            <a:ext cx="5303520" cy="347472"/>
          </a:xfrm>
          <a:prstGeom prst="rect">
            <a:avLst/>
          </a:prstGeom>
          <a:noFill/>
        </p:spPr>
        <p:txBody>
          <a:bodyPr wrap="square" lIns="36576" tIns="18288" rIns="18288" bIns="18288">
            <a:spAutoFit/>
          </a:bodyPr>
          <a:lstStyle/>
          <a:p>
            <a:pPr algn="l"/>
            <a:r>
              <a:rPr sz="950" b="1" i="0">
                <a:solidFill>
                  <a:srgbClr val="E6E5DE"/>
                </a:solidFill>
                <a:latin typeface="Calibri"/>
              </a:rPr>
              <a:t>COMMERCIAL INTELLIGENCE BRIEF</a:t>
            </a:r>
          </a:p>
        </p:txBody>
      </p:sp>
      <p:sp>
        <p:nvSpPr>
          <p:cNvPr id="5" name="TextBox 4"/>
          <p:cNvSpPr txBox="1"/>
          <p:nvPr/>
        </p:nvSpPr>
        <p:spPr>
          <a:xfrm>
            <a:off x="5029200" y="64008"/>
            <a:ext cx="4023360" cy="347472"/>
          </a:xfrm>
          <a:prstGeom prst="rect">
            <a:avLst/>
          </a:prstGeom>
          <a:noFill/>
        </p:spPr>
        <p:txBody>
          <a:bodyPr wrap="square" lIns="36576" tIns="18288" rIns="18288" bIns="18288">
            <a:spAutoFit/>
          </a:bodyPr>
          <a:lstStyle/>
          <a:p>
            <a:pPr algn="r"/>
            <a:r>
              <a:rPr sz="950" b="1" i="0">
                <a:solidFill>
                  <a:srgbClr val="E6E5DE"/>
                </a:solidFill>
                <a:latin typeface="Calibri"/>
              </a:rPr>
              <a:t>PROFITPULSE</a:t>
            </a:r>
          </a:p>
        </p:txBody>
      </p:sp>
      <p:sp>
        <p:nvSpPr>
          <p:cNvPr id="6" name="Rectangle 5"/>
          <p:cNvSpPr/>
          <p:nvPr/>
        </p:nvSpPr>
        <p:spPr>
          <a:xfrm>
            <a:off x="73152" y="5001768"/>
            <a:ext cx="9070848" cy="13716"/>
          </a:xfrm>
          <a:prstGeom prst="rect">
            <a:avLst/>
          </a:prstGeom>
          <a:solidFill>
            <a:srgbClr val="E6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020056"/>
            <a:ext cx="8732520" cy="118872"/>
          </a:xfrm>
          <a:prstGeom prst="rect">
            <a:avLst/>
          </a:prstGeom>
          <a:noFill/>
        </p:spPr>
        <p:txBody>
          <a:bodyPr wrap="square" lIns="36576" tIns="18288" rIns="18288" bIns="18288">
            <a:spAutoFit/>
          </a:bodyPr>
          <a:lstStyle/>
          <a:p>
            <a:pPr algn="l"/>
            <a:r>
              <a:rPr sz="650" b="0" i="1">
                <a:solidFill>
                  <a:srgbClr val="000000"/>
                </a:solidFill>
                <a:latin typeface="Calibri"/>
              </a:rPr>
              <a:t>Prepared by Nitesh Roopa CA, Managing Partner, ProfitPulse  |  Profit-Pulse.com.au  |  09 Jun 2026</a:t>
            </a:r>
          </a:p>
        </p:txBody>
      </p:sp>
      <p:sp>
        <p:nvSpPr>
          <p:cNvPr id="8" name="TextBox 7"/>
          <p:cNvSpPr txBox="1"/>
          <p:nvPr/>
        </p:nvSpPr>
        <p:spPr>
          <a:xfrm>
            <a:off x="182880" y="804672"/>
            <a:ext cx="6400800" cy="475488"/>
          </a:xfrm>
          <a:prstGeom prst="rect">
            <a:avLst/>
          </a:prstGeom>
          <a:noFill/>
        </p:spPr>
        <p:txBody>
          <a:bodyPr wrap="square" lIns="36576" tIns="18288" rIns="18288" bIns="18288">
            <a:spAutoFit/>
          </a:bodyPr>
          <a:lstStyle/>
          <a:p>
            <a:pPr algn="l"/>
            <a:r>
              <a:rPr sz="3600" b="1" i="0">
                <a:solidFill>
                  <a:srgbClr val="000000"/>
                </a:solidFill>
                <a:latin typeface="Georgia"/>
              </a:rPr>
              <a:t>Hampr</a:t>
            </a:r>
          </a:p>
        </p:txBody>
      </p:sp>
      <p:sp>
        <p:nvSpPr>
          <p:cNvPr id="9" name="TextBox 8"/>
          <p:cNvSpPr txBox="1"/>
          <p:nvPr/>
        </p:nvSpPr>
        <p:spPr>
          <a:xfrm>
            <a:off x="182880" y="1252728"/>
            <a:ext cx="8778240" cy="201168"/>
          </a:xfrm>
          <a:prstGeom prst="rect">
            <a:avLst/>
          </a:prstGeom>
          <a:noFill/>
        </p:spPr>
        <p:txBody>
          <a:bodyPr wrap="square" lIns="36576" tIns="18288" rIns="18288" bIns="18288">
            <a:spAutoFit/>
          </a:bodyPr>
          <a:lstStyle/>
          <a:p>
            <a:pPr algn="l"/>
            <a:r>
              <a:rPr sz="1000" b="0" i="0">
                <a:solidFill>
                  <a:srgbClr val="000000"/>
                </a:solidFill>
                <a:latin typeface="Calibri"/>
              </a:rPr>
              <a:t>B2B workplace hospitality and corporate food technology marketplace   |   Sydney, NSW</a:t>
            </a:r>
          </a:p>
        </p:txBody>
      </p:sp>
      <p:sp>
        <p:nvSpPr>
          <p:cNvPr id="10" name="Rectangle 9"/>
          <p:cNvSpPr/>
          <p:nvPr/>
        </p:nvSpPr>
        <p:spPr>
          <a:xfrm>
            <a:off x="109728" y="1481328"/>
            <a:ext cx="1431036" cy="9784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28" y="1481328"/>
            <a:ext cx="1431036" cy="4114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5448" y="1545336"/>
            <a:ext cx="1339595" cy="401147"/>
          </a:xfrm>
          <a:prstGeom prst="rect">
            <a:avLst/>
          </a:prstGeom>
          <a:noFill/>
        </p:spPr>
        <p:txBody>
          <a:bodyPr wrap="square" lIns="36576" tIns="18288" rIns="18288" bIns="18288">
            <a:spAutoFit/>
          </a:bodyPr>
          <a:lstStyle/>
          <a:p>
            <a:pPr algn="l"/>
            <a:r>
              <a:rPr sz="1900" b="1" i="0">
                <a:solidFill>
                  <a:srgbClr val="F8C806"/>
                </a:solidFill>
                <a:latin typeface="Georgia"/>
              </a:rPr>
              <a:t>AUD $12.7M</a:t>
            </a:r>
          </a:p>
        </p:txBody>
      </p:sp>
      <p:sp>
        <p:nvSpPr>
          <p:cNvPr id="13" name="TextBox 12"/>
          <p:cNvSpPr txBox="1"/>
          <p:nvPr/>
        </p:nvSpPr>
        <p:spPr>
          <a:xfrm>
            <a:off x="155448" y="1950963"/>
            <a:ext cx="1339595" cy="195681"/>
          </a:xfrm>
          <a:prstGeom prst="rect">
            <a:avLst/>
          </a:prstGeom>
          <a:noFill/>
        </p:spPr>
        <p:txBody>
          <a:bodyPr wrap="square" lIns="36576" tIns="18288" rIns="18288" bIns="18288">
            <a:spAutoFit/>
          </a:bodyPr>
          <a:lstStyle/>
          <a:p>
            <a:pPr algn="l"/>
            <a:r>
              <a:rPr sz="750" b="0" i="0">
                <a:solidFill>
                  <a:srgbClr val="FFFFFF"/>
                </a:solidFill>
                <a:latin typeface="Calibri"/>
              </a:rPr>
              <a:t>Revenue</a:t>
            </a:r>
          </a:p>
        </p:txBody>
      </p:sp>
      <p:sp>
        <p:nvSpPr>
          <p:cNvPr id="14" name="TextBox 13"/>
          <p:cNvSpPr txBox="1"/>
          <p:nvPr/>
        </p:nvSpPr>
        <p:spPr>
          <a:xfrm>
            <a:off x="155448" y="2127077"/>
            <a:ext cx="1339595" cy="176113"/>
          </a:xfrm>
          <a:prstGeom prst="rect">
            <a:avLst/>
          </a:prstGeom>
          <a:noFill/>
        </p:spPr>
        <p:txBody>
          <a:bodyPr wrap="square" lIns="36576" tIns="18288" rIns="18288" bIns="18288">
            <a:spAutoFit/>
          </a:bodyPr>
          <a:lstStyle/>
          <a:p>
            <a:pPr algn="l"/>
            <a:r>
              <a:rPr sz="750" b="0" i="0">
                <a:solidFill>
                  <a:srgbClr val="E6E5DE"/>
                </a:solidFill>
                <a:latin typeface="Calibri"/>
              </a:rPr>
              <a:t>FY2024</a:t>
            </a:r>
          </a:p>
        </p:txBody>
      </p:sp>
      <p:sp>
        <p:nvSpPr>
          <p:cNvPr id="15" name="TextBox 14"/>
          <p:cNvSpPr txBox="1"/>
          <p:nvPr/>
        </p:nvSpPr>
        <p:spPr>
          <a:xfrm>
            <a:off x="155448" y="2293406"/>
            <a:ext cx="1339595" cy="146761"/>
          </a:xfrm>
          <a:prstGeom prst="rect">
            <a:avLst/>
          </a:prstGeom>
          <a:noFill/>
        </p:spPr>
        <p:txBody>
          <a:bodyPr wrap="square" lIns="36576" tIns="18288" rIns="18288" bIns="18288">
            <a:spAutoFit/>
          </a:bodyPr>
          <a:lstStyle/>
          <a:p>
            <a:pPr algn="l"/>
            <a:r>
              <a:rPr sz="600" b="0" i="1">
                <a:solidFill>
                  <a:srgbClr val="01A296"/>
                </a:solidFill>
                <a:latin typeface="Calibri"/>
              </a:rPr>
              <a:t>Smart50 2024, SmartCompany Nov 2024</a:t>
            </a:r>
          </a:p>
        </p:txBody>
      </p:sp>
      <p:sp>
        <p:nvSpPr>
          <p:cNvPr id="16" name="Rectangle 15"/>
          <p:cNvSpPr/>
          <p:nvPr/>
        </p:nvSpPr>
        <p:spPr>
          <a:xfrm>
            <a:off x="1599285" y="1481328"/>
            <a:ext cx="1431036" cy="9784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599285" y="1481328"/>
            <a:ext cx="1431036" cy="4114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45005" y="1545336"/>
            <a:ext cx="1339595" cy="401147"/>
          </a:xfrm>
          <a:prstGeom prst="rect">
            <a:avLst/>
          </a:prstGeom>
          <a:noFill/>
        </p:spPr>
        <p:txBody>
          <a:bodyPr wrap="square" lIns="36576" tIns="18288" rIns="18288" bIns="18288">
            <a:spAutoFit/>
          </a:bodyPr>
          <a:lstStyle/>
          <a:p>
            <a:pPr algn="l"/>
            <a:r>
              <a:rPr sz="1900" b="1" i="0">
                <a:solidFill>
                  <a:srgbClr val="F8C806"/>
                </a:solidFill>
                <a:latin typeface="Georgia"/>
              </a:rPr>
              <a:t>153%</a:t>
            </a:r>
          </a:p>
        </p:txBody>
      </p:sp>
      <p:sp>
        <p:nvSpPr>
          <p:cNvPr id="19" name="TextBox 18"/>
          <p:cNvSpPr txBox="1"/>
          <p:nvPr/>
        </p:nvSpPr>
        <p:spPr>
          <a:xfrm>
            <a:off x="1645005" y="1950963"/>
            <a:ext cx="1339595" cy="195681"/>
          </a:xfrm>
          <a:prstGeom prst="rect">
            <a:avLst/>
          </a:prstGeom>
          <a:noFill/>
        </p:spPr>
        <p:txBody>
          <a:bodyPr wrap="square" lIns="36576" tIns="18288" rIns="18288" bIns="18288">
            <a:spAutoFit/>
          </a:bodyPr>
          <a:lstStyle/>
          <a:p>
            <a:pPr algn="l"/>
            <a:r>
              <a:rPr sz="750" b="0" i="0">
                <a:solidFill>
                  <a:srgbClr val="FFFFFF"/>
                </a:solidFill>
                <a:latin typeface="Calibri"/>
              </a:rPr>
              <a:t>Revenue growth</a:t>
            </a:r>
          </a:p>
        </p:txBody>
      </p:sp>
      <p:sp>
        <p:nvSpPr>
          <p:cNvPr id="20" name="TextBox 19"/>
          <p:cNvSpPr txBox="1"/>
          <p:nvPr/>
        </p:nvSpPr>
        <p:spPr>
          <a:xfrm>
            <a:off x="1645005" y="2127077"/>
            <a:ext cx="1339595" cy="176113"/>
          </a:xfrm>
          <a:prstGeom prst="rect">
            <a:avLst/>
          </a:prstGeom>
          <a:noFill/>
        </p:spPr>
        <p:txBody>
          <a:bodyPr wrap="square" lIns="36576" tIns="18288" rIns="18288" bIns="18288">
            <a:spAutoFit/>
          </a:bodyPr>
          <a:lstStyle/>
          <a:p>
            <a:pPr algn="l"/>
            <a:r>
              <a:rPr sz="750" b="0" i="0">
                <a:solidFill>
                  <a:srgbClr val="E6E5DE"/>
                </a:solidFill>
                <a:latin typeface="Calibri"/>
              </a:rPr>
              <a:t>year on year FY2024</a:t>
            </a:r>
          </a:p>
        </p:txBody>
      </p:sp>
      <p:sp>
        <p:nvSpPr>
          <p:cNvPr id="21" name="TextBox 20"/>
          <p:cNvSpPr txBox="1"/>
          <p:nvPr/>
        </p:nvSpPr>
        <p:spPr>
          <a:xfrm>
            <a:off x="1645005" y="2293406"/>
            <a:ext cx="1339595" cy="146761"/>
          </a:xfrm>
          <a:prstGeom prst="rect">
            <a:avLst/>
          </a:prstGeom>
          <a:noFill/>
        </p:spPr>
        <p:txBody>
          <a:bodyPr wrap="square" lIns="36576" tIns="18288" rIns="18288" bIns="18288">
            <a:spAutoFit/>
          </a:bodyPr>
          <a:lstStyle/>
          <a:p>
            <a:pPr algn="l"/>
            <a:r>
              <a:rPr sz="600" b="0" i="1">
                <a:solidFill>
                  <a:srgbClr val="01A296"/>
                </a:solidFill>
                <a:latin typeface="Calibri"/>
              </a:rPr>
              <a:t>Smart50 2024, SmartCompany Nov 2024</a:t>
            </a:r>
          </a:p>
        </p:txBody>
      </p:sp>
      <p:sp>
        <p:nvSpPr>
          <p:cNvPr id="22" name="Rectangle 21"/>
          <p:cNvSpPr/>
          <p:nvPr/>
        </p:nvSpPr>
        <p:spPr>
          <a:xfrm>
            <a:off x="3088843" y="1481328"/>
            <a:ext cx="1431036" cy="9784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088843" y="1481328"/>
            <a:ext cx="1431036" cy="4114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34563" y="1545336"/>
            <a:ext cx="1339595" cy="401147"/>
          </a:xfrm>
          <a:prstGeom prst="rect">
            <a:avLst/>
          </a:prstGeom>
          <a:noFill/>
        </p:spPr>
        <p:txBody>
          <a:bodyPr wrap="square" lIns="36576" tIns="18288" rIns="18288" bIns="18288">
            <a:spAutoFit/>
          </a:bodyPr>
          <a:lstStyle/>
          <a:p>
            <a:pPr algn="l"/>
            <a:r>
              <a:rPr sz="1900" b="1" i="0">
                <a:solidFill>
                  <a:srgbClr val="F8C806"/>
                </a:solidFill>
                <a:latin typeface="Georgia"/>
              </a:rPr>
              <a:t>#8</a:t>
            </a:r>
          </a:p>
        </p:txBody>
      </p:sp>
      <p:sp>
        <p:nvSpPr>
          <p:cNvPr id="25" name="TextBox 24"/>
          <p:cNvSpPr txBox="1"/>
          <p:nvPr/>
        </p:nvSpPr>
        <p:spPr>
          <a:xfrm>
            <a:off x="3134563" y="1950963"/>
            <a:ext cx="1339595" cy="195681"/>
          </a:xfrm>
          <a:prstGeom prst="rect">
            <a:avLst/>
          </a:prstGeom>
          <a:noFill/>
        </p:spPr>
        <p:txBody>
          <a:bodyPr wrap="square" lIns="36576" tIns="18288" rIns="18288" bIns="18288">
            <a:spAutoFit/>
          </a:bodyPr>
          <a:lstStyle/>
          <a:p>
            <a:pPr algn="l"/>
            <a:r>
              <a:rPr sz="750" b="0" i="0">
                <a:solidFill>
                  <a:srgbClr val="FFFFFF"/>
                </a:solidFill>
                <a:latin typeface="Calibri"/>
              </a:rPr>
              <a:t>Smart50 ranking</a:t>
            </a:r>
          </a:p>
        </p:txBody>
      </p:sp>
      <p:sp>
        <p:nvSpPr>
          <p:cNvPr id="26" name="TextBox 25"/>
          <p:cNvSpPr txBox="1"/>
          <p:nvPr/>
        </p:nvSpPr>
        <p:spPr>
          <a:xfrm>
            <a:off x="3134563" y="2127077"/>
            <a:ext cx="1339595" cy="176113"/>
          </a:xfrm>
          <a:prstGeom prst="rect">
            <a:avLst/>
          </a:prstGeom>
          <a:noFill/>
        </p:spPr>
        <p:txBody>
          <a:bodyPr wrap="square" lIns="36576" tIns="18288" rIns="18288" bIns="18288">
            <a:spAutoFit/>
          </a:bodyPr>
          <a:lstStyle/>
          <a:p>
            <a:pPr algn="l"/>
            <a:r>
              <a:rPr sz="750" b="0" i="0">
                <a:solidFill>
                  <a:srgbClr val="E6E5DE"/>
                </a:solidFill>
                <a:latin typeface="Calibri"/>
              </a:rPr>
              <a:t>nationally, 2024</a:t>
            </a:r>
          </a:p>
        </p:txBody>
      </p:sp>
      <p:sp>
        <p:nvSpPr>
          <p:cNvPr id="27" name="TextBox 26"/>
          <p:cNvSpPr txBox="1"/>
          <p:nvPr/>
        </p:nvSpPr>
        <p:spPr>
          <a:xfrm>
            <a:off x="3134563" y="2293406"/>
            <a:ext cx="1339595" cy="146761"/>
          </a:xfrm>
          <a:prstGeom prst="rect">
            <a:avLst/>
          </a:prstGeom>
          <a:noFill/>
        </p:spPr>
        <p:txBody>
          <a:bodyPr wrap="square" lIns="36576" tIns="18288" rIns="18288" bIns="18288">
            <a:spAutoFit/>
          </a:bodyPr>
          <a:lstStyle/>
          <a:p>
            <a:pPr algn="l"/>
            <a:r>
              <a:rPr sz="600" b="0" i="1">
                <a:solidFill>
                  <a:srgbClr val="01A296"/>
                </a:solidFill>
                <a:latin typeface="Calibri"/>
              </a:rPr>
              <a:t>SmartCompany Smart50 Nov 2024</a:t>
            </a:r>
          </a:p>
        </p:txBody>
      </p:sp>
      <p:sp>
        <p:nvSpPr>
          <p:cNvPr id="28" name="Rectangle 27"/>
          <p:cNvSpPr/>
          <p:nvPr/>
        </p:nvSpPr>
        <p:spPr>
          <a:xfrm>
            <a:off x="4578400" y="1481328"/>
            <a:ext cx="1431036" cy="9784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8400" y="1481328"/>
            <a:ext cx="1431036" cy="4114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24120" y="1545336"/>
            <a:ext cx="1339595" cy="401147"/>
          </a:xfrm>
          <a:prstGeom prst="rect">
            <a:avLst/>
          </a:prstGeom>
          <a:noFill/>
        </p:spPr>
        <p:txBody>
          <a:bodyPr wrap="square" lIns="36576" tIns="18288" rIns="18288" bIns="18288">
            <a:spAutoFit/>
          </a:bodyPr>
          <a:lstStyle/>
          <a:p>
            <a:pPr algn="l"/>
            <a:r>
              <a:rPr sz="1900" b="1" i="0">
                <a:solidFill>
                  <a:srgbClr val="F8C806"/>
                </a:solidFill>
                <a:latin typeface="Georgia"/>
              </a:rPr>
              <a:t>37</a:t>
            </a:r>
          </a:p>
        </p:txBody>
      </p:sp>
      <p:sp>
        <p:nvSpPr>
          <p:cNvPr id="31" name="TextBox 30"/>
          <p:cNvSpPr txBox="1"/>
          <p:nvPr/>
        </p:nvSpPr>
        <p:spPr>
          <a:xfrm>
            <a:off x="4624120" y="1950963"/>
            <a:ext cx="1339595" cy="195681"/>
          </a:xfrm>
          <a:prstGeom prst="rect">
            <a:avLst/>
          </a:prstGeom>
          <a:noFill/>
        </p:spPr>
        <p:txBody>
          <a:bodyPr wrap="square" lIns="36576" tIns="18288" rIns="18288" bIns="18288">
            <a:spAutoFit/>
          </a:bodyPr>
          <a:lstStyle/>
          <a:p>
            <a:pPr algn="l"/>
            <a:r>
              <a:rPr sz="750" b="0" i="0">
                <a:solidFill>
                  <a:srgbClr val="FFFFFF"/>
                </a:solidFill>
                <a:latin typeface="Calibri"/>
              </a:rPr>
              <a:t>Employees</a:t>
            </a:r>
          </a:p>
        </p:txBody>
      </p:sp>
      <p:sp>
        <p:nvSpPr>
          <p:cNvPr id="32" name="TextBox 31"/>
          <p:cNvSpPr txBox="1"/>
          <p:nvPr/>
        </p:nvSpPr>
        <p:spPr>
          <a:xfrm>
            <a:off x="4624120" y="2127077"/>
            <a:ext cx="1339595" cy="176113"/>
          </a:xfrm>
          <a:prstGeom prst="rect">
            <a:avLst/>
          </a:prstGeom>
          <a:noFill/>
        </p:spPr>
        <p:txBody>
          <a:bodyPr wrap="square" lIns="36576" tIns="18288" rIns="18288" bIns="18288">
            <a:spAutoFit/>
          </a:bodyPr>
          <a:lstStyle/>
          <a:p>
            <a:pPr algn="l"/>
            <a:r>
              <a:rPr sz="750" b="0" i="0">
                <a:solidFill>
                  <a:srgbClr val="E6E5DE"/>
                </a:solidFill>
                <a:latin typeface="Calibri"/>
              </a:rPr>
              <a:t>full time equivalents</a:t>
            </a:r>
          </a:p>
        </p:txBody>
      </p:sp>
      <p:sp>
        <p:nvSpPr>
          <p:cNvPr id="33" name="TextBox 32"/>
          <p:cNvSpPr txBox="1"/>
          <p:nvPr/>
        </p:nvSpPr>
        <p:spPr>
          <a:xfrm>
            <a:off x="4624120" y="2293406"/>
            <a:ext cx="1339595" cy="146761"/>
          </a:xfrm>
          <a:prstGeom prst="rect">
            <a:avLst/>
          </a:prstGeom>
          <a:noFill/>
        </p:spPr>
        <p:txBody>
          <a:bodyPr wrap="square" lIns="36576" tIns="18288" rIns="18288" bIns="18288">
            <a:spAutoFit/>
          </a:bodyPr>
          <a:lstStyle/>
          <a:p>
            <a:pPr algn="l"/>
            <a:r>
              <a:rPr sz="600" b="0" i="1">
                <a:solidFill>
                  <a:srgbClr val="01A296"/>
                </a:solidFill>
                <a:latin typeface="Calibri"/>
              </a:rPr>
              <a:t>Smart50 2024, SmartCompany Nov 2024</a:t>
            </a:r>
          </a:p>
        </p:txBody>
      </p:sp>
      <p:sp>
        <p:nvSpPr>
          <p:cNvPr id="34" name="Rectangle 33"/>
          <p:cNvSpPr/>
          <p:nvPr/>
        </p:nvSpPr>
        <p:spPr>
          <a:xfrm>
            <a:off x="6067958" y="1481328"/>
            <a:ext cx="1431036" cy="9784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067958" y="1481328"/>
            <a:ext cx="1431036" cy="4114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13678" y="1545336"/>
            <a:ext cx="1339595" cy="401147"/>
          </a:xfrm>
          <a:prstGeom prst="rect">
            <a:avLst/>
          </a:prstGeom>
          <a:noFill/>
        </p:spPr>
        <p:txBody>
          <a:bodyPr wrap="square" lIns="36576" tIns="18288" rIns="18288" bIns="18288">
            <a:spAutoFit/>
          </a:bodyPr>
          <a:lstStyle/>
          <a:p>
            <a:pPr algn="l"/>
            <a:r>
              <a:rPr sz="1900" b="1" i="0">
                <a:solidFill>
                  <a:srgbClr val="F8C806"/>
                </a:solidFill>
                <a:latin typeface="Georgia"/>
              </a:rPr>
              <a:t>2018</a:t>
            </a:r>
          </a:p>
        </p:txBody>
      </p:sp>
      <p:sp>
        <p:nvSpPr>
          <p:cNvPr id="37" name="TextBox 36"/>
          <p:cNvSpPr txBox="1"/>
          <p:nvPr/>
        </p:nvSpPr>
        <p:spPr>
          <a:xfrm>
            <a:off x="6113678" y="1950963"/>
            <a:ext cx="1339595" cy="195681"/>
          </a:xfrm>
          <a:prstGeom prst="rect">
            <a:avLst/>
          </a:prstGeom>
          <a:noFill/>
        </p:spPr>
        <p:txBody>
          <a:bodyPr wrap="square" lIns="36576" tIns="18288" rIns="18288" bIns="18288">
            <a:spAutoFit/>
          </a:bodyPr>
          <a:lstStyle/>
          <a:p>
            <a:pPr algn="l"/>
            <a:r>
              <a:rPr sz="750" b="0" i="0">
                <a:solidFill>
                  <a:srgbClr val="FFFFFF"/>
                </a:solidFill>
                <a:latin typeface="Calibri"/>
              </a:rPr>
              <a:t>Year founded</a:t>
            </a:r>
          </a:p>
        </p:txBody>
      </p:sp>
      <p:sp>
        <p:nvSpPr>
          <p:cNvPr id="38" name="TextBox 37"/>
          <p:cNvSpPr txBox="1"/>
          <p:nvPr/>
        </p:nvSpPr>
        <p:spPr>
          <a:xfrm>
            <a:off x="6113678" y="2127077"/>
            <a:ext cx="1339595" cy="176113"/>
          </a:xfrm>
          <a:prstGeom prst="rect">
            <a:avLst/>
          </a:prstGeom>
          <a:noFill/>
        </p:spPr>
        <p:txBody>
          <a:bodyPr wrap="square" lIns="36576" tIns="18288" rIns="18288" bIns="18288">
            <a:spAutoFit/>
          </a:bodyPr>
          <a:lstStyle/>
          <a:p>
            <a:pPr algn="l"/>
            <a:r>
              <a:rPr sz="750" b="0" i="0">
                <a:solidFill>
                  <a:srgbClr val="E6E5DE"/>
                </a:solidFill>
                <a:latin typeface="Calibri"/>
              </a:rPr>
              <a:t>Sydney, NSW</a:t>
            </a:r>
          </a:p>
        </p:txBody>
      </p:sp>
      <p:sp>
        <p:nvSpPr>
          <p:cNvPr id="39" name="TextBox 38"/>
          <p:cNvSpPr txBox="1"/>
          <p:nvPr/>
        </p:nvSpPr>
        <p:spPr>
          <a:xfrm>
            <a:off x="6113678" y="2293406"/>
            <a:ext cx="1339595" cy="146761"/>
          </a:xfrm>
          <a:prstGeom prst="rect">
            <a:avLst/>
          </a:prstGeom>
          <a:noFill/>
        </p:spPr>
        <p:txBody>
          <a:bodyPr wrap="square" lIns="36576" tIns="18288" rIns="18288" bIns="18288">
            <a:spAutoFit/>
          </a:bodyPr>
          <a:lstStyle/>
          <a:p>
            <a:pPr algn="l"/>
            <a:r>
              <a:rPr sz="600" b="0" i="1">
                <a:solidFill>
                  <a:srgbClr val="01A296"/>
                </a:solidFill>
                <a:latin typeface="Calibri"/>
              </a:rPr>
              <a:t>SmartCompany Smart50 2024 profile</a:t>
            </a:r>
          </a:p>
        </p:txBody>
      </p:sp>
      <p:sp>
        <p:nvSpPr>
          <p:cNvPr id="40" name="Rectangle 39"/>
          <p:cNvSpPr/>
          <p:nvPr/>
        </p:nvSpPr>
        <p:spPr>
          <a:xfrm>
            <a:off x="7557515" y="1481328"/>
            <a:ext cx="1431036" cy="97840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57515" y="1481328"/>
            <a:ext cx="1431036" cy="4114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3236" y="1545336"/>
            <a:ext cx="1339595" cy="401147"/>
          </a:xfrm>
          <a:prstGeom prst="rect">
            <a:avLst/>
          </a:prstGeom>
          <a:noFill/>
        </p:spPr>
        <p:txBody>
          <a:bodyPr wrap="square" lIns="36576" tIns="18288" rIns="18288" bIns="18288">
            <a:spAutoFit/>
          </a:bodyPr>
          <a:lstStyle/>
          <a:p>
            <a:pPr algn="l"/>
            <a:r>
              <a:rPr sz="1900" b="1" i="0">
                <a:solidFill>
                  <a:srgbClr val="F8C806"/>
                </a:solidFill>
                <a:latin typeface="Georgia"/>
              </a:rPr>
              <a:t>$11.1M</a:t>
            </a:r>
          </a:p>
        </p:txBody>
      </p:sp>
      <p:sp>
        <p:nvSpPr>
          <p:cNvPr id="43" name="TextBox 42"/>
          <p:cNvSpPr txBox="1"/>
          <p:nvPr/>
        </p:nvSpPr>
        <p:spPr>
          <a:xfrm>
            <a:off x="7603236" y="1950963"/>
            <a:ext cx="1339595" cy="195681"/>
          </a:xfrm>
          <a:prstGeom prst="rect">
            <a:avLst/>
          </a:prstGeom>
          <a:noFill/>
        </p:spPr>
        <p:txBody>
          <a:bodyPr wrap="square" lIns="36576" tIns="18288" rIns="18288" bIns="18288">
            <a:spAutoFit/>
          </a:bodyPr>
          <a:lstStyle/>
          <a:p>
            <a:pPr algn="l"/>
            <a:r>
              <a:rPr sz="750" b="0" i="0">
                <a:solidFill>
                  <a:srgbClr val="FFFFFF"/>
                </a:solidFill>
                <a:latin typeface="Calibri"/>
              </a:rPr>
              <a:t>Total funding raised</a:t>
            </a:r>
          </a:p>
        </p:txBody>
      </p:sp>
      <p:sp>
        <p:nvSpPr>
          <p:cNvPr id="44" name="TextBox 43"/>
          <p:cNvSpPr txBox="1"/>
          <p:nvPr/>
        </p:nvSpPr>
        <p:spPr>
          <a:xfrm>
            <a:off x="7603236" y="2127077"/>
            <a:ext cx="1339595" cy="176113"/>
          </a:xfrm>
          <a:prstGeom prst="rect">
            <a:avLst/>
          </a:prstGeom>
          <a:noFill/>
        </p:spPr>
        <p:txBody>
          <a:bodyPr wrap="square" lIns="36576" tIns="18288" rIns="18288" bIns="18288">
            <a:spAutoFit/>
          </a:bodyPr>
          <a:lstStyle/>
          <a:p>
            <a:pPr algn="l"/>
            <a:r>
              <a:rPr sz="750" b="0" i="0">
                <a:solidFill>
                  <a:srgbClr val="E6E5DE"/>
                </a:solidFill>
                <a:latin typeface="Calibri"/>
              </a:rPr>
              <a:t>across 4 rounds</a:t>
            </a:r>
          </a:p>
        </p:txBody>
      </p:sp>
      <p:sp>
        <p:nvSpPr>
          <p:cNvPr id="45" name="TextBox 44"/>
          <p:cNvSpPr txBox="1"/>
          <p:nvPr/>
        </p:nvSpPr>
        <p:spPr>
          <a:xfrm>
            <a:off x="7603236" y="2293406"/>
            <a:ext cx="1339595" cy="146761"/>
          </a:xfrm>
          <a:prstGeom prst="rect">
            <a:avLst/>
          </a:prstGeom>
          <a:noFill/>
        </p:spPr>
        <p:txBody>
          <a:bodyPr wrap="square" lIns="36576" tIns="18288" rIns="18288" bIns="18288">
            <a:spAutoFit/>
          </a:bodyPr>
          <a:lstStyle/>
          <a:p>
            <a:pPr algn="l"/>
            <a:r>
              <a:rPr sz="600" b="0" i="1">
                <a:solidFill>
                  <a:srgbClr val="01A296"/>
                </a:solidFill>
                <a:latin typeface="Calibri"/>
              </a:rPr>
              <a:t>Crunchbase / Tracxn, May 2025</a:t>
            </a:r>
          </a:p>
        </p:txBody>
      </p:sp>
      <p:sp>
        <p:nvSpPr>
          <p:cNvPr id="46" name="TextBox 45"/>
          <p:cNvSpPr txBox="1"/>
          <p:nvPr/>
        </p:nvSpPr>
        <p:spPr>
          <a:xfrm>
            <a:off x="182880" y="2523744"/>
            <a:ext cx="4114800" cy="173736"/>
          </a:xfrm>
          <a:prstGeom prst="rect">
            <a:avLst/>
          </a:prstGeom>
          <a:noFill/>
        </p:spPr>
        <p:txBody>
          <a:bodyPr wrap="square" lIns="36576" tIns="18288" rIns="18288" bIns="18288">
            <a:spAutoFit/>
          </a:bodyPr>
          <a:lstStyle/>
          <a:p>
            <a:pPr algn="l"/>
            <a:r>
              <a:rPr sz="850" b="1" i="0">
                <a:solidFill>
                  <a:srgbClr val="01A296"/>
                </a:solidFill>
                <a:latin typeface="Calibri"/>
              </a:rPr>
              <a:t>KEY COMMERCIAL SIGNALS</a:t>
            </a:r>
          </a:p>
        </p:txBody>
      </p:sp>
      <p:sp>
        <p:nvSpPr>
          <p:cNvPr id="47" name="TextBox 46"/>
          <p:cNvSpPr txBox="1"/>
          <p:nvPr/>
        </p:nvSpPr>
        <p:spPr>
          <a:xfrm>
            <a:off x="182880" y="2715768"/>
            <a:ext cx="8778240" cy="310896"/>
          </a:xfrm>
          <a:prstGeom prst="rect">
            <a:avLst/>
          </a:prstGeom>
          <a:noFill/>
        </p:spPr>
        <p:txBody>
          <a:bodyPr wrap="square" lIns="36576" tIns="18288" rIns="18288" bIns="18288">
            <a:spAutoFit/>
          </a:bodyPr>
          <a:lstStyle/>
          <a:p>
            <a:pPr algn="l"/>
            <a:r>
              <a:rPr sz="850" b="0" i="0">
                <a:solidFill>
                  <a:srgbClr val="000000"/>
                </a:solidFill>
                <a:latin typeface="Calibri"/>
              </a:rPr>
              <a:t>Singapore market entry FY2026: hampr.sg website live, international expansion stated publicly.  Source: Smart50 2024 profile, Nov 2024</a:t>
            </a:r>
          </a:p>
        </p:txBody>
      </p:sp>
      <p:sp>
        <p:nvSpPr>
          <p:cNvPr id="48" name="TextBox 47"/>
          <p:cNvSpPr txBox="1"/>
          <p:nvPr/>
        </p:nvSpPr>
        <p:spPr>
          <a:xfrm>
            <a:off x="182880" y="3031236"/>
            <a:ext cx="8778240" cy="310896"/>
          </a:xfrm>
          <a:prstGeom prst="rect">
            <a:avLst/>
          </a:prstGeom>
          <a:noFill/>
        </p:spPr>
        <p:txBody>
          <a:bodyPr wrap="square" lIns="36576" tIns="18288" rIns="18288" bIns="18288">
            <a:spAutoFit/>
          </a:bodyPr>
          <a:lstStyle/>
          <a:p>
            <a:pPr algn="l"/>
            <a:r>
              <a:rPr sz="850" b="0" i="0">
                <a:solidFill>
                  <a:srgbClr val="000000"/>
                </a:solidFill>
                <a:latin typeface="Calibri"/>
              </a:rPr>
              <a:t>Two major enterprise tenders targeted within 12 months of Smart50 submission.  Source: Smart50 2024 profile, Nov 2024</a:t>
            </a:r>
          </a:p>
        </p:txBody>
      </p:sp>
      <p:sp>
        <p:nvSpPr>
          <p:cNvPr id="49" name="TextBox 48"/>
          <p:cNvSpPr txBox="1"/>
          <p:nvPr/>
        </p:nvSpPr>
        <p:spPr>
          <a:xfrm>
            <a:off x="182880" y="3346704"/>
            <a:ext cx="8778240" cy="310896"/>
          </a:xfrm>
          <a:prstGeom prst="rect">
            <a:avLst/>
          </a:prstGeom>
          <a:noFill/>
        </p:spPr>
        <p:txBody>
          <a:bodyPr wrap="square" lIns="36576" tIns="18288" rIns="18288" bIns="18288">
            <a:spAutoFit/>
          </a:bodyPr>
          <a:lstStyle/>
          <a:p>
            <a:pPr algn="l"/>
            <a:r>
              <a:rPr sz="850" b="0" i="0">
                <a:solidFill>
                  <a:srgbClr val="000000"/>
                </a:solidFill>
                <a:latin typeface="Calibri"/>
              </a:rPr>
              <a:t>Enterprise client publicly named: Toyota Finance Australia referenced in company media.  Source: Momentum91 podcast, May 2025</a:t>
            </a:r>
          </a:p>
        </p:txBody>
      </p:sp>
      <p:sp>
        <p:nvSpPr>
          <p:cNvPr id="50" name="TextBox 49"/>
          <p:cNvSpPr txBox="1"/>
          <p:nvPr/>
        </p:nvSpPr>
        <p:spPr>
          <a:xfrm>
            <a:off x="182880" y="3662172"/>
            <a:ext cx="8778240" cy="310896"/>
          </a:xfrm>
          <a:prstGeom prst="rect">
            <a:avLst/>
          </a:prstGeom>
          <a:noFill/>
        </p:spPr>
        <p:txBody>
          <a:bodyPr wrap="square" lIns="36576" tIns="18288" rIns="18288" bIns="18288">
            <a:spAutoFit/>
          </a:bodyPr>
          <a:lstStyle/>
          <a:p>
            <a:pPr algn="l"/>
            <a:r>
              <a:rPr sz="850" b="0" i="0">
                <a:solidFill>
                  <a:srgbClr val="000000"/>
                </a:solidFill>
                <a:latin typeface="Calibri"/>
              </a:rPr>
              <a:t>Investor backing includes Blackbird Ventures, Techstars, Startmate, Lee Kim Tah Group.  Source: Crunchbase / Tracxn, 2025</a:t>
            </a:r>
          </a:p>
        </p:txBody>
      </p:sp>
      <p:sp>
        <p:nvSpPr>
          <p:cNvPr id="51" name="TextBox 50"/>
          <p:cNvSpPr txBox="1"/>
          <p:nvPr/>
        </p:nvSpPr>
        <p:spPr>
          <a:xfrm>
            <a:off x="182880" y="3977639"/>
            <a:ext cx="8778240" cy="310896"/>
          </a:xfrm>
          <a:prstGeom prst="rect">
            <a:avLst/>
          </a:prstGeom>
          <a:noFill/>
        </p:spPr>
        <p:txBody>
          <a:bodyPr wrap="square" lIns="36576" tIns="18288" rIns="18288" bIns="18288">
            <a:spAutoFit/>
          </a:bodyPr>
          <a:lstStyle/>
          <a:p>
            <a:pPr algn="l"/>
            <a:r>
              <a:rPr sz="850" b="0" i="0">
                <a:solidFill>
                  <a:srgbClr val="000000"/>
                </a:solidFill>
                <a:latin typeface="Calibri"/>
              </a:rPr>
              <a:t>National operations active across Sydney, Melbourne, Perth, Brisbane, and Canberra.  Source: Hampr website, 2025</a:t>
            </a:r>
          </a:p>
        </p:txBody>
      </p:sp>
      <p:sp>
        <p:nvSpPr>
          <p:cNvPr id="52" name="TextBox 51"/>
          <p:cNvSpPr txBox="1"/>
          <p:nvPr/>
        </p:nvSpPr>
        <p:spPr>
          <a:xfrm>
            <a:off x="182880" y="4293107"/>
            <a:ext cx="8778240" cy="310896"/>
          </a:xfrm>
          <a:prstGeom prst="rect">
            <a:avLst/>
          </a:prstGeom>
          <a:noFill/>
        </p:spPr>
        <p:txBody>
          <a:bodyPr wrap="square" lIns="36576" tIns="18288" rIns="18288" bIns="18288">
            <a:spAutoFit/>
          </a:bodyPr>
          <a:lstStyle/>
          <a:p>
            <a:pPr algn="l"/>
            <a:r>
              <a:rPr sz="850" b="0" i="0">
                <a:solidFill>
                  <a:srgbClr val="000000"/>
                </a:solidFill>
                <a:latin typeface="Calibri"/>
              </a:rPr>
              <a:t>No publicly named CFO or Head of Finance in any company profile or media coverage.  Source: Multiple profiles,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5143500"/>
          </a:xfrm>
          <a:prstGeom prst="rect">
            <a:avLst/>
          </a:prstGeom>
          <a:solidFill>
            <a:srgbClr val="F8C8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9070848" cy="7772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64008"/>
            <a:ext cx="5303520" cy="347472"/>
          </a:xfrm>
          <a:prstGeom prst="rect">
            <a:avLst/>
          </a:prstGeom>
          <a:noFill/>
        </p:spPr>
        <p:txBody>
          <a:bodyPr wrap="square" lIns="36576" tIns="18288" rIns="18288" bIns="18288">
            <a:spAutoFit/>
          </a:bodyPr>
          <a:lstStyle/>
          <a:p>
            <a:pPr algn="l"/>
            <a:r>
              <a:rPr sz="950" b="1" i="0">
                <a:solidFill>
                  <a:srgbClr val="E6E5DE"/>
                </a:solidFill>
                <a:latin typeface="Calibri"/>
              </a:rPr>
              <a:t>THE OPPORTUNITY</a:t>
            </a:r>
          </a:p>
        </p:txBody>
      </p:sp>
      <p:sp>
        <p:nvSpPr>
          <p:cNvPr id="5" name="TextBox 4"/>
          <p:cNvSpPr txBox="1"/>
          <p:nvPr/>
        </p:nvSpPr>
        <p:spPr>
          <a:xfrm>
            <a:off x="5029200" y="64008"/>
            <a:ext cx="4023360" cy="347472"/>
          </a:xfrm>
          <a:prstGeom prst="rect">
            <a:avLst/>
          </a:prstGeom>
          <a:noFill/>
        </p:spPr>
        <p:txBody>
          <a:bodyPr wrap="square" lIns="36576" tIns="18288" rIns="18288" bIns="18288">
            <a:spAutoFit/>
          </a:bodyPr>
          <a:lstStyle/>
          <a:p>
            <a:pPr algn="r"/>
            <a:r>
              <a:rPr sz="950" b="1" i="0">
                <a:solidFill>
                  <a:srgbClr val="E6E5DE"/>
                </a:solidFill>
                <a:latin typeface="Calibri"/>
              </a:rPr>
              <a:t>PROFITPULSE</a:t>
            </a:r>
          </a:p>
        </p:txBody>
      </p:sp>
      <p:sp>
        <p:nvSpPr>
          <p:cNvPr id="6" name="Rectangle 5"/>
          <p:cNvSpPr/>
          <p:nvPr/>
        </p:nvSpPr>
        <p:spPr>
          <a:xfrm>
            <a:off x="73152" y="5001768"/>
            <a:ext cx="9070848" cy="13716"/>
          </a:xfrm>
          <a:prstGeom prst="rect">
            <a:avLst/>
          </a:prstGeom>
          <a:solidFill>
            <a:srgbClr val="E6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020056"/>
            <a:ext cx="8732520" cy="118872"/>
          </a:xfrm>
          <a:prstGeom prst="rect">
            <a:avLst/>
          </a:prstGeom>
          <a:noFill/>
        </p:spPr>
        <p:txBody>
          <a:bodyPr wrap="square" lIns="36576" tIns="18288" rIns="18288" bIns="18288">
            <a:spAutoFit/>
          </a:bodyPr>
          <a:lstStyle/>
          <a:p>
            <a:pPr algn="l"/>
            <a:r>
              <a:rPr sz="650" b="0" i="1">
                <a:solidFill>
                  <a:srgbClr val="000000"/>
                </a:solidFill>
                <a:latin typeface="Calibri"/>
              </a:rPr>
              <a:t>Prepared by Nitesh Roopa CA, Managing Partner, ProfitPulse  |  Profit-Pulse.com.au  |  09 Jun 2026</a:t>
            </a:r>
          </a:p>
        </p:txBody>
      </p:sp>
      <p:sp>
        <p:nvSpPr>
          <p:cNvPr id="8" name="TextBox 7"/>
          <p:cNvSpPr txBox="1"/>
          <p:nvPr/>
        </p:nvSpPr>
        <p:spPr>
          <a:xfrm>
            <a:off x="182880" y="813816"/>
            <a:ext cx="8686800" cy="274320"/>
          </a:xfrm>
          <a:prstGeom prst="rect">
            <a:avLst/>
          </a:prstGeom>
          <a:noFill/>
        </p:spPr>
        <p:txBody>
          <a:bodyPr wrap="square" lIns="36576" tIns="18288" rIns="18288" bIns="18288">
            <a:spAutoFit/>
          </a:bodyPr>
          <a:lstStyle/>
          <a:p>
            <a:pPr algn="l"/>
            <a:r>
              <a:rPr sz="1200" b="1" i="0">
                <a:solidFill>
                  <a:srgbClr val="000000"/>
                </a:solidFill>
                <a:latin typeface="Georgia"/>
              </a:rPr>
              <a:t>Hampr   |   Three commercial observations from ProfitPulse</a:t>
            </a:r>
          </a:p>
        </p:txBody>
      </p:sp>
      <p:sp>
        <p:nvSpPr>
          <p:cNvPr id="9" name="Rectangle 8"/>
          <p:cNvSpPr/>
          <p:nvPr/>
        </p:nvSpPr>
        <p:spPr>
          <a:xfrm>
            <a:off x="91440" y="1133856"/>
            <a:ext cx="2944368" cy="363016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 y="1216152"/>
            <a:ext cx="2761488" cy="402336"/>
          </a:xfrm>
          <a:prstGeom prst="rect">
            <a:avLst/>
          </a:prstGeom>
          <a:noFill/>
        </p:spPr>
        <p:txBody>
          <a:bodyPr wrap="square" lIns="36576" tIns="18288" rIns="18288" bIns="18288">
            <a:spAutoFit/>
          </a:bodyPr>
          <a:lstStyle/>
          <a:p>
            <a:pPr algn="l"/>
            <a:r>
              <a:rPr sz="2600" b="1" i="0">
                <a:solidFill>
                  <a:srgbClr val="000000"/>
                </a:solidFill>
                <a:latin typeface="Georgia"/>
              </a:rPr>
              <a:t>01</a:t>
            </a:r>
          </a:p>
        </p:txBody>
      </p:sp>
      <p:sp>
        <p:nvSpPr>
          <p:cNvPr id="11" name="TextBox 10"/>
          <p:cNvSpPr txBox="1"/>
          <p:nvPr/>
        </p:nvSpPr>
        <p:spPr>
          <a:xfrm>
            <a:off x="182880" y="1636776"/>
            <a:ext cx="2761488" cy="548640"/>
          </a:xfrm>
          <a:prstGeom prst="rect">
            <a:avLst/>
          </a:prstGeom>
          <a:noFill/>
        </p:spPr>
        <p:txBody>
          <a:bodyPr wrap="square" lIns="36576" tIns="18288" rIns="18288" bIns="18288">
            <a:spAutoFit/>
          </a:bodyPr>
          <a:lstStyle/>
          <a:p>
            <a:pPr algn="l"/>
            <a:r>
              <a:rPr sz="900" b="1" i="0">
                <a:solidFill>
                  <a:srgbClr val="FFFFFF"/>
                </a:solidFill>
                <a:latin typeface="Calibri"/>
              </a:rPr>
              <a:t>The marketplace float is a cash flow event waiting to happen</a:t>
            </a:r>
          </a:p>
        </p:txBody>
      </p:sp>
      <p:sp>
        <p:nvSpPr>
          <p:cNvPr id="12" name="TextBox 11"/>
          <p:cNvSpPr txBox="1"/>
          <p:nvPr/>
        </p:nvSpPr>
        <p:spPr>
          <a:xfrm>
            <a:off x="182880" y="2203704"/>
            <a:ext cx="2761488" cy="2496312"/>
          </a:xfrm>
          <a:prstGeom prst="rect">
            <a:avLst/>
          </a:prstGeom>
          <a:noFill/>
        </p:spPr>
        <p:txBody>
          <a:bodyPr wrap="square" lIns="36576" tIns="18288" rIns="18288" bIns="18288">
            <a:spAutoFit/>
          </a:bodyPr>
          <a:lstStyle/>
          <a:p>
            <a:pPr algn="l"/>
            <a:r>
              <a:rPr sz="850" b="0" i="0">
                <a:solidFill>
                  <a:srgbClr val="FFFFFF"/>
                </a:solidFill>
                <a:latin typeface="Calibri"/>
              </a:rPr>
              <a:t>At $12.7M in revenue growing at 153% year on year, Hampr processes payments between corporate clients and a network of food and event suppliers. As transaction volume grows so does the cash sitting in transit between client receipts and supplier payments. Without a structured 13 week cash flow forecast and a treasury playbook a fast growing marketplace can run short of cash even while reporting a healthy profit. ProfitPulse fractional CFO engagements routinely identify six to twelve percent of annual revenue sitting in manageable float that can be put to work.</a:t>
            </a:r>
          </a:p>
        </p:txBody>
      </p:sp>
      <p:sp>
        <p:nvSpPr>
          <p:cNvPr id="13" name="Rectangle 12"/>
          <p:cNvSpPr/>
          <p:nvPr/>
        </p:nvSpPr>
        <p:spPr>
          <a:xfrm>
            <a:off x="3154680" y="1133856"/>
            <a:ext cx="2944368" cy="363016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46120" y="1216152"/>
            <a:ext cx="2761488" cy="402336"/>
          </a:xfrm>
          <a:prstGeom prst="rect">
            <a:avLst/>
          </a:prstGeom>
          <a:noFill/>
        </p:spPr>
        <p:txBody>
          <a:bodyPr wrap="square" lIns="36576" tIns="18288" rIns="18288" bIns="18288">
            <a:spAutoFit/>
          </a:bodyPr>
          <a:lstStyle/>
          <a:p>
            <a:pPr algn="l"/>
            <a:r>
              <a:rPr sz="2600" b="1" i="0">
                <a:solidFill>
                  <a:srgbClr val="F8C806"/>
                </a:solidFill>
                <a:latin typeface="Georgia"/>
              </a:rPr>
              <a:t>02</a:t>
            </a:r>
          </a:p>
        </p:txBody>
      </p:sp>
      <p:sp>
        <p:nvSpPr>
          <p:cNvPr id="15" name="TextBox 14"/>
          <p:cNvSpPr txBox="1"/>
          <p:nvPr/>
        </p:nvSpPr>
        <p:spPr>
          <a:xfrm>
            <a:off x="3246120" y="1636776"/>
            <a:ext cx="2761488" cy="548640"/>
          </a:xfrm>
          <a:prstGeom prst="rect">
            <a:avLst/>
          </a:prstGeom>
          <a:noFill/>
        </p:spPr>
        <p:txBody>
          <a:bodyPr wrap="square" lIns="36576" tIns="18288" rIns="18288" bIns="18288">
            <a:spAutoFit/>
          </a:bodyPr>
          <a:lstStyle/>
          <a:p>
            <a:pPr algn="l"/>
            <a:r>
              <a:rPr sz="900" b="1" i="0">
                <a:solidFill>
                  <a:srgbClr val="FFFFFF"/>
                </a:solidFill>
                <a:latin typeface="Calibri"/>
              </a:rPr>
              <a:t>The Singapore launch needs a financial model, not just a website</a:t>
            </a:r>
          </a:p>
        </p:txBody>
      </p:sp>
      <p:sp>
        <p:nvSpPr>
          <p:cNvPr id="16" name="TextBox 15"/>
          <p:cNvSpPr txBox="1"/>
          <p:nvPr/>
        </p:nvSpPr>
        <p:spPr>
          <a:xfrm>
            <a:off x="3246120" y="2203704"/>
            <a:ext cx="2761488" cy="2496312"/>
          </a:xfrm>
          <a:prstGeom prst="rect">
            <a:avLst/>
          </a:prstGeom>
          <a:noFill/>
        </p:spPr>
        <p:txBody>
          <a:bodyPr wrap="square" lIns="36576" tIns="18288" rIns="18288" bIns="18288">
            <a:spAutoFit/>
          </a:bodyPr>
          <a:lstStyle/>
          <a:p>
            <a:pPr algn="l"/>
            <a:r>
              <a:rPr sz="850" b="0" i="0">
                <a:solidFill>
                  <a:srgbClr val="FFFFFF"/>
                </a:solidFill>
                <a:latin typeface="Calibri"/>
              </a:rPr>
              <a:t>Hampr has moved into Singapore with a live website and a publicly stated FY2026 market entry target. International expansion requires upfront investment in team, regulatory compliance, and market development well ahead of local revenue. With the most recent funding round at $1.08M in May 2025, a rigorous financial model for the Singapore launch is needed: one that maps cash burn, the revenue ramp, and the break even timeline. Building and maintaining that model within a monthly reporting rhythm is exactly what a Fractional CFO Partnership is designed to carry.</a:t>
            </a:r>
          </a:p>
        </p:txBody>
      </p:sp>
      <p:sp>
        <p:nvSpPr>
          <p:cNvPr id="17" name="Rectangle 16"/>
          <p:cNvSpPr/>
          <p:nvPr/>
        </p:nvSpPr>
        <p:spPr>
          <a:xfrm>
            <a:off x="6217920" y="1133856"/>
            <a:ext cx="2834640" cy="3630168"/>
          </a:xfrm>
          <a:prstGeom prst="rect">
            <a:avLst/>
          </a:prstGeom>
          <a:solidFill>
            <a:srgbClr val="E3A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59" y="1216152"/>
            <a:ext cx="2651760" cy="402336"/>
          </a:xfrm>
          <a:prstGeom prst="rect">
            <a:avLst/>
          </a:prstGeom>
          <a:noFill/>
        </p:spPr>
        <p:txBody>
          <a:bodyPr wrap="square" lIns="36576" tIns="18288" rIns="18288" bIns="18288">
            <a:spAutoFit/>
          </a:bodyPr>
          <a:lstStyle/>
          <a:p>
            <a:pPr algn="l"/>
            <a:r>
              <a:rPr sz="2600" b="1" i="0">
                <a:solidFill>
                  <a:srgbClr val="000000"/>
                </a:solidFill>
                <a:latin typeface="Georgia"/>
              </a:rPr>
              <a:t>03</a:t>
            </a:r>
          </a:p>
        </p:txBody>
      </p:sp>
      <p:sp>
        <p:nvSpPr>
          <p:cNvPr id="19" name="TextBox 18"/>
          <p:cNvSpPr txBox="1"/>
          <p:nvPr/>
        </p:nvSpPr>
        <p:spPr>
          <a:xfrm>
            <a:off x="6309359" y="1636776"/>
            <a:ext cx="2651760" cy="548640"/>
          </a:xfrm>
          <a:prstGeom prst="rect">
            <a:avLst/>
          </a:prstGeom>
          <a:noFill/>
        </p:spPr>
        <p:txBody>
          <a:bodyPr wrap="square" lIns="36576" tIns="18288" rIns="18288" bIns="18288">
            <a:spAutoFit/>
          </a:bodyPr>
          <a:lstStyle/>
          <a:p>
            <a:pPr algn="l"/>
            <a:r>
              <a:rPr sz="900" b="1" i="0">
                <a:solidFill>
                  <a:srgbClr val="000000"/>
                </a:solidFill>
                <a:latin typeface="Calibri"/>
              </a:rPr>
              <a:t>Enterprise contracts will change the financial DNA of the business</a:t>
            </a:r>
          </a:p>
        </p:txBody>
      </p:sp>
      <p:sp>
        <p:nvSpPr>
          <p:cNvPr id="20" name="TextBox 19"/>
          <p:cNvSpPr txBox="1"/>
          <p:nvPr/>
        </p:nvSpPr>
        <p:spPr>
          <a:xfrm>
            <a:off x="6309359" y="2203704"/>
            <a:ext cx="2651760" cy="2496312"/>
          </a:xfrm>
          <a:prstGeom prst="rect">
            <a:avLst/>
          </a:prstGeom>
          <a:noFill/>
        </p:spPr>
        <p:txBody>
          <a:bodyPr wrap="square" lIns="36576" tIns="18288" rIns="18288" bIns="18288">
            <a:spAutoFit/>
          </a:bodyPr>
          <a:lstStyle/>
          <a:p>
            <a:pPr algn="l"/>
            <a:r>
              <a:rPr sz="850" b="0" i="0">
                <a:solidFill>
                  <a:srgbClr val="000000"/>
                </a:solidFill>
                <a:latin typeface="Calibri"/>
              </a:rPr>
              <a:t>Two enterprise tenders in active pursuit means a step change from a diversified SME client base to a smaller number of much larger contracts. Enterprise clients typically carry 60 to 90 day payment terms, complex invoicing, and detailed financial reporting expectations. This concentrates revenue risk, extends the cash conversion cycle, and demands board grade financial reporting that a founder led business at this scale may not yet have in place. Getting ahead of that transition now protects both margin and negotiating position when the contracts land.</a:t>
            </a:r>
          </a:p>
        </p:txBody>
      </p:sp>
      <p:sp>
        <p:nvSpPr>
          <p:cNvPr id="21" name="TextBox 20"/>
          <p:cNvSpPr txBox="1"/>
          <p:nvPr/>
        </p:nvSpPr>
        <p:spPr>
          <a:xfrm>
            <a:off x="137160" y="4818888"/>
            <a:ext cx="8823960" cy="164592"/>
          </a:xfrm>
          <a:prstGeom prst="rect">
            <a:avLst/>
          </a:prstGeom>
          <a:noFill/>
        </p:spPr>
        <p:txBody>
          <a:bodyPr wrap="square" lIns="36576" tIns="18288" rIns="18288" bIns="18288">
            <a:spAutoFit/>
          </a:bodyPr>
          <a:lstStyle/>
          <a:p>
            <a:pPr algn="l"/>
            <a:r>
              <a:rPr sz="800" b="0" i="1">
                <a:solidFill>
                  <a:srgbClr val="000000"/>
                </a:solidFill>
                <a:latin typeface="Calibri"/>
              </a:rPr>
              <a:t>These observations are offered in good faith. Hampr has built something genuinely impressive. The question is simply whether the financial architecture is ready for the next chapter.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3152" cy="5143500"/>
          </a:xfrm>
          <a:prstGeom prst="rect">
            <a:avLst/>
          </a:prstGeom>
          <a:solidFill>
            <a:srgbClr val="F8C8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 y="0"/>
            <a:ext cx="9070848" cy="7772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64008"/>
            <a:ext cx="5303520" cy="347472"/>
          </a:xfrm>
          <a:prstGeom prst="rect">
            <a:avLst/>
          </a:prstGeom>
          <a:noFill/>
        </p:spPr>
        <p:txBody>
          <a:bodyPr wrap="square" lIns="36576" tIns="18288" rIns="18288" bIns="18288">
            <a:spAutoFit/>
          </a:bodyPr>
          <a:lstStyle/>
          <a:p>
            <a:pPr algn="l"/>
            <a:r>
              <a:rPr sz="950" b="1" i="0">
                <a:solidFill>
                  <a:srgbClr val="E6E5DE"/>
                </a:solidFill>
                <a:latin typeface="Calibri"/>
              </a:rPr>
              <a:t>THE RECOMMENDATION</a:t>
            </a:r>
          </a:p>
        </p:txBody>
      </p:sp>
      <p:sp>
        <p:nvSpPr>
          <p:cNvPr id="5" name="TextBox 4"/>
          <p:cNvSpPr txBox="1"/>
          <p:nvPr/>
        </p:nvSpPr>
        <p:spPr>
          <a:xfrm>
            <a:off x="5029200" y="64008"/>
            <a:ext cx="4023360" cy="347472"/>
          </a:xfrm>
          <a:prstGeom prst="rect">
            <a:avLst/>
          </a:prstGeom>
          <a:noFill/>
        </p:spPr>
        <p:txBody>
          <a:bodyPr wrap="square" lIns="36576" tIns="18288" rIns="18288" bIns="18288">
            <a:spAutoFit/>
          </a:bodyPr>
          <a:lstStyle/>
          <a:p>
            <a:pPr algn="r"/>
            <a:r>
              <a:rPr sz="950" b="1" i="0">
                <a:solidFill>
                  <a:srgbClr val="E6E5DE"/>
                </a:solidFill>
                <a:latin typeface="Calibri"/>
              </a:rPr>
              <a:t>PROFITPULSE</a:t>
            </a:r>
          </a:p>
        </p:txBody>
      </p:sp>
      <p:sp>
        <p:nvSpPr>
          <p:cNvPr id="6" name="Rectangle 5"/>
          <p:cNvSpPr/>
          <p:nvPr/>
        </p:nvSpPr>
        <p:spPr>
          <a:xfrm>
            <a:off x="73152" y="5001768"/>
            <a:ext cx="9070848" cy="13716"/>
          </a:xfrm>
          <a:prstGeom prst="rect">
            <a:avLst/>
          </a:prstGeom>
          <a:solidFill>
            <a:srgbClr val="E6E5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 y="5020056"/>
            <a:ext cx="8732520" cy="118872"/>
          </a:xfrm>
          <a:prstGeom prst="rect">
            <a:avLst/>
          </a:prstGeom>
          <a:noFill/>
        </p:spPr>
        <p:txBody>
          <a:bodyPr wrap="square" lIns="36576" tIns="18288" rIns="18288" bIns="18288">
            <a:spAutoFit/>
          </a:bodyPr>
          <a:lstStyle/>
          <a:p>
            <a:pPr algn="l"/>
            <a:r>
              <a:rPr sz="650" b="0" i="1">
                <a:solidFill>
                  <a:srgbClr val="000000"/>
                </a:solidFill>
                <a:latin typeface="Calibri"/>
              </a:rPr>
              <a:t>Prepared by Nitesh Roopa CA, Managing Partner, ProfitPulse  |  Profit-Pulse.com.au  |  09 Jun 2026</a:t>
            </a:r>
          </a:p>
        </p:txBody>
      </p:sp>
      <p:sp>
        <p:nvSpPr>
          <p:cNvPr id="8" name="TextBox 7"/>
          <p:cNvSpPr txBox="1"/>
          <p:nvPr/>
        </p:nvSpPr>
        <p:spPr>
          <a:xfrm>
            <a:off x="155448" y="822960"/>
            <a:ext cx="5074920" cy="457200"/>
          </a:xfrm>
          <a:prstGeom prst="rect">
            <a:avLst/>
          </a:prstGeom>
          <a:noFill/>
        </p:spPr>
        <p:txBody>
          <a:bodyPr wrap="square" lIns="36576" tIns="18288" rIns="18288" bIns="18288">
            <a:spAutoFit/>
          </a:bodyPr>
          <a:lstStyle/>
          <a:p>
            <a:pPr algn="l"/>
            <a:r>
              <a:rPr sz="2100" b="1" i="0">
                <a:solidFill>
                  <a:srgbClr val="000000"/>
                </a:solidFill>
                <a:latin typeface="Georgia"/>
              </a:rPr>
              <a:t>Fractional CFO Partnership</a:t>
            </a:r>
          </a:p>
        </p:txBody>
      </p:sp>
      <p:sp>
        <p:nvSpPr>
          <p:cNvPr id="9" name="TextBox 8"/>
          <p:cNvSpPr txBox="1"/>
          <p:nvPr/>
        </p:nvSpPr>
        <p:spPr>
          <a:xfrm>
            <a:off x="155448" y="1261872"/>
            <a:ext cx="5074920" cy="256032"/>
          </a:xfrm>
          <a:prstGeom prst="rect">
            <a:avLst/>
          </a:prstGeom>
          <a:noFill/>
        </p:spPr>
        <p:txBody>
          <a:bodyPr wrap="square" lIns="36576" tIns="18288" rIns="18288" bIns="18288">
            <a:spAutoFit/>
          </a:bodyPr>
          <a:lstStyle/>
          <a:p>
            <a:pPr algn="l"/>
            <a:r>
              <a:rPr sz="1300" b="1" i="0">
                <a:solidFill>
                  <a:srgbClr val="01A296"/>
                </a:solidFill>
                <a:latin typeface="Calibri"/>
              </a:rPr>
              <a:t>$7,500 per month</a:t>
            </a:r>
          </a:p>
        </p:txBody>
      </p:sp>
      <p:sp>
        <p:nvSpPr>
          <p:cNvPr id="10" name="TextBox 9"/>
          <p:cNvSpPr txBox="1"/>
          <p:nvPr/>
        </p:nvSpPr>
        <p:spPr>
          <a:xfrm>
            <a:off x="155448" y="1517904"/>
            <a:ext cx="5074920" cy="713232"/>
          </a:xfrm>
          <a:prstGeom prst="rect">
            <a:avLst/>
          </a:prstGeom>
          <a:noFill/>
        </p:spPr>
        <p:txBody>
          <a:bodyPr wrap="square" lIns="36576" tIns="18288" rIns="18288" bIns="18288">
            <a:spAutoFit/>
          </a:bodyPr>
          <a:lstStyle/>
          <a:p>
            <a:pPr algn="l"/>
            <a:r>
              <a:rPr sz="950" b="0" i="0">
                <a:solidFill>
                  <a:srgbClr val="000000"/>
                </a:solidFill>
                <a:latin typeface="Calibri"/>
              </a:rPr>
              <a:t>A senior financial partner at the table on a monthly cadence. Includes monthly management pack, quarterly board grade review, ad hoc decision support, and a single annual deep dive. For Hampr this means a structured financial rhythm for the Singapore launch, enterprise contract cash flow modelling, and the reporting infrastructure to match the ambition.</a:t>
            </a:r>
          </a:p>
        </p:txBody>
      </p:sp>
      <p:sp>
        <p:nvSpPr>
          <p:cNvPr id="11" name="Rectangle 10"/>
          <p:cNvSpPr/>
          <p:nvPr/>
        </p:nvSpPr>
        <p:spPr>
          <a:xfrm>
            <a:off x="155448" y="2258568"/>
            <a:ext cx="5029200" cy="13716"/>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9728" y="2286000"/>
            <a:ext cx="36576" cy="129844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9456" y="2313432"/>
            <a:ext cx="5029200" cy="201168"/>
          </a:xfrm>
          <a:prstGeom prst="rect">
            <a:avLst/>
          </a:prstGeom>
          <a:noFill/>
        </p:spPr>
        <p:txBody>
          <a:bodyPr wrap="square" lIns="36576" tIns="18288" rIns="18288" bIns="18288">
            <a:spAutoFit/>
          </a:bodyPr>
          <a:lstStyle/>
          <a:p>
            <a:pPr algn="l"/>
            <a:r>
              <a:rPr sz="1000" b="1" i="0">
                <a:solidFill>
                  <a:srgbClr val="000000"/>
                </a:solidFill>
                <a:latin typeface="Calibri"/>
              </a:rPr>
              <a:t>Step one: answer a few quick questions</a:t>
            </a:r>
          </a:p>
        </p:txBody>
      </p:sp>
      <p:sp>
        <p:nvSpPr>
          <p:cNvPr id="14" name="TextBox 13"/>
          <p:cNvSpPr txBox="1"/>
          <p:nvPr/>
        </p:nvSpPr>
        <p:spPr>
          <a:xfrm>
            <a:off x="219456" y="2514600"/>
            <a:ext cx="5029200" cy="182880"/>
          </a:xfrm>
          <a:prstGeom prst="rect">
            <a:avLst/>
          </a:prstGeom>
          <a:noFill/>
        </p:spPr>
        <p:txBody>
          <a:bodyPr wrap="square" lIns="36576" tIns="18288" rIns="18288" bIns="18288">
            <a:spAutoFit/>
          </a:bodyPr>
          <a:lstStyle/>
          <a:p>
            <a:pPr algn="l"/>
            <a:r>
              <a:rPr sz="950" b="0" i="0">
                <a:solidFill>
                  <a:srgbClr val="000000"/>
                </a:solidFill>
                <a:latin typeface="Calibri"/>
              </a:rPr>
              <a:t>See the solutions matched to your size and industry.</a:t>
            </a:r>
          </a:p>
        </p:txBody>
      </p:sp>
      <p:sp>
        <p:nvSpPr>
          <p:cNvPr id="15" name="TextBox 14"/>
          <p:cNvSpPr txBox="1"/>
          <p:nvPr/>
        </p:nvSpPr>
        <p:spPr>
          <a:xfrm>
            <a:off x="219456" y="2697480"/>
            <a:ext cx="5029200" cy="201168"/>
          </a:xfrm>
          <a:prstGeom prst="rect">
            <a:avLst/>
          </a:prstGeom>
          <a:noFill/>
        </p:spPr>
        <p:txBody>
          <a:bodyPr wrap="square" lIns="36576" tIns="18288" rIns="18288" bIns="18288">
            <a:spAutoFit/>
          </a:bodyPr>
          <a:lstStyle/>
          <a:p>
            <a:pPr algn="l"/>
            <a:r>
              <a:rPr sz="950" b="1" i="0">
                <a:solidFill>
                  <a:srgbClr val="01A296"/>
                </a:solidFill>
                <a:latin typeface="Calibri"/>
                <a:hlinkClick r:id="rId2"/>
              </a:rPr>
              <a:t>profit-pulse.com.au/full-suite-of-products</a:t>
            </a:r>
          </a:p>
        </p:txBody>
      </p:sp>
      <p:sp>
        <p:nvSpPr>
          <p:cNvPr id="16" name="Rectangle 15"/>
          <p:cNvSpPr/>
          <p:nvPr/>
        </p:nvSpPr>
        <p:spPr>
          <a:xfrm>
            <a:off x="155448" y="2944368"/>
            <a:ext cx="5029200" cy="13716"/>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9728" y="2962656"/>
            <a:ext cx="36576" cy="493776"/>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9456" y="2990088"/>
            <a:ext cx="5029200" cy="201168"/>
          </a:xfrm>
          <a:prstGeom prst="rect">
            <a:avLst/>
          </a:prstGeom>
          <a:noFill/>
        </p:spPr>
        <p:txBody>
          <a:bodyPr wrap="square" lIns="36576" tIns="18288" rIns="18288" bIns="18288">
            <a:spAutoFit/>
          </a:bodyPr>
          <a:lstStyle/>
          <a:p>
            <a:pPr algn="l"/>
            <a:r>
              <a:rPr sz="950" b="1" i="0">
                <a:solidFill>
                  <a:srgbClr val="000000"/>
                </a:solidFill>
                <a:latin typeface="Calibri"/>
              </a:rPr>
              <a:t>Already know this is the priority?</a:t>
            </a:r>
          </a:p>
        </p:txBody>
      </p:sp>
      <p:sp>
        <p:nvSpPr>
          <p:cNvPr id="19" name="TextBox 18"/>
          <p:cNvSpPr txBox="1"/>
          <p:nvPr/>
        </p:nvSpPr>
        <p:spPr>
          <a:xfrm>
            <a:off x="219456" y="3191256"/>
            <a:ext cx="5029200" cy="201168"/>
          </a:xfrm>
          <a:prstGeom prst="rect">
            <a:avLst/>
          </a:prstGeom>
          <a:noFill/>
        </p:spPr>
        <p:txBody>
          <a:bodyPr wrap="square" lIns="36576" tIns="18288" rIns="18288" bIns="18288">
            <a:spAutoFit/>
          </a:bodyPr>
          <a:lstStyle/>
          <a:p>
            <a:pPr algn="l"/>
            <a:r>
              <a:rPr sz="950" b="1" i="0">
                <a:solidFill>
                  <a:srgbClr val="F6A102"/>
                </a:solidFill>
                <a:latin typeface="Calibri"/>
                <a:hlinkClick r:id="rId3"/>
              </a:rPr>
              <a:t>Purchase the suggested product now to get started</a:t>
            </a:r>
          </a:p>
        </p:txBody>
      </p:sp>
      <p:sp>
        <p:nvSpPr>
          <p:cNvPr id="20" name="Rectangle 19"/>
          <p:cNvSpPr/>
          <p:nvPr/>
        </p:nvSpPr>
        <p:spPr>
          <a:xfrm>
            <a:off x="155448" y="3493008"/>
            <a:ext cx="5029200" cy="13716"/>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9728" y="3520440"/>
            <a:ext cx="36576" cy="512064"/>
          </a:xfrm>
          <a:prstGeom prst="rect">
            <a:avLst/>
          </a:prstGeom>
          <a:solidFill>
            <a:srgbClr val="F8C8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19456" y="3538728"/>
            <a:ext cx="5029200" cy="201168"/>
          </a:xfrm>
          <a:prstGeom prst="rect">
            <a:avLst/>
          </a:prstGeom>
          <a:noFill/>
        </p:spPr>
        <p:txBody>
          <a:bodyPr wrap="square" lIns="36576" tIns="18288" rIns="18288" bIns="18288">
            <a:spAutoFit/>
          </a:bodyPr>
          <a:lstStyle/>
          <a:p>
            <a:pPr algn="l"/>
            <a:r>
              <a:rPr sz="950" b="1" i="0">
                <a:solidFill>
                  <a:srgbClr val="000000"/>
                </a:solidFill>
                <a:latin typeface="Calibri"/>
              </a:rPr>
              <a:t>Prefer a conversation first?</a:t>
            </a:r>
          </a:p>
        </p:txBody>
      </p:sp>
      <p:sp>
        <p:nvSpPr>
          <p:cNvPr id="23" name="TextBox 22"/>
          <p:cNvSpPr txBox="1"/>
          <p:nvPr/>
        </p:nvSpPr>
        <p:spPr>
          <a:xfrm>
            <a:off x="219456" y="3739896"/>
            <a:ext cx="5029200" cy="274320"/>
          </a:xfrm>
          <a:prstGeom prst="rect">
            <a:avLst/>
          </a:prstGeom>
          <a:noFill/>
        </p:spPr>
        <p:txBody>
          <a:bodyPr wrap="square" lIns="36576" tIns="18288" rIns="18288" bIns="18288">
            <a:spAutoFit/>
          </a:bodyPr>
          <a:lstStyle/>
          <a:p>
            <a:pPr algn="l"/>
            <a:r>
              <a:rPr sz="950" b="0" i="0">
                <a:solidFill>
                  <a:srgbClr val="01A296"/>
                </a:solidFill>
                <a:latin typeface="Calibri"/>
                <a:hlinkClick r:id="rId4"/>
              </a:rPr>
              <a:t>Book a complimentary discovery call with Nitesh Roopa</a:t>
            </a:r>
          </a:p>
        </p:txBody>
      </p:sp>
      <p:sp>
        <p:nvSpPr>
          <p:cNvPr id="24" name="Rectangle 23"/>
          <p:cNvSpPr/>
          <p:nvPr/>
        </p:nvSpPr>
        <p:spPr>
          <a:xfrm>
            <a:off x="5257800" y="804672"/>
            <a:ext cx="27432" cy="4169663"/>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330952" y="804672"/>
            <a:ext cx="3703320" cy="4169663"/>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40680" y="868680"/>
            <a:ext cx="3520439" cy="420624"/>
          </a:xfrm>
          <a:prstGeom prst="rect">
            <a:avLst/>
          </a:prstGeom>
          <a:noFill/>
        </p:spPr>
        <p:txBody>
          <a:bodyPr wrap="square" lIns="36576" tIns="18288" rIns="18288" bIns="18288">
            <a:spAutoFit/>
          </a:bodyPr>
          <a:lstStyle/>
          <a:p>
            <a:pPr algn="l"/>
            <a:r>
              <a:rPr sz="1800" b="1" i="0">
                <a:solidFill>
                  <a:srgbClr val="F8C806"/>
                </a:solidFill>
                <a:latin typeface="Georgia"/>
              </a:rPr>
              <a:t>Nitesh Roopa</a:t>
            </a:r>
          </a:p>
        </p:txBody>
      </p:sp>
      <p:sp>
        <p:nvSpPr>
          <p:cNvPr id="27" name="TextBox 26"/>
          <p:cNvSpPr txBox="1"/>
          <p:nvPr/>
        </p:nvSpPr>
        <p:spPr>
          <a:xfrm>
            <a:off x="5440680" y="1271016"/>
            <a:ext cx="3520439" cy="219456"/>
          </a:xfrm>
          <a:prstGeom prst="rect">
            <a:avLst/>
          </a:prstGeom>
          <a:noFill/>
        </p:spPr>
        <p:txBody>
          <a:bodyPr wrap="square" lIns="36576" tIns="18288" rIns="18288" bIns="18288">
            <a:spAutoFit/>
          </a:bodyPr>
          <a:lstStyle/>
          <a:p>
            <a:pPr algn="l"/>
            <a:r>
              <a:rPr sz="1000" b="0" i="0">
                <a:solidFill>
                  <a:srgbClr val="E6E5DE"/>
                </a:solidFill>
                <a:latin typeface="Calibri"/>
              </a:rPr>
              <a:t>CA, Managing Partner   |   ProfitPulse</a:t>
            </a:r>
          </a:p>
        </p:txBody>
      </p:sp>
      <p:sp>
        <p:nvSpPr>
          <p:cNvPr id="28" name="Rectangle 27"/>
          <p:cNvSpPr/>
          <p:nvPr/>
        </p:nvSpPr>
        <p:spPr>
          <a:xfrm>
            <a:off x="5440680" y="1508760"/>
            <a:ext cx="3429000" cy="1828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40680" y="1572768"/>
            <a:ext cx="3520439" cy="292608"/>
          </a:xfrm>
          <a:prstGeom prst="rect">
            <a:avLst/>
          </a:prstGeom>
          <a:noFill/>
        </p:spPr>
        <p:txBody>
          <a:bodyPr wrap="square" lIns="36576" tIns="18288" rIns="18288" bIns="18288">
            <a:spAutoFit/>
          </a:bodyPr>
          <a:lstStyle/>
          <a:p>
            <a:pPr algn="l"/>
            <a:r>
              <a:rPr sz="850" b="0" i="0">
                <a:solidFill>
                  <a:srgbClr val="E6E5DE"/>
                </a:solidFill>
                <a:latin typeface="Calibri"/>
              </a:rPr>
              <a:t>16 years across 4 countries</a:t>
            </a:r>
          </a:p>
        </p:txBody>
      </p:sp>
      <p:sp>
        <p:nvSpPr>
          <p:cNvPr id="30" name="TextBox 29"/>
          <p:cNvSpPr txBox="1"/>
          <p:nvPr/>
        </p:nvSpPr>
        <p:spPr>
          <a:xfrm>
            <a:off x="5440680" y="1865376"/>
            <a:ext cx="3520439" cy="292608"/>
          </a:xfrm>
          <a:prstGeom prst="rect">
            <a:avLst/>
          </a:prstGeom>
          <a:noFill/>
        </p:spPr>
        <p:txBody>
          <a:bodyPr wrap="square" lIns="36576" tIns="18288" rIns="18288" bIns="18288">
            <a:spAutoFit/>
          </a:bodyPr>
          <a:lstStyle/>
          <a:p>
            <a:pPr algn="l"/>
            <a:r>
              <a:rPr sz="850" b="0" i="0">
                <a:solidFill>
                  <a:srgbClr val="E6E5DE"/>
                </a:solidFill>
                <a:latin typeface="Calibri"/>
              </a:rPr>
              <a:t>52 deals executed and managed across the career</a:t>
            </a:r>
          </a:p>
        </p:txBody>
      </p:sp>
      <p:sp>
        <p:nvSpPr>
          <p:cNvPr id="31" name="TextBox 30"/>
          <p:cNvSpPr txBox="1"/>
          <p:nvPr/>
        </p:nvSpPr>
        <p:spPr>
          <a:xfrm>
            <a:off x="5440680" y="2157984"/>
            <a:ext cx="3520439" cy="292608"/>
          </a:xfrm>
          <a:prstGeom prst="rect">
            <a:avLst/>
          </a:prstGeom>
          <a:noFill/>
        </p:spPr>
        <p:txBody>
          <a:bodyPr wrap="square" lIns="36576" tIns="18288" rIns="18288" bIns="18288">
            <a:spAutoFit/>
          </a:bodyPr>
          <a:lstStyle/>
          <a:p>
            <a:pPr algn="l"/>
            <a:r>
              <a:rPr sz="850" b="0" i="0">
                <a:solidFill>
                  <a:srgbClr val="E6E5DE"/>
                </a:solidFill>
                <a:latin typeface="Calibri"/>
              </a:rPr>
              <a:t>Largest single deal: USD 1.3 billion, Cahora Bassa, Mozambique Government, Hydro</a:t>
            </a:r>
          </a:p>
        </p:txBody>
      </p:sp>
      <p:sp>
        <p:nvSpPr>
          <p:cNvPr id="32" name="TextBox 31"/>
          <p:cNvSpPr txBox="1"/>
          <p:nvPr/>
        </p:nvSpPr>
        <p:spPr>
          <a:xfrm>
            <a:off x="5440680" y="2450591"/>
            <a:ext cx="3520439" cy="292608"/>
          </a:xfrm>
          <a:prstGeom prst="rect">
            <a:avLst/>
          </a:prstGeom>
          <a:noFill/>
        </p:spPr>
        <p:txBody>
          <a:bodyPr wrap="square" lIns="36576" tIns="18288" rIns="18288" bIns="18288">
            <a:spAutoFit/>
          </a:bodyPr>
          <a:lstStyle/>
          <a:p>
            <a:pPr algn="l"/>
            <a:r>
              <a:rPr sz="850" b="0" i="0">
                <a:solidFill>
                  <a:srgbClr val="E6E5DE"/>
                </a:solidFill>
                <a:latin typeface="Calibri"/>
              </a:rPr>
              <a:t>Total GRBT project value in Queensland: over AUD 10 billion</a:t>
            </a:r>
          </a:p>
        </p:txBody>
      </p:sp>
      <p:sp>
        <p:nvSpPr>
          <p:cNvPr id="33" name="Rectangle 32"/>
          <p:cNvSpPr/>
          <p:nvPr/>
        </p:nvSpPr>
        <p:spPr>
          <a:xfrm>
            <a:off x="5440680" y="2779775"/>
            <a:ext cx="3429000" cy="1828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40680" y="2834639"/>
            <a:ext cx="3520439" cy="256032"/>
          </a:xfrm>
          <a:prstGeom prst="rect">
            <a:avLst/>
          </a:prstGeom>
          <a:noFill/>
        </p:spPr>
        <p:txBody>
          <a:bodyPr wrap="square" lIns="36576" tIns="18288" rIns="18288" bIns="18288">
            <a:spAutoFit/>
          </a:bodyPr>
          <a:lstStyle/>
          <a:p>
            <a:pPr algn="l"/>
            <a:r>
              <a:rPr sz="850" b="0" i="0">
                <a:solidFill>
                  <a:srgbClr val="01A296"/>
                </a:solidFill>
                <a:latin typeface="Calibri"/>
                <a:hlinkClick r:id="rId2"/>
              </a:rPr>
              <a:t>Profit-Pulse.com.au</a:t>
            </a:r>
          </a:p>
        </p:txBody>
      </p:sp>
      <p:sp>
        <p:nvSpPr>
          <p:cNvPr id="35" name="TextBox 34"/>
          <p:cNvSpPr txBox="1"/>
          <p:nvPr/>
        </p:nvSpPr>
        <p:spPr>
          <a:xfrm>
            <a:off x="5440680" y="3090672"/>
            <a:ext cx="3520439" cy="256032"/>
          </a:xfrm>
          <a:prstGeom prst="rect">
            <a:avLst/>
          </a:prstGeom>
          <a:noFill/>
        </p:spPr>
        <p:txBody>
          <a:bodyPr wrap="square" lIns="36576" tIns="18288" rIns="18288" bIns="18288">
            <a:spAutoFit/>
          </a:bodyPr>
          <a:lstStyle/>
          <a:p>
            <a:pPr algn="l"/>
            <a:r>
              <a:rPr sz="850" b="0" i="0">
                <a:solidFill>
                  <a:srgbClr val="01A296"/>
                </a:solidFill>
                <a:latin typeface="Calibri"/>
              </a:rPr>
              <a:t>Nitesh@Profit-Pulse.com.au</a:t>
            </a:r>
          </a:p>
        </p:txBody>
      </p:sp>
      <p:sp>
        <p:nvSpPr>
          <p:cNvPr id="36" name="TextBox 35"/>
          <p:cNvSpPr txBox="1"/>
          <p:nvPr/>
        </p:nvSpPr>
        <p:spPr>
          <a:xfrm>
            <a:off x="5440680" y="3346704"/>
            <a:ext cx="3520439" cy="256032"/>
          </a:xfrm>
          <a:prstGeom prst="rect">
            <a:avLst/>
          </a:prstGeom>
          <a:noFill/>
        </p:spPr>
        <p:txBody>
          <a:bodyPr wrap="square" lIns="36576" tIns="18288" rIns="18288" bIns="18288">
            <a:spAutoFit/>
          </a:bodyPr>
          <a:lstStyle/>
          <a:p>
            <a:pPr algn="l"/>
            <a:r>
              <a:rPr sz="850" b="0" i="0">
                <a:solidFill>
                  <a:srgbClr val="01A296"/>
                </a:solidFill>
                <a:latin typeface="Calibri"/>
              </a:rPr>
              <a:t>+61 411 876 267</a:t>
            </a:r>
          </a:p>
        </p:txBody>
      </p:sp>
      <p:sp>
        <p:nvSpPr>
          <p:cNvPr id="37" name="TextBox 36"/>
          <p:cNvSpPr txBox="1"/>
          <p:nvPr/>
        </p:nvSpPr>
        <p:spPr>
          <a:xfrm>
            <a:off x="5440680" y="3602736"/>
            <a:ext cx="3520439" cy="256032"/>
          </a:xfrm>
          <a:prstGeom prst="rect">
            <a:avLst/>
          </a:prstGeom>
          <a:noFill/>
        </p:spPr>
        <p:txBody>
          <a:bodyPr wrap="square" lIns="36576" tIns="18288" rIns="18288" bIns="18288">
            <a:spAutoFit/>
          </a:bodyPr>
          <a:lstStyle/>
          <a:p>
            <a:pPr algn="l"/>
            <a:r>
              <a:rPr sz="850" b="0" i="0">
                <a:solidFill>
                  <a:srgbClr val="01A296"/>
                </a:solidFill>
                <a:latin typeface="Calibri"/>
                <a:hlinkClick r:id="rId5"/>
              </a:rPr>
              <a:t>linkedin.com/in/nitesh-roopa-77594163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