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utm_source=outreach&amp;utm_medium=html&amp;utm_campaign=nightly_outreach&amp;utm_content=equality_media_marketing" TargetMode="External"/><Relationship Id="rId3" Type="http://schemas.openxmlformats.org/officeDocument/2006/relationships/hyperlink" Target="https://buy.stripe.com/eVqdRad9e66cftK23Z3ks0h"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6400800" cy="365760"/>
          </a:xfrm>
          <a:prstGeom prst="rect">
            <a:avLst/>
          </a:prstGeom>
          <a:noFill/>
        </p:spPr>
        <p:txBody>
          <a:bodyPr wrap="square" anchor="t" lIns="0" rIns="0" tIns="0" bIns="0">
            <a:spAutoFit/>
          </a:bodyPr>
          <a:lstStyle/>
          <a:p>
            <a:pPr algn="l"/>
            <a:r>
              <a:rPr sz="1200" b="1" i="0">
                <a:solidFill>
                  <a:srgbClr val="E6E5DE"/>
                </a:solidFill>
                <a:latin typeface="Calibri"/>
              </a:rPr>
              <a:t>COMMERCIAL INTELLIGENCE BRIEF</a:t>
            </a:r>
          </a:p>
        </p:txBody>
      </p:sp>
      <p:sp>
        <p:nvSpPr>
          <p:cNvPr id="4" name="TextBox 3"/>
          <p:cNvSpPr txBox="1"/>
          <p:nvPr/>
        </p:nvSpPr>
        <p:spPr>
          <a:xfrm>
            <a:off x="8991295" y="256032"/>
            <a:ext cx="3200400" cy="365760"/>
          </a:xfrm>
          <a:prstGeom prst="rect">
            <a:avLst/>
          </a:prstGeom>
          <a:noFill/>
        </p:spPr>
        <p:txBody>
          <a:bodyPr wrap="square" anchor="t" lIns="0" rIns="0" tIns="0" bIns="0">
            <a:spAutoFit/>
          </a:bodyPr>
          <a:lstStyle/>
          <a:p>
            <a:pPr algn="r"/>
            <a:r>
              <a:rPr sz="1200" b="1" i="0">
                <a:solidFill>
                  <a:srgbClr val="E6E5DE"/>
                </a:solidFill>
                <a:latin typeface="Calibri"/>
              </a:rPr>
              <a:t>PROFITPULSE</a:t>
            </a:r>
          </a:p>
        </p:txBody>
      </p:sp>
      <p:sp>
        <p:nvSpPr>
          <p:cNvPr id="5" name="Rectangle 4"/>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051560"/>
            <a:ext cx="10058400" cy="548640"/>
          </a:xfrm>
          <a:prstGeom prst="rect">
            <a:avLst/>
          </a:prstGeom>
          <a:noFill/>
        </p:spPr>
        <p:txBody>
          <a:bodyPr wrap="square" anchor="t" lIns="0" rIns="0" tIns="0" bIns="0">
            <a:spAutoFit/>
          </a:bodyPr>
          <a:lstStyle/>
          <a:p>
            <a:pPr algn="l"/>
            <a:r>
              <a:rPr sz="3400" b="1" i="0">
                <a:solidFill>
                  <a:srgbClr val="000000"/>
                </a:solidFill>
                <a:latin typeface="Cambria"/>
              </a:rPr>
              <a:t>Equality Media + Marketing</a:t>
            </a:r>
          </a:p>
        </p:txBody>
      </p:sp>
      <p:sp>
        <p:nvSpPr>
          <p:cNvPr id="7" name="TextBox 6"/>
          <p:cNvSpPr txBox="1"/>
          <p:nvPr/>
        </p:nvSpPr>
        <p:spPr>
          <a:xfrm>
            <a:off x="320040" y="1536192"/>
            <a:ext cx="10058400" cy="274320"/>
          </a:xfrm>
          <a:prstGeom prst="rect">
            <a:avLst/>
          </a:prstGeom>
          <a:noFill/>
        </p:spPr>
        <p:txBody>
          <a:bodyPr wrap="square" anchor="t" lIns="0" rIns="0" tIns="0" bIns="0">
            <a:spAutoFit/>
          </a:bodyPr>
          <a:lstStyle/>
          <a:p>
            <a:pPr algn="l"/>
            <a:r>
              <a:rPr sz="1250" b="0" i="0">
                <a:solidFill>
                  <a:srgbClr val="000000"/>
                </a:solidFill>
                <a:latin typeface="Calibri"/>
              </a:rPr>
              <a:t>Independent media and marketing agency, Richmond, Melbourne VIC</a:t>
            </a:r>
          </a:p>
        </p:txBody>
      </p:sp>
      <p:sp>
        <p:nvSpPr>
          <p:cNvPr id="8" name="Rectangle 7"/>
          <p:cNvSpPr/>
          <p:nvPr/>
        </p:nvSpPr>
        <p:spPr>
          <a:xfrm>
            <a:off x="320040" y="1938528"/>
            <a:ext cx="1813560" cy="1234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938528"/>
            <a:ext cx="181356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 y="2103120"/>
            <a:ext cx="1557528" cy="384048"/>
          </a:xfrm>
          <a:prstGeom prst="rect">
            <a:avLst/>
          </a:prstGeom>
          <a:noFill/>
        </p:spPr>
        <p:txBody>
          <a:bodyPr wrap="square" anchor="t" lIns="0" rIns="0" tIns="0" bIns="0">
            <a:spAutoFit/>
          </a:bodyPr>
          <a:lstStyle/>
          <a:p>
            <a:pPr algn="l"/>
            <a:r>
              <a:rPr sz="2700" b="1" i="0">
                <a:solidFill>
                  <a:srgbClr val="F8C806"/>
                </a:solidFill>
                <a:latin typeface="Calibri"/>
              </a:rPr>
              <a:t>$13M</a:t>
            </a:r>
          </a:p>
        </p:txBody>
      </p:sp>
      <p:sp>
        <p:nvSpPr>
          <p:cNvPr id="11" name="TextBox 10"/>
          <p:cNvSpPr txBox="1"/>
          <p:nvPr/>
        </p:nvSpPr>
        <p:spPr>
          <a:xfrm>
            <a:off x="448056" y="2596896"/>
            <a:ext cx="1557528" cy="384048"/>
          </a:xfrm>
          <a:prstGeom prst="rect">
            <a:avLst/>
          </a:prstGeom>
          <a:noFill/>
        </p:spPr>
        <p:txBody>
          <a:bodyPr wrap="square" anchor="t" lIns="0" rIns="0" tIns="0" bIns="0">
            <a:spAutoFit/>
          </a:bodyPr>
          <a:lstStyle/>
          <a:p>
            <a:pPr algn="l"/>
            <a:r>
              <a:rPr sz="1000" b="0" i="0">
                <a:solidFill>
                  <a:srgbClr val="E6E5DE"/>
                </a:solidFill>
                <a:latin typeface="Calibri"/>
              </a:rPr>
              <a:t>Revenue, FY23 to FY24</a:t>
            </a:r>
          </a:p>
        </p:txBody>
      </p:sp>
      <p:sp>
        <p:nvSpPr>
          <p:cNvPr id="12" name="TextBox 11"/>
          <p:cNvSpPr txBox="1"/>
          <p:nvPr/>
        </p:nvSpPr>
        <p:spPr>
          <a:xfrm>
            <a:off x="448056" y="2935224"/>
            <a:ext cx="1557528" cy="219456"/>
          </a:xfrm>
          <a:prstGeom prst="rect">
            <a:avLst/>
          </a:prstGeom>
          <a:noFill/>
        </p:spPr>
        <p:txBody>
          <a:bodyPr wrap="square" anchor="t" lIns="0" rIns="0" tIns="0" bIns="0">
            <a:spAutoFit/>
          </a:bodyPr>
          <a:lstStyle/>
          <a:p>
            <a:pPr algn="l"/>
            <a:r>
              <a:rPr sz="750" b="0" i="1">
                <a:solidFill>
                  <a:srgbClr val="E6E5DE"/>
                </a:solidFill>
                <a:latin typeface="Calibri"/>
              </a:rPr>
              <a:t>SmartCompany Smart50 2025</a:t>
            </a:r>
          </a:p>
        </p:txBody>
      </p:sp>
      <p:sp>
        <p:nvSpPr>
          <p:cNvPr id="13" name="Rectangle 12"/>
          <p:cNvSpPr/>
          <p:nvPr/>
        </p:nvSpPr>
        <p:spPr>
          <a:xfrm>
            <a:off x="2270760" y="1938528"/>
            <a:ext cx="1813560" cy="1234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70760" y="1938528"/>
            <a:ext cx="181356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98776" y="2103120"/>
            <a:ext cx="1557528" cy="384048"/>
          </a:xfrm>
          <a:prstGeom prst="rect">
            <a:avLst/>
          </a:prstGeom>
          <a:noFill/>
        </p:spPr>
        <p:txBody>
          <a:bodyPr wrap="square" anchor="t" lIns="0" rIns="0" tIns="0" bIns="0">
            <a:spAutoFit/>
          </a:bodyPr>
          <a:lstStyle/>
          <a:p>
            <a:pPr algn="l"/>
            <a:r>
              <a:rPr sz="2700" b="1" i="0">
                <a:solidFill>
                  <a:srgbClr val="F8C806"/>
                </a:solidFill>
                <a:latin typeface="Calibri"/>
              </a:rPr>
              <a:t>#24</a:t>
            </a:r>
          </a:p>
        </p:txBody>
      </p:sp>
      <p:sp>
        <p:nvSpPr>
          <p:cNvPr id="16" name="TextBox 15"/>
          <p:cNvSpPr txBox="1"/>
          <p:nvPr/>
        </p:nvSpPr>
        <p:spPr>
          <a:xfrm>
            <a:off x="2398776" y="2596896"/>
            <a:ext cx="1557528" cy="384048"/>
          </a:xfrm>
          <a:prstGeom prst="rect">
            <a:avLst/>
          </a:prstGeom>
          <a:noFill/>
        </p:spPr>
        <p:txBody>
          <a:bodyPr wrap="square" anchor="t" lIns="0" rIns="0" tIns="0" bIns="0">
            <a:spAutoFit/>
          </a:bodyPr>
          <a:lstStyle/>
          <a:p>
            <a:pPr algn="l"/>
            <a:r>
              <a:rPr sz="1000" b="0" i="0">
                <a:solidFill>
                  <a:srgbClr val="E6E5DE"/>
                </a:solidFill>
                <a:latin typeface="Calibri"/>
              </a:rPr>
              <a:t>Smart50 2025 national rank</a:t>
            </a:r>
          </a:p>
        </p:txBody>
      </p:sp>
      <p:sp>
        <p:nvSpPr>
          <p:cNvPr id="17" name="TextBox 16"/>
          <p:cNvSpPr txBox="1"/>
          <p:nvPr/>
        </p:nvSpPr>
        <p:spPr>
          <a:xfrm>
            <a:off x="2398776" y="2935224"/>
            <a:ext cx="1557528" cy="219456"/>
          </a:xfrm>
          <a:prstGeom prst="rect">
            <a:avLst/>
          </a:prstGeom>
          <a:noFill/>
        </p:spPr>
        <p:txBody>
          <a:bodyPr wrap="square" anchor="t" lIns="0" rIns="0" tIns="0" bIns="0">
            <a:spAutoFit/>
          </a:bodyPr>
          <a:lstStyle/>
          <a:p>
            <a:pPr algn="l"/>
            <a:r>
              <a:rPr sz="750" b="0" i="1">
                <a:solidFill>
                  <a:srgbClr val="E6E5DE"/>
                </a:solidFill>
                <a:latin typeface="Calibri"/>
              </a:rPr>
              <a:t>SmartCompany, 2025</a:t>
            </a:r>
          </a:p>
        </p:txBody>
      </p:sp>
      <p:sp>
        <p:nvSpPr>
          <p:cNvPr id="18" name="Rectangle 17"/>
          <p:cNvSpPr/>
          <p:nvPr/>
        </p:nvSpPr>
        <p:spPr>
          <a:xfrm>
            <a:off x="4221480" y="1938528"/>
            <a:ext cx="1813560" cy="1234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21480" y="1938528"/>
            <a:ext cx="181356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9496" y="2103120"/>
            <a:ext cx="1557528" cy="384048"/>
          </a:xfrm>
          <a:prstGeom prst="rect">
            <a:avLst/>
          </a:prstGeom>
          <a:noFill/>
        </p:spPr>
        <p:txBody>
          <a:bodyPr wrap="square" anchor="t" lIns="0" rIns="0" tIns="0" bIns="0">
            <a:spAutoFit/>
          </a:bodyPr>
          <a:lstStyle/>
          <a:p>
            <a:pPr algn="l"/>
            <a:r>
              <a:rPr sz="2700" b="1" i="0">
                <a:solidFill>
                  <a:srgbClr val="F8C806"/>
                </a:solidFill>
                <a:latin typeface="Calibri"/>
              </a:rPr>
              <a:t>49%</a:t>
            </a:r>
          </a:p>
        </p:txBody>
      </p:sp>
      <p:sp>
        <p:nvSpPr>
          <p:cNvPr id="21" name="TextBox 20"/>
          <p:cNvSpPr txBox="1"/>
          <p:nvPr/>
        </p:nvSpPr>
        <p:spPr>
          <a:xfrm>
            <a:off x="4349496" y="2596896"/>
            <a:ext cx="1557528" cy="384048"/>
          </a:xfrm>
          <a:prstGeom prst="rect">
            <a:avLst/>
          </a:prstGeom>
          <a:noFill/>
        </p:spPr>
        <p:txBody>
          <a:bodyPr wrap="square" anchor="t" lIns="0" rIns="0" tIns="0" bIns="0">
            <a:spAutoFit/>
          </a:bodyPr>
          <a:lstStyle/>
          <a:p>
            <a:pPr algn="l"/>
            <a:r>
              <a:rPr sz="1000" b="0" i="0">
                <a:solidFill>
                  <a:srgbClr val="E6E5DE"/>
                </a:solidFill>
                <a:latin typeface="Calibri"/>
              </a:rPr>
              <a:t>Revenue growth, year on year</a:t>
            </a:r>
          </a:p>
        </p:txBody>
      </p:sp>
      <p:sp>
        <p:nvSpPr>
          <p:cNvPr id="22" name="TextBox 21"/>
          <p:cNvSpPr txBox="1"/>
          <p:nvPr/>
        </p:nvSpPr>
        <p:spPr>
          <a:xfrm>
            <a:off x="4349496" y="2935224"/>
            <a:ext cx="1557528" cy="219456"/>
          </a:xfrm>
          <a:prstGeom prst="rect">
            <a:avLst/>
          </a:prstGeom>
          <a:noFill/>
        </p:spPr>
        <p:txBody>
          <a:bodyPr wrap="square" anchor="t" lIns="0" rIns="0" tIns="0" bIns="0">
            <a:spAutoFit/>
          </a:bodyPr>
          <a:lstStyle/>
          <a:p>
            <a:pPr algn="l"/>
            <a:r>
              <a:rPr sz="750" b="0" i="1">
                <a:solidFill>
                  <a:srgbClr val="E6E5DE"/>
                </a:solidFill>
                <a:latin typeface="Calibri"/>
              </a:rPr>
              <a:t>SmartCompany Smart50 2025</a:t>
            </a:r>
          </a:p>
        </p:txBody>
      </p:sp>
      <p:sp>
        <p:nvSpPr>
          <p:cNvPr id="23" name="Rectangle 22"/>
          <p:cNvSpPr/>
          <p:nvPr/>
        </p:nvSpPr>
        <p:spPr>
          <a:xfrm>
            <a:off x="6172200" y="1938528"/>
            <a:ext cx="1813560" cy="1234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1938528"/>
            <a:ext cx="181356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0216" y="2103120"/>
            <a:ext cx="1557528" cy="384048"/>
          </a:xfrm>
          <a:prstGeom prst="rect">
            <a:avLst/>
          </a:prstGeom>
          <a:noFill/>
        </p:spPr>
        <p:txBody>
          <a:bodyPr wrap="square" anchor="t" lIns="0" rIns="0" tIns="0" bIns="0">
            <a:spAutoFit/>
          </a:bodyPr>
          <a:lstStyle/>
          <a:p>
            <a:pPr algn="l"/>
            <a:r>
              <a:rPr sz="2700" b="1" i="0">
                <a:solidFill>
                  <a:srgbClr val="F8C806"/>
                </a:solidFill>
                <a:latin typeface="Calibri"/>
              </a:rPr>
              <a:t>65%</a:t>
            </a:r>
          </a:p>
        </p:txBody>
      </p:sp>
      <p:sp>
        <p:nvSpPr>
          <p:cNvPr id="26" name="TextBox 25"/>
          <p:cNvSpPr txBox="1"/>
          <p:nvPr/>
        </p:nvSpPr>
        <p:spPr>
          <a:xfrm>
            <a:off x="6300216" y="2596896"/>
            <a:ext cx="1557528" cy="384048"/>
          </a:xfrm>
          <a:prstGeom prst="rect">
            <a:avLst/>
          </a:prstGeom>
          <a:noFill/>
        </p:spPr>
        <p:txBody>
          <a:bodyPr wrap="square" anchor="t" lIns="0" rIns="0" tIns="0" bIns="0">
            <a:spAutoFit/>
          </a:bodyPr>
          <a:lstStyle/>
          <a:p>
            <a:pPr algn="l"/>
            <a:r>
              <a:rPr sz="1000" b="0" i="0">
                <a:solidFill>
                  <a:srgbClr val="E6E5DE"/>
                </a:solidFill>
                <a:latin typeface="Calibri"/>
              </a:rPr>
              <a:t>Team growth, past year</a:t>
            </a:r>
          </a:p>
        </p:txBody>
      </p:sp>
      <p:sp>
        <p:nvSpPr>
          <p:cNvPr id="27" name="TextBox 26"/>
          <p:cNvSpPr txBox="1"/>
          <p:nvPr/>
        </p:nvSpPr>
        <p:spPr>
          <a:xfrm>
            <a:off x="6300216" y="2935224"/>
            <a:ext cx="1557528" cy="219456"/>
          </a:xfrm>
          <a:prstGeom prst="rect">
            <a:avLst/>
          </a:prstGeom>
          <a:noFill/>
        </p:spPr>
        <p:txBody>
          <a:bodyPr wrap="square" anchor="t" lIns="0" rIns="0" tIns="0" bIns="0">
            <a:spAutoFit/>
          </a:bodyPr>
          <a:lstStyle/>
          <a:p>
            <a:pPr algn="l"/>
            <a:r>
              <a:rPr sz="750" b="0" i="1">
                <a:solidFill>
                  <a:srgbClr val="E6E5DE"/>
                </a:solidFill>
                <a:latin typeface="Calibri"/>
              </a:rPr>
              <a:t>B&amp;T Fast 10, 2025</a:t>
            </a:r>
          </a:p>
        </p:txBody>
      </p:sp>
      <p:sp>
        <p:nvSpPr>
          <p:cNvPr id="28" name="Rectangle 27"/>
          <p:cNvSpPr/>
          <p:nvPr/>
        </p:nvSpPr>
        <p:spPr>
          <a:xfrm>
            <a:off x="8122920" y="1938528"/>
            <a:ext cx="1813560" cy="1234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22920" y="1938528"/>
            <a:ext cx="181356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0936" y="2103120"/>
            <a:ext cx="1557528" cy="384048"/>
          </a:xfrm>
          <a:prstGeom prst="rect">
            <a:avLst/>
          </a:prstGeom>
          <a:noFill/>
        </p:spPr>
        <p:txBody>
          <a:bodyPr wrap="square" anchor="t" lIns="0" rIns="0" tIns="0" bIns="0">
            <a:spAutoFit/>
          </a:bodyPr>
          <a:lstStyle/>
          <a:p>
            <a:pPr algn="l"/>
            <a:r>
              <a:rPr sz="2700" b="1" i="0">
                <a:solidFill>
                  <a:srgbClr val="F8C806"/>
                </a:solidFill>
                <a:latin typeface="Calibri"/>
              </a:rPr>
              <a:t>2018</a:t>
            </a:r>
          </a:p>
        </p:txBody>
      </p:sp>
      <p:sp>
        <p:nvSpPr>
          <p:cNvPr id="31" name="TextBox 30"/>
          <p:cNvSpPr txBox="1"/>
          <p:nvPr/>
        </p:nvSpPr>
        <p:spPr>
          <a:xfrm>
            <a:off x="8250936" y="2596896"/>
            <a:ext cx="1557528" cy="384048"/>
          </a:xfrm>
          <a:prstGeom prst="rect">
            <a:avLst/>
          </a:prstGeom>
          <a:noFill/>
        </p:spPr>
        <p:txBody>
          <a:bodyPr wrap="square" anchor="t" lIns="0" rIns="0" tIns="0" bIns="0">
            <a:spAutoFit/>
          </a:bodyPr>
          <a:lstStyle/>
          <a:p>
            <a:pPr algn="l"/>
            <a:r>
              <a:rPr sz="1000" b="0" i="0">
                <a:solidFill>
                  <a:srgbClr val="E6E5DE"/>
                </a:solidFill>
                <a:latin typeface="Calibri"/>
              </a:rPr>
              <a:t>Founded, Marilla Akkermans</a:t>
            </a:r>
          </a:p>
        </p:txBody>
      </p:sp>
      <p:sp>
        <p:nvSpPr>
          <p:cNvPr id="32" name="TextBox 31"/>
          <p:cNvSpPr txBox="1"/>
          <p:nvPr/>
        </p:nvSpPr>
        <p:spPr>
          <a:xfrm>
            <a:off x="8250936" y="2935224"/>
            <a:ext cx="1557528" cy="219456"/>
          </a:xfrm>
          <a:prstGeom prst="rect">
            <a:avLst/>
          </a:prstGeom>
          <a:noFill/>
        </p:spPr>
        <p:txBody>
          <a:bodyPr wrap="square" anchor="t" lIns="0" rIns="0" tIns="0" bIns="0">
            <a:spAutoFit/>
          </a:bodyPr>
          <a:lstStyle/>
          <a:p>
            <a:pPr algn="l"/>
            <a:r>
              <a:rPr sz="750" b="0" i="1">
                <a:solidFill>
                  <a:srgbClr val="E6E5DE"/>
                </a:solidFill>
                <a:latin typeface="Calibri"/>
              </a:rPr>
              <a:t>Company site, LinkedIn</a:t>
            </a:r>
          </a:p>
        </p:txBody>
      </p:sp>
      <p:sp>
        <p:nvSpPr>
          <p:cNvPr id="33" name="Rectangle 32"/>
          <p:cNvSpPr/>
          <p:nvPr/>
        </p:nvSpPr>
        <p:spPr>
          <a:xfrm>
            <a:off x="10073640" y="1938528"/>
            <a:ext cx="1813560" cy="1234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073640" y="1938528"/>
            <a:ext cx="181356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01656" y="2103120"/>
            <a:ext cx="1557528" cy="384048"/>
          </a:xfrm>
          <a:prstGeom prst="rect">
            <a:avLst/>
          </a:prstGeom>
          <a:noFill/>
        </p:spPr>
        <p:txBody>
          <a:bodyPr wrap="square" anchor="t" lIns="0" rIns="0" tIns="0" bIns="0">
            <a:spAutoFit/>
          </a:bodyPr>
          <a:lstStyle/>
          <a:p>
            <a:pPr algn="l"/>
            <a:r>
              <a:rPr sz="2700" b="1" i="0">
                <a:solidFill>
                  <a:srgbClr val="F8C806"/>
                </a:solidFill>
                <a:latin typeface="Calibri"/>
              </a:rPr>
              <a:t>#55</a:t>
            </a:r>
          </a:p>
        </p:txBody>
      </p:sp>
      <p:sp>
        <p:nvSpPr>
          <p:cNvPr id="36" name="TextBox 35"/>
          <p:cNvSpPr txBox="1"/>
          <p:nvPr/>
        </p:nvSpPr>
        <p:spPr>
          <a:xfrm>
            <a:off x="10201656" y="2596896"/>
            <a:ext cx="1557528" cy="384048"/>
          </a:xfrm>
          <a:prstGeom prst="rect">
            <a:avLst/>
          </a:prstGeom>
          <a:noFill/>
        </p:spPr>
        <p:txBody>
          <a:bodyPr wrap="square" anchor="t" lIns="0" rIns="0" tIns="0" bIns="0">
            <a:spAutoFit/>
          </a:bodyPr>
          <a:lstStyle/>
          <a:p>
            <a:pPr algn="l"/>
            <a:r>
              <a:rPr sz="1000" b="0" i="0">
                <a:solidFill>
                  <a:srgbClr val="E6E5DE"/>
                </a:solidFill>
                <a:latin typeface="Calibri"/>
              </a:rPr>
              <a:t>AFR Fast 100 2025 rank</a:t>
            </a:r>
          </a:p>
        </p:txBody>
      </p:sp>
      <p:sp>
        <p:nvSpPr>
          <p:cNvPr id="37" name="TextBox 36"/>
          <p:cNvSpPr txBox="1"/>
          <p:nvPr/>
        </p:nvSpPr>
        <p:spPr>
          <a:xfrm>
            <a:off x="10201656" y="2935224"/>
            <a:ext cx="1557528" cy="219456"/>
          </a:xfrm>
          <a:prstGeom prst="rect">
            <a:avLst/>
          </a:prstGeom>
          <a:noFill/>
        </p:spPr>
        <p:txBody>
          <a:bodyPr wrap="square" anchor="t" lIns="0" rIns="0" tIns="0" bIns="0">
            <a:spAutoFit/>
          </a:bodyPr>
          <a:lstStyle/>
          <a:p>
            <a:pPr algn="l"/>
            <a:r>
              <a:rPr sz="750" b="0" i="1">
                <a:solidFill>
                  <a:srgbClr val="E6E5DE"/>
                </a:solidFill>
                <a:latin typeface="Calibri"/>
              </a:rPr>
              <a:t>B&amp;T, 2025</a:t>
            </a:r>
          </a:p>
        </p:txBody>
      </p:sp>
      <p:sp>
        <p:nvSpPr>
          <p:cNvPr id="38" name="TextBox 37"/>
          <p:cNvSpPr txBox="1"/>
          <p:nvPr/>
        </p:nvSpPr>
        <p:spPr>
          <a:xfrm>
            <a:off x="320040" y="3429000"/>
            <a:ext cx="7315200" cy="228600"/>
          </a:xfrm>
          <a:prstGeom prst="rect">
            <a:avLst/>
          </a:prstGeom>
          <a:noFill/>
        </p:spPr>
        <p:txBody>
          <a:bodyPr wrap="square" anchor="t" lIns="0" rIns="0" tIns="0" bIns="0">
            <a:spAutoFit/>
          </a:bodyPr>
          <a:lstStyle/>
          <a:p>
            <a:pPr algn="l"/>
            <a:r>
              <a:rPr sz="1100" b="1" i="0">
                <a:solidFill>
                  <a:srgbClr val="01A296"/>
                </a:solidFill>
                <a:latin typeface="Calibri"/>
              </a:rPr>
              <a:t>REVENUE TRAJECTORY, VERIFIED ($ MILLION)</a:t>
            </a:r>
          </a:p>
        </p:txBody>
      </p:sp>
      <p:sp>
        <p:nvSpPr>
          <p:cNvPr id="39" name="Rectangle 38"/>
          <p:cNvSpPr/>
          <p:nvPr/>
        </p:nvSpPr>
        <p:spPr>
          <a:xfrm>
            <a:off x="320040" y="4279252"/>
            <a:ext cx="1005840" cy="1373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 y="4096372"/>
            <a:ext cx="1188720" cy="201168"/>
          </a:xfrm>
          <a:prstGeom prst="rect">
            <a:avLst/>
          </a:prstGeom>
          <a:noFill/>
        </p:spPr>
        <p:txBody>
          <a:bodyPr wrap="square" anchor="t" lIns="0" rIns="0" tIns="0" bIns="0">
            <a:spAutoFit/>
          </a:bodyPr>
          <a:lstStyle/>
          <a:p>
            <a:pPr algn="l"/>
            <a:r>
              <a:rPr sz="1100" b="1" i="0">
                <a:solidFill>
                  <a:srgbClr val="000000"/>
                </a:solidFill>
                <a:latin typeface="Calibri"/>
              </a:rPr>
              <a:t>$3.2M</a:t>
            </a:r>
          </a:p>
        </p:txBody>
      </p:sp>
      <p:sp>
        <p:nvSpPr>
          <p:cNvPr id="41" name="Rectangle 40"/>
          <p:cNvSpPr/>
          <p:nvPr/>
        </p:nvSpPr>
        <p:spPr>
          <a:xfrm>
            <a:off x="1783080" y="4103335"/>
            <a:ext cx="1005840" cy="313217"/>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783080" y="3920455"/>
            <a:ext cx="1188720" cy="201168"/>
          </a:xfrm>
          <a:prstGeom prst="rect">
            <a:avLst/>
          </a:prstGeom>
          <a:noFill/>
        </p:spPr>
        <p:txBody>
          <a:bodyPr wrap="square" anchor="t" lIns="0" rIns="0" tIns="0" bIns="0">
            <a:spAutoFit/>
          </a:bodyPr>
          <a:lstStyle/>
          <a:p>
            <a:pPr algn="l"/>
            <a:r>
              <a:rPr sz="1100" b="1" i="0">
                <a:solidFill>
                  <a:srgbClr val="000000"/>
                </a:solidFill>
                <a:latin typeface="Calibri"/>
              </a:rPr>
              <a:t>$7.3M</a:t>
            </a:r>
          </a:p>
        </p:txBody>
      </p:sp>
      <p:sp>
        <p:nvSpPr>
          <p:cNvPr id="43" name="Rectangle 42"/>
          <p:cNvSpPr/>
          <p:nvPr/>
        </p:nvSpPr>
        <p:spPr>
          <a:xfrm>
            <a:off x="3246120" y="3858768"/>
            <a:ext cx="1005840" cy="55778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46120" y="3675888"/>
            <a:ext cx="1188720" cy="201168"/>
          </a:xfrm>
          <a:prstGeom prst="rect">
            <a:avLst/>
          </a:prstGeom>
          <a:noFill/>
        </p:spPr>
        <p:txBody>
          <a:bodyPr wrap="square" anchor="t" lIns="0" rIns="0" tIns="0" bIns="0">
            <a:spAutoFit/>
          </a:bodyPr>
          <a:lstStyle/>
          <a:p>
            <a:pPr algn="l"/>
            <a:r>
              <a:rPr sz="1100" b="1" i="0">
                <a:solidFill>
                  <a:srgbClr val="000000"/>
                </a:solidFill>
                <a:latin typeface="Calibri"/>
              </a:rPr>
              <a:t>$13M</a:t>
            </a:r>
          </a:p>
        </p:txBody>
      </p:sp>
      <p:sp>
        <p:nvSpPr>
          <p:cNvPr id="45" name="TextBox 44"/>
          <p:cNvSpPr txBox="1"/>
          <p:nvPr/>
        </p:nvSpPr>
        <p:spPr>
          <a:xfrm>
            <a:off x="320040" y="4590288"/>
            <a:ext cx="1280160" cy="182880"/>
          </a:xfrm>
          <a:prstGeom prst="rect">
            <a:avLst/>
          </a:prstGeom>
          <a:noFill/>
        </p:spPr>
        <p:txBody>
          <a:bodyPr wrap="square" anchor="t" lIns="0" rIns="0" tIns="0" bIns="0">
            <a:spAutoFit/>
          </a:bodyPr>
          <a:lstStyle/>
          <a:p>
            <a:pPr algn="l"/>
            <a:r>
              <a:rPr sz="1000" b="0" i="0">
                <a:solidFill>
                  <a:srgbClr val="000000"/>
                </a:solidFill>
                <a:latin typeface="Calibri"/>
              </a:rPr>
              <a:t>2022</a:t>
            </a:r>
          </a:p>
        </p:txBody>
      </p:sp>
      <p:sp>
        <p:nvSpPr>
          <p:cNvPr id="46" name="TextBox 45"/>
          <p:cNvSpPr txBox="1"/>
          <p:nvPr/>
        </p:nvSpPr>
        <p:spPr>
          <a:xfrm>
            <a:off x="1783080" y="4590288"/>
            <a:ext cx="1280160" cy="182880"/>
          </a:xfrm>
          <a:prstGeom prst="rect">
            <a:avLst/>
          </a:prstGeom>
          <a:noFill/>
        </p:spPr>
        <p:txBody>
          <a:bodyPr wrap="square" anchor="t" lIns="0" rIns="0" tIns="0" bIns="0">
            <a:spAutoFit/>
          </a:bodyPr>
          <a:lstStyle/>
          <a:p>
            <a:pPr algn="l"/>
            <a:r>
              <a:rPr sz="1000" b="0" i="0">
                <a:solidFill>
                  <a:srgbClr val="000000"/>
                </a:solidFill>
                <a:latin typeface="Calibri"/>
              </a:rPr>
              <a:t>FY22 to 23</a:t>
            </a:r>
          </a:p>
        </p:txBody>
      </p:sp>
      <p:sp>
        <p:nvSpPr>
          <p:cNvPr id="47" name="TextBox 46"/>
          <p:cNvSpPr txBox="1"/>
          <p:nvPr/>
        </p:nvSpPr>
        <p:spPr>
          <a:xfrm>
            <a:off x="3246120" y="4590288"/>
            <a:ext cx="1280160" cy="182880"/>
          </a:xfrm>
          <a:prstGeom prst="rect">
            <a:avLst/>
          </a:prstGeom>
          <a:noFill/>
        </p:spPr>
        <p:txBody>
          <a:bodyPr wrap="square" anchor="t" lIns="0" rIns="0" tIns="0" bIns="0">
            <a:spAutoFit/>
          </a:bodyPr>
          <a:lstStyle/>
          <a:p>
            <a:pPr algn="l"/>
            <a:r>
              <a:rPr sz="1000" b="0" i="0">
                <a:solidFill>
                  <a:srgbClr val="000000"/>
                </a:solidFill>
                <a:latin typeface="Calibri"/>
              </a:rPr>
              <a:t>FY23 to 24</a:t>
            </a:r>
          </a:p>
        </p:txBody>
      </p:sp>
      <p:sp>
        <p:nvSpPr>
          <p:cNvPr id="48" name="TextBox 47"/>
          <p:cNvSpPr txBox="1"/>
          <p:nvPr/>
        </p:nvSpPr>
        <p:spPr>
          <a:xfrm>
            <a:off x="320040" y="4782312"/>
            <a:ext cx="10058400" cy="182880"/>
          </a:xfrm>
          <a:prstGeom prst="rect">
            <a:avLst/>
          </a:prstGeom>
          <a:noFill/>
        </p:spPr>
        <p:txBody>
          <a:bodyPr wrap="square" anchor="t" lIns="0" rIns="0" tIns="0" bIns="0">
            <a:spAutoFit/>
          </a:bodyPr>
          <a:lstStyle/>
          <a:p>
            <a:pPr algn="l"/>
            <a:r>
              <a:rPr sz="750" b="0" i="1">
                <a:solidFill>
                  <a:srgbClr val="000000"/>
                </a:solidFill>
                <a:latin typeface="Calibri"/>
              </a:rPr>
              <a:t>Source: Future of Australia Podcast Ep53 (2022); SmartCompany Smart50 2024 and 2025 citations</a:t>
            </a:r>
          </a:p>
        </p:txBody>
      </p:sp>
      <p:sp>
        <p:nvSpPr>
          <p:cNvPr id="49" name="TextBox 48"/>
          <p:cNvSpPr txBox="1"/>
          <p:nvPr/>
        </p:nvSpPr>
        <p:spPr>
          <a:xfrm>
            <a:off x="320040" y="5038344"/>
            <a:ext cx="5486400" cy="228600"/>
          </a:xfrm>
          <a:prstGeom prst="rect">
            <a:avLst/>
          </a:prstGeom>
          <a:noFill/>
        </p:spPr>
        <p:txBody>
          <a:bodyPr wrap="square" anchor="t" lIns="0" rIns="0" tIns="0" bIns="0">
            <a:spAutoFit/>
          </a:bodyPr>
          <a:lstStyle/>
          <a:p>
            <a:pPr algn="l"/>
            <a:r>
              <a:rPr sz="1100" b="1" i="0">
                <a:solidFill>
                  <a:srgbClr val="01A296"/>
                </a:solidFill>
                <a:latin typeface="Calibri"/>
              </a:rPr>
              <a:t>KEY COMMERCIAL SIGNALS</a:t>
            </a:r>
          </a:p>
        </p:txBody>
      </p:sp>
      <p:sp>
        <p:nvSpPr>
          <p:cNvPr id="50" name="TextBox 49"/>
          <p:cNvSpPr txBox="1"/>
          <p:nvPr/>
        </p:nvSpPr>
        <p:spPr>
          <a:xfrm>
            <a:off x="320040" y="5294376"/>
            <a:ext cx="11567160" cy="1188720"/>
          </a:xfrm>
          <a:prstGeom prst="rect">
            <a:avLst/>
          </a:prstGeom>
          <a:noFill/>
        </p:spPr>
        <p:txBody>
          <a:bodyPr wrap="square" lIns="0" rIns="0" tIns="0" bIns="0">
            <a:spAutoFit/>
          </a:bodyPr>
          <a:lstStyle/>
          <a:p>
            <a:pPr algn="l">
              <a:spcAft>
                <a:spcPts val="400"/>
              </a:spcAft>
            </a:pPr>
            <a:r>
              <a:rPr sz="1050">
                <a:solidFill>
                  <a:srgbClr val="000000"/>
                </a:solidFill>
                <a:latin typeface="Calibri"/>
              </a:rPr>
              <a:t>•  Revenue compounded from $3.2M (2022) to $13M (FY23 to FY24), per Smart50 citations</a:t>
            </a:r>
          </a:p>
          <a:p>
            <a:pPr algn="l">
              <a:spcAft>
                <a:spcPts val="400"/>
              </a:spcAft>
            </a:pPr>
            <a:r>
              <a:rPr sz="1050">
                <a:solidFill>
                  <a:srgbClr val="000000"/>
                </a:solidFill>
                <a:latin typeface="Calibri"/>
              </a:rPr>
              <a:t>•  Climbed from Smart50 rank 45 in 2024 to rank 24 in 2025, SmartCompany reporting</a:t>
            </a:r>
          </a:p>
          <a:p>
            <a:pPr algn="l">
              <a:spcAft>
                <a:spcPts val="400"/>
              </a:spcAft>
            </a:pPr>
            <a:r>
              <a:rPr sz="1050">
                <a:solidFill>
                  <a:srgbClr val="000000"/>
                </a:solidFill>
                <a:latin typeface="Calibri"/>
              </a:rPr>
              <a:t>•  Team grew 65% in the past year while revenue grew 49%, per B&amp;T Fast 10 profile</a:t>
            </a:r>
          </a:p>
          <a:p>
            <a:pPr algn="l">
              <a:spcAft>
                <a:spcPts val="400"/>
              </a:spcAft>
            </a:pPr>
            <a:r>
              <a:rPr sz="1050">
                <a:solidFill>
                  <a:srgbClr val="000000"/>
                </a:solidFill>
                <a:latin typeface="Calibri"/>
              </a:rPr>
              <a:t>•  Landed the BIODERMA skincare media account, a named new client win, per B&amp;T</a:t>
            </a:r>
          </a:p>
          <a:p>
            <a:pPr algn="l">
              <a:spcAft>
                <a:spcPts val="400"/>
              </a:spcAft>
            </a:pPr>
            <a:r>
              <a:rPr sz="1050">
                <a:solidFill>
                  <a:srgbClr val="000000"/>
                </a:solidFill>
                <a:latin typeface="Calibri"/>
              </a:rPr>
              <a:t>•  Gold, Best Small Organisation, AFR BOSS Best Places to Work 2026, per Mi3 and AdNews</a:t>
            </a:r>
          </a:p>
        </p:txBody>
      </p:sp>
      <p:sp>
        <p:nvSpPr>
          <p:cNvPr id="51" name="TextBox 50"/>
          <p:cNvSpPr txBox="1"/>
          <p:nvPr/>
        </p:nvSpPr>
        <p:spPr>
          <a:xfrm>
            <a:off x="320040" y="6446520"/>
            <a:ext cx="6400800" cy="274320"/>
          </a:xfrm>
          <a:prstGeom prst="rect">
            <a:avLst/>
          </a:prstGeom>
          <a:noFill/>
        </p:spPr>
        <p:txBody>
          <a:bodyPr wrap="square" anchor="t" lIns="0" rIns="0" tIns="0" bIns="0">
            <a:spAutoFit/>
          </a:bodyPr>
          <a:lstStyle/>
          <a:p>
            <a:pPr algn="l"/>
            <a:r>
              <a:rPr sz="800" b="0" i="0">
                <a:solidFill>
                  <a:srgbClr val="000000"/>
                </a:solidFill>
                <a:latin typeface="Calibri"/>
              </a:rPr>
              <a:t>Prepared by Nitesh Roopa CA, Managing Partner, ProfitPulse, Profit-Pulse.com.au</a:t>
            </a:r>
          </a:p>
        </p:txBody>
      </p:sp>
      <p:sp>
        <p:nvSpPr>
          <p:cNvPr id="52" name="TextBox 51"/>
          <p:cNvSpPr txBox="1"/>
          <p:nvPr/>
        </p:nvSpPr>
        <p:spPr>
          <a:xfrm>
            <a:off x="9448495" y="6446520"/>
            <a:ext cx="2286000" cy="274320"/>
          </a:xfrm>
          <a:prstGeom prst="rect">
            <a:avLst/>
          </a:prstGeom>
          <a:noFill/>
        </p:spPr>
        <p:txBody>
          <a:bodyPr wrap="square" anchor="t" lIns="0" rIns="0" tIns="0" bIns="0">
            <a:spAutoFit/>
          </a:bodyPr>
          <a:lstStyle/>
          <a:p>
            <a:pPr algn="r"/>
            <a:r>
              <a:rPr sz="800" b="0" i="0">
                <a:solidFill>
                  <a:srgbClr val="000000"/>
                </a:solidFill>
                <a:latin typeface="Calibri"/>
              </a:rPr>
              <a:t>17 Jul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6400800" cy="365760"/>
          </a:xfrm>
          <a:prstGeom prst="rect">
            <a:avLst/>
          </a:prstGeom>
          <a:noFill/>
        </p:spPr>
        <p:txBody>
          <a:bodyPr wrap="square" anchor="t" lIns="0" rIns="0" tIns="0" bIns="0">
            <a:spAutoFit/>
          </a:bodyPr>
          <a:lstStyle/>
          <a:p>
            <a:pPr algn="l"/>
            <a:r>
              <a:rPr sz="1200" b="1" i="0">
                <a:solidFill>
                  <a:srgbClr val="E6E5DE"/>
                </a:solidFill>
                <a:latin typeface="Calibri"/>
              </a:rPr>
              <a:t>THE OPPORTUNITY</a:t>
            </a:r>
          </a:p>
        </p:txBody>
      </p:sp>
      <p:sp>
        <p:nvSpPr>
          <p:cNvPr id="4" name="TextBox 3"/>
          <p:cNvSpPr txBox="1"/>
          <p:nvPr/>
        </p:nvSpPr>
        <p:spPr>
          <a:xfrm>
            <a:off x="8991295" y="256032"/>
            <a:ext cx="3200400" cy="365760"/>
          </a:xfrm>
          <a:prstGeom prst="rect">
            <a:avLst/>
          </a:prstGeom>
          <a:noFill/>
        </p:spPr>
        <p:txBody>
          <a:bodyPr wrap="square" anchor="t" lIns="0" rIns="0" tIns="0" bIns="0">
            <a:spAutoFit/>
          </a:bodyPr>
          <a:lstStyle/>
          <a:p>
            <a:pPr algn="r"/>
            <a:r>
              <a:rPr sz="1200" b="1" i="0">
                <a:solidFill>
                  <a:srgbClr val="E6E5DE"/>
                </a:solidFill>
                <a:latin typeface="Calibri"/>
              </a:rPr>
              <a:t>PROFITPULSE</a:t>
            </a:r>
          </a:p>
        </p:txBody>
      </p:sp>
      <p:sp>
        <p:nvSpPr>
          <p:cNvPr id="5" name="Rectangle 4"/>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078992"/>
            <a:ext cx="10972800" cy="320040"/>
          </a:xfrm>
          <a:prstGeom prst="rect">
            <a:avLst/>
          </a:prstGeom>
          <a:noFill/>
        </p:spPr>
        <p:txBody>
          <a:bodyPr wrap="square" anchor="t" lIns="0" rIns="0" tIns="0" bIns="0">
            <a:spAutoFit/>
          </a:bodyPr>
          <a:lstStyle/>
          <a:p>
            <a:pPr algn="l"/>
            <a:r>
              <a:rPr sz="1400" b="1" i="0">
                <a:solidFill>
                  <a:srgbClr val="000000"/>
                </a:solidFill>
                <a:latin typeface="Cambria"/>
              </a:rPr>
              <a:t>Equality Media + Marketing: Three commercial observations from ProfitPulse</a:t>
            </a:r>
          </a:p>
        </p:txBody>
      </p:sp>
      <p:sp>
        <p:nvSpPr>
          <p:cNvPr id="7" name="Rectangle 6"/>
          <p:cNvSpPr/>
          <p:nvPr/>
        </p:nvSpPr>
        <p:spPr>
          <a:xfrm>
            <a:off x="320040" y="1417320"/>
            <a:ext cx="3764280" cy="43434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645920"/>
            <a:ext cx="3361944" cy="502920"/>
          </a:xfrm>
          <a:prstGeom prst="rect">
            <a:avLst/>
          </a:prstGeom>
          <a:noFill/>
        </p:spPr>
        <p:txBody>
          <a:bodyPr wrap="square" anchor="t" lIns="0" rIns="0" tIns="0" bIns="0">
            <a:spAutoFit/>
          </a:bodyPr>
          <a:lstStyle/>
          <a:p>
            <a:pPr algn="l"/>
            <a:r>
              <a:rPr sz="3400" b="1" i="0">
                <a:solidFill>
                  <a:srgbClr val="000000"/>
                </a:solidFill>
                <a:latin typeface="Cambria"/>
              </a:rPr>
              <a:t>01</a:t>
            </a:r>
          </a:p>
        </p:txBody>
      </p:sp>
      <p:sp>
        <p:nvSpPr>
          <p:cNvPr id="9" name="TextBox 8"/>
          <p:cNvSpPr txBox="1"/>
          <p:nvPr/>
        </p:nvSpPr>
        <p:spPr>
          <a:xfrm>
            <a:off x="521208" y="2286000"/>
            <a:ext cx="3361944" cy="548640"/>
          </a:xfrm>
          <a:prstGeom prst="rect">
            <a:avLst/>
          </a:prstGeom>
          <a:noFill/>
        </p:spPr>
        <p:txBody>
          <a:bodyPr wrap="square" anchor="t" lIns="0" rIns="0" tIns="0" bIns="0">
            <a:spAutoFit/>
          </a:bodyPr>
          <a:lstStyle/>
          <a:p>
            <a:pPr algn="l"/>
            <a:r>
              <a:rPr sz="1350" b="1" i="0">
                <a:solidFill>
                  <a:srgbClr val="000000"/>
                </a:solidFill>
                <a:latin typeface="Calibri"/>
              </a:rPr>
              <a:t>Growth is compounding faster than a plan can absorb it</a:t>
            </a:r>
          </a:p>
        </p:txBody>
      </p:sp>
      <p:sp>
        <p:nvSpPr>
          <p:cNvPr id="10" name="TextBox 9"/>
          <p:cNvSpPr txBox="1"/>
          <p:nvPr/>
        </p:nvSpPr>
        <p:spPr>
          <a:xfrm>
            <a:off x="521208" y="2926080"/>
            <a:ext cx="3361944" cy="2651760"/>
          </a:xfrm>
          <a:prstGeom prst="rect">
            <a:avLst/>
          </a:prstGeom>
          <a:noFill/>
        </p:spPr>
        <p:txBody>
          <a:bodyPr wrap="square" anchor="t" lIns="0" rIns="0" tIns="0" bIns="0">
            <a:spAutoFit/>
          </a:bodyPr>
          <a:lstStyle/>
          <a:p>
            <a:pPr algn="l"/>
            <a:r>
              <a:rPr sz="1050" b="0" i="0">
                <a:solidFill>
                  <a:srgbClr val="000000"/>
                </a:solidFill>
                <a:latin typeface="Calibri"/>
              </a:rPr>
              <a:t>Revenue has moved from $3.2 million to $13 million in roughly two years, a trajectory that rarely continues without strain appearing somewhere, in delivery capacity, in margin, or in cash timing. The Smart50 citations documenting this growth show it accelerating, not levelling off. The practical question for the next 12 months is not whether Equality Media can keep growing, the evidence says it can, but which capacity, hiring and capital steps actually support another year at this pace.</a:t>
            </a:r>
          </a:p>
        </p:txBody>
      </p:sp>
      <p:sp>
        <p:nvSpPr>
          <p:cNvPr id="11" name="Rectangle 10"/>
          <p:cNvSpPr/>
          <p:nvPr/>
        </p:nvSpPr>
        <p:spPr>
          <a:xfrm>
            <a:off x="4221480" y="1417320"/>
            <a:ext cx="3764280" cy="4343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22648" y="1645920"/>
            <a:ext cx="3361944" cy="502920"/>
          </a:xfrm>
          <a:prstGeom prst="rect">
            <a:avLst/>
          </a:prstGeom>
          <a:noFill/>
        </p:spPr>
        <p:txBody>
          <a:bodyPr wrap="square" anchor="t" lIns="0" rIns="0" tIns="0" bIns="0">
            <a:spAutoFit/>
          </a:bodyPr>
          <a:lstStyle/>
          <a:p>
            <a:pPr algn="l"/>
            <a:r>
              <a:rPr sz="3400" b="1" i="0">
                <a:solidFill>
                  <a:srgbClr val="FFFFFF"/>
                </a:solidFill>
                <a:latin typeface="Cambria"/>
              </a:rPr>
              <a:t>02</a:t>
            </a:r>
          </a:p>
        </p:txBody>
      </p:sp>
      <p:sp>
        <p:nvSpPr>
          <p:cNvPr id="13" name="TextBox 12"/>
          <p:cNvSpPr txBox="1"/>
          <p:nvPr/>
        </p:nvSpPr>
        <p:spPr>
          <a:xfrm>
            <a:off x="4422648" y="2286000"/>
            <a:ext cx="3361944" cy="548640"/>
          </a:xfrm>
          <a:prstGeom prst="rect">
            <a:avLst/>
          </a:prstGeom>
          <a:noFill/>
        </p:spPr>
        <p:txBody>
          <a:bodyPr wrap="square" anchor="t" lIns="0" rIns="0" tIns="0" bIns="0">
            <a:spAutoFit/>
          </a:bodyPr>
          <a:lstStyle/>
          <a:p>
            <a:pPr algn="l"/>
            <a:r>
              <a:rPr sz="1350" b="1" i="0">
                <a:solidFill>
                  <a:srgbClr val="FFFFFF"/>
                </a:solidFill>
                <a:latin typeface="Calibri"/>
              </a:rPr>
              <a:t>One vertical carries an outsized share of the story</a:t>
            </a:r>
          </a:p>
        </p:txBody>
      </p:sp>
      <p:sp>
        <p:nvSpPr>
          <p:cNvPr id="14" name="TextBox 13"/>
          <p:cNvSpPr txBox="1"/>
          <p:nvPr/>
        </p:nvSpPr>
        <p:spPr>
          <a:xfrm>
            <a:off x="4422648" y="2926080"/>
            <a:ext cx="3361944" cy="2651760"/>
          </a:xfrm>
          <a:prstGeom prst="rect">
            <a:avLst/>
          </a:prstGeom>
          <a:noFill/>
        </p:spPr>
        <p:txBody>
          <a:bodyPr wrap="square" anchor="t" lIns="0" rIns="0" tIns="0" bIns="0">
            <a:spAutoFit/>
          </a:bodyPr>
          <a:lstStyle/>
          <a:p>
            <a:pPr algn="l"/>
            <a:r>
              <a:rPr sz="1050" b="0" i="0">
                <a:solidFill>
                  <a:srgbClr val="FFFFFF"/>
                </a:solidFill>
                <a:latin typeface="Calibri"/>
              </a:rPr>
              <a:t>Trade press coverage repeatedly ties this growth to the property sector specifically, citing close to a billion dollars in property sales supported by its campaigns in a single year. That is a genuine strength and a concentration signal at once. When one vertical carries this much of the narrative, a slowdown in that sector's marketing spend, not any failure of the agency's own work, becomes the largest single risk to next year's revenue line.</a:t>
            </a:r>
          </a:p>
        </p:txBody>
      </p:sp>
      <p:sp>
        <p:nvSpPr>
          <p:cNvPr id="15" name="Rectangle 14"/>
          <p:cNvSpPr/>
          <p:nvPr/>
        </p:nvSpPr>
        <p:spPr>
          <a:xfrm>
            <a:off x="8122920" y="1417320"/>
            <a:ext cx="3764280" cy="434340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4088" y="1645920"/>
            <a:ext cx="3361944" cy="502920"/>
          </a:xfrm>
          <a:prstGeom prst="rect">
            <a:avLst/>
          </a:prstGeom>
          <a:noFill/>
        </p:spPr>
        <p:txBody>
          <a:bodyPr wrap="square" anchor="t" lIns="0" rIns="0" tIns="0" bIns="0">
            <a:spAutoFit/>
          </a:bodyPr>
          <a:lstStyle/>
          <a:p>
            <a:pPr algn="l"/>
            <a:r>
              <a:rPr sz="3400" b="1" i="0">
                <a:solidFill>
                  <a:srgbClr val="000000"/>
                </a:solidFill>
                <a:latin typeface="Cambria"/>
              </a:rPr>
              <a:t>03</a:t>
            </a:r>
          </a:p>
        </p:txBody>
      </p:sp>
      <p:sp>
        <p:nvSpPr>
          <p:cNvPr id="17" name="TextBox 16"/>
          <p:cNvSpPr txBox="1"/>
          <p:nvPr/>
        </p:nvSpPr>
        <p:spPr>
          <a:xfrm>
            <a:off x="8324088" y="2286000"/>
            <a:ext cx="3361944" cy="548640"/>
          </a:xfrm>
          <a:prstGeom prst="rect">
            <a:avLst/>
          </a:prstGeom>
          <a:noFill/>
        </p:spPr>
        <p:txBody>
          <a:bodyPr wrap="square" anchor="t" lIns="0" rIns="0" tIns="0" bIns="0">
            <a:spAutoFit/>
          </a:bodyPr>
          <a:lstStyle/>
          <a:p>
            <a:pPr algn="l"/>
            <a:r>
              <a:rPr sz="1350" b="1" i="0">
                <a:solidFill>
                  <a:srgbClr val="000000"/>
                </a:solidFill>
                <a:latin typeface="Calibri"/>
              </a:rPr>
              <a:t>Headcount is scaling as fast as revenue, which changes the question</a:t>
            </a:r>
          </a:p>
        </p:txBody>
      </p:sp>
      <p:sp>
        <p:nvSpPr>
          <p:cNvPr id="18" name="TextBox 17"/>
          <p:cNvSpPr txBox="1"/>
          <p:nvPr/>
        </p:nvSpPr>
        <p:spPr>
          <a:xfrm>
            <a:off x="8324088" y="2926080"/>
            <a:ext cx="3361944" cy="2651760"/>
          </a:xfrm>
          <a:prstGeom prst="rect">
            <a:avLst/>
          </a:prstGeom>
          <a:noFill/>
        </p:spPr>
        <p:txBody>
          <a:bodyPr wrap="square" anchor="t" lIns="0" rIns="0" tIns="0" bIns="0">
            <a:spAutoFit/>
          </a:bodyPr>
          <a:lstStyle/>
          <a:p>
            <a:pPr algn="l"/>
            <a:r>
              <a:rPr sz="1050" b="0" i="0">
                <a:solidFill>
                  <a:srgbClr val="000000"/>
                </a:solidFill>
                <a:latin typeface="Calibri"/>
              </a:rPr>
              <a:t>A reported 65% increase in team size in a single year, alongside consecutive Best Places to Work recognitions, shows real investment in people. This is exactly the phase where reporting and cash forecasting built for a $3 million agency stop scaling cleanly to a $13 million one with several times the staff. A monthly finance rhythm is the natural next step once the growth plan itself is set.</a:t>
            </a:r>
          </a:p>
        </p:txBody>
      </p:sp>
      <p:sp>
        <p:nvSpPr>
          <p:cNvPr id="19" name="TextBox 18"/>
          <p:cNvSpPr txBox="1"/>
          <p:nvPr/>
        </p:nvSpPr>
        <p:spPr>
          <a:xfrm>
            <a:off x="320040" y="5943600"/>
            <a:ext cx="11567160" cy="457200"/>
          </a:xfrm>
          <a:prstGeom prst="rect">
            <a:avLst/>
          </a:prstGeom>
          <a:noFill/>
        </p:spPr>
        <p:txBody>
          <a:bodyPr wrap="square" anchor="t" lIns="0" rIns="0" tIns="0" bIns="0">
            <a:spAutoFit/>
          </a:bodyPr>
          <a:lstStyle/>
          <a:p>
            <a:pPr algn="l"/>
            <a:r>
              <a:rPr sz="1050" b="0" i="1">
                <a:solidFill>
                  <a:srgbClr val="000000"/>
                </a:solidFill>
                <a:latin typeface="Calibri"/>
              </a:rPr>
              <a:t>These are observations offered in good faith. Equality Media has built something genuinely admired in its market. The question is simply whether the financial architecture is scaling at the same pace as the team.</a:t>
            </a:r>
          </a:p>
        </p:txBody>
      </p:sp>
      <p:sp>
        <p:nvSpPr>
          <p:cNvPr id="20" name="TextBox 19"/>
          <p:cNvSpPr txBox="1"/>
          <p:nvPr/>
        </p:nvSpPr>
        <p:spPr>
          <a:xfrm>
            <a:off x="320040" y="6446520"/>
            <a:ext cx="6400800" cy="274320"/>
          </a:xfrm>
          <a:prstGeom prst="rect">
            <a:avLst/>
          </a:prstGeom>
          <a:noFill/>
        </p:spPr>
        <p:txBody>
          <a:bodyPr wrap="square" anchor="t" lIns="0" rIns="0" tIns="0" bIns="0">
            <a:spAutoFit/>
          </a:bodyPr>
          <a:lstStyle/>
          <a:p>
            <a:pPr algn="l"/>
            <a:r>
              <a:rPr sz="800" b="0" i="0">
                <a:solidFill>
                  <a:srgbClr val="000000"/>
                </a:solidFill>
                <a:latin typeface="Calibri"/>
              </a:rPr>
              <a:t>Prepared by Nitesh Roopa CA, Managing Partner, ProfitPulse, Profit-Pulse.com.au</a:t>
            </a:r>
          </a:p>
        </p:txBody>
      </p:sp>
      <p:sp>
        <p:nvSpPr>
          <p:cNvPr id="21" name="TextBox 20"/>
          <p:cNvSpPr txBox="1"/>
          <p:nvPr/>
        </p:nvSpPr>
        <p:spPr>
          <a:xfrm>
            <a:off x="9448495" y="6446520"/>
            <a:ext cx="2286000" cy="274320"/>
          </a:xfrm>
          <a:prstGeom prst="rect">
            <a:avLst/>
          </a:prstGeom>
          <a:noFill/>
        </p:spPr>
        <p:txBody>
          <a:bodyPr wrap="square" anchor="t" lIns="0" rIns="0" tIns="0" bIns="0">
            <a:spAutoFit/>
          </a:bodyPr>
          <a:lstStyle/>
          <a:p>
            <a:pPr algn="r"/>
            <a:r>
              <a:rPr sz="800" b="0" i="0">
                <a:solidFill>
                  <a:srgbClr val="000000"/>
                </a:solidFill>
                <a:latin typeface="Calibri"/>
              </a:rPr>
              <a:t>17 Jul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6400800" cy="365760"/>
          </a:xfrm>
          <a:prstGeom prst="rect">
            <a:avLst/>
          </a:prstGeom>
          <a:noFill/>
        </p:spPr>
        <p:txBody>
          <a:bodyPr wrap="square" anchor="t" lIns="0" rIns="0" tIns="0" bIns="0">
            <a:spAutoFit/>
          </a:bodyPr>
          <a:lstStyle/>
          <a:p>
            <a:pPr algn="l"/>
            <a:r>
              <a:rPr sz="1200" b="1" i="0">
                <a:solidFill>
                  <a:srgbClr val="E6E5DE"/>
                </a:solidFill>
                <a:latin typeface="Calibri"/>
              </a:rPr>
              <a:t>THE RECOMMENDATION</a:t>
            </a:r>
          </a:p>
        </p:txBody>
      </p:sp>
      <p:sp>
        <p:nvSpPr>
          <p:cNvPr id="4" name="TextBox 3"/>
          <p:cNvSpPr txBox="1"/>
          <p:nvPr/>
        </p:nvSpPr>
        <p:spPr>
          <a:xfrm>
            <a:off x="8991295" y="256032"/>
            <a:ext cx="3200400" cy="365760"/>
          </a:xfrm>
          <a:prstGeom prst="rect">
            <a:avLst/>
          </a:prstGeom>
          <a:noFill/>
        </p:spPr>
        <p:txBody>
          <a:bodyPr wrap="square" anchor="t" lIns="0" rIns="0" tIns="0" bIns="0">
            <a:spAutoFit/>
          </a:bodyPr>
          <a:lstStyle/>
          <a:p>
            <a:pPr algn="r"/>
            <a:r>
              <a:rPr sz="1200" b="1" i="0">
                <a:solidFill>
                  <a:srgbClr val="E6E5DE"/>
                </a:solidFill>
                <a:latin typeface="Calibri"/>
              </a:rPr>
              <a:t>PROFITPULSE</a:t>
            </a:r>
          </a:p>
        </p:txBody>
      </p:sp>
      <p:sp>
        <p:nvSpPr>
          <p:cNvPr id="5" name="Rectangle 4"/>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143000"/>
            <a:ext cx="6812280" cy="411480"/>
          </a:xfrm>
          <a:prstGeom prst="rect">
            <a:avLst/>
          </a:prstGeom>
          <a:noFill/>
        </p:spPr>
        <p:txBody>
          <a:bodyPr wrap="square" anchor="t" lIns="0" rIns="0" tIns="0" bIns="0">
            <a:spAutoFit/>
          </a:bodyPr>
          <a:lstStyle/>
          <a:p>
            <a:pPr algn="l"/>
            <a:r>
              <a:rPr sz="2300" b="1" i="0">
                <a:solidFill>
                  <a:srgbClr val="000000"/>
                </a:solidFill>
                <a:latin typeface="Cambria"/>
              </a:rPr>
              <a:t>Strategic Growth Diagnostic</a:t>
            </a:r>
          </a:p>
        </p:txBody>
      </p:sp>
      <p:sp>
        <p:nvSpPr>
          <p:cNvPr id="7" name="TextBox 6"/>
          <p:cNvSpPr txBox="1"/>
          <p:nvPr/>
        </p:nvSpPr>
        <p:spPr>
          <a:xfrm>
            <a:off x="320040" y="1600200"/>
            <a:ext cx="6812280" cy="274320"/>
          </a:xfrm>
          <a:prstGeom prst="rect">
            <a:avLst/>
          </a:prstGeom>
          <a:noFill/>
        </p:spPr>
        <p:txBody>
          <a:bodyPr wrap="square" anchor="t" lIns="0" rIns="0" tIns="0" bIns="0">
            <a:spAutoFit/>
          </a:bodyPr>
          <a:lstStyle/>
          <a:p>
            <a:pPr algn="l"/>
            <a:r>
              <a:rPr sz="1550" b="1" i="0">
                <a:solidFill>
                  <a:srgbClr val="01A296"/>
                </a:solidFill>
                <a:latin typeface="Calibri"/>
              </a:rPr>
              <a:t>$5,000 one off</a:t>
            </a:r>
          </a:p>
        </p:txBody>
      </p:sp>
      <p:sp>
        <p:nvSpPr>
          <p:cNvPr id="8" name="TextBox 7"/>
          <p:cNvSpPr txBox="1"/>
          <p:nvPr/>
        </p:nvSpPr>
        <p:spPr>
          <a:xfrm>
            <a:off x="320040" y="1984248"/>
            <a:ext cx="6812280" cy="777240"/>
          </a:xfrm>
          <a:prstGeom prst="rect">
            <a:avLst/>
          </a:prstGeom>
          <a:noFill/>
        </p:spPr>
        <p:txBody>
          <a:bodyPr wrap="square" anchor="t" lIns="0" rIns="0" tIns="0" bIns="0">
            <a:spAutoFit/>
          </a:bodyPr>
          <a:lstStyle/>
          <a:p>
            <a:pPr algn="l"/>
            <a:r>
              <a:rPr sz="1150" b="0" i="0">
                <a:solidFill>
                  <a:srgbClr val="000000"/>
                </a:solidFill>
                <a:latin typeface="Calibri"/>
              </a:rPr>
              <a:t>A six week engagement that maps revenue, capacity and margin headroom, then produces a 12 month growth plan with funding and capital allocation steps and three scenarios, so next year's growth is engineered rather than extrapolated.</a:t>
            </a:r>
          </a:p>
        </p:txBody>
      </p:sp>
      <p:sp>
        <p:nvSpPr>
          <p:cNvPr id="9" name="Rectangle 8"/>
          <p:cNvSpPr/>
          <p:nvPr/>
        </p:nvSpPr>
        <p:spPr>
          <a:xfrm>
            <a:off x="320040" y="2944368"/>
            <a:ext cx="6812280" cy="1188720"/>
          </a:xfrm>
          <a:prstGeom prst="rect">
            <a:avLst/>
          </a:prstGeom>
          <a:solidFill>
            <a:srgbClr val="E6E5DE"/>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3127248"/>
            <a:ext cx="6446520" cy="274320"/>
          </a:xfrm>
          <a:prstGeom prst="rect">
            <a:avLst/>
          </a:prstGeom>
          <a:noFill/>
        </p:spPr>
        <p:txBody>
          <a:bodyPr wrap="square" anchor="t" lIns="0" rIns="0" tIns="0" bIns="0">
            <a:spAutoFit/>
          </a:bodyPr>
          <a:lstStyle/>
          <a:p>
            <a:pPr algn="l"/>
            <a:r>
              <a:rPr sz="1350" b="1" i="0">
                <a:solidFill>
                  <a:srgbClr val="01A296"/>
                </a:solidFill>
                <a:latin typeface="Calibri"/>
              </a:rPr>
              <a:t>Step one, answer a few quick questions</a:t>
            </a:r>
          </a:p>
        </p:txBody>
      </p:sp>
      <p:sp>
        <p:nvSpPr>
          <p:cNvPr id="11" name="TextBox 10"/>
          <p:cNvSpPr txBox="1"/>
          <p:nvPr/>
        </p:nvSpPr>
        <p:spPr>
          <a:xfrm>
            <a:off x="521208" y="3474720"/>
            <a:ext cx="6446520" cy="274320"/>
          </a:xfrm>
          <a:prstGeom prst="rect">
            <a:avLst/>
          </a:prstGeom>
          <a:noFill/>
        </p:spPr>
        <p:txBody>
          <a:bodyPr wrap="square" anchor="t" lIns="0" rIns="0" tIns="0" bIns="0">
            <a:spAutoFit/>
          </a:bodyPr>
          <a:lstStyle/>
          <a:p>
            <a:pPr algn="l"/>
            <a:r>
              <a:rPr sz="1150" b="0" i="0">
                <a:solidFill>
                  <a:srgbClr val="000000"/>
                </a:solidFill>
                <a:latin typeface="Calibri"/>
              </a:rPr>
              <a:t>See the solutions matched to your size and industry.</a:t>
            </a:r>
          </a:p>
        </p:txBody>
      </p:sp>
      <p:sp>
        <p:nvSpPr>
          <p:cNvPr id="12" name="TextBox 11"/>
          <p:cNvSpPr txBox="1"/>
          <p:nvPr/>
        </p:nvSpPr>
        <p:spPr>
          <a:xfrm>
            <a:off x="521208" y="3813048"/>
            <a:ext cx="6446520" cy="274320"/>
          </a:xfrm>
          <a:prstGeom prst="rect">
            <a:avLst/>
          </a:prstGeom>
          <a:noFill/>
        </p:spPr>
        <p:txBody>
          <a:bodyPr wrap="square" anchor="t" lIns="0" rIns="0" tIns="0" bIns="0">
            <a:spAutoFit/>
          </a:bodyPr>
          <a:lstStyle/>
          <a:p>
            <a:pPr algn="l"/>
            <a:r>
              <a:rPr sz="1300" b="1" i="0">
                <a:solidFill>
                  <a:srgbClr val="01A296"/>
                </a:solidFill>
                <a:latin typeface="Calibri"/>
                <a:hlinkClick r:id="rId2"/>
              </a:rPr>
              <a:t>profit-pulse.com.au/services/find-your-fit</a:t>
            </a:r>
          </a:p>
        </p:txBody>
      </p:sp>
      <p:sp>
        <p:nvSpPr>
          <p:cNvPr id="13" name="Rectangle 12"/>
          <p:cNvSpPr/>
          <p:nvPr/>
        </p:nvSpPr>
        <p:spPr>
          <a:xfrm>
            <a:off x="320040" y="4462272"/>
            <a:ext cx="6812280" cy="566928"/>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4462272"/>
            <a:ext cx="6812280" cy="566928"/>
          </a:xfrm>
          <a:prstGeom prst="rect">
            <a:avLst/>
          </a:prstGeom>
          <a:noFill/>
        </p:spPr>
        <p:txBody>
          <a:bodyPr wrap="square" anchor="ctr" lIns="0" rIns="0" tIns="0" bIns="0">
            <a:spAutoFit/>
          </a:bodyPr>
          <a:lstStyle/>
          <a:p>
            <a:pPr algn="ctr"/>
            <a:r>
              <a:rPr sz="1300" b="1" i="0">
                <a:solidFill>
                  <a:srgbClr val="000000"/>
                </a:solidFill>
                <a:latin typeface="Calibri"/>
                <a:hlinkClick r:id="rId3"/>
              </a:rPr>
              <a:t>Purchase the suggested product now to get started</a:t>
            </a:r>
          </a:p>
        </p:txBody>
      </p:sp>
      <p:sp>
        <p:nvSpPr>
          <p:cNvPr id="15" name="TextBox 14"/>
          <p:cNvSpPr txBox="1"/>
          <p:nvPr/>
        </p:nvSpPr>
        <p:spPr>
          <a:xfrm>
            <a:off x="320040" y="5358384"/>
            <a:ext cx="6812280" cy="274320"/>
          </a:xfrm>
          <a:prstGeom prst="rect">
            <a:avLst/>
          </a:prstGeom>
          <a:noFill/>
        </p:spPr>
        <p:txBody>
          <a:bodyPr wrap="square" anchor="t" lIns="0" rIns="0" tIns="0" bIns="0">
            <a:spAutoFit/>
          </a:bodyPr>
          <a:lstStyle/>
          <a:p>
            <a:pPr algn="l"/>
            <a:r>
              <a:rPr sz="1150" b="0" i="0">
                <a:solidFill>
                  <a:srgbClr val="000000"/>
                </a:solidFill>
                <a:latin typeface="Calibri"/>
              </a:rPr>
              <a:t>Prefer a conversation first?</a:t>
            </a:r>
          </a:p>
        </p:txBody>
      </p:sp>
      <p:sp>
        <p:nvSpPr>
          <p:cNvPr id="16" name="TextBox 15"/>
          <p:cNvSpPr txBox="1"/>
          <p:nvPr/>
        </p:nvSpPr>
        <p:spPr>
          <a:xfrm>
            <a:off x="320040" y="5632704"/>
            <a:ext cx="6812280" cy="274320"/>
          </a:xfrm>
          <a:prstGeom prst="rect">
            <a:avLst/>
          </a:prstGeom>
          <a:noFill/>
        </p:spPr>
        <p:txBody>
          <a:bodyPr wrap="square" anchor="t" lIns="0" rIns="0" tIns="0" bIns="0">
            <a:spAutoFit/>
          </a:bodyPr>
          <a:lstStyle/>
          <a:p>
            <a:pPr algn="l"/>
            <a:r>
              <a:rPr sz="1250" b="1" i="0">
                <a:solidFill>
                  <a:srgbClr val="01A296"/>
                </a:solidFill>
                <a:latin typeface="Calibri"/>
                <a:hlinkClick r:id="rId4"/>
              </a:rPr>
              <a:t>Book a complimentary discovery call</a:t>
            </a:r>
          </a:p>
        </p:txBody>
      </p:sp>
      <p:sp>
        <p:nvSpPr>
          <p:cNvPr id="17" name="Rectangle 16"/>
          <p:cNvSpPr/>
          <p:nvPr/>
        </p:nvSpPr>
        <p:spPr>
          <a:xfrm>
            <a:off x="7223760" y="1143000"/>
            <a:ext cx="15240" cy="50292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0920" y="1143000"/>
            <a:ext cx="4526280" cy="320040"/>
          </a:xfrm>
          <a:prstGeom prst="rect">
            <a:avLst/>
          </a:prstGeom>
          <a:noFill/>
        </p:spPr>
        <p:txBody>
          <a:bodyPr wrap="square" anchor="t" lIns="0" rIns="0" tIns="0" bIns="0">
            <a:spAutoFit/>
          </a:bodyPr>
          <a:lstStyle/>
          <a:p>
            <a:pPr algn="l"/>
            <a:r>
              <a:rPr sz="1700" b="1" i="0">
                <a:solidFill>
                  <a:srgbClr val="000000"/>
                </a:solidFill>
                <a:latin typeface="Cambria"/>
              </a:rPr>
              <a:t>NITESH ROOPA</a:t>
            </a:r>
          </a:p>
        </p:txBody>
      </p:sp>
      <p:sp>
        <p:nvSpPr>
          <p:cNvPr id="19" name="TextBox 18"/>
          <p:cNvSpPr txBox="1"/>
          <p:nvPr/>
        </p:nvSpPr>
        <p:spPr>
          <a:xfrm>
            <a:off x="7360920" y="1472184"/>
            <a:ext cx="4526280" cy="274320"/>
          </a:xfrm>
          <a:prstGeom prst="rect">
            <a:avLst/>
          </a:prstGeom>
          <a:noFill/>
        </p:spPr>
        <p:txBody>
          <a:bodyPr wrap="square" anchor="t" lIns="0" rIns="0" tIns="0" bIns="0">
            <a:spAutoFit/>
          </a:bodyPr>
          <a:lstStyle/>
          <a:p>
            <a:pPr algn="l"/>
            <a:r>
              <a:rPr sz="1200" b="0" i="0">
                <a:solidFill>
                  <a:srgbClr val="000000"/>
                </a:solidFill>
                <a:latin typeface="Calibri"/>
              </a:rPr>
              <a:t>CA, Managing Partner, ProfitPulse</a:t>
            </a:r>
          </a:p>
        </p:txBody>
      </p:sp>
      <p:sp>
        <p:nvSpPr>
          <p:cNvPr id="20" name="TextBox 19"/>
          <p:cNvSpPr txBox="1"/>
          <p:nvPr/>
        </p:nvSpPr>
        <p:spPr>
          <a:xfrm>
            <a:off x="7360920" y="2020824"/>
            <a:ext cx="4526280" cy="1737360"/>
          </a:xfrm>
          <a:prstGeom prst="rect">
            <a:avLst/>
          </a:prstGeom>
          <a:noFill/>
        </p:spPr>
        <p:txBody>
          <a:bodyPr wrap="square" lIns="0" rIns="0" tIns="0" bIns="0">
            <a:spAutoFit/>
          </a:bodyPr>
          <a:lstStyle/>
          <a:p>
            <a:pPr algn="l">
              <a:spcAft>
                <a:spcPts val="1400"/>
              </a:spcAft>
            </a:pPr>
            <a:r>
              <a:rPr sz="1100">
                <a:solidFill>
                  <a:srgbClr val="000000"/>
                </a:solidFill>
                <a:latin typeface="Calibri"/>
              </a:rPr>
              <a:t>•  16 years across 4 countries</a:t>
            </a:r>
          </a:p>
          <a:p>
            <a:pPr algn="l">
              <a:spcAft>
                <a:spcPts val="1400"/>
              </a:spcAft>
            </a:pPr>
            <a:r>
              <a:rPr sz="1100">
                <a:solidFill>
                  <a:srgbClr val="000000"/>
                </a:solidFill>
                <a:latin typeface="Calibri"/>
              </a:rPr>
              <a:t>•  52 deals executed and managed</a:t>
            </a:r>
          </a:p>
          <a:p>
            <a:pPr algn="l">
              <a:spcAft>
                <a:spcPts val="1400"/>
              </a:spcAft>
            </a:pPr>
            <a:r>
              <a:rPr sz="1100">
                <a:solidFill>
                  <a:srgbClr val="000000"/>
                </a:solidFill>
                <a:latin typeface="Calibri"/>
              </a:rPr>
              <a:t>•  Largest single deal USD 1.3 billion, Cahora Bassa</a:t>
            </a:r>
          </a:p>
          <a:p>
            <a:pPr algn="l">
              <a:spcAft>
                <a:spcPts val="1400"/>
              </a:spcAft>
            </a:pPr>
            <a:r>
              <a:rPr sz="1100">
                <a:solidFill>
                  <a:srgbClr val="000000"/>
                </a:solidFill>
                <a:latin typeface="Calibri"/>
              </a:rPr>
              <a:t>•  Total GRBT project value over AUD 10 billion</a:t>
            </a:r>
          </a:p>
        </p:txBody>
      </p:sp>
      <p:sp>
        <p:nvSpPr>
          <p:cNvPr id="21" name="Rectangle 20"/>
          <p:cNvSpPr/>
          <p:nvPr/>
        </p:nvSpPr>
        <p:spPr>
          <a:xfrm>
            <a:off x="7360920" y="3758184"/>
            <a:ext cx="4526280" cy="127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0920" y="4032504"/>
            <a:ext cx="4526280" cy="256032"/>
          </a:xfrm>
          <a:prstGeom prst="rect">
            <a:avLst/>
          </a:prstGeom>
          <a:noFill/>
        </p:spPr>
        <p:txBody>
          <a:bodyPr wrap="square" anchor="t" lIns="0" rIns="0" tIns="0" bIns="0">
            <a:spAutoFit/>
          </a:bodyPr>
          <a:lstStyle/>
          <a:p>
            <a:pPr algn="l"/>
            <a:r>
              <a:rPr sz="1150" b="0" i="0">
                <a:solidFill>
                  <a:srgbClr val="000000"/>
                </a:solidFill>
                <a:latin typeface="Calibri"/>
              </a:rPr>
              <a:t>Profit-Pulse.com.au</a:t>
            </a:r>
          </a:p>
        </p:txBody>
      </p:sp>
      <p:sp>
        <p:nvSpPr>
          <p:cNvPr id="23" name="TextBox 22"/>
          <p:cNvSpPr txBox="1"/>
          <p:nvPr/>
        </p:nvSpPr>
        <p:spPr>
          <a:xfrm>
            <a:off x="7360920" y="4334256"/>
            <a:ext cx="4526280" cy="256032"/>
          </a:xfrm>
          <a:prstGeom prst="rect">
            <a:avLst/>
          </a:prstGeom>
          <a:noFill/>
        </p:spPr>
        <p:txBody>
          <a:bodyPr wrap="square" anchor="t" lIns="0" rIns="0" tIns="0" bIns="0">
            <a:spAutoFit/>
          </a:bodyPr>
          <a:lstStyle/>
          <a:p>
            <a:pPr algn="l"/>
            <a:r>
              <a:rPr sz="1150" b="0" i="0">
                <a:solidFill>
                  <a:srgbClr val="000000"/>
                </a:solidFill>
                <a:latin typeface="Calibri"/>
              </a:rPr>
              <a:t>Nitesh@Profit-Pulse.com.au</a:t>
            </a:r>
          </a:p>
        </p:txBody>
      </p:sp>
      <p:sp>
        <p:nvSpPr>
          <p:cNvPr id="24" name="TextBox 23"/>
          <p:cNvSpPr txBox="1"/>
          <p:nvPr/>
        </p:nvSpPr>
        <p:spPr>
          <a:xfrm>
            <a:off x="7360920" y="4636008"/>
            <a:ext cx="4526280" cy="256032"/>
          </a:xfrm>
          <a:prstGeom prst="rect">
            <a:avLst/>
          </a:prstGeom>
          <a:noFill/>
        </p:spPr>
        <p:txBody>
          <a:bodyPr wrap="square" anchor="t" lIns="0" rIns="0" tIns="0" bIns="0">
            <a:spAutoFit/>
          </a:bodyPr>
          <a:lstStyle/>
          <a:p>
            <a:pPr algn="l"/>
            <a:r>
              <a:rPr sz="1150" b="0" i="0">
                <a:solidFill>
                  <a:srgbClr val="000000"/>
                </a:solidFill>
                <a:latin typeface="Calibri"/>
              </a:rPr>
              <a:t>+61 411 876 267</a:t>
            </a:r>
          </a:p>
        </p:txBody>
      </p:sp>
      <p:sp>
        <p:nvSpPr>
          <p:cNvPr id="25" name="TextBox 24"/>
          <p:cNvSpPr txBox="1"/>
          <p:nvPr/>
        </p:nvSpPr>
        <p:spPr>
          <a:xfrm>
            <a:off x="7360920" y="4937760"/>
            <a:ext cx="4526280" cy="256032"/>
          </a:xfrm>
          <a:prstGeom prst="rect">
            <a:avLst/>
          </a:prstGeom>
          <a:noFill/>
        </p:spPr>
        <p:txBody>
          <a:bodyPr wrap="square" anchor="t" lIns="0" rIns="0" tIns="0" bIns="0">
            <a:spAutoFit/>
          </a:bodyPr>
          <a:lstStyle/>
          <a:p>
            <a:pPr algn="l"/>
            <a:r>
              <a:rPr sz="1150" b="0" i="0">
                <a:solidFill>
                  <a:srgbClr val="000000"/>
                </a:solidFill>
                <a:latin typeface="Calibri"/>
              </a:rPr>
              <a:t>linkedin.com/in/nitesh-roopa-77594163</a:t>
            </a:r>
          </a:p>
        </p:txBody>
      </p:sp>
      <p:sp>
        <p:nvSpPr>
          <p:cNvPr id="26" name="TextBox 25"/>
          <p:cNvSpPr txBox="1"/>
          <p:nvPr/>
        </p:nvSpPr>
        <p:spPr>
          <a:xfrm>
            <a:off x="320040" y="6446520"/>
            <a:ext cx="6400800" cy="274320"/>
          </a:xfrm>
          <a:prstGeom prst="rect">
            <a:avLst/>
          </a:prstGeom>
          <a:noFill/>
        </p:spPr>
        <p:txBody>
          <a:bodyPr wrap="square" anchor="t" lIns="0" rIns="0" tIns="0" bIns="0">
            <a:spAutoFit/>
          </a:bodyPr>
          <a:lstStyle/>
          <a:p>
            <a:pPr algn="l"/>
            <a:r>
              <a:rPr sz="800" b="0" i="0">
                <a:solidFill>
                  <a:srgbClr val="000000"/>
                </a:solidFill>
                <a:latin typeface="Calibri"/>
              </a:rPr>
              <a:t>Prepared by Nitesh Roopa CA, Managing Partner, ProfitPulse, Profit-Pulse.com.au</a:t>
            </a:r>
          </a:p>
        </p:txBody>
      </p:sp>
      <p:sp>
        <p:nvSpPr>
          <p:cNvPr id="27" name="TextBox 26"/>
          <p:cNvSpPr txBox="1"/>
          <p:nvPr/>
        </p:nvSpPr>
        <p:spPr>
          <a:xfrm>
            <a:off x="9448495" y="6446520"/>
            <a:ext cx="2286000" cy="274320"/>
          </a:xfrm>
          <a:prstGeom prst="rect">
            <a:avLst/>
          </a:prstGeom>
          <a:noFill/>
        </p:spPr>
        <p:txBody>
          <a:bodyPr wrap="square" anchor="t" lIns="0" rIns="0" tIns="0" bIns="0">
            <a:spAutoFit/>
          </a:bodyPr>
          <a:lstStyle/>
          <a:p>
            <a:pPr algn="r"/>
            <a:r>
              <a:rPr sz="800" b="0" i="0">
                <a:solidFill>
                  <a:srgbClr val="000000"/>
                </a:solidFill>
                <a:latin typeface="Calibri"/>
              </a:rPr>
              <a:t>17 Jul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