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fit-pulse.com.au/services/find-your-fit/" TargetMode="External"/><Relationship Id="rId3" Type="http://schemas.openxmlformats.org/officeDocument/2006/relationships/hyperlink" Target="https://buy.stripe.com/eVqdRad9e66cftK23Z3ks0h" TargetMode="External"/><Relationship Id="rId4" Type="http://schemas.openxmlformats.org/officeDocument/2006/relationships/hyperlink" Target="https://bookings.cloud.microsoft/book/ProfitPulse1@profit-pulse.com.au/?ismsaljsauthenabled=tr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10025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COMMERCIAL INTELLIGENCE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8C806"/>
                </a:solidFill>
                <a:latin typeface="Calibri"/>
              </a:rPr>
              <a:t>PROFITPULSE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46520"/>
            <a:ext cx="1152144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04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Cambria"/>
              </a:rPr>
              <a:t>Paire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37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Direct to consumer apparel brand, South Melbourne VIC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9456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9456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Cambria"/>
              </a:rPr>
              <a:t>$9.4M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FY2025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SmartCompany Smart50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19456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219456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Cambria"/>
              </a:rPr>
              <a:t>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FY2025 revenue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SmartCompany Smart50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19456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00600" y="219456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Cambria"/>
              </a:rPr>
              <a:t>#15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Smart50 2025 national 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SmartCompany,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19456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219456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Cambria"/>
              </a:rPr>
              <a:t>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Year founded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FashionUnited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194560"/>
            <a:ext cx="2103120" cy="146304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81160" y="2194560"/>
            <a:ext cx="210312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3591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C806"/>
                </a:solidFill>
                <a:latin typeface="Cambria"/>
              </a:rPr>
              <a:t>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5DE"/>
                </a:solidFill>
                <a:latin typeface="Calibri"/>
              </a:rPr>
              <a:t>People on the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A9A9A"/>
                </a:solidFill>
                <a:latin typeface="Calibri"/>
              </a:rPr>
              <a:t>FashionUnited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1A296"/>
                </a:solidFill>
                <a:latin typeface="Calibri"/>
              </a:rPr>
              <a:t>REVENUE TRAJECTORY, SMART50 AWARD CITATIONS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675603"/>
            <a:ext cx="1371600" cy="313717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38299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$2.15M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Smart50 2023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5128423"/>
            <a:ext cx="1371600" cy="860897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483581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$5.9M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Smart50 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40" y="4617720"/>
            <a:ext cx="1371600" cy="13716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40" y="4325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$9.4M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7764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Smart50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31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1A296"/>
                </a:solidFill>
                <a:latin typeface="Calibri"/>
              </a:rPr>
              <a:t>KEY COMMERCIAL SIGNALS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425196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Smart50 2025 rank 15, revenue grew 64% to $9.4M (SmartCompany, 2025)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Smart50 2024 double winner, Rising Star and Retail Award, 88% growth (SmartCompany)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Pitched on Shark Tank Australia for a $500,000 equity investment (SmartCompany)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Singapore distributor Seager Inc signed for Southeast Asia wholesale, 2023 (SmartCompany)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Converted QV Melbourne pop up into a permanent flagship store (SmartCompany, 2025)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Launched direct to consumer in the United States, 2026 range (FashionUnited)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10025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8C806"/>
                </a:solidFill>
                <a:latin typeface="Calibri"/>
              </a:rPr>
              <a:t>PROFITPULSE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46520"/>
            <a:ext cx="1152144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04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Cambria"/>
              </a:rPr>
              <a:t>Paire: three commercial observations from ProfitPulse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3703320" cy="448056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Three growth engines, one capital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Paire is scaling revenue at 64% a year while running three capital hungry expansions at once: a permanent flagship plus planned Sydney stores, a new Singapore wholesale relationship, and a 2026 direct to consumer launch in the United States. Each draws on the same pool of cash and management time. No public evidence points to a single, costed plan that sequences these three bets against the capacity of the business to fund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6" y="1554480"/>
            <a:ext cx="3703320" cy="44805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737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4231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mbria"/>
              </a:rPr>
              <a:t>A funding question still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315468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The Shark Tank Australia pitch shows the founders have already tested appetite for outside equity, reportedly seeking $500,000, but no source confirms a completed deal. Meanwhile headcount has grown from roughly ten to a stated forty. Whether the next stage of growth is funded from trading cash flow, debt, or equity is an open question that shapes every other decision this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1272" y="1554480"/>
            <a:ext cx="3703320" cy="4480560"/>
          </a:xfrm>
          <a:prstGeom prst="rect">
            <a:avLst/>
          </a:prstGeom>
          <a:solidFill>
            <a:srgbClr val="E3A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737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0000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242316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mbria"/>
              </a:rPr>
              <a:t>Structure has not caught up with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3154680"/>
            <a:ext cx="3246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000000"/>
                </a:solidFill>
                <a:latin typeface="Calibri"/>
              </a:rPr>
              <a:t>Paire now sells across Australia, Singapore, and the United States, from a single Melbourne base whose exact corporate structure for the US market is not publicly disclosed. As revenue heads toward eight figures, the reporting rhythm and capital allocation discipline that suited a two million dollar startup may not suit a multi country retail and wholesale business.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089904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44444"/>
                </a:solidFill>
                <a:latin typeface="Calibri"/>
              </a:rPr>
              <a:t>These are observations offered in good faith. Paire has built something impressive. The question is simply whether the financial architecture matches the ambition.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6A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12100255" cy="914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5DE"/>
                </a:solidFill>
                <a:latin typeface="Calibri"/>
              </a:rPr>
              <a:t>THE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8C806"/>
                </a:solidFill>
                <a:latin typeface="Calibri"/>
              </a:rPr>
              <a:t>PROFITPULSE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446520"/>
            <a:ext cx="1152144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Prepared by Nitesh Roopa CA, Managing Partner and Founder, ProfitPulse, Profit-Pulse.com.au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Calibri"/>
              </a:rPr>
              <a:t>04 Aug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ambria"/>
              </a:rPr>
              <a:t>Strategic Growth Diagnostic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1A296"/>
                </a:solidFill>
                <a:latin typeface="Calibri"/>
              </a:rPr>
              <a:t>$5,000 one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20240"/>
            <a:ext cx="6766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000000"/>
                </a:solidFill>
                <a:latin typeface="Calibri"/>
              </a:rPr>
              <a:t>A six week engagement that maps revenue, capacity, and margin headroom across the retail, wholesale, and United States channels, then produces a 12 month growth plan with funding and capital allocation steps spelled out for each.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971800"/>
            <a:ext cx="6766560" cy="1234440"/>
          </a:xfrm>
          <a:prstGeom prst="rect">
            <a:avLst/>
          </a:prstGeom>
          <a:solidFill>
            <a:srgbClr val="F2F2F0"/>
          </a:solidFill>
          <a:ln w="12700">
            <a:solidFill>
              <a:srgbClr val="01A2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1A296"/>
                </a:solidFill>
                <a:latin typeface="Calibri"/>
              </a:rPr>
              <a:t>Step one, answer a few quick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See the solutions matched to your size and industry.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1A296"/>
                </a:solidFill>
                <a:latin typeface="Calibri"/>
                <a:hlinkClick r:id="rId2"/>
              </a:rPr>
              <a:t>profit-pulse.com.au/services/find-your-fit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89120"/>
            <a:ext cx="6766560" cy="594360"/>
          </a:xfrm>
          <a:prstGeom prst="rect">
            <a:avLst/>
          </a:prstGeom>
          <a:solidFill>
            <a:srgbClr val="F8C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544568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libri"/>
                <a:hlinkClick r:id="rId3"/>
              </a:rPr>
              <a:t>Purchase the suggested product now to get started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16636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Prefer a conversation first? Book a complimentary discovery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46811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1A296"/>
                </a:solidFill>
                <a:latin typeface="Calibri"/>
                <a:hlinkClick r:id="rId4"/>
              </a:rPr>
              <a:t>bookings.cloud.microsoft/book/ProfitPulse1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051560"/>
            <a:ext cx="4480560" cy="525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051560"/>
            <a:ext cx="4480560" cy="508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280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8C806"/>
                </a:solidFill>
                <a:latin typeface="Cambria"/>
              </a:rPr>
              <a:t>Nitesh Roopa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691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5DE"/>
                </a:solidFill>
                <a:latin typeface="Calibri"/>
              </a:rPr>
              <a:t>CA, Managing Partner, ProfitPulse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103120"/>
            <a:ext cx="4023360" cy="127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242316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100" b="0" i="0">
                <a:solidFill>
                  <a:srgbClr val="E6E5DE"/>
                </a:solidFill>
                <a:latin typeface="Calibri"/>
              </a:rPr>
              <a:t>16 years across 4 countries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100" b="0" i="0">
                <a:solidFill>
                  <a:srgbClr val="E6E5DE"/>
                </a:solidFill>
                <a:latin typeface="Calibri"/>
              </a:rPr>
              <a:t>52 deals executed and managed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100" b="0" i="0">
                <a:solidFill>
                  <a:srgbClr val="E6E5DE"/>
                </a:solidFill>
                <a:latin typeface="Calibri"/>
              </a:rPr>
              <a:t>Largest single deal, USD 1.3 billion, Cahora Bassa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100" b="0" i="0">
                <a:solidFill>
                  <a:srgbClr val="E6E5DE"/>
                </a:solidFill>
                <a:latin typeface="Calibri"/>
              </a:rPr>
              <a:t>Total GRBT project value over AUD 10 billion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343400"/>
            <a:ext cx="4023360" cy="12700"/>
          </a:xfrm>
          <a:prstGeom prst="rect">
            <a:avLst/>
          </a:prstGeom>
          <a:solidFill>
            <a:srgbClr val="01A2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4617720"/>
            <a:ext cx="4023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Profit-Pulse.com.au</a:t>
            </a:r>
          </a:p>
          <a:p>
            <a:pPr algn="l">
              <a:spcAft>
                <a:spcPts val="1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Nitesh@Profit-Pulse.com.au</a:t>
            </a:r>
          </a:p>
          <a:p>
            <a:pPr algn="l">
              <a:spcAft>
                <a:spcPts val="1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+61 411 876 267</a:t>
            </a:r>
          </a:p>
          <a:p>
            <a:pPr algn="l">
              <a:spcAft>
                <a:spcPts val="16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linkedin.com/in/nitesh-roopa-77594163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