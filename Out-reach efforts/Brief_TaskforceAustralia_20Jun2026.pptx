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full-suite-of-products" TargetMode="External"/><Relationship Id="rId3" Type="http://schemas.openxmlformats.org/officeDocument/2006/relationships/hyperlink" Target="https://buy.stripe.com/28EbJ2edi0LSbdugYT3ks1D"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81967"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182880"/>
            <a:ext cx="7772400" cy="502920"/>
          </a:xfrm>
          <a:prstGeom prst="rect">
            <a:avLst/>
          </a:prstGeom>
          <a:noFill/>
        </p:spPr>
        <p:txBody>
          <a:bodyPr wrap="square"/>
          <a:lstStyle/>
          <a:p>
            <a:pPr algn="l"/>
            <a:r>
              <a:rPr sz="1200" b="1" i="0">
                <a:solidFill>
                  <a:srgbClr val="E6E5DE"/>
                </a:solidFill>
                <a:latin typeface="Arial"/>
              </a:rPr>
              <a:t>COMMERCIAL INTELLIGENCE BRIEF</a:t>
            </a:r>
          </a:p>
        </p:txBody>
      </p:sp>
      <p:sp>
        <p:nvSpPr>
          <p:cNvPr id="5" name="TextBox 4"/>
          <p:cNvSpPr txBox="1"/>
          <p:nvPr/>
        </p:nvSpPr>
        <p:spPr>
          <a:xfrm>
            <a:off x="9601200" y="182880"/>
            <a:ext cx="2468880" cy="502920"/>
          </a:xfrm>
          <a:prstGeom prst="rect">
            <a:avLst/>
          </a:prstGeom>
          <a:noFill/>
        </p:spPr>
        <p:txBody>
          <a:bodyPr wrap="square"/>
          <a:lstStyle/>
          <a:p>
            <a:pPr algn="r"/>
            <a:r>
              <a:rPr sz="1100" b="1" i="0">
                <a:solidFill>
                  <a:srgbClr val="01A296"/>
                </a:solidFill>
                <a:latin typeface="Arial"/>
              </a:rPr>
              <a:t>PROFITPULSE</a:t>
            </a:r>
          </a:p>
        </p:txBody>
      </p:sp>
      <p:sp>
        <p:nvSpPr>
          <p:cNvPr id="6" name="TextBox 5"/>
          <p:cNvSpPr txBox="1"/>
          <p:nvPr/>
        </p:nvSpPr>
        <p:spPr>
          <a:xfrm>
            <a:off x="256032" y="960120"/>
            <a:ext cx="11612880" cy="594360"/>
          </a:xfrm>
          <a:prstGeom prst="rect">
            <a:avLst/>
          </a:prstGeom>
          <a:noFill/>
        </p:spPr>
        <p:txBody>
          <a:bodyPr wrap="square"/>
          <a:lstStyle/>
          <a:p>
            <a:pPr algn="l"/>
            <a:r>
              <a:rPr sz="4000" b="1" i="0">
                <a:solidFill>
                  <a:srgbClr val="000000"/>
                </a:solidFill>
                <a:latin typeface="Georgia"/>
              </a:rPr>
              <a:t>Taskforce Australia</a:t>
            </a:r>
          </a:p>
        </p:txBody>
      </p:sp>
      <p:sp>
        <p:nvSpPr>
          <p:cNvPr id="7" name="TextBox 6"/>
          <p:cNvSpPr txBox="1"/>
          <p:nvPr/>
        </p:nvSpPr>
        <p:spPr>
          <a:xfrm>
            <a:off x="256032" y="1572768"/>
            <a:ext cx="11612880" cy="274320"/>
          </a:xfrm>
          <a:prstGeom prst="rect">
            <a:avLst/>
          </a:prstGeom>
          <a:noFill/>
        </p:spPr>
        <p:txBody>
          <a:bodyPr wrap="square"/>
          <a:lstStyle/>
          <a:p>
            <a:pPr algn="l"/>
            <a:r>
              <a:rPr sz="1100" b="0" i="0">
                <a:solidFill>
                  <a:srgbClr val="01A296"/>
                </a:solidFill>
                <a:latin typeface="Arial"/>
              </a:rPr>
              <a:t>Property maintenance and compliance technology platform  |  Burnley, Melbourne VIC</a:t>
            </a:r>
          </a:p>
        </p:txBody>
      </p:sp>
      <p:sp>
        <p:nvSpPr>
          <p:cNvPr id="8" name="Rectangle 7"/>
          <p:cNvSpPr/>
          <p:nvPr/>
        </p:nvSpPr>
        <p:spPr>
          <a:xfrm>
            <a:off x="256032" y="1901952"/>
            <a:ext cx="1902409" cy="12618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1901952"/>
            <a:ext cx="1902409"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993392"/>
            <a:ext cx="1682953" cy="502920"/>
          </a:xfrm>
          <a:prstGeom prst="rect">
            <a:avLst/>
          </a:prstGeom>
          <a:noFill/>
        </p:spPr>
        <p:txBody>
          <a:bodyPr wrap="square"/>
          <a:lstStyle/>
          <a:p>
            <a:pPr algn="l"/>
            <a:r>
              <a:rPr sz="2600" b="1" i="0">
                <a:solidFill>
                  <a:srgbClr val="FFFFFF"/>
                </a:solidFill>
                <a:latin typeface="Georgia"/>
              </a:rPr>
              <a:t>$12.8M</a:t>
            </a:r>
          </a:p>
        </p:txBody>
      </p:sp>
      <p:sp>
        <p:nvSpPr>
          <p:cNvPr id="11" name="TextBox 10"/>
          <p:cNvSpPr txBox="1"/>
          <p:nvPr/>
        </p:nvSpPr>
        <p:spPr>
          <a:xfrm>
            <a:off x="365760" y="2496312"/>
            <a:ext cx="1682953" cy="201168"/>
          </a:xfrm>
          <a:prstGeom prst="rect">
            <a:avLst/>
          </a:prstGeom>
          <a:noFill/>
        </p:spPr>
        <p:txBody>
          <a:bodyPr wrap="square"/>
          <a:lstStyle/>
          <a:p>
            <a:pPr algn="l"/>
            <a:r>
              <a:rPr sz="950" b="0" i="0">
                <a:solidFill>
                  <a:srgbClr val="E6E5DE"/>
                </a:solidFill>
                <a:latin typeface="Arial"/>
              </a:rPr>
              <a:t>Revenue FY2025</a:t>
            </a:r>
          </a:p>
        </p:txBody>
      </p:sp>
      <p:sp>
        <p:nvSpPr>
          <p:cNvPr id="12" name="TextBox 11"/>
          <p:cNvSpPr txBox="1"/>
          <p:nvPr/>
        </p:nvSpPr>
        <p:spPr>
          <a:xfrm>
            <a:off x="365760" y="2697480"/>
            <a:ext cx="1682953" cy="182880"/>
          </a:xfrm>
          <a:prstGeom prst="rect">
            <a:avLst/>
          </a:prstGeom>
          <a:noFill/>
        </p:spPr>
        <p:txBody>
          <a:bodyPr wrap="square"/>
          <a:lstStyle/>
          <a:p>
            <a:pPr algn="l"/>
            <a:r>
              <a:rPr sz="900" b="0" i="0">
                <a:solidFill>
                  <a:srgbClr val="888888"/>
                </a:solidFill>
                <a:latin typeface="Arial"/>
              </a:rPr>
              <a:t>Smart50 award</a:t>
            </a:r>
          </a:p>
        </p:txBody>
      </p:sp>
      <p:sp>
        <p:nvSpPr>
          <p:cNvPr id="13" name="TextBox 12"/>
          <p:cNvSpPr txBox="1"/>
          <p:nvPr/>
        </p:nvSpPr>
        <p:spPr>
          <a:xfrm>
            <a:off x="365760" y="2980944"/>
            <a:ext cx="1682953" cy="182880"/>
          </a:xfrm>
          <a:prstGeom prst="rect">
            <a:avLst/>
          </a:prstGeom>
          <a:noFill/>
        </p:spPr>
        <p:txBody>
          <a:bodyPr wrap="square"/>
          <a:lstStyle/>
          <a:p>
            <a:pPr algn="l"/>
            <a:r>
              <a:rPr sz="700" b="0" i="1">
                <a:solidFill>
                  <a:srgbClr val="888888"/>
                </a:solidFill>
                <a:latin typeface="Arial"/>
              </a:rPr>
              <a:t>Source: SmartCompany Smart50 2025</a:t>
            </a:r>
          </a:p>
        </p:txBody>
      </p:sp>
      <p:sp>
        <p:nvSpPr>
          <p:cNvPr id="14" name="Rectangle 13"/>
          <p:cNvSpPr/>
          <p:nvPr/>
        </p:nvSpPr>
        <p:spPr>
          <a:xfrm>
            <a:off x="2240737" y="1901952"/>
            <a:ext cx="1902409" cy="12618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40737" y="1901952"/>
            <a:ext cx="1902409"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50465" y="1993392"/>
            <a:ext cx="1682953" cy="502920"/>
          </a:xfrm>
          <a:prstGeom prst="rect">
            <a:avLst/>
          </a:prstGeom>
          <a:noFill/>
        </p:spPr>
        <p:txBody>
          <a:bodyPr wrap="square"/>
          <a:lstStyle/>
          <a:p>
            <a:pPr algn="l"/>
            <a:r>
              <a:rPr sz="2600" b="1" i="0">
                <a:solidFill>
                  <a:srgbClr val="FFFFFF"/>
                </a:solidFill>
                <a:latin typeface="Georgia"/>
              </a:rPr>
              <a:t>31%</a:t>
            </a:r>
          </a:p>
        </p:txBody>
      </p:sp>
      <p:sp>
        <p:nvSpPr>
          <p:cNvPr id="17" name="TextBox 16"/>
          <p:cNvSpPr txBox="1"/>
          <p:nvPr/>
        </p:nvSpPr>
        <p:spPr>
          <a:xfrm>
            <a:off x="2350465" y="2496312"/>
            <a:ext cx="1682953" cy="201168"/>
          </a:xfrm>
          <a:prstGeom prst="rect">
            <a:avLst/>
          </a:prstGeom>
          <a:noFill/>
        </p:spPr>
        <p:txBody>
          <a:bodyPr wrap="square"/>
          <a:lstStyle/>
          <a:p>
            <a:pPr algn="l"/>
            <a:r>
              <a:rPr sz="950" b="0" i="0">
                <a:solidFill>
                  <a:srgbClr val="E6E5DE"/>
                </a:solidFill>
                <a:latin typeface="Arial"/>
              </a:rPr>
              <a:t>YoY growth FY2025</a:t>
            </a:r>
          </a:p>
        </p:txBody>
      </p:sp>
      <p:sp>
        <p:nvSpPr>
          <p:cNvPr id="18" name="TextBox 17"/>
          <p:cNvSpPr txBox="1"/>
          <p:nvPr/>
        </p:nvSpPr>
        <p:spPr>
          <a:xfrm>
            <a:off x="2350465" y="2697480"/>
            <a:ext cx="1682953" cy="182880"/>
          </a:xfrm>
          <a:prstGeom prst="rect">
            <a:avLst/>
          </a:prstGeom>
          <a:noFill/>
        </p:spPr>
        <p:txBody>
          <a:bodyPr wrap="square"/>
          <a:lstStyle/>
          <a:p>
            <a:pPr algn="l"/>
            <a:r>
              <a:rPr sz="900" b="0" i="0">
                <a:solidFill>
                  <a:srgbClr val="888888"/>
                </a:solidFill>
                <a:latin typeface="Arial"/>
              </a:rPr>
              <a:t>vs $9.7M in FY2024</a:t>
            </a:r>
          </a:p>
        </p:txBody>
      </p:sp>
      <p:sp>
        <p:nvSpPr>
          <p:cNvPr id="19" name="TextBox 18"/>
          <p:cNvSpPr txBox="1"/>
          <p:nvPr/>
        </p:nvSpPr>
        <p:spPr>
          <a:xfrm>
            <a:off x="2350465" y="2980944"/>
            <a:ext cx="1682953" cy="182880"/>
          </a:xfrm>
          <a:prstGeom prst="rect">
            <a:avLst/>
          </a:prstGeom>
          <a:noFill/>
        </p:spPr>
        <p:txBody>
          <a:bodyPr wrap="square"/>
          <a:lstStyle/>
          <a:p>
            <a:pPr algn="l"/>
            <a:r>
              <a:rPr sz="700" b="0" i="1">
                <a:solidFill>
                  <a:srgbClr val="888888"/>
                </a:solidFill>
                <a:latin typeface="Arial"/>
              </a:rPr>
              <a:t>Source: SmartCompany Smart50 2025</a:t>
            </a:r>
          </a:p>
        </p:txBody>
      </p:sp>
      <p:sp>
        <p:nvSpPr>
          <p:cNvPr id="20" name="Rectangle 19"/>
          <p:cNvSpPr/>
          <p:nvPr/>
        </p:nvSpPr>
        <p:spPr>
          <a:xfrm>
            <a:off x="4225442" y="1901952"/>
            <a:ext cx="1902409" cy="12618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25442" y="1901952"/>
            <a:ext cx="1902409"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35170" y="1993392"/>
            <a:ext cx="1682953" cy="502920"/>
          </a:xfrm>
          <a:prstGeom prst="rect">
            <a:avLst/>
          </a:prstGeom>
          <a:noFill/>
        </p:spPr>
        <p:txBody>
          <a:bodyPr wrap="square"/>
          <a:lstStyle/>
          <a:p>
            <a:pPr algn="l"/>
            <a:r>
              <a:rPr sz="2600" b="1" i="0">
                <a:solidFill>
                  <a:srgbClr val="FFFFFF"/>
                </a:solidFill>
                <a:latin typeface="Georgia"/>
              </a:rPr>
              <a:t>19</a:t>
            </a:r>
          </a:p>
        </p:txBody>
      </p:sp>
      <p:sp>
        <p:nvSpPr>
          <p:cNvPr id="23" name="TextBox 22"/>
          <p:cNvSpPr txBox="1"/>
          <p:nvPr/>
        </p:nvSpPr>
        <p:spPr>
          <a:xfrm>
            <a:off x="4335170" y="2496312"/>
            <a:ext cx="1682953" cy="201168"/>
          </a:xfrm>
          <a:prstGeom prst="rect">
            <a:avLst/>
          </a:prstGeom>
          <a:noFill/>
        </p:spPr>
        <p:txBody>
          <a:bodyPr wrap="square"/>
          <a:lstStyle/>
          <a:p>
            <a:pPr algn="l"/>
            <a:r>
              <a:rPr sz="950" b="0" i="0">
                <a:solidFill>
                  <a:srgbClr val="E6E5DE"/>
                </a:solidFill>
                <a:latin typeface="Arial"/>
              </a:rPr>
              <a:t>Team members</a:t>
            </a:r>
          </a:p>
        </p:txBody>
      </p:sp>
      <p:sp>
        <p:nvSpPr>
          <p:cNvPr id="24" name="TextBox 23"/>
          <p:cNvSpPr txBox="1"/>
          <p:nvPr/>
        </p:nvSpPr>
        <p:spPr>
          <a:xfrm>
            <a:off x="4335170" y="2697480"/>
            <a:ext cx="1682953" cy="182880"/>
          </a:xfrm>
          <a:prstGeom prst="rect">
            <a:avLst/>
          </a:prstGeom>
          <a:noFill/>
        </p:spPr>
        <p:txBody>
          <a:bodyPr wrap="square"/>
          <a:lstStyle/>
          <a:p>
            <a:pPr algn="l"/>
            <a:r>
              <a:rPr sz="900" b="0" i="0">
                <a:solidFill>
                  <a:srgbClr val="888888"/>
                </a:solidFill>
                <a:latin typeface="Arial"/>
              </a:rPr>
              <a:t>Full time 2025</a:t>
            </a:r>
          </a:p>
        </p:txBody>
      </p:sp>
      <p:sp>
        <p:nvSpPr>
          <p:cNvPr id="25" name="TextBox 24"/>
          <p:cNvSpPr txBox="1"/>
          <p:nvPr/>
        </p:nvSpPr>
        <p:spPr>
          <a:xfrm>
            <a:off x="4335170" y="2980944"/>
            <a:ext cx="1682953" cy="182880"/>
          </a:xfrm>
          <a:prstGeom prst="rect">
            <a:avLst/>
          </a:prstGeom>
          <a:noFill/>
        </p:spPr>
        <p:txBody>
          <a:bodyPr wrap="square"/>
          <a:lstStyle/>
          <a:p>
            <a:pPr algn="l"/>
            <a:r>
              <a:rPr sz="700" b="0" i="1">
                <a:solidFill>
                  <a:srgbClr val="888888"/>
                </a:solidFill>
                <a:latin typeface="Arial"/>
              </a:rPr>
              <a:t>Source: SmartCompany Smart50 2025</a:t>
            </a:r>
          </a:p>
        </p:txBody>
      </p:sp>
      <p:sp>
        <p:nvSpPr>
          <p:cNvPr id="26" name="Rectangle 25"/>
          <p:cNvSpPr/>
          <p:nvPr/>
        </p:nvSpPr>
        <p:spPr>
          <a:xfrm>
            <a:off x="6210147" y="1901952"/>
            <a:ext cx="1902409" cy="12618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0147" y="1901952"/>
            <a:ext cx="1902409"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19875" y="1993392"/>
            <a:ext cx="1682953" cy="502920"/>
          </a:xfrm>
          <a:prstGeom prst="rect">
            <a:avLst/>
          </a:prstGeom>
          <a:noFill/>
        </p:spPr>
        <p:txBody>
          <a:bodyPr wrap="square"/>
          <a:lstStyle/>
          <a:p>
            <a:pPr algn="l"/>
            <a:r>
              <a:rPr sz="2600" b="1" i="0">
                <a:solidFill>
                  <a:srgbClr val="FFFFFF"/>
                </a:solidFill>
                <a:latin typeface="Georgia"/>
              </a:rPr>
              <a:t>140K+</a:t>
            </a:r>
          </a:p>
        </p:txBody>
      </p:sp>
      <p:sp>
        <p:nvSpPr>
          <p:cNvPr id="29" name="TextBox 28"/>
          <p:cNvSpPr txBox="1"/>
          <p:nvPr/>
        </p:nvSpPr>
        <p:spPr>
          <a:xfrm>
            <a:off x="6319875" y="2496312"/>
            <a:ext cx="1682953" cy="201168"/>
          </a:xfrm>
          <a:prstGeom prst="rect">
            <a:avLst/>
          </a:prstGeom>
          <a:noFill/>
        </p:spPr>
        <p:txBody>
          <a:bodyPr wrap="square"/>
          <a:lstStyle/>
          <a:p>
            <a:pPr algn="l"/>
            <a:r>
              <a:rPr sz="950" b="0" i="0">
                <a:solidFill>
                  <a:srgbClr val="E6E5DE"/>
                </a:solidFill>
                <a:latin typeface="Arial"/>
              </a:rPr>
              <a:t>Jobs deployed</a:t>
            </a:r>
          </a:p>
        </p:txBody>
      </p:sp>
      <p:sp>
        <p:nvSpPr>
          <p:cNvPr id="30" name="TextBox 29"/>
          <p:cNvSpPr txBox="1"/>
          <p:nvPr/>
        </p:nvSpPr>
        <p:spPr>
          <a:xfrm>
            <a:off x="6319875" y="2697480"/>
            <a:ext cx="1682953" cy="182880"/>
          </a:xfrm>
          <a:prstGeom prst="rect">
            <a:avLst/>
          </a:prstGeom>
          <a:noFill/>
        </p:spPr>
        <p:txBody>
          <a:bodyPr wrap="square"/>
          <a:lstStyle/>
          <a:p>
            <a:pPr algn="l"/>
            <a:r>
              <a:rPr sz="900" b="0" i="0">
                <a:solidFill>
                  <a:srgbClr val="888888"/>
                </a:solidFill>
                <a:latin typeface="Arial"/>
              </a:rPr>
              <a:t>via RentSafe platform</a:t>
            </a:r>
          </a:p>
        </p:txBody>
      </p:sp>
      <p:sp>
        <p:nvSpPr>
          <p:cNvPr id="31" name="TextBox 30"/>
          <p:cNvSpPr txBox="1"/>
          <p:nvPr/>
        </p:nvSpPr>
        <p:spPr>
          <a:xfrm>
            <a:off x="6319875" y="2980944"/>
            <a:ext cx="1682953" cy="182880"/>
          </a:xfrm>
          <a:prstGeom prst="rect">
            <a:avLst/>
          </a:prstGeom>
          <a:noFill/>
        </p:spPr>
        <p:txBody>
          <a:bodyPr wrap="square"/>
          <a:lstStyle/>
          <a:p>
            <a:pPr algn="l"/>
            <a:r>
              <a:rPr sz="700" b="0" i="1">
                <a:solidFill>
                  <a:srgbClr val="888888"/>
                </a:solidFill>
                <a:latin typeface="Arial"/>
              </a:rPr>
              <a:t>Source: taskforce.com.au</a:t>
            </a:r>
          </a:p>
        </p:txBody>
      </p:sp>
      <p:sp>
        <p:nvSpPr>
          <p:cNvPr id="32" name="Rectangle 31"/>
          <p:cNvSpPr/>
          <p:nvPr/>
        </p:nvSpPr>
        <p:spPr>
          <a:xfrm>
            <a:off x="8194852" y="1901952"/>
            <a:ext cx="1902409" cy="12618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94852" y="1901952"/>
            <a:ext cx="1902409"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04580" y="1993392"/>
            <a:ext cx="1682953" cy="502920"/>
          </a:xfrm>
          <a:prstGeom prst="rect">
            <a:avLst/>
          </a:prstGeom>
          <a:noFill/>
        </p:spPr>
        <p:txBody>
          <a:bodyPr wrap="square"/>
          <a:lstStyle/>
          <a:p>
            <a:pPr algn="l"/>
            <a:r>
              <a:rPr sz="2600" b="1" i="0">
                <a:solidFill>
                  <a:srgbClr val="FFFFFF"/>
                </a:solidFill>
                <a:latin typeface="Georgia"/>
              </a:rPr>
              <a:t>300+</a:t>
            </a:r>
          </a:p>
        </p:txBody>
      </p:sp>
      <p:sp>
        <p:nvSpPr>
          <p:cNvPr id="35" name="TextBox 34"/>
          <p:cNvSpPr txBox="1"/>
          <p:nvPr/>
        </p:nvSpPr>
        <p:spPr>
          <a:xfrm>
            <a:off x="8304580" y="2496312"/>
            <a:ext cx="1682953" cy="201168"/>
          </a:xfrm>
          <a:prstGeom prst="rect">
            <a:avLst/>
          </a:prstGeom>
          <a:noFill/>
        </p:spPr>
        <p:txBody>
          <a:bodyPr wrap="square"/>
          <a:lstStyle/>
          <a:p>
            <a:pPr algn="l"/>
            <a:r>
              <a:rPr sz="950" b="0" i="0">
                <a:solidFill>
                  <a:srgbClr val="E6E5DE"/>
                </a:solidFill>
                <a:latin typeface="Arial"/>
              </a:rPr>
              <a:t>Real estate offices</a:t>
            </a:r>
          </a:p>
        </p:txBody>
      </p:sp>
      <p:sp>
        <p:nvSpPr>
          <p:cNvPr id="36" name="TextBox 35"/>
          <p:cNvSpPr txBox="1"/>
          <p:nvPr/>
        </p:nvSpPr>
        <p:spPr>
          <a:xfrm>
            <a:off x="8304580" y="2697480"/>
            <a:ext cx="1682953" cy="182880"/>
          </a:xfrm>
          <a:prstGeom prst="rect">
            <a:avLst/>
          </a:prstGeom>
          <a:noFill/>
        </p:spPr>
        <p:txBody>
          <a:bodyPr wrap="square"/>
          <a:lstStyle/>
          <a:p>
            <a:pPr algn="l"/>
            <a:r>
              <a:rPr sz="900" b="0" i="0">
                <a:solidFill>
                  <a:srgbClr val="888888"/>
                </a:solidFill>
                <a:latin typeface="Arial"/>
              </a:rPr>
              <a:t>on platform 2024</a:t>
            </a:r>
          </a:p>
        </p:txBody>
      </p:sp>
      <p:sp>
        <p:nvSpPr>
          <p:cNvPr id="37" name="TextBox 36"/>
          <p:cNvSpPr txBox="1"/>
          <p:nvPr/>
        </p:nvSpPr>
        <p:spPr>
          <a:xfrm>
            <a:off x="8304580" y="2980944"/>
            <a:ext cx="1682953" cy="182880"/>
          </a:xfrm>
          <a:prstGeom prst="rect">
            <a:avLst/>
          </a:prstGeom>
          <a:noFill/>
        </p:spPr>
        <p:txBody>
          <a:bodyPr wrap="square"/>
          <a:lstStyle/>
          <a:p>
            <a:pPr algn="l"/>
            <a:r>
              <a:rPr sz="700" b="0" i="1">
                <a:solidFill>
                  <a:srgbClr val="888888"/>
                </a:solidFill>
                <a:latin typeface="Arial"/>
              </a:rPr>
              <a:t>Source: taskforce.com.au</a:t>
            </a:r>
          </a:p>
        </p:txBody>
      </p:sp>
      <p:sp>
        <p:nvSpPr>
          <p:cNvPr id="38" name="Rectangle 37"/>
          <p:cNvSpPr/>
          <p:nvPr/>
        </p:nvSpPr>
        <p:spPr>
          <a:xfrm>
            <a:off x="10179557" y="1901952"/>
            <a:ext cx="1902409" cy="12618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179557" y="1901952"/>
            <a:ext cx="1902409"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9285" y="1993392"/>
            <a:ext cx="1682953" cy="502920"/>
          </a:xfrm>
          <a:prstGeom prst="rect">
            <a:avLst/>
          </a:prstGeom>
          <a:noFill/>
        </p:spPr>
        <p:txBody>
          <a:bodyPr wrap="square"/>
          <a:lstStyle/>
          <a:p>
            <a:pPr algn="l"/>
            <a:r>
              <a:rPr sz="2600" b="1" i="0">
                <a:solidFill>
                  <a:srgbClr val="FFFFFF"/>
                </a:solidFill>
                <a:latin typeface="Georgia"/>
              </a:rPr>
              <a:t>2014</a:t>
            </a:r>
          </a:p>
        </p:txBody>
      </p:sp>
      <p:sp>
        <p:nvSpPr>
          <p:cNvPr id="41" name="TextBox 40"/>
          <p:cNvSpPr txBox="1"/>
          <p:nvPr/>
        </p:nvSpPr>
        <p:spPr>
          <a:xfrm>
            <a:off x="10289285" y="2496312"/>
            <a:ext cx="1682953" cy="201168"/>
          </a:xfrm>
          <a:prstGeom prst="rect">
            <a:avLst/>
          </a:prstGeom>
          <a:noFill/>
        </p:spPr>
        <p:txBody>
          <a:bodyPr wrap="square"/>
          <a:lstStyle/>
          <a:p>
            <a:pPr algn="l"/>
            <a:r>
              <a:rPr sz="950" b="0" i="0">
                <a:solidFill>
                  <a:srgbClr val="E6E5DE"/>
                </a:solidFill>
                <a:latin typeface="Arial"/>
              </a:rPr>
              <a:t>Year founded</a:t>
            </a:r>
          </a:p>
        </p:txBody>
      </p:sp>
      <p:sp>
        <p:nvSpPr>
          <p:cNvPr id="42" name="TextBox 41"/>
          <p:cNvSpPr txBox="1"/>
          <p:nvPr/>
        </p:nvSpPr>
        <p:spPr>
          <a:xfrm>
            <a:off x="10289285" y="2697480"/>
            <a:ext cx="1682953" cy="182880"/>
          </a:xfrm>
          <a:prstGeom prst="rect">
            <a:avLst/>
          </a:prstGeom>
          <a:noFill/>
        </p:spPr>
        <p:txBody>
          <a:bodyPr wrap="square"/>
          <a:lstStyle/>
          <a:p>
            <a:pPr algn="l"/>
            <a:r>
              <a:rPr sz="900" b="0" i="0">
                <a:solidFill>
                  <a:srgbClr val="888888"/>
                </a:solidFill>
                <a:latin typeface="Arial"/>
              </a:rPr>
              <a:t>Burnley Melbourne VIC</a:t>
            </a:r>
          </a:p>
        </p:txBody>
      </p:sp>
      <p:sp>
        <p:nvSpPr>
          <p:cNvPr id="43" name="TextBox 42"/>
          <p:cNvSpPr txBox="1"/>
          <p:nvPr/>
        </p:nvSpPr>
        <p:spPr>
          <a:xfrm>
            <a:off x="10289285" y="2980944"/>
            <a:ext cx="1682953" cy="182880"/>
          </a:xfrm>
          <a:prstGeom prst="rect">
            <a:avLst/>
          </a:prstGeom>
          <a:noFill/>
        </p:spPr>
        <p:txBody>
          <a:bodyPr wrap="square"/>
          <a:lstStyle/>
          <a:p>
            <a:pPr algn="l"/>
            <a:r>
              <a:rPr sz="700" b="0" i="1">
                <a:solidFill>
                  <a:srgbClr val="888888"/>
                </a:solidFill>
                <a:latin typeface="Arial"/>
              </a:rPr>
              <a:t>Source: SmartCompany Smart50 2025</a:t>
            </a:r>
          </a:p>
        </p:txBody>
      </p:sp>
      <p:sp>
        <p:nvSpPr>
          <p:cNvPr id="44" name="TextBox 43"/>
          <p:cNvSpPr txBox="1"/>
          <p:nvPr/>
        </p:nvSpPr>
        <p:spPr>
          <a:xfrm>
            <a:off x="256032" y="3291840"/>
            <a:ext cx="7406640" cy="256032"/>
          </a:xfrm>
          <a:prstGeom prst="rect">
            <a:avLst/>
          </a:prstGeom>
          <a:noFill/>
        </p:spPr>
        <p:txBody>
          <a:bodyPr wrap="square"/>
          <a:lstStyle/>
          <a:p>
            <a:pPr algn="l"/>
            <a:r>
              <a:rPr sz="1050" b="1" i="0">
                <a:solidFill>
                  <a:srgbClr val="01A296"/>
                </a:solidFill>
                <a:latin typeface="Arial"/>
              </a:rPr>
              <a:t>KEY COMMERCIAL SIGNALS</a:t>
            </a:r>
          </a:p>
        </p:txBody>
      </p:sp>
      <p:sp>
        <p:nvSpPr>
          <p:cNvPr id="45" name="TextBox 44"/>
          <p:cNvSpPr txBox="1"/>
          <p:nvPr/>
        </p:nvSpPr>
        <p:spPr>
          <a:xfrm>
            <a:off x="365760" y="3621024"/>
            <a:ext cx="7132320" cy="201168"/>
          </a:xfrm>
          <a:prstGeom prst="rect">
            <a:avLst/>
          </a:prstGeom>
          <a:noFill/>
        </p:spPr>
        <p:txBody>
          <a:bodyPr wrap="square"/>
          <a:lstStyle/>
          <a:p>
            <a:pPr algn="l"/>
            <a:r>
              <a:rPr sz="1000" b="0" i="0">
                <a:solidFill>
                  <a:srgbClr val="000000"/>
                </a:solidFill>
                <a:latin typeface="Arial"/>
              </a:rPr>
              <a:t>Telstra Best of Business 2024, Victorian State Winner for Outstanding Growth</a:t>
            </a:r>
          </a:p>
        </p:txBody>
      </p:sp>
      <p:sp>
        <p:nvSpPr>
          <p:cNvPr id="46" name="TextBox 45"/>
          <p:cNvSpPr txBox="1"/>
          <p:nvPr/>
        </p:nvSpPr>
        <p:spPr>
          <a:xfrm>
            <a:off x="365760" y="3813048"/>
            <a:ext cx="7132320" cy="155448"/>
          </a:xfrm>
          <a:prstGeom prst="rect">
            <a:avLst/>
          </a:prstGeom>
          <a:noFill/>
        </p:spPr>
        <p:txBody>
          <a:bodyPr wrap="square"/>
          <a:lstStyle/>
          <a:p>
            <a:pPr algn="l"/>
            <a:r>
              <a:rPr sz="750" b="0" i="1">
                <a:solidFill>
                  <a:srgbClr val="888888"/>
                </a:solidFill>
                <a:latin typeface="Arial"/>
              </a:rPr>
              <a:t>Telstra Best of Business Awards 2024 (telstra.com.au/best-of-business-awards and eliteagent.com)</a:t>
            </a:r>
          </a:p>
        </p:txBody>
      </p:sp>
      <p:sp>
        <p:nvSpPr>
          <p:cNvPr id="47" name="TextBox 46"/>
          <p:cNvSpPr txBox="1"/>
          <p:nvPr/>
        </p:nvSpPr>
        <p:spPr>
          <a:xfrm>
            <a:off x="365760" y="4041648"/>
            <a:ext cx="7132320" cy="201168"/>
          </a:xfrm>
          <a:prstGeom prst="rect">
            <a:avLst/>
          </a:prstGeom>
          <a:noFill/>
        </p:spPr>
        <p:txBody>
          <a:bodyPr wrap="square"/>
          <a:lstStyle/>
          <a:p>
            <a:pPr algn="l"/>
            <a:r>
              <a:rPr sz="1000" b="0" i="0">
                <a:solidFill>
                  <a:srgbClr val="000000"/>
                </a:solidFill>
                <a:latin typeface="Arial"/>
              </a:rPr>
              <a:t>Most Innovative Proptech, 2024 Proptech Awards Sydney</a:t>
            </a:r>
          </a:p>
        </p:txBody>
      </p:sp>
      <p:sp>
        <p:nvSpPr>
          <p:cNvPr id="48" name="TextBox 47"/>
          <p:cNvSpPr txBox="1"/>
          <p:nvPr/>
        </p:nvSpPr>
        <p:spPr>
          <a:xfrm>
            <a:off x="365760" y="4233672"/>
            <a:ext cx="7132320" cy="155448"/>
          </a:xfrm>
          <a:prstGeom prst="rect">
            <a:avLst/>
          </a:prstGeom>
          <a:noFill/>
        </p:spPr>
        <p:txBody>
          <a:bodyPr wrap="square"/>
          <a:lstStyle/>
          <a:p>
            <a:pPr algn="l"/>
            <a:r>
              <a:rPr sz="750" b="0" i="1">
                <a:solidFill>
                  <a:srgbClr val="888888"/>
                </a:solidFill>
                <a:latin typeface="Arial"/>
              </a:rPr>
              <a:t>2024 Proptech Association Australia Awards (industry press)</a:t>
            </a:r>
          </a:p>
        </p:txBody>
      </p:sp>
      <p:sp>
        <p:nvSpPr>
          <p:cNvPr id="49" name="TextBox 48"/>
          <p:cNvSpPr txBox="1"/>
          <p:nvPr/>
        </p:nvSpPr>
        <p:spPr>
          <a:xfrm>
            <a:off x="365760" y="4462272"/>
            <a:ext cx="7132320" cy="201168"/>
          </a:xfrm>
          <a:prstGeom prst="rect">
            <a:avLst/>
          </a:prstGeom>
          <a:noFill/>
        </p:spPr>
        <p:txBody>
          <a:bodyPr wrap="square"/>
          <a:lstStyle/>
          <a:p>
            <a:pPr algn="l"/>
            <a:r>
              <a:rPr sz="1000" b="0" i="0">
                <a:solidFill>
                  <a:srgbClr val="000000"/>
                </a:solidFill>
                <a:latin typeface="Arial"/>
              </a:rPr>
              <a:t>Smart50 rank improved year on year: 2023 listed, 2024 rank 46, 2025 rank 37</a:t>
            </a:r>
          </a:p>
        </p:txBody>
      </p:sp>
      <p:sp>
        <p:nvSpPr>
          <p:cNvPr id="50" name="TextBox 49"/>
          <p:cNvSpPr txBox="1"/>
          <p:nvPr/>
        </p:nvSpPr>
        <p:spPr>
          <a:xfrm>
            <a:off x="365760" y="4654296"/>
            <a:ext cx="7132320" cy="155448"/>
          </a:xfrm>
          <a:prstGeom prst="rect">
            <a:avLst/>
          </a:prstGeom>
          <a:noFill/>
        </p:spPr>
        <p:txBody>
          <a:bodyPr wrap="square"/>
          <a:lstStyle/>
          <a:p>
            <a:pPr algn="l"/>
            <a:r>
              <a:rPr sz="750" b="0" i="1">
                <a:solidFill>
                  <a:srgbClr val="888888"/>
                </a:solidFill>
                <a:latin typeface="Arial"/>
              </a:rPr>
              <a:t>SmartCompany Smart50 2024 award citation and Smart50 2025 award citation</a:t>
            </a:r>
          </a:p>
        </p:txBody>
      </p:sp>
      <p:sp>
        <p:nvSpPr>
          <p:cNvPr id="51" name="TextBox 50"/>
          <p:cNvSpPr txBox="1"/>
          <p:nvPr/>
        </p:nvSpPr>
        <p:spPr>
          <a:xfrm>
            <a:off x="365760" y="4882896"/>
            <a:ext cx="7132320" cy="201168"/>
          </a:xfrm>
          <a:prstGeom prst="rect">
            <a:avLst/>
          </a:prstGeom>
          <a:noFill/>
        </p:spPr>
        <p:txBody>
          <a:bodyPr wrap="square"/>
          <a:lstStyle/>
          <a:p>
            <a:pPr algn="l"/>
            <a:r>
              <a:rPr sz="1000" b="0" i="0">
                <a:solidFill>
                  <a:srgbClr val="000000"/>
                </a:solidFill>
                <a:latin typeface="Arial"/>
              </a:rPr>
              <a:t>Doubled agency clients in 12 months to over 300 real estate offices</a:t>
            </a:r>
          </a:p>
        </p:txBody>
      </p:sp>
      <p:sp>
        <p:nvSpPr>
          <p:cNvPr id="52" name="TextBox 51"/>
          <p:cNvSpPr txBox="1"/>
          <p:nvPr/>
        </p:nvSpPr>
        <p:spPr>
          <a:xfrm>
            <a:off x="365760" y="5074920"/>
            <a:ext cx="7132320" cy="155448"/>
          </a:xfrm>
          <a:prstGeom prst="rect">
            <a:avLst/>
          </a:prstGeom>
          <a:noFill/>
        </p:spPr>
        <p:txBody>
          <a:bodyPr wrap="square"/>
          <a:lstStyle/>
          <a:p>
            <a:pPr algn="l"/>
            <a:r>
              <a:rPr sz="750" b="0" i="1">
                <a:solidFill>
                  <a:srgbClr val="888888"/>
                </a:solidFill>
                <a:latin typeface="Arial"/>
              </a:rPr>
              <a:t>Telstra Best of Business 2024 award citation (eliteagent.com)</a:t>
            </a:r>
          </a:p>
        </p:txBody>
      </p:sp>
      <p:sp>
        <p:nvSpPr>
          <p:cNvPr id="53" name="TextBox 52"/>
          <p:cNvSpPr txBox="1"/>
          <p:nvPr/>
        </p:nvSpPr>
        <p:spPr>
          <a:xfrm>
            <a:off x="365760" y="5303520"/>
            <a:ext cx="7132320" cy="201168"/>
          </a:xfrm>
          <a:prstGeom prst="rect">
            <a:avLst/>
          </a:prstGeom>
          <a:noFill/>
        </p:spPr>
        <p:txBody>
          <a:bodyPr wrap="square"/>
          <a:lstStyle/>
          <a:p>
            <a:pPr algn="l"/>
            <a:r>
              <a:rPr sz="1000" b="0" i="0">
                <a:solidFill>
                  <a:srgbClr val="000000"/>
                </a:solidFill>
                <a:latin typeface="Arial"/>
              </a:rPr>
              <a:t>RentSafe deployed across 20 consumer brands and 180 major real estate brands since 2021</a:t>
            </a:r>
          </a:p>
        </p:txBody>
      </p:sp>
      <p:sp>
        <p:nvSpPr>
          <p:cNvPr id="54" name="TextBox 53"/>
          <p:cNvSpPr txBox="1"/>
          <p:nvPr/>
        </p:nvSpPr>
        <p:spPr>
          <a:xfrm>
            <a:off x="365760" y="5495544"/>
            <a:ext cx="7132320" cy="155448"/>
          </a:xfrm>
          <a:prstGeom prst="rect">
            <a:avLst/>
          </a:prstGeom>
          <a:noFill/>
        </p:spPr>
        <p:txBody>
          <a:bodyPr wrap="square"/>
          <a:lstStyle/>
          <a:p>
            <a:pPr algn="l"/>
            <a:r>
              <a:rPr sz="750" b="0" i="1">
                <a:solidFill>
                  <a:srgbClr val="888888"/>
                </a:solidFill>
                <a:latin typeface="Arial"/>
              </a:rPr>
              <a:t>taskforce.com.au product pages and SmartCompany Smart50 2025</a:t>
            </a:r>
          </a:p>
        </p:txBody>
      </p:sp>
      <p:sp>
        <p:nvSpPr>
          <p:cNvPr id="55" name="TextBox 54"/>
          <p:cNvSpPr txBox="1"/>
          <p:nvPr/>
        </p:nvSpPr>
        <p:spPr>
          <a:xfrm>
            <a:off x="7863840" y="3291840"/>
            <a:ext cx="4206240" cy="256032"/>
          </a:xfrm>
          <a:prstGeom prst="rect">
            <a:avLst/>
          </a:prstGeom>
          <a:noFill/>
        </p:spPr>
        <p:txBody>
          <a:bodyPr wrap="square"/>
          <a:lstStyle/>
          <a:p>
            <a:pPr algn="l"/>
            <a:r>
              <a:rPr sz="1050" b="1" i="0">
                <a:solidFill>
                  <a:srgbClr val="01A296"/>
                </a:solidFill>
                <a:latin typeface="Arial"/>
              </a:rPr>
              <a:t>REVENUE GROWTH (AUD MILLION)</a:t>
            </a:r>
          </a:p>
        </p:txBody>
      </p:sp>
      <p:sp>
        <p:nvSpPr>
          <p:cNvPr id="56" name="Rectangle 55"/>
          <p:cNvSpPr/>
          <p:nvPr/>
        </p:nvSpPr>
        <p:spPr>
          <a:xfrm>
            <a:off x="7955279" y="4644394"/>
            <a:ext cx="987552" cy="1390645"/>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955279" y="4443226"/>
            <a:ext cx="987552" cy="201168"/>
          </a:xfrm>
          <a:prstGeom prst="rect">
            <a:avLst/>
          </a:prstGeom>
          <a:noFill/>
        </p:spPr>
        <p:txBody>
          <a:bodyPr wrap="square"/>
          <a:lstStyle/>
          <a:p>
            <a:pPr algn="ctr"/>
            <a:r>
              <a:rPr sz="950" b="1" i="0">
                <a:solidFill>
                  <a:srgbClr val="000000"/>
                </a:solidFill>
                <a:latin typeface="Arial"/>
              </a:rPr>
              <a:t>$7.43M</a:t>
            </a:r>
          </a:p>
        </p:txBody>
      </p:sp>
      <p:sp>
        <p:nvSpPr>
          <p:cNvPr id="58" name="TextBox 57"/>
          <p:cNvSpPr txBox="1"/>
          <p:nvPr/>
        </p:nvSpPr>
        <p:spPr>
          <a:xfrm>
            <a:off x="7955279" y="6062472"/>
            <a:ext cx="987552" cy="182880"/>
          </a:xfrm>
          <a:prstGeom prst="rect">
            <a:avLst/>
          </a:prstGeom>
          <a:noFill/>
        </p:spPr>
        <p:txBody>
          <a:bodyPr wrap="square"/>
          <a:lstStyle/>
          <a:p>
            <a:pPr algn="ctr"/>
            <a:r>
              <a:rPr sz="900" b="0" i="0">
                <a:solidFill>
                  <a:srgbClr val="444444"/>
                </a:solidFill>
                <a:latin typeface="Arial"/>
              </a:rPr>
              <a:t>FY2023</a:t>
            </a:r>
          </a:p>
        </p:txBody>
      </p:sp>
      <p:sp>
        <p:nvSpPr>
          <p:cNvPr id="59" name="TextBox 58"/>
          <p:cNvSpPr txBox="1"/>
          <p:nvPr/>
        </p:nvSpPr>
        <p:spPr>
          <a:xfrm>
            <a:off x="7955279" y="6245352"/>
            <a:ext cx="987552" cy="164592"/>
          </a:xfrm>
          <a:prstGeom prst="rect">
            <a:avLst/>
          </a:prstGeom>
          <a:noFill/>
        </p:spPr>
        <p:txBody>
          <a:bodyPr wrap="square"/>
          <a:lstStyle/>
          <a:p>
            <a:pPr algn="ctr"/>
            <a:r>
              <a:rPr sz="700" b="0" i="1">
                <a:solidFill>
                  <a:srgbClr val="888888"/>
                </a:solidFill>
                <a:latin typeface="Arial"/>
              </a:rPr>
              <a:t>Smart50 2023</a:t>
            </a:r>
          </a:p>
        </p:txBody>
      </p:sp>
      <p:sp>
        <p:nvSpPr>
          <p:cNvPr id="60" name="Rectangle 59"/>
          <p:cNvSpPr/>
          <p:nvPr/>
        </p:nvSpPr>
        <p:spPr>
          <a:xfrm>
            <a:off x="9500615" y="4219527"/>
            <a:ext cx="987552" cy="1815512"/>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500615" y="4018359"/>
            <a:ext cx="987552" cy="201168"/>
          </a:xfrm>
          <a:prstGeom prst="rect">
            <a:avLst/>
          </a:prstGeom>
          <a:noFill/>
        </p:spPr>
        <p:txBody>
          <a:bodyPr wrap="square"/>
          <a:lstStyle/>
          <a:p>
            <a:pPr algn="ctr"/>
            <a:r>
              <a:rPr sz="950" b="1" i="0">
                <a:solidFill>
                  <a:srgbClr val="000000"/>
                </a:solidFill>
                <a:latin typeface="Arial"/>
              </a:rPr>
              <a:t>$9.7M</a:t>
            </a:r>
          </a:p>
        </p:txBody>
      </p:sp>
      <p:sp>
        <p:nvSpPr>
          <p:cNvPr id="62" name="TextBox 61"/>
          <p:cNvSpPr txBox="1"/>
          <p:nvPr/>
        </p:nvSpPr>
        <p:spPr>
          <a:xfrm>
            <a:off x="9500615" y="6062472"/>
            <a:ext cx="987552" cy="182880"/>
          </a:xfrm>
          <a:prstGeom prst="rect">
            <a:avLst/>
          </a:prstGeom>
          <a:noFill/>
        </p:spPr>
        <p:txBody>
          <a:bodyPr wrap="square"/>
          <a:lstStyle/>
          <a:p>
            <a:pPr algn="ctr"/>
            <a:r>
              <a:rPr sz="900" b="0" i="0">
                <a:solidFill>
                  <a:srgbClr val="444444"/>
                </a:solidFill>
                <a:latin typeface="Arial"/>
              </a:rPr>
              <a:t>FY2024</a:t>
            </a:r>
          </a:p>
        </p:txBody>
      </p:sp>
      <p:sp>
        <p:nvSpPr>
          <p:cNvPr id="63" name="TextBox 62"/>
          <p:cNvSpPr txBox="1"/>
          <p:nvPr/>
        </p:nvSpPr>
        <p:spPr>
          <a:xfrm>
            <a:off x="9500615" y="6245352"/>
            <a:ext cx="987552" cy="164592"/>
          </a:xfrm>
          <a:prstGeom prst="rect">
            <a:avLst/>
          </a:prstGeom>
          <a:noFill/>
        </p:spPr>
        <p:txBody>
          <a:bodyPr wrap="square"/>
          <a:lstStyle/>
          <a:p>
            <a:pPr algn="ctr"/>
            <a:r>
              <a:rPr sz="700" b="0" i="1">
                <a:solidFill>
                  <a:srgbClr val="888888"/>
                </a:solidFill>
                <a:latin typeface="Arial"/>
              </a:rPr>
              <a:t>Smart50 2024</a:t>
            </a:r>
          </a:p>
        </p:txBody>
      </p:sp>
      <p:sp>
        <p:nvSpPr>
          <p:cNvPr id="64" name="Rectangle 63"/>
          <p:cNvSpPr/>
          <p:nvPr/>
        </p:nvSpPr>
        <p:spPr>
          <a:xfrm>
            <a:off x="11045951" y="3639312"/>
            <a:ext cx="987552" cy="239572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045951" y="3438144"/>
            <a:ext cx="987552" cy="201168"/>
          </a:xfrm>
          <a:prstGeom prst="rect">
            <a:avLst/>
          </a:prstGeom>
          <a:noFill/>
        </p:spPr>
        <p:txBody>
          <a:bodyPr wrap="square"/>
          <a:lstStyle/>
          <a:p>
            <a:pPr algn="ctr"/>
            <a:r>
              <a:rPr sz="950" b="1" i="0">
                <a:solidFill>
                  <a:srgbClr val="000000"/>
                </a:solidFill>
                <a:latin typeface="Arial"/>
              </a:rPr>
              <a:t>$12.8M</a:t>
            </a:r>
          </a:p>
        </p:txBody>
      </p:sp>
      <p:sp>
        <p:nvSpPr>
          <p:cNvPr id="66" name="TextBox 65"/>
          <p:cNvSpPr txBox="1"/>
          <p:nvPr/>
        </p:nvSpPr>
        <p:spPr>
          <a:xfrm>
            <a:off x="11045951" y="6062472"/>
            <a:ext cx="987552" cy="182880"/>
          </a:xfrm>
          <a:prstGeom prst="rect">
            <a:avLst/>
          </a:prstGeom>
          <a:noFill/>
        </p:spPr>
        <p:txBody>
          <a:bodyPr wrap="square"/>
          <a:lstStyle/>
          <a:p>
            <a:pPr algn="ctr"/>
            <a:r>
              <a:rPr sz="900" b="0" i="0">
                <a:solidFill>
                  <a:srgbClr val="444444"/>
                </a:solidFill>
                <a:latin typeface="Arial"/>
              </a:rPr>
              <a:t>FY2025</a:t>
            </a:r>
          </a:p>
        </p:txBody>
      </p:sp>
      <p:sp>
        <p:nvSpPr>
          <p:cNvPr id="67" name="TextBox 66"/>
          <p:cNvSpPr txBox="1"/>
          <p:nvPr/>
        </p:nvSpPr>
        <p:spPr>
          <a:xfrm>
            <a:off x="11045951" y="6245352"/>
            <a:ext cx="987552" cy="164592"/>
          </a:xfrm>
          <a:prstGeom prst="rect">
            <a:avLst/>
          </a:prstGeom>
          <a:noFill/>
        </p:spPr>
        <p:txBody>
          <a:bodyPr wrap="square"/>
          <a:lstStyle/>
          <a:p>
            <a:pPr algn="ctr"/>
            <a:r>
              <a:rPr sz="700" b="0" i="1">
                <a:solidFill>
                  <a:srgbClr val="888888"/>
                </a:solidFill>
                <a:latin typeface="Arial"/>
              </a:rPr>
              <a:t>Smart50 2025</a:t>
            </a:r>
          </a:p>
        </p:txBody>
      </p:sp>
      <p:sp>
        <p:nvSpPr>
          <p:cNvPr id="68" name="Rectangle 67"/>
          <p:cNvSpPr/>
          <p:nvPr/>
        </p:nvSpPr>
        <p:spPr>
          <a:xfrm>
            <a:off x="7955279" y="6035040"/>
            <a:ext cx="3840480" cy="1905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09728" y="6583680"/>
            <a:ext cx="12081967"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56032" y="6629400"/>
            <a:ext cx="8686800" cy="201168"/>
          </a:xfrm>
          <a:prstGeom prst="rect">
            <a:avLst/>
          </a:prstGeom>
          <a:noFill/>
        </p:spPr>
        <p:txBody>
          <a:bodyPr wrap="square"/>
          <a:lstStyle/>
          <a:p>
            <a:pPr algn="l"/>
            <a:r>
              <a:rPr sz="800" b="0" i="0">
                <a:solidFill>
                  <a:srgbClr val="444444"/>
                </a:solidFill>
                <a:latin typeface="Arial"/>
              </a:rPr>
              <a:t>Prepared by Nitesh Roopa CA, Managing Partner and Founder, ProfitPulse, Profit-Pulse.com.au</a:t>
            </a:r>
          </a:p>
        </p:txBody>
      </p:sp>
      <p:sp>
        <p:nvSpPr>
          <p:cNvPr id="71" name="TextBox 70"/>
          <p:cNvSpPr txBox="1"/>
          <p:nvPr/>
        </p:nvSpPr>
        <p:spPr>
          <a:xfrm>
            <a:off x="9601200" y="6629400"/>
            <a:ext cx="2468880" cy="201168"/>
          </a:xfrm>
          <a:prstGeom prst="rect">
            <a:avLst/>
          </a:prstGeom>
          <a:noFill/>
        </p:spPr>
        <p:txBody>
          <a:bodyPr wrap="square"/>
          <a:lstStyle/>
          <a:p>
            <a:pPr algn="r"/>
            <a:r>
              <a:rPr sz="800" b="0" i="0">
                <a:solidFill>
                  <a:srgbClr val="444444"/>
                </a:solidFill>
                <a:latin typeface="Arial"/>
              </a:rPr>
              <a:t>20 Jun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81967"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182880"/>
            <a:ext cx="7772400" cy="502920"/>
          </a:xfrm>
          <a:prstGeom prst="rect">
            <a:avLst/>
          </a:prstGeom>
          <a:noFill/>
        </p:spPr>
        <p:txBody>
          <a:bodyPr wrap="square"/>
          <a:lstStyle/>
          <a:p>
            <a:pPr algn="l"/>
            <a:r>
              <a:rPr sz="1200" b="1" i="0">
                <a:solidFill>
                  <a:srgbClr val="E6E5DE"/>
                </a:solidFill>
                <a:latin typeface="Arial"/>
              </a:rPr>
              <a:t>THE OPPORTUNITY</a:t>
            </a:r>
          </a:p>
        </p:txBody>
      </p:sp>
      <p:sp>
        <p:nvSpPr>
          <p:cNvPr id="5" name="TextBox 4"/>
          <p:cNvSpPr txBox="1"/>
          <p:nvPr/>
        </p:nvSpPr>
        <p:spPr>
          <a:xfrm>
            <a:off x="9601200" y="182880"/>
            <a:ext cx="2468880" cy="502920"/>
          </a:xfrm>
          <a:prstGeom prst="rect">
            <a:avLst/>
          </a:prstGeom>
          <a:noFill/>
        </p:spPr>
        <p:txBody>
          <a:bodyPr wrap="square"/>
          <a:lstStyle/>
          <a:p>
            <a:pPr algn="r"/>
            <a:r>
              <a:rPr sz="1100" b="1" i="0">
                <a:solidFill>
                  <a:srgbClr val="01A296"/>
                </a:solidFill>
                <a:latin typeface="Arial"/>
              </a:rPr>
              <a:t>PROFITPULSE</a:t>
            </a:r>
          </a:p>
        </p:txBody>
      </p:sp>
      <p:sp>
        <p:nvSpPr>
          <p:cNvPr id="6" name="TextBox 5"/>
          <p:cNvSpPr txBox="1"/>
          <p:nvPr/>
        </p:nvSpPr>
        <p:spPr>
          <a:xfrm>
            <a:off x="256032" y="969264"/>
            <a:ext cx="11612880" cy="256032"/>
          </a:xfrm>
          <a:prstGeom prst="rect">
            <a:avLst/>
          </a:prstGeom>
          <a:noFill/>
        </p:spPr>
        <p:txBody>
          <a:bodyPr wrap="square"/>
          <a:lstStyle/>
          <a:p>
            <a:pPr algn="l"/>
            <a:r>
              <a:rPr sz="1100" b="0" i="0">
                <a:solidFill>
                  <a:srgbClr val="444444"/>
                </a:solidFill>
                <a:latin typeface="Arial"/>
              </a:rPr>
              <a:t>Taskforce Australia   |   Three commercial observations from ProfitPulse</a:t>
            </a:r>
          </a:p>
        </p:txBody>
      </p:sp>
      <p:sp>
        <p:nvSpPr>
          <p:cNvPr id="7" name="Rectangle 6"/>
          <p:cNvSpPr/>
          <p:nvPr/>
        </p:nvSpPr>
        <p:spPr>
          <a:xfrm>
            <a:off x="256032" y="1298448"/>
            <a:ext cx="3868826" cy="50292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1435608"/>
            <a:ext cx="3503066" cy="457200"/>
          </a:xfrm>
          <a:prstGeom prst="rect">
            <a:avLst/>
          </a:prstGeom>
          <a:noFill/>
        </p:spPr>
        <p:txBody>
          <a:bodyPr wrap="square"/>
          <a:lstStyle/>
          <a:p>
            <a:pPr algn="l"/>
            <a:r>
              <a:rPr sz="3000" b="1" i="0">
                <a:solidFill>
                  <a:srgbClr val="000000"/>
                </a:solidFill>
                <a:latin typeface="Georgia"/>
              </a:rPr>
              <a:t>01</a:t>
            </a:r>
          </a:p>
        </p:txBody>
      </p:sp>
      <p:sp>
        <p:nvSpPr>
          <p:cNvPr id="9" name="TextBox 8"/>
          <p:cNvSpPr txBox="1"/>
          <p:nvPr/>
        </p:nvSpPr>
        <p:spPr>
          <a:xfrm>
            <a:off x="438912" y="1938528"/>
            <a:ext cx="3503066" cy="594360"/>
          </a:xfrm>
          <a:prstGeom prst="rect">
            <a:avLst/>
          </a:prstGeom>
          <a:noFill/>
        </p:spPr>
        <p:txBody>
          <a:bodyPr wrap="square"/>
          <a:lstStyle/>
          <a:p>
            <a:pPr algn="l"/>
            <a:r>
              <a:rPr sz="1200" b="1" i="0">
                <a:solidFill>
                  <a:srgbClr val="000000"/>
                </a:solidFill>
                <a:latin typeface="Arial"/>
              </a:rPr>
              <a:t>Three streams, one margin question</a:t>
            </a:r>
          </a:p>
        </p:txBody>
      </p:sp>
      <p:sp>
        <p:nvSpPr>
          <p:cNvPr id="10" name="TextBox 9"/>
          <p:cNvSpPr txBox="1"/>
          <p:nvPr/>
        </p:nvSpPr>
        <p:spPr>
          <a:xfrm>
            <a:off x="438912" y="2596896"/>
            <a:ext cx="3503066" cy="3547872"/>
          </a:xfrm>
          <a:prstGeom prst="rect">
            <a:avLst/>
          </a:prstGeom>
          <a:noFill/>
        </p:spPr>
        <p:txBody>
          <a:bodyPr wrap="square"/>
          <a:lstStyle/>
          <a:p>
            <a:pPr algn="l"/>
            <a:r>
              <a:rPr sz="1000" b="0" i="0">
                <a:solidFill>
                  <a:srgbClr val="000000"/>
                </a:solidFill>
                <a:latin typeface="Arial"/>
              </a:rPr>
              <a:t>Taskforce runs three distinct service lines: RentSafe compliance checks, RentRepair maintenance, and consumer brand maintenance partnerships. At $12.8 million with 19 staff, the business is lean and the top line story is compelling. But sustained growth across three streams creates a pressing question: which stream actually delivers margin after platform costs, tradesperson coordination, and compliance overhead are fully allocated? A product profitability engagement maps that in three weeks, giving the founders a clear ranking of every revenue line by gross margin, contribution margin, and operational drag.</a:t>
            </a:r>
          </a:p>
        </p:txBody>
      </p:sp>
      <p:sp>
        <p:nvSpPr>
          <p:cNvPr id="11" name="Rectangle 10"/>
          <p:cNvSpPr/>
          <p:nvPr/>
        </p:nvSpPr>
        <p:spPr>
          <a:xfrm>
            <a:off x="4234586" y="1298448"/>
            <a:ext cx="3868826" cy="50292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17466" y="1435608"/>
            <a:ext cx="3503066" cy="457200"/>
          </a:xfrm>
          <a:prstGeom prst="rect">
            <a:avLst/>
          </a:prstGeom>
          <a:noFill/>
        </p:spPr>
        <p:txBody>
          <a:bodyPr wrap="square"/>
          <a:lstStyle/>
          <a:p>
            <a:pPr algn="l"/>
            <a:r>
              <a:rPr sz="3000" b="1" i="0">
                <a:solidFill>
                  <a:srgbClr val="FFFFFF"/>
                </a:solidFill>
                <a:latin typeface="Georgia"/>
              </a:rPr>
              <a:t>02</a:t>
            </a:r>
          </a:p>
        </p:txBody>
      </p:sp>
      <p:sp>
        <p:nvSpPr>
          <p:cNvPr id="13" name="TextBox 12"/>
          <p:cNvSpPr txBox="1"/>
          <p:nvPr/>
        </p:nvSpPr>
        <p:spPr>
          <a:xfrm>
            <a:off x="4417466" y="1938528"/>
            <a:ext cx="3503066" cy="594360"/>
          </a:xfrm>
          <a:prstGeom prst="rect">
            <a:avLst/>
          </a:prstGeom>
          <a:noFill/>
        </p:spPr>
        <p:txBody>
          <a:bodyPr wrap="square"/>
          <a:lstStyle/>
          <a:p>
            <a:pPr algn="l"/>
            <a:r>
              <a:rPr sz="1200" b="1" i="0">
                <a:solidFill>
                  <a:srgbClr val="FFFFFF"/>
                </a:solidFill>
                <a:latin typeface="Arial"/>
              </a:rPr>
              <a:t>Platform scale without a financial map creates risk</a:t>
            </a:r>
          </a:p>
        </p:txBody>
      </p:sp>
      <p:sp>
        <p:nvSpPr>
          <p:cNvPr id="14" name="TextBox 13"/>
          <p:cNvSpPr txBox="1"/>
          <p:nvPr/>
        </p:nvSpPr>
        <p:spPr>
          <a:xfrm>
            <a:off x="4417466" y="2596896"/>
            <a:ext cx="3503066" cy="3547872"/>
          </a:xfrm>
          <a:prstGeom prst="rect">
            <a:avLst/>
          </a:prstGeom>
          <a:noFill/>
        </p:spPr>
        <p:txBody>
          <a:bodyPr wrap="square"/>
          <a:lstStyle/>
          <a:p>
            <a:pPr algn="l"/>
            <a:r>
              <a:rPr sz="1000" b="0" i="0">
                <a:solidFill>
                  <a:srgbClr val="FFFFFF"/>
                </a:solidFill>
                <a:latin typeface="Arial"/>
              </a:rPr>
              <a:t>Three consecutive Smart50 appearances, each at a higher rank than the last, and a Telstra Outstanding Growth award in Victoria for 2024 confirm Taskforce as one of the fastest moving property tech businesses in Australia. But rapid platform expansion typically outpaces the financial architecture. With 300 plus real estate offices, 20 consumer brands, and more than 5,000 tradespeople on the network, the margin profile of each segment is almost certainly uneven. Scaling the least profitable activity hardest is a common outcome when that picture is not clear. ProfitPulse can map this in one focused three week engagement.</a:t>
            </a:r>
          </a:p>
        </p:txBody>
      </p:sp>
      <p:sp>
        <p:nvSpPr>
          <p:cNvPr id="15" name="Rectangle 14"/>
          <p:cNvSpPr/>
          <p:nvPr/>
        </p:nvSpPr>
        <p:spPr>
          <a:xfrm>
            <a:off x="8213140" y="1298448"/>
            <a:ext cx="3868826" cy="5029200"/>
          </a:xfrm>
          <a:prstGeom prst="rect">
            <a:avLst/>
          </a:prstGeom>
          <a:solidFill>
            <a:srgbClr val="E3A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96020" y="1435608"/>
            <a:ext cx="3503066" cy="457200"/>
          </a:xfrm>
          <a:prstGeom prst="rect">
            <a:avLst/>
          </a:prstGeom>
          <a:noFill/>
        </p:spPr>
        <p:txBody>
          <a:bodyPr wrap="square"/>
          <a:lstStyle/>
          <a:p>
            <a:pPr algn="l"/>
            <a:r>
              <a:rPr sz="3000" b="1" i="0">
                <a:solidFill>
                  <a:srgbClr val="000000"/>
                </a:solidFill>
                <a:latin typeface="Georgia"/>
              </a:rPr>
              <a:t>03</a:t>
            </a:r>
          </a:p>
        </p:txBody>
      </p:sp>
      <p:sp>
        <p:nvSpPr>
          <p:cNvPr id="17" name="TextBox 16"/>
          <p:cNvSpPr txBox="1"/>
          <p:nvPr/>
        </p:nvSpPr>
        <p:spPr>
          <a:xfrm>
            <a:off x="8396020" y="1938528"/>
            <a:ext cx="3503066" cy="594360"/>
          </a:xfrm>
          <a:prstGeom prst="rect">
            <a:avLst/>
          </a:prstGeom>
          <a:noFill/>
        </p:spPr>
        <p:txBody>
          <a:bodyPr wrap="square"/>
          <a:lstStyle/>
          <a:p>
            <a:pPr algn="l"/>
            <a:r>
              <a:rPr sz="1200" b="1" i="0">
                <a:solidFill>
                  <a:srgbClr val="000000"/>
                </a:solidFill>
                <a:latin typeface="Arial"/>
              </a:rPr>
              <a:t>Where does the next dollar go at $12.8 million?</a:t>
            </a:r>
          </a:p>
        </p:txBody>
      </p:sp>
      <p:sp>
        <p:nvSpPr>
          <p:cNvPr id="18" name="TextBox 17"/>
          <p:cNvSpPr txBox="1"/>
          <p:nvPr/>
        </p:nvSpPr>
        <p:spPr>
          <a:xfrm>
            <a:off x="8396020" y="2596896"/>
            <a:ext cx="3503066" cy="3547872"/>
          </a:xfrm>
          <a:prstGeom prst="rect">
            <a:avLst/>
          </a:prstGeom>
          <a:noFill/>
        </p:spPr>
        <p:txBody>
          <a:bodyPr wrap="square"/>
          <a:lstStyle/>
          <a:p>
            <a:pPr algn="l"/>
            <a:r>
              <a:rPr sz="1000" b="0" i="0">
                <a:solidFill>
                  <a:srgbClr val="000000"/>
                </a:solidFill>
                <a:latin typeface="Arial"/>
              </a:rPr>
              <a:t>Revenue grew from $7.43 million in FY2023 to $12.8 million in FY2025, a 72 percent cumulative increase in two years verified across three independent Smart50 award citations. That momentum is real. The strategic question now is capital allocation: which product line deserves the next hire, the next marketing dollar, the next technology investment? A Product and Service Line Profitability engagement produces a ranked view of every revenue line by gross margin, contribution margin, and drag, giving the founders a defensible basis for every growth decision in the next 12 months.</a:t>
            </a:r>
          </a:p>
        </p:txBody>
      </p:sp>
      <p:sp>
        <p:nvSpPr>
          <p:cNvPr id="19" name="TextBox 18"/>
          <p:cNvSpPr txBox="1"/>
          <p:nvPr/>
        </p:nvSpPr>
        <p:spPr>
          <a:xfrm>
            <a:off x="256032" y="6400800"/>
            <a:ext cx="11612880" cy="347472"/>
          </a:xfrm>
          <a:prstGeom prst="rect">
            <a:avLst/>
          </a:prstGeom>
          <a:noFill/>
        </p:spPr>
        <p:txBody>
          <a:bodyPr wrap="square"/>
          <a:lstStyle/>
          <a:p>
            <a:pPr algn="l"/>
            <a:r>
              <a:rPr sz="950" b="0" i="1">
                <a:solidFill>
                  <a:srgbClr val="444444"/>
                </a:solidFill>
                <a:latin typeface="Arial"/>
              </a:rPr>
              <a:t>These are observations offered in good faith. Taskforce has built something genuinely impressive. The question is simply whether the financial architecture is now keeping pace with the ambition.</a:t>
            </a:r>
          </a:p>
        </p:txBody>
      </p:sp>
      <p:sp>
        <p:nvSpPr>
          <p:cNvPr id="20" name="Rectangle 19"/>
          <p:cNvSpPr/>
          <p:nvPr/>
        </p:nvSpPr>
        <p:spPr>
          <a:xfrm>
            <a:off x="109728" y="6583680"/>
            <a:ext cx="12081967"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6629400"/>
            <a:ext cx="8686800" cy="201168"/>
          </a:xfrm>
          <a:prstGeom prst="rect">
            <a:avLst/>
          </a:prstGeom>
          <a:noFill/>
        </p:spPr>
        <p:txBody>
          <a:bodyPr wrap="square"/>
          <a:lstStyle/>
          <a:p>
            <a:pPr algn="l"/>
            <a:r>
              <a:rPr sz="800" b="0" i="0">
                <a:solidFill>
                  <a:srgbClr val="444444"/>
                </a:solidFill>
                <a:latin typeface="Arial"/>
              </a:rPr>
              <a:t>Prepared by Nitesh Roopa CA, Managing Partner and Founder, ProfitPulse, Profit-Pulse.com.au</a:t>
            </a:r>
          </a:p>
        </p:txBody>
      </p:sp>
      <p:sp>
        <p:nvSpPr>
          <p:cNvPr id="22" name="TextBox 21"/>
          <p:cNvSpPr txBox="1"/>
          <p:nvPr/>
        </p:nvSpPr>
        <p:spPr>
          <a:xfrm>
            <a:off x="9601200" y="6629400"/>
            <a:ext cx="2468880" cy="201168"/>
          </a:xfrm>
          <a:prstGeom prst="rect">
            <a:avLst/>
          </a:prstGeom>
          <a:noFill/>
        </p:spPr>
        <p:txBody>
          <a:bodyPr wrap="square"/>
          <a:lstStyle/>
          <a:p>
            <a:pPr algn="r"/>
            <a:r>
              <a:rPr sz="800" b="0" i="0">
                <a:solidFill>
                  <a:srgbClr val="444444"/>
                </a:solidFill>
                <a:latin typeface="Arial"/>
              </a:rPr>
              <a:t>20 Jun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81967"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182880"/>
            <a:ext cx="7772400" cy="502920"/>
          </a:xfrm>
          <a:prstGeom prst="rect">
            <a:avLst/>
          </a:prstGeom>
          <a:noFill/>
        </p:spPr>
        <p:txBody>
          <a:bodyPr wrap="square"/>
          <a:lstStyle/>
          <a:p>
            <a:pPr algn="l"/>
            <a:r>
              <a:rPr sz="1200" b="1" i="0">
                <a:solidFill>
                  <a:srgbClr val="E6E5DE"/>
                </a:solidFill>
                <a:latin typeface="Arial"/>
              </a:rPr>
              <a:t>THE RECOMMENDATION</a:t>
            </a:r>
          </a:p>
        </p:txBody>
      </p:sp>
      <p:sp>
        <p:nvSpPr>
          <p:cNvPr id="5" name="TextBox 4"/>
          <p:cNvSpPr txBox="1"/>
          <p:nvPr/>
        </p:nvSpPr>
        <p:spPr>
          <a:xfrm>
            <a:off x="9601200" y="182880"/>
            <a:ext cx="2468880" cy="502920"/>
          </a:xfrm>
          <a:prstGeom prst="rect">
            <a:avLst/>
          </a:prstGeom>
          <a:noFill/>
        </p:spPr>
        <p:txBody>
          <a:bodyPr wrap="square"/>
          <a:lstStyle/>
          <a:p>
            <a:pPr algn="r"/>
            <a:r>
              <a:rPr sz="1100" b="1" i="0">
                <a:solidFill>
                  <a:srgbClr val="01A296"/>
                </a:solidFill>
                <a:latin typeface="Arial"/>
              </a:rPr>
              <a:t>PROFITPULSE</a:t>
            </a:r>
          </a:p>
        </p:txBody>
      </p:sp>
      <p:sp>
        <p:nvSpPr>
          <p:cNvPr id="6" name="TextBox 5"/>
          <p:cNvSpPr txBox="1"/>
          <p:nvPr/>
        </p:nvSpPr>
        <p:spPr>
          <a:xfrm>
            <a:off x="256032" y="987552"/>
            <a:ext cx="6903720" cy="502920"/>
          </a:xfrm>
          <a:prstGeom prst="rect">
            <a:avLst/>
          </a:prstGeom>
          <a:noFill/>
        </p:spPr>
        <p:txBody>
          <a:bodyPr wrap="square"/>
          <a:lstStyle/>
          <a:p>
            <a:pPr algn="l"/>
            <a:r>
              <a:rPr sz="2000" b="1" i="0">
                <a:solidFill>
                  <a:srgbClr val="000000"/>
                </a:solidFill>
                <a:latin typeface="Georgia"/>
              </a:rPr>
              <a:t>Product and Service Line Profitability</a:t>
            </a:r>
          </a:p>
        </p:txBody>
      </p:sp>
      <p:sp>
        <p:nvSpPr>
          <p:cNvPr id="7" name="TextBox 6"/>
          <p:cNvSpPr txBox="1"/>
          <p:nvPr/>
        </p:nvSpPr>
        <p:spPr>
          <a:xfrm>
            <a:off x="256032" y="1527048"/>
            <a:ext cx="6903720" cy="292608"/>
          </a:xfrm>
          <a:prstGeom prst="rect">
            <a:avLst/>
          </a:prstGeom>
          <a:noFill/>
        </p:spPr>
        <p:txBody>
          <a:bodyPr wrap="square"/>
          <a:lstStyle/>
          <a:p>
            <a:pPr algn="l"/>
            <a:r>
              <a:rPr sz="1400" b="1" i="0">
                <a:solidFill>
                  <a:srgbClr val="01A296"/>
                </a:solidFill>
                <a:latin typeface="Arial"/>
              </a:rPr>
              <a:t>$3,950 one off</a:t>
            </a:r>
          </a:p>
        </p:txBody>
      </p:sp>
      <p:sp>
        <p:nvSpPr>
          <p:cNvPr id="8" name="TextBox 7"/>
          <p:cNvSpPr txBox="1"/>
          <p:nvPr/>
        </p:nvSpPr>
        <p:spPr>
          <a:xfrm>
            <a:off x="256032" y="1865376"/>
            <a:ext cx="6903720" cy="502920"/>
          </a:xfrm>
          <a:prstGeom prst="rect">
            <a:avLst/>
          </a:prstGeom>
          <a:noFill/>
        </p:spPr>
        <p:txBody>
          <a:bodyPr wrap="square"/>
          <a:lstStyle/>
          <a:p>
            <a:pPr algn="l"/>
            <a:r>
              <a:rPr sz="1050" b="0" i="0">
                <a:solidFill>
                  <a:srgbClr val="000000"/>
                </a:solidFill>
                <a:latin typeface="Arial"/>
              </a:rPr>
              <a:t>A three week project ranking every product or service line by gross margin, contribution margin, and operational drag. Gives Taskforce Australia clarity on where to scale, where to fix, and where to stop.</a:t>
            </a:r>
          </a:p>
        </p:txBody>
      </p:sp>
      <p:sp>
        <p:nvSpPr>
          <p:cNvPr id="9" name="Rectangle 8"/>
          <p:cNvSpPr/>
          <p:nvPr/>
        </p:nvSpPr>
        <p:spPr>
          <a:xfrm>
            <a:off x="256032" y="2423160"/>
            <a:ext cx="6903720" cy="190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2505456"/>
            <a:ext cx="6903720" cy="228600"/>
          </a:xfrm>
          <a:prstGeom prst="rect">
            <a:avLst/>
          </a:prstGeom>
          <a:noFill/>
        </p:spPr>
        <p:txBody>
          <a:bodyPr wrap="square"/>
          <a:lstStyle/>
          <a:p>
            <a:pPr algn="l"/>
            <a:r>
              <a:rPr sz="1050" b="1" i="0">
                <a:solidFill>
                  <a:srgbClr val="01A296"/>
                </a:solidFill>
                <a:latin typeface="Arial"/>
              </a:rPr>
              <a:t>STEP ONE</a:t>
            </a:r>
          </a:p>
        </p:txBody>
      </p:sp>
      <p:sp>
        <p:nvSpPr>
          <p:cNvPr id="11" name="TextBox 10"/>
          <p:cNvSpPr txBox="1"/>
          <p:nvPr/>
        </p:nvSpPr>
        <p:spPr>
          <a:xfrm>
            <a:off x="256032" y="2761488"/>
            <a:ext cx="6903720" cy="256032"/>
          </a:xfrm>
          <a:prstGeom prst="rect">
            <a:avLst/>
          </a:prstGeom>
          <a:noFill/>
        </p:spPr>
        <p:txBody>
          <a:bodyPr wrap="square"/>
          <a:lstStyle/>
          <a:p>
            <a:pPr algn="l"/>
            <a:r>
              <a:rPr sz="1250" b="1" i="0">
                <a:solidFill>
                  <a:srgbClr val="000000"/>
                </a:solidFill>
                <a:latin typeface="Arial"/>
              </a:rPr>
              <a:t>Answer a few quick questions</a:t>
            </a:r>
          </a:p>
        </p:txBody>
      </p:sp>
      <p:sp>
        <p:nvSpPr>
          <p:cNvPr id="12" name="TextBox 11"/>
          <p:cNvSpPr txBox="1"/>
          <p:nvPr/>
        </p:nvSpPr>
        <p:spPr>
          <a:xfrm>
            <a:off x="256032" y="3054096"/>
            <a:ext cx="6903720" cy="228600"/>
          </a:xfrm>
          <a:prstGeom prst="rect">
            <a:avLst/>
          </a:prstGeom>
          <a:noFill/>
        </p:spPr>
        <p:txBody>
          <a:bodyPr wrap="square"/>
          <a:lstStyle/>
          <a:p>
            <a:pPr algn="l"/>
            <a:r>
              <a:rPr sz="1050" b="0" i="0">
                <a:solidFill>
                  <a:srgbClr val="000000"/>
                </a:solidFill>
                <a:latin typeface="Arial"/>
              </a:rPr>
              <a:t>See the solutions matched to your size and industry.</a:t>
            </a:r>
          </a:p>
        </p:txBody>
      </p:sp>
      <p:sp>
        <p:nvSpPr>
          <p:cNvPr id="13" name="TextBox 12"/>
          <p:cNvSpPr txBox="1"/>
          <p:nvPr/>
        </p:nvSpPr>
        <p:spPr>
          <a:xfrm>
            <a:off x="256032" y="3310128"/>
            <a:ext cx="6903720" cy="256032"/>
          </a:xfrm>
          <a:prstGeom prst="rect">
            <a:avLst/>
          </a:prstGeom>
          <a:noFill/>
        </p:spPr>
        <p:txBody>
          <a:bodyPr wrap="square">
            <a:spAutoFit/>
          </a:bodyPr>
          <a:lstStyle/>
          <a:p>
            <a:r>
              <a:rPr sz="1050" b="0">
                <a:solidFill>
                  <a:srgbClr val="01A296"/>
                </a:solidFill>
                <a:latin typeface="Arial"/>
                <a:hlinkClick r:id="rId2"/>
              </a:rPr>
              <a:t>profit-pulse.com.au/full-suite-of-products</a:t>
            </a:r>
          </a:p>
        </p:txBody>
      </p:sp>
      <p:sp>
        <p:nvSpPr>
          <p:cNvPr id="14" name="Rectangle 13"/>
          <p:cNvSpPr/>
          <p:nvPr/>
        </p:nvSpPr>
        <p:spPr>
          <a:xfrm>
            <a:off x="256032" y="3657600"/>
            <a:ext cx="6903720" cy="152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3749039"/>
            <a:ext cx="6903720" cy="292608"/>
          </a:xfrm>
          <a:prstGeom prst="rect">
            <a:avLst/>
          </a:prstGeom>
          <a:noFill/>
        </p:spPr>
        <p:txBody>
          <a:bodyPr wrap="square">
            <a:spAutoFit/>
          </a:bodyPr>
          <a:lstStyle/>
          <a:p>
            <a:r>
              <a:rPr sz="1200" b="1">
                <a:solidFill>
                  <a:srgbClr val="F6A102"/>
                </a:solidFill>
                <a:latin typeface="Arial"/>
                <a:hlinkClick r:id="rId3"/>
              </a:rPr>
              <a:t>Purchase the suggested product now to get started</a:t>
            </a:r>
          </a:p>
        </p:txBody>
      </p:sp>
      <p:sp>
        <p:nvSpPr>
          <p:cNvPr id="16" name="TextBox 15"/>
          <p:cNvSpPr txBox="1"/>
          <p:nvPr/>
        </p:nvSpPr>
        <p:spPr>
          <a:xfrm>
            <a:off x="256032" y="4078224"/>
            <a:ext cx="6903720" cy="228600"/>
          </a:xfrm>
          <a:prstGeom prst="rect">
            <a:avLst/>
          </a:prstGeom>
          <a:noFill/>
        </p:spPr>
        <p:txBody>
          <a:bodyPr wrap="square"/>
          <a:lstStyle/>
          <a:p>
            <a:pPr algn="l"/>
            <a:r>
              <a:rPr sz="950" b="0" i="0">
                <a:solidFill>
                  <a:srgbClr val="444444"/>
                </a:solidFill>
                <a:latin typeface="Arial"/>
              </a:rPr>
              <a:t>Product and Service Line Profitability   |   $3,950 one off</a:t>
            </a:r>
          </a:p>
        </p:txBody>
      </p:sp>
      <p:sp>
        <p:nvSpPr>
          <p:cNvPr id="17" name="Rectangle 16"/>
          <p:cNvSpPr/>
          <p:nvPr/>
        </p:nvSpPr>
        <p:spPr>
          <a:xfrm>
            <a:off x="256032" y="4389120"/>
            <a:ext cx="6903720" cy="152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4480560"/>
            <a:ext cx="6903720" cy="228600"/>
          </a:xfrm>
          <a:prstGeom prst="rect">
            <a:avLst/>
          </a:prstGeom>
          <a:noFill/>
        </p:spPr>
        <p:txBody>
          <a:bodyPr wrap="square"/>
          <a:lstStyle/>
          <a:p>
            <a:pPr algn="l"/>
            <a:r>
              <a:rPr sz="1050" b="0" i="0">
                <a:solidFill>
                  <a:srgbClr val="000000"/>
                </a:solidFill>
                <a:latin typeface="Arial"/>
              </a:rPr>
              <a:t>Prefer a conversation first?</a:t>
            </a:r>
          </a:p>
        </p:txBody>
      </p:sp>
      <p:sp>
        <p:nvSpPr>
          <p:cNvPr id="19" name="TextBox 18"/>
          <p:cNvSpPr txBox="1"/>
          <p:nvPr/>
        </p:nvSpPr>
        <p:spPr>
          <a:xfrm>
            <a:off x="256032" y="4745736"/>
            <a:ext cx="6903720" cy="256032"/>
          </a:xfrm>
          <a:prstGeom prst="rect">
            <a:avLst/>
          </a:prstGeom>
          <a:noFill/>
        </p:spPr>
        <p:txBody>
          <a:bodyPr wrap="square">
            <a:spAutoFit/>
          </a:bodyPr>
          <a:lstStyle/>
          <a:p>
            <a:r>
              <a:rPr sz="1100" b="1">
                <a:solidFill>
                  <a:srgbClr val="01A296"/>
                </a:solidFill>
                <a:latin typeface="Arial"/>
                <a:hlinkClick r:id="rId4"/>
              </a:rPr>
              <a:t>Book a complimentary discovery call</a:t>
            </a:r>
          </a:p>
        </p:txBody>
      </p:sp>
      <p:sp>
        <p:nvSpPr>
          <p:cNvPr id="20" name="TextBox 19"/>
          <p:cNvSpPr txBox="1"/>
          <p:nvPr/>
        </p:nvSpPr>
        <p:spPr>
          <a:xfrm>
            <a:off x="256032" y="5029200"/>
            <a:ext cx="6903720" cy="201168"/>
          </a:xfrm>
          <a:prstGeom prst="rect">
            <a:avLst/>
          </a:prstGeom>
          <a:noFill/>
        </p:spPr>
        <p:txBody>
          <a:bodyPr wrap="square"/>
          <a:lstStyle/>
          <a:p>
            <a:pPr algn="l"/>
            <a:r>
              <a:rPr sz="850" b="0" i="0">
                <a:solidFill>
                  <a:srgbClr val="444444"/>
                </a:solidFill>
                <a:latin typeface="Arial"/>
              </a:rPr>
              <a:t>bookings.cloud.microsoft/book/ProfitPulse1@profit-pulse.com.au/</a:t>
            </a:r>
          </a:p>
        </p:txBody>
      </p:sp>
      <p:sp>
        <p:nvSpPr>
          <p:cNvPr id="21" name="Rectangle 20"/>
          <p:cNvSpPr/>
          <p:nvPr/>
        </p:nvSpPr>
        <p:spPr>
          <a:xfrm>
            <a:off x="256032" y="5349240"/>
            <a:ext cx="6903720"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6032" y="5422392"/>
            <a:ext cx="6903720" cy="228600"/>
          </a:xfrm>
          <a:prstGeom prst="rect">
            <a:avLst/>
          </a:prstGeom>
          <a:noFill/>
        </p:spPr>
        <p:txBody>
          <a:bodyPr wrap="square"/>
          <a:lstStyle/>
          <a:p>
            <a:pPr algn="l"/>
            <a:r>
              <a:rPr sz="850" b="0" i="0">
                <a:solidFill>
                  <a:srgbClr val="888888"/>
                </a:solidFill>
                <a:latin typeface="Arial"/>
              </a:rPr>
              <a:t>Also identified: Strategic Growth Diagnostic   |   Customer Concentration and Profitability Map</a:t>
            </a:r>
          </a:p>
        </p:txBody>
      </p:sp>
      <p:sp>
        <p:nvSpPr>
          <p:cNvPr id="23" name="Rectangle 22"/>
          <p:cNvSpPr/>
          <p:nvPr/>
        </p:nvSpPr>
        <p:spPr>
          <a:xfrm>
            <a:off x="7269480" y="987552"/>
            <a:ext cx="4846320" cy="5532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0" y="1078992"/>
            <a:ext cx="4663440" cy="457200"/>
          </a:xfrm>
          <a:prstGeom prst="rect">
            <a:avLst/>
          </a:prstGeom>
          <a:noFill/>
        </p:spPr>
        <p:txBody>
          <a:bodyPr wrap="square"/>
          <a:lstStyle/>
          <a:p>
            <a:pPr algn="l"/>
            <a:r>
              <a:rPr sz="2000" b="1" i="0">
                <a:solidFill>
                  <a:srgbClr val="000000"/>
                </a:solidFill>
                <a:latin typeface="Georgia"/>
              </a:rPr>
              <a:t>Nitesh Roopa</a:t>
            </a:r>
          </a:p>
        </p:txBody>
      </p:sp>
      <p:sp>
        <p:nvSpPr>
          <p:cNvPr id="25" name="TextBox 24"/>
          <p:cNvSpPr txBox="1"/>
          <p:nvPr/>
        </p:nvSpPr>
        <p:spPr>
          <a:xfrm>
            <a:off x="7406640" y="1572768"/>
            <a:ext cx="4663440" cy="237744"/>
          </a:xfrm>
          <a:prstGeom prst="rect">
            <a:avLst/>
          </a:prstGeom>
          <a:noFill/>
        </p:spPr>
        <p:txBody>
          <a:bodyPr wrap="square"/>
          <a:lstStyle/>
          <a:p>
            <a:pPr algn="l"/>
            <a:r>
              <a:rPr sz="1100" b="0" i="0">
                <a:solidFill>
                  <a:srgbClr val="444444"/>
                </a:solidFill>
                <a:latin typeface="Arial"/>
              </a:rPr>
              <a:t>CA, Managing Partner</a:t>
            </a:r>
          </a:p>
        </p:txBody>
      </p:sp>
      <p:sp>
        <p:nvSpPr>
          <p:cNvPr id="26" name="TextBox 25"/>
          <p:cNvSpPr txBox="1"/>
          <p:nvPr/>
        </p:nvSpPr>
        <p:spPr>
          <a:xfrm>
            <a:off x="7406640" y="1828800"/>
            <a:ext cx="4663440" cy="274320"/>
          </a:xfrm>
          <a:prstGeom prst="rect">
            <a:avLst/>
          </a:prstGeom>
          <a:noFill/>
        </p:spPr>
        <p:txBody>
          <a:bodyPr wrap="square"/>
          <a:lstStyle/>
          <a:p>
            <a:pPr algn="l"/>
            <a:r>
              <a:rPr sz="1400" b="1" i="0">
                <a:solidFill>
                  <a:srgbClr val="01A296"/>
                </a:solidFill>
                <a:latin typeface="Georgia"/>
              </a:rPr>
              <a:t>ProfitPulse</a:t>
            </a:r>
          </a:p>
        </p:txBody>
      </p:sp>
      <p:sp>
        <p:nvSpPr>
          <p:cNvPr id="27" name="Rectangle 26"/>
          <p:cNvSpPr/>
          <p:nvPr/>
        </p:nvSpPr>
        <p:spPr>
          <a:xfrm>
            <a:off x="7406640" y="2157984"/>
            <a:ext cx="4389120" cy="190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6640" y="2304288"/>
            <a:ext cx="4663440" cy="219456"/>
          </a:xfrm>
          <a:prstGeom prst="rect">
            <a:avLst/>
          </a:prstGeom>
          <a:noFill/>
        </p:spPr>
        <p:txBody>
          <a:bodyPr wrap="square"/>
          <a:lstStyle/>
          <a:p>
            <a:pPr algn="l"/>
            <a:r>
              <a:rPr sz="950" b="0" i="0">
                <a:solidFill>
                  <a:srgbClr val="444444"/>
                </a:solidFill>
                <a:latin typeface="Arial"/>
              </a:rPr>
              <a:t>16 years of experience across 4 countries</a:t>
            </a:r>
          </a:p>
        </p:txBody>
      </p:sp>
      <p:sp>
        <p:nvSpPr>
          <p:cNvPr id="29" name="TextBox 28"/>
          <p:cNvSpPr txBox="1"/>
          <p:nvPr/>
        </p:nvSpPr>
        <p:spPr>
          <a:xfrm>
            <a:off x="7406640" y="2578608"/>
            <a:ext cx="4663440" cy="219456"/>
          </a:xfrm>
          <a:prstGeom prst="rect">
            <a:avLst/>
          </a:prstGeom>
          <a:noFill/>
        </p:spPr>
        <p:txBody>
          <a:bodyPr wrap="square"/>
          <a:lstStyle/>
          <a:p>
            <a:pPr algn="l"/>
            <a:r>
              <a:rPr sz="950" b="0" i="0">
                <a:solidFill>
                  <a:srgbClr val="444444"/>
                </a:solidFill>
                <a:latin typeface="Arial"/>
              </a:rPr>
              <a:t>52 deals executed and managed across career</a:t>
            </a:r>
          </a:p>
        </p:txBody>
      </p:sp>
      <p:sp>
        <p:nvSpPr>
          <p:cNvPr id="30" name="TextBox 29"/>
          <p:cNvSpPr txBox="1"/>
          <p:nvPr/>
        </p:nvSpPr>
        <p:spPr>
          <a:xfrm>
            <a:off x="7406640" y="2852928"/>
            <a:ext cx="4663440" cy="219456"/>
          </a:xfrm>
          <a:prstGeom prst="rect">
            <a:avLst/>
          </a:prstGeom>
          <a:noFill/>
        </p:spPr>
        <p:txBody>
          <a:bodyPr wrap="square"/>
          <a:lstStyle/>
          <a:p>
            <a:pPr algn="l"/>
            <a:r>
              <a:rPr sz="950" b="0" i="0">
                <a:solidFill>
                  <a:srgbClr val="444444"/>
                </a:solidFill>
                <a:latin typeface="Arial"/>
              </a:rPr>
              <a:t>Largest single deal: USD 1.3 billion, Cahora Bassa hydro, Mozambique</a:t>
            </a:r>
          </a:p>
        </p:txBody>
      </p:sp>
      <p:sp>
        <p:nvSpPr>
          <p:cNvPr id="31" name="TextBox 30"/>
          <p:cNvSpPr txBox="1"/>
          <p:nvPr/>
        </p:nvSpPr>
        <p:spPr>
          <a:xfrm>
            <a:off x="7406640" y="3127248"/>
            <a:ext cx="4663440" cy="219456"/>
          </a:xfrm>
          <a:prstGeom prst="rect">
            <a:avLst/>
          </a:prstGeom>
          <a:noFill/>
        </p:spPr>
        <p:txBody>
          <a:bodyPr wrap="square"/>
          <a:lstStyle/>
          <a:p>
            <a:pPr algn="l"/>
            <a:r>
              <a:rPr sz="950" b="0" i="0">
                <a:solidFill>
                  <a:srgbClr val="444444"/>
                </a:solidFill>
                <a:latin typeface="Arial"/>
              </a:rPr>
              <a:t>Total GRBT project value in Queensland: over AUD 10 billion</a:t>
            </a:r>
          </a:p>
        </p:txBody>
      </p:sp>
      <p:sp>
        <p:nvSpPr>
          <p:cNvPr id="32" name="TextBox 31"/>
          <p:cNvSpPr txBox="1"/>
          <p:nvPr/>
        </p:nvSpPr>
        <p:spPr>
          <a:xfrm>
            <a:off x="7406640" y="3401568"/>
            <a:ext cx="4663440" cy="219456"/>
          </a:xfrm>
          <a:prstGeom prst="rect">
            <a:avLst/>
          </a:prstGeom>
          <a:noFill/>
        </p:spPr>
        <p:txBody>
          <a:bodyPr wrap="square"/>
          <a:lstStyle/>
          <a:p>
            <a:pPr algn="l"/>
            <a:r>
              <a:rPr sz="950" b="0" i="0">
                <a:solidFill>
                  <a:srgbClr val="444444"/>
                </a:solidFill>
                <a:latin typeface="Arial"/>
              </a:rPr>
              <a:t>QIC 2023 to 2025: Finance and Commercial Lead, AUD 10B Gympie Road Bypass Tunnel</a:t>
            </a:r>
          </a:p>
        </p:txBody>
      </p:sp>
      <p:sp>
        <p:nvSpPr>
          <p:cNvPr id="33" name="TextBox 32"/>
          <p:cNvSpPr txBox="1"/>
          <p:nvPr/>
        </p:nvSpPr>
        <p:spPr>
          <a:xfrm>
            <a:off x="7406640" y="3675888"/>
            <a:ext cx="4663440" cy="219456"/>
          </a:xfrm>
          <a:prstGeom prst="rect">
            <a:avLst/>
          </a:prstGeom>
          <a:noFill/>
        </p:spPr>
        <p:txBody>
          <a:bodyPr wrap="square"/>
          <a:lstStyle/>
          <a:p>
            <a:pPr algn="l"/>
            <a:r>
              <a:rPr sz="950" b="0" i="0">
                <a:solidFill>
                  <a:srgbClr val="444444"/>
                </a:solidFill>
                <a:latin typeface="Arial"/>
              </a:rPr>
              <a:t>Nedbank CIB 2015 to 2022: Energy Finance and Principal and Equity Finance</a:t>
            </a:r>
          </a:p>
        </p:txBody>
      </p:sp>
      <p:sp>
        <p:nvSpPr>
          <p:cNvPr id="34" name="TextBox 33"/>
          <p:cNvSpPr txBox="1"/>
          <p:nvPr/>
        </p:nvSpPr>
        <p:spPr>
          <a:xfrm>
            <a:off x="7406640" y="3950208"/>
            <a:ext cx="4663440" cy="219456"/>
          </a:xfrm>
          <a:prstGeom prst="rect">
            <a:avLst/>
          </a:prstGeom>
          <a:noFill/>
        </p:spPr>
        <p:txBody>
          <a:bodyPr wrap="square"/>
          <a:lstStyle/>
          <a:p>
            <a:pPr algn="l"/>
            <a:r>
              <a:rPr sz="950" b="0" i="0">
                <a:solidFill>
                  <a:srgbClr val="444444"/>
                </a:solidFill>
                <a:latin typeface="Arial"/>
              </a:rPr>
              <a:t>PwC South Africa 2010 to 2014: CA traineeship, Top 40 listed clients</a:t>
            </a:r>
          </a:p>
        </p:txBody>
      </p:sp>
      <p:sp>
        <p:nvSpPr>
          <p:cNvPr id="35" name="Rectangle 34"/>
          <p:cNvSpPr/>
          <p:nvPr/>
        </p:nvSpPr>
        <p:spPr>
          <a:xfrm>
            <a:off x="7406640" y="4270248"/>
            <a:ext cx="4389120"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06640" y="4407408"/>
            <a:ext cx="4663440" cy="219456"/>
          </a:xfrm>
          <a:prstGeom prst="rect">
            <a:avLst/>
          </a:prstGeom>
          <a:noFill/>
        </p:spPr>
        <p:txBody>
          <a:bodyPr wrap="square"/>
          <a:lstStyle/>
          <a:p>
            <a:pPr algn="l"/>
            <a:r>
              <a:rPr sz="950" b="0" i="0">
                <a:solidFill>
                  <a:srgbClr val="444444"/>
                </a:solidFill>
                <a:latin typeface="Arial"/>
              </a:rPr>
              <a:t>Profit-Pulse.com.au</a:t>
            </a:r>
          </a:p>
        </p:txBody>
      </p:sp>
      <p:sp>
        <p:nvSpPr>
          <p:cNvPr id="37" name="TextBox 36"/>
          <p:cNvSpPr txBox="1"/>
          <p:nvPr/>
        </p:nvSpPr>
        <p:spPr>
          <a:xfrm>
            <a:off x="7406640" y="4645152"/>
            <a:ext cx="4663440" cy="219456"/>
          </a:xfrm>
          <a:prstGeom prst="rect">
            <a:avLst/>
          </a:prstGeom>
          <a:noFill/>
        </p:spPr>
        <p:txBody>
          <a:bodyPr wrap="square"/>
          <a:lstStyle/>
          <a:p>
            <a:pPr algn="l"/>
            <a:r>
              <a:rPr sz="950" b="0" i="0">
                <a:solidFill>
                  <a:srgbClr val="01A296"/>
                </a:solidFill>
                <a:latin typeface="Arial"/>
              </a:rPr>
              <a:t>Nitesh@Profit-Pulse.com.au</a:t>
            </a:r>
          </a:p>
        </p:txBody>
      </p:sp>
      <p:sp>
        <p:nvSpPr>
          <p:cNvPr id="38" name="TextBox 37"/>
          <p:cNvSpPr txBox="1"/>
          <p:nvPr/>
        </p:nvSpPr>
        <p:spPr>
          <a:xfrm>
            <a:off x="7406640" y="4882896"/>
            <a:ext cx="4663440" cy="219456"/>
          </a:xfrm>
          <a:prstGeom prst="rect">
            <a:avLst/>
          </a:prstGeom>
          <a:noFill/>
        </p:spPr>
        <p:txBody>
          <a:bodyPr wrap="square"/>
          <a:lstStyle/>
          <a:p>
            <a:pPr algn="l"/>
            <a:r>
              <a:rPr sz="950" b="0" i="0">
                <a:solidFill>
                  <a:srgbClr val="444444"/>
                </a:solidFill>
                <a:latin typeface="Arial"/>
              </a:rPr>
              <a:t>+61 411 876 267</a:t>
            </a:r>
          </a:p>
        </p:txBody>
      </p:sp>
      <p:sp>
        <p:nvSpPr>
          <p:cNvPr id="39" name="TextBox 38"/>
          <p:cNvSpPr txBox="1"/>
          <p:nvPr/>
        </p:nvSpPr>
        <p:spPr>
          <a:xfrm>
            <a:off x="7406640" y="5120640"/>
            <a:ext cx="4663440" cy="219456"/>
          </a:xfrm>
          <a:prstGeom prst="rect">
            <a:avLst/>
          </a:prstGeom>
          <a:noFill/>
        </p:spPr>
        <p:txBody>
          <a:bodyPr wrap="square"/>
          <a:lstStyle/>
          <a:p>
            <a:pPr algn="l"/>
            <a:r>
              <a:rPr sz="950" b="0" i="0">
                <a:solidFill>
                  <a:srgbClr val="444444"/>
                </a:solidFill>
                <a:latin typeface="Arial"/>
              </a:rPr>
              <a:t>linkedin.com/in/nitesh-roopa-77594163</a:t>
            </a:r>
          </a:p>
        </p:txBody>
      </p:sp>
      <p:sp>
        <p:nvSpPr>
          <p:cNvPr id="40" name="Rectangle 39"/>
          <p:cNvSpPr/>
          <p:nvPr/>
        </p:nvSpPr>
        <p:spPr>
          <a:xfrm>
            <a:off x="109728" y="6583680"/>
            <a:ext cx="12081967" cy="127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6032" y="6629400"/>
            <a:ext cx="8686800" cy="201168"/>
          </a:xfrm>
          <a:prstGeom prst="rect">
            <a:avLst/>
          </a:prstGeom>
          <a:noFill/>
        </p:spPr>
        <p:txBody>
          <a:bodyPr wrap="square"/>
          <a:lstStyle/>
          <a:p>
            <a:pPr algn="l"/>
            <a:r>
              <a:rPr sz="800" b="0" i="0">
                <a:solidFill>
                  <a:srgbClr val="444444"/>
                </a:solidFill>
                <a:latin typeface="Arial"/>
              </a:rPr>
              <a:t>Prepared by Nitesh Roopa CA, Managing Partner and Founder, ProfitPulse, Profit-Pulse.com.au</a:t>
            </a:r>
          </a:p>
        </p:txBody>
      </p:sp>
      <p:sp>
        <p:nvSpPr>
          <p:cNvPr id="42" name="TextBox 41"/>
          <p:cNvSpPr txBox="1"/>
          <p:nvPr/>
        </p:nvSpPr>
        <p:spPr>
          <a:xfrm>
            <a:off x="9601200" y="6629400"/>
            <a:ext cx="2468880" cy="201168"/>
          </a:xfrm>
          <a:prstGeom prst="rect">
            <a:avLst/>
          </a:prstGeom>
          <a:noFill/>
        </p:spPr>
        <p:txBody>
          <a:bodyPr wrap="square"/>
          <a:lstStyle/>
          <a:p>
            <a:pPr algn="r"/>
            <a:r>
              <a:rPr sz="800" b="0" i="0">
                <a:solidFill>
                  <a:srgbClr val="444444"/>
                </a:solidFill>
                <a:latin typeface="Arial"/>
              </a:rPr>
              <a:t>20 Jun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