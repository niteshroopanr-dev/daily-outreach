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fit-pulse.com.au/full-suite-of-products" TargetMode="External"/><Relationship Id="rId3" Type="http://schemas.openxmlformats.org/officeDocument/2006/relationships/hyperlink" Target="https://buy.stripe.com/eVqdRad9e66cftK23Z3ks0h" TargetMode="External"/><Relationship Id="rId4" Type="http://schemas.openxmlformats.org/officeDocument/2006/relationships/hyperlink" Target="https://bookings.cloud.microsoft/book/ProfitPulse1@profit-pulse.com.au/?ismsaljsauthenabled=tru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E6E5DE"/>
                </a:solidFill>
                <a:latin typeface="Calibri"/>
              </a:rPr>
              <a:t>COMMERCIAL INTELLIGENCE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9184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1" i="0">
                <a:solidFill>
                  <a:srgbClr val="01A296"/>
                </a:solidFill>
                <a:latin typeface="Calibri"/>
              </a:rPr>
              <a:t>TRUCKIT.NET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777777"/>
                </a:solidFill>
                <a:latin typeface="Calibri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777777"/>
                </a:solidFill>
                <a:latin typeface="Calibri"/>
              </a:rPr>
              <a:t>02 Jul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051560"/>
            <a:ext cx="822960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000000"/>
                </a:solidFill>
                <a:latin typeface="Georgia"/>
              </a:rPr>
              <a:t>Truckit.net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916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Online freight marketplace, Milton, Brisbane QLD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4884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3134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800" b="1" i="0">
                <a:solidFill>
                  <a:srgbClr val="F8C806"/>
                </a:solidFill>
                <a:latin typeface="Georgia"/>
              </a:rPr>
              <a:t>$31M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80720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Revenue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FY2025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192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0" i="0">
                <a:solidFill>
                  <a:srgbClr val="999999"/>
                </a:solidFill>
                <a:latin typeface="Calibri"/>
              </a:rPr>
              <a:t>SmartCompany Smart50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7208" y="214884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7208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23134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800" b="1" i="0">
                <a:solidFill>
                  <a:srgbClr val="F8C806"/>
                </a:solidFill>
                <a:latin typeface="Georgia"/>
              </a:rPr>
              <a:t>21%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80720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Revenue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3192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0" i="0">
                <a:solidFill>
                  <a:srgbClr val="999999"/>
                </a:solidFill>
                <a:latin typeface="Calibri"/>
              </a:rPr>
              <a:t>SmartCompany Smart50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7488" y="214884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7488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4648" y="23134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800" b="1" i="0">
                <a:solidFill>
                  <a:srgbClr val="F8C806"/>
                </a:solidFill>
                <a:latin typeface="Georgia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280720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Team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members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33192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0" i="0">
                <a:solidFill>
                  <a:srgbClr val="999999"/>
                </a:solidFill>
                <a:latin typeface="Calibri"/>
              </a:rPr>
              <a:t>SmartCompany Smart50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214884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7768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8" y="23134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800" b="1" i="0">
                <a:solidFill>
                  <a:srgbClr val="F8C806"/>
                </a:solidFill>
                <a:latin typeface="Georgia"/>
              </a:rPr>
              <a:t>2013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280720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Company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founded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33192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0" i="0">
                <a:solidFill>
                  <a:srgbClr val="999999"/>
                </a:solidFill>
                <a:latin typeface="Calibri"/>
              </a:rPr>
              <a:t>Truckit.net company site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8048" y="214884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8048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8" y="23134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800" b="1" i="0">
                <a:solidFill>
                  <a:srgbClr val="F8C806"/>
                </a:solidFill>
                <a:latin typeface="Georgia"/>
              </a:rPr>
              <a:t>2X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280720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Smart50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honouree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33192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0" i="0">
                <a:solidFill>
                  <a:srgbClr val="999999"/>
                </a:solidFill>
                <a:latin typeface="Calibri"/>
              </a:rPr>
              <a:t>SmartCompany 2023,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822191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01A296"/>
                </a:solidFill>
                <a:latin typeface="Calibri"/>
              </a:rPr>
              <a:t>KEY COMMERCIAL SIGNALS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233672"/>
            <a:ext cx="82296" cy="82296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160520"/>
            <a:ext cx="1084478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Ranked 47th on SmartCompany Smart50 2025, its second appearance since 2023.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576572"/>
            <a:ext cx="82296" cy="82296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4503420"/>
            <a:ext cx="1084478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Described by SmartCompany as Australia's largest freight marketplace.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919472"/>
            <a:ext cx="82296" cy="82296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4846320"/>
            <a:ext cx="1084478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States plans to scale using AI and machine learning, first in Australia then globally.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262372"/>
            <a:ext cx="82296" cy="82296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189220"/>
            <a:ext cx="1084478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Runs with 13 people generating $31 million in revenue, a lean marketplace model.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5605272"/>
            <a:ext cx="82296" cy="82296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5532120"/>
            <a:ext cx="1084478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Ranked 28th on SmartCompany Smart50 2023, a two year track record of growth.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948172"/>
            <a:ext cx="82296" cy="82296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5875020"/>
            <a:ext cx="1084478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Founded 2013 by Robert Russell after a decade working in UK logistics.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E6E5DE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9184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1" i="0">
                <a:solidFill>
                  <a:srgbClr val="01A296"/>
                </a:solidFill>
                <a:latin typeface="Calibri"/>
              </a:rPr>
              <a:t>TRUCKIT.NET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777777"/>
                </a:solidFill>
                <a:latin typeface="Calibri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777777"/>
                </a:solidFill>
                <a:latin typeface="Calibri"/>
              </a:rPr>
              <a:t>02 Jul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000000"/>
                </a:solidFill>
                <a:latin typeface="Georgia"/>
              </a:rPr>
              <a:t>Truckit.net: three commercial observations from ProfitPulse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0200"/>
            <a:ext cx="3566160" cy="425196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8308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1" i="0">
                <a:solidFill>
                  <a:srgbClr val="000000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68880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0000"/>
                </a:solidFill>
                <a:latin typeface="Calibri"/>
              </a:rPr>
              <a:t>Thin team, big throughput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108960"/>
            <a:ext cx="3163824" cy="2606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00000"/>
                </a:solidFill>
                <a:latin typeface="Calibri"/>
              </a:rPr>
              <a:t>Thirteen people are generating 31 million dollars in revenue, a throughput far above typical logistics businesses of this size. That kind of ratio usually means the business is a broker of freight volume rather than a heavy asset owner, which makes understanding the true margin behind that revenue the first question worth answering.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600200"/>
            <a:ext cx="3566160" cy="42519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78308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1" i="0">
                <a:solidFill>
                  <a:srgbClr val="E6E5DE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468880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6E5DE"/>
                </a:solidFill>
                <a:latin typeface="Calibri"/>
              </a:rPr>
              <a:t>Two time Smart50 honouree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108960"/>
            <a:ext cx="3163824" cy="2606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A rank of 28th in 2023 and 47th in 2025 confirms a genuine multi year growth story rather than a single good year. Consistent recognition like this tends to attract inbound deal and partnership interest, which raises the value of having board grade numbers ready before those conversations happen.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600200"/>
            <a:ext cx="3566160" cy="4251960"/>
          </a:xfrm>
          <a:prstGeom prst="rect">
            <a:avLst/>
          </a:prstGeom>
          <a:solidFill>
            <a:srgbClr val="E3A7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78308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1" i="0">
                <a:solidFill>
                  <a:srgbClr val="00000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468880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0000"/>
                </a:solidFill>
                <a:latin typeface="Calibri"/>
              </a:rPr>
              <a:t>A stated global ambition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108960"/>
            <a:ext cx="3163824" cy="2606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00000"/>
                </a:solidFill>
                <a:latin typeface="Calibri"/>
              </a:rPr>
              <a:t>The plan to scale using machine learning and AI, first in Australia then globally, is a step change from steady growth. International expansion multiplies capital, cash flow and capacity questions overnight, and a costed twelve month growth plan turns that ambition into a funded, sequenced plan rather than a headline.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These observations are offered in good faith. Truckit.net has built something genuinely lean and fast. The question is simply whether the financial architecture keeps pace with the ambition.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E6E5DE"/>
                </a:solidFill>
                <a:latin typeface="Calibri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9184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1" i="0">
                <a:solidFill>
                  <a:srgbClr val="01A296"/>
                </a:solidFill>
                <a:latin typeface="Calibri"/>
              </a:rPr>
              <a:t>TRUCKIT.NET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777777"/>
                </a:solidFill>
                <a:latin typeface="Calibri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777777"/>
                </a:solidFill>
                <a:latin typeface="Calibri"/>
              </a:rPr>
              <a:t>02 Jul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0515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Strategic Growth Diagnostic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36192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F6A102"/>
                </a:solidFill>
                <a:latin typeface="Calibri"/>
              </a:rPr>
              <a:t>$5,000 one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65960"/>
            <a:ext cx="667512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Calibri"/>
              </a:rPr>
              <a:t>Six weeks to map revenue, capacity and margin headroom into a funded, scenario tested twelve month growth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97480"/>
            <a:ext cx="6675120" cy="14173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97480"/>
            <a:ext cx="54864" cy="141732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852928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Step one, answer a few quick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20040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See the solutions matched to your size and industry.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52044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01A296"/>
                </a:solidFill>
                <a:latin typeface="Calibri"/>
                <a:hlinkClick r:id="rId2"/>
              </a:rPr>
              <a:t>profit-pulse.com.au/full-suite-of-products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97680"/>
            <a:ext cx="6675120" cy="59436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4805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u="none">
                <a:solidFill>
                  <a:srgbClr val="000000"/>
                </a:solidFill>
                <a:latin typeface="Calibri"/>
                <a:hlinkClick r:id="rId3"/>
              </a:rPr>
              <a:t>Purchase the suggested product now to get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20640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Prefer a conversation first?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41324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01A296"/>
                </a:solidFill>
                <a:latin typeface="Calibri"/>
                <a:hlinkClick r:id="rId4"/>
              </a:rPr>
              <a:t>Book a complimentary discovery 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16368" y="1051560"/>
            <a:ext cx="4114800" cy="5074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1234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F8C806"/>
                </a:solidFill>
                <a:latin typeface="Georgia"/>
              </a:rPr>
              <a:t>Nitesh Roopa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162763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01A296"/>
                </a:solidFill>
                <a:latin typeface="Calibri"/>
              </a:rPr>
              <a:t>CA, Managing Partner, ProfitPulse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16 years across 4 countries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5328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52 deals executed and managed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291693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Largest deal USD 1.3 billion, Cahora Bassa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33009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6E5DE"/>
                </a:solidFill>
                <a:latin typeface="Calibri"/>
              </a:rPr>
              <a:t>GRBT project value over AUD 10 billion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4968" y="3794760"/>
            <a:ext cx="3657600" cy="127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4968" y="39776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Profit-Pulse.com.au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8" y="4325111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Nitesh@Profit-Pulse.com.au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8" y="4672583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+61 411 876 267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5020055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linkedin.com/in/nitesh-roopa-77594163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