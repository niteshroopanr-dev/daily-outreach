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eVqdRad9e66cftK23Z3ks0h"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315200" cy="365760"/>
          </a:xfrm>
          <a:prstGeom prst="rect">
            <a:avLst/>
          </a:prstGeom>
          <a:noFill/>
        </p:spPr>
        <p:txBody>
          <a:bodyPr wrap="square">
            <a:normAutofit/>
          </a:bodyPr>
          <a:lstStyle/>
          <a:p>
            <a:pPr algn="l"/>
            <a:r>
              <a:rPr sz="1200" b="1" i="0">
                <a:solidFill>
                  <a:srgbClr val="E6E5DE"/>
                </a:solidFill>
                <a:latin typeface="Calibri"/>
              </a:rPr>
              <a:t>COMMERCIAL INTELLIGENCE BRIEF</a:t>
            </a:r>
          </a:p>
        </p:txBody>
      </p:sp>
      <p:sp>
        <p:nvSpPr>
          <p:cNvPr id="5" name="TextBox 4"/>
          <p:cNvSpPr txBox="1"/>
          <p:nvPr/>
        </p:nvSpPr>
        <p:spPr>
          <a:xfrm>
            <a:off x="7772400" y="292608"/>
            <a:ext cx="4114800" cy="365760"/>
          </a:xfrm>
          <a:prstGeom prst="rect">
            <a:avLst/>
          </a:prstGeom>
          <a:noFill/>
        </p:spPr>
        <p:txBody>
          <a:bodyPr wrap="square">
            <a:normAutofit/>
          </a:bodyPr>
          <a:lstStyle/>
          <a:p>
            <a:pPr algn="r"/>
            <a:r>
              <a:rPr sz="1300" b="1" i="0">
                <a:solidFill>
                  <a:srgbClr val="F8C806"/>
                </a:solidFill>
                <a:latin typeface="Calibri"/>
              </a:rPr>
              <a:t>PROFITPULSE</a:t>
            </a:r>
          </a:p>
        </p:txBody>
      </p:sp>
      <p:sp>
        <p:nvSpPr>
          <p:cNvPr id="6" name="TextBox 5"/>
          <p:cNvSpPr txBox="1"/>
          <p:nvPr/>
        </p:nvSpPr>
        <p:spPr>
          <a:xfrm>
            <a:off x="320040" y="6473952"/>
            <a:ext cx="8686800" cy="274320"/>
          </a:xfrm>
          <a:prstGeom prst="rect">
            <a:avLst/>
          </a:prstGeom>
          <a:noFill/>
        </p:spPr>
        <p:txBody>
          <a:bodyPr wrap="square">
            <a:normAutofit/>
          </a:bodyPr>
          <a:lstStyle/>
          <a:p>
            <a:pPr algn="l"/>
            <a:r>
              <a:rPr sz="800" b="0" i="0">
                <a:solidFill>
                  <a:srgbClr val="000000"/>
                </a:solidFill>
                <a:latin typeface="Calibri"/>
              </a:rPr>
              <a:t>Prepared by Nitesh Roopa CA, Managing Partner, ProfitPulse, Profit-Pulse.com.au</a:t>
            </a:r>
          </a:p>
        </p:txBody>
      </p:sp>
      <p:sp>
        <p:nvSpPr>
          <p:cNvPr id="7" name="TextBox 6"/>
          <p:cNvSpPr txBox="1"/>
          <p:nvPr/>
        </p:nvSpPr>
        <p:spPr>
          <a:xfrm>
            <a:off x="9144000" y="6473952"/>
            <a:ext cx="2651760" cy="274320"/>
          </a:xfrm>
          <a:prstGeom prst="rect">
            <a:avLst/>
          </a:prstGeom>
          <a:noFill/>
        </p:spPr>
        <p:txBody>
          <a:bodyPr wrap="square">
            <a:normAutofit/>
          </a:bodyPr>
          <a:lstStyle/>
          <a:p>
            <a:pPr algn="r"/>
            <a:r>
              <a:rPr sz="800" b="0" i="0">
                <a:solidFill>
                  <a:srgbClr val="000000"/>
                </a:solidFill>
                <a:latin typeface="Calibri"/>
              </a:rPr>
              <a:t>18 Aug 2026</a:t>
            </a:r>
          </a:p>
        </p:txBody>
      </p:sp>
      <p:sp>
        <p:nvSpPr>
          <p:cNvPr id="8" name="TextBox 7"/>
          <p:cNvSpPr txBox="1"/>
          <p:nvPr/>
        </p:nvSpPr>
        <p:spPr>
          <a:xfrm>
            <a:off x="320040" y="1051560"/>
            <a:ext cx="9601200" cy="777240"/>
          </a:xfrm>
          <a:prstGeom prst="rect">
            <a:avLst/>
          </a:prstGeom>
          <a:noFill/>
        </p:spPr>
        <p:txBody>
          <a:bodyPr wrap="square">
            <a:normAutofit/>
          </a:bodyPr>
          <a:lstStyle/>
          <a:p>
            <a:pPr algn="l"/>
            <a:r>
              <a:rPr sz="4200" b="1" i="0">
                <a:solidFill>
                  <a:srgbClr val="000000"/>
                </a:solidFill>
                <a:latin typeface="Georgia"/>
              </a:rPr>
              <a:t>Sententia Consulting</a:t>
            </a:r>
          </a:p>
        </p:txBody>
      </p:sp>
      <p:sp>
        <p:nvSpPr>
          <p:cNvPr id="9" name="TextBox 8"/>
          <p:cNvSpPr txBox="1"/>
          <p:nvPr/>
        </p:nvSpPr>
        <p:spPr>
          <a:xfrm>
            <a:off x="320040" y="1828800"/>
            <a:ext cx="10515600" cy="365760"/>
          </a:xfrm>
          <a:prstGeom prst="rect">
            <a:avLst/>
          </a:prstGeom>
          <a:noFill/>
        </p:spPr>
        <p:txBody>
          <a:bodyPr wrap="square">
            <a:normAutofit/>
          </a:bodyPr>
          <a:lstStyle/>
          <a:p>
            <a:pPr algn="l"/>
            <a:r>
              <a:rPr sz="1400" b="0" i="0">
                <a:solidFill>
                  <a:srgbClr val="01A296"/>
                </a:solidFill>
                <a:latin typeface="Calibri"/>
              </a:rPr>
              <a:t>Government risk and financial advisory firm, Barton, Canberra ACT</a:t>
            </a:r>
          </a:p>
        </p:txBody>
      </p:sp>
      <p:sp>
        <p:nvSpPr>
          <p:cNvPr id="10" name="Rectangle 9"/>
          <p:cNvSpPr/>
          <p:nvPr/>
        </p:nvSpPr>
        <p:spPr>
          <a:xfrm>
            <a:off x="32004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194560"/>
            <a:ext cx="2103120"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322576"/>
            <a:ext cx="1828800" cy="457200"/>
          </a:xfrm>
          <a:prstGeom prst="rect">
            <a:avLst/>
          </a:prstGeom>
          <a:noFill/>
        </p:spPr>
        <p:txBody>
          <a:bodyPr wrap="square">
            <a:normAutofit/>
          </a:bodyPr>
          <a:lstStyle/>
          <a:p>
            <a:pPr algn="l"/>
            <a:r>
              <a:rPr sz="2800" b="1" i="0">
                <a:solidFill>
                  <a:srgbClr val="F8C806"/>
                </a:solidFill>
                <a:latin typeface="Georgia"/>
              </a:rPr>
              <a:t>$10M+</a:t>
            </a:r>
          </a:p>
        </p:txBody>
      </p:sp>
      <p:sp>
        <p:nvSpPr>
          <p:cNvPr id="13" name="TextBox 12"/>
          <p:cNvSpPr txBox="1"/>
          <p:nvPr/>
        </p:nvSpPr>
        <p:spPr>
          <a:xfrm>
            <a:off x="457200" y="2816352"/>
            <a:ext cx="1828800" cy="502920"/>
          </a:xfrm>
          <a:prstGeom prst="rect">
            <a:avLst/>
          </a:prstGeom>
          <a:noFill/>
        </p:spPr>
        <p:txBody>
          <a:bodyPr wrap="square">
            <a:normAutofit/>
          </a:bodyPr>
          <a:lstStyle/>
          <a:p>
            <a:pPr algn="l">
              <a:spcAft>
                <a:spcPts val="0"/>
              </a:spcAft>
            </a:pPr>
            <a:r>
              <a:rPr sz="1100" b="0" i="0">
                <a:solidFill>
                  <a:srgbClr val="E6E5DE"/>
                </a:solidFill>
                <a:latin typeface="Calibri"/>
              </a:rPr>
              <a:t>Revenue surpassed,</a:t>
            </a:r>
          </a:p>
          <a:p>
            <a:pPr algn="l">
              <a:spcAft>
                <a:spcPts val="0"/>
              </a:spcAft>
            </a:pPr>
            <a:r>
              <a:rPr sz="1100" b="0" i="0">
                <a:solidFill>
                  <a:srgbClr val="E6E5DE"/>
                </a:solidFill>
                <a:latin typeface="Calibri"/>
              </a:rPr>
              <a:t>FY2025</a:t>
            </a:r>
          </a:p>
        </p:txBody>
      </p:sp>
      <p:sp>
        <p:nvSpPr>
          <p:cNvPr id="14" name="TextBox 13"/>
          <p:cNvSpPr txBox="1"/>
          <p:nvPr/>
        </p:nvSpPr>
        <p:spPr>
          <a:xfrm>
            <a:off x="457200" y="3401568"/>
            <a:ext cx="1828800" cy="219456"/>
          </a:xfrm>
          <a:prstGeom prst="rect">
            <a:avLst/>
          </a:prstGeom>
          <a:noFill/>
        </p:spPr>
        <p:txBody>
          <a:bodyPr wrap="square">
            <a:normAutofit/>
          </a:bodyPr>
          <a:lstStyle/>
          <a:p>
            <a:pPr algn="l"/>
            <a:r>
              <a:rPr sz="800" b="0" i="1">
                <a:solidFill>
                  <a:srgbClr val="E6E5DE"/>
                </a:solidFill>
                <a:latin typeface="Calibri"/>
              </a:rPr>
              <a:t>AFR Fast 100 2025</a:t>
            </a:r>
          </a:p>
        </p:txBody>
      </p:sp>
      <p:sp>
        <p:nvSpPr>
          <p:cNvPr id="15" name="Rectangle 14"/>
          <p:cNvSpPr/>
          <p:nvPr/>
        </p:nvSpPr>
        <p:spPr>
          <a:xfrm>
            <a:off x="256032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560320" y="2194560"/>
            <a:ext cx="2103120"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97480" y="2322576"/>
            <a:ext cx="1828800" cy="457200"/>
          </a:xfrm>
          <a:prstGeom prst="rect">
            <a:avLst/>
          </a:prstGeom>
          <a:noFill/>
        </p:spPr>
        <p:txBody>
          <a:bodyPr wrap="square">
            <a:normAutofit/>
          </a:bodyPr>
          <a:lstStyle/>
          <a:p>
            <a:pPr algn="l"/>
            <a:r>
              <a:rPr sz="2800" b="1" i="0">
                <a:solidFill>
                  <a:srgbClr val="F8C806"/>
                </a:solidFill>
                <a:latin typeface="Georgia"/>
              </a:rPr>
              <a:t>60.2%</a:t>
            </a:r>
          </a:p>
        </p:txBody>
      </p:sp>
      <p:sp>
        <p:nvSpPr>
          <p:cNvPr id="18" name="TextBox 17"/>
          <p:cNvSpPr txBox="1"/>
          <p:nvPr/>
        </p:nvSpPr>
        <p:spPr>
          <a:xfrm>
            <a:off x="2697480" y="2816352"/>
            <a:ext cx="1828800" cy="502920"/>
          </a:xfrm>
          <a:prstGeom prst="rect">
            <a:avLst/>
          </a:prstGeom>
          <a:noFill/>
        </p:spPr>
        <p:txBody>
          <a:bodyPr wrap="square">
            <a:normAutofit/>
          </a:bodyPr>
          <a:lstStyle/>
          <a:p>
            <a:pPr algn="l">
              <a:spcAft>
                <a:spcPts val="0"/>
              </a:spcAft>
            </a:pPr>
            <a:r>
              <a:rPr sz="1100" b="0" i="0">
                <a:solidFill>
                  <a:srgbClr val="E6E5DE"/>
                </a:solidFill>
                <a:latin typeface="Calibri"/>
              </a:rPr>
              <a:t>Three year revenue</a:t>
            </a:r>
          </a:p>
          <a:p>
            <a:pPr algn="l">
              <a:spcAft>
                <a:spcPts val="0"/>
              </a:spcAft>
            </a:pPr>
            <a:r>
              <a:rPr sz="1100" b="0" i="0">
                <a:solidFill>
                  <a:srgbClr val="E6E5DE"/>
                </a:solidFill>
                <a:latin typeface="Calibri"/>
              </a:rPr>
              <a:t>CAGR</a:t>
            </a:r>
          </a:p>
        </p:txBody>
      </p:sp>
      <p:sp>
        <p:nvSpPr>
          <p:cNvPr id="19" name="TextBox 18"/>
          <p:cNvSpPr txBox="1"/>
          <p:nvPr/>
        </p:nvSpPr>
        <p:spPr>
          <a:xfrm>
            <a:off x="2697480" y="3401568"/>
            <a:ext cx="1828800" cy="219456"/>
          </a:xfrm>
          <a:prstGeom prst="rect">
            <a:avLst/>
          </a:prstGeom>
          <a:noFill/>
        </p:spPr>
        <p:txBody>
          <a:bodyPr wrap="square">
            <a:normAutofit/>
          </a:bodyPr>
          <a:lstStyle/>
          <a:p>
            <a:pPr algn="l"/>
            <a:r>
              <a:rPr sz="800" b="0" i="1">
                <a:solidFill>
                  <a:srgbClr val="E6E5DE"/>
                </a:solidFill>
                <a:latin typeface="Calibri"/>
              </a:rPr>
              <a:t>AFR Fast 100, rank 45</a:t>
            </a:r>
          </a:p>
        </p:txBody>
      </p:sp>
      <p:sp>
        <p:nvSpPr>
          <p:cNvPr id="20" name="Rectangle 19"/>
          <p:cNvSpPr/>
          <p:nvPr/>
        </p:nvSpPr>
        <p:spPr>
          <a:xfrm>
            <a:off x="480060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00600" y="2194560"/>
            <a:ext cx="2103120"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0" y="2322576"/>
            <a:ext cx="1828800" cy="457200"/>
          </a:xfrm>
          <a:prstGeom prst="rect">
            <a:avLst/>
          </a:prstGeom>
          <a:noFill/>
        </p:spPr>
        <p:txBody>
          <a:bodyPr wrap="square">
            <a:normAutofit/>
          </a:bodyPr>
          <a:lstStyle/>
          <a:p>
            <a:pPr algn="l"/>
            <a:r>
              <a:rPr sz="2800" b="1" i="0">
                <a:solidFill>
                  <a:srgbClr val="F8C806"/>
                </a:solidFill>
                <a:latin typeface="Georgia"/>
              </a:rPr>
              <a:t>2020</a:t>
            </a:r>
          </a:p>
        </p:txBody>
      </p:sp>
      <p:sp>
        <p:nvSpPr>
          <p:cNvPr id="23" name="TextBox 22"/>
          <p:cNvSpPr txBox="1"/>
          <p:nvPr/>
        </p:nvSpPr>
        <p:spPr>
          <a:xfrm>
            <a:off x="4937760" y="2816352"/>
            <a:ext cx="1828800" cy="502920"/>
          </a:xfrm>
          <a:prstGeom prst="rect">
            <a:avLst/>
          </a:prstGeom>
          <a:noFill/>
        </p:spPr>
        <p:txBody>
          <a:bodyPr wrap="square">
            <a:normAutofit/>
          </a:bodyPr>
          <a:lstStyle/>
          <a:p>
            <a:pPr algn="l">
              <a:spcAft>
                <a:spcPts val="0"/>
              </a:spcAft>
            </a:pPr>
            <a:r>
              <a:rPr sz="1100" b="0" i="0">
                <a:solidFill>
                  <a:srgbClr val="E6E5DE"/>
                </a:solidFill>
                <a:latin typeface="Calibri"/>
              </a:rPr>
              <a:t>Founded as a two</a:t>
            </a:r>
          </a:p>
          <a:p>
            <a:pPr algn="l">
              <a:spcAft>
                <a:spcPts val="0"/>
              </a:spcAft>
            </a:pPr>
            <a:r>
              <a:rPr sz="1100" b="0" i="0">
                <a:solidFill>
                  <a:srgbClr val="E6E5DE"/>
                </a:solidFill>
                <a:latin typeface="Calibri"/>
              </a:rPr>
              <a:t>person firm</a:t>
            </a:r>
          </a:p>
        </p:txBody>
      </p:sp>
      <p:sp>
        <p:nvSpPr>
          <p:cNvPr id="24" name="TextBox 23"/>
          <p:cNvSpPr txBox="1"/>
          <p:nvPr/>
        </p:nvSpPr>
        <p:spPr>
          <a:xfrm>
            <a:off x="4937760" y="3401568"/>
            <a:ext cx="1828800" cy="219456"/>
          </a:xfrm>
          <a:prstGeom prst="rect">
            <a:avLst/>
          </a:prstGeom>
          <a:noFill/>
        </p:spPr>
        <p:txBody>
          <a:bodyPr wrap="square">
            <a:normAutofit/>
          </a:bodyPr>
          <a:lstStyle/>
          <a:p>
            <a:pPr algn="l"/>
            <a:r>
              <a:rPr sz="800" b="0" i="1">
                <a:solidFill>
                  <a:srgbClr val="E6E5DE"/>
                </a:solidFill>
                <a:latin typeface="Calibri"/>
              </a:rPr>
              <a:t>Consultancy.com.au</a:t>
            </a:r>
          </a:p>
        </p:txBody>
      </p:sp>
      <p:sp>
        <p:nvSpPr>
          <p:cNvPr id="25" name="Rectangle 24"/>
          <p:cNvSpPr/>
          <p:nvPr/>
        </p:nvSpPr>
        <p:spPr>
          <a:xfrm>
            <a:off x="704088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40880" y="2194560"/>
            <a:ext cx="2103120"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78040" y="2322576"/>
            <a:ext cx="1828800" cy="457200"/>
          </a:xfrm>
          <a:prstGeom prst="rect">
            <a:avLst/>
          </a:prstGeom>
          <a:noFill/>
        </p:spPr>
        <p:txBody>
          <a:bodyPr wrap="square">
            <a:normAutofit/>
          </a:bodyPr>
          <a:lstStyle/>
          <a:p>
            <a:pPr algn="l"/>
            <a:r>
              <a:rPr sz="2800" b="1" i="0">
                <a:solidFill>
                  <a:srgbClr val="F8C806"/>
                </a:solidFill>
                <a:latin typeface="Georgia"/>
              </a:rPr>
              <a:t>$45.3M</a:t>
            </a:r>
          </a:p>
        </p:txBody>
      </p:sp>
      <p:sp>
        <p:nvSpPr>
          <p:cNvPr id="28" name="TextBox 27"/>
          <p:cNvSpPr txBox="1"/>
          <p:nvPr/>
        </p:nvSpPr>
        <p:spPr>
          <a:xfrm>
            <a:off x="7178040" y="2816352"/>
            <a:ext cx="1828800" cy="502920"/>
          </a:xfrm>
          <a:prstGeom prst="rect">
            <a:avLst/>
          </a:prstGeom>
          <a:noFill/>
        </p:spPr>
        <p:txBody>
          <a:bodyPr wrap="square">
            <a:normAutofit/>
          </a:bodyPr>
          <a:lstStyle/>
          <a:p>
            <a:pPr algn="l">
              <a:spcAft>
                <a:spcPts val="0"/>
              </a:spcAft>
            </a:pPr>
            <a:r>
              <a:rPr sz="1100" b="0" i="0">
                <a:solidFill>
                  <a:srgbClr val="E6E5DE"/>
                </a:solidFill>
                <a:latin typeface="Calibri"/>
              </a:rPr>
              <a:t>Lifetime federal</a:t>
            </a:r>
          </a:p>
          <a:p>
            <a:pPr algn="l">
              <a:spcAft>
                <a:spcPts val="0"/>
              </a:spcAft>
            </a:pPr>
            <a:r>
              <a:rPr sz="1100" b="0" i="0">
                <a:solidFill>
                  <a:srgbClr val="E6E5DE"/>
                </a:solidFill>
                <a:latin typeface="Calibri"/>
              </a:rPr>
              <a:t>contract value</a:t>
            </a:r>
          </a:p>
        </p:txBody>
      </p:sp>
      <p:sp>
        <p:nvSpPr>
          <p:cNvPr id="29" name="TextBox 28"/>
          <p:cNvSpPr txBox="1"/>
          <p:nvPr/>
        </p:nvSpPr>
        <p:spPr>
          <a:xfrm>
            <a:off x="7178040" y="3401568"/>
            <a:ext cx="1828800" cy="219456"/>
          </a:xfrm>
          <a:prstGeom prst="rect">
            <a:avLst/>
          </a:prstGeom>
          <a:noFill/>
        </p:spPr>
        <p:txBody>
          <a:bodyPr wrap="square">
            <a:normAutofit/>
          </a:bodyPr>
          <a:lstStyle/>
          <a:p>
            <a:pPr algn="l"/>
            <a:r>
              <a:rPr sz="800" b="0" i="1">
                <a:solidFill>
                  <a:srgbClr val="E6E5DE"/>
                </a:solidFill>
                <a:latin typeface="Calibri"/>
              </a:rPr>
              <a:t>Pollywatch, FY20 to FY26</a:t>
            </a:r>
          </a:p>
        </p:txBody>
      </p:sp>
      <p:sp>
        <p:nvSpPr>
          <p:cNvPr id="30" name="Rectangle 29"/>
          <p:cNvSpPr/>
          <p:nvPr/>
        </p:nvSpPr>
        <p:spPr>
          <a:xfrm>
            <a:off x="9281160" y="2194560"/>
            <a:ext cx="2103120"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281160" y="2194560"/>
            <a:ext cx="2103120"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418320" y="2322576"/>
            <a:ext cx="1828800" cy="457200"/>
          </a:xfrm>
          <a:prstGeom prst="rect">
            <a:avLst/>
          </a:prstGeom>
          <a:noFill/>
        </p:spPr>
        <p:txBody>
          <a:bodyPr wrap="square">
            <a:normAutofit/>
          </a:bodyPr>
          <a:lstStyle/>
          <a:p>
            <a:pPr algn="l"/>
            <a:r>
              <a:rPr sz="2800" b="1" i="0">
                <a:solidFill>
                  <a:srgbClr val="F8C806"/>
                </a:solidFill>
                <a:latin typeface="Georgia"/>
              </a:rPr>
              <a:t>174</a:t>
            </a:r>
          </a:p>
        </p:txBody>
      </p:sp>
      <p:sp>
        <p:nvSpPr>
          <p:cNvPr id="33" name="TextBox 32"/>
          <p:cNvSpPr txBox="1"/>
          <p:nvPr/>
        </p:nvSpPr>
        <p:spPr>
          <a:xfrm>
            <a:off x="9418320" y="2816352"/>
            <a:ext cx="1828800" cy="502920"/>
          </a:xfrm>
          <a:prstGeom prst="rect">
            <a:avLst/>
          </a:prstGeom>
          <a:noFill/>
        </p:spPr>
        <p:txBody>
          <a:bodyPr wrap="square">
            <a:normAutofit/>
          </a:bodyPr>
          <a:lstStyle/>
          <a:p>
            <a:pPr algn="l">
              <a:spcAft>
                <a:spcPts val="0"/>
              </a:spcAft>
            </a:pPr>
            <a:r>
              <a:rPr sz="1100" b="0" i="0">
                <a:solidFill>
                  <a:srgbClr val="E6E5DE"/>
                </a:solidFill>
                <a:latin typeface="Calibri"/>
              </a:rPr>
              <a:t>Federal contract</a:t>
            </a:r>
          </a:p>
          <a:p>
            <a:pPr algn="l">
              <a:spcAft>
                <a:spcPts val="0"/>
              </a:spcAft>
            </a:pPr>
            <a:r>
              <a:rPr sz="1100" b="0" i="0">
                <a:solidFill>
                  <a:srgbClr val="E6E5DE"/>
                </a:solidFill>
                <a:latin typeface="Calibri"/>
              </a:rPr>
              <a:t>notices won</a:t>
            </a:r>
          </a:p>
        </p:txBody>
      </p:sp>
      <p:sp>
        <p:nvSpPr>
          <p:cNvPr id="34" name="TextBox 33"/>
          <p:cNvSpPr txBox="1"/>
          <p:nvPr/>
        </p:nvSpPr>
        <p:spPr>
          <a:xfrm>
            <a:off x="9418320" y="3401568"/>
            <a:ext cx="1828800" cy="219456"/>
          </a:xfrm>
          <a:prstGeom prst="rect">
            <a:avLst/>
          </a:prstGeom>
          <a:noFill/>
        </p:spPr>
        <p:txBody>
          <a:bodyPr wrap="square">
            <a:normAutofit/>
          </a:bodyPr>
          <a:lstStyle/>
          <a:p>
            <a:pPr algn="l"/>
            <a:r>
              <a:rPr sz="800" b="0" i="1">
                <a:solidFill>
                  <a:srgbClr val="E6E5DE"/>
                </a:solidFill>
                <a:latin typeface="Calibri"/>
              </a:rPr>
              <a:t>Pollywatch register</a:t>
            </a:r>
          </a:p>
        </p:txBody>
      </p:sp>
      <p:sp>
        <p:nvSpPr>
          <p:cNvPr id="35" name="TextBox 34"/>
          <p:cNvSpPr txBox="1"/>
          <p:nvPr/>
        </p:nvSpPr>
        <p:spPr>
          <a:xfrm>
            <a:off x="320040" y="3913632"/>
            <a:ext cx="5486400" cy="274320"/>
          </a:xfrm>
          <a:prstGeom prst="rect">
            <a:avLst/>
          </a:prstGeom>
          <a:noFill/>
        </p:spPr>
        <p:txBody>
          <a:bodyPr wrap="square">
            <a:normAutofit/>
          </a:bodyPr>
          <a:lstStyle/>
          <a:p>
            <a:pPr algn="l"/>
            <a:r>
              <a:rPr sz="1200" b="1" i="0">
                <a:solidFill>
                  <a:srgbClr val="01A296"/>
                </a:solidFill>
                <a:latin typeface="Calibri"/>
              </a:rPr>
              <a:t>KEY COMMERCIAL SIGNALS</a:t>
            </a:r>
          </a:p>
        </p:txBody>
      </p:sp>
      <p:sp>
        <p:nvSpPr>
          <p:cNvPr id="36" name="TextBox 35"/>
          <p:cNvSpPr txBox="1"/>
          <p:nvPr/>
        </p:nvSpPr>
        <p:spPr>
          <a:xfrm>
            <a:off x="320040" y="4224528"/>
            <a:ext cx="11338560" cy="2103120"/>
          </a:xfrm>
          <a:prstGeom prst="rect">
            <a:avLst/>
          </a:prstGeom>
          <a:noFill/>
        </p:spPr>
        <p:txBody>
          <a:bodyPr wrap="square">
            <a:normAutofit/>
          </a:bodyPr>
          <a:lstStyle/>
          <a:p>
            <a:pPr algn="l">
              <a:spcAft>
                <a:spcPts val="1000"/>
              </a:spcAft>
            </a:pPr>
            <a:r>
              <a:rPr sz="1200" b="0" i="0">
                <a:solidFill>
                  <a:srgbClr val="000000"/>
                </a:solidFill>
                <a:latin typeface="Calibri"/>
              </a:rPr>
              <a:t>•  Melbourne office opened Aug 2024, led by new state MD Tom Fazio (Consultancy.com.au)</a:t>
            </a:r>
          </a:p>
          <a:p>
            <a:pPr algn="l">
              <a:spcAft>
                <a:spcPts val="1000"/>
              </a:spcAft>
            </a:pPr>
            <a:r>
              <a:rPr sz="1200" b="0" i="0">
                <a:solidFill>
                  <a:srgbClr val="000000"/>
                </a:solidFill>
                <a:latin typeface="Calibri"/>
              </a:rPr>
              <a:t>•  Brioni Bale promoted to Managing Director, four senior hires added in 2025 (Consultancy.com.au)</a:t>
            </a:r>
          </a:p>
          <a:p>
            <a:pPr algn="l">
              <a:spcAft>
                <a:spcPts val="1000"/>
              </a:spcAft>
            </a:pPr>
            <a:r>
              <a:rPr sz="1200" b="0" i="0">
                <a:solidFill>
                  <a:srgbClr val="000000"/>
                </a:solidFill>
                <a:latin typeface="Calibri"/>
              </a:rPr>
              <a:t>•  Two agencies are over half of the $45.3M lifetime federal contract book (Pollywatch)</a:t>
            </a:r>
          </a:p>
          <a:p>
            <a:pPr algn="l">
              <a:spcAft>
                <a:spcPts val="1000"/>
              </a:spcAft>
            </a:pPr>
            <a:r>
              <a:rPr sz="1200" b="0" i="0">
                <a:solidFill>
                  <a:srgbClr val="000000"/>
                </a:solidFill>
                <a:latin typeface="Calibri"/>
              </a:rPr>
              <a:t>•  FY2025 26 alone brought $7.15M in new Commonwealth contract awards (Pollywatch)</a:t>
            </a:r>
          </a:p>
          <a:p>
            <a:pPr algn="l">
              <a:spcAft>
                <a:spcPts val="1000"/>
              </a:spcAft>
            </a:pPr>
            <a:r>
              <a:rPr sz="1200" b="0" i="0">
                <a:solidFill>
                  <a:srgbClr val="000000"/>
                </a:solidFill>
                <a:latin typeface="Calibri"/>
              </a:rPr>
              <a:t>•  Grew from 2 founders in 2020 to a near 20 strong team by 2023 (Consultancy.com.au)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315200" cy="365760"/>
          </a:xfrm>
          <a:prstGeom prst="rect">
            <a:avLst/>
          </a:prstGeom>
          <a:noFill/>
        </p:spPr>
        <p:txBody>
          <a:bodyPr wrap="square">
            <a:normAutofit/>
          </a:bodyPr>
          <a:lstStyle/>
          <a:p>
            <a:pPr algn="l"/>
            <a:r>
              <a:rPr sz="1200" b="1" i="0">
                <a:solidFill>
                  <a:srgbClr val="E6E5DE"/>
                </a:solidFill>
                <a:latin typeface="Calibri"/>
              </a:rPr>
              <a:t>THE OPPORTUNITY</a:t>
            </a:r>
          </a:p>
        </p:txBody>
      </p:sp>
      <p:sp>
        <p:nvSpPr>
          <p:cNvPr id="5" name="TextBox 4"/>
          <p:cNvSpPr txBox="1"/>
          <p:nvPr/>
        </p:nvSpPr>
        <p:spPr>
          <a:xfrm>
            <a:off x="7772400" y="292608"/>
            <a:ext cx="4114800" cy="365760"/>
          </a:xfrm>
          <a:prstGeom prst="rect">
            <a:avLst/>
          </a:prstGeom>
          <a:noFill/>
        </p:spPr>
        <p:txBody>
          <a:bodyPr wrap="square">
            <a:normAutofit/>
          </a:bodyPr>
          <a:lstStyle/>
          <a:p>
            <a:pPr algn="r"/>
            <a:r>
              <a:rPr sz="1300" b="1" i="0">
                <a:solidFill>
                  <a:srgbClr val="F8C806"/>
                </a:solidFill>
                <a:latin typeface="Calibri"/>
              </a:rPr>
              <a:t>PROFITPULSE</a:t>
            </a:r>
          </a:p>
        </p:txBody>
      </p:sp>
      <p:sp>
        <p:nvSpPr>
          <p:cNvPr id="6" name="TextBox 5"/>
          <p:cNvSpPr txBox="1"/>
          <p:nvPr/>
        </p:nvSpPr>
        <p:spPr>
          <a:xfrm>
            <a:off x="320040" y="6473952"/>
            <a:ext cx="8686800" cy="274320"/>
          </a:xfrm>
          <a:prstGeom prst="rect">
            <a:avLst/>
          </a:prstGeom>
          <a:noFill/>
        </p:spPr>
        <p:txBody>
          <a:bodyPr wrap="square">
            <a:normAutofit/>
          </a:bodyPr>
          <a:lstStyle/>
          <a:p>
            <a:pPr algn="l"/>
            <a:r>
              <a:rPr sz="800" b="0" i="0">
                <a:solidFill>
                  <a:srgbClr val="000000"/>
                </a:solidFill>
                <a:latin typeface="Calibri"/>
              </a:rPr>
              <a:t>Prepared by Nitesh Roopa CA, Managing Partner, ProfitPulse, Profit-Pulse.com.au</a:t>
            </a:r>
          </a:p>
        </p:txBody>
      </p:sp>
      <p:sp>
        <p:nvSpPr>
          <p:cNvPr id="7" name="TextBox 6"/>
          <p:cNvSpPr txBox="1"/>
          <p:nvPr/>
        </p:nvSpPr>
        <p:spPr>
          <a:xfrm>
            <a:off x="9144000" y="6473952"/>
            <a:ext cx="2651760" cy="274320"/>
          </a:xfrm>
          <a:prstGeom prst="rect">
            <a:avLst/>
          </a:prstGeom>
          <a:noFill/>
        </p:spPr>
        <p:txBody>
          <a:bodyPr wrap="square">
            <a:normAutofit/>
          </a:bodyPr>
          <a:lstStyle/>
          <a:p>
            <a:pPr algn="r"/>
            <a:r>
              <a:rPr sz="800" b="0" i="0">
                <a:solidFill>
                  <a:srgbClr val="000000"/>
                </a:solidFill>
                <a:latin typeface="Calibri"/>
              </a:rPr>
              <a:t>18 Aug 2026</a:t>
            </a:r>
          </a:p>
        </p:txBody>
      </p:sp>
      <p:sp>
        <p:nvSpPr>
          <p:cNvPr id="8" name="TextBox 7"/>
          <p:cNvSpPr txBox="1"/>
          <p:nvPr/>
        </p:nvSpPr>
        <p:spPr>
          <a:xfrm>
            <a:off x="320040" y="1078992"/>
            <a:ext cx="11338560" cy="411480"/>
          </a:xfrm>
          <a:prstGeom prst="rect">
            <a:avLst/>
          </a:prstGeom>
          <a:noFill/>
        </p:spPr>
        <p:txBody>
          <a:bodyPr wrap="square">
            <a:normAutofit/>
          </a:bodyPr>
          <a:lstStyle/>
          <a:p>
            <a:pPr algn="l"/>
            <a:r>
              <a:rPr sz="1800" b="1" i="0">
                <a:solidFill>
                  <a:srgbClr val="000000"/>
                </a:solidFill>
                <a:latin typeface="Georgia"/>
              </a:rPr>
              <a:t>Sententia Consulting: three commercial observations from ProfitPulse</a:t>
            </a:r>
          </a:p>
        </p:txBody>
      </p:sp>
      <p:sp>
        <p:nvSpPr>
          <p:cNvPr id="9" name="Rectangle 8"/>
          <p:cNvSpPr/>
          <p:nvPr/>
        </p:nvSpPr>
        <p:spPr>
          <a:xfrm>
            <a:off x="274320" y="1600200"/>
            <a:ext cx="3810030" cy="4114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737360"/>
            <a:ext cx="3352830" cy="777240"/>
          </a:xfrm>
          <a:prstGeom prst="rect">
            <a:avLst/>
          </a:prstGeom>
          <a:noFill/>
        </p:spPr>
        <p:txBody>
          <a:bodyPr wrap="square">
            <a:normAutofit/>
          </a:bodyPr>
          <a:lstStyle/>
          <a:p>
            <a:pPr algn="l"/>
            <a:r>
              <a:rPr sz="4400" b="1" i="0">
                <a:solidFill>
                  <a:srgbClr val="000000"/>
                </a:solidFill>
                <a:latin typeface="Georgia"/>
              </a:rPr>
              <a:t>01</a:t>
            </a:r>
          </a:p>
        </p:txBody>
      </p:sp>
      <p:sp>
        <p:nvSpPr>
          <p:cNvPr id="11" name="TextBox 10"/>
          <p:cNvSpPr txBox="1"/>
          <p:nvPr/>
        </p:nvSpPr>
        <p:spPr>
          <a:xfrm>
            <a:off x="502920" y="2560320"/>
            <a:ext cx="3352830" cy="594360"/>
          </a:xfrm>
          <a:prstGeom prst="rect">
            <a:avLst/>
          </a:prstGeom>
          <a:noFill/>
        </p:spPr>
        <p:txBody>
          <a:bodyPr wrap="square">
            <a:normAutofit/>
          </a:bodyPr>
          <a:lstStyle/>
          <a:p>
            <a:pPr algn="l"/>
            <a:r>
              <a:rPr sz="1500" b="1" i="0">
                <a:solidFill>
                  <a:srgbClr val="000000"/>
                </a:solidFill>
                <a:latin typeface="Georgia"/>
              </a:rPr>
              <a:t>Growth is outrunning infrastructure</a:t>
            </a:r>
          </a:p>
        </p:txBody>
      </p:sp>
      <p:sp>
        <p:nvSpPr>
          <p:cNvPr id="12" name="TextBox 11"/>
          <p:cNvSpPr txBox="1"/>
          <p:nvPr/>
        </p:nvSpPr>
        <p:spPr>
          <a:xfrm>
            <a:off x="502920" y="3200400"/>
            <a:ext cx="3352830" cy="2377440"/>
          </a:xfrm>
          <a:prstGeom prst="rect">
            <a:avLst/>
          </a:prstGeom>
          <a:noFill/>
        </p:spPr>
        <p:txBody>
          <a:bodyPr wrap="square">
            <a:normAutofit/>
          </a:bodyPr>
          <a:lstStyle/>
          <a:p>
            <a:pPr algn="l"/>
            <a:r>
              <a:rPr sz="1050" b="0" i="0">
                <a:solidFill>
                  <a:srgbClr val="000000"/>
                </a:solidFill>
                <a:latin typeface="Calibri"/>
              </a:rPr>
              <a:t>A 60.2 percent three year revenue CAGR took Sententia from two founders to a near 20 strong team and a second state office in under five years, per the 2025 AFR Fast 100 and Consultancy.com.au. At this pace, capacity planning and capital allocation typically lag delivery. A Strategic Growth Diagnostic maps revenue, capacity and margin headroom into a costed 12 month plan before that gap widens.</a:t>
            </a:r>
          </a:p>
        </p:txBody>
      </p:sp>
      <p:sp>
        <p:nvSpPr>
          <p:cNvPr id="13" name="Rectangle 12"/>
          <p:cNvSpPr/>
          <p:nvPr/>
        </p:nvSpPr>
        <p:spPr>
          <a:xfrm>
            <a:off x="4175790" y="1600200"/>
            <a:ext cx="3810030" cy="411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4390" y="1737360"/>
            <a:ext cx="3352830" cy="777240"/>
          </a:xfrm>
          <a:prstGeom prst="rect">
            <a:avLst/>
          </a:prstGeom>
          <a:noFill/>
        </p:spPr>
        <p:txBody>
          <a:bodyPr wrap="square">
            <a:normAutofit/>
          </a:bodyPr>
          <a:lstStyle/>
          <a:p>
            <a:pPr algn="l"/>
            <a:r>
              <a:rPr sz="4400" b="1" i="0">
                <a:solidFill>
                  <a:srgbClr val="FFFFFF"/>
                </a:solidFill>
                <a:latin typeface="Georgia"/>
              </a:rPr>
              <a:t>02</a:t>
            </a:r>
          </a:p>
        </p:txBody>
      </p:sp>
      <p:sp>
        <p:nvSpPr>
          <p:cNvPr id="15" name="TextBox 14"/>
          <p:cNvSpPr txBox="1"/>
          <p:nvPr/>
        </p:nvSpPr>
        <p:spPr>
          <a:xfrm>
            <a:off x="4404390" y="2560320"/>
            <a:ext cx="3352830" cy="594360"/>
          </a:xfrm>
          <a:prstGeom prst="rect">
            <a:avLst/>
          </a:prstGeom>
          <a:noFill/>
        </p:spPr>
        <p:txBody>
          <a:bodyPr wrap="square">
            <a:normAutofit/>
          </a:bodyPr>
          <a:lstStyle/>
          <a:p>
            <a:pPr algn="l"/>
            <a:r>
              <a:rPr sz="1500" b="1" i="0">
                <a:solidFill>
                  <a:srgbClr val="FFFFFF"/>
                </a:solidFill>
                <a:latin typeface="Georgia"/>
              </a:rPr>
              <a:t>Two agencies carry over half the book</a:t>
            </a:r>
          </a:p>
        </p:txBody>
      </p:sp>
      <p:sp>
        <p:nvSpPr>
          <p:cNvPr id="16" name="TextBox 15"/>
          <p:cNvSpPr txBox="1"/>
          <p:nvPr/>
        </p:nvSpPr>
        <p:spPr>
          <a:xfrm>
            <a:off x="4404390" y="3200400"/>
            <a:ext cx="3352830" cy="2377440"/>
          </a:xfrm>
          <a:prstGeom prst="rect">
            <a:avLst/>
          </a:prstGeom>
          <a:noFill/>
        </p:spPr>
        <p:txBody>
          <a:bodyPr wrap="square">
            <a:normAutofit/>
          </a:bodyPr>
          <a:lstStyle/>
          <a:p>
            <a:pPr algn="l"/>
            <a:r>
              <a:rPr sz="1050" b="0" i="0">
                <a:solidFill>
                  <a:srgbClr val="FFFFFF"/>
                </a:solidFill>
                <a:latin typeface="Calibri"/>
              </a:rPr>
              <a:t>Public federal contract records show Services Australia and the Department of Health and Aged Care together account for more than half of Sententia's $45.3 million lifetime Commonwealth contract value, per Pollywatch. A strong panel position, and a concentration worth watching as a standing item, the kind of visibility a Fractional CFO Partnership keeps in view every month.</a:t>
            </a:r>
          </a:p>
        </p:txBody>
      </p:sp>
      <p:sp>
        <p:nvSpPr>
          <p:cNvPr id="17" name="Rectangle 16"/>
          <p:cNvSpPr/>
          <p:nvPr/>
        </p:nvSpPr>
        <p:spPr>
          <a:xfrm>
            <a:off x="8077260" y="1600200"/>
            <a:ext cx="3810030" cy="411480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5860" y="1737360"/>
            <a:ext cx="3352830" cy="777240"/>
          </a:xfrm>
          <a:prstGeom prst="rect">
            <a:avLst/>
          </a:prstGeom>
          <a:noFill/>
        </p:spPr>
        <p:txBody>
          <a:bodyPr wrap="square">
            <a:normAutofit/>
          </a:bodyPr>
          <a:lstStyle/>
          <a:p>
            <a:pPr algn="l"/>
            <a:r>
              <a:rPr sz="4400" b="1" i="0">
                <a:solidFill>
                  <a:srgbClr val="000000"/>
                </a:solidFill>
                <a:latin typeface="Georgia"/>
              </a:rPr>
              <a:t>03</a:t>
            </a:r>
          </a:p>
        </p:txBody>
      </p:sp>
      <p:sp>
        <p:nvSpPr>
          <p:cNvPr id="19" name="TextBox 18"/>
          <p:cNvSpPr txBox="1"/>
          <p:nvPr/>
        </p:nvSpPr>
        <p:spPr>
          <a:xfrm>
            <a:off x="8305860" y="2560320"/>
            <a:ext cx="3352830" cy="594360"/>
          </a:xfrm>
          <a:prstGeom prst="rect">
            <a:avLst/>
          </a:prstGeom>
          <a:noFill/>
        </p:spPr>
        <p:txBody>
          <a:bodyPr wrap="square">
            <a:normAutofit/>
          </a:bodyPr>
          <a:lstStyle/>
          <a:p>
            <a:pPr algn="l"/>
            <a:r>
              <a:rPr sz="1500" b="1" i="0">
                <a:solidFill>
                  <a:srgbClr val="000000"/>
                </a:solidFill>
                <a:latin typeface="Georgia"/>
              </a:rPr>
              <a:t>Two offices means two engines to plan</a:t>
            </a:r>
          </a:p>
        </p:txBody>
      </p:sp>
      <p:sp>
        <p:nvSpPr>
          <p:cNvPr id="20" name="TextBox 19"/>
          <p:cNvSpPr txBox="1"/>
          <p:nvPr/>
        </p:nvSpPr>
        <p:spPr>
          <a:xfrm>
            <a:off x="8305860" y="3200400"/>
            <a:ext cx="3352830" cy="2377440"/>
          </a:xfrm>
          <a:prstGeom prst="rect">
            <a:avLst/>
          </a:prstGeom>
          <a:noFill/>
        </p:spPr>
        <p:txBody>
          <a:bodyPr wrap="square">
            <a:normAutofit/>
          </a:bodyPr>
          <a:lstStyle/>
          <a:p>
            <a:pPr algn="l"/>
            <a:r>
              <a:rPr sz="1050" b="0" i="0">
                <a:solidFill>
                  <a:srgbClr val="000000"/>
                </a:solidFill>
                <a:latin typeface="Calibri"/>
              </a:rPr>
              <a:t>Canberra and Melbourne each carry their own delivery leadership and their own billable mix. As headcount keeps growing across both sites, per Consultancy.com.au reporting on recent hires, seeing utilisation and revenue per consultant clearly across two offices gets harder without dedicated tracking. A Workforce Capacity and Utilisation Review builds that view.</a:t>
            </a:r>
          </a:p>
        </p:txBody>
      </p:sp>
      <p:sp>
        <p:nvSpPr>
          <p:cNvPr id="21" name="TextBox 20"/>
          <p:cNvSpPr txBox="1"/>
          <p:nvPr/>
        </p:nvSpPr>
        <p:spPr>
          <a:xfrm>
            <a:off x="274320" y="5833872"/>
            <a:ext cx="11612880" cy="457200"/>
          </a:xfrm>
          <a:prstGeom prst="rect">
            <a:avLst/>
          </a:prstGeom>
          <a:noFill/>
        </p:spPr>
        <p:txBody>
          <a:bodyPr wrap="square">
            <a:normAutofit/>
          </a:bodyPr>
          <a:lstStyle/>
          <a:p>
            <a:pPr algn="ctr"/>
            <a:r>
              <a:rPr sz="1100" b="0" i="1">
                <a:solidFill>
                  <a:srgbClr val="000000"/>
                </a:solidFill>
                <a:latin typeface="Calibri"/>
              </a:rPr>
              <a:t>These are observations offered in good faith. Sententia has built something impressive. The question is simply whether the financial architecture matches the ambition.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315200" cy="365760"/>
          </a:xfrm>
          <a:prstGeom prst="rect">
            <a:avLst/>
          </a:prstGeom>
          <a:noFill/>
        </p:spPr>
        <p:txBody>
          <a:bodyPr wrap="square">
            <a:normAutofit/>
          </a:bodyPr>
          <a:lstStyle/>
          <a:p>
            <a:pPr algn="l"/>
            <a:r>
              <a:rPr sz="1200" b="1" i="0">
                <a:solidFill>
                  <a:srgbClr val="E6E5DE"/>
                </a:solidFill>
                <a:latin typeface="Calibri"/>
              </a:rPr>
              <a:t>THE RECOMMENDATION</a:t>
            </a:r>
          </a:p>
        </p:txBody>
      </p:sp>
      <p:sp>
        <p:nvSpPr>
          <p:cNvPr id="5" name="TextBox 4"/>
          <p:cNvSpPr txBox="1"/>
          <p:nvPr/>
        </p:nvSpPr>
        <p:spPr>
          <a:xfrm>
            <a:off x="7772400" y="292608"/>
            <a:ext cx="4114800" cy="365760"/>
          </a:xfrm>
          <a:prstGeom prst="rect">
            <a:avLst/>
          </a:prstGeom>
          <a:noFill/>
        </p:spPr>
        <p:txBody>
          <a:bodyPr wrap="square">
            <a:normAutofit/>
          </a:bodyPr>
          <a:lstStyle/>
          <a:p>
            <a:pPr algn="r"/>
            <a:r>
              <a:rPr sz="1300" b="1" i="0">
                <a:solidFill>
                  <a:srgbClr val="F8C806"/>
                </a:solidFill>
                <a:latin typeface="Calibri"/>
              </a:rPr>
              <a:t>PROFITPULSE</a:t>
            </a:r>
          </a:p>
        </p:txBody>
      </p:sp>
      <p:sp>
        <p:nvSpPr>
          <p:cNvPr id="6" name="TextBox 5"/>
          <p:cNvSpPr txBox="1"/>
          <p:nvPr/>
        </p:nvSpPr>
        <p:spPr>
          <a:xfrm>
            <a:off x="320040" y="6473952"/>
            <a:ext cx="8686800" cy="274320"/>
          </a:xfrm>
          <a:prstGeom prst="rect">
            <a:avLst/>
          </a:prstGeom>
          <a:noFill/>
        </p:spPr>
        <p:txBody>
          <a:bodyPr wrap="square">
            <a:normAutofit/>
          </a:bodyPr>
          <a:lstStyle/>
          <a:p>
            <a:pPr algn="l"/>
            <a:r>
              <a:rPr sz="800" b="0" i="0">
                <a:solidFill>
                  <a:srgbClr val="000000"/>
                </a:solidFill>
                <a:latin typeface="Calibri"/>
              </a:rPr>
              <a:t>Prepared by Nitesh Roopa CA, Managing Partner, ProfitPulse, Profit-Pulse.com.au</a:t>
            </a:r>
          </a:p>
        </p:txBody>
      </p:sp>
      <p:sp>
        <p:nvSpPr>
          <p:cNvPr id="7" name="TextBox 6"/>
          <p:cNvSpPr txBox="1"/>
          <p:nvPr/>
        </p:nvSpPr>
        <p:spPr>
          <a:xfrm>
            <a:off x="9144000" y="6473952"/>
            <a:ext cx="2651760" cy="274320"/>
          </a:xfrm>
          <a:prstGeom prst="rect">
            <a:avLst/>
          </a:prstGeom>
          <a:noFill/>
        </p:spPr>
        <p:txBody>
          <a:bodyPr wrap="square">
            <a:normAutofit/>
          </a:bodyPr>
          <a:lstStyle/>
          <a:p>
            <a:pPr algn="r"/>
            <a:r>
              <a:rPr sz="800" b="0" i="0">
                <a:solidFill>
                  <a:srgbClr val="000000"/>
                </a:solidFill>
                <a:latin typeface="Calibri"/>
              </a:rPr>
              <a:t>18 Aug 2026</a:t>
            </a:r>
          </a:p>
        </p:txBody>
      </p:sp>
      <p:sp>
        <p:nvSpPr>
          <p:cNvPr id="8" name="TextBox 7"/>
          <p:cNvSpPr txBox="1"/>
          <p:nvPr/>
        </p:nvSpPr>
        <p:spPr>
          <a:xfrm>
            <a:off x="320040" y="1051560"/>
            <a:ext cx="6766560" cy="502920"/>
          </a:xfrm>
          <a:prstGeom prst="rect">
            <a:avLst/>
          </a:prstGeom>
          <a:noFill/>
        </p:spPr>
        <p:txBody>
          <a:bodyPr wrap="square">
            <a:normAutofit/>
          </a:bodyPr>
          <a:lstStyle/>
          <a:p>
            <a:pPr algn="l"/>
            <a:r>
              <a:rPr sz="2600" b="1" i="0">
                <a:solidFill>
                  <a:srgbClr val="000000"/>
                </a:solidFill>
                <a:latin typeface="Georgia"/>
              </a:rPr>
              <a:t>Strategic Growth Diagnostic</a:t>
            </a:r>
          </a:p>
        </p:txBody>
      </p:sp>
      <p:sp>
        <p:nvSpPr>
          <p:cNvPr id="9" name="TextBox 8"/>
          <p:cNvSpPr txBox="1"/>
          <p:nvPr/>
        </p:nvSpPr>
        <p:spPr>
          <a:xfrm>
            <a:off x="320040" y="1536192"/>
            <a:ext cx="6766560" cy="365760"/>
          </a:xfrm>
          <a:prstGeom prst="rect">
            <a:avLst/>
          </a:prstGeom>
          <a:noFill/>
        </p:spPr>
        <p:txBody>
          <a:bodyPr wrap="square">
            <a:normAutofit/>
          </a:bodyPr>
          <a:lstStyle/>
          <a:p>
            <a:pPr algn="l"/>
            <a:r>
              <a:rPr sz="1700" b="1" i="0">
                <a:solidFill>
                  <a:srgbClr val="F6A102"/>
                </a:solidFill>
                <a:latin typeface="Calibri"/>
              </a:rPr>
              <a:t>$5,000 one off</a:t>
            </a:r>
          </a:p>
        </p:txBody>
      </p:sp>
      <p:sp>
        <p:nvSpPr>
          <p:cNvPr id="10" name="TextBox 9"/>
          <p:cNvSpPr txBox="1"/>
          <p:nvPr/>
        </p:nvSpPr>
        <p:spPr>
          <a:xfrm>
            <a:off x="320040" y="1938528"/>
            <a:ext cx="6766560" cy="640080"/>
          </a:xfrm>
          <a:prstGeom prst="rect">
            <a:avLst/>
          </a:prstGeom>
          <a:noFill/>
        </p:spPr>
        <p:txBody>
          <a:bodyPr wrap="square">
            <a:normAutofit/>
          </a:bodyPr>
          <a:lstStyle/>
          <a:p>
            <a:pPr algn="l"/>
            <a:r>
              <a:rPr sz="1200" b="0" i="0">
                <a:solidFill>
                  <a:srgbClr val="000000"/>
                </a:solidFill>
                <a:latin typeface="Calibri"/>
              </a:rPr>
              <a:t>Six weeks mapping revenue, capacity and margin headroom into a 12 month growth plan with funding and capital allocation steps, sized to a two office model.</a:t>
            </a:r>
          </a:p>
        </p:txBody>
      </p:sp>
      <p:sp>
        <p:nvSpPr>
          <p:cNvPr id="11" name="Rectangle 10"/>
          <p:cNvSpPr/>
          <p:nvPr/>
        </p:nvSpPr>
        <p:spPr>
          <a:xfrm>
            <a:off x="320040" y="2697480"/>
            <a:ext cx="6766560" cy="1417320"/>
          </a:xfrm>
          <a:prstGeom prst="rect">
            <a:avLst/>
          </a:prstGeom>
          <a:solidFill>
            <a:srgbClr val="FFFFFF"/>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697480"/>
            <a:ext cx="6766560" cy="1417320"/>
          </a:xfrm>
          <a:prstGeom prst="rect">
            <a:avLst/>
          </a:prstGeom>
          <a:solidFill>
            <a:srgbClr val="FFFFFF"/>
          </a:solidFill>
          <a:ln w="1905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816352"/>
            <a:ext cx="6400800" cy="274320"/>
          </a:xfrm>
          <a:prstGeom prst="rect">
            <a:avLst/>
          </a:prstGeom>
          <a:noFill/>
        </p:spPr>
        <p:txBody>
          <a:bodyPr wrap="square">
            <a:normAutofit/>
          </a:bodyPr>
          <a:lstStyle/>
          <a:p>
            <a:pPr algn="l"/>
            <a:r>
              <a:rPr sz="1100" b="1" i="0">
                <a:solidFill>
                  <a:srgbClr val="01A296"/>
                </a:solidFill>
                <a:latin typeface="Calibri"/>
              </a:rPr>
              <a:t>STEP ONE, ANSWER A FEW QUICK QUESTIONS</a:t>
            </a:r>
          </a:p>
        </p:txBody>
      </p:sp>
      <p:sp>
        <p:nvSpPr>
          <p:cNvPr id="14" name="TextBox 13"/>
          <p:cNvSpPr txBox="1"/>
          <p:nvPr/>
        </p:nvSpPr>
        <p:spPr>
          <a:xfrm>
            <a:off x="502920" y="3108960"/>
            <a:ext cx="6400800" cy="274320"/>
          </a:xfrm>
          <a:prstGeom prst="rect">
            <a:avLst/>
          </a:prstGeom>
          <a:noFill/>
        </p:spPr>
        <p:txBody>
          <a:bodyPr wrap="square">
            <a:normAutofit/>
          </a:bodyPr>
          <a:lstStyle/>
          <a:p>
            <a:pPr algn="l"/>
            <a:r>
              <a:rPr sz="1100" b="0" i="0">
                <a:solidFill>
                  <a:srgbClr val="000000"/>
                </a:solidFill>
                <a:latin typeface="Calibri"/>
              </a:rPr>
              <a:t>See the solutions matched to your size and industry.</a:t>
            </a:r>
          </a:p>
        </p:txBody>
      </p:sp>
      <p:sp>
        <p:nvSpPr>
          <p:cNvPr id="15" name="TextBox 14"/>
          <p:cNvSpPr txBox="1"/>
          <p:nvPr/>
        </p:nvSpPr>
        <p:spPr>
          <a:xfrm>
            <a:off x="502920" y="3429000"/>
            <a:ext cx="6400800" cy="365760"/>
          </a:xfrm>
          <a:prstGeom prst="rect">
            <a:avLst/>
          </a:prstGeom>
          <a:noFill/>
        </p:spPr>
        <p:txBody>
          <a:bodyPr wrap="square">
            <a:normAutofit/>
          </a:bodyPr>
          <a:lstStyle/>
          <a:p>
            <a:pPr algn="l"/>
            <a:r>
              <a:rPr sz="1400" b="1" i="0">
                <a:solidFill>
                  <a:srgbClr val="01A296"/>
                </a:solidFill>
                <a:latin typeface="Calibri"/>
                <a:hlinkClick r:id="rId2"/>
              </a:rPr>
              <a:t>profit-pulse.com.au/services/find-your-fit</a:t>
            </a:r>
          </a:p>
        </p:txBody>
      </p:sp>
      <p:sp>
        <p:nvSpPr>
          <p:cNvPr id="16" name="Rounded Rectangle 15"/>
          <p:cNvSpPr/>
          <p:nvPr/>
        </p:nvSpPr>
        <p:spPr>
          <a:xfrm>
            <a:off x="320040" y="4297680"/>
            <a:ext cx="4206240" cy="502920"/>
          </a:xfrm>
          <a:prstGeom prst="roundRect">
            <a:avLst/>
          </a:prstGeom>
          <a:solidFill>
            <a:srgbClr val="FFFFFF"/>
          </a:solidFill>
          <a:ln w="19050">
            <a:solidFill>
              <a:srgbClr val="F6A10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6A102"/>
                </a:solidFill>
                <a:latin typeface="Calibri"/>
                <a:hlinkClick r:id="rId3"/>
              </a:rPr>
              <a:t>Purchase the suggested product now to get started</a:t>
            </a:r>
          </a:p>
        </p:txBody>
      </p:sp>
      <p:sp>
        <p:nvSpPr>
          <p:cNvPr id="17" name="TextBox 16"/>
          <p:cNvSpPr txBox="1"/>
          <p:nvPr/>
        </p:nvSpPr>
        <p:spPr>
          <a:xfrm>
            <a:off x="320040" y="5029200"/>
            <a:ext cx="6766560" cy="274320"/>
          </a:xfrm>
          <a:prstGeom prst="rect">
            <a:avLst/>
          </a:prstGeom>
          <a:noFill/>
        </p:spPr>
        <p:txBody>
          <a:bodyPr wrap="square">
            <a:normAutofit/>
          </a:bodyPr>
          <a:lstStyle/>
          <a:p>
            <a:pPr algn="l"/>
            <a:r>
              <a:rPr sz="1100" b="0" i="0">
                <a:solidFill>
                  <a:srgbClr val="000000"/>
                </a:solidFill>
                <a:latin typeface="Calibri"/>
              </a:rPr>
              <a:t>Prefer a conversation first?</a:t>
            </a:r>
          </a:p>
        </p:txBody>
      </p:sp>
      <p:sp>
        <p:nvSpPr>
          <p:cNvPr id="18" name="TextBox 17"/>
          <p:cNvSpPr txBox="1"/>
          <p:nvPr/>
        </p:nvSpPr>
        <p:spPr>
          <a:xfrm>
            <a:off x="320040" y="5321808"/>
            <a:ext cx="6766560" cy="320040"/>
          </a:xfrm>
          <a:prstGeom prst="rect">
            <a:avLst/>
          </a:prstGeom>
          <a:noFill/>
        </p:spPr>
        <p:txBody>
          <a:bodyPr wrap="square">
            <a:normAutofit/>
          </a:bodyPr>
          <a:lstStyle/>
          <a:p>
            <a:pPr algn="l"/>
            <a:r>
              <a:rPr sz="1200" b="1" i="0">
                <a:solidFill>
                  <a:srgbClr val="01A296"/>
                </a:solidFill>
                <a:latin typeface="Calibri"/>
                <a:hlinkClick r:id="rId4"/>
              </a:rPr>
              <a:t>Book a complimentary discovery call</a:t>
            </a:r>
          </a:p>
        </p:txBody>
      </p:sp>
      <p:sp>
        <p:nvSpPr>
          <p:cNvPr id="19" name="Rectangle 18"/>
          <p:cNvSpPr/>
          <p:nvPr/>
        </p:nvSpPr>
        <p:spPr>
          <a:xfrm>
            <a:off x="7360920" y="1051560"/>
            <a:ext cx="4526280" cy="5074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60920" y="1051560"/>
            <a:ext cx="4526280" cy="54864"/>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0" y="1234440"/>
            <a:ext cx="4069080" cy="411480"/>
          </a:xfrm>
          <a:prstGeom prst="rect">
            <a:avLst/>
          </a:prstGeom>
          <a:noFill/>
        </p:spPr>
        <p:txBody>
          <a:bodyPr wrap="square">
            <a:normAutofit/>
          </a:bodyPr>
          <a:lstStyle/>
          <a:p>
            <a:pPr algn="l"/>
            <a:r>
              <a:rPr sz="1900" b="1" i="0">
                <a:solidFill>
                  <a:srgbClr val="F8C806"/>
                </a:solidFill>
                <a:latin typeface="Georgia"/>
              </a:rPr>
              <a:t>Nitesh Roopa</a:t>
            </a:r>
          </a:p>
        </p:txBody>
      </p:sp>
      <p:sp>
        <p:nvSpPr>
          <p:cNvPr id="22" name="TextBox 21"/>
          <p:cNvSpPr txBox="1"/>
          <p:nvPr/>
        </p:nvSpPr>
        <p:spPr>
          <a:xfrm>
            <a:off x="7589520" y="1664208"/>
            <a:ext cx="4069080" cy="320040"/>
          </a:xfrm>
          <a:prstGeom prst="rect">
            <a:avLst/>
          </a:prstGeom>
          <a:noFill/>
        </p:spPr>
        <p:txBody>
          <a:bodyPr wrap="square">
            <a:normAutofit/>
          </a:bodyPr>
          <a:lstStyle/>
          <a:p>
            <a:pPr algn="l"/>
            <a:r>
              <a:rPr sz="1200" b="0" i="0">
                <a:solidFill>
                  <a:srgbClr val="FFFFFF"/>
                </a:solidFill>
                <a:latin typeface="Calibri"/>
              </a:rPr>
              <a:t>CA, Managing Partner, ProfitPulse</a:t>
            </a:r>
          </a:p>
        </p:txBody>
      </p:sp>
      <p:sp>
        <p:nvSpPr>
          <p:cNvPr id="23" name="TextBox 22"/>
          <p:cNvSpPr txBox="1"/>
          <p:nvPr/>
        </p:nvSpPr>
        <p:spPr>
          <a:xfrm>
            <a:off x="7589520" y="2148840"/>
            <a:ext cx="4069080" cy="1554480"/>
          </a:xfrm>
          <a:prstGeom prst="rect">
            <a:avLst/>
          </a:prstGeom>
          <a:noFill/>
        </p:spPr>
        <p:txBody>
          <a:bodyPr wrap="square">
            <a:normAutofit/>
          </a:bodyPr>
          <a:lstStyle/>
          <a:p>
            <a:pPr algn="l">
              <a:spcAft>
                <a:spcPts val="800"/>
              </a:spcAft>
            </a:pPr>
            <a:r>
              <a:rPr sz="1100" b="0" i="0">
                <a:solidFill>
                  <a:srgbClr val="E6E5DE"/>
                </a:solidFill>
                <a:latin typeface="Calibri"/>
              </a:rPr>
              <a:t>•  16 years across 4 countries</a:t>
            </a:r>
          </a:p>
          <a:p>
            <a:pPr algn="l">
              <a:spcAft>
                <a:spcPts val="800"/>
              </a:spcAft>
            </a:pPr>
            <a:r>
              <a:rPr sz="1100" b="0" i="0">
                <a:solidFill>
                  <a:srgbClr val="E6E5DE"/>
                </a:solidFill>
                <a:latin typeface="Calibri"/>
              </a:rPr>
              <a:t>•  Over 52 deals executed and managed</a:t>
            </a:r>
          </a:p>
          <a:p>
            <a:pPr algn="l">
              <a:spcAft>
                <a:spcPts val="800"/>
              </a:spcAft>
            </a:pPr>
            <a:r>
              <a:rPr sz="1100" b="0" i="0">
                <a:solidFill>
                  <a:srgbClr val="E6E5DE"/>
                </a:solidFill>
                <a:latin typeface="Calibri"/>
              </a:rPr>
              <a:t>•  Largest single deal USD 1.3 billion, Cahora Bassa</a:t>
            </a:r>
          </a:p>
          <a:p>
            <a:pPr algn="l">
              <a:spcAft>
                <a:spcPts val="800"/>
              </a:spcAft>
            </a:pPr>
            <a:r>
              <a:rPr sz="1100" b="0" i="0">
                <a:solidFill>
                  <a:srgbClr val="E6E5DE"/>
                </a:solidFill>
                <a:latin typeface="Calibri"/>
              </a:rPr>
              <a:t>•  Total GRBT project value over AUD 10 billion</a:t>
            </a:r>
          </a:p>
        </p:txBody>
      </p:sp>
      <p:sp>
        <p:nvSpPr>
          <p:cNvPr id="24" name="Rectangle 23"/>
          <p:cNvSpPr/>
          <p:nvPr/>
        </p:nvSpPr>
        <p:spPr>
          <a:xfrm>
            <a:off x="7589520" y="3794760"/>
            <a:ext cx="4069080" cy="1524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0" y="3977639"/>
            <a:ext cx="4069080" cy="1371600"/>
          </a:xfrm>
          <a:prstGeom prst="rect">
            <a:avLst/>
          </a:prstGeom>
          <a:noFill/>
        </p:spPr>
        <p:txBody>
          <a:bodyPr wrap="square">
            <a:normAutofit/>
          </a:bodyPr>
          <a:lstStyle/>
          <a:p>
            <a:pPr algn="l">
              <a:spcAft>
                <a:spcPts val="800"/>
              </a:spcAft>
            </a:pPr>
            <a:r>
              <a:rPr sz="1100" b="0" i="0">
                <a:solidFill>
                  <a:srgbClr val="E6E5DE"/>
                </a:solidFill>
                <a:latin typeface="Calibri"/>
              </a:rPr>
              <a:t>Profit-Pulse.com.au</a:t>
            </a:r>
          </a:p>
          <a:p>
            <a:pPr algn="l">
              <a:spcAft>
                <a:spcPts val="800"/>
              </a:spcAft>
            </a:pPr>
            <a:r>
              <a:rPr sz="1100" b="0" i="0">
                <a:solidFill>
                  <a:srgbClr val="01A296"/>
                </a:solidFill>
                <a:latin typeface="Calibri"/>
              </a:rPr>
              <a:t>Nitesh@Profit-Pulse.com.au</a:t>
            </a:r>
          </a:p>
          <a:p>
            <a:pPr algn="l">
              <a:spcAft>
                <a:spcPts val="800"/>
              </a:spcAft>
            </a:pPr>
            <a:r>
              <a:rPr sz="1100" b="0" i="0">
                <a:solidFill>
                  <a:srgbClr val="E6E5DE"/>
                </a:solidFill>
                <a:latin typeface="Calibri"/>
              </a:rPr>
              <a:t>+61 411 876 267</a:t>
            </a:r>
          </a:p>
          <a:p>
            <a:pPr algn="l">
              <a:spcAft>
                <a:spcPts val="800"/>
              </a:spcAft>
            </a:pPr>
            <a:r>
              <a:rPr sz="1100" b="0" i="0">
                <a:solidFill>
                  <a:srgbClr val="01A296"/>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