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services/find-your-fit/" TargetMode="External"/><Relationship Id="rId3" Type="http://schemas.openxmlformats.org/officeDocument/2006/relationships/hyperlink" Target="https://buy.stripe.com/eVqdRad9e66cftK23Z3ks0h"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10896"/>
            <a:ext cx="6858000" cy="365760"/>
          </a:xfrm>
          <a:prstGeom prst="rect">
            <a:avLst/>
          </a:prstGeom>
          <a:noFill/>
        </p:spPr>
        <p:txBody>
          <a:bodyPr wrap="square" lIns="0" rIns="0" tIns="0" bIns="0">
            <a:noAutofit/>
          </a:bodyPr>
          <a:lstStyle/>
          <a:p>
            <a:pPr algn="l"/>
            <a:r>
              <a:rPr sz="1200" b="1" i="0">
                <a:solidFill>
                  <a:srgbClr val="E6E5DE"/>
                </a:solidFill>
                <a:latin typeface="Calibri"/>
              </a:rPr>
              <a:t>COMMERCIAL INTELLIGENCE BRIEF</a:t>
            </a:r>
          </a:p>
        </p:txBody>
      </p:sp>
      <p:sp>
        <p:nvSpPr>
          <p:cNvPr id="4" name="TextBox 3"/>
          <p:cNvSpPr txBox="1"/>
          <p:nvPr/>
        </p:nvSpPr>
        <p:spPr>
          <a:xfrm>
            <a:off x="8229600" y="310896"/>
            <a:ext cx="3657600" cy="365760"/>
          </a:xfrm>
          <a:prstGeom prst="rect">
            <a:avLst/>
          </a:prstGeom>
          <a:noFill/>
        </p:spPr>
        <p:txBody>
          <a:bodyPr wrap="square" lIns="0" rIns="0" tIns="0" bIns="0">
            <a:noAutofit/>
          </a:bodyPr>
          <a:lstStyle/>
          <a:p>
            <a:pPr algn="r"/>
            <a:r>
              <a:rPr sz="1300" b="1" i="0">
                <a:solidFill>
                  <a:srgbClr val="01A296"/>
                </a:solidFill>
                <a:latin typeface="Calibri"/>
              </a:rPr>
              <a:t>PROFITPULSE</a:t>
            </a:r>
          </a:p>
        </p:txBody>
      </p:sp>
      <p:sp>
        <p:nvSpPr>
          <p:cNvPr id="5" name="TextBox 4"/>
          <p:cNvSpPr txBox="1"/>
          <p:nvPr/>
        </p:nvSpPr>
        <p:spPr>
          <a:xfrm>
            <a:off x="320040" y="1024128"/>
            <a:ext cx="8229600" cy="685800"/>
          </a:xfrm>
          <a:prstGeom prst="rect">
            <a:avLst/>
          </a:prstGeom>
          <a:noFill/>
        </p:spPr>
        <p:txBody>
          <a:bodyPr wrap="square" lIns="0" rIns="0" tIns="0" bIns="0">
            <a:noAutofit/>
          </a:bodyPr>
          <a:lstStyle/>
          <a:p>
            <a:pPr algn="l"/>
            <a:r>
              <a:rPr sz="4200" b="1" i="0">
                <a:solidFill>
                  <a:srgbClr val="000000"/>
                </a:solidFill>
                <a:latin typeface="Georgia"/>
              </a:rPr>
              <a:t>Paire</a:t>
            </a:r>
          </a:p>
        </p:txBody>
      </p:sp>
      <p:sp>
        <p:nvSpPr>
          <p:cNvPr id="6" name="TextBox 5"/>
          <p:cNvSpPr txBox="1"/>
          <p:nvPr/>
        </p:nvSpPr>
        <p:spPr>
          <a:xfrm>
            <a:off x="320040" y="1737360"/>
            <a:ext cx="9144000" cy="320040"/>
          </a:xfrm>
          <a:prstGeom prst="rect">
            <a:avLst/>
          </a:prstGeom>
          <a:noFill/>
        </p:spPr>
        <p:txBody>
          <a:bodyPr wrap="square" lIns="0" rIns="0" tIns="0" bIns="0">
            <a:noAutofit/>
          </a:bodyPr>
          <a:lstStyle/>
          <a:p>
            <a:pPr algn="l"/>
            <a:r>
              <a:rPr sz="1300" b="0" i="0">
                <a:solidFill>
                  <a:srgbClr val="01A296"/>
                </a:solidFill>
                <a:latin typeface="Calibri"/>
              </a:rPr>
              <a:t>Direct to consumer apparel brand, Melbourne VIC</a:t>
            </a:r>
          </a:p>
        </p:txBody>
      </p:sp>
      <p:sp>
        <p:nvSpPr>
          <p:cNvPr id="7" name="Rectangle 6"/>
          <p:cNvSpPr/>
          <p:nvPr/>
        </p:nvSpPr>
        <p:spPr>
          <a:xfrm>
            <a:off x="32004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322576"/>
            <a:ext cx="1828800" cy="457200"/>
          </a:xfrm>
          <a:prstGeom prst="rect">
            <a:avLst/>
          </a:prstGeom>
          <a:noFill/>
        </p:spPr>
        <p:txBody>
          <a:bodyPr wrap="square" lIns="0" rIns="0" tIns="0" bIns="0">
            <a:noAutofit/>
          </a:bodyPr>
          <a:lstStyle/>
          <a:p>
            <a:pPr algn="l"/>
            <a:r>
              <a:rPr sz="2800" b="1" i="0">
                <a:solidFill>
                  <a:srgbClr val="FFFFFF"/>
                </a:solidFill>
                <a:latin typeface="Georgia"/>
              </a:rPr>
              <a:t>$9.4M</a:t>
            </a:r>
          </a:p>
        </p:txBody>
      </p:sp>
      <p:sp>
        <p:nvSpPr>
          <p:cNvPr id="10" name="TextBox 9"/>
          <p:cNvSpPr txBox="1"/>
          <p:nvPr/>
        </p:nvSpPr>
        <p:spPr>
          <a:xfrm>
            <a:off x="457200" y="2816352"/>
            <a:ext cx="1828800" cy="457200"/>
          </a:xfrm>
          <a:prstGeom prst="rect">
            <a:avLst/>
          </a:prstGeom>
          <a:noFill/>
        </p:spPr>
        <p:txBody>
          <a:bodyPr wrap="square" lIns="0" rIns="0" tIns="0" bIns="0">
            <a:noAutofit/>
          </a:bodyPr>
          <a:lstStyle/>
          <a:p>
            <a:pPr algn="l">
              <a:spcAft>
                <a:spcPts val="0"/>
              </a:spcAft>
            </a:pPr>
            <a:r>
              <a:rPr sz="1100" b="0" i="0">
                <a:solidFill>
                  <a:srgbClr val="E6E5DE"/>
                </a:solidFill>
                <a:latin typeface="Calibri"/>
              </a:rPr>
              <a:t>FY2025 revenue</a:t>
            </a:r>
          </a:p>
        </p:txBody>
      </p:sp>
      <p:sp>
        <p:nvSpPr>
          <p:cNvPr id="11" name="TextBox 10"/>
          <p:cNvSpPr txBox="1"/>
          <p:nvPr/>
        </p:nvSpPr>
        <p:spPr>
          <a:xfrm>
            <a:off x="457200" y="3346704"/>
            <a:ext cx="1828800" cy="256032"/>
          </a:xfrm>
          <a:prstGeom prst="rect">
            <a:avLst/>
          </a:prstGeom>
          <a:noFill/>
        </p:spPr>
        <p:txBody>
          <a:bodyPr wrap="square" lIns="0" rIns="0" tIns="0" bIns="0">
            <a:noAutofit/>
          </a:bodyPr>
          <a:lstStyle/>
          <a:p>
            <a:pPr algn="l"/>
            <a:r>
              <a:rPr sz="700" b="0" i="1">
                <a:solidFill>
                  <a:srgbClr val="E6E5DE"/>
                </a:solidFill>
                <a:latin typeface="Calibri"/>
              </a:rPr>
              <a:t>Smart50 2025 citation</a:t>
            </a:r>
          </a:p>
        </p:txBody>
      </p:sp>
      <p:sp>
        <p:nvSpPr>
          <p:cNvPr id="12" name="Rectangle 11"/>
          <p:cNvSpPr/>
          <p:nvPr/>
        </p:nvSpPr>
        <p:spPr>
          <a:xfrm>
            <a:off x="256032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60320"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97480" y="2322576"/>
            <a:ext cx="1828800" cy="457200"/>
          </a:xfrm>
          <a:prstGeom prst="rect">
            <a:avLst/>
          </a:prstGeom>
          <a:noFill/>
        </p:spPr>
        <p:txBody>
          <a:bodyPr wrap="square" lIns="0" rIns="0" tIns="0" bIns="0">
            <a:noAutofit/>
          </a:bodyPr>
          <a:lstStyle/>
          <a:p>
            <a:pPr algn="l"/>
            <a:r>
              <a:rPr sz="2800" b="1" i="0">
                <a:solidFill>
                  <a:srgbClr val="FFFFFF"/>
                </a:solidFill>
                <a:latin typeface="Georgia"/>
              </a:rPr>
              <a:t>64%</a:t>
            </a:r>
          </a:p>
        </p:txBody>
      </p:sp>
      <p:sp>
        <p:nvSpPr>
          <p:cNvPr id="15" name="TextBox 14"/>
          <p:cNvSpPr txBox="1"/>
          <p:nvPr/>
        </p:nvSpPr>
        <p:spPr>
          <a:xfrm>
            <a:off x="2697480" y="2816352"/>
            <a:ext cx="1828800" cy="457200"/>
          </a:xfrm>
          <a:prstGeom prst="rect">
            <a:avLst/>
          </a:prstGeom>
          <a:noFill/>
        </p:spPr>
        <p:txBody>
          <a:bodyPr wrap="square" lIns="0" rIns="0" tIns="0" bIns="0">
            <a:noAutofit/>
          </a:bodyPr>
          <a:lstStyle/>
          <a:p>
            <a:pPr algn="l">
              <a:spcAft>
                <a:spcPts val="0"/>
              </a:spcAft>
            </a:pPr>
            <a:r>
              <a:rPr sz="1100" b="0" i="0">
                <a:solidFill>
                  <a:srgbClr val="E6E5DE"/>
                </a:solidFill>
                <a:latin typeface="Calibri"/>
              </a:rPr>
              <a:t>3yr avg growth</a:t>
            </a:r>
          </a:p>
        </p:txBody>
      </p:sp>
      <p:sp>
        <p:nvSpPr>
          <p:cNvPr id="16" name="TextBox 15"/>
          <p:cNvSpPr txBox="1"/>
          <p:nvPr/>
        </p:nvSpPr>
        <p:spPr>
          <a:xfrm>
            <a:off x="2697480" y="3346704"/>
            <a:ext cx="1828800" cy="256032"/>
          </a:xfrm>
          <a:prstGeom prst="rect">
            <a:avLst/>
          </a:prstGeom>
          <a:noFill/>
        </p:spPr>
        <p:txBody>
          <a:bodyPr wrap="square" lIns="0" rIns="0" tIns="0" bIns="0">
            <a:noAutofit/>
          </a:bodyPr>
          <a:lstStyle/>
          <a:p>
            <a:pPr algn="l"/>
            <a:r>
              <a:rPr sz="700" b="0" i="1">
                <a:solidFill>
                  <a:srgbClr val="E6E5DE"/>
                </a:solidFill>
                <a:latin typeface="Calibri"/>
              </a:rPr>
              <a:t>Smart50 2025 citation</a:t>
            </a:r>
          </a:p>
        </p:txBody>
      </p:sp>
      <p:sp>
        <p:nvSpPr>
          <p:cNvPr id="17" name="Rectangle 16"/>
          <p:cNvSpPr/>
          <p:nvPr/>
        </p:nvSpPr>
        <p:spPr>
          <a:xfrm>
            <a:off x="480060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00600"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37760" y="2322576"/>
            <a:ext cx="1828800" cy="457200"/>
          </a:xfrm>
          <a:prstGeom prst="rect">
            <a:avLst/>
          </a:prstGeom>
          <a:noFill/>
        </p:spPr>
        <p:txBody>
          <a:bodyPr wrap="square" lIns="0" rIns="0" tIns="0" bIns="0">
            <a:noAutofit/>
          </a:bodyPr>
          <a:lstStyle/>
          <a:p>
            <a:pPr algn="l"/>
            <a:r>
              <a:rPr sz="2800" b="1" i="0">
                <a:solidFill>
                  <a:srgbClr val="FFFFFF"/>
                </a:solidFill>
                <a:latin typeface="Georgia"/>
              </a:rPr>
              <a:t>40</a:t>
            </a:r>
          </a:p>
        </p:txBody>
      </p:sp>
      <p:sp>
        <p:nvSpPr>
          <p:cNvPr id="20" name="TextBox 19"/>
          <p:cNvSpPr txBox="1"/>
          <p:nvPr/>
        </p:nvSpPr>
        <p:spPr>
          <a:xfrm>
            <a:off x="4937760" y="2816352"/>
            <a:ext cx="1828800" cy="457200"/>
          </a:xfrm>
          <a:prstGeom prst="rect">
            <a:avLst/>
          </a:prstGeom>
          <a:noFill/>
        </p:spPr>
        <p:txBody>
          <a:bodyPr wrap="square" lIns="0" rIns="0" tIns="0" bIns="0">
            <a:noAutofit/>
          </a:bodyPr>
          <a:lstStyle/>
          <a:p>
            <a:pPr algn="l">
              <a:spcAft>
                <a:spcPts val="0"/>
              </a:spcAft>
            </a:pPr>
            <a:r>
              <a:rPr sz="1100" b="0" i="0">
                <a:solidFill>
                  <a:srgbClr val="E6E5DE"/>
                </a:solidFill>
                <a:latin typeface="Calibri"/>
              </a:rPr>
              <a:t>Team members</a:t>
            </a:r>
          </a:p>
        </p:txBody>
      </p:sp>
      <p:sp>
        <p:nvSpPr>
          <p:cNvPr id="21" name="TextBox 20"/>
          <p:cNvSpPr txBox="1"/>
          <p:nvPr/>
        </p:nvSpPr>
        <p:spPr>
          <a:xfrm>
            <a:off x="4937760" y="3346704"/>
            <a:ext cx="1828800" cy="256032"/>
          </a:xfrm>
          <a:prstGeom prst="rect">
            <a:avLst/>
          </a:prstGeom>
          <a:noFill/>
        </p:spPr>
        <p:txBody>
          <a:bodyPr wrap="square" lIns="0" rIns="0" tIns="0" bIns="0">
            <a:noAutofit/>
          </a:bodyPr>
          <a:lstStyle/>
          <a:p>
            <a:pPr algn="l"/>
            <a:r>
              <a:rPr sz="700" b="0" i="1">
                <a:solidFill>
                  <a:srgbClr val="E6E5DE"/>
                </a:solidFill>
                <a:latin typeface="Calibri"/>
              </a:rPr>
              <a:t>Inside Retail, Aug 2026</a:t>
            </a:r>
          </a:p>
        </p:txBody>
      </p:sp>
      <p:sp>
        <p:nvSpPr>
          <p:cNvPr id="22" name="Rectangle 21"/>
          <p:cNvSpPr/>
          <p:nvPr/>
        </p:nvSpPr>
        <p:spPr>
          <a:xfrm>
            <a:off x="704088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040880"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78040" y="2322576"/>
            <a:ext cx="1828800" cy="457200"/>
          </a:xfrm>
          <a:prstGeom prst="rect">
            <a:avLst/>
          </a:prstGeom>
          <a:noFill/>
        </p:spPr>
        <p:txBody>
          <a:bodyPr wrap="square" lIns="0" rIns="0" tIns="0" bIns="0">
            <a:noAutofit/>
          </a:bodyPr>
          <a:lstStyle/>
          <a:p>
            <a:pPr algn="l"/>
            <a:r>
              <a:rPr sz="2800" b="1" i="0">
                <a:solidFill>
                  <a:srgbClr val="FFFFFF"/>
                </a:solidFill>
                <a:latin typeface="Georgia"/>
              </a:rPr>
              <a:t>2020</a:t>
            </a:r>
          </a:p>
        </p:txBody>
      </p:sp>
      <p:sp>
        <p:nvSpPr>
          <p:cNvPr id="25" name="TextBox 24"/>
          <p:cNvSpPr txBox="1"/>
          <p:nvPr/>
        </p:nvSpPr>
        <p:spPr>
          <a:xfrm>
            <a:off x="7178040" y="2816352"/>
            <a:ext cx="1828800" cy="457200"/>
          </a:xfrm>
          <a:prstGeom prst="rect">
            <a:avLst/>
          </a:prstGeom>
          <a:noFill/>
        </p:spPr>
        <p:txBody>
          <a:bodyPr wrap="square" lIns="0" rIns="0" tIns="0" bIns="0">
            <a:noAutofit/>
          </a:bodyPr>
          <a:lstStyle/>
          <a:p>
            <a:pPr algn="l">
              <a:spcAft>
                <a:spcPts val="0"/>
              </a:spcAft>
            </a:pPr>
            <a:r>
              <a:rPr sz="1100" b="0" i="0">
                <a:solidFill>
                  <a:srgbClr val="E6E5DE"/>
                </a:solidFill>
                <a:latin typeface="Calibri"/>
              </a:rPr>
              <a:t>Founded</a:t>
            </a:r>
          </a:p>
        </p:txBody>
      </p:sp>
      <p:sp>
        <p:nvSpPr>
          <p:cNvPr id="26" name="TextBox 25"/>
          <p:cNvSpPr txBox="1"/>
          <p:nvPr/>
        </p:nvSpPr>
        <p:spPr>
          <a:xfrm>
            <a:off x="7178040" y="3346704"/>
            <a:ext cx="1828800" cy="256032"/>
          </a:xfrm>
          <a:prstGeom prst="rect">
            <a:avLst/>
          </a:prstGeom>
          <a:noFill/>
        </p:spPr>
        <p:txBody>
          <a:bodyPr wrap="square" lIns="0" rIns="0" tIns="0" bIns="0">
            <a:noAutofit/>
          </a:bodyPr>
          <a:lstStyle/>
          <a:p>
            <a:pPr algn="l"/>
            <a:r>
              <a:rPr sz="700" b="0" i="1">
                <a:solidFill>
                  <a:srgbClr val="E6E5DE"/>
                </a:solidFill>
                <a:latin typeface="Calibri"/>
              </a:rPr>
              <a:t>SmartCompany profile</a:t>
            </a:r>
          </a:p>
        </p:txBody>
      </p:sp>
      <p:sp>
        <p:nvSpPr>
          <p:cNvPr id="27" name="Rectangle 26"/>
          <p:cNvSpPr/>
          <p:nvPr/>
        </p:nvSpPr>
        <p:spPr>
          <a:xfrm>
            <a:off x="928116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281160"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18320" y="2322576"/>
            <a:ext cx="1828800" cy="457200"/>
          </a:xfrm>
          <a:prstGeom prst="rect">
            <a:avLst/>
          </a:prstGeom>
          <a:noFill/>
        </p:spPr>
        <p:txBody>
          <a:bodyPr wrap="square" lIns="0" rIns="0" tIns="0" bIns="0">
            <a:noAutofit/>
          </a:bodyPr>
          <a:lstStyle/>
          <a:p>
            <a:pPr algn="l"/>
            <a:r>
              <a:rPr sz="2800" b="1" i="0">
                <a:solidFill>
                  <a:srgbClr val="FFFFFF"/>
                </a:solidFill>
                <a:latin typeface="Georgia"/>
              </a:rPr>
              <a:t>4</a:t>
            </a:r>
          </a:p>
        </p:txBody>
      </p:sp>
      <p:sp>
        <p:nvSpPr>
          <p:cNvPr id="30" name="TextBox 29"/>
          <p:cNvSpPr txBox="1"/>
          <p:nvPr/>
        </p:nvSpPr>
        <p:spPr>
          <a:xfrm>
            <a:off x="9418320" y="2816352"/>
            <a:ext cx="1828800" cy="457200"/>
          </a:xfrm>
          <a:prstGeom prst="rect">
            <a:avLst/>
          </a:prstGeom>
          <a:noFill/>
        </p:spPr>
        <p:txBody>
          <a:bodyPr wrap="square" lIns="0" rIns="0" tIns="0" bIns="0">
            <a:noAutofit/>
          </a:bodyPr>
          <a:lstStyle/>
          <a:p>
            <a:pPr algn="l">
              <a:spcAft>
                <a:spcPts val="0"/>
              </a:spcAft>
            </a:pPr>
            <a:r>
              <a:rPr sz="1100" b="0" i="0">
                <a:solidFill>
                  <a:srgbClr val="E6E5DE"/>
                </a:solidFill>
                <a:latin typeface="Calibri"/>
              </a:rPr>
              <a:t>Markets</a:t>
            </a:r>
          </a:p>
          <a:p>
            <a:pPr algn="l">
              <a:spcAft>
                <a:spcPts val="0"/>
              </a:spcAft>
            </a:pPr>
            <a:r>
              <a:rPr sz="1100" b="0" i="0">
                <a:solidFill>
                  <a:srgbClr val="E6E5DE"/>
                </a:solidFill>
                <a:latin typeface="Calibri"/>
              </a:rPr>
              <a:t>selling in</a:t>
            </a:r>
          </a:p>
        </p:txBody>
      </p:sp>
      <p:sp>
        <p:nvSpPr>
          <p:cNvPr id="31" name="TextBox 30"/>
          <p:cNvSpPr txBox="1"/>
          <p:nvPr/>
        </p:nvSpPr>
        <p:spPr>
          <a:xfrm>
            <a:off x="9418320" y="3346704"/>
            <a:ext cx="1828800" cy="256032"/>
          </a:xfrm>
          <a:prstGeom prst="rect">
            <a:avLst/>
          </a:prstGeom>
          <a:noFill/>
        </p:spPr>
        <p:txBody>
          <a:bodyPr wrap="square" lIns="0" rIns="0" tIns="0" bIns="0">
            <a:noAutofit/>
          </a:bodyPr>
          <a:lstStyle/>
          <a:p>
            <a:pPr algn="l"/>
            <a:r>
              <a:rPr sz="700" b="0" i="1">
                <a:solidFill>
                  <a:srgbClr val="E6E5DE"/>
                </a:solidFill>
                <a:latin typeface="Calibri"/>
              </a:rPr>
              <a:t>Inside Retail, Aug 2026</a:t>
            </a:r>
          </a:p>
        </p:txBody>
      </p:sp>
      <p:sp>
        <p:nvSpPr>
          <p:cNvPr id="32" name="TextBox 31"/>
          <p:cNvSpPr txBox="1"/>
          <p:nvPr/>
        </p:nvSpPr>
        <p:spPr>
          <a:xfrm>
            <a:off x="320040" y="3886200"/>
            <a:ext cx="4023360" cy="274320"/>
          </a:xfrm>
          <a:prstGeom prst="rect">
            <a:avLst/>
          </a:prstGeom>
          <a:noFill/>
        </p:spPr>
        <p:txBody>
          <a:bodyPr wrap="square" lIns="0" rIns="0" tIns="0" bIns="0">
            <a:noAutofit/>
          </a:bodyPr>
          <a:lstStyle/>
          <a:p>
            <a:pPr algn="l"/>
            <a:r>
              <a:rPr sz="1100" b="1" i="0">
                <a:solidFill>
                  <a:srgbClr val="01A296"/>
                </a:solidFill>
                <a:latin typeface="Calibri"/>
              </a:rPr>
              <a:t>REVENUE, VERIFIED</a:t>
            </a:r>
          </a:p>
        </p:txBody>
      </p:sp>
      <p:sp>
        <p:nvSpPr>
          <p:cNvPr id="33" name="TextBox 32"/>
          <p:cNvSpPr txBox="1"/>
          <p:nvPr/>
        </p:nvSpPr>
        <p:spPr>
          <a:xfrm>
            <a:off x="2423160" y="4187952"/>
            <a:ext cx="1097280" cy="274320"/>
          </a:xfrm>
          <a:prstGeom prst="rect">
            <a:avLst/>
          </a:prstGeom>
          <a:noFill/>
        </p:spPr>
        <p:txBody>
          <a:bodyPr wrap="square" lIns="0" rIns="0" tIns="0" bIns="0">
            <a:noAutofit/>
          </a:bodyPr>
          <a:lstStyle/>
          <a:p>
            <a:pPr algn="l"/>
            <a:r>
              <a:rPr sz="1300" b="1" i="0">
                <a:solidFill>
                  <a:srgbClr val="000000"/>
                </a:solidFill>
                <a:latin typeface="Georgia"/>
              </a:rPr>
              <a:t>$10M</a:t>
            </a:r>
          </a:p>
        </p:txBody>
      </p:sp>
      <p:sp>
        <p:nvSpPr>
          <p:cNvPr id="34" name="Rectangle 33"/>
          <p:cNvSpPr/>
          <p:nvPr/>
        </p:nvSpPr>
        <p:spPr>
          <a:xfrm>
            <a:off x="2423160" y="4480560"/>
            <a:ext cx="822960" cy="13716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423160" y="5897880"/>
            <a:ext cx="822960" cy="256032"/>
          </a:xfrm>
          <a:prstGeom prst="rect">
            <a:avLst/>
          </a:prstGeom>
          <a:noFill/>
        </p:spPr>
        <p:txBody>
          <a:bodyPr wrap="square" lIns="0" rIns="0" tIns="0" bIns="0">
            <a:noAutofit/>
          </a:bodyPr>
          <a:lstStyle/>
          <a:p>
            <a:pPr algn="l"/>
            <a:r>
              <a:rPr sz="1000" b="0" i="0">
                <a:solidFill>
                  <a:srgbClr val="000000"/>
                </a:solidFill>
                <a:latin typeface="Calibri"/>
              </a:rPr>
              <a:t>2024</a:t>
            </a:r>
          </a:p>
        </p:txBody>
      </p:sp>
      <p:sp>
        <p:nvSpPr>
          <p:cNvPr id="36" name="TextBox 35"/>
          <p:cNvSpPr txBox="1"/>
          <p:nvPr/>
        </p:nvSpPr>
        <p:spPr>
          <a:xfrm>
            <a:off x="777240" y="5239512"/>
            <a:ext cx="1097280" cy="274320"/>
          </a:xfrm>
          <a:prstGeom prst="rect">
            <a:avLst/>
          </a:prstGeom>
          <a:noFill/>
        </p:spPr>
        <p:txBody>
          <a:bodyPr wrap="square" lIns="0" rIns="0" tIns="0" bIns="0">
            <a:noAutofit/>
          </a:bodyPr>
          <a:lstStyle/>
          <a:p>
            <a:pPr algn="l"/>
            <a:r>
              <a:rPr sz="1300" b="1" i="0">
                <a:solidFill>
                  <a:srgbClr val="000000"/>
                </a:solidFill>
                <a:latin typeface="Georgia"/>
              </a:rPr>
              <a:t>$1M</a:t>
            </a:r>
          </a:p>
        </p:txBody>
      </p:sp>
      <p:sp>
        <p:nvSpPr>
          <p:cNvPr id="37" name="Rectangle 36"/>
          <p:cNvSpPr/>
          <p:nvPr/>
        </p:nvSpPr>
        <p:spPr>
          <a:xfrm>
            <a:off x="777240" y="5532120"/>
            <a:ext cx="822960" cy="32004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5897880"/>
            <a:ext cx="822960" cy="256032"/>
          </a:xfrm>
          <a:prstGeom prst="rect">
            <a:avLst/>
          </a:prstGeom>
          <a:noFill/>
        </p:spPr>
        <p:txBody>
          <a:bodyPr wrap="square" lIns="0" rIns="0" tIns="0" bIns="0">
            <a:noAutofit/>
          </a:bodyPr>
          <a:lstStyle/>
          <a:p>
            <a:pPr algn="l"/>
            <a:r>
              <a:rPr sz="1000" b="0" i="0">
                <a:solidFill>
                  <a:srgbClr val="000000"/>
                </a:solidFill>
                <a:latin typeface="Calibri"/>
              </a:rPr>
              <a:t>2021</a:t>
            </a:r>
          </a:p>
        </p:txBody>
      </p:sp>
      <p:sp>
        <p:nvSpPr>
          <p:cNvPr id="39" name="TextBox 38"/>
          <p:cNvSpPr txBox="1"/>
          <p:nvPr/>
        </p:nvSpPr>
        <p:spPr>
          <a:xfrm>
            <a:off x="320040" y="6217920"/>
            <a:ext cx="4023360" cy="274320"/>
          </a:xfrm>
          <a:prstGeom prst="rect">
            <a:avLst/>
          </a:prstGeom>
          <a:noFill/>
        </p:spPr>
        <p:txBody>
          <a:bodyPr wrap="square" lIns="0" rIns="0" tIns="0" bIns="0">
            <a:noAutofit/>
          </a:bodyPr>
          <a:lstStyle/>
          <a:p>
            <a:pPr algn="l"/>
            <a:r>
              <a:rPr sz="700" b="0" i="1">
                <a:solidFill>
                  <a:srgbClr val="000000"/>
                </a:solidFill>
                <a:latin typeface="Calibri"/>
              </a:rPr>
              <a:t>Source: SmartCompany, Smart50 2025 profile (co founder statement)</a:t>
            </a:r>
          </a:p>
        </p:txBody>
      </p:sp>
      <p:sp>
        <p:nvSpPr>
          <p:cNvPr id="40" name="TextBox 39"/>
          <p:cNvSpPr txBox="1"/>
          <p:nvPr/>
        </p:nvSpPr>
        <p:spPr>
          <a:xfrm>
            <a:off x="4709160" y="3886200"/>
            <a:ext cx="7178040" cy="274320"/>
          </a:xfrm>
          <a:prstGeom prst="rect">
            <a:avLst/>
          </a:prstGeom>
          <a:noFill/>
        </p:spPr>
        <p:txBody>
          <a:bodyPr wrap="square" lIns="0" rIns="0" tIns="0" bIns="0">
            <a:noAutofit/>
          </a:bodyPr>
          <a:lstStyle/>
          <a:p>
            <a:pPr algn="l"/>
            <a:r>
              <a:rPr sz="1100" b="1" i="0">
                <a:solidFill>
                  <a:srgbClr val="01A296"/>
                </a:solidFill>
                <a:latin typeface="Calibri"/>
              </a:rPr>
              <a:t>KEY COMMERCIAL SIGNALS</a:t>
            </a:r>
          </a:p>
        </p:txBody>
      </p:sp>
      <p:sp>
        <p:nvSpPr>
          <p:cNvPr id="41" name="TextBox 40"/>
          <p:cNvSpPr txBox="1"/>
          <p:nvPr/>
        </p:nvSpPr>
        <p:spPr>
          <a:xfrm>
            <a:off x="4709160" y="4224528"/>
            <a:ext cx="7178040" cy="2011680"/>
          </a:xfrm>
          <a:prstGeom prst="rect">
            <a:avLst/>
          </a:prstGeom>
          <a:noFill/>
        </p:spPr>
        <p:txBody>
          <a:bodyPr wrap="square" lIns="0" rIns="0" tIns="0" bIns="0">
            <a:noAutofit/>
          </a:bodyPr>
          <a:lstStyle/>
          <a:p>
            <a:pPr algn="l">
              <a:lnSpc>
                <a:spcPct val="105000"/>
              </a:lnSpc>
              <a:spcAft>
                <a:spcPts val="800"/>
              </a:spcAft>
            </a:pPr>
            <a:r>
              <a:rPr sz="1050" b="0" i="0">
                <a:solidFill>
                  <a:srgbClr val="000000"/>
                </a:solidFill>
                <a:latin typeface="Calibri"/>
              </a:rPr>
              <a:t>Revenue grew from $1M in 2021 to $10M in 2024, a tenfold rise. (SmartCompany, Smart50 2025)</a:t>
            </a:r>
          </a:p>
          <a:p>
            <a:pPr algn="l">
              <a:lnSpc>
                <a:spcPct val="105000"/>
              </a:lnSpc>
              <a:spcAft>
                <a:spcPts val="800"/>
              </a:spcAft>
            </a:pPr>
            <a:r>
              <a:rPr sz="1050" b="0" i="0">
                <a:solidFill>
                  <a:srgbClr val="000000"/>
                </a:solidFill>
                <a:latin typeface="Calibri"/>
              </a:rPr>
              <a:t>Ranked 15th on the 2025 Smart50 list, 64% three year average growth. (SmartCompany citation)</a:t>
            </a:r>
          </a:p>
          <a:p>
            <a:pPr algn="l">
              <a:lnSpc>
                <a:spcPct val="105000"/>
              </a:lnSpc>
              <a:spcAft>
                <a:spcPts val="800"/>
              </a:spcAft>
            </a:pPr>
            <a:r>
              <a:rPr sz="1050" b="0" i="0">
                <a:solidFill>
                  <a:srgbClr val="000000"/>
                </a:solidFill>
                <a:latin typeface="Calibri"/>
              </a:rPr>
              <a:t>Opened a permanent flagship at QV Melbourne after pop up trials. (SmartCompany retail coverage)</a:t>
            </a:r>
          </a:p>
          <a:p>
            <a:pPr algn="l">
              <a:lnSpc>
                <a:spcPct val="105000"/>
              </a:lnSpc>
              <a:spcAft>
                <a:spcPts val="800"/>
              </a:spcAft>
            </a:pPr>
            <a:r>
              <a:rPr sz="1050" b="0" i="0">
                <a:solidFill>
                  <a:srgbClr val="000000"/>
                </a:solidFill>
                <a:latin typeface="Calibri"/>
              </a:rPr>
              <a:t>Trades bricks and mortar in Singapore and Malaysia alongside Melbourne. (SmartCompany profile)</a:t>
            </a:r>
          </a:p>
          <a:p>
            <a:pPr algn="l">
              <a:lnSpc>
                <a:spcPct val="105000"/>
              </a:lnSpc>
              <a:spcAft>
                <a:spcPts val="800"/>
              </a:spcAft>
            </a:pPr>
            <a:r>
              <a:rPr sz="1050" b="0" i="0">
                <a:solidFill>
                  <a:srgbClr val="000000"/>
                </a:solidFill>
                <a:latin typeface="Calibri"/>
              </a:rPr>
              <a:t>Launched direct to consumer in the United States, August 2026. (Inside Retail Australia)</a:t>
            </a:r>
          </a:p>
          <a:p>
            <a:pPr algn="l">
              <a:lnSpc>
                <a:spcPct val="105000"/>
              </a:lnSpc>
              <a:spcAft>
                <a:spcPts val="800"/>
              </a:spcAft>
            </a:pPr>
            <a:r>
              <a:rPr sz="1050" b="0" i="0">
                <a:solidFill>
                  <a:srgbClr val="000000"/>
                </a:solidFill>
                <a:latin typeface="Calibri"/>
              </a:rPr>
              <a:t>Team has grown to 40 people supporting the international rollout. (Inside Retail, Aug 2026)</a:t>
            </a:r>
          </a:p>
        </p:txBody>
      </p:sp>
      <p:sp>
        <p:nvSpPr>
          <p:cNvPr id="42" name="TextBox 41"/>
          <p:cNvSpPr txBox="1"/>
          <p:nvPr/>
        </p:nvSpPr>
        <p:spPr>
          <a:xfrm>
            <a:off x="320040" y="6473952"/>
            <a:ext cx="8686800" cy="274320"/>
          </a:xfrm>
          <a:prstGeom prst="rect">
            <a:avLst/>
          </a:prstGeom>
          <a:noFill/>
        </p:spPr>
        <p:txBody>
          <a:bodyPr wrap="square" lIns="0" rIns="0" tIns="0" bIns="0">
            <a:noAutofit/>
          </a:bodyPr>
          <a:lstStyle/>
          <a:p>
            <a:pPr algn="l"/>
            <a:r>
              <a:rPr sz="900" b="0" i="0">
                <a:solidFill>
                  <a:srgbClr val="000000"/>
                </a:solidFill>
                <a:latin typeface="Calibri"/>
              </a:rPr>
              <a:t>Prepared by Nitesh Roopa, CA, Managing Partner, ProfitPulse. Profit-Pulse.com.au</a:t>
            </a:r>
          </a:p>
        </p:txBody>
      </p:sp>
      <p:sp>
        <p:nvSpPr>
          <p:cNvPr id="43" name="TextBox 42"/>
          <p:cNvSpPr txBox="1"/>
          <p:nvPr/>
        </p:nvSpPr>
        <p:spPr>
          <a:xfrm>
            <a:off x="9601200" y="6473952"/>
            <a:ext cx="2267712" cy="274320"/>
          </a:xfrm>
          <a:prstGeom prst="rect">
            <a:avLst/>
          </a:prstGeom>
          <a:noFill/>
        </p:spPr>
        <p:txBody>
          <a:bodyPr wrap="square" lIns="0" rIns="0" tIns="0" bIns="0">
            <a:noAutofit/>
          </a:bodyPr>
          <a:lstStyle/>
          <a:p>
            <a:pPr algn="r"/>
            <a:r>
              <a:rPr sz="900" b="0" i="0">
                <a:solidFill>
                  <a:srgbClr val="000000"/>
                </a:solidFill>
                <a:latin typeface="Calibri"/>
              </a:rPr>
              <a:t>11 Aug 2026</a:t>
            </a:r>
          </a:p>
        </p:txBody>
      </p:sp>
      <p:sp>
        <p:nvSpPr>
          <p:cNvPr id="44" name="Rectangle 43"/>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10896"/>
            <a:ext cx="6858000" cy="365760"/>
          </a:xfrm>
          <a:prstGeom prst="rect">
            <a:avLst/>
          </a:prstGeom>
          <a:noFill/>
        </p:spPr>
        <p:txBody>
          <a:bodyPr wrap="square" lIns="0" rIns="0" tIns="0" bIns="0">
            <a:noAutofit/>
          </a:bodyPr>
          <a:lstStyle/>
          <a:p>
            <a:pPr algn="l"/>
            <a:r>
              <a:rPr sz="1200" b="1" i="0">
                <a:solidFill>
                  <a:srgbClr val="E6E5DE"/>
                </a:solidFill>
                <a:latin typeface="Calibri"/>
              </a:rPr>
              <a:t>THE OPPORTUNITY</a:t>
            </a:r>
          </a:p>
        </p:txBody>
      </p:sp>
      <p:sp>
        <p:nvSpPr>
          <p:cNvPr id="4" name="TextBox 3"/>
          <p:cNvSpPr txBox="1"/>
          <p:nvPr/>
        </p:nvSpPr>
        <p:spPr>
          <a:xfrm>
            <a:off x="8229600" y="310896"/>
            <a:ext cx="3657600" cy="365760"/>
          </a:xfrm>
          <a:prstGeom prst="rect">
            <a:avLst/>
          </a:prstGeom>
          <a:noFill/>
        </p:spPr>
        <p:txBody>
          <a:bodyPr wrap="square" lIns="0" rIns="0" tIns="0" bIns="0">
            <a:noAutofit/>
          </a:bodyPr>
          <a:lstStyle/>
          <a:p>
            <a:pPr algn="r"/>
            <a:r>
              <a:rPr sz="1300" b="1" i="0">
                <a:solidFill>
                  <a:srgbClr val="01A296"/>
                </a:solidFill>
                <a:latin typeface="Calibri"/>
              </a:rPr>
              <a:t>Paire</a:t>
            </a:r>
          </a:p>
        </p:txBody>
      </p:sp>
      <p:sp>
        <p:nvSpPr>
          <p:cNvPr id="5" name="TextBox 4"/>
          <p:cNvSpPr txBox="1"/>
          <p:nvPr/>
        </p:nvSpPr>
        <p:spPr>
          <a:xfrm>
            <a:off x="320040" y="960120"/>
            <a:ext cx="11521440" cy="320040"/>
          </a:xfrm>
          <a:prstGeom prst="rect">
            <a:avLst/>
          </a:prstGeom>
          <a:noFill/>
        </p:spPr>
        <p:txBody>
          <a:bodyPr wrap="square" lIns="0" rIns="0" tIns="0" bIns="0">
            <a:noAutofit/>
          </a:bodyPr>
          <a:lstStyle/>
          <a:p>
            <a:pPr algn="l"/>
            <a:r>
              <a:rPr sz="1400" b="1" i="0">
                <a:solidFill>
                  <a:srgbClr val="000000"/>
                </a:solidFill>
                <a:latin typeface="Georgia"/>
              </a:rPr>
              <a:t>Paire: three commercial observations from ProfitPulse</a:t>
            </a:r>
          </a:p>
        </p:txBody>
      </p:sp>
      <p:sp>
        <p:nvSpPr>
          <p:cNvPr id="6" name="Rectangle 5"/>
          <p:cNvSpPr/>
          <p:nvPr/>
        </p:nvSpPr>
        <p:spPr>
          <a:xfrm>
            <a:off x="91440" y="1417320"/>
            <a:ext cx="4033418" cy="43434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618488"/>
            <a:ext cx="3484778" cy="548640"/>
          </a:xfrm>
          <a:prstGeom prst="rect">
            <a:avLst/>
          </a:prstGeom>
          <a:noFill/>
        </p:spPr>
        <p:txBody>
          <a:bodyPr wrap="square" lIns="0" rIns="0" tIns="0" bIns="0">
            <a:noAutofit/>
          </a:bodyPr>
          <a:lstStyle/>
          <a:p>
            <a:pPr algn="l"/>
            <a:r>
              <a:rPr sz="3400" b="1" i="0">
                <a:solidFill>
                  <a:srgbClr val="000000"/>
                </a:solidFill>
                <a:latin typeface="Georgia"/>
              </a:rPr>
              <a:t>01</a:t>
            </a:r>
          </a:p>
        </p:txBody>
      </p:sp>
      <p:sp>
        <p:nvSpPr>
          <p:cNvPr id="8" name="TextBox 7"/>
          <p:cNvSpPr txBox="1"/>
          <p:nvPr/>
        </p:nvSpPr>
        <p:spPr>
          <a:xfrm>
            <a:off x="365760" y="2258568"/>
            <a:ext cx="3484778" cy="594360"/>
          </a:xfrm>
          <a:prstGeom prst="rect">
            <a:avLst/>
          </a:prstGeom>
          <a:noFill/>
        </p:spPr>
        <p:txBody>
          <a:bodyPr wrap="square" lIns="0" rIns="0" tIns="0" bIns="0">
            <a:noAutofit/>
          </a:bodyPr>
          <a:lstStyle/>
          <a:p>
            <a:pPr algn="l"/>
            <a:r>
              <a:rPr sz="1400" b="1" i="0">
                <a:solidFill>
                  <a:srgbClr val="000000"/>
                </a:solidFill>
                <a:latin typeface="Georgia"/>
              </a:rPr>
              <a:t>Four markets in three years</a:t>
            </a:r>
          </a:p>
        </p:txBody>
      </p:sp>
      <p:sp>
        <p:nvSpPr>
          <p:cNvPr id="9" name="TextBox 8"/>
          <p:cNvSpPr txBox="1"/>
          <p:nvPr/>
        </p:nvSpPr>
        <p:spPr>
          <a:xfrm>
            <a:off x="365760" y="2880360"/>
            <a:ext cx="3484778" cy="2651760"/>
          </a:xfrm>
          <a:prstGeom prst="rect">
            <a:avLst/>
          </a:prstGeom>
          <a:noFill/>
        </p:spPr>
        <p:txBody>
          <a:bodyPr wrap="square" lIns="0" rIns="0" tIns="0" bIns="0">
            <a:noAutofit/>
          </a:bodyPr>
          <a:lstStyle/>
          <a:p>
            <a:pPr algn="l"/>
            <a:r>
              <a:rPr sz="1100" b="0" i="0">
                <a:solidFill>
                  <a:srgbClr val="000000"/>
                </a:solidFill>
                <a:latin typeface="Calibri"/>
              </a:rPr>
              <a:t>Paire has taken direct to consumer retail from a single Melbourne flagship at QV to stores in Singapore and Malaysia, then a United States launch in August 2026. Four markets in six years is rapid capital deployment across inventory, fit out and marketing. The Strategic Growth Diagnostic maps that expansion into one costed twelve month plan before the next market is chosen.</a:t>
            </a:r>
          </a:p>
        </p:txBody>
      </p:sp>
      <p:sp>
        <p:nvSpPr>
          <p:cNvPr id="10" name="Rectangle 9"/>
          <p:cNvSpPr/>
          <p:nvPr/>
        </p:nvSpPr>
        <p:spPr>
          <a:xfrm>
            <a:off x="4124858" y="1417320"/>
            <a:ext cx="4033418" cy="4343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99178" y="1618488"/>
            <a:ext cx="3484778" cy="548640"/>
          </a:xfrm>
          <a:prstGeom prst="rect">
            <a:avLst/>
          </a:prstGeom>
          <a:noFill/>
        </p:spPr>
        <p:txBody>
          <a:bodyPr wrap="square" lIns="0" rIns="0" tIns="0" bIns="0">
            <a:noAutofit/>
          </a:bodyPr>
          <a:lstStyle/>
          <a:p>
            <a:pPr algn="l"/>
            <a:r>
              <a:rPr sz="3400" b="1" i="0">
                <a:solidFill>
                  <a:srgbClr val="E6E5DE"/>
                </a:solidFill>
                <a:latin typeface="Georgia"/>
              </a:rPr>
              <a:t>02</a:t>
            </a:r>
          </a:p>
        </p:txBody>
      </p:sp>
      <p:sp>
        <p:nvSpPr>
          <p:cNvPr id="12" name="TextBox 11"/>
          <p:cNvSpPr txBox="1"/>
          <p:nvPr/>
        </p:nvSpPr>
        <p:spPr>
          <a:xfrm>
            <a:off x="4399178" y="2258568"/>
            <a:ext cx="3484778" cy="594360"/>
          </a:xfrm>
          <a:prstGeom prst="rect">
            <a:avLst/>
          </a:prstGeom>
          <a:noFill/>
        </p:spPr>
        <p:txBody>
          <a:bodyPr wrap="square" lIns="0" rIns="0" tIns="0" bIns="0">
            <a:noAutofit/>
          </a:bodyPr>
          <a:lstStyle/>
          <a:p>
            <a:pPr algn="l"/>
            <a:r>
              <a:rPr sz="1400" b="1" i="0">
                <a:solidFill>
                  <a:srgbClr val="E6E5DE"/>
                </a:solidFill>
                <a:latin typeface="Georgia"/>
              </a:rPr>
              <a:t>Revenue times ten, team times eight</a:t>
            </a:r>
          </a:p>
        </p:txBody>
      </p:sp>
      <p:sp>
        <p:nvSpPr>
          <p:cNvPr id="13" name="TextBox 12"/>
          <p:cNvSpPr txBox="1"/>
          <p:nvPr/>
        </p:nvSpPr>
        <p:spPr>
          <a:xfrm>
            <a:off x="4399178" y="2880360"/>
            <a:ext cx="3484778" cy="2651760"/>
          </a:xfrm>
          <a:prstGeom prst="rect">
            <a:avLst/>
          </a:prstGeom>
          <a:noFill/>
        </p:spPr>
        <p:txBody>
          <a:bodyPr wrap="square" lIns="0" rIns="0" tIns="0" bIns="0">
            <a:noAutofit/>
          </a:bodyPr>
          <a:lstStyle/>
          <a:p>
            <a:pPr algn="l"/>
            <a:r>
              <a:rPr sz="1100" b="0" i="0">
                <a:solidFill>
                  <a:srgbClr val="E6E5DE"/>
                </a:solidFill>
                <a:latin typeface="Calibri"/>
              </a:rPr>
              <a:t>Revenue grew from $1 million in 2021 to $10 million in 2024, and the team has grown to 40 people, yet public coverage names only the two co founders across creative, textile and growth roles. A monthly Fractional CFO Partnership puts a senior financial voice at the table as the business scales into new markets and inventory commitments grow heavier.</a:t>
            </a:r>
          </a:p>
        </p:txBody>
      </p:sp>
      <p:sp>
        <p:nvSpPr>
          <p:cNvPr id="14" name="Rectangle 13"/>
          <p:cNvSpPr/>
          <p:nvPr/>
        </p:nvSpPr>
        <p:spPr>
          <a:xfrm>
            <a:off x="8158276" y="1417320"/>
            <a:ext cx="4033418" cy="4343400"/>
          </a:xfrm>
          <a:prstGeom prst="rect">
            <a:avLst/>
          </a:prstGeom>
          <a:solidFill>
            <a:srgbClr val="E3A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32596" y="1618488"/>
            <a:ext cx="3484778" cy="548640"/>
          </a:xfrm>
          <a:prstGeom prst="rect">
            <a:avLst/>
          </a:prstGeom>
          <a:noFill/>
        </p:spPr>
        <p:txBody>
          <a:bodyPr wrap="square" lIns="0" rIns="0" tIns="0" bIns="0">
            <a:noAutofit/>
          </a:bodyPr>
          <a:lstStyle/>
          <a:p>
            <a:pPr algn="l"/>
            <a:r>
              <a:rPr sz="3400" b="1" i="0">
                <a:solidFill>
                  <a:srgbClr val="000000"/>
                </a:solidFill>
                <a:latin typeface="Georgia"/>
              </a:rPr>
              <a:t>03</a:t>
            </a:r>
          </a:p>
        </p:txBody>
      </p:sp>
      <p:sp>
        <p:nvSpPr>
          <p:cNvPr id="16" name="TextBox 15"/>
          <p:cNvSpPr txBox="1"/>
          <p:nvPr/>
        </p:nvSpPr>
        <p:spPr>
          <a:xfrm>
            <a:off x="8432596" y="2258568"/>
            <a:ext cx="3484778" cy="594360"/>
          </a:xfrm>
          <a:prstGeom prst="rect">
            <a:avLst/>
          </a:prstGeom>
          <a:noFill/>
        </p:spPr>
        <p:txBody>
          <a:bodyPr wrap="square" lIns="0" rIns="0" tIns="0" bIns="0">
            <a:noAutofit/>
          </a:bodyPr>
          <a:lstStyle/>
          <a:p>
            <a:pPr algn="l"/>
            <a:r>
              <a:rPr sz="1400" b="1" i="0">
                <a:solidFill>
                  <a:srgbClr val="000000"/>
                </a:solidFill>
                <a:latin typeface="Georgia"/>
              </a:rPr>
              <a:t>Where the next dollar of capital goes</a:t>
            </a:r>
          </a:p>
        </p:txBody>
      </p:sp>
      <p:sp>
        <p:nvSpPr>
          <p:cNvPr id="17" name="TextBox 16"/>
          <p:cNvSpPr txBox="1"/>
          <p:nvPr/>
        </p:nvSpPr>
        <p:spPr>
          <a:xfrm>
            <a:off x="8432596" y="2880360"/>
            <a:ext cx="3484778" cy="2651760"/>
          </a:xfrm>
          <a:prstGeom prst="rect">
            <a:avLst/>
          </a:prstGeom>
          <a:noFill/>
        </p:spPr>
        <p:txBody>
          <a:bodyPr wrap="square" lIns="0" rIns="0" tIns="0" bIns="0">
            <a:noAutofit/>
          </a:bodyPr>
          <a:lstStyle/>
          <a:p>
            <a:pPr algn="l"/>
            <a:r>
              <a:rPr sz="1100" b="0" i="0">
                <a:solidFill>
                  <a:srgbClr val="000000"/>
                </a:solidFill>
                <a:latin typeface="Calibri"/>
              </a:rPr>
              <a:t>Three new markets, a permanent flagship, and a product range grown from three sock styles to more than 60 lines all draw on the same capital base. A Capital Allocation Review would test how marketing, inventory and fit out spend across Melbourne, Singapore, Malaysia and the United States are earning their return before the next market decision is made.</a:t>
            </a:r>
          </a:p>
        </p:txBody>
      </p:sp>
      <p:sp>
        <p:nvSpPr>
          <p:cNvPr id="18" name="TextBox 17"/>
          <p:cNvSpPr txBox="1"/>
          <p:nvPr/>
        </p:nvSpPr>
        <p:spPr>
          <a:xfrm>
            <a:off x="320040" y="5870448"/>
            <a:ext cx="11521440" cy="457200"/>
          </a:xfrm>
          <a:prstGeom prst="rect">
            <a:avLst/>
          </a:prstGeom>
          <a:noFill/>
        </p:spPr>
        <p:txBody>
          <a:bodyPr wrap="square" lIns="0" rIns="0" tIns="0" bIns="0">
            <a:noAutofit/>
          </a:bodyPr>
          <a:lstStyle/>
          <a:p>
            <a:pPr algn="ctr"/>
            <a:r>
              <a:rPr sz="1050" b="0" i="1">
                <a:solidFill>
                  <a:srgbClr val="000000"/>
                </a:solidFill>
                <a:latin typeface="Calibri"/>
              </a:rPr>
              <a:t>These observations are offered in good faith. Paire has built something genuinely impressive. The question is simply whether the financial architecture matches the ambition.</a:t>
            </a:r>
          </a:p>
        </p:txBody>
      </p:sp>
      <p:sp>
        <p:nvSpPr>
          <p:cNvPr id="19" name="TextBox 18"/>
          <p:cNvSpPr txBox="1"/>
          <p:nvPr/>
        </p:nvSpPr>
        <p:spPr>
          <a:xfrm>
            <a:off x="320040" y="6473952"/>
            <a:ext cx="8686800" cy="274320"/>
          </a:xfrm>
          <a:prstGeom prst="rect">
            <a:avLst/>
          </a:prstGeom>
          <a:noFill/>
        </p:spPr>
        <p:txBody>
          <a:bodyPr wrap="square" lIns="0" rIns="0" tIns="0" bIns="0">
            <a:noAutofit/>
          </a:bodyPr>
          <a:lstStyle/>
          <a:p>
            <a:pPr algn="l"/>
            <a:r>
              <a:rPr sz="900" b="0" i="0">
                <a:solidFill>
                  <a:srgbClr val="000000"/>
                </a:solidFill>
                <a:latin typeface="Calibri"/>
              </a:rPr>
              <a:t>Prepared by Nitesh Roopa, CA, Managing Partner, ProfitPulse. Profit-Pulse.com.au</a:t>
            </a:r>
          </a:p>
        </p:txBody>
      </p:sp>
      <p:sp>
        <p:nvSpPr>
          <p:cNvPr id="20" name="TextBox 19"/>
          <p:cNvSpPr txBox="1"/>
          <p:nvPr/>
        </p:nvSpPr>
        <p:spPr>
          <a:xfrm>
            <a:off x="9601200" y="6473952"/>
            <a:ext cx="2267712" cy="274320"/>
          </a:xfrm>
          <a:prstGeom prst="rect">
            <a:avLst/>
          </a:prstGeom>
          <a:noFill/>
        </p:spPr>
        <p:txBody>
          <a:bodyPr wrap="square" lIns="0" rIns="0" tIns="0" bIns="0">
            <a:noAutofit/>
          </a:bodyPr>
          <a:lstStyle/>
          <a:p>
            <a:pPr algn="r"/>
            <a:r>
              <a:rPr sz="900" b="0" i="0">
                <a:solidFill>
                  <a:srgbClr val="000000"/>
                </a:solidFill>
                <a:latin typeface="Calibri"/>
              </a:rPr>
              <a:t>11 Aug 2026</a:t>
            </a:r>
          </a:p>
        </p:txBody>
      </p:sp>
      <p:sp>
        <p:nvSpPr>
          <p:cNvPr id="21" name="Rectangle 20"/>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10896"/>
            <a:ext cx="6858000" cy="365760"/>
          </a:xfrm>
          <a:prstGeom prst="rect">
            <a:avLst/>
          </a:prstGeom>
          <a:noFill/>
        </p:spPr>
        <p:txBody>
          <a:bodyPr wrap="square" lIns="0" rIns="0" tIns="0" bIns="0">
            <a:noAutofit/>
          </a:bodyPr>
          <a:lstStyle/>
          <a:p>
            <a:pPr algn="l"/>
            <a:r>
              <a:rPr sz="1200" b="1" i="0">
                <a:solidFill>
                  <a:srgbClr val="E6E5DE"/>
                </a:solidFill>
                <a:latin typeface="Calibri"/>
              </a:rPr>
              <a:t>THE RECOMMENDATION</a:t>
            </a:r>
          </a:p>
        </p:txBody>
      </p:sp>
      <p:sp>
        <p:nvSpPr>
          <p:cNvPr id="4" name="TextBox 3"/>
          <p:cNvSpPr txBox="1"/>
          <p:nvPr/>
        </p:nvSpPr>
        <p:spPr>
          <a:xfrm>
            <a:off x="8229600" y="310896"/>
            <a:ext cx="3657600" cy="365760"/>
          </a:xfrm>
          <a:prstGeom prst="rect">
            <a:avLst/>
          </a:prstGeom>
          <a:noFill/>
        </p:spPr>
        <p:txBody>
          <a:bodyPr wrap="square" lIns="0" rIns="0" tIns="0" bIns="0">
            <a:noAutofit/>
          </a:bodyPr>
          <a:lstStyle/>
          <a:p>
            <a:pPr algn="r"/>
            <a:r>
              <a:rPr sz="1300" b="1" i="0">
                <a:solidFill>
                  <a:srgbClr val="01A296"/>
                </a:solidFill>
                <a:latin typeface="Calibri"/>
              </a:rPr>
              <a:t>Paire</a:t>
            </a:r>
          </a:p>
        </p:txBody>
      </p:sp>
      <p:sp>
        <p:nvSpPr>
          <p:cNvPr id="5" name="TextBox 4"/>
          <p:cNvSpPr txBox="1"/>
          <p:nvPr/>
        </p:nvSpPr>
        <p:spPr>
          <a:xfrm>
            <a:off x="320040" y="1051560"/>
            <a:ext cx="6720840" cy="502920"/>
          </a:xfrm>
          <a:prstGeom prst="rect">
            <a:avLst/>
          </a:prstGeom>
          <a:noFill/>
        </p:spPr>
        <p:txBody>
          <a:bodyPr wrap="square" lIns="0" rIns="0" tIns="0" bIns="0">
            <a:noAutofit/>
          </a:bodyPr>
          <a:lstStyle/>
          <a:p>
            <a:pPr algn="l"/>
            <a:r>
              <a:rPr sz="2400" b="1" i="0">
                <a:solidFill>
                  <a:srgbClr val="000000"/>
                </a:solidFill>
                <a:latin typeface="Georgia"/>
              </a:rPr>
              <a:t>Strategic Growth Diagnostic</a:t>
            </a:r>
          </a:p>
        </p:txBody>
      </p:sp>
      <p:sp>
        <p:nvSpPr>
          <p:cNvPr id="6" name="TextBox 5"/>
          <p:cNvSpPr txBox="1"/>
          <p:nvPr/>
        </p:nvSpPr>
        <p:spPr>
          <a:xfrm>
            <a:off x="320040" y="1572768"/>
            <a:ext cx="6720840" cy="365760"/>
          </a:xfrm>
          <a:prstGeom prst="rect">
            <a:avLst/>
          </a:prstGeom>
          <a:noFill/>
        </p:spPr>
        <p:txBody>
          <a:bodyPr wrap="square" lIns="0" rIns="0" tIns="0" bIns="0">
            <a:noAutofit/>
          </a:bodyPr>
          <a:lstStyle/>
          <a:p>
            <a:pPr algn="l"/>
            <a:r>
              <a:rPr sz="1900" b="1" i="0">
                <a:solidFill>
                  <a:srgbClr val="F6A102"/>
                </a:solidFill>
                <a:latin typeface="Georgia"/>
              </a:rPr>
              <a:t>$5,000 one off</a:t>
            </a:r>
          </a:p>
        </p:txBody>
      </p:sp>
      <p:sp>
        <p:nvSpPr>
          <p:cNvPr id="7" name="TextBox 6"/>
          <p:cNvSpPr txBox="1"/>
          <p:nvPr/>
        </p:nvSpPr>
        <p:spPr>
          <a:xfrm>
            <a:off x="320040" y="1993392"/>
            <a:ext cx="6720840" cy="685800"/>
          </a:xfrm>
          <a:prstGeom prst="rect">
            <a:avLst/>
          </a:prstGeom>
          <a:noFill/>
        </p:spPr>
        <p:txBody>
          <a:bodyPr wrap="square" lIns="0" rIns="0" tIns="0" bIns="0">
            <a:noAutofit/>
          </a:bodyPr>
          <a:lstStyle/>
          <a:p>
            <a:pPr algn="l"/>
            <a:r>
              <a:rPr sz="1200" b="0" i="0">
                <a:solidFill>
                  <a:srgbClr val="000000"/>
                </a:solidFill>
                <a:latin typeface="Calibri"/>
              </a:rPr>
              <a:t>A six week engagement mapping revenue, capacity and margin headroom into a 12 month growth plan, with funding and capital allocation steps for the next market spelled out.</a:t>
            </a:r>
          </a:p>
        </p:txBody>
      </p:sp>
      <p:sp>
        <p:nvSpPr>
          <p:cNvPr id="8" name="Rectangle 7"/>
          <p:cNvSpPr/>
          <p:nvPr/>
        </p:nvSpPr>
        <p:spPr>
          <a:xfrm>
            <a:off x="320040" y="2743200"/>
            <a:ext cx="6720840" cy="123444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880360"/>
            <a:ext cx="6263640" cy="320040"/>
          </a:xfrm>
          <a:prstGeom prst="rect">
            <a:avLst/>
          </a:prstGeom>
          <a:noFill/>
        </p:spPr>
        <p:txBody>
          <a:bodyPr wrap="square" lIns="0" rIns="0" tIns="0" bIns="0">
            <a:noAutofit/>
          </a:bodyPr>
          <a:lstStyle/>
          <a:p>
            <a:pPr algn="l"/>
            <a:r>
              <a:rPr sz="1300" b="1" i="0">
                <a:solidFill>
                  <a:srgbClr val="000000"/>
                </a:solidFill>
                <a:latin typeface="Calibri"/>
              </a:rPr>
              <a:t>Step one, answer a few quick questions</a:t>
            </a:r>
          </a:p>
        </p:txBody>
      </p:sp>
      <p:sp>
        <p:nvSpPr>
          <p:cNvPr id="10" name="TextBox 9"/>
          <p:cNvSpPr txBox="1"/>
          <p:nvPr/>
        </p:nvSpPr>
        <p:spPr>
          <a:xfrm>
            <a:off x="548640" y="3218688"/>
            <a:ext cx="6263640" cy="274320"/>
          </a:xfrm>
          <a:prstGeom prst="rect">
            <a:avLst/>
          </a:prstGeom>
          <a:noFill/>
        </p:spPr>
        <p:txBody>
          <a:bodyPr wrap="square" lIns="0" rIns="0" tIns="0" bIns="0">
            <a:noAutofit/>
          </a:bodyPr>
          <a:lstStyle/>
          <a:p>
            <a:pPr algn="l"/>
            <a:r>
              <a:rPr sz="1100" b="0" i="0">
                <a:solidFill>
                  <a:srgbClr val="000000"/>
                </a:solidFill>
                <a:latin typeface="Calibri"/>
              </a:rPr>
              <a:t>See the solutions matched to your size and industry.</a:t>
            </a:r>
          </a:p>
        </p:txBody>
      </p:sp>
      <p:sp>
        <p:nvSpPr>
          <p:cNvPr id="11" name="TextBox 10"/>
          <p:cNvSpPr txBox="1"/>
          <p:nvPr/>
        </p:nvSpPr>
        <p:spPr>
          <a:xfrm>
            <a:off x="548640" y="3547872"/>
            <a:ext cx="6263640" cy="320040"/>
          </a:xfrm>
          <a:prstGeom prst="rect">
            <a:avLst/>
          </a:prstGeom>
          <a:noFill/>
        </p:spPr>
        <p:txBody>
          <a:bodyPr wrap="square" lIns="0" rIns="0" tIns="0" bIns="0">
            <a:noAutofit/>
          </a:bodyPr>
          <a:lstStyle/>
          <a:p>
            <a:pPr algn="l"/>
            <a:r>
              <a:rPr sz="1300" b="1" i="0">
                <a:solidFill>
                  <a:srgbClr val="000000"/>
                </a:solidFill>
                <a:latin typeface="Calibri"/>
              </a:rPr>
              <a:t>profit-pulse.com.au/services/find-your-fit</a:t>
            </a:r>
          </a:p>
        </p:txBody>
      </p:sp>
      <p:sp>
        <p:nvSpPr>
          <p:cNvPr id="12" name="Rectangle 11">
            <a:hlinkClick r:id="rId2"/>
          </p:cNvPr>
          <p:cNvSpPr/>
          <p:nvPr/>
        </p:nvSpPr>
        <p:spPr>
          <a:xfrm>
            <a:off x="548640" y="3547872"/>
            <a:ext cx="62636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0040" y="4160520"/>
            <a:ext cx="6720840" cy="594360"/>
          </a:xfrm>
          <a:prstGeom prst="rect">
            <a:avLst/>
          </a:prstGeom>
          <a:solidFill>
            <a:srgbClr val="FFFFFF"/>
          </a:solidFill>
          <a:ln w="19050">
            <a:solidFill>
              <a:srgbClr val="F6A10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4315968"/>
            <a:ext cx="6172200" cy="320040"/>
          </a:xfrm>
          <a:prstGeom prst="rect">
            <a:avLst/>
          </a:prstGeom>
          <a:noFill/>
        </p:spPr>
        <p:txBody>
          <a:bodyPr wrap="square" lIns="0" rIns="0" tIns="0" bIns="0">
            <a:noAutofit/>
          </a:bodyPr>
          <a:lstStyle/>
          <a:p>
            <a:pPr algn="ctr"/>
            <a:r>
              <a:rPr sz="1300" b="1" i="0">
                <a:solidFill>
                  <a:srgbClr val="F6A102"/>
                </a:solidFill>
                <a:latin typeface="Calibri"/>
              </a:rPr>
              <a:t>Purchase the suggested product now to get started</a:t>
            </a:r>
          </a:p>
        </p:txBody>
      </p:sp>
      <p:sp>
        <p:nvSpPr>
          <p:cNvPr id="15" name="Rectangle 14">
            <a:hlinkClick r:id="rId3"/>
          </p:cNvPr>
          <p:cNvSpPr/>
          <p:nvPr/>
        </p:nvSpPr>
        <p:spPr>
          <a:xfrm>
            <a:off x="320040" y="4160520"/>
            <a:ext cx="6720840" cy="594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4983480"/>
            <a:ext cx="6720840" cy="274320"/>
          </a:xfrm>
          <a:prstGeom prst="rect">
            <a:avLst/>
          </a:prstGeom>
          <a:noFill/>
        </p:spPr>
        <p:txBody>
          <a:bodyPr wrap="square" lIns="0" rIns="0" tIns="0" bIns="0">
            <a:noAutofit/>
          </a:bodyPr>
          <a:lstStyle/>
          <a:p>
            <a:pPr algn="l"/>
            <a:r>
              <a:rPr sz="1100" b="0" i="0">
                <a:solidFill>
                  <a:srgbClr val="000000"/>
                </a:solidFill>
                <a:latin typeface="Calibri"/>
              </a:rPr>
              <a:t>Prefer a conversation first?</a:t>
            </a:r>
          </a:p>
        </p:txBody>
      </p:sp>
      <p:sp>
        <p:nvSpPr>
          <p:cNvPr id="17" name="TextBox 16"/>
          <p:cNvSpPr txBox="1"/>
          <p:nvPr/>
        </p:nvSpPr>
        <p:spPr>
          <a:xfrm>
            <a:off x="320040" y="5285232"/>
            <a:ext cx="6720840" cy="320040"/>
          </a:xfrm>
          <a:prstGeom prst="rect">
            <a:avLst/>
          </a:prstGeom>
          <a:noFill/>
        </p:spPr>
        <p:txBody>
          <a:bodyPr wrap="square" lIns="0" rIns="0" tIns="0" bIns="0">
            <a:noAutofit/>
          </a:bodyPr>
          <a:lstStyle/>
          <a:p>
            <a:pPr algn="l"/>
            <a:r>
              <a:rPr sz="1200" b="1" i="0">
                <a:solidFill>
                  <a:srgbClr val="01A296"/>
                </a:solidFill>
                <a:latin typeface="Calibri"/>
              </a:rPr>
              <a:t>Book a complimentary discovery call</a:t>
            </a:r>
          </a:p>
        </p:txBody>
      </p:sp>
      <p:sp>
        <p:nvSpPr>
          <p:cNvPr id="18" name="Rectangle 17">
            <a:hlinkClick r:id="rId4"/>
          </p:cNvPr>
          <p:cNvSpPr/>
          <p:nvPr/>
        </p:nvSpPr>
        <p:spPr>
          <a:xfrm>
            <a:off x="320040" y="5285232"/>
            <a:ext cx="67208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60920" y="1051560"/>
            <a:ext cx="4507992" cy="50749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60920" y="1051560"/>
            <a:ext cx="4507992"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35240" y="1280160"/>
            <a:ext cx="3959352" cy="365760"/>
          </a:xfrm>
          <a:prstGeom prst="rect">
            <a:avLst/>
          </a:prstGeom>
          <a:noFill/>
        </p:spPr>
        <p:txBody>
          <a:bodyPr wrap="square" lIns="0" rIns="0" tIns="0" bIns="0">
            <a:noAutofit/>
          </a:bodyPr>
          <a:lstStyle/>
          <a:p>
            <a:pPr algn="l"/>
            <a:r>
              <a:rPr sz="1700" b="1" i="0">
                <a:solidFill>
                  <a:srgbClr val="F8C806"/>
                </a:solidFill>
                <a:latin typeface="Georgia"/>
              </a:rPr>
              <a:t>NITESH ROOPA</a:t>
            </a:r>
          </a:p>
        </p:txBody>
      </p:sp>
      <p:sp>
        <p:nvSpPr>
          <p:cNvPr id="22" name="TextBox 21"/>
          <p:cNvSpPr txBox="1"/>
          <p:nvPr/>
        </p:nvSpPr>
        <p:spPr>
          <a:xfrm>
            <a:off x="7635240" y="1664208"/>
            <a:ext cx="3959352" cy="320040"/>
          </a:xfrm>
          <a:prstGeom prst="rect">
            <a:avLst/>
          </a:prstGeom>
          <a:noFill/>
        </p:spPr>
        <p:txBody>
          <a:bodyPr wrap="square" lIns="0" rIns="0" tIns="0" bIns="0">
            <a:noAutofit/>
          </a:bodyPr>
          <a:lstStyle/>
          <a:p>
            <a:pPr algn="l"/>
            <a:r>
              <a:rPr sz="1200" b="0" i="0">
                <a:solidFill>
                  <a:srgbClr val="FFFFFF"/>
                </a:solidFill>
                <a:latin typeface="Calibri"/>
              </a:rPr>
              <a:t>CA, Managing Partner, ProfitPulse</a:t>
            </a:r>
          </a:p>
        </p:txBody>
      </p:sp>
      <p:sp>
        <p:nvSpPr>
          <p:cNvPr id="23" name="Rectangle 22"/>
          <p:cNvSpPr/>
          <p:nvPr/>
        </p:nvSpPr>
        <p:spPr>
          <a:xfrm>
            <a:off x="7635240" y="2084831"/>
            <a:ext cx="3959352" cy="1905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35240" y="2286000"/>
            <a:ext cx="3959352" cy="1371600"/>
          </a:xfrm>
          <a:prstGeom prst="rect">
            <a:avLst/>
          </a:prstGeom>
          <a:noFill/>
        </p:spPr>
        <p:txBody>
          <a:bodyPr wrap="square" lIns="0" rIns="0" tIns="0" bIns="0">
            <a:noAutofit/>
          </a:bodyPr>
          <a:lstStyle/>
          <a:p>
            <a:pPr algn="l">
              <a:spcAft>
                <a:spcPts val="800"/>
              </a:spcAft>
            </a:pPr>
            <a:r>
              <a:rPr sz="1100" b="0" i="0">
                <a:solidFill>
                  <a:srgbClr val="E6E5DE"/>
                </a:solidFill>
                <a:latin typeface="Calibri"/>
              </a:rPr>
              <a:t>16 years across 4 countries</a:t>
            </a:r>
          </a:p>
          <a:p>
            <a:pPr algn="l">
              <a:spcAft>
                <a:spcPts val="800"/>
              </a:spcAft>
            </a:pPr>
            <a:r>
              <a:rPr sz="1100" b="0" i="0">
                <a:solidFill>
                  <a:srgbClr val="E6E5DE"/>
                </a:solidFill>
                <a:latin typeface="Calibri"/>
              </a:rPr>
              <a:t>52 deals executed and managed</a:t>
            </a:r>
          </a:p>
          <a:p>
            <a:pPr algn="l">
              <a:spcAft>
                <a:spcPts val="800"/>
              </a:spcAft>
            </a:pPr>
            <a:r>
              <a:rPr sz="1100" b="0" i="0">
                <a:solidFill>
                  <a:srgbClr val="E6E5DE"/>
                </a:solidFill>
                <a:latin typeface="Calibri"/>
              </a:rPr>
              <a:t>Largest deal: USD 1.3 billion, Cahora Bassa</a:t>
            </a:r>
          </a:p>
          <a:p>
            <a:pPr algn="l">
              <a:spcAft>
                <a:spcPts val="800"/>
              </a:spcAft>
            </a:pPr>
            <a:r>
              <a:rPr sz="1100" b="0" i="0">
                <a:solidFill>
                  <a:srgbClr val="E6E5DE"/>
                </a:solidFill>
                <a:latin typeface="Calibri"/>
              </a:rPr>
              <a:t>Over AUD 10 billion GRBT project value</a:t>
            </a:r>
          </a:p>
        </p:txBody>
      </p:sp>
      <p:sp>
        <p:nvSpPr>
          <p:cNvPr id="25" name="TextBox 24"/>
          <p:cNvSpPr txBox="1"/>
          <p:nvPr/>
        </p:nvSpPr>
        <p:spPr>
          <a:xfrm>
            <a:off x="7635240" y="3931920"/>
            <a:ext cx="3959352" cy="1371600"/>
          </a:xfrm>
          <a:prstGeom prst="rect">
            <a:avLst/>
          </a:prstGeom>
          <a:noFill/>
        </p:spPr>
        <p:txBody>
          <a:bodyPr wrap="square" lIns="0" rIns="0" tIns="0" bIns="0">
            <a:noAutofit/>
          </a:bodyPr>
          <a:lstStyle/>
          <a:p>
            <a:pPr algn="l">
              <a:spcAft>
                <a:spcPts val="600"/>
              </a:spcAft>
            </a:pPr>
            <a:r>
              <a:rPr sz="1100" b="0" i="0">
                <a:solidFill>
                  <a:srgbClr val="01A296"/>
                </a:solidFill>
                <a:latin typeface="Calibri"/>
              </a:rPr>
              <a:t>Profit-Pulse.com.au</a:t>
            </a:r>
          </a:p>
          <a:p>
            <a:pPr algn="l">
              <a:spcAft>
                <a:spcPts val="600"/>
              </a:spcAft>
            </a:pPr>
            <a:r>
              <a:rPr sz="1100" b="0" i="0">
                <a:solidFill>
                  <a:srgbClr val="01A296"/>
                </a:solidFill>
                <a:latin typeface="Calibri"/>
              </a:rPr>
              <a:t>Nitesh@Profit-Pulse.com.au</a:t>
            </a:r>
          </a:p>
          <a:p>
            <a:pPr algn="l">
              <a:spcAft>
                <a:spcPts val="600"/>
              </a:spcAft>
            </a:pPr>
            <a:r>
              <a:rPr sz="1100" b="0" i="0">
                <a:solidFill>
                  <a:srgbClr val="01A296"/>
                </a:solidFill>
                <a:latin typeface="Calibri"/>
              </a:rPr>
              <a:t>+61 411 876 267</a:t>
            </a:r>
          </a:p>
          <a:p>
            <a:pPr algn="l">
              <a:spcAft>
                <a:spcPts val="600"/>
              </a:spcAft>
            </a:pPr>
            <a:r>
              <a:rPr sz="1100" b="0" i="0">
                <a:solidFill>
                  <a:srgbClr val="01A296"/>
                </a:solidFill>
                <a:latin typeface="Calibri"/>
              </a:rPr>
              <a:t>linkedin.com/in/nitesh-roopa-77594163</a:t>
            </a:r>
          </a:p>
        </p:txBody>
      </p:sp>
      <p:sp>
        <p:nvSpPr>
          <p:cNvPr id="26" name="TextBox 25"/>
          <p:cNvSpPr txBox="1"/>
          <p:nvPr/>
        </p:nvSpPr>
        <p:spPr>
          <a:xfrm>
            <a:off x="320040" y="6473952"/>
            <a:ext cx="8686800" cy="274320"/>
          </a:xfrm>
          <a:prstGeom prst="rect">
            <a:avLst/>
          </a:prstGeom>
          <a:noFill/>
        </p:spPr>
        <p:txBody>
          <a:bodyPr wrap="square" lIns="0" rIns="0" tIns="0" bIns="0">
            <a:noAutofit/>
          </a:bodyPr>
          <a:lstStyle/>
          <a:p>
            <a:pPr algn="l"/>
            <a:r>
              <a:rPr sz="900" b="0" i="0">
                <a:solidFill>
                  <a:srgbClr val="000000"/>
                </a:solidFill>
                <a:latin typeface="Calibri"/>
              </a:rPr>
              <a:t>Prepared by Nitesh Roopa, CA, Managing Partner, ProfitPulse. Profit-Pulse.com.au</a:t>
            </a:r>
          </a:p>
        </p:txBody>
      </p:sp>
      <p:sp>
        <p:nvSpPr>
          <p:cNvPr id="27" name="TextBox 26"/>
          <p:cNvSpPr txBox="1"/>
          <p:nvPr/>
        </p:nvSpPr>
        <p:spPr>
          <a:xfrm>
            <a:off x="9601200" y="6473952"/>
            <a:ext cx="2267712" cy="274320"/>
          </a:xfrm>
          <a:prstGeom prst="rect">
            <a:avLst/>
          </a:prstGeom>
          <a:noFill/>
        </p:spPr>
        <p:txBody>
          <a:bodyPr wrap="square" lIns="0" rIns="0" tIns="0" bIns="0">
            <a:noAutofit/>
          </a:bodyPr>
          <a:lstStyle/>
          <a:p>
            <a:pPr algn="r"/>
            <a:r>
              <a:rPr sz="900" b="0" i="0">
                <a:solidFill>
                  <a:srgbClr val="000000"/>
                </a:solidFill>
                <a:latin typeface="Calibri"/>
              </a:rPr>
              <a:t>11 Aug 2026</a:t>
            </a:r>
          </a:p>
        </p:txBody>
      </p:sp>
      <p:sp>
        <p:nvSpPr>
          <p:cNvPr id="28" name="Rectangle 27"/>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