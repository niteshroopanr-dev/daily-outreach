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cNi9AUd9e9iodlC8sn3ks0k"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92608"/>
            <a:ext cx="6400800" cy="320040"/>
          </a:xfrm>
          <a:prstGeom prst="rect">
            <a:avLst/>
          </a:prstGeom>
          <a:noFill/>
        </p:spPr>
        <p:txBody>
          <a:bodyPr wrap="square" lIns="0" rIns="0" tIns="0" bIns="0">
            <a:spAutoFit/>
          </a:bodyPr>
          <a:lstStyle/>
          <a:p>
            <a:pPr algn="l"/>
            <a:r>
              <a:rPr sz="1200" b="1" i="0">
                <a:solidFill>
                  <a:srgbClr val="E3A712"/>
                </a:solidFill>
                <a:latin typeface="Liberation Sans"/>
              </a:rPr>
              <a:t>COMMERCIAL INTELLIGENCE BRIEF</a:t>
            </a:r>
          </a:p>
        </p:txBody>
      </p:sp>
      <p:sp>
        <p:nvSpPr>
          <p:cNvPr id="4" name="TextBox 3"/>
          <p:cNvSpPr txBox="1"/>
          <p:nvPr/>
        </p:nvSpPr>
        <p:spPr>
          <a:xfrm>
            <a:off x="8686800" y="292608"/>
            <a:ext cx="3108960" cy="320040"/>
          </a:xfrm>
          <a:prstGeom prst="rect">
            <a:avLst/>
          </a:prstGeom>
          <a:noFill/>
        </p:spPr>
        <p:txBody>
          <a:bodyPr wrap="square" lIns="0" rIns="0" tIns="0" bIns="0">
            <a:spAutoFit/>
          </a:bodyPr>
          <a:lstStyle/>
          <a:p>
            <a:pPr algn="r"/>
            <a:r>
              <a:rPr sz="1200" b="1" i="0">
                <a:solidFill>
                  <a:srgbClr val="01A296"/>
                </a:solidFill>
                <a:latin typeface="Liberation Sans"/>
              </a:rPr>
              <a:t>PROFITPULSE</a:t>
            </a:r>
          </a:p>
        </p:txBody>
      </p:sp>
      <p:sp>
        <p:nvSpPr>
          <p:cNvPr id="5" name="TextBox 4"/>
          <p:cNvSpPr txBox="1"/>
          <p:nvPr/>
        </p:nvSpPr>
        <p:spPr>
          <a:xfrm>
            <a:off x="365760" y="658368"/>
            <a:ext cx="8229600" cy="914400"/>
          </a:xfrm>
          <a:prstGeom prst="rect">
            <a:avLst/>
          </a:prstGeom>
          <a:noFill/>
        </p:spPr>
        <p:txBody>
          <a:bodyPr wrap="square" lIns="0" rIns="0" tIns="0" bIns="0">
            <a:spAutoFit/>
          </a:bodyPr>
          <a:lstStyle/>
          <a:p>
            <a:pPr algn="l"/>
            <a:r>
              <a:rPr sz="5400" b="1" i="0">
                <a:solidFill>
                  <a:srgbClr val="F8C806"/>
                </a:solidFill>
                <a:latin typeface="Liberation Serif"/>
              </a:rPr>
              <a:t>Attekus</a:t>
            </a:r>
          </a:p>
        </p:txBody>
      </p:sp>
      <p:sp>
        <p:nvSpPr>
          <p:cNvPr id="6" name="TextBox 5"/>
          <p:cNvSpPr txBox="1"/>
          <p:nvPr/>
        </p:nvSpPr>
        <p:spPr>
          <a:xfrm>
            <a:off x="365760" y="1536192"/>
            <a:ext cx="10515600" cy="365760"/>
          </a:xfrm>
          <a:prstGeom prst="rect">
            <a:avLst/>
          </a:prstGeom>
          <a:noFill/>
        </p:spPr>
        <p:txBody>
          <a:bodyPr wrap="square" lIns="0" rIns="0" tIns="0" bIns="0">
            <a:spAutoFit/>
          </a:bodyPr>
          <a:lstStyle/>
          <a:p>
            <a:pPr algn="l"/>
            <a:r>
              <a:rPr sz="1600" b="0" i="0">
                <a:solidFill>
                  <a:srgbClr val="FFFFFF"/>
                </a:solidFill>
                <a:latin typeface="Liberation Sans"/>
              </a:rPr>
              <a:t>Cloud based booking and event software for councils, Brisbane based</a:t>
            </a:r>
          </a:p>
        </p:txBody>
      </p:sp>
      <p:sp>
        <p:nvSpPr>
          <p:cNvPr id="7" name="Rectangle 6"/>
          <p:cNvSpPr/>
          <p:nvPr/>
        </p:nvSpPr>
        <p:spPr>
          <a:xfrm>
            <a:off x="365760" y="1938528"/>
            <a:ext cx="1143000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$9.2M</a:t>
            </a:r>
          </a:p>
        </p:txBody>
      </p:sp>
      <p:sp>
        <p:nvSpPr>
          <p:cNvPr id="11" name="TextBox 10"/>
          <p:cNvSpPr txBox="1"/>
          <p:nvPr/>
        </p:nvSpPr>
        <p:spPr>
          <a:xfrm>
            <a:off x="475488"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FY2025 revenue</a:t>
            </a:r>
          </a:p>
          <a:p>
            <a:pPr algn="l">
              <a:lnSpc>
                <a:spcPct val="100000"/>
              </a:lnSpc>
            </a:pPr>
            <a:r>
              <a:rPr sz="1100" b="0" i="0">
                <a:solidFill>
                  <a:srgbClr val="E6E5DE"/>
                </a:solidFill>
                <a:latin typeface="Liberation Sans"/>
              </a:rPr>
              <a:t>reported</a:t>
            </a:r>
          </a:p>
        </p:txBody>
      </p:sp>
      <p:sp>
        <p:nvSpPr>
          <p:cNvPr id="12" name="TextBox 11"/>
          <p:cNvSpPr txBox="1"/>
          <p:nvPr/>
        </p:nvSpPr>
        <p:spPr>
          <a:xfrm>
            <a:off x="475488"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getlatka.com, Sept 2025</a:t>
            </a:r>
          </a:p>
        </p:txBody>
      </p:sp>
      <p:sp>
        <p:nvSpPr>
          <p:cNvPr id="13" name="Rectangle 12"/>
          <p:cNvSpPr/>
          <p:nvPr/>
        </p:nvSpPr>
        <p:spPr>
          <a:xfrm>
            <a:off x="2276856"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76856"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6584"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$5M</a:t>
            </a:r>
          </a:p>
        </p:txBody>
      </p:sp>
      <p:sp>
        <p:nvSpPr>
          <p:cNvPr id="16" name="TextBox 15"/>
          <p:cNvSpPr txBox="1"/>
          <p:nvPr/>
        </p:nvSpPr>
        <p:spPr>
          <a:xfrm>
            <a:off x="2386584"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First external</a:t>
            </a:r>
          </a:p>
          <a:p>
            <a:pPr algn="l">
              <a:lnSpc>
                <a:spcPct val="100000"/>
              </a:lnSpc>
            </a:pPr>
            <a:r>
              <a:rPr sz="1100" b="0" i="0">
                <a:solidFill>
                  <a:srgbClr val="E6E5DE"/>
                </a:solidFill>
                <a:latin typeface="Liberation Sans"/>
              </a:rPr>
              <a:t>capital raised</a:t>
            </a:r>
          </a:p>
        </p:txBody>
      </p:sp>
      <p:sp>
        <p:nvSpPr>
          <p:cNvPr id="17" name="TextBox 16"/>
          <p:cNvSpPr txBox="1"/>
          <p:nvPr/>
        </p:nvSpPr>
        <p:spPr>
          <a:xfrm>
            <a:off x="2386584"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QIC Ventures, Oct 2024</a:t>
            </a:r>
          </a:p>
        </p:txBody>
      </p:sp>
      <p:sp>
        <p:nvSpPr>
          <p:cNvPr id="18" name="Rectangle 17"/>
          <p:cNvSpPr/>
          <p:nvPr/>
        </p:nvSpPr>
        <p:spPr>
          <a:xfrm>
            <a:off x="4187952"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87952"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20%</a:t>
            </a:r>
          </a:p>
        </p:txBody>
      </p:sp>
      <p:sp>
        <p:nvSpPr>
          <p:cNvPr id="21" name="TextBox 20"/>
          <p:cNvSpPr txBox="1"/>
          <p:nvPr/>
        </p:nvSpPr>
        <p:spPr>
          <a:xfrm>
            <a:off x="4297680"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Of ANZ councils</a:t>
            </a:r>
          </a:p>
          <a:p>
            <a:pPr algn="l">
              <a:lnSpc>
                <a:spcPct val="100000"/>
              </a:lnSpc>
            </a:pPr>
            <a:r>
              <a:rPr sz="1100" b="0" i="0">
                <a:solidFill>
                  <a:srgbClr val="E6E5DE"/>
                </a:solidFill>
                <a:latin typeface="Liberation Sans"/>
              </a:rPr>
              <a:t>on Bookable</a:t>
            </a:r>
          </a:p>
        </p:txBody>
      </p:sp>
      <p:sp>
        <p:nvSpPr>
          <p:cNvPr id="22" name="TextBox 21"/>
          <p:cNvSpPr txBox="1"/>
          <p:nvPr/>
        </p:nvSpPr>
        <p:spPr>
          <a:xfrm>
            <a:off x="4297680"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Five V Capital profile</a:t>
            </a:r>
          </a:p>
        </p:txBody>
      </p:sp>
      <p:sp>
        <p:nvSpPr>
          <p:cNvPr id="23" name="Rectangle 22"/>
          <p:cNvSpPr/>
          <p:nvPr/>
        </p:nvSpPr>
        <p:spPr>
          <a:xfrm>
            <a:off x="6099048"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42</a:t>
            </a:r>
          </a:p>
        </p:txBody>
      </p:sp>
      <p:sp>
        <p:nvSpPr>
          <p:cNvPr id="26" name="TextBox 25"/>
          <p:cNvSpPr txBox="1"/>
          <p:nvPr/>
        </p:nvSpPr>
        <p:spPr>
          <a:xfrm>
            <a:off x="6208776"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People across</a:t>
            </a:r>
          </a:p>
          <a:p>
            <a:pPr algn="l">
              <a:lnSpc>
                <a:spcPct val="100000"/>
              </a:lnSpc>
            </a:pPr>
            <a:r>
              <a:rPr sz="1100" b="0" i="0">
                <a:solidFill>
                  <a:srgbClr val="E6E5DE"/>
                </a:solidFill>
                <a:latin typeface="Liberation Sans"/>
              </a:rPr>
              <a:t>the business</a:t>
            </a:r>
          </a:p>
        </p:txBody>
      </p:sp>
      <p:sp>
        <p:nvSpPr>
          <p:cNvPr id="27" name="TextBox 26"/>
          <p:cNvSpPr txBox="1"/>
          <p:nvPr/>
        </p:nvSpPr>
        <p:spPr>
          <a:xfrm>
            <a:off x="6208776"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getlatka.com profile</a:t>
            </a:r>
          </a:p>
        </p:txBody>
      </p:sp>
      <p:sp>
        <p:nvSpPr>
          <p:cNvPr id="28" name="Rectangle 27"/>
          <p:cNvSpPr/>
          <p:nvPr/>
        </p:nvSpPr>
        <p:spPr>
          <a:xfrm>
            <a:off x="8010144"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0144"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9872"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2017</a:t>
            </a:r>
          </a:p>
        </p:txBody>
      </p:sp>
      <p:sp>
        <p:nvSpPr>
          <p:cNvPr id="31" name="TextBox 30"/>
          <p:cNvSpPr txBox="1"/>
          <p:nvPr/>
        </p:nvSpPr>
        <p:spPr>
          <a:xfrm>
            <a:off x="8119872"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Year founded,</a:t>
            </a:r>
          </a:p>
          <a:p>
            <a:pPr algn="l">
              <a:lnSpc>
                <a:spcPct val="100000"/>
              </a:lnSpc>
            </a:pPr>
            <a:r>
              <a:rPr sz="1100" b="0" i="0">
                <a:solidFill>
                  <a:srgbClr val="E6E5DE"/>
                </a:solidFill>
                <a:latin typeface="Liberation Sans"/>
              </a:rPr>
              <a:t>Brisbane</a:t>
            </a:r>
          </a:p>
        </p:txBody>
      </p:sp>
      <p:sp>
        <p:nvSpPr>
          <p:cNvPr id="32" name="TextBox 31"/>
          <p:cNvSpPr txBox="1"/>
          <p:nvPr/>
        </p:nvSpPr>
        <p:spPr>
          <a:xfrm>
            <a:off x="8119872"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Startup Daily report</a:t>
            </a:r>
          </a:p>
        </p:txBody>
      </p:sp>
      <p:sp>
        <p:nvSpPr>
          <p:cNvPr id="33" name="Rectangle 32"/>
          <p:cNvSpPr/>
          <p:nvPr/>
        </p:nvSpPr>
        <p:spPr>
          <a:xfrm>
            <a:off x="9921240" y="2139696"/>
            <a:ext cx="1810512" cy="169164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21240" y="2139696"/>
            <a:ext cx="1810512"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30968" y="2322576"/>
            <a:ext cx="1591056" cy="502920"/>
          </a:xfrm>
          <a:prstGeom prst="rect">
            <a:avLst/>
          </a:prstGeom>
          <a:noFill/>
        </p:spPr>
        <p:txBody>
          <a:bodyPr wrap="square" lIns="0" rIns="0" tIns="0" bIns="0">
            <a:spAutoFit/>
          </a:bodyPr>
          <a:lstStyle/>
          <a:p>
            <a:pPr algn="l"/>
            <a:r>
              <a:rPr sz="3000" b="1" i="0">
                <a:solidFill>
                  <a:srgbClr val="F8C806"/>
                </a:solidFill>
                <a:latin typeface="Liberation Serif"/>
              </a:rPr>
              <a:t>WINNER</a:t>
            </a:r>
          </a:p>
        </p:txBody>
      </p:sp>
      <p:sp>
        <p:nvSpPr>
          <p:cNvPr id="36" name="TextBox 35"/>
          <p:cNvSpPr txBox="1"/>
          <p:nvPr/>
        </p:nvSpPr>
        <p:spPr>
          <a:xfrm>
            <a:off x="10030968" y="2889504"/>
            <a:ext cx="1591056" cy="548640"/>
          </a:xfrm>
          <a:prstGeom prst="rect">
            <a:avLst/>
          </a:prstGeom>
          <a:noFill/>
        </p:spPr>
        <p:txBody>
          <a:bodyPr wrap="square" lIns="0" rIns="0" tIns="0" bIns="0">
            <a:spAutoFit/>
          </a:bodyPr>
          <a:lstStyle/>
          <a:p>
            <a:pPr algn="l">
              <a:lnSpc>
                <a:spcPct val="100000"/>
              </a:lnSpc>
            </a:pPr>
            <a:r>
              <a:rPr sz="1100" b="0" i="0">
                <a:solidFill>
                  <a:srgbClr val="E6E5DE"/>
                </a:solidFill>
                <a:latin typeface="Liberation Sans"/>
              </a:rPr>
              <a:t>ANZ High Growth</a:t>
            </a:r>
          </a:p>
          <a:p>
            <a:pPr algn="l">
              <a:lnSpc>
                <a:spcPct val="100000"/>
              </a:lnSpc>
            </a:pPr>
            <a:r>
              <a:rPr sz="1100" b="0" i="0">
                <a:solidFill>
                  <a:srgbClr val="E6E5DE"/>
                </a:solidFill>
                <a:latin typeface="Liberation Sans"/>
              </a:rPr>
              <a:t>Award 2025</a:t>
            </a:r>
          </a:p>
        </p:txBody>
      </p:sp>
      <p:sp>
        <p:nvSpPr>
          <p:cNvPr id="37" name="TextBox 36"/>
          <p:cNvSpPr txBox="1"/>
          <p:nvPr/>
        </p:nvSpPr>
        <p:spPr>
          <a:xfrm>
            <a:off x="10030968" y="3511296"/>
            <a:ext cx="1591056" cy="274320"/>
          </a:xfrm>
          <a:prstGeom prst="rect">
            <a:avLst/>
          </a:prstGeom>
          <a:noFill/>
        </p:spPr>
        <p:txBody>
          <a:bodyPr wrap="square" lIns="0" rIns="0" tIns="0" bIns="0">
            <a:spAutoFit/>
          </a:bodyPr>
          <a:lstStyle/>
          <a:p>
            <a:pPr algn="l"/>
            <a:r>
              <a:rPr sz="800" b="0" i="1">
                <a:solidFill>
                  <a:srgbClr val="E3A712"/>
                </a:solidFill>
                <a:latin typeface="Liberation Sans"/>
              </a:rPr>
              <a:t>Lord Mayor Business Awards</a:t>
            </a:r>
          </a:p>
        </p:txBody>
      </p:sp>
      <p:sp>
        <p:nvSpPr>
          <p:cNvPr id="38" name="TextBox 37"/>
          <p:cNvSpPr txBox="1"/>
          <p:nvPr/>
        </p:nvSpPr>
        <p:spPr>
          <a:xfrm>
            <a:off x="365760" y="4041648"/>
            <a:ext cx="5486400" cy="274320"/>
          </a:xfrm>
          <a:prstGeom prst="rect">
            <a:avLst/>
          </a:prstGeom>
          <a:noFill/>
        </p:spPr>
        <p:txBody>
          <a:bodyPr wrap="square" lIns="0" rIns="0" tIns="0" bIns="0">
            <a:spAutoFit/>
          </a:bodyPr>
          <a:lstStyle/>
          <a:p>
            <a:pPr algn="l"/>
            <a:r>
              <a:rPr sz="1300" b="1" i="0">
                <a:solidFill>
                  <a:srgbClr val="01A296"/>
                </a:solidFill>
                <a:latin typeface="Liberation Sans"/>
              </a:rPr>
              <a:t>KEY COMMERCIAL SIGNALS</a:t>
            </a:r>
          </a:p>
        </p:txBody>
      </p:sp>
      <p:sp>
        <p:nvSpPr>
          <p:cNvPr id="39" name="TextBox 38"/>
          <p:cNvSpPr txBox="1"/>
          <p:nvPr/>
        </p:nvSpPr>
        <p:spPr>
          <a:xfrm>
            <a:off x="365760" y="4370832"/>
            <a:ext cx="11338560" cy="2011680"/>
          </a:xfrm>
          <a:prstGeom prst="rect">
            <a:avLst/>
          </a:prstGeom>
          <a:noFill/>
        </p:spPr>
        <p:txBody>
          <a:bodyPr wrap="square" lIns="0" rIns="0" tIns="0" bIns="0">
            <a:spAutoFit/>
          </a:bodyPr>
          <a:lstStyle/>
          <a:p>
            <a:pPr algn="l">
              <a:spcAft>
                <a:spcPts val="700"/>
              </a:spcAft>
            </a:pPr>
            <a:r>
              <a:rPr sz="1300" b="0" i="0">
                <a:solidFill>
                  <a:srgbClr val="E6E5DE"/>
                </a:solidFill>
                <a:latin typeface="Liberation Sans"/>
              </a:rPr>
              <a:t>•  Raised AUD 5 million first ever external round, led by Five V Capital, October 2024.</a:t>
            </a:r>
          </a:p>
          <a:p>
            <a:pPr algn="l">
              <a:spcAft>
                <a:spcPts val="700"/>
              </a:spcAft>
            </a:pPr>
            <a:r>
              <a:rPr sz="1300" b="0" i="0">
                <a:solidFill>
                  <a:srgbClr val="E6E5DE"/>
                </a:solidFill>
                <a:latin typeface="Liberation Sans"/>
              </a:rPr>
              <a:t>•  QIC Ventures joined as co investor in the same institutional funding round.</a:t>
            </a:r>
          </a:p>
          <a:p>
            <a:pPr algn="l">
              <a:spcAft>
                <a:spcPts val="700"/>
              </a:spcAft>
            </a:pPr>
            <a:r>
              <a:rPr sz="1300" b="0" i="0">
                <a:solidFill>
                  <a:srgbClr val="E6E5DE"/>
                </a:solidFill>
                <a:latin typeface="Liberation Sans"/>
              </a:rPr>
              <a:t>•  Named 2025 ANZ High Growth Business at Brisbane Lord Mayor Business Awards.</a:t>
            </a:r>
          </a:p>
          <a:p>
            <a:pPr algn="l">
              <a:spcAft>
                <a:spcPts val="700"/>
              </a:spcAft>
            </a:pPr>
            <a:r>
              <a:rPr sz="1300" b="0" i="0">
                <a:solidFill>
                  <a:srgbClr val="E6E5DE"/>
                </a:solidFill>
                <a:latin typeface="Liberation Sans"/>
              </a:rPr>
              <a:t>•  Bookable platform now used by close to 20 percent of councils across Australia and NZ.</a:t>
            </a:r>
          </a:p>
          <a:p>
            <a:pPr algn="l">
              <a:spcAft>
                <a:spcPts val="700"/>
              </a:spcAft>
            </a:pPr>
            <a:r>
              <a:rPr sz="1300" b="0" i="0">
                <a:solidFill>
                  <a:srgbClr val="E6E5DE"/>
                </a:solidFill>
                <a:latin typeface="Liberation Sans"/>
              </a:rPr>
              <a:t>•  New capital earmarked for UK council entry plus ANZ education and government sectors.</a:t>
            </a:r>
          </a:p>
          <a:p>
            <a:pPr algn="l">
              <a:spcAft>
                <a:spcPts val="700"/>
              </a:spcAft>
            </a:pPr>
            <a:r>
              <a:rPr sz="1300" b="0" i="0">
                <a:solidFill>
                  <a:srgbClr val="E6E5DE"/>
                </a:solidFill>
                <a:latin typeface="Liberation Sans"/>
              </a:rPr>
              <a:t>•  CEO Peter Suchting joined in 2023, leading beyond founder only leadership.</a:t>
            </a:r>
          </a:p>
        </p:txBody>
      </p:sp>
      <p:sp>
        <p:nvSpPr>
          <p:cNvPr id="40" name="TextBox 39"/>
          <p:cNvSpPr txBox="1"/>
          <p:nvPr/>
        </p:nvSpPr>
        <p:spPr>
          <a:xfrm>
            <a:off x="365760" y="6528816"/>
            <a:ext cx="8686800" cy="274320"/>
          </a:xfrm>
          <a:prstGeom prst="rect">
            <a:avLst/>
          </a:prstGeom>
          <a:noFill/>
        </p:spPr>
        <p:txBody>
          <a:bodyPr wrap="square" lIns="0" rIns="0" tIns="0" bIns="0">
            <a:spAutoFit/>
          </a:bodyPr>
          <a:lstStyle/>
          <a:p>
            <a:pPr algn="l"/>
            <a:r>
              <a:rPr sz="900" b="0" i="0">
                <a:solidFill>
                  <a:srgbClr val="E6E5DE"/>
                </a:solidFill>
                <a:latin typeface="Liberation Sans"/>
              </a:rPr>
              <a:t>Prepared by Nitesh Roopa CA, Managing Partner and Founder, ProfitPulse, Profit-Pulse.com.au</a:t>
            </a:r>
          </a:p>
        </p:txBody>
      </p:sp>
      <p:sp>
        <p:nvSpPr>
          <p:cNvPr id="41" name="TextBox 40"/>
          <p:cNvSpPr txBox="1"/>
          <p:nvPr/>
        </p:nvSpPr>
        <p:spPr>
          <a:xfrm>
            <a:off x="9692640" y="6528816"/>
            <a:ext cx="2103120" cy="274320"/>
          </a:xfrm>
          <a:prstGeom prst="rect">
            <a:avLst/>
          </a:prstGeom>
          <a:noFill/>
        </p:spPr>
        <p:txBody>
          <a:bodyPr wrap="square" lIns="0" rIns="0" tIns="0" bIns="0">
            <a:spAutoFit/>
          </a:bodyPr>
          <a:lstStyle/>
          <a:p>
            <a:pPr algn="r"/>
            <a:r>
              <a:rPr sz="900" b="0" i="0">
                <a:solidFill>
                  <a:srgbClr val="E6E5DE"/>
                </a:solidFill>
                <a:latin typeface="Liberation Sans"/>
              </a:rPr>
              <a:t>29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92608"/>
            <a:ext cx="6400800" cy="320040"/>
          </a:xfrm>
          <a:prstGeom prst="rect">
            <a:avLst/>
          </a:prstGeom>
          <a:noFill/>
        </p:spPr>
        <p:txBody>
          <a:bodyPr wrap="square" lIns="0" rIns="0" tIns="0" bIns="0">
            <a:spAutoFit/>
          </a:bodyPr>
          <a:lstStyle/>
          <a:p>
            <a:pPr algn="l"/>
            <a:r>
              <a:rPr sz="2400" b="1" i="0">
                <a:solidFill>
                  <a:srgbClr val="F8C806"/>
                </a:solidFill>
                <a:latin typeface="Liberation Serif"/>
              </a:rPr>
              <a:t>THE OPPORTUNITY</a:t>
            </a:r>
          </a:p>
        </p:txBody>
      </p:sp>
      <p:sp>
        <p:nvSpPr>
          <p:cNvPr id="4" name="TextBox 3"/>
          <p:cNvSpPr txBox="1"/>
          <p:nvPr/>
        </p:nvSpPr>
        <p:spPr>
          <a:xfrm>
            <a:off x="365760" y="749808"/>
            <a:ext cx="11338560" cy="320040"/>
          </a:xfrm>
          <a:prstGeom prst="rect">
            <a:avLst/>
          </a:prstGeom>
          <a:noFill/>
        </p:spPr>
        <p:txBody>
          <a:bodyPr wrap="square" lIns="0" rIns="0" tIns="0" bIns="0">
            <a:spAutoFit/>
          </a:bodyPr>
          <a:lstStyle/>
          <a:p>
            <a:pPr algn="l"/>
            <a:r>
              <a:rPr sz="1400" b="0" i="0">
                <a:solidFill>
                  <a:srgbClr val="FFFFFF"/>
                </a:solidFill>
                <a:latin typeface="Liberation Sans"/>
              </a:rPr>
              <a:t>Attekus, three commercial observations from ProfitPulse</a:t>
            </a:r>
          </a:p>
        </p:txBody>
      </p:sp>
      <p:sp>
        <p:nvSpPr>
          <p:cNvPr id="5" name="Rectangle 4"/>
          <p:cNvSpPr/>
          <p:nvPr/>
        </p:nvSpPr>
        <p:spPr>
          <a:xfrm>
            <a:off x="365760" y="1115568"/>
            <a:ext cx="1143000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3685032"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554480"/>
            <a:ext cx="1371600" cy="548640"/>
          </a:xfrm>
          <a:prstGeom prst="rect">
            <a:avLst/>
          </a:prstGeom>
          <a:noFill/>
        </p:spPr>
        <p:txBody>
          <a:bodyPr wrap="square" lIns="0" rIns="0" tIns="0" bIns="0">
            <a:spAutoFit/>
          </a:bodyPr>
          <a:lstStyle/>
          <a:p>
            <a:pPr algn="l"/>
            <a:r>
              <a:rPr sz="3200" b="1" i="0">
                <a:solidFill>
                  <a:srgbClr val="000000"/>
                </a:solidFill>
                <a:latin typeface="Liberation Serif"/>
              </a:rPr>
              <a:t>01</a:t>
            </a:r>
          </a:p>
        </p:txBody>
      </p:sp>
      <p:sp>
        <p:nvSpPr>
          <p:cNvPr id="8" name="TextBox 7"/>
          <p:cNvSpPr txBox="1"/>
          <p:nvPr/>
        </p:nvSpPr>
        <p:spPr>
          <a:xfrm>
            <a:off x="566928" y="2148840"/>
            <a:ext cx="3282696" cy="640080"/>
          </a:xfrm>
          <a:prstGeom prst="rect">
            <a:avLst/>
          </a:prstGeom>
          <a:noFill/>
        </p:spPr>
        <p:txBody>
          <a:bodyPr wrap="square" lIns="0" rIns="0" tIns="0" bIns="0">
            <a:spAutoFit/>
          </a:bodyPr>
          <a:lstStyle/>
          <a:p>
            <a:pPr algn="l"/>
            <a:r>
              <a:rPr sz="1700" b="1" i="0">
                <a:solidFill>
                  <a:srgbClr val="000000"/>
                </a:solidFill>
                <a:latin typeface="Liberation Serif"/>
              </a:rPr>
              <a:t>New Capital, New Scrutiny</a:t>
            </a:r>
          </a:p>
        </p:txBody>
      </p:sp>
      <p:sp>
        <p:nvSpPr>
          <p:cNvPr id="9" name="TextBox 8"/>
          <p:cNvSpPr txBox="1"/>
          <p:nvPr/>
        </p:nvSpPr>
        <p:spPr>
          <a:xfrm>
            <a:off x="566928" y="2606040"/>
            <a:ext cx="3282696" cy="274320"/>
          </a:xfrm>
          <a:prstGeom prst="rect">
            <a:avLst/>
          </a:prstGeom>
          <a:noFill/>
        </p:spPr>
        <p:txBody>
          <a:bodyPr wrap="square" lIns="0" rIns="0" tIns="0" bIns="0">
            <a:spAutoFit/>
          </a:bodyPr>
          <a:lstStyle/>
          <a:p>
            <a:pPr algn="l"/>
            <a:r>
              <a:rPr sz="900" b="1" i="0">
                <a:solidFill>
                  <a:srgbClr val="000000"/>
                </a:solidFill>
                <a:latin typeface="Liberation Sans"/>
              </a:rPr>
              <a:t>ALIGNED TO THE RECOMMENDED SERVICE</a:t>
            </a:r>
          </a:p>
        </p:txBody>
      </p:sp>
      <p:sp>
        <p:nvSpPr>
          <p:cNvPr id="10" name="TextBox 9"/>
          <p:cNvSpPr txBox="1"/>
          <p:nvPr/>
        </p:nvSpPr>
        <p:spPr>
          <a:xfrm>
            <a:off x="566928" y="2852928"/>
            <a:ext cx="3282696" cy="2468880"/>
          </a:xfrm>
          <a:prstGeom prst="rect">
            <a:avLst/>
          </a:prstGeom>
          <a:noFill/>
        </p:spPr>
        <p:txBody>
          <a:bodyPr wrap="square" lIns="0" rIns="0" tIns="0" bIns="0">
            <a:spAutoFit/>
          </a:bodyPr>
          <a:lstStyle/>
          <a:p>
            <a:pPr algn="l">
              <a:lnSpc>
                <a:spcPct val="118000"/>
              </a:lnSpc>
            </a:pPr>
            <a:r>
              <a:rPr sz="1250" b="0" i="0">
                <a:solidFill>
                  <a:srgbClr val="000000"/>
                </a:solidFill>
                <a:latin typeface="Liberation Sans"/>
              </a:rPr>
              <a:t>Five V Capital and QIC Ventures backed Attekus with its first ever external raise in October 2024, funding entry into the United Kingdom council market plus ANZ education and government agencies. A Capital Allocation Review ranks each expansion path by expected return before further capital is committed.</a:t>
            </a:r>
          </a:p>
        </p:txBody>
      </p:sp>
      <p:sp>
        <p:nvSpPr>
          <p:cNvPr id="11" name="Rectangle 10"/>
          <p:cNvSpPr/>
          <p:nvPr/>
        </p:nvSpPr>
        <p:spPr>
          <a:xfrm>
            <a:off x="4224528" y="1371600"/>
            <a:ext cx="3685032" cy="416052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5696" y="1554480"/>
            <a:ext cx="1371600" cy="548640"/>
          </a:xfrm>
          <a:prstGeom prst="rect">
            <a:avLst/>
          </a:prstGeom>
          <a:noFill/>
        </p:spPr>
        <p:txBody>
          <a:bodyPr wrap="square" lIns="0" rIns="0" tIns="0" bIns="0">
            <a:spAutoFit/>
          </a:bodyPr>
          <a:lstStyle/>
          <a:p>
            <a:pPr algn="l"/>
            <a:r>
              <a:rPr sz="3200" b="1" i="0">
                <a:solidFill>
                  <a:srgbClr val="E6E5DE"/>
                </a:solidFill>
                <a:latin typeface="Liberation Serif"/>
              </a:rPr>
              <a:t>02</a:t>
            </a:r>
          </a:p>
        </p:txBody>
      </p:sp>
      <p:sp>
        <p:nvSpPr>
          <p:cNvPr id="13" name="TextBox 12"/>
          <p:cNvSpPr txBox="1"/>
          <p:nvPr/>
        </p:nvSpPr>
        <p:spPr>
          <a:xfrm>
            <a:off x="4425696" y="2148840"/>
            <a:ext cx="3282696" cy="640080"/>
          </a:xfrm>
          <a:prstGeom prst="rect">
            <a:avLst/>
          </a:prstGeom>
          <a:noFill/>
        </p:spPr>
        <p:txBody>
          <a:bodyPr wrap="square" lIns="0" rIns="0" tIns="0" bIns="0">
            <a:spAutoFit/>
          </a:bodyPr>
          <a:lstStyle/>
          <a:p>
            <a:pPr algn="l"/>
            <a:r>
              <a:rPr sz="1700" b="1" i="0">
                <a:solidFill>
                  <a:srgbClr val="E6E5DE"/>
                </a:solidFill>
                <a:latin typeface="Liberation Serif"/>
              </a:rPr>
              <a:t>A Board That Expects More</a:t>
            </a:r>
          </a:p>
        </p:txBody>
      </p:sp>
      <p:sp>
        <p:nvSpPr>
          <p:cNvPr id="14" name="TextBox 13"/>
          <p:cNvSpPr txBox="1"/>
          <p:nvPr/>
        </p:nvSpPr>
        <p:spPr>
          <a:xfrm>
            <a:off x="4425696" y="2788920"/>
            <a:ext cx="3282696" cy="2468880"/>
          </a:xfrm>
          <a:prstGeom prst="rect">
            <a:avLst/>
          </a:prstGeom>
          <a:noFill/>
        </p:spPr>
        <p:txBody>
          <a:bodyPr wrap="square" lIns="0" rIns="0" tIns="0" bIns="0">
            <a:spAutoFit/>
          </a:bodyPr>
          <a:lstStyle/>
          <a:p>
            <a:pPr algn="l">
              <a:lnSpc>
                <a:spcPct val="118000"/>
              </a:lnSpc>
            </a:pPr>
            <a:r>
              <a:rPr sz="1250" b="0" i="0">
                <a:solidFill>
                  <a:srgbClr val="E6E5DE"/>
                </a:solidFill>
                <a:latin typeface="Liberation Sans"/>
              </a:rPr>
              <a:t>Peter Suchting joined as Chief Executive Officer in 2023, and two institutional shareholders now sit alongside the founders. Reporting built for founder only oversight rarely satisfies venture capital standards. An Annual Plan and Board Pack lifts that reporting rhythm to the standard Five V Capital and QIC Ventures now expect.</a:t>
            </a:r>
          </a:p>
        </p:txBody>
      </p:sp>
      <p:sp>
        <p:nvSpPr>
          <p:cNvPr id="15" name="Rectangle 14"/>
          <p:cNvSpPr/>
          <p:nvPr/>
        </p:nvSpPr>
        <p:spPr>
          <a:xfrm>
            <a:off x="8083296" y="1371600"/>
            <a:ext cx="3685032"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1554480"/>
            <a:ext cx="1371600" cy="548640"/>
          </a:xfrm>
          <a:prstGeom prst="rect">
            <a:avLst/>
          </a:prstGeom>
          <a:noFill/>
        </p:spPr>
        <p:txBody>
          <a:bodyPr wrap="square" lIns="0" rIns="0" tIns="0" bIns="0">
            <a:spAutoFit/>
          </a:bodyPr>
          <a:lstStyle/>
          <a:p>
            <a:pPr algn="l"/>
            <a:r>
              <a:rPr sz="3200" b="1" i="0">
                <a:solidFill>
                  <a:srgbClr val="000000"/>
                </a:solidFill>
                <a:latin typeface="Liberation Serif"/>
              </a:rPr>
              <a:t>03</a:t>
            </a:r>
          </a:p>
        </p:txBody>
      </p:sp>
      <p:sp>
        <p:nvSpPr>
          <p:cNvPr id="17" name="TextBox 16"/>
          <p:cNvSpPr txBox="1"/>
          <p:nvPr/>
        </p:nvSpPr>
        <p:spPr>
          <a:xfrm>
            <a:off x="8284464" y="2148840"/>
            <a:ext cx="3282696" cy="640080"/>
          </a:xfrm>
          <a:prstGeom prst="rect">
            <a:avLst/>
          </a:prstGeom>
          <a:noFill/>
        </p:spPr>
        <p:txBody>
          <a:bodyPr wrap="square" lIns="0" rIns="0" tIns="0" bIns="0">
            <a:spAutoFit/>
          </a:bodyPr>
          <a:lstStyle/>
          <a:p>
            <a:pPr algn="l"/>
            <a:r>
              <a:rPr sz="1700" b="1" i="0">
                <a:solidFill>
                  <a:srgbClr val="000000"/>
                </a:solidFill>
                <a:latin typeface="Liberation Serif"/>
              </a:rPr>
              <a:t>Three Markets, One Plan</a:t>
            </a:r>
          </a:p>
        </p:txBody>
      </p:sp>
      <p:sp>
        <p:nvSpPr>
          <p:cNvPr id="18" name="TextBox 17"/>
          <p:cNvSpPr txBox="1"/>
          <p:nvPr/>
        </p:nvSpPr>
        <p:spPr>
          <a:xfrm>
            <a:off x="8284464" y="2788920"/>
            <a:ext cx="3282696" cy="2468880"/>
          </a:xfrm>
          <a:prstGeom prst="rect">
            <a:avLst/>
          </a:prstGeom>
          <a:noFill/>
        </p:spPr>
        <p:txBody>
          <a:bodyPr wrap="square" lIns="0" rIns="0" tIns="0" bIns="0">
            <a:spAutoFit/>
          </a:bodyPr>
          <a:lstStyle/>
          <a:p>
            <a:pPr algn="l">
              <a:lnSpc>
                <a:spcPct val="118000"/>
              </a:lnSpc>
            </a:pPr>
            <a:r>
              <a:rPr sz="1250" b="0" i="0">
                <a:solidFill>
                  <a:srgbClr val="000000"/>
                </a:solidFill>
                <a:latin typeface="Liberation Sans"/>
              </a:rPr>
              <a:t>Attekus already serves close to 20 percent of councils across Australia and New Zealand. The new capital targets three further markets at once: the United Kingdom, education, and government agencies. A Strategic Growth Diagnostic sequences that expansion into a costed 12 month plan.</a:t>
            </a:r>
          </a:p>
        </p:txBody>
      </p:sp>
      <p:sp>
        <p:nvSpPr>
          <p:cNvPr id="19" name="TextBox 18"/>
          <p:cNvSpPr txBox="1"/>
          <p:nvPr/>
        </p:nvSpPr>
        <p:spPr>
          <a:xfrm>
            <a:off x="365760" y="5742432"/>
            <a:ext cx="11430000" cy="640080"/>
          </a:xfrm>
          <a:prstGeom prst="rect">
            <a:avLst/>
          </a:prstGeom>
          <a:noFill/>
        </p:spPr>
        <p:txBody>
          <a:bodyPr wrap="square" lIns="0" rIns="0" tIns="0" bIns="0">
            <a:spAutoFit/>
          </a:bodyPr>
          <a:lstStyle/>
          <a:p>
            <a:pPr algn="l">
              <a:lnSpc>
                <a:spcPct val="115000"/>
              </a:lnSpc>
            </a:pPr>
            <a:r>
              <a:rPr sz="1300" b="0" i="1">
                <a:solidFill>
                  <a:srgbClr val="E6E5DE"/>
                </a:solidFill>
                <a:latin typeface="Liberation Sans"/>
              </a:rPr>
              <a:t>Seven years of disciplined, capital light growth is a rare foundation. ProfitPulse would welcome the chance to help Attekus put its first outside capital to its best possible use.</a:t>
            </a:r>
          </a:p>
        </p:txBody>
      </p:sp>
      <p:sp>
        <p:nvSpPr>
          <p:cNvPr id="20" name="TextBox 19"/>
          <p:cNvSpPr txBox="1"/>
          <p:nvPr/>
        </p:nvSpPr>
        <p:spPr>
          <a:xfrm>
            <a:off x="365760" y="6528816"/>
            <a:ext cx="8686800" cy="274320"/>
          </a:xfrm>
          <a:prstGeom prst="rect">
            <a:avLst/>
          </a:prstGeom>
          <a:noFill/>
        </p:spPr>
        <p:txBody>
          <a:bodyPr wrap="square" lIns="0" rIns="0" tIns="0" bIns="0">
            <a:spAutoFit/>
          </a:bodyPr>
          <a:lstStyle/>
          <a:p>
            <a:pPr algn="l"/>
            <a:r>
              <a:rPr sz="900" b="0" i="0">
                <a:solidFill>
                  <a:srgbClr val="E6E5DE"/>
                </a:solidFill>
                <a:latin typeface="Liberation Sans"/>
              </a:rPr>
              <a:t>Prepared by Nitesh Roopa CA, Managing Partner and Founder, ProfitPulse, Profit-Pulse.com.au</a:t>
            </a:r>
          </a:p>
        </p:txBody>
      </p:sp>
      <p:sp>
        <p:nvSpPr>
          <p:cNvPr id="21" name="TextBox 20"/>
          <p:cNvSpPr txBox="1"/>
          <p:nvPr/>
        </p:nvSpPr>
        <p:spPr>
          <a:xfrm>
            <a:off x="9692640" y="6528816"/>
            <a:ext cx="2103120" cy="274320"/>
          </a:xfrm>
          <a:prstGeom prst="rect">
            <a:avLst/>
          </a:prstGeom>
          <a:noFill/>
        </p:spPr>
        <p:txBody>
          <a:bodyPr wrap="square" lIns="0" rIns="0" tIns="0" bIns="0">
            <a:spAutoFit/>
          </a:bodyPr>
          <a:lstStyle/>
          <a:p>
            <a:pPr algn="r"/>
            <a:r>
              <a:rPr sz="900" b="0" i="0">
                <a:solidFill>
                  <a:srgbClr val="E6E5DE"/>
                </a:solidFill>
                <a:latin typeface="Liberation Sans"/>
              </a:rPr>
              <a:t>29 Aug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92608"/>
            <a:ext cx="7315200" cy="320040"/>
          </a:xfrm>
          <a:prstGeom prst="rect">
            <a:avLst/>
          </a:prstGeom>
          <a:noFill/>
        </p:spPr>
        <p:txBody>
          <a:bodyPr wrap="square" lIns="0" rIns="0" tIns="0" bIns="0">
            <a:spAutoFit/>
          </a:bodyPr>
          <a:lstStyle/>
          <a:p>
            <a:pPr algn="l"/>
            <a:r>
              <a:rPr sz="2400" b="1" i="0">
                <a:solidFill>
                  <a:srgbClr val="F8C806"/>
                </a:solidFill>
                <a:latin typeface="Liberation Serif"/>
              </a:rPr>
              <a:t>THE RECOMMENDATION</a:t>
            </a:r>
          </a:p>
        </p:txBody>
      </p:sp>
      <p:sp>
        <p:nvSpPr>
          <p:cNvPr id="4" name="Rectangle 3"/>
          <p:cNvSpPr/>
          <p:nvPr/>
        </p:nvSpPr>
        <p:spPr>
          <a:xfrm>
            <a:off x="365760" y="749808"/>
            <a:ext cx="1143000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0120"/>
            <a:ext cx="6766560" cy="502920"/>
          </a:xfrm>
          <a:prstGeom prst="rect">
            <a:avLst/>
          </a:prstGeom>
          <a:noFill/>
        </p:spPr>
        <p:txBody>
          <a:bodyPr wrap="square" lIns="0" rIns="0" tIns="0" bIns="0">
            <a:spAutoFit/>
          </a:bodyPr>
          <a:lstStyle/>
          <a:p>
            <a:pPr algn="l"/>
            <a:r>
              <a:rPr sz="2700" b="1" i="0">
                <a:solidFill>
                  <a:srgbClr val="F8C806"/>
                </a:solidFill>
                <a:latin typeface="Liberation Serif"/>
              </a:rPr>
              <a:t>Capital Allocation Review</a:t>
            </a:r>
          </a:p>
        </p:txBody>
      </p:sp>
      <p:sp>
        <p:nvSpPr>
          <p:cNvPr id="6" name="TextBox 5"/>
          <p:cNvSpPr txBox="1"/>
          <p:nvPr/>
        </p:nvSpPr>
        <p:spPr>
          <a:xfrm>
            <a:off x="365760" y="1481328"/>
            <a:ext cx="6766560" cy="365760"/>
          </a:xfrm>
          <a:prstGeom prst="rect">
            <a:avLst/>
          </a:prstGeom>
          <a:noFill/>
        </p:spPr>
        <p:txBody>
          <a:bodyPr wrap="square" lIns="0" rIns="0" tIns="0" bIns="0">
            <a:spAutoFit/>
          </a:bodyPr>
          <a:lstStyle/>
          <a:p>
            <a:pPr algn="l"/>
            <a:r>
              <a:rPr sz="1600" b="1" i="0">
                <a:solidFill>
                  <a:srgbClr val="FFFFFF"/>
                </a:solidFill>
                <a:latin typeface="Liberation Sans"/>
              </a:rPr>
              <a:t>AUD 6,000 one off</a:t>
            </a:r>
          </a:p>
        </p:txBody>
      </p:sp>
      <p:sp>
        <p:nvSpPr>
          <p:cNvPr id="7" name="TextBox 6"/>
          <p:cNvSpPr txBox="1"/>
          <p:nvPr/>
        </p:nvSpPr>
        <p:spPr>
          <a:xfrm>
            <a:off x="365760" y="1901952"/>
            <a:ext cx="6766560" cy="685800"/>
          </a:xfrm>
          <a:prstGeom prst="rect">
            <a:avLst/>
          </a:prstGeom>
          <a:noFill/>
        </p:spPr>
        <p:txBody>
          <a:bodyPr wrap="square" lIns="0" rIns="0" tIns="0" bIns="0">
            <a:spAutoFit/>
          </a:bodyPr>
          <a:lstStyle/>
          <a:p>
            <a:pPr algn="l">
              <a:lnSpc>
                <a:spcPct val="120000"/>
              </a:lnSpc>
            </a:pPr>
            <a:r>
              <a:rPr sz="1300" b="0" i="0">
                <a:solidFill>
                  <a:srgbClr val="E6E5DE"/>
                </a:solidFill>
                <a:latin typeface="Liberation Sans"/>
              </a:rPr>
              <a:t>An independent ranking of the United Kingdom, education and government expansion paths by expected return, with a redeployment plan the board can act on.</a:t>
            </a:r>
          </a:p>
        </p:txBody>
      </p:sp>
      <p:sp>
        <p:nvSpPr>
          <p:cNvPr id="8" name="Rectangle 7"/>
          <p:cNvSpPr/>
          <p:nvPr/>
        </p:nvSpPr>
        <p:spPr>
          <a:xfrm>
            <a:off x="365760" y="2697480"/>
            <a:ext cx="6766560" cy="1417320"/>
          </a:xfrm>
          <a:prstGeom prst="rect">
            <a:avLst/>
          </a:prstGeom>
          <a:solidFill>
            <a:srgbClr val="000000"/>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834640"/>
            <a:ext cx="6364224" cy="274320"/>
          </a:xfrm>
          <a:prstGeom prst="rect">
            <a:avLst/>
          </a:prstGeom>
          <a:noFill/>
        </p:spPr>
        <p:txBody>
          <a:bodyPr wrap="square" lIns="0" rIns="0" tIns="0" bIns="0">
            <a:spAutoFit/>
          </a:bodyPr>
          <a:lstStyle/>
          <a:p>
            <a:pPr algn="l"/>
            <a:r>
              <a:rPr sz="1100" b="1" i="0">
                <a:solidFill>
                  <a:srgbClr val="01A296"/>
                </a:solidFill>
                <a:latin typeface="Liberation Sans"/>
              </a:rPr>
              <a:t>STEP ONE</a:t>
            </a:r>
          </a:p>
        </p:txBody>
      </p:sp>
      <p:sp>
        <p:nvSpPr>
          <p:cNvPr id="10" name="TextBox 9"/>
          <p:cNvSpPr txBox="1"/>
          <p:nvPr/>
        </p:nvSpPr>
        <p:spPr>
          <a:xfrm>
            <a:off x="566928" y="3127248"/>
            <a:ext cx="6364224" cy="365760"/>
          </a:xfrm>
          <a:prstGeom prst="rect">
            <a:avLst/>
          </a:prstGeom>
          <a:noFill/>
        </p:spPr>
        <p:txBody>
          <a:bodyPr wrap="square" lIns="0" rIns="0" tIns="0" bIns="0">
            <a:spAutoFit/>
          </a:bodyPr>
          <a:lstStyle/>
          <a:p>
            <a:pPr algn="l"/>
            <a:r>
              <a:rPr sz="1300" b="0" i="0">
                <a:solidFill>
                  <a:srgbClr val="FFFFFF"/>
                </a:solidFill>
                <a:latin typeface="Liberation Sans"/>
              </a:rPr>
              <a:t>See the solutions matched to your size and industry</a:t>
            </a:r>
          </a:p>
        </p:txBody>
      </p:sp>
      <p:sp>
        <p:nvSpPr>
          <p:cNvPr id="11" name="TextBox 10"/>
          <p:cNvSpPr txBox="1"/>
          <p:nvPr/>
        </p:nvSpPr>
        <p:spPr>
          <a:xfrm>
            <a:off x="566928" y="3493008"/>
            <a:ext cx="6364224" cy="457200"/>
          </a:xfrm>
          <a:prstGeom prst="rect">
            <a:avLst/>
          </a:prstGeom>
          <a:noFill/>
        </p:spPr>
        <p:txBody>
          <a:bodyPr wrap="square" lIns="0" rIns="0" tIns="0" bIns="0">
            <a:spAutoFit/>
          </a:bodyPr>
          <a:lstStyle/>
          <a:p>
            <a:pPr algn="l"/>
            <a:r>
              <a:rPr sz="1400" b="1" i="0">
                <a:solidFill>
                  <a:srgbClr val="01A296"/>
                </a:solidFill>
                <a:latin typeface="Liberation Sans"/>
                <a:hlinkClick r:id="rId2"/>
              </a:rPr>
              <a:t>profit-pulse.com.au/services/find-your-fit</a:t>
            </a:r>
          </a:p>
        </p:txBody>
      </p:sp>
      <p:sp>
        <p:nvSpPr>
          <p:cNvPr id="12" name="Rectangle 11"/>
          <p:cNvSpPr/>
          <p:nvPr/>
        </p:nvSpPr>
        <p:spPr>
          <a:xfrm>
            <a:off x="365760" y="4251960"/>
            <a:ext cx="6766560" cy="868680"/>
          </a:xfrm>
          <a:prstGeom prst="rect">
            <a:avLst/>
          </a:prstGeom>
          <a:solidFill>
            <a:srgbClr val="000000"/>
          </a:solidFill>
          <a:ln w="1270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434840"/>
            <a:ext cx="6364224" cy="548640"/>
          </a:xfrm>
          <a:prstGeom prst="rect">
            <a:avLst/>
          </a:prstGeom>
          <a:noFill/>
        </p:spPr>
        <p:txBody>
          <a:bodyPr wrap="square" lIns="0" rIns="0" tIns="0" bIns="0">
            <a:spAutoFit/>
          </a:bodyPr>
          <a:lstStyle/>
          <a:p>
            <a:pPr algn="l"/>
            <a:r>
              <a:rPr sz="1400" b="1" i="0">
                <a:solidFill>
                  <a:srgbClr val="F6A102"/>
                </a:solidFill>
                <a:latin typeface="Liberation Sans"/>
                <a:hlinkClick r:id="rId3"/>
              </a:rPr>
              <a:t>Purchase the suggested product now to get started</a:t>
            </a:r>
          </a:p>
        </p:txBody>
      </p:sp>
      <p:sp>
        <p:nvSpPr>
          <p:cNvPr id="14" name="TextBox 13"/>
          <p:cNvSpPr txBox="1"/>
          <p:nvPr/>
        </p:nvSpPr>
        <p:spPr>
          <a:xfrm>
            <a:off x="365760" y="5285232"/>
            <a:ext cx="6766560" cy="320040"/>
          </a:xfrm>
          <a:prstGeom prst="rect">
            <a:avLst/>
          </a:prstGeom>
          <a:noFill/>
        </p:spPr>
        <p:txBody>
          <a:bodyPr wrap="square" lIns="0" rIns="0" tIns="0" bIns="0">
            <a:spAutoFit/>
          </a:bodyPr>
          <a:lstStyle/>
          <a:p>
            <a:pPr algn="l"/>
            <a:r>
              <a:rPr sz="1200" b="0" i="0">
                <a:solidFill>
                  <a:srgbClr val="E6E5DE"/>
                </a:solidFill>
                <a:latin typeface="Liberation Sans"/>
              </a:rPr>
              <a:t>Prefer a conversation first</a:t>
            </a:r>
          </a:p>
        </p:txBody>
      </p:sp>
      <p:sp>
        <p:nvSpPr>
          <p:cNvPr id="15" name="TextBox 14"/>
          <p:cNvSpPr txBox="1"/>
          <p:nvPr/>
        </p:nvSpPr>
        <p:spPr>
          <a:xfrm>
            <a:off x="365760" y="5596128"/>
            <a:ext cx="6766560" cy="365760"/>
          </a:xfrm>
          <a:prstGeom prst="rect">
            <a:avLst/>
          </a:prstGeom>
          <a:noFill/>
        </p:spPr>
        <p:txBody>
          <a:bodyPr wrap="square" lIns="0" rIns="0" tIns="0" bIns="0">
            <a:spAutoFit/>
          </a:bodyPr>
          <a:lstStyle/>
          <a:p>
            <a:pPr algn="l"/>
            <a:r>
              <a:rPr sz="1300" b="1" i="0">
                <a:solidFill>
                  <a:srgbClr val="01A296"/>
                </a:solidFill>
                <a:latin typeface="Liberation Sans"/>
                <a:hlinkClick r:id="rId4"/>
              </a:rPr>
              <a:t>Book a complimentary discovery call</a:t>
            </a:r>
          </a:p>
        </p:txBody>
      </p:sp>
      <p:sp>
        <p:nvSpPr>
          <p:cNvPr id="16" name="Rectangle 15"/>
          <p:cNvSpPr/>
          <p:nvPr/>
        </p:nvSpPr>
        <p:spPr>
          <a:xfrm>
            <a:off x="7452360" y="960120"/>
            <a:ext cx="4343400" cy="5074920"/>
          </a:xfrm>
          <a:prstGeom prst="rect">
            <a:avLst/>
          </a:prstGeom>
          <a:solidFill>
            <a:srgbClr val="000000"/>
          </a:solidFill>
          <a:ln w="9525">
            <a:solidFill>
              <a:srgbClr val="E6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960120"/>
            <a:ext cx="4343400" cy="54864"/>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1170432"/>
            <a:ext cx="3886200" cy="777240"/>
          </a:xfrm>
          <a:prstGeom prst="rect">
            <a:avLst/>
          </a:prstGeom>
          <a:noFill/>
        </p:spPr>
        <p:txBody>
          <a:bodyPr wrap="square" lIns="0" rIns="0" tIns="0" bIns="0">
            <a:spAutoFit/>
          </a:bodyPr>
          <a:lstStyle/>
          <a:p>
            <a:pPr algn="l">
              <a:lnSpc>
                <a:spcPct val="110000"/>
              </a:lnSpc>
            </a:pPr>
            <a:r>
              <a:rPr sz="1600" b="1" i="0">
                <a:solidFill>
                  <a:srgbClr val="F8C806"/>
                </a:solidFill>
                <a:latin typeface="Liberation Serif"/>
              </a:rPr>
              <a:t>Nitesh Roopa, CA, Managing Partner, ProfitPulse</a:t>
            </a:r>
          </a:p>
        </p:txBody>
      </p:sp>
      <p:sp>
        <p:nvSpPr>
          <p:cNvPr id="19" name="TextBox 18"/>
          <p:cNvSpPr txBox="1"/>
          <p:nvPr/>
        </p:nvSpPr>
        <p:spPr>
          <a:xfrm>
            <a:off x="7680960" y="2084831"/>
            <a:ext cx="3886200" cy="1554480"/>
          </a:xfrm>
          <a:prstGeom prst="rect">
            <a:avLst/>
          </a:prstGeom>
          <a:noFill/>
        </p:spPr>
        <p:txBody>
          <a:bodyPr wrap="square" lIns="0" rIns="0" tIns="0" bIns="0">
            <a:spAutoFit/>
          </a:bodyPr>
          <a:lstStyle/>
          <a:p>
            <a:pPr algn="l">
              <a:lnSpc>
                <a:spcPct val="115000"/>
              </a:lnSpc>
              <a:spcAft>
                <a:spcPts val="800"/>
              </a:spcAft>
            </a:pPr>
            <a:r>
              <a:rPr sz="1250" b="0" i="0">
                <a:solidFill>
                  <a:srgbClr val="E6E5DE"/>
                </a:solidFill>
                <a:latin typeface="Liberation Sans"/>
              </a:rPr>
              <a:t>•  16 years of experience across 4 countries</a:t>
            </a:r>
          </a:p>
          <a:p>
            <a:pPr algn="l">
              <a:lnSpc>
                <a:spcPct val="115000"/>
              </a:lnSpc>
              <a:spcAft>
                <a:spcPts val="800"/>
              </a:spcAft>
            </a:pPr>
            <a:r>
              <a:rPr sz="1250" b="0" i="0">
                <a:solidFill>
                  <a:srgbClr val="E6E5DE"/>
                </a:solidFill>
                <a:latin typeface="Liberation Sans"/>
              </a:rPr>
              <a:t>•  Over 52 deals executed and managed</a:t>
            </a:r>
          </a:p>
          <a:p>
            <a:pPr algn="l">
              <a:lnSpc>
                <a:spcPct val="115000"/>
              </a:lnSpc>
              <a:spcAft>
                <a:spcPts val="800"/>
              </a:spcAft>
            </a:pPr>
            <a:r>
              <a:rPr sz="1250" b="0" i="0">
                <a:solidFill>
                  <a:srgbClr val="E6E5DE"/>
                </a:solidFill>
                <a:latin typeface="Liberation Sans"/>
              </a:rPr>
              <a:t>•  Queensland GRBT project value over AUD 10 billion</a:t>
            </a:r>
          </a:p>
          <a:p>
            <a:pPr algn="l">
              <a:lnSpc>
                <a:spcPct val="115000"/>
              </a:lnSpc>
              <a:spcAft>
                <a:spcPts val="800"/>
              </a:spcAft>
            </a:pPr>
            <a:r>
              <a:rPr sz="1250" b="0" i="0">
                <a:solidFill>
                  <a:srgbClr val="E6E5DE"/>
                </a:solidFill>
                <a:latin typeface="Liberation Sans"/>
              </a:rPr>
              <a:t>•  CA qualification, SAICA South Africa</a:t>
            </a:r>
          </a:p>
        </p:txBody>
      </p:sp>
      <p:sp>
        <p:nvSpPr>
          <p:cNvPr id="20" name="Rectangle 19"/>
          <p:cNvSpPr/>
          <p:nvPr/>
        </p:nvSpPr>
        <p:spPr>
          <a:xfrm>
            <a:off x="7680960" y="3794760"/>
            <a:ext cx="388620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3977639"/>
            <a:ext cx="3886200" cy="1920240"/>
          </a:xfrm>
          <a:prstGeom prst="rect">
            <a:avLst/>
          </a:prstGeom>
          <a:noFill/>
        </p:spPr>
        <p:txBody>
          <a:bodyPr wrap="square" lIns="0" rIns="0" tIns="0" bIns="0">
            <a:spAutoFit/>
          </a:bodyPr>
          <a:lstStyle/>
          <a:p>
            <a:pPr algn="l">
              <a:lnSpc>
                <a:spcPct val="115000"/>
              </a:lnSpc>
              <a:spcAft>
                <a:spcPts val="800"/>
              </a:spcAft>
            </a:pPr>
            <a:r>
              <a:rPr sz="1300" b="0" i="0">
                <a:solidFill>
                  <a:srgbClr val="E6E5DE"/>
                </a:solidFill>
                <a:latin typeface="Liberation Sans"/>
              </a:rPr>
              <a:t>Profit-Pulse.com.au</a:t>
            </a:r>
          </a:p>
          <a:p>
            <a:pPr algn="l">
              <a:lnSpc>
                <a:spcPct val="115000"/>
              </a:lnSpc>
              <a:spcAft>
                <a:spcPts val="800"/>
              </a:spcAft>
            </a:pPr>
            <a:r>
              <a:rPr sz="1300" b="0" i="0">
                <a:solidFill>
                  <a:srgbClr val="01A296"/>
                </a:solidFill>
                <a:latin typeface="Liberation Sans"/>
              </a:rPr>
              <a:t>Nitesh@Profit-Pulse.com.au</a:t>
            </a:r>
          </a:p>
          <a:p>
            <a:pPr algn="l">
              <a:lnSpc>
                <a:spcPct val="115000"/>
              </a:lnSpc>
              <a:spcAft>
                <a:spcPts val="800"/>
              </a:spcAft>
            </a:pPr>
            <a:r>
              <a:rPr sz="1300" b="0" i="0">
                <a:solidFill>
                  <a:srgbClr val="E6E5DE"/>
                </a:solidFill>
                <a:latin typeface="Liberation Sans"/>
              </a:rPr>
              <a:t>+61 411 876 267</a:t>
            </a:r>
          </a:p>
          <a:p>
            <a:pPr algn="l">
              <a:lnSpc>
                <a:spcPct val="115000"/>
              </a:lnSpc>
              <a:spcAft>
                <a:spcPts val="800"/>
              </a:spcAft>
            </a:pPr>
            <a:r>
              <a:rPr sz="1100" b="0" i="0">
                <a:solidFill>
                  <a:srgbClr val="E6E5DE"/>
                </a:solidFill>
                <a:latin typeface="Liberation Sans"/>
              </a:rPr>
              <a:t>linkedin.com/in/nitesh-roopa-77594163</a:t>
            </a:r>
          </a:p>
          <a:p>
            <a:pPr algn="l">
              <a:lnSpc>
                <a:spcPct val="115000"/>
              </a:lnSpc>
              <a:spcAft>
                <a:spcPts val="800"/>
              </a:spcAft>
            </a:pPr>
            <a:r>
              <a:rPr sz="1100" b="0" i="0">
                <a:solidFill>
                  <a:srgbClr val="E6E5DE"/>
                </a:solidFill>
                <a:latin typeface="Liberation Sans"/>
              </a:rPr>
              <a:t>Brisbane, Australia</a:t>
            </a:r>
          </a:p>
        </p:txBody>
      </p:sp>
      <p:sp>
        <p:nvSpPr>
          <p:cNvPr id="22" name="TextBox 21"/>
          <p:cNvSpPr txBox="1"/>
          <p:nvPr/>
        </p:nvSpPr>
        <p:spPr>
          <a:xfrm>
            <a:off x="365760" y="6528816"/>
            <a:ext cx="8686800" cy="274320"/>
          </a:xfrm>
          <a:prstGeom prst="rect">
            <a:avLst/>
          </a:prstGeom>
          <a:noFill/>
        </p:spPr>
        <p:txBody>
          <a:bodyPr wrap="square" lIns="0" rIns="0" tIns="0" bIns="0">
            <a:spAutoFit/>
          </a:bodyPr>
          <a:lstStyle/>
          <a:p>
            <a:pPr algn="l"/>
            <a:r>
              <a:rPr sz="900" b="0" i="0">
                <a:solidFill>
                  <a:srgbClr val="E6E5DE"/>
                </a:solidFill>
                <a:latin typeface="Liberation Sans"/>
              </a:rPr>
              <a:t>Prepared by Nitesh Roopa CA, Managing Partner and Founder, ProfitPulse, Profit-Pulse.com.au</a:t>
            </a:r>
          </a:p>
        </p:txBody>
      </p:sp>
      <p:sp>
        <p:nvSpPr>
          <p:cNvPr id="23" name="TextBox 22"/>
          <p:cNvSpPr txBox="1"/>
          <p:nvPr/>
        </p:nvSpPr>
        <p:spPr>
          <a:xfrm>
            <a:off x="9692640" y="6528816"/>
            <a:ext cx="2103120" cy="274320"/>
          </a:xfrm>
          <a:prstGeom prst="rect">
            <a:avLst/>
          </a:prstGeom>
          <a:noFill/>
        </p:spPr>
        <p:txBody>
          <a:bodyPr wrap="square" lIns="0" rIns="0" tIns="0" bIns="0">
            <a:spAutoFit/>
          </a:bodyPr>
          <a:lstStyle/>
          <a:p>
            <a:pPr algn="r"/>
            <a:r>
              <a:rPr sz="900" b="0" i="0">
                <a:solidFill>
                  <a:srgbClr val="E6E5DE"/>
                </a:solidFill>
                <a:latin typeface="Liberation Sans"/>
              </a:rPr>
              <a:t>29 Aug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