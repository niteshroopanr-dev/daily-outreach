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a:solidFill>
                  <a:srgbClr val="000000"/>
                </a:solidFill>
              </a:rPr>
              <a:t>Revenue, $ millions, Smart50 profile years</a:t>
            </a:r>
          </a:p>
        </c:rich>
      </c:tx>
      <c:layout/>
      <c:overlay val="0"/>
    </c:title>
    <c:autoTitleDeleted val="0"/>
    <c:plotArea>
      <c:barChart>
        <c:barDir val="col"/>
        <c:grouping val="clustered"/>
        <c:ser>
          <c:idx val="0"/>
          <c:order val="0"/>
          <c:tx>
            <c:strRef>
              <c:f>Sheet1!$B$1</c:f>
              <c:strCache>
                <c:ptCount val="1"/>
                <c:pt idx="0">
                  <c:v>Revenue $M</c:v>
                </c:pt>
              </c:strCache>
            </c:strRef>
          </c:tx>
          <c:spPr>
            <a:solidFill>
              <a:srgbClr val="01A296"/>
            </a:solidFill>
          </c:spPr>
          <c:cat>
            <c:strRef>
              <c:f>Sheet1!$A$2:$A$3</c:f>
              <c:strCache>
                <c:ptCount val="2"/>
                <c:pt idx="0">
                  <c:v>2024 profile</c:v>
                </c:pt>
                <c:pt idx="1">
                  <c:v>2025 profile</c:v>
                </c:pt>
              </c:strCache>
            </c:strRef>
          </c:cat>
          <c:val>
            <c:numRef>
              <c:f>Sheet1!$B$2:$B$3</c:f>
              <c:numCache>
                <c:formatCode>General</c:formatCode>
                <c:ptCount val="2"/>
                <c:pt idx="0">
                  <c:v>7.3</c:v>
                </c:pt>
                <c:pt idx="1">
                  <c:v>13.0</c:v>
                </c:pt>
              </c:numCache>
            </c:numRef>
          </c:val>
        </c:ser>
        <c:dLbls>
          <c:numFmt formatCode="&quot;$&quot;0.0&quot;M&quot;" sourceLinked="0"/>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eVq7sM6KQ1PW95m7oj3ks1C"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56032"/>
            <a:ext cx="6400800" cy="411480"/>
          </a:xfrm>
          <a:prstGeom prst="rect">
            <a:avLst/>
          </a:prstGeom>
          <a:noFill/>
        </p:spPr>
        <p:txBody>
          <a:bodyPr wrap="square">
            <a:spAutoFit/>
          </a:bodyPr>
          <a:lstStyle/>
          <a:p>
            <a:pPr algn="l"/>
            <a:r>
              <a:rPr sz="1200" b="1" i="0">
                <a:solidFill>
                  <a:srgbClr val="E6E5DE"/>
                </a:solidFill>
                <a:latin typeface="Cambria"/>
              </a:rPr>
              <a:t>COMMERCIAL INTELLIGENCE BRIEF</a:t>
            </a:r>
          </a:p>
        </p:txBody>
      </p:sp>
      <p:sp>
        <p:nvSpPr>
          <p:cNvPr id="5" name="TextBox 4"/>
          <p:cNvSpPr txBox="1"/>
          <p:nvPr/>
        </p:nvSpPr>
        <p:spPr>
          <a:xfrm>
            <a:off x="5943600" y="256032"/>
            <a:ext cx="5943600" cy="411480"/>
          </a:xfrm>
          <a:prstGeom prst="rect">
            <a:avLst/>
          </a:prstGeom>
          <a:noFill/>
        </p:spPr>
        <p:txBody>
          <a:bodyPr wrap="square">
            <a:spAutoFit/>
          </a:bodyPr>
          <a:lstStyle/>
          <a:p>
            <a:pPr algn="r"/>
            <a:r>
              <a:rPr sz="1200" b="1" i="0">
                <a:solidFill>
                  <a:srgbClr val="01A296"/>
                </a:solidFill>
                <a:latin typeface="Calibri"/>
              </a:rPr>
              <a:t>PROFITPULSE</a:t>
            </a:r>
          </a:p>
        </p:txBody>
      </p:sp>
      <p:sp>
        <p:nvSpPr>
          <p:cNvPr id="6" name="Rectangle 5"/>
          <p:cNvSpPr/>
          <p:nvPr/>
        </p:nvSpPr>
        <p:spPr>
          <a:xfrm>
            <a:off x="320040" y="6446520"/>
            <a:ext cx="11521440" cy="9525"/>
          </a:xfrm>
          <a:prstGeom prst="rect">
            <a:avLst/>
          </a:prstGeom>
          <a:solidFill>
            <a:srgbClr val="E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a:spAutoFit/>
          </a:bodyPr>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601200" y="6492240"/>
            <a:ext cx="2240280" cy="274320"/>
          </a:xfrm>
          <a:prstGeom prst="rect">
            <a:avLst/>
          </a:prstGeom>
          <a:noFill/>
        </p:spPr>
        <p:txBody>
          <a:bodyPr wrap="square">
            <a:spAutoFit/>
          </a:bodyPr>
          <a:lstStyle/>
          <a:p>
            <a:pPr algn="r"/>
            <a:r>
              <a:rPr sz="800" b="0" i="0">
                <a:solidFill>
                  <a:srgbClr val="000000"/>
                </a:solidFill>
                <a:latin typeface="Calibri"/>
              </a:rPr>
              <a:t>21 Jul 2026</a:t>
            </a:r>
          </a:p>
        </p:txBody>
      </p:sp>
      <p:sp>
        <p:nvSpPr>
          <p:cNvPr id="9" name="TextBox 8"/>
          <p:cNvSpPr txBox="1"/>
          <p:nvPr/>
        </p:nvSpPr>
        <p:spPr>
          <a:xfrm>
            <a:off x="320040" y="1097280"/>
            <a:ext cx="10058400" cy="685800"/>
          </a:xfrm>
          <a:prstGeom prst="rect">
            <a:avLst/>
          </a:prstGeom>
          <a:noFill/>
        </p:spPr>
        <p:txBody>
          <a:bodyPr wrap="square">
            <a:spAutoFit/>
          </a:bodyPr>
          <a:lstStyle/>
          <a:p>
            <a:pPr algn="l"/>
            <a:r>
              <a:rPr sz="4000" b="1" i="0">
                <a:solidFill>
                  <a:srgbClr val="F6A102"/>
                </a:solidFill>
                <a:latin typeface="Cambria"/>
              </a:rPr>
              <a:t>Equality Media + Marketing</a:t>
            </a:r>
          </a:p>
        </p:txBody>
      </p:sp>
      <p:sp>
        <p:nvSpPr>
          <p:cNvPr id="10" name="TextBox 9"/>
          <p:cNvSpPr txBox="1"/>
          <p:nvPr/>
        </p:nvSpPr>
        <p:spPr>
          <a:xfrm>
            <a:off x="320040" y="1737360"/>
            <a:ext cx="10515600" cy="365760"/>
          </a:xfrm>
          <a:prstGeom prst="rect">
            <a:avLst/>
          </a:prstGeom>
          <a:noFill/>
        </p:spPr>
        <p:txBody>
          <a:bodyPr wrap="square">
            <a:spAutoFit/>
          </a:bodyPr>
          <a:lstStyle/>
          <a:p>
            <a:pPr algn="l"/>
            <a:r>
              <a:rPr sz="1300" b="0" i="0">
                <a:solidFill>
                  <a:srgbClr val="000000"/>
                </a:solidFill>
                <a:latin typeface="Calibri"/>
              </a:rPr>
              <a:t>Property marketing, media and creative agency, Richmond, Melbourne VIC.</a:t>
            </a:r>
          </a:p>
        </p:txBody>
      </p:sp>
      <p:sp>
        <p:nvSpPr>
          <p:cNvPr id="11" name="Rectangle 10"/>
          <p:cNvSpPr/>
          <p:nvPr/>
        </p:nvSpPr>
        <p:spPr>
          <a:xfrm>
            <a:off x="32004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2331720"/>
            <a:ext cx="1883664" cy="457200"/>
          </a:xfrm>
          <a:prstGeom prst="rect">
            <a:avLst/>
          </a:prstGeom>
          <a:noFill/>
        </p:spPr>
        <p:txBody>
          <a:bodyPr wrap="square">
            <a:spAutoFit/>
          </a:bodyPr>
          <a:lstStyle/>
          <a:p>
            <a:pPr algn="l"/>
            <a:r>
              <a:rPr sz="2800" b="1" i="0">
                <a:solidFill>
                  <a:srgbClr val="F8C806"/>
                </a:solidFill>
                <a:latin typeface="Cambria"/>
              </a:rPr>
              <a:t>$13M</a:t>
            </a:r>
          </a:p>
        </p:txBody>
      </p:sp>
      <p:sp>
        <p:nvSpPr>
          <p:cNvPr id="14" name="TextBox 13"/>
          <p:cNvSpPr txBox="1"/>
          <p:nvPr/>
        </p:nvSpPr>
        <p:spPr>
          <a:xfrm>
            <a:off x="429768" y="2816352"/>
            <a:ext cx="1883664" cy="457200"/>
          </a:xfrm>
          <a:prstGeom prst="rect">
            <a:avLst/>
          </a:prstGeom>
          <a:noFill/>
        </p:spPr>
        <p:txBody>
          <a:bodyPr wrap="square">
            <a:spAutoFit/>
          </a:bodyPr>
          <a:lstStyle/>
          <a:p>
            <a:pPr algn="l"/>
            <a:r>
              <a:rPr sz="1100" b="0" i="0">
                <a:solidFill>
                  <a:srgbClr val="E6E5DE"/>
                </a:solidFill>
                <a:latin typeface="Calibri"/>
              </a:rPr>
              <a:t>Revenue, FY2025 profile</a:t>
            </a:r>
          </a:p>
        </p:txBody>
      </p:sp>
      <p:sp>
        <p:nvSpPr>
          <p:cNvPr id="15" name="TextBox 14"/>
          <p:cNvSpPr txBox="1"/>
          <p:nvPr/>
        </p:nvSpPr>
        <p:spPr>
          <a:xfrm>
            <a:off x="429768" y="3364992"/>
            <a:ext cx="1883664" cy="256032"/>
          </a:xfrm>
          <a:prstGeom prst="rect">
            <a:avLst/>
          </a:prstGeom>
          <a:noFill/>
        </p:spPr>
        <p:txBody>
          <a:bodyPr wrap="square">
            <a:spAutoFit/>
          </a:bodyPr>
          <a:lstStyle/>
          <a:p>
            <a:pPr algn="l"/>
            <a:r>
              <a:rPr sz="700" b="0" i="1">
                <a:solidFill>
                  <a:srgbClr val="E6E5DE"/>
                </a:solidFill>
                <a:latin typeface="Calibri"/>
              </a:rPr>
              <a:t>SmartCompany Smart50 2025</a:t>
            </a:r>
          </a:p>
        </p:txBody>
      </p:sp>
      <p:sp>
        <p:nvSpPr>
          <p:cNvPr id="16" name="Rectangle 15"/>
          <p:cNvSpPr/>
          <p:nvPr/>
        </p:nvSpPr>
        <p:spPr>
          <a:xfrm>
            <a:off x="256032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70048" y="2331720"/>
            <a:ext cx="1883664" cy="457200"/>
          </a:xfrm>
          <a:prstGeom prst="rect">
            <a:avLst/>
          </a:prstGeom>
          <a:noFill/>
        </p:spPr>
        <p:txBody>
          <a:bodyPr wrap="square">
            <a:spAutoFit/>
          </a:bodyPr>
          <a:lstStyle/>
          <a:p>
            <a:pPr algn="l"/>
            <a:r>
              <a:rPr sz="2800" b="1" i="0">
                <a:solidFill>
                  <a:srgbClr val="F8C806"/>
                </a:solidFill>
                <a:latin typeface="Cambria"/>
              </a:rPr>
              <a:t>49%</a:t>
            </a:r>
          </a:p>
        </p:txBody>
      </p:sp>
      <p:sp>
        <p:nvSpPr>
          <p:cNvPr id="19" name="TextBox 18"/>
          <p:cNvSpPr txBox="1"/>
          <p:nvPr/>
        </p:nvSpPr>
        <p:spPr>
          <a:xfrm>
            <a:off x="2670048" y="2816352"/>
            <a:ext cx="1883664" cy="457200"/>
          </a:xfrm>
          <a:prstGeom prst="rect">
            <a:avLst/>
          </a:prstGeom>
          <a:noFill/>
        </p:spPr>
        <p:txBody>
          <a:bodyPr wrap="square">
            <a:spAutoFit/>
          </a:bodyPr>
          <a:lstStyle/>
          <a:p>
            <a:pPr algn="l"/>
            <a:r>
              <a:rPr sz="1100" b="0" i="0">
                <a:solidFill>
                  <a:srgbClr val="E6E5DE"/>
                </a:solidFill>
                <a:latin typeface="Calibri"/>
              </a:rPr>
              <a:t>Three year growth, Smart50</a:t>
            </a:r>
          </a:p>
        </p:txBody>
      </p:sp>
      <p:sp>
        <p:nvSpPr>
          <p:cNvPr id="20" name="TextBox 19"/>
          <p:cNvSpPr txBox="1"/>
          <p:nvPr/>
        </p:nvSpPr>
        <p:spPr>
          <a:xfrm>
            <a:off x="2670048" y="3364992"/>
            <a:ext cx="1883664" cy="256032"/>
          </a:xfrm>
          <a:prstGeom prst="rect">
            <a:avLst/>
          </a:prstGeom>
          <a:noFill/>
        </p:spPr>
        <p:txBody>
          <a:bodyPr wrap="square">
            <a:spAutoFit/>
          </a:bodyPr>
          <a:lstStyle/>
          <a:p>
            <a:pPr algn="l"/>
            <a:r>
              <a:rPr sz="700" b="0" i="1">
                <a:solidFill>
                  <a:srgbClr val="E6E5DE"/>
                </a:solidFill>
                <a:latin typeface="Calibri"/>
              </a:rPr>
              <a:t>SmartCompany Smart50 2025</a:t>
            </a:r>
          </a:p>
        </p:txBody>
      </p:sp>
      <p:sp>
        <p:nvSpPr>
          <p:cNvPr id="21" name="Rectangle 20"/>
          <p:cNvSpPr/>
          <p:nvPr/>
        </p:nvSpPr>
        <p:spPr>
          <a:xfrm>
            <a:off x="480060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0060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2331720"/>
            <a:ext cx="1883664" cy="457200"/>
          </a:xfrm>
          <a:prstGeom prst="rect">
            <a:avLst/>
          </a:prstGeom>
          <a:noFill/>
        </p:spPr>
        <p:txBody>
          <a:bodyPr wrap="square">
            <a:spAutoFit/>
          </a:bodyPr>
          <a:lstStyle/>
          <a:p>
            <a:pPr algn="l"/>
            <a:r>
              <a:rPr sz="2800" b="1" i="0">
                <a:solidFill>
                  <a:srgbClr val="F8C806"/>
                </a:solidFill>
                <a:latin typeface="Cambria"/>
              </a:rPr>
              <a:t>#24</a:t>
            </a:r>
          </a:p>
        </p:txBody>
      </p:sp>
      <p:sp>
        <p:nvSpPr>
          <p:cNvPr id="24" name="TextBox 23"/>
          <p:cNvSpPr txBox="1"/>
          <p:nvPr/>
        </p:nvSpPr>
        <p:spPr>
          <a:xfrm>
            <a:off x="4910328" y="2816352"/>
            <a:ext cx="1883664" cy="457200"/>
          </a:xfrm>
          <a:prstGeom prst="rect">
            <a:avLst/>
          </a:prstGeom>
          <a:noFill/>
        </p:spPr>
        <p:txBody>
          <a:bodyPr wrap="square">
            <a:spAutoFit/>
          </a:bodyPr>
          <a:lstStyle/>
          <a:p>
            <a:pPr algn="l"/>
            <a:r>
              <a:rPr sz="1100" b="0" i="0">
                <a:solidFill>
                  <a:srgbClr val="E6E5DE"/>
                </a:solidFill>
                <a:latin typeface="Calibri"/>
              </a:rPr>
              <a:t>Smart50 2025 rank, up from 45th</a:t>
            </a:r>
          </a:p>
        </p:txBody>
      </p:sp>
      <p:sp>
        <p:nvSpPr>
          <p:cNvPr id="25" name="TextBox 24"/>
          <p:cNvSpPr txBox="1"/>
          <p:nvPr/>
        </p:nvSpPr>
        <p:spPr>
          <a:xfrm>
            <a:off x="4910328" y="3364992"/>
            <a:ext cx="1883664" cy="256032"/>
          </a:xfrm>
          <a:prstGeom prst="rect">
            <a:avLst/>
          </a:prstGeom>
          <a:noFill/>
        </p:spPr>
        <p:txBody>
          <a:bodyPr wrap="square">
            <a:spAutoFit/>
          </a:bodyPr>
          <a:lstStyle/>
          <a:p>
            <a:pPr algn="l"/>
            <a:r>
              <a:rPr sz="700" b="0" i="1">
                <a:solidFill>
                  <a:srgbClr val="E6E5DE"/>
                </a:solidFill>
                <a:latin typeface="Calibri"/>
              </a:rPr>
              <a:t>SmartCompany Smart50 2025</a:t>
            </a:r>
          </a:p>
        </p:txBody>
      </p:sp>
      <p:sp>
        <p:nvSpPr>
          <p:cNvPr id="26" name="Rectangle 25"/>
          <p:cNvSpPr/>
          <p:nvPr/>
        </p:nvSpPr>
        <p:spPr>
          <a:xfrm>
            <a:off x="704088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4088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50608" y="2331720"/>
            <a:ext cx="1883664" cy="457200"/>
          </a:xfrm>
          <a:prstGeom prst="rect">
            <a:avLst/>
          </a:prstGeom>
          <a:noFill/>
        </p:spPr>
        <p:txBody>
          <a:bodyPr wrap="square">
            <a:spAutoFit/>
          </a:bodyPr>
          <a:lstStyle/>
          <a:p>
            <a:pPr algn="l"/>
            <a:r>
              <a:rPr sz="2800" b="1" i="0">
                <a:solidFill>
                  <a:srgbClr val="F8C806"/>
                </a:solidFill>
                <a:latin typeface="Cambria"/>
              </a:rPr>
              <a:t>30</a:t>
            </a:r>
          </a:p>
        </p:txBody>
      </p:sp>
      <p:sp>
        <p:nvSpPr>
          <p:cNvPr id="29" name="TextBox 28"/>
          <p:cNvSpPr txBox="1"/>
          <p:nvPr/>
        </p:nvSpPr>
        <p:spPr>
          <a:xfrm>
            <a:off x="7150608" y="2816352"/>
            <a:ext cx="1883664" cy="457200"/>
          </a:xfrm>
          <a:prstGeom prst="rect">
            <a:avLst/>
          </a:prstGeom>
          <a:noFill/>
        </p:spPr>
        <p:txBody>
          <a:bodyPr wrap="square">
            <a:spAutoFit/>
          </a:bodyPr>
          <a:lstStyle/>
          <a:p>
            <a:pPr algn="l"/>
            <a:r>
              <a:rPr sz="1100" b="0" i="0">
                <a:solidFill>
                  <a:srgbClr val="E6E5DE"/>
                </a:solidFill>
                <a:latin typeface="Calibri"/>
              </a:rPr>
              <a:t>People at the agency now</a:t>
            </a:r>
          </a:p>
        </p:txBody>
      </p:sp>
      <p:sp>
        <p:nvSpPr>
          <p:cNvPr id="30" name="TextBox 29"/>
          <p:cNvSpPr txBox="1"/>
          <p:nvPr/>
        </p:nvSpPr>
        <p:spPr>
          <a:xfrm>
            <a:off x="7150608" y="3364992"/>
            <a:ext cx="1883664" cy="256032"/>
          </a:xfrm>
          <a:prstGeom prst="rect">
            <a:avLst/>
          </a:prstGeom>
          <a:noFill/>
        </p:spPr>
        <p:txBody>
          <a:bodyPr wrap="square">
            <a:spAutoFit/>
          </a:bodyPr>
          <a:lstStyle/>
          <a:p>
            <a:pPr algn="l"/>
            <a:r>
              <a:rPr sz="700" b="0" i="1">
                <a:solidFill>
                  <a:srgbClr val="E6E5DE"/>
                </a:solidFill>
                <a:latin typeface="Calibri"/>
              </a:rPr>
              <a:t>Mediaweek, AFR BOSS 2026</a:t>
            </a:r>
          </a:p>
        </p:txBody>
      </p:sp>
      <p:sp>
        <p:nvSpPr>
          <p:cNvPr id="31" name="Rectangle 30"/>
          <p:cNvSpPr/>
          <p:nvPr/>
        </p:nvSpPr>
        <p:spPr>
          <a:xfrm>
            <a:off x="928116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8116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90888" y="2331720"/>
            <a:ext cx="1883664" cy="457200"/>
          </a:xfrm>
          <a:prstGeom prst="rect">
            <a:avLst/>
          </a:prstGeom>
          <a:noFill/>
        </p:spPr>
        <p:txBody>
          <a:bodyPr wrap="square">
            <a:spAutoFit/>
          </a:bodyPr>
          <a:lstStyle/>
          <a:p>
            <a:pPr algn="l"/>
            <a:r>
              <a:rPr sz="2800" b="1" i="0">
                <a:solidFill>
                  <a:srgbClr val="F8C806"/>
                </a:solidFill>
                <a:latin typeface="Cambria"/>
              </a:rPr>
              <a:t>2018</a:t>
            </a:r>
          </a:p>
        </p:txBody>
      </p:sp>
      <p:sp>
        <p:nvSpPr>
          <p:cNvPr id="34" name="TextBox 33"/>
          <p:cNvSpPr txBox="1"/>
          <p:nvPr/>
        </p:nvSpPr>
        <p:spPr>
          <a:xfrm>
            <a:off x="9390888" y="2816352"/>
            <a:ext cx="1883664" cy="457200"/>
          </a:xfrm>
          <a:prstGeom prst="rect">
            <a:avLst/>
          </a:prstGeom>
          <a:noFill/>
        </p:spPr>
        <p:txBody>
          <a:bodyPr wrap="square">
            <a:spAutoFit/>
          </a:bodyPr>
          <a:lstStyle/>
          <a:p>
            <a:pPr algn="l"/>
            <a:r>
              <a:rPr sz="1100" b="0" i="0">
                <a:solidFill>
                  <a:srgbClr val="E6E5DE"/>
                </a:solidFill>
                <a:latin typeface="Calibri"/>
              </a:rPr>
              <a:t>Founded, Richmond VIC</a:t>
            </a:r>
          </a:p>
        </p:txBody>
      </p:sp>
      <p:sp>
        <p:nvSpPr>
          <p:cNvPr id="35" name="TextBox 34"/>
          <p:cNvSpPr txBox="1"/>
          <p:nvPr/>
        </p:nvSpPr>
        <p:spPr>
          <a:xfrm>
            <a:off x="9390888" y="3364992"/>
            <a:ext cx="1883664" cy="256032"/>
          </a:xfrm>
          <a:prstGeom prst="rect">
            <a:avLst/>
          </a:prstGeom>
          <a:noFill/>
        </p:spPr>
        <p:txBody>
          <a:bodyPr wrap="square">
            <a:spAutoFit/>
          </a:bodyPr>
          <a:lstStyle/>
          <a:p>
            <a:pPr algn="l"/>
            <a:r>
              <a:rPr sz="700" b="0" i="1">
                <a:solidFill>
                  <a:srgbClr val="E6E5DE"/>
                </a:solidFill>
                <a:latin typeface="Calibri"/>
              </a:rPr>
              <a:t>Company website, Smart50</a:t>
            </a:r>
          </a:p>
        </p:txBody>
      </p:sp>
      <p:graphicFrame>
        <p:nvGraphicFramePr>
          <p:cNvPr id="36" name="Chart 35"/>
          <p:cNvGraphicFramePr>
            <a:graphicFrameLocks noGrp="1"/>
          </p:cNvGraphicFramePr>
          <p:nvPr/>
        </p:nvGraphicFramePr>
        <p:xfrm>
          <a:off x="320040" y="3886200"/>
          <a:ext cx="5120640" cy="1600200"/>
        </p:xfrm>
        <a:graphic>
          <a:graphicData uri="http://schemas.openxmlformats.org/drawingml/2006/chart">
            <c:chart xmlns:c="http://schemas.openxmlformats.org/drawingml/2006/chart" r:id="rId2"/>
          </a:graphicData>
        </a:graphic>
      </p:graphicFrame>
      <p:sp>
        <p:nvSpPr>
          <p:cNvPr id="37" name="TextBox 36"/>
          <p:cNvSpPr txBox="1"/>
          <p:nvPr/>
        </p:nvSpPr>
        <p:spPr>
          <a:xfrm>
            <a:off x="320040" y="5504688"/>
            <a:ext cx="5120640" cy="228600"/>
          </a:xfrm>
          <a:prstGeom prst="rect">
            <a:avLst/>
          </a:prstGeom>
          <a:noFill/>
        </p:spPr>
        <p:txBody>
          <a:bodyPr wrap="square">
            <a:spAutoFit/>
          </a:bodyPr>
          <a:lstStyle/>
          <a:p>
            <a:pPr algn="l"/>
            <a:r>
              <a:rPr sz="700" b="0" i="1">
                <a:solidFill>
                  <a:srgbClr val="000000"/>
                </a:solidFill>
                <a:latin typeface="Calibri"/>
              </a:rPr>
              <a:t>Source: SmartCompany Smart50 2024 and 2025 profiles</a:t>
            </a:r>
          </a:p>
        </p:txBody>
      </p:sp>
      <p:sp>
        <p:nvSpPr>
          <p:cNvPr id="38" name="TextBox 37"/>
          <p:cNvSpPr txBox="1"/>
          <p:nvPr/>
        </p:nvSpPr>
        <p:spPr>
          <a:xfrm>
            <a:off x="5715000" y="3867912"/>
            <a:ext cx="6126480" cy="274320"/>
          </a:xfrm>
          <a:prstGeom prst="rect">
            <a:avLst/>
          </a:prstGeom>
          <a:noFill/>
        </p:spPr>
        <p:txBody>
          <a:bodyPr wrap="square">
            <a:spAutoFit/>
          </a:bodyPr>
          <a:lstStyle/>
          <a:p>
            <a:pPr algn="l"/>
            <a:r>
              <a:rPr sz="1100" b="1" i="0">
                <a:solidFill>
                  <a:srgbClr val="01A296"/>
                </a:solidFill>
                <a:latin typeface="Cambria"/>
              </a:rPr>
              <a:t>KEY COMMERCIAL SIGNALS</a:t>
            </a:r>
          </a:p>
        </p:txBody>
      </p:sp>
      <p:sp>
        <p:nvSpPr>
          <p:cNvPr id="39" name="TextBox 38"/>
          <p:cNvSpPr txBox="1"/>
          <p:nvPr/>
        </p:nvSpPr>
        <p:spPr>
          <a:xfrm>
            <a:off x="5715000" y="4160520"/>
            <a:ext cx="6126480" cy="1737360"/>
          </a:xfrm>
          <a:prstGeom prst="rect">
            <a:avLst/>
          </a:prstGeom>
          <a:noFill/>
        </p:spPr>
        <p:txBody>
          <a:bodyPr wrap="square">
            <a:spAutoFit/>
          </a:bodyPr>
          <a:lstStyle/>
          <a:p>
            <a:pPr algn="l">
              <a:spcAft>
                <a:spcPts val="600"/>
              </a:spcAft>
            </a:pPr>
            <a:r>
              <a:rPr sz="1050" b="0" i="0">
                <a:solidFill>
                  <a:srgbClr val="000000"/>
                </a:solidFill>
                <a:latin typeface="Calibri"/>
              </a:rPr>
              <a:t>• Revenue $7.3M to $13M in a year, headcount 15 to 30 in the same window. (Smart50 24/25)</a:t>
            </a:r>
          </a:p>
          <a:p>
            <a:pPr algn="l">
              <a:spcAft>
                <a:spcPts val="600"/>
              </a:spcAft>
            </a:pPr>
            <a:r>
              <a:rPr sz="1050" b="0" i="0">
                <a:solidFill>
                  <a:srgbClr val="000000"/>
                </a:solidFill>
                <a:latin typeface="Calibri"/>
              </a:rPr>
              <a:t>• Founded 2018 as a media buyer, now also offers strategy and creative in house. (Smart50)</a:t>
            </a:r>
          </a:p>
          <a:p>
            <a:pPr algn="l">
              <a:spcAft>
                <a:spcPts val="600"/>
              </a:spcAft>
            </a:pPr>
            <a:r>
              <a:rPr sz="1050" b="0" i="0">
                <a:solidFill>
                  <a:srgbClr val="000000"/>
                </a:solidFill>
                <a:latin typeface="Calibri"/>
              </a:rPr>
              <a:t>• About half of all clients already buy more than one service line. (Smart50 2025)</a:t>
            </a:r>
          </a:p>
          <a:p>
            <a:pPr algn="l">
              <a:spcAft>
                <a:spcPts val="600"/>
              </a:spcAft>
            </a:pPr>
            <a:r>
              <a:rPr sz="1050" b="0" i="0">
                <a:solidFill>
                  <a:srgbClr val="000000"/>
                </a:solidFill>
                <a:latin typeface="Calibri"/>
              </a:rPr>
              <a:t>• AFR BOSS Best Places to Work winner, third time in four years, 2026. (Mediaweek)</a:t>
            </a:r>
          </a:p>
          <a:p>
            <a:pPr algn="l">
              <a:spcAft>
                <a:spcPts val="600"/>
              </a:spcAft>
            </a:pPr>
            <a:r>
              <a:rPr sz="1050" b="0" i="0">
                <a:solidFill>
                  <a:srgbClr val="000000"/>
                </a:solidFill>
                <a:latin typeface="Calibri"/>
              </a:rPr>
              <a:t>• AdNews Agency of the Year and a Wellbeing Initiative award winner. (AdNews)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56032"/>
            <a:ext cx="6400800" cy="411480"/>
          </a:xfrm>
          <a:prstGeom prst="rect">
            <a:avLst/>
          </a:prstGeom>
          <a:noFill/>
        </p:spPr>
        <p:txBody>
          <a:bodyPr wrap="square">
            <a:spAutoFit/>
          </a:bodyPr>
          <a:lstStyle/>
          <a:p>
            <a:pPr algn="l"/>
            <a:r>
              <a:rPr sz="1200" b="1" i="0">
                <a:solidFill>
                  <a:srgbClr val="E6E5DE"/>
                </a:solidFill>
                <a:latin typeface="Cambria"/>
              </a:rPr>
              <a:t>THE OPPORTUNITY</a:t>
            </a:r>
          </a:p>
        </p:txBody>
      </p:sp>
      <p:sp>
        <p:nvSpPr>
          <p:cNvPr id="5" name="TextBox 4"/>
          <p:cNvSpPr txBox="1"/>
          <p:nvPr/>
        </p:nvSpPr>
        <p:spPr>
          <a:xfrm>
            <a:off x="5943600" y="256032"/>
            <a:ext cx="5943600" cy="411480"/>
          </a:xfrm>
          <a:prstGeom prst="rect">
            <a:avLst/>
          </a:prstGeom>
          <a:noFill/>
        </p:spPr>
        <p:txBody>
          <a:bodyPr wrap="square">
            <a:spAutoFit/>
          </a:bodyPr>
          <a:lstStyle/>
          <a:p>
            <a:pPr algn="r"/>
            <a:r>
              <a:rPr sz="1200" b="1" i="0">
                <a:solidFill>
                  <a:srgbClr val="01A296"/>
                </a:solidFill>
                <a:latin typeface="Calibri"/>
              </a:rPr>
              <a:t>Equality Media + Marketing</a:t>
            </a:r>
          </a:p>
        </p:txBody>
      </p:sp>
      <p:sp>
        <p:nvSpPr>
          <p:cNvPr id="6" name="Rectangle 5"/>
          <p:cNvSpPr/>
          <p:nvPr/>
        </p:nvSpPr>
        <p:spPr>
          <a:xfrm>
            <a:off x="320040" y="6446520"/>
            <a:ext cx="11521440" cy="9525"/>
          </a:xfrm>
          <a:prstGeom prst="rect">
            <a:avLst/>
          </a:prstGeom>
          <a:solidFill>
            <a:srgbClr val="E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a:spAutoFit/>
          </a:bodyPr>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601200" y="6492240"/>
            <a:ext cx="2240280" cy="274320"/>
          </a:xfrm>
          <a:prstGeom prst="rect">
            <a:avLst/>
          </a:prstGeom>
          <a:noFill/>
        </p:spPr>
        <p:txBody>
          <a:bodyPr wrap="square">
            <a:spAutoFit/>
          </a:bodyPr>
          <a:lstStyle/>
          <a:p>
            <a:pPr algn="r"/>
            <a:r>
              <a:rPr sz="800" b="0" i="0">
                <a:solidFill>
                  <a:srgbClr val="000000"/>
                </a:solidFill>
                <a:latin typeface="Calibri"/>
              </a:rPr>
              <a:t>21 Jul 2026</a:t>
            </a:r>
          </a:p>
        </p:txBody>
      </p:sp>
      <p:sp>
        <p:nvSpPr>
          <p:cNvPr id="9" name="TextBox 8"/>
          <p:cNvSpPr txBox="1"/>
          <p:nvPr/>
        </p:nvSpPr>
        <p:spPr>
          <a:xfrm>
            <a:off x="320040" y="1051560"/>
            <a:ext cx="10058400" cy="365760"/>
          </a:xfrm>
          <a:prstGeom prst="rect">
            <a:avLst/>
          </a:prstGeom>
          <a:noFill/>
        </p:spPr>
        <p:txBody>
          <a:bodyPr wrap="square">
            <a:spAutoFit/>
          </a:bodyPr>
          <a:lstStyle/>
          <a:p>
            <a:pPr algn="l"/>
            <a:r>
              <a:rPr sz="1400" b="1" i="0">
                <a:solidFill>
                  <a:srgbClr val="000000"/>
                </a:solidFill>
                <a:latin typeface="Cambria"/>
              </a:rPr>
              <a:t>Three commercial observations from ProfitPulse</a:t>
            </a:r>
          </a:p>
        </p:txBody>
      </p:sp>
      <p:sp>
        <p:nvSpPr>
          <p:cNvPr id="10" name="Rectangle 9"/>
          <p:cNvSpPr/>
          <p:nvPr/>
        </p:nvSpPr>
        <p:spPr>
          <a:xfrm>
            <a:off x="320040" y="1554480"/>
            <a:ext cx="3785615" cy="3977639"/>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3328415" cy="640080"/>
          </a:xfrm>
          <a:prstGeom prst="rect">
            <a:avLst/>
          </a:prstGeom>
          <a:noFill/>
        </p:spPr>
        <p:txBody>
          <a:bodyPr wrap="square">
            <a:spAutoFit/>
          </a:bodyPr>
          <a:lstStyle/>
          <a:p>
            <a:pPr algn="l"/>
            <a:r>
              <a:rPr sz="3000" b="1" i="0">
                <a:solidFill>
                  <a:srgbClr val="000000"/>
                </a:solidFill>
                <a:latin typeface="Cambria"/>
              </a:rPr>
              <a:t>01</a:t>
            </a:r>
          </a:p>
        </p:txBody>
      </p:sp>
      <p:sp>
        <p:nvSpPr>
          <p:cNvPr id="12" name="TextBox 11"/>
          <p:cNvSpPr txBox="1"/>
          <p:nvPr/>
        </p:nvSpPr>
        <p:spPr>
          <a:xfrm>
            <a:off x="548640" y="2423160"/>
            <a:ext cx="3328415" cy="822960"/>
          </a:xfrm>
          <a:prstGeom prst="rect">
            <a:avLst/>
          </a:prstGeom>
          <a:noFill/>
        </p:spPr>
        <p:txBody>
          <a:bodyPr wrap="square">
            <a:spAutoFit/>
          </a:bodyPr>
          <a:lstStyle/>
          <a:p>
            <a:pPr algn="l"/>
            <a:r>
              <a:rPr sz="1400" b="1" i="0">
                <a:solidFill>
                  <a:srgbClr val="000000"/>
                </a:solidFill>
                <a:latin typeface="Cambria"/>
              </a:rPr>
              <a:t>Growth has outpaced margin visibility</a:t>
            </a:r>
          </a:p>
        </p:txBody>
      </p:sp>
      <p:sp>
        <p:nvSpPr>
          <p:cNvPr id="13" name="TextBox 12"/>
          <p:cNvSpPr txBox="1"/>
          <p:nvPr/>
        </p:nvSpPr>
        <p:spPr>
          <a:xfrm>
            <a:off x="548640" y="3291840"/>
            <a:ext cx="3328415" cy="2103120"/>
          </a:xfrm>
          <a:prstGeom prst="rect">
            <a:avLst/>
          </a:prstGeom>
          <a:noFill/>
        </p:spPr>
        <p:txBody>
          <a:bodyPr wrap="square">
            <a:spAutoFit/>
          </a:bodyPr>
          <a:lstStyle/>
          <a:p>
            <a:pPr algn="l"/>
            <a:r>
              <a:rPr sz="1050" b="0" i="0">
                <a:solidFill>
                  <a:srgbClr val="000000"/>
                </a:solidFill>
                <a:latin typeface="Calibri"/>
              </a:rPr>
              <a:t>Revenue grew 78 percent in a year, $7.3 million to $13 million, while the team roughly doubled, 15 to 30 people. (Smart50 2024, 2025 profiles). When headcount grows faster than revenue, margin usually moves before it shows on a P&amp;L. A Product and Service Line Profitability review gives a ranked answer inside three weeks.</a:t>
            </a:r>
          </a:p>
        </p:txBody>
      </p:sp>
      <p:sp>
        <p:nvSpPr>
          <p:cNvPr id="14" name="Rectangle 13"/>
          <p:cNvSpPr/>
          <p:nvPr/>
        </p:nvSpPr>
        <p:spPr>
          <a:xfrm>
            <a:off x="4197095" y="1554480"/>
            <a:ext cx="3785615" cy="397763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5" y="1737360"/>
            <a:ext cx="3328415" cy="640080"/>
          </a:xfrm>
          <a:prstGeom prst="rect">
            <a:avLst/>
          </a:prstGeom>
          <a:noFill/>
        </p:spPr>
        <p:txBody>
          <a:bodyPr wrap="square">
            <a:spAutoFit/>
          </a:bodyPr>
          <a:lstStyle/>
          <a:p>
            <a:pPr algn="l"/>
            <a:r>
              <a:rPr sz="3000" b="1" i="0">
                <a:solidFill>
                  <a:srgbClr val="FFFFFF"/>
                </a:solidFill>
                <a:latin typeface="Cambria"/>
              </a:rPr>
              <a:t>02</a:t>
            </a:r>
          </a:p>
        </p:txBody>
      </p:sp>
      <p:sp>
        <p:nvSpPr>
          <p:cNvPr id="16" name="TextBox 15"/>
          <p:cNvSpPr txBox="1"/>
          <p:nvPr/>
        </p:nvSpPr>
        <p:spPr>
          <a:xfrm>
            <a:off x="4425695" y="2423160"/>
            <a:ext cx="3328415" cy="822960"/>
          </a:xfrm>
          <a:prstGeom prst="rect">
            <a:avLst/>
          </a:prstGeom>
          <a:noFill/>
        </p:spPr>
        <p:txBody>
          <a:bodyPr wrap="square">
            <a:spAutoFit/>
          </a:bodyPr>
          <a:lstStyle/>
          <a:p>
            <a:pPr algn="l"/>
            <a:r>
              <a:rPr sz="1400" b="1" i="0">
                <a:solidFill>
                  <a:srgbClr val="FFFFFF"/>
                </a:solidFill>
                <a:latin typeface="Cambria"/>
              </a:rPr>
              <a:t>Three service lines, one blended number</a:t>
            </a:r>
          </a:p>
        </p:txBody>
      </p:sp>
      <p:sp>
        <p:nvSpPr>
          <p:cNvPr id="17" name="TextBox 16"/>
          <p:cNvSpPr txBox="1"/>
          <p:nvPr/>
        </p:nvSpPr>
        <p:spPr>
          <a:xfrm>
            <a:off x="4425695" y="3291840"/>
            <a:ext cx="3328415" cy="2103120"/>
          </a:xfrm>
          <a:prstGeom prst="rect">
            <a:avLst/>
          </a:prstGeom>
          <a:noFill/>
        </p:spPr>
        <p:txBody>
          <a:bodyPr wrap="square">
            <a:spAutoFit/>
          </a:bodyPr>
          <a:lstStyle/>
          <a:p>
            <a:pPr algn="l"/>
            <a:r>
              <a:rPr sz="1050" b="0" i="0">
                <a:solidFill>
                  <a:srgbClr val="FFFFFF"/>
                </a:solidFill>
                <a:latin typeface="Calibri"/>
              </a:rPr>
              <a:t>Equality Media started in 2018 as a media buying practice and has since formally added strategy and creative, with about half of clients now buying more than one line. (Smart50 2025). Media, creative, and strategy carry different margins and staffing needs, so growth decisions are currently being made on revenue alone.</a:t>
            </a:r>
          </a:p>
        </p:txBody>
      </p:sp>
      <p:sp>
        <p:nvSpPr>
          <p:cNvPr id="18" name="Rectangle 17"/>
          <p:cNvSpPr/>
          <p:nvPr/>
        </p:nvSpPr>
        <p:spPr>
          <a:xfrm>
            <a:off x="8074150" y="1554480"/>
            <a:ext cx="3785615" cy="3977639"/>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0" y="1737360"/>
            <a:ext cx="3328415" cy="640080"/>
          </a:xfrm>
          <a:prstGeom prst="rect">
            <a:avLst/>
          </a:prstGeom>
          <a:noFill/>
        </p:spPr>
        <p:txBody>
          <a:bodyPr wrap="square">
            <a:spAutoFit/>
          </a:bodyPr>
          <a:lstStyle/>
          <a:p>
            <a:pPr algn="l"/>
            <a:r>
              <a:rPr sz="3000" b="1" i="0">
                <a:solidFill>
                  <a:srgbClr val="000000"/>
                </a:solidFill>
                <a:latin typeface="Cambria"/>
              </a:rPr>
              <a:t>03</a:t>
            </a:r>
          </a:p>
        </p:txBody>
      </p:sp>
      <p:sp>
        <p:nvSpPr>
          <p:cNvPr id="20" name="TextBox 19"/>
          <p:cNvSpPr txBox="1"/>
          <p:nvPr/>
        </p:nvSpPr>
        <p:spPr>
          <a:xfrm>
            <a:off x="8302750" y="2423160"/>
            <a:ext cx="3328415" cy="822960"/>
          </a:xfrm>
          <a:prstGeom prst="rect">
            <a:avLst/>
          </a:prstGeom>
          <a:noFill/>
        </p:spPr>
        <p:txBody>
          <a:bodyPr wrap="square">
            <a:spAutoFit/>
          </a:bodyPr>
          <a:lstStyle/>
          <a:p>
            <a:pPr algn="l"/>
            <a:r>
              <a:rPr sz="1400" b="1" i="0">
                <a:solidFill>
                  <a:srgbClr val="000000"/>
                </a:solidFill>
                <a:latin typeface="Cambria"/>
              </a:rPr>
              <a:t>One sector carries the whole growth story</a:t>
            </a:r>
          </a:p>
        </p:txBody>
      </p:sp>
      <p:sp>
        <p:nvSpPr>
          <p:cNvPr id="21" name="TextBox 20"/>
          <p:cNvSpPr txBox="1"/>
          <p:nvPr/>
        </p:nvSpPr>
        <p:spPr>
          <a:xfrm>
            <a:off x="8302750" y="3291840"/>
            <a:ext cx="3328415" cy="2103120"/>
          </a:xfrm>
          <a:prstGeom prst="rect">
            <a:avLst/>
          </a:prstGeom>
          <a:noFill/>
        </p:spPr>
        <p:txBody>
          <a:bodyPr wrap="square">
            <a:spAutoFit/>
          </a:bodyPr>
          <a:lstStyle/>
          <a:p>
            <a:pPr algn="l"/>
            <a:r>
              <a:rPr sz="1050" b="0" i="0">
                <a:solidFill>
                  <a:srgbClr val="000000"/>
                </a:solidFill>
                <a:latin typeface="Calibri"/>
              </a:rPr>
              <a:t>The agency is built specifically around the property sector, the foundation of its Smart50 and AFR BOSS results. (Company website, Mediaweek). That focus is a real strength, but it also means one property cycle carries more weight than it would for a diversified agency. A Strategic Growth Diagnostic can quantify how much of next year's plan should lean on adjacent sectors.</a:t>
            </a:r>
          </a:p>
        </p:txBody>
      </p:sp>
      <p:sp>
        <p:nvSpPr>
          <p:cNvPr id="22" name="TextBox 21"/>
          <p:cNvSpPr txBox="1"/>
          <p:nvPr/>
        </p:nvSpPr>
        <p:spPr>
          <a:xfrm>
            <a:off x="320040" y="5669280"/>
            <a:ext cx="11521440" cy="685800"/>
          </a:xfrm>
          <a:prstGeom prst="rect">
            <a:avLst/>
          </a:prstGeom>
          <a:noFill/>
        </p:spPr>
        <p:txBody>
          <a:bodyPr wrap="square">
            <a:spAutoFit/>
          </a:bodyPr>
          <a:lstStyle/>
          <a:p>
            <a:pPr algn="l"/>
            <a:r>
              <a:rPr sz="1050" b="0" i="1">
                <a:solidFill>
                  <a:srgbClr val="000000"/>
                </a:solidFill>
                <a:latin typeface="Calibri"/>
              </a:rPr>
              <a:t>These are observations offered in good faith. Equality Media has built something impressive in seven years. The question is simply whether the financial architecture matches the pace of the last twelve months.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56032"/>
            <a:ext cx="6400800" cy="411480"/>
          </a:xfrm>
          <a:prstGeom prst="rect">
            <a:avLst/>
          </a:prstGeom>
          <a:noFill/>
        </p:spPr>
        <p:txBody>
          <a:bodyPr wrap="square">
            <a:spAutoFit/>
          </a:bodyPr>
          <a:lstStyle/>
          <a:p>
            <a:pPr algn="l"/>
            <a:r>
              <a:rPr sz="1200" b="1" i="0">
                <a:solidFill>
                  <a:srgbClr val="E6E5DE"/>
                </a:solidFill>
                <a:latin typeface="Cambria"/>
              </a:rPr>
              <a:t>THE RECOMMENDATION</a:t>
            </a:r>
          </a:p>
        </p:txBody>
      </p:sp>
      <p:sp>
        <p:nvSpPr>
          <p:cNvPr id="5" name="TextBox 4"/>
          <p:cNvSpPr txBox="1"/>
          <p:nvPr/>
        </p:nvSpPr>
        <p:spPr>
          <a:xfrm>
            <a:off x="5943600" y="256032"/>
            <a:ext cx="5943600" cy="411480"/>
          </a:xfrm>
          <a:prstGeom prst="rect">
            <a:avLst/>
          </a:prstGeom>
          <a:noFill/>
        </p:spPr>
        <p:txBody>
          <a:bodyPr wrap="square">
            <a:spAutoFit/>
          </a:bodyPr>
          <a:lstStyle/>
          <a:p>
            <a:pPr algn="r"/>
            <a:r>
              <a:rPr sz="1200" b="1" i="0">
                <a:solidFill>
                  <a:srgbClr val="01A296"/>
                </a:solidFill>
                <a:latin typeface="Calibri"/>
              </a:rPr>
              <a:t>Equality Media + Marketing</a:t>
            </a:r>
          </a:p>
        </p:txBody>
      </p:sp>
      <p:sp>
        <p:nvSpPr>
          <p:cNvPr id="6" name="Rectangle 5"/>
          <p:cNvSpPr/>
          <p:nvPr/>
        </p:nvSpPr>
        <p:spPr>
          <a:xfrm>
            <a:off x="320040" y="6446520"/>
            <a:ext cx="11521440" cy="9525"/>
          </a:xfrm>
          <a:prstGeom prst="rect">
            <a:avLst/>
          </a:prstGeom>
          <a:solidFill>
            <a:srgbClr val="E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a:spAutoFit/>
          </a:bodyPr>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601200" y="6492240"/>
            <a:ext cx="2240280" cy="274320"/>
          </a:xfrm>
          <a:prstGeom prst="rect">
            <a:avLst/>
          </a:prstGeom>
          <a:noFill/>
        </p:spPr>
        <p:txBody>
          <a:bodyPr wrap="square">
            <a:spAutoFit/>
          </a:bodyPr>
          <a:lstStyle/>
          <a:p>
            <a:pPr algn="r"/>
            <a:r>
              <a:rPr sz="800" b="0" i="0">
                <a:solidFill>
                  <a:srgbClr val="000000"/>
                </a:solidFill>
                <a:latin typeface="Calibri"/>
              </a:rPr>
              <a:t>21 Jul 2026</a:t>
            </a:r>
          </a:p>
        </p:txBody>
      </p:sp>
      <p:sp>
        <p:nvSpPr>
          <p:cNvPr id="9" name="TextBox 8"/>
          <p:cNvSpPr txBox="1"/>
          <p:nvPr/>
        </p:nvSpPr>
        <p:spPr>
          <a:xfrm>
            <a:off x="320040" y="1097280"/>
            <a:ext cx="6949440" cy="548640"/>
          </a:xfrm>
          <a:prstGeom prst="rect">
            <a:avLst/>
          </a:prstGeom>
          <a:noFill/>
        </p:spPr>
        <p:txBody>
          <a:bodyPr wrap="square">
            <a:spAutoFit/>
          </a:bodyPr>
          <a:lstStyle/>
          <a:p>
            <a:pPr algn="l"/>
            <a:r>
              <a:rPr sz="2200" b="1" i="0">
                <a:solidFill>
                  <a:srgbClr val="F6A102"/>
                </a:solidFill>
                <a:latin typeface="Cambria"/>
              </a:rPr>
              <a:t>Product and Service Line Profitability</a:t>
            </a:r>
          </a:p>
        </p:txBody>
      </p:sp>
      <p:sp>
        <p:nvSpPr>
          <p:cNvPr id="10" name="TextBox 9"/>
          <p:cNvSpPr txBox="1"/>
          <p:nvPr/>
        </p:nvSpPr>
        <p:spPr>
          <a:xfrm>
            <a:off x="320040" y="1645920"/>
            <a:ext cx="6949440" cy="365760"/>
          </a:xfrm>
          <a:prstGeom prst="rect">
            <a:avLst/>
          </a:prstGeom>
          <a:noFill/>
        </p:spPr>
        <p:txBody>
          <a:bodyPr wrap="square">
            <a:spAutoFit/>
          </a:bodyPr>
          <a:lstStyle/>
          <a:p>
            <a:pPr algn="l"/>
            <a:r>
              <a:rPr sz="1500" b="1" i="0">
                <a:solidFill>
                  <a:srgbClr val="01A296"/>
                </a:solidFill>
                <a:latin typeface="Calibri"/>
              </a:rPr>
              <a:t>$2,950 one off. ProfitPulse verified figure.</a:t>
            </a:r>
          </a:p>
        </p:txBody>
      </p:sp>
      <p:sp>
        <p:nvSpPr>
          <p:cNvPr id="11" name="TextBox 10"/>
          <p:cNvSpPr txBox="1"/>
          <p:nvPr/>
        </p:nvSpPr>
        <p:spPr>
          <a:xfrm>
            <a:off x="320040" y="2057400"/>
            <a:ext cx="6949440" cy="548640"/>
          </a:xfrm>
          <a:prstGeom prst="rect">
            <a:avLst/>
          </a:prstGeom>
          <a:noFill/>
        </p:spPr>
        <p:txBody>
          <a:bodyPr wrap="square">
            <a:spAutoFit/>
          </a:bodyPr>
          <a:lstStyle/>
          <a:p>
            <a:pPr algn="l"/>
            <a:r>
              <a:rPr sz="1150" b="0" i="0">
                <a:solidFill>
                  <a:srgbClr val="000000"/>
                </a:solidFill>
                <a:latin typeface="Calibri"/>
              </a:rPr>
              <a:t>Ranks media, creative, and strategy by gross margin, contribution margin, and operational drag, in three weeks flat.</a:t>
            </a:r>
          </a:p>
        </p:txBody>
      </p:sp>
      <p:sp>
        <p:nvSpPr>
          <p:cNvPr id="12" name="Rectangle 11"/>
          <p:cNvSpPr/>
          <p:nvPr/>
        </p:nvSpPr>
        <p:spPr>
          <a:xfrm>
            <a:off x="320040" y="2697480"/>
            <a:ext cx="6949440" cy="1417320"/>
          </a:xfrm>
          <a:prstGeom prst="rect">
            <a:avLst/>
          </a:prstGeom>
          <a:solidFill>
            <a:srgbClr val="E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834640"/>
            <a:ext cx="6492240" cy="365760"/>
          </a:xfrm>
          <a:prstGeom prst="rect">
            <a:avLst/>
          </a:prstGeom>
          <a:noFill/>
        </p:spPr>
        <p:txBody>
          <a:bodyPr wrap="square">
            <a:spAutoFit/>
          </a:bodyPr>
          <a:lstStyle/>
          <a:p>
            <a:pPr algn="l"/>
            <a:r>
              <a:rPr sz="1300" b="1" i="0">
                <a:solidFill>
                  <a:srgbClr val="01A296"/>
                </a:solidFill>
                <a:latin typeface="Cambria"/>
              </a:rPr>
              <a:t>Step one, answer a few quick questions</a:t>
            </a:r>
          </a:p>
        </p:txBody>
      </p:sp>
      <p:sp>
        <p:nvSpPr>
          <p:cNvPr id="14" name="TextBox 13"/>
          <p:cNvSpPr txBox="1"/>
          <p:nvPr/>
        </p:nvSpPr>
        <p:spPr>
          <a:xfrm>
            <a:off x="548640" y="3246120"/>
            <a:ext cx="6492240" cy="365760"/>
          </a:xfrm>
          <a:prstGeom prst="rect">
            <a:avLst/>
          </a:prstGeom>
          <a:noFill/>
        </p:spPr>
        <p:txBody>
          <a:bodyPr wrap="square">
            <a:spAutoFit/>
          </a:bodyPr>
          <a:lstStyle/>
          <a:p>
            <a:pPr algn="l"/>
            <a:r>
              <a:rPr sz="1100" b="0" i="0">
                <a:solidFill>
                  <a:srgbClr val="000000"/>
                </a:solidFill>
                <a:latin typeface="Calibri"/>
              </a:rPr>
              <a:t>See the solutions matched to your size and industry.</a:t>
            </a:r>
          </a:p>
        </p:txBody>
      </p:sp>
      <p:sp>
        <p:nvSpPr>
          <p:cNvPr id="15" name="TextBox 14"/>
          <p:cNvSpPr txBox="1"/>
          <p:nvPr/>
        </p:nvSpPr>
        <p:spPr>
          <a:xfrm>
            <a:off x="548640" y="3611880"/>
            <a:ext cx="6492240" cy="365760"/>
          </a:xfrm>
          <a:prstGeom prst="rect">
            <a:avLst/>
          </a:prstGeom>
          <a:noFill/>
        </p:spPr>
        <p:txBody>
          <a:bodyPr wrap="square">
            <a:spAutoFit/>
          </a:bodyPr>
          <a:lstStyle/>
          <a:p>
            <a:pPr algn="l"/>
            <a:r>
              <a:rPr sz="1200" b="1" i="0" u="none">
                <a:solidFill>
                  <a:srgbClr val="01A296"/>
                </a:solidFill>
                <a:latin typeface="Calibri"/>
                <a:hlinkClick r:id="rId2"/>
              </a:rPr>
              <a:t>profit-pulse.com.au/services/find-your-fit</a:t>
            </a:r>
          </a:p>
        </p:txBody>
      </p:sp>
      <p:sp>
        <p:nvSpPr>
          <p:cNvPr id="17" name="Rectangle 16"/>
          <p:cNvSpPr/>
          <p:nvPr/>
        </p:nvSpPr>
        <p:spPr>
          <a:xfrm>
            <a:off x="320040" y="4251960"/>
            <a:ext cx="6949440" cy="59436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4343400"/>
            <a:ext cx="6949440" cy="457200"/>
          </a:xfrm>
          <a:prstGeom prst="rect">
            <a:avLst/>
          </a:prstGeom>
          <a:noFill/>
        </p:spPr>
        <p:txBody>
          <a:bodyPr wrap="square" anchor="ctr">
            <a:spAutoFit/>
          </a:bodyPr>
          <a:lstStyle/>
          <a:p>
            <a:pPr algn="ctr"/>
            <a:r>
              <a:rPr sz="1400" b="1" i="0" u="none">
                <a:solidFill>
                  <a:srgbClr val="FFFFFF"/>
                </a:solidFill>
                <a:latin typeface="Calibri"/>
                <a:hlinkClick r:id="rId3"/>
              </a:rPr>
              <a:t>Purchase the suggested product now to get started</a:t>
            </a:r>
          </a:p>
        </p:txBody>
      </p:sp>
      <p:sp>
        <p:nvSpPr>
          <p:cNvPr id="18" name="TextBox 17"/>
          <p:cNvSpPr txBox="1"/>
          <p:nvPr/>
        </p:nvSpPr>
        <p:spPr>
          <a:xfrm>
            <a:off x="320040" y="5074920"/>
            <a:ext cx="6949440" cy="320040"/>
          </a:xfrm>
          <a:prstGeom prst="rect">
            <a:avLst/>
          </a:prstGeom>
          <a:noFill/>
        </p:spPr>
        <p:txBody>
          <a:bodyPr wrap="square">
            <a:spAutoFit/>
          </a:bodyPr>
          <a:lstStyle/>
          <a:p>
            <a:pPr algn="l"/>
            <a:r>
              <a:rPr sz="1100" b="0" i="0">
                <a:solidFill>
                  <a:srgbClr val="000000"/>
                </a:solidFill>
                <a:latin typeface="Calibri"/>
              </a:rPr>
              <a:t>Prefer a conversation first?</a:t>
            </a:r>
          </a:p>
        </p:txBody>
      </p:sp>
      <p:sp>
        <p:nvSpPr>
          <p:cNvPr id="19" name="TextBox 18"/>
          <p:cNvSpPr txBox="1"/>
          <p:nvPr/>
        </p:nvSpPr>
        <p:spPr>
          <a:xfrm>
            <a:off x="320040" y="5394960"/>
            <a:ext cx="6949440" cy="365760"/>
          </a:xfrm>
          <a:prstGeom prst="rect">
            <a:avLst/>
          </a:prstGeom>
          <a:noFill/>
        </p:spPr>
        <p:txBody>
          <a:bodyPr wrap="square">
            <a:spAutoFit/>
          </a:bodyPr>
          <a:lstStyle/>
          <a:p>
            <a:pPr algn="l"/>
            <a:r>
              <a:rPr sz="1200" b="1" i="0" u="none">
                <a:solidFill>
                  <a:srgbClr val="01A296"/>
                </a:solidFill>
                <a:latin typeface="Calibri"/>
                <a:hlinkClick r:id="rId4"/>
              </a:rPr>
              <a:t>Book a complimentary discovery call</a:t>
            </a:r>
          </a:p>
        </p:txBody>
      </p:sp>
      <p:sp>
        <p:nvSpPr>
          <p:cNvPr id="20" name="Rectangle 19"/>
          <p:cNvSpPr/>
          <p:nvPr/>
        </p:nvSpPr>
        <p:spPr>
          <a:xfrm>
            <a:off x="7543800" y="1097280"/>
            <a:ext cx="4297680" cy="5074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18120" y="1280160"/>
            <a:ext cx="3749040" cy="411480"/>
          </a:xfrm>
          <a:prstGeom prst="rect">
            <a:avLst/>
          </a:prstGeom>
          <a:noFill/>
        </p:spPr>
        <p:txBody>
          <a:bodyPr wrap="square">
            <a:spAutoFit/>
          </a:bodyPr>
          <a:lstStyle/>
          <a:p>
            <a:pPr algn="l"/>
            <a:r>
              <a:rPr sz="1800" b="1" i="0">
                <a:solidFill>
                  <a:srgbClr val="F8C806"/>
                </a:solidFill>
                <a:latin typeface="Cambria"/>
              </a:rPr>
              <a:t>Nitesh Roopa</a:t>
            </a:r>
          </a:p>
        </p:txBody>
      </p:sp>
      <p:sp>
        <p:nvSpPr>
          <p:cNvPr id="22" name="TextBox 21"/>
          <p:cNvSpPr txBox="1"/>
          <p:nvPr/>
        </p:nvSpPr>
        <p:spPr>
          <a:xfrm>
            <a:off x="7818120" y="1691640"/>
            <a:ext cx="3749040" cy="320040"/>
          </a:xfrm>
          <a:prstGeom prst="rect">
            <a:avLst/>
          </a:prstGeom>
          <a:noFill/>
        </p:spPr>
        <p:txBody>
          <a:bodyPr wrap="square">
            <a:spAutoFit/>
          </a:bodyPr>
          <a:lstStyle/>
          <a:p>
            <a:pPr algn="l"/>
            <a:r>
              <a:rPr sz="1200" b="0" i="0">
                <a:solidFill>
                  <a:srgbClr val="FFFFFF"/>
                </a:solidFill>
                <a:latin typeface="Calibri"/>
              </a:rPr>
              <a:t>CA, Managing Partner, ProfitPulse</a:t>
            </a:r>
          </a:p>
        </p:txBody>
      </p:sp>
      <p:sp>
        <p:nvSpPr>
          <p:cNvPr id="23" name="TextBox 22"/>
          <p:cNvSpPr txBox="1"/>
          <p:nvPr/>
        </p:nvSpPr>
        <p:spPr>
          <a:xfrm>
            <a:off x="7818120" y="2194560"/>
            <a:ext cx="3749040" cy="1554480"/>
          </a:xfrm>
          <a:prstGeom prst="rect">
            <a:avLst/>
          </a:prstGeom>
          <a:noFill/>
        </p:spPr>
        <p:txBody>
          <a:bodyPr wrap="square">
            <a:spAutoFit/>
          </a:bodyPr>
          <a:lstStyle/>
          <a:p>
            <a:pPr algn="l">
              <a:spcAft>
                <a:spcPts val="800"/>
              </a:spcAft>
            </a:pPr>
            <a:r>
              <a:rPr sz="1100" b="0" i="0">
                <a:solidFill>
                  <a:srgbClr val="E6E5DE"/>
                </a:solidFill>
                <a:latin typeface="Calibri"/>
              </a:rPr>
              <a:t>16 years across 4 countries</a:t>
            </a:r>
          </a:p>
          <a:p>
            <a:pPr algn="l">
              <a:spcAft>
                <a:spcPts val="800"/>
              </a:spcAft>
            </a:pPr>
            <a:r>
              <a:rPr sz="1100" b="0" i="0">
                <a:solidFill>
                  <a:srgbClr val="E6E5DE"/>
                </a:solidFill>
                <a:latin typeface="Calibri"/>
              </a:rPr>
              <a:t>52 deals executed and managed</a:t>
            </a:r>
          </a:p>
          <a:p>
            <a:pPr algn="l">
              <a:spcAft>
                <a:spcPts val="800"/>
              </a:spcAft>
            </a:pPr>
            <a:r>
              <a:rPr sz="1100" b="0" i="0">
                <a:solidFill>
                  <a:srgbClr val="E6E5DE"/>
                </a:solidFill>
                <a:latin typeface="Calibri"/>
              </a:rPr>
              <a:t>Largest single deal, USD 1.3 billion, Cahora Bassa</a:t>
            </a:r>
          </a:p>
          <a:p>
            <a:pPr algn="l">
              <a:spcAft>
                <a:spcPts val="800"/>
              </a:spcAft>
            </a:pPr>
            <a:r>
              <a:rPr sz="1100" b="0" i="0">
                <a:solidFill>
                  <a:srgbClr val="E6E5DE"/>
                </a:solidFill>
                <a:latin typeface="Calibri"/>
              </a:rPr>
              <a:t>Over AUD 10 billion in Queensland GRBT project value</a:t>
            </a:r>
          </a:p>
        </p:txBody>
      </p:sp>
      <p:sp>
        <p:nvSpPr>
          <p:cNvPr id="24" name="Rectangle 23"/>
          <p:cNvSpPr/>
          <p:nvPr/>
        </p:nvSpPr>
        <p:spPr>
          <a:xfrm>
            <a:off x="7818120" y="3794760"/>
            <a:ext cx="3749040"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3977639"/>
            <a:ext cx="3749040" cy="1645920"/>
          </a:xfrm>
          <a:prstGeom prst="rect">
            <a:avLst/>
          </a:prstGeom>
          <a:noFill/>
        </p:spPr>
        <p:txBody>
          <a:bodyPr wrap="square">
            <a:spAutoFit/>
          </a:bodyPr>
          <a:lstStyle/>
          <a:p>
            <a:pPr algn="l">
              <a:spcAft>
                <a:spcPts val="800"/>
              </a:spcAft>
            </a:pPr>
            <a:r>
              <a:rPr sz="1150" b="0" i="0">
                <a:solidFill>
                  <a:srgbClr val="E6E5DE"/>
                </a:solidFill>
                <a:latin typeface="Calibri"/>
              </a:rPr>
              <a:t>Profit-Pulse.com.au</a:t>
            </a:r>
          </a:p>
          <a:p>
            <a:pPr algn="l">
              <a:spcAft>
                <a:spcPts val="800"/>
              </a:spcAft>
            </a:pPr>
            <a:r>
              <a:rPr sz="1150" b="0" i="0">
                <a:solidFill>
                  <a:srgbClr val="01A296"/>
                </a:solidFill>
                <a:latin typeface="Calibri"/>
              </a:rPr>
              <a:t>Nitesh@Profit-Pulse.com.au</a:t>
            </a:r>
          </a:p>
          <a:p>
            <a:pPr algn="l">
              <a:spcAft>
                <a:spcPts val="800"/>
              </a:spcAft>
            </a:pPr>
            <a:r>
              <a:rPr sz="1150" b="0" i="0">
                <a:solidFill>
                  <a:srgbClr val="E6E5DE"/>
                </a:solidFill>
                <a:latin typeface="Calibri"/>
              </a:rPr>
              <a:t>+61 411 876 267</a:t>
            </a:r>
          </a:p>
          <a:p>
            <a:pPr algn="l">
              <a:spcAft>
                <a:spcPts val="800"/>
              </a:spcAft>
            </a:pPr>
            <a:r>
              <a:rPr sz="105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1A296"/>
      </a:hlink>
      <a:folHlink>
        <a:srgbClr val="F6A1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