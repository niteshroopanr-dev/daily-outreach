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28EbJ2edi0LSbdugYT3ks1D"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Calibri"/>
              </a:rPr>
              <a:t>COMMERCIAL INTELLIGENCE BRIEF</a:t>
            </a:r>
          </a:p>
        </p:txBody>
      </p:sp>
      <p:sp>
        <p:nvSpPr>
          <p:cNvPr id="5" name="TextBox 4"/>
          <p:cNvSpPr txBox="1"/>
          <p:nvPr/>
        </p:nvSpPr>
        <p:spPr>
          <a:xfrm>
            <a:off x="8503920" y="292608"/>
            <a:ext cx="3474720" cy="365760"/>
          </a:xfrm>
          <a:prstGeom prst="rect">
            <a:avLst/>
          </a:prstGeom>
          <a:noFill/>
        </p:spPr>
        <p:txBody>
          <a:bodyPr wrap="square" lIns="0" rIns="0" tIns="0" bIns="0">
            <a:noAutofit/>
          </a:bodyPr>
          <a:lstStyle/>
          <a:p>
            <a:pPr algn="r"/>
            <a:r>
              <a:rPr sz="1200" b="1" i="0">
                <a:solidFill>
                  <a:srgbClr val="01A296"/>
                </a:solidFill>
                <a:latin typeface="Calibri"/>
              </a:rPr>
              <a:t>PROFITPULSE</a:t>
            </a:r>
          </a:p>
        </p:txBody>
      </p:sp>
      <p:sp>
        <p:nvSpPr>
          <p:cNvPr id="6" name="Rectangle 5"/>
          <p:cNvSpPr/>
          <p:nvPr/>
        </p:nvSpPr>
        <p:spPr>
          <a:xfrm>
            <a:off x="320040" y="6446520"/>
            <a:ext cx="11521440" cy="9525"/>
          </a:xfrm>
          <a:prstGeom prst="rect">
            <a:avLst/>
          </a:prstGeom>
          <a:solidFill>
            <a:srgbClr val="000000">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10528"/>
            <a:ext cx="8686800" cy="274320"/>
          </a:xfrm>
          <a:prstGeom prst="rect">
            <a:avLst/>
          </a:prstGeom>
          <a:noFill/>
        </p:spPr>
        <p:txBody>
          <a:bodyPr wrap="square" lIns="0" rIns="0" tIns="0" bIns="0">
            <a:noAutofit/>
          </a:bodyPr>
          <a:lstStyle/>
          <a:p>
            <a:pPr algn="l"/>
            <a:r>
              <a:rPr sz="800" b="0" i="0">
                <a:solidFill>
                  <a:srgbClr val="000000">
                    <a:alpha val="55000"/>
                  </a:srgbClr>
                </a:solidFill>
                <a:latin typeface="Calibri"/>
              </a:rPr>
              <a:t>Prepared by Nitesh Roopa, CA, Managing Partner, ProfitPulse, Profit-Pulse.com.au</a:t>
            </a:r>
          </a:p>
        </p:txBody>
      </p:sp>
      <p:sp>
        <p:nvSpPr>
          <p:cNvPr id="8" name="TextBox 7"/>
          <p:cNvSpPr txBox="1"/>
          <p:nvPr/>
        </p:nvSpPr>
        <p:spPr>
          <a:xfrm>
            <a:off x="9601200" y="6510528"/>
            <a:ext cx="2240280" cy="274320"/>
          </a:xfrm>
          <a:prstGeom prst="rect">
            <a:avLst/>
          </a:prstGeom>
          <a:noFill/>
        </p:spPr>
        <p:txBody>
          <a:bodyPr wrap="square" lIns="0" rIns="0" tIns="0" bIns="0">
            <a:noAutofit/>
          </a:bodyPr>
          <a:lstStyle/>
          <a:p>
            <a:pPr algn="r"/>
            <a:r>
              <a:rPr sz="800" b="0" i="0">
                <a:solidFill>
                  <a:srgbClr val="000000">
                    <a:alpha val="55000"/>
                  </a:srgbClr>
                </a:solidFill>
                <a:latin typeface="Calibri"/>
              </a:rPr>
              <a:t>07 Aug 2026</a:t>
            </a:r>
          </a:p>
        </p:txBody>
      </p:sp>
      <p:sp>
        <p:nvSpPr>
          <p:cNvPr id="9" name="TextBox 8"/>
          <p:cNvSpPr txBox="1"/>
          <p:nvPr/>
        </p:nvSpPr>
        <p:spPr>
          <a:xfrm>
            <a:off x="320040" y="1051560"/>
            <a:ext cx="8686800" cy="685800"/>
          </a:xfrm>
          <a:prstGeom prst="rect">
            <a:avLst/>
          </a:prstGeom>
          <a:noFill/>
        </p:spPr>
        <p:txBody>
          <a:bodyPr wrap="square" lIns="0" rIns="0" tIns="0" bIns="0">
            <a:noAutofit/>
          </a:bodyPr>
          <a:lstStyle/>
          <a:p>
            <a:pPr algn="l"/>
            <a:r>
              <a:rPr sz="4000" b="1" i="0">
                <a:solidFill>
                  <a:srgbClr val="000000"/>
                </a:solidFill>
                <a:latin typeface="Cambria"/>
              </a:rPr>
              <a:t>Taskforce Australia</a:t>
            </a:r>
          </a:p>
        </p:txBody>
      </p:sp>
      <p:sp>
        <p:nvSpPr>
          <p:cNvPr id="10" name="TextBox 9"/>
          <p:cNvSpPr txBox="1"/>
          <p:nvPr/>
        </p:nvSpPr>
        <p:spPr>
          <a:xfrm>
            <a:off x="320040" y="1719072"/>
            <a:ext cx="11338560" cy="320040"/>
          </a:xfrm>
          <a:prstGeom prst="rect">
            <a:avLst/>
          </a:prstGeom>
          <a:noFill/>
        </p:spPr>
        <p:txBody>
          <a:bodyPr wrap="square" lIns="0" rIns="0" tIns="0" bIns="0">
            <a:noAutofit/>
          </a:bodyPr>
          <a:lstStyle/>
          <a:p>
            <a:pPr algn="l"/>
            <a:r>
              <a:rPr sz="1300" b="0" i="0">
                <a:solidFill>
                  <a:srgbClr val="000000">
                    <a:alpha val="65000"/>
                  </a:srgbClr>
                </a:solidFill>
                <a:latin typeface="Calibri"/>
              </a:rPr>
              <a:t>Property compliance and maintenance network, Burnley, Melbourne VIC</a:t>
            </a:r>
          </a:p>
        </p:txBody>
      </p:sp>
      <p:sp>
        <p:nvSpPr>
          <p:cNvPr id="11" name="Rectangle 10"/>
          <p:cNvSpPr/>
          <p:nvPr/>
        </p:nvSpPr>
        <p:spPr>
          <a:xfrm>
            <a:off x="184254" y="2194560"/>
            <a:ext cx="1856231"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4254" y="2194560"/>
            <a:ext cx="1856231"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1414" y="2340864"/>
            <a:ext cx="1581911" cy="457200"/>
          </a:xfrm>
          <a:prstGeom prst="rect">
            <a:avLst/>
          </a:prstGeom>
          <a:noFill/>
        </p:spPr>
        <p:txBody>
          <a:bodyPr wrap="square" lIns="0" rIns="0" tIns="0" bIns="0">
            <a:noAutofit/>
          </a:bodyPr>
          <a:lstStyle/>
          <a:p>
            <a:pPr algn="l"/>
            <a:r>
              <a:rPr sz="2700" b="1" i="0">
                <a:solidFill>
                  <a:srgbClr val="F8C806"/>
                </a:solidFill>
                <a:latin typeface="Cambria"/>
              </a:rPr>
              <a:t>$12.8M</a:t>
            </a:r>
          </a:p>
        </p:txBody>
      </p:sp>
      <p:sp>
        <p:nvSpPr>
          <p:cNvPr id="14" name="TextBox 13"/>
          <p:cNvSpPr txBox="1"/>
          <p:nvPr/>
        </p:nvSpPr>
        <p:spPr>
          <a:xfrm>
            <a:off x="321414" y="2816352"/>
            <a:ext cx="1581911" cy="502920"/>
          </a:xfrm>
          <a:prstGeom prst="rect">
            <a:avLst/>
          </a:prstGeom>
          <a:noFill/>
        </p:spPr>
        <p:txBody>
          <a:bodyPr wrap="square" lIns="0" rIns="0" tIns="0" bIns="0">
            <a:spAutoFit/>
          </a:bodyPr>
          <a:lstStyle/>
          <a:p>
            <a:pPr algn="l">
              <a:spcAft>
                <a:spcPts val="0"/>
              </a:spcAft>
            </a:pPr>
            <a:r>
              <a:rPr sz="1050" b="0" i="0">
                <a:solidFill>
                  <a:srgbClr val="E6E5DE"/>
                </a:solidFill>
                <a:latin typeface="Calibri"/>
              </a:rPr>
              <a:t>Revenue, FY2025</a:t>
            </a:r>
          </a:p>
          <a:p>
            <a:pPr algn="l">
              <a:spcAft>
                <a:spcPts val="0"/>
              </a:spcAft>
            </a:pPr>
            <a:r>
              <a:rPr sz="1050" b="0" i="0">
                <a:solidFill>
                  <a:srgbClr val="E6E5DE"/>
                </a:solidFill>
                <a:latin typeface="Calibri"/>
              </a:rPr>
              <a:t>reported</a:t>
            </a:r>
          </a:p>
        </p:txBody>
      </p:sp>
      <p:sp>
        <p:nvSpPr>
          <p:cNvPr id="15" name="TextBox 14"/>
          <p:cNvSpPr txBox="1"/>
          <p:nvPr/>
        </p:nvSpPr>
        <p:spPr>
          <a:xfrm>
            <a:off x="321414" y="3401568"/>
            <a:ext cx="1581911" cy="219456"/>
          </a:xfrm>
          <a:prstGeom prst="rect">
            <a:avLst/>
          </a:prstGeom>
          <a:noFill/>
        </p:spPr>
        <p:txBody>
          <a:bodyPr wrap="square" lIns="0" rIns="0" tIns="0" bIns="0">
            <a:noAutofit/>
          </a:bodyPr>
          <a:lstStyle/>
          <a:p>
            <a:pPr algn="l"/>
            <a:r>
              <a:rPr sz="750" b="0" i="1">
                <a:solidFill>
                  <a:srgbClr val="E6E5DE">
                    <a:alpha val="55000"/>
                  </a:srgbClr>
                </a:solidFill>
                <a:latin typeface="Calibri"/>
              </a:rPr>
              <a:t>SmartCompany Smart50 2025</a:t>
            </a:r>
          </a:p>
        </p:txBody>
      </p:sp>
      <p:sp>
        <p:nvSpPr>
          <p:cNvPr id="16" name="Rectangle 15"/>
          <p:cNvSpPr/>
          <p:nvPr/>
        </p:nvSpPr>
        <p:spPr>
          <a:xfrm>
            <a:off x="2177645" y="2194560"/>
            <a:ext cx="1856231"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77645" y="2194560"/>
            <a:ext cx="1856231"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14805" y="2340864"/>
            <a:ext cx="1581911" cy="457200"/>
          </a:xfrm>
          <a:prstGeom prst="rect">
            <a:avLst/>
          </a:prstGeom>
          <a:noFill/>
        </p:spPr>
        <p:txBody>
          <a:bodyPr wrap="square" lIns="0" rIns="0" tIns="0" bIns="0">
            <a:noAutofit/>
          </a:bodyPr>
          <a:lstStyle/>
          <a:p>
            <a:pPr algn="l"/>
            <a:r>
              <a:rPr sz="2700" b="1" i="0">
                <a:solidFill>
                  <a:srgbClr val="F8C806"/>
                </a:solidFill>
                <a:latin typeface="Cambria"/>
              </a:rPr>
              <a:t>31%</a:t>
            </a:r>
          </a:p>
        </p:txBody>
      </p:sp>
      <p:sp>
        <p:nvSpPr>
          <p:cNvPr id="19" name="TextBox 18"/>
          <p:cNvSpPr txBox="1"/>
          <p:nvPr/>
        </p:nvSpPr>
        <p:spPr>
          <a:xfrm>
            <a:off x="2314805" y="2816352"/>
            <a:ext cx="1581911" cy="502920"/>
          </a:xfrm>
          <a:prstGeom prst="rect">
            <a:avLst/>
          </a:prstGeom>
          <a:noFill/>
        </p:spPr>
        <p:txBody>
          <a:bodyPr wrap="square" lIns="0" rIns="0" tIns="0" bIns="0">
            <a:spAutoFit/>
          </a:bodyPr>
          <a:lstStyle/>
          <a:p>
            <a:pPr algn="l">
              <a:spcAft>
                <a:spcPts val="0"/>
              </a:spcAft>
            </a:pPr>
            <a:r>
              <a:rPr sz="1050" b="0" i="0">
                <a:solidFill>
                  <a:srgbClr val="E6E5DE"/>
                </a:solidFill>
                <a:latin typeface="Calibri"/>
              </a:rPr>
              <a:t>Revenue growth,</a:t>
            </a:r>
          </a:p>
          <a:p>
            <a:pPr algn="l">
              <a:spcAft>
                <a:spcPts val="0"/>
              </a:spcAft>
            </a:pPr>
            <a:r>
              <a:rPr sz="1050" b="0" i="0">
                <a:solidFill>
                  <a:srgbClr val="E6E5DE"/>
                </a:solidFill>
                <a:latin typeface="Calibri"/>
              </a:rPr>
              <a:t>year on year</a:t>
            </a:r>
          </a:p>
        </p:txBody>
      </p:sp>
      <p:sp>
        <p:nvSpPr>
          <p:cNvPr id="20" name="TextBox 19"/>
          <p:cNvSpPr txBox="1"/>
          <p:nvPr/>
        </p:nvSpPr>
        <p:spPr>
          <a:xfrm>
            <a:off x="2314805" y="3401568"/>
            <a:ext cx="1581911" cy="219456"/>
          </a:xfrm>
          <a:prstGeom prst="rect">
            <a:avLst/>
          </a:prstGeom>
          <a:noFill/>
        </p:spPr>
        <p:txBody>
          <a:bodyPr wrap="square" lIns="0" rIns="0" tIns="0" bIns="0">
            <a:noAutofit/>
          </a:bodyPr>
          <a:lstStyle/>
          <a:p>
            <a:pPr algn="l"/>
            <a:r>
              <a:rPr sz="750" b="0" i="1">
                <a:solidFill>
                  <a:srgbClr val="E6E5DE">
                    <a:alpha val="55000"/>
                  </a:srgbClr>
                </a:solidFill>
                <a:latin typeface="Calibri"/>
              </a:rPr>
              <a:t>SmartCompany Smart50 2025</a:t>
            </a:r>
          </a:p>
        </p:txBody>
      </p:sp>
      <p:sp>
        <p:nvSpPr>
          <p:cNvPr id="21" name="Rectangle 20"/>
          <p:cNvSpPr/>
          <p:nvPr/>
        </p:nvSpPr>
        <p:spPr>
          <a:xfrm>
            <a:off x="4171036" y="2194560"/>
            <a:ext cx="1856231"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71036" y="2194560"/>
            <a:ext cx="1856231"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08196" y="2340864"/>
            <a:ext cx="1581911" cy="457200"/>
          </a:xfrm>
          <a:prstGeom prst="rect">
            <a:avLst/>
          </a:prstGeom>
          <a:noFill/>
        </p:spPr>
        <p:txBody>
          <a:bodyPr wrap="square" lIns="0" rIns="0" tIns="0" bIns="0">
            <a:noAutofit/>
          </a:bodyPr>
          <a:lstStyle/>
          <a:p>
            <a:pPr algn="l"/>
            <a:r>
              <a:rPr sz="2700" b="1" i="0">
                <a:solidFill>
                  <a:srgbClr val="F8C806"/>
                </a:solidFill>
                <a:latin typeface="Cambria"/>
              </a:rPr>
              <a:t>19</a:t>
            </a:r>
          </a:p>
        </p:txBody>
      </p:sp>
      <p:sp>
        <p:nvSpPr>
          <p:cNvPr id="24" name="TextBox 23"/>
          <p:cNvSpPr txBox="1"/>
          <p:nvPr/>
        </p:nvSpPr>
        <p:spPr>
          <a:xfrm>
            <a:off x="4308196" y="2816352"/>
            <a:ext cx="1581911" cy="502920"/>
          </a:xfrm>
          <a:prstGeom prst="rect">
            <a:avLst/>
          </a:prstGeom>
          <a:noFill/>
        </p:spPr>
        <p:txBody>
          <a:bodyPr wrap="square" lIns="0" rIns="0" tIns="0" bIns="0">
            <a:spAutoFit/>
          </a:bodyPr>
          <a:lstStyle/>
          <a:p>
            <a:pPr algn="l">
              <a:spcAft>
                <a:spcPts val="0"/>
              </a:spcAft>
            </a:pPr>
            <a:r>
              <a:rPr sz="1050" b="0" i="0">
                <a:solidFill>
                  <a:srgbClr val="E6E5DE"/>
                </a:solidFill>
                <a:latin typeface="Calibri"/>
              </a:rPr>
              <a:t>Internal team</a:t>
            </a:r>
          </a:p>
          <a:p>
            <a:pPr algn="l">
              <a:spcAft>
                <a:spcPts val="0"/>
              </a:spcAft>
            </a:pPr>
            <a:r>
              <a:rPr sz="1050" b="0" i="0">
                <a:solidFill>
                  <a:srgbClr val="E6E5DE"/>
                </a:solidFill>
                <a:latin typeface="Calibri"/>
              </a:rPr>
              <a:t>members</a:t>
            </a:r>
          </a:p>
        </p:txBody>
      </p:sp>
      <p:sp>
        <p:nvSpPr>
          <p:cNvPr id="25" name="TextBox 24"/>
          <p:cNvSpPr txBox="1"/>
          <p:nvPr/>
        </p:nvSpPr>
        <p:spPr>
          <a:xfrm>
            <a:off x="4308196" y="3401568"/>
            <a:ext cx="1581911" cy="219456"/>
          </a:xfrm>
          <a:prstGeom prst="rect">
            <a:avLst/>
          </a:prstGeom>
          <a:noFill/>
        </p:spPr>
        <p:txBody>
          <a:bodyPr wrap="square" lIns="0" rIns="0" tIns="0" bIns="0">
            <a:noAutofit/>
          </a:bodyPr>
          <a:lstStyle/>
          <a:p>
            <a:pPr algn="l"/>
            <a:r>
              <a:rPr sz="750" b="0" i="1">
                <a:solidFill>
                  <a:srgbClr val="E6E5DE">
                    <a:alpha val="55000"/>
                  </a:srgbClr>
                </a:solidFill>
                <a:latin typeface="Calibri"/>
              </a:rPr>
              <a:t>SmartCompany Smart50 2025</a:t>
            </a:r>
          </a:p>
        </p:txBody>
      </p:sp>
      <p:sp>
        <p:nvSpPr>
          <p:cNvPr id="26" name="Rectangle 25"/>
          <p:cNvSpPr/>
          <p:nvPr/>
        </p:nvSpPr>
        <p:spPr>
          <a:xfrm>
            <a:off x="6164427" y="2194560"/>
            <a:ext cx="1856231"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4427" y="2194560"/>
            <a:ext cx="1856231"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1587" y="2340864"/>
            <a:ext cx="1581911" cy="457200"/>
          </a:xfrm>
          <a:prstGeom prst="rect">
            <a:avLst/>
          </a:prstGeom>
          <a:noFill/>
        </p:spPr>
        <p:txBody>
          <a:bodyPr wrap="square" lIns="0" rIns="0" tIns="0" bIns="0">
            <a:noAutofit/>
          </a:bodyPr>
          <a:lstStyle/>
          <a:p>
            <a:pPr algn="l"/>
            <a:r>
              <a:rPr sz="2700" b="1" i="0">
                <a:solidFill>
                  <a:srgbClr val="F8C806"/>
                </a:solidFill>
                <a:latin typeface="Cambria"/>
              </a:rPr>
              <a:t>5,000</a:t>
            </a:r>
          </a:p>
        </p:txBody>
      </p:sp>
      <p:sp>
        <p:nvSpPr>
          <p:cNvPr id="29" name="TextBox 28"/>
          <p:cNvSpPr txBox="1"/>
          <p:nvPr/>
        </p:nvSpPr>
        <p:spPr>
          <a:xfrm>
            <a:off x="6301587" y="2816352"/>
            <a:ext cx="1581911" cy="502920"/>
          </a:xfrm>
          <a:prstGeom prst="rect">
            <a:avLst/>
          </a:prstGeom>
          <a:noFill/>
        </p:spPr>
        <p:txBody>
          <a:bodyPr wrap="square" lIns="0" rIns="0" tIns="0" bIns="0">
            <a:spAutoFit/>
          </a:bodyPr>
          <a:lstStyle/>
          <a:p>
            <a:pPr algn="l">
              <a:spcAft>
                <a:spcPts val="0"/>
              </a:spcAft>
            </a:pPr>
            <a:r>
              <a:rPr sz="1050" b="0" i="0">
                <a:solidFill>
                  <a:srgbClr val="E6E5DE"/>
                </a:solidFill>
                <a:latin typeface="Calibri"/>
              </a:rPr>
              <a:t>Tradespeople in</a:t>
            </a:r>
          </a:p>
          <a:p>
            <a:pPr algn="l">
              <a:spcAft>
                <a:spcPts val="0"/>
              </a:spcAft>
            </a:pPr>
            <a:r>
              <a:rPr sz="1050" b="0" i="0">
                <a:solidFill>
                  <a:srgbClr val="E6E5DE"/>
                </a:solidFill>
                <a:latin typeface="Calibri"/>
              </a:rPr>
              <a:t>national network</a:t>
            </a:r>
          </a:p>
        </p:txBody>
      </p:sp>
      <p:sp>
        <p:nvSpPr>
          <p:cNvPr id="30" name="TextBox 29"/>
          <p:cNvSpPr txBox="1"/>
          <p:nvPr/>
        </p:nvSpPr>
        <p:spPr>
          <a:xfrm>
            <a:off x="6301587" y="3401568"/>
            <a:ext cx="1581911" cy="219456"/>
          </a:xfrm>
          <a:prstGeom prst="rect">
            <a:avLst/>
          </a:prstGeom>
          <a:noFill/>
        </p:spPr>
        <p:txBody>
          <a:bodyPr wrap="square" lIns="0" rIns="0" tIns="0" bIns="0">
            <a:noAutofit/>
          </a:bodyPr>
          <a:lstStyle/>
          <a:p>
            <a:pPr algn="l"/>
            <a:r>
              <a:rPr sz="750" b="0" i="1">
                <a:solidFill>
                  <a:srgbClr val="E6E5DE">
                    <a:alpha val="55000"/>
                  </a:srgbClr>
                </a:solidFill>
                <a:latin typeface="Calibri"/>
              </a:rPr>
              <a:t>Taskforce, Real plus release</a:t>
            </a:r>
          </a:p>
        </p:txBody>
      </p:sp>
      <p:sp>
        <p:nvSpPr>
          <p:cNvPr id="31" name="Rectangle 30"/>
          <p:cNvSpPr/>
          <p:nvPr/>
        </p:nvSpPr>
        <p:spPr>
          <a:xfrm>
            <a:off x="8157818" y="2194560"/>
            <a:ext cx="1856231"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57818" y="2194560"/>
            <a:ext cx="1856231"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94978" y="2340864"/>
            <a:ext cx="1581911" cy="457200"/>
          </a:xfrm>
          <a:prstGeom prst="rect">
            <a:avLst/>
          </a:prstGeom>
          <a:noFill/>
        </p:spPr>
        <p:txBody>
          <a:bodyPr wrap="square" lIns="0" rIns="0" tIns="0" bIns="0">
            <a:noAutofit/>
          </a:bodyPr>
          <a:lstStyle/>
          <a:p>
            <a:pPr algn="l"/>
            <a:r>
              <a:rPr sz="2700" b="1" i="0">
                <a:solidFill>
                  <a:srgbClr val="F8C806"/>
                </a:solidFill>
                <a:latin typeface="Cambria"/>
              </a:rPr>
              <a:t>500</a:t>
            </a:r>
          </a:p>
        </p:txBody>
      </p:sp>
      <p:sp>
        <p:nvSpPr>
          <p:cNvPr id="34" name="TextBox 33"/>
          <p:cNvSpPr txBox="1"/>
          <p:nvPr/>
        </p:nvSpPr>
        <p:spPr>
          <a:xfrm>
            <a:off x="8294978" y="2816352"/>
            <a:ext cx="1581911" cy="502920"/>
          </a:xfrm>
          <a:prstGeom prst="rect">
            <a:avLst/>
          </a:prstGeom>
          <a:noFill/>
        </p:spPr>
        <p:txBody>
          <a:bodyPr wrap="square" lIns="0" rIns="0" tIns="0" bIns="0">
            <a:spAutoFit/>
          </a:bodyPr>
          <a:lstStyle/>
          <a:p>
            <a:pPr algn="l">
              <a:spcAft>
                <a:spcPts val="0"/>
              </a:spcAft>
            </a:pPr>
            <a:r>
              <a:rPr sz="1050" b="0" i="0">
                <a:solidFill>
                  <a:srgbClr val="E6E5DE"/>
                </a:solidFill>
                <a:latin typeface="Calibri"/>
              </a:rPr>
              <a:t>Real estate agencies</a:t>
            </a:r>
          </a:p>
          <a:p>
            <a:pPr algn="l">
              <a:spcAft>
                <a:spcPts val="0"/>
              </a:spcAft>
            </a:pPr>
            <a:r>
              <a:rPr sz="1050" b="0" i="0">
                <a:solidFill>
                  <a:srgbClr val="E6E5DE"/>
                </a:solidFill>
                <a:latin typeface="Calibri"/>
              </a:rPr>
              <a:t>served nationally</a:t>
            </a:r>
          </a:p>
        </p:txBody>
      </p:sp>
      <p:sp>
        <p:nvSpPr>
          <p:cNvPr id="35" name="TextBox 34"/>
          <p:cNvSpPr txBox="1"/>
          <p:nvPr/>
        </p:nvSpPr>
        <p:spPr>
          <a:xfrm>
            <a:off x="8294978" y="3401568"/>
            <a:ext cx="1581911" cy="219456"/>
          </a:xfrm>
          <a:prstGeom prst="rect">
            <a:avLst/>
          </a:prstGeom>
          <a:noFill/>
        </p:spPr>
        <p:txBody>
          <a:bodyPr wrap="square" lIns="0" rIns="0" tIns="0" bIns="0">
            <a:noAutofit/>
          </a:bodyPr>
          <a:lstStyle/>
          <a:p>
            <a:pPr algn="l"/>
            <a:r>
              <a:rPr sz="750" b="0" i="1">
                <a:solidFill>
                  <a:srgbClr val="E6E5DE">
                    <a:alpha val="55000"/>
                  </a:srgbClr>
                </a:solidFill>
                <a:latin typeface="Calibri"/>
              </a:rPr>
              <a:t>PropertyMe integrator profile</a:t>
            </a:r>
          </a:p>
        </p:txBody>
      </p:sp>
      <p:sp>
        <p:nvSpPr>
          <p:cNvPr id="36" name="Rectangle 35"/>
          <p:cNvSpPr/>
          <p:nvPr/>
        </p:nvSpPr>
        <p:spPr>
          <a:xfrm>
            <a:off x="10151209" y="2194560"/>
            <a:ext cx="1856231"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151209" y="2194560"/>
            <a:ext cx="1856231"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88369" y="2340864"/>
            <a:ext cx="1581911" cy="457200"/>
          </a:xfrm>
          <a:prstGeom prst="rect">
            <a:avLst/>
          </a:prstGeom>
          <a:noFill/>
        </p:spPr>
        <p:txBody>
          <a:bodyPr wrap="square" lIns="0" rIns="0" tIns="0" bIns="0">
            <a:noAutofit/>
          </a:bodyPr>
          <a:lstStyle/>
          <a:p>
            <a:pPr algn="l"/>
            <a:r>
              <a:rPr sz="2700" b="1" i="0">
                <a:solidFill>
                  <a:srgbClr val="F8C806"/>
                </a:solidFill>
                <a:latin typeface="Cambria"/>
              </a:rPr>
              <a:t>2014</a:t>
            </a:r>
          </a:p>
        </p:txBody>
      </p:sp>
      <p:sp>
        <p:nvSpPr>
          <p:cNvPr id="39" name="TextBox 38"/>
          <p:cNvSpPr txBox="1"/>
          <p:nvPr/>
        </p:nvSpPr>
        <p:spPr>
          <a:xfrm>
            <a:off x="10288369" y="2816352"/>
            <a:ext cx="1581911" cy="502920"/>
          </a:xfrm>
          <a:prstGeom prst="rect">
            <a:avLst/>
          </a:prstGeom>
          <a:noFill/>
        </p:spPr>
        <p:txBody>
          <a:bodyPr wrap="square" lIns="0" rIns="0" tIns="0" bIns="0">
            <a:spAutoFit/>
          </a:bodyPr>
          <a:lstStyle/>
          <a:p>
            <a:pPr algn="l">
              <a:spcAft>
                <a:spcPts val="0"/>
              </a:spcAft>
            </a:pPr>
            <a:r>
              <a:rPr sz="1050" b="0" i="0">
                <a:solidFill>
                  <a:srgbClr val="E6E5DE"/>
                </a:solidFill>
                <a:latin typeface="Calibri"/>
              </a:rPr>
              <a:t>Founded, Burnley,</a:t>
            </a:r>
          </a:p>
          <a:p>
            <a:pPr algn="l">
              <a:spcAft>
                <a:spcPts val="0"/>
              </a:spcAft>
            </a:pPr>
            <a:r>
              <a:rPr sz="1050" b="0" i="0">
                <a:solidFill>
                  <a:srgbClr val="E6E5DE"/>
                </a:solidFill>
                <a:latin typeface="Calibri"/>
              </a:rPr>
              <a:t>Melbourne VIC</a:t>
            </a:r>
          </a:p>
        </p:txBody>
      </p:sp>
      <p:sp>
        <p:nvSpPr>
          <p:cNvPr id="40" name="TextBox 39"/>
          <p:cNvSpPr txBox="1"/>
          <p:nvPr/>
        </p:nvSpPr>
        <p:spPr>
          <a:xfrm>
            <a:off x="10288369" y="3401568"/>
            <a:ext cx="1581911" cy="219456"/>
          </a:xfrm>
          <a:prstGeom prst="rect">
            <a:avLst/>
          </a:prstGeom>
          <a:noFill/>
        </p:spPr>
        <p:txBody>
          <a:bodyPr wrap="square" lIns="0" rIns="0" tIns="0" bIns="0">
            <a:noAutofit/>
          </a:bodyPr>
          <a:lstStyle/>
          <a:p>
            <a:pPr algn="l"/>
            <a:r>
              <a:rPr sz="750" b="0" i="1">
                <a:solidFill>
                  <a:srgbClr val="E6E5DE">
                    <a:alpha val="55000"/>
                  </a:srgbClr>
                </a:solidFill>
                <a:latin typeface="Calibri"/>
              </a:rPr>
              <a:t>SmartCompany Smart50 2025</a:t>
            </a:r>
          </a:p>
        </p:txBody>
      </p:sp>
      <p:sp>
        <p:nvSpPr>
          <p:cNvPr id="41" name="TextBox 40"/>
          <p:cNvSpPr txBox="1"/>
          <p:nvPr/>
        </p:nvSpPr>
        <p:spPr>
          <a:xfrm>
            <a:off x="320040" y="3977639"/>
            <a:ext cx="5486400" cy="274320"/>
          </a:xfrm>
          <a:prstGeom prst="rect">
            <a:avLst/>
          </a:prstGeom>
          <a:noFill/>
        </p:spPr>
        <p:txBody>
          <a:bodyPr wrap="square" lIns="0" rIns="0" tIns="0" bIns="0">
            <a:noAutofit/>
          </a:bodyPr>
          <a:lstStyle/>
          <a:p>
            <a:pPr algn="l"/>
            <a:r>
              <a:rPr sz="1200" b="1" i="0">
                <a:solidFill>
                  <a:srgbClr val="01A296"/>
                </a:solidFill>
                <a:latin typeface="Calibri"/>
              </a:rPr>
              <a:t>KEY COMMERCIAL SIGNALS</a:t>
            </a:r>
          </a:p>
        </p:txBody>
      </p:sp>
      <p:sp>
        <p:nvSpPr>
          <p:cNvPr id="42" name="TextBox 41"/>
          <p:cNvSpPr txBox="1"/>
          <p:nvPr/>
        </p:nvSpPr>
        <p:spPr>
          <a:xfrm>
            <a:off x="320040" y="4315968"/>
            <a:ext cx="11521440" cy="2011680"/>
          </a:xfrm>
          <a:prstGeom prst="rect">
            <a:avLst/>
          </a:prstGeom>
          <a:noFill/>
        </p:spPr>
        <p:txBody>
          <a:bodyPr wrap="square" lIns="0" rIns="0" tIns="0" bIns="0">
            <a:spAutoFit/>
          </a:bodyPr>
          <a:lstStyle/>
          <a:p>
            <a:pPr algn="l">
              <a:spcAft>
                <a:spcPts val="600"/>
              </a:spcAft>
            </a:pPr>
            <a:r>
              <a:rPr sz="1150" b="0" i="0">
                <a:solidFill>
                  <a:srgbClr val="000000"/>
                </a:solidFill>
                <a:latin typeface="Calibri"/>
              </a:rPr>
              <a:t>▪  Revenue grew 31 percent year on year to $12.8 million, Smart50 2025 rank 37.</a:t>
            </a:r>
          </a:p>
          <a:p>
            <a:pPr algn="l">
              <a:spcAft>
                <a:spcPts val="600"/>
              </a:spcAft>
            </a:pPr>
            <a:r>
              <a:rPr sz="1150" b="0" i="0">
                <a:solidFill>
                  <a:srgbClr val="000000"/>
                </a:solidFill>
                <a:latin typeface="Calibri"/>
              </a:rPr>
              <a:t>▪  New 2025 partnership with Real plus extends reach across property agencies nationally.</a:t>
            </a:r>
          </a:p>
          <a:p>
            <a:pPr algn="l">
              <a:spcAft>
                <a:spcPts val="600"/>
              </a:spcAft>
            </a:pPr>
            <a:r>
              <a:rPr sz="1150" b="0" i="0">
                <a:solidFill>
                  <a:srgbClr val="000000"/>
                </a:solidFill>
                <a:latin typeface="Calibri"/>
              </a:rPr>
              <a:t>▪  Platform integrates with PropertyMe, MRI Property Tree and Console, serving 500 agencies.</a:t>
            </a:r>
          </a:p>
          <a:p>
            <a:pPr algn="l">
              <a:spcAft>
                <a:spcPts val="600"/>
              </a:spcAft>
            </a:pPr>
            <a:r>
              <a:rPr sz="1150" b="0" i="0">
                <a:solidFill>
                  <a:srgbClr val="000000"/>
                </a:solidFill>
                <a:latin typeface="Calibri"/>
              </a:rPr>
              <a:t>▪  National network of 5,000 tradespeople delivers compliance, maintenance and warranty work.</a:t>
            </a:r>
          </a:p>
          <a:p>
            <a:pPr algn="l">
              <a:spcAft>
                <a:spcPts val="600"/>
              </a:spcAft>
            </a:pPr>
            <a:r>
              <a:rPr sz="1150" b="0" i="0">
                <a:solidFill>
                  <a:srgbClr val="000000"/>
                </a:solidFill>
                <a:latin typeface="Calibri"/>
              </a:rPr>
              <a:t>▪  Named Victorian State Winner for Outstanding Growth, 2024 Telstra Best of Business Awards.</a:t>
            </a:r>
          </a:p>
          <a:p>
            <a:pPr algn="l">
              <a:spcAft>
                <a:spcPts val="600"/>
              </a:spcAft>
            </a:pPr>
            <a:r>
              <a:rPr sz="1150" b="0" i="0">
                <a:solidFill>
                  <a:srgbClr val="000000"/>
                </a:solidFill>
                <a:latin typeface="Calibri"/>
              </a:rPr>
              <a:t>▪  Winner, Proptech Association Awards 2024, for the RentSafe and RentRepair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Calibri"/>
              </a:rPr>
              <a:t>THE OPPORTUNITY</a:t>
            </a:r>
          </a:p>
        </p:txBody>
      </p:sp>
      <p:sp>
        <p:nvSpPr>
          <p:cNvPr id="5" name="TextBox 4"/>
          <p:cNvSpPr txBox="1"/>
          <p:nvPr/>
        </p:nvSpPr>
        <p:spPr>
          <a:xfrm>
            <a:off x="8503920" y="292608"/>
            <a:ext cx="3474720" cy="365760"/>
          </a:xfrm>
          <a:prstGeom prst="rect">
            <a:avLst/>
          </a:prstGeom>
          <a:noFill/>
        </p:spPr>
        <p:txBody>
          <a:bodyPr wrap="square" lIns="0" rIns="0" tIns="0" bIns="0">
            <a:noAutofit/>
          </a:bodyPr>
          <a:lstStyle/>
          <a:p>
            <a:pPr algn="r"/>
            <a:r>
              <a:rPr sz="1200" b="1" i="0">
                <a:solidFill>
                  <a:srgbClr val="01A296"/>
                </a:solidFill>
                <a:latin typeface="Calibri"/>
              </a:rPr>
              <a:t>TASKFORCE AUSTRALIA</a:t>
            </a:r>
          </a:p>
        </p:txBody>
      </p:sp>
      <p:sp>
        <p:nvSpPr>
          <p:cNvPr id="6" name="Rectangle 5"/>
          <p:cNvSpPr/>
          <p:nvPr/>
        </p:nvSpPr>
        <p:spPr>
          <a:xfrm>
            <a:off x="320040" y="6446520"/>
            <a:ext cx="11521440" cy="9525"/>
          </a:xfrm>
          <a:prstGeom prst="rect">
            <a:avLst/>
          </a:prstGeom>
          <a:solidFill>
            <a:srgbClr val="000000">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10528"/>
            <a:ext cx="8686800" cy="274320"/>
          </a:xfrm>
          <a:prstGeom prst="rect">
            <a:avLst/>
          </a:prstGeom>
          <a:noFill/>
        </p:spPr>
        <p:txBody>
          <a:bodyPr wrap="square" lIns="0" rIns="0" tIns="0" bIns="0">
            <a:noAutofit/>
          </a:bodyPr>
          <a:lstStyle/>
          <a:p>
            <a:pPr algn="l"/>
            <a:r>
              <a:rPr sz="800" b="0" i="0">
                <a:solidFill>
                  <a:srgbClr val="000000">
                    <a:alpha val="55000"/>
                  </a:srgbClr>
                </a:solidFill>
                <a:latin typeface="Calibri"/>
              </a:rPr>
              <a:t>Prepared by Nitesh Roopa, CA, Managing Partner, ProfitPulse, Profit-Pulse.com.au</a:t>
            </a:r>
          </a:p>
        </p:txBody>
      </p:sp>
      <p:sp>
        <p:nvSpPr>
          <p:cNvPr id="8" name="TextBox 7"/>
          <p:cNvSpPr txBox="1"/>
          <p:nvPr/>
        </p:nvSpPr>
        <p:spPr>
          <a:xfrm>
            <a:off x="9601200" y="6510528"/>
            <a:ext cx="2240280" cy="274320"/>
          </a:xfrm>
          <a:prstGeom prst="rect">
            <a:avLst/>
          </a:prstGeom>
          <a:noFill/>
        </p:spPr>
        <p:txBody>
          <a:bodyPr wrap="square" lIns="0" rIns="0" tIns="0" bIns="0">
            <a:noAutofit/>
          </a:bodyPr>
          <a:lstStyle/>
          <a:p>
            <a:pPr algn="r"/>
            <a:r>
              <a:rPr sz="800" b="0" i="0">
                <a:solidFill>
                  <a:srgbClr val="000000">
                    <a:alpha val="55000"/>
                  </a:srgbClr>
                </a:solidFill>
                <a:latin typeface="Calibri"/>
              </a:rPr>
              <a:t>07 Aug 2026</a:t>
            </a:r>
          </a:p>
        </p:txBody>
      </p:sp>
      <p:sp>
        <p:nvSpPr>
          <p:cNvPr id="9" name="TextBox 8"/>
          <p:cNvSpPr txBox="1"/>
          <p:nvPr/>
        </p:nvSpPr>
        <p:spPr>
          <a:xfrm>
            <a:off x="320040" y="1024128"/>
            <a:ext cx="11521440" cy="365760"/>
          </a:xfrm>
          <a:prstGeom prst="rect">
            <a:avLst/>
          </a:prstGeom>
          <a:noFill/>
        </p:spPr>
        <p:txBody>
          <a:bodyPr wrap="square" lIns="0" rIns="0" tIns="0" bIns="0">
            <a:noAutofit/>
          </a:bodyPr>
          <a:lstStyle/>
          <a:p>
            <a:pPr algn="l"/>
            <a:r>
              <a:rPr sz="2000" b="1" i="0">
                <a:solidFill>
                  <a:srgbClr val="000000"/>
                </a:solidFill>
                <a:latin typeface="Cambria"/>
              </a:rPr>
              <a:t>Three commercial observations from ProfitPulse</a:t>
            </a:r>
          </a:p>
        </p:txBody>
      </p:sp>
      <p:sp>
        <p:nvSpPr>
          <p:cNvPr id="10" name="Rectangle 9"/>
          <p:cNvSpPr/>
          <p:nvPr/>
        </p:nvSpPr>
        <p:spPr>
          <a:xfrm>
            <a:off x="320040" y="1554480"/>
            <a:ext cx="3685032" cy="43434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37360"/>
            <a:ext cx="3227832" cy="640080"/>
          </a:xfrm>
          <a:prstGeom prst="rect">
            <a:avLst/>
          </a:prstGeom>
          <a:noFill/>
        </p:spPr>
        <p:txBody>
          <a:bodyPr wrap="square" lIns="0" rIns="0" tIns="0" bIns="0">
            <a:noAutofit/>
          </a:bodyPr>
          <a:lstStyle/>
          <a:p>
            <a:pPr algn="l"/>
            <a:r>
              <a:rPr sz="3400" b="1" i="0">
                <a:solidFill>
                  <a:srgbClr val="000000"/>
                </a:solidFill>
                <a:latin typeface="Cambria"/>
              </a:rPr>
              <a:t>01</a:t>
            </a:r>
          </a:p>
        </p:txBody>
      </p:sp>
      <p:sp>
        <p:nvSpPr>
          <p:cNvPr id="12" name="TextBox 11"/>
          <p:cNvSpPr txBox="1"/>
          <p:nvPr/>
        </p:nvSpPr>
        <p:spPr>
          <a:xfrm>
            <a:off x="548640" y="2423160"/>
            <a:ext cx="3227832" cy="640080"/>
          </a:xfrm>
          <a:prstGeom prst="rect">
            <a:avLst/>
          </a:prstGeom>
          <a:noFill/>
        </p:spPr>
        <p:txBody>
          <a:bodyPr wrap="square" lIns="0" rIns="0" tIns="0" bIns="0">
            <a:noAutofit/>
          </a:bodyPr>
          <a:lstStyle/>
          <a:p>
            <a:pPr algn="l"/>
            <a:r>
              <a:rPr sz="1500" b="1" i="0">
                <a:solidFill>
                  <a:srgbClr val="FFFFFF"/>
                </a:solidFill>
                <a:latin typeface="Cambria"/>
              </a:rPr>
              <a:t>Three lines, three margins</a:t>
            </a:r>
          </a:p>
        </p:txBody>
      </p:sp>
      <p:sp>
        <p:nvSpPr>
          <p:cNvPr id="13" name="TextBox 12"/>
          <p:cNvSpPr txBox="1"/>
          <p:nvPr/>
        </p:nvSpPr>
        <p:spPr>
          <a:xfrm>
            <a:off x="548640" y="3063240"/>
            <a:ext cx="3227832" cy="2651760"/>
          </a:xfrm>
          <a:prstGeom prst="rect">
            <a:avLst/>
          </a:prstGeom>
          <a:noFill/>
        </p:spPr>
        <p:txBody>
          <a:bodyPr wrap="square" lIns="0" rIns="0" tIns="0" bIns="0">
            <a:spAutoFit/>
          </a:bodyPr>
          <a:lstStyle/>
          <a:p>
            <a:pPr algn="l">
              <a:spcAft>
                <a:spcPts val="0"/>
              </a:spcAft>
            </a:pPr>
            <a:r>
              <a:rPr sz="1050" b="0" i="0">
                <a:solidFill>
                  <a:srgbClr val="FFFFFF"/>
                </a:solidFill>
                <a:latin typeface="Calibri"/>
              </a:rPr>
              <a:t>Taskforce runs three lines: RentSafe compliance checks, RentRepair maintenance and manufacturer warranty servicing. Each carries a different cost base and margin profile. Past $12.8 million in revenue, the real question is whether every line is growing profit as fast as it is growing revenue.</a:t>
            </a:r>
          </a:p>
        </p:txBody>
      </p:sp>
      <p:sp>
        <p:nvSpPr>
          <p:cNvPr id="14" name="Rectangle 13"/>
          <p:cNvSpPr/>
          <p:nvPr/>
        </p:nvSpPr>
        <p:spPr>
          <a:xfrm>
            <a:off x="4114800" y="1554480"/>
            <a:ext cx="3685032" cy="4343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737360"/>
            <a:ext cx="3227832" cy="640080"/>
          </a:xfrm>
          <a:prstGeom prst="rect">
            <a:avLst/>
          </a:prstGeom>
          <a:noFill/>
        </p:spPr>
        <p:txBody>
          <a:bodyPr wrap="square" lIns="0" rIns="0" tIns="0" bIns="0">
            <a:noAutofit/>
          </a:bodyPr>
          <a:lstStyle/>
          <a:p>
            <a:pPr algn="l"/>
            <a:r>
              <a:rPr sz="3400" b="1" i="0">
                <a:solidFill>
                  <a:srgbClr val="01A296"/>
                </a:solidFill>
                <a:latin typeface="Cambria"/>
              </a:rPr>
              <a:t>02</a:t>
            </a:r>
          </a:p>
        </p:txBody>
      </p:sp>
      <p:sp>
        <p:nvSpPr>
          <p:cNvPr id="16" name="TextBox 15"/>
          <p:cNvSpPr txBox="1"/>
          <p:nvPr/>
        </p:nvSpPr>
        <p:spPr>
          <a:xfrm>
            <a:off x="4343400" y="2423160"/>
            <a:ext cx="3227832" cy="640080"/>
          </a:xfrm>
          <a:prstGeom prst="rect">
            <a:avLst/>
          </a:prstGeom>
          <a:noFill/>
        </p:spPr>
        <p:txBody>
          <a:bodyPr wrap="square" lIns="0" rIns="0" tIns="0" bIns="0">
            <a:noAutofit/>
          </a:bodyPr>
          <a:lstStyle/>
          <a:p>
            <a:pPr algn="l"/>
            <a:r>
              <a:rPr sz="1500" b="1" i="0">
                <a:solidFill>
                  <a:srgbClr val="E6E5DE"/>
                </a:solidFill>
                <a:latin typeface="Cambria"/>
              </a:rPr>
              <a:t>A lean team, a wide network</a:t>
            </a:r>
          </a:p>
        </p:txBody>
      </p:sp>
      <p:sp>
        <p:nvSpPr>
          <p:cNvPr id="17" name="TextBox 16"/>
          <p:cNvSpPr txBox="1"/>
          <p:nvPr/>
        </p:nvSpPr>
        <p:spPr>
          <a:xfrm>
            <a:off x="4343400" y="3063240"/>
            <a:ext cx="3227832" cy="2651760"/>
          </a:xfrm>
          <a:prstGeom prst="rect">
            <a:avLst/>
          </a:prstGeom>
          <a:noFill/>
        </p:spPr>
        <p:txBody>
          <a:bodyPr wrap="square" lIns="0" rIns="0" tIns="0" bIns="0">
            <a:spAutoFit/>
          </a:bodyPr>
          <a:lstStyle/>
          <a:p>
            <a:pPr algn="l">
              <a:spcAft>
                <a:spcPts val="0"/>
              </a:spcAft>
            </a:pPr>
            <a:r>
              <a:rPr sz="1050" b="0" i="0">
                <a:solidFill>
                  <a:srgbClr val="E6E5DE"/>
                </a:solidFill>
                <a:latin typeface="Calibri"/>
              </a:rPr>
              <a:t>Nineteen internal staff coordinate a national network of 5,000 tradespeople across compliance, maintenance and warranty work. That leverage is a real asset, and it also means margin now lives in how well each job type and service line is priced and tracked at scale.</a:t>
            </a:r>
          </a:p>
        </p:txBody>
      </p:sp>
      <p:sp>
        <p:nvSpPr>
          <p:cNvPr id="18" name="Rectangle 17"/>
          <p:cNvSpPr/>
          <p:nvPr/>
        </p:nvSpPr>
        <p:spPr>
          <a:xfrm>
            <a:off x="7909560" y="1554480"/>
            <a:ext cx="3685032" cy="434340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1737360"/>
            <a:ext cx="3227832" cy="640080"/>
          </a:xfrm>
          <a:prstGeom prst="rect">
            <a:avLst/>
          </a:prstGeom>
          <a:noFill/>
        </p:spPr>
        <p:txBody>
          <a:bodyPr wrap="square" lIns="0" rIns="0" tIns="0" bIns="0">
            <a:noAutofit/>
          </a:bodyPr>
          <a:lstStyle/>
          <a:p>
            <a:pPr algn="l"/>
            <a:r>
              <a:rPr sz="3400" b="1" i="0">
                <a:solidFill>
                  <a:srgbClr val="000000"/>
                </a:solidFill>
                <a:latin typeface="Cambria"/>
              </a:rPr>
              <a:t>03</a:t>
            </a:r>
          </a:p>
        </p:txBody>
      </p:sp>
      <p:sp>
        <p:nvSpPr>
          <p:cNvPr id="20" name="TextBox 19"/>
          <p:cNvSpPr txBox="1"/>
          <p:nvPr/>
        </p:nvSpPr>
        <p:spPr>
          <a:xfrm>
            <a:off x="8138160" y="2423160"/>
            <a:ext cx="3227832" cy="640080"/>
          </a:xfrm>
          <a:prstGeom prst="rect">
            <a:avLst/>
          </a:prstGeom>
          <a:noFill/>
        </p:spPr>
        <p:txBody>
          <a:bodyPr wrap="square" lIns="0" rIns="0" tIns="0" bIns="0">
            <a:noAutofit/>
          </a:bodyPr>
          <a:lstStyle/>
          <a:p>
            <a:pPr algn="l"/>
            <a:r>
              <a:rPr sz="1500" b="1" i="0">
                <a:solidFill>
                  <a:srgbClr val="000000"/>
                </a:solidFill>
                <a:latin typeface="Cambria"/>
              </a:rPr>
              <a:t>Three new doors just opened</a:t>
            </a:r>
          </a:p>
        </p:txBody>
      </p:sp>
      <p:sp>
        <p:nvSpPr>
          <p:cNvPr id="21" name="TextBox 20"/>
          <p:cNvSpPr txBox="1"/>
          <p:nvPr/>
        </p:nvSpPr>
        <p:spPr>
          <a:xfrm>
            <a:off x="8138160" y="3063240"/>
            <a:ext cx="3227832" cy="2651760"/>
          </a:xfrm>
          <a:prstGeom prst="rect">
            <a:avLst/>
          </a:prstGeom>
          <a:noFill/>
        </p:spPr>
        <p:txBody>
          <a:bodyPr wrap="square" lIns="0" rIns="0" tIns="0" bIns="0">
            <a:spAutoFit/>
          </a:bodyPr>
          <a:lstStyle/>
          <a:p>
            <a:pPr algn="l">
              <a:spcAft>
                <a:spcPts val="0"/>
              </a:spcAft>
            </a:pPr>
            <a:r>
              <a:rPr sz="1050" b="0" i="0">
                <a:solidFill>
                  <a:srgbClr val="000000"/>
                </a:solidFill>
                <a:latin typeface="Calibri"/>
              </a:rPr>
              <a:t>The 2025 partnership with Real plus, alongside integrations with PropertyMe, MRI Property Tree and Console, opens the platform to more of the 500 agencies it already serves. New distribution is only as valuable as the margin behind the services it sells.</a:t>
            </a:r>
          </a:p>
        </p:txBody>
      </p:sp>
      <p:sp>
        <p:nvSpPr>
          <p:cNvPr id="22" name="TextBox 21"/>
          <p:cNvSpPr txBox="1"/>
          <p:nvPr/>
        </p:nvSpPr>
        <p:spPr>
          <a:xfrm>
            <a:off x="320040" y="5989320"/>
            <a:ext cx="11521440" cy="411480"/>
          </a:xfrm>
          <a:prstGeom prst="rect">
            <a:avLst/>
          </a:prstGeom>
          <a:noFill/>
        </p:spPr>
        <p:txBody>
          <a:bodyPr wrap="square" lIns="0" rIns="0" tIns="0" bIns="0">
            <a:noAutofit/>
          </a:bodyPr>
          <a:lstStyle/>
          <a:p>
            <a:pPr algn="l"/>
            <a:r>
              <a:rPr sz="1050" b="0" i="1">
                <a:solidFill>
                  <a:srgbClr val="000000">
                    <a:alpha val="65000"/>
                  </a:srgbClr>
                </a:solidFill>
                <a:latin typeface="Calibri"/>
              </a:rPr>
              <a:t>These observations are offered in good faith. Taskforce has built something genuinely impressive since 2014. The question is simply whether the margin behind each service line is as clear as the growth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Calibri"/>
              </a:rPr>
              <a:t>THE RECOMMENDATION</a:t>
            </a:r>
          </a:p>
        </p:txBody>
      </p:sp>
      <p:sp>
        <p:nvSpPr>
          <p:cNvPr id="5" name="TextBox 4"/>
          <p:cNvSpPr txBox="1"/>
          <p:nvPr/>
        </p:nvSpPr>
        <p:spPr>
          <a:xfrm>
            <a:off x="8503920" y="292608"/>
            <a:ext cx="3474720" cy="365760"/>
          </a:xfrm>
          <a:prstGeom prst="rect">
            <a:avLst/>
          </a:prstGeom>
          <a:noFill/>
        </p:spPr>
        <p:txBody>
          <a:bodyPr wrap="square" lIns="0" rIns="0" tIns="0" bIns="0">
            <a:noAutofit/>
          </a:bodyPr>
          <a:lstStyle/>
          <a:p>
            <a:pPr algn="r"/>
            <a:r>
              <a:rPr sz="1200" b="1" i="0">
                <a:solidFill>
                  <a:srgbClr val="01A296"/>
                </a:solidFill>
                <a:latin typeface="Calibri"/>
              </a:rPr>
              <a:t>TASKFORCE AUSTRALIA</a:t>
            </a:r>
          </a:p>
        </p:txBody>
      </p:sp>
      <p:sp>
        <p:nvSpPr>
          <p:cNvPr id="6" name="Rectangle 5"/>
          <p:cNvSpPr/>
          <p:nvPr/>
        </p:nvSpPr>
        <p:spPr>
          <a:xfrm>
            <a:off x="320040" y="6446520"/>
            <a:ext cx="11521440" cy="9525"/>
          </a:xfrm>
          <a:prstGeom prst="rect">
            <a:avLst/>
          </a:prstGeom>
          <a:solidFill>
            <a:srgbClr val="000000">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10528"/>
            <a:ext cx="8686800" cy="274320"/>
          </a:xfrm>
          <a:prstGeom prst="rect">
            <a:avLst/>
          </a:prstGeom>
          <a:noFill/>
        </p:spPr>
        <p:txBody>
          <a:bodyPr wrap="square" lIns="0" rIns="0" tIns="0" bIns="0">
            <a:noAutofit/>
          </a:bodyPr>
          <a:lstStyle/>
          <a:p>
            <a:pPr algn="l"/>
            <a:r>
              <a:rPr sz="800" b="0" i="0">
                <a:solidFill>
                  <a:srgbClr val="000000">
                    <a:alpha val="55000"/>
                  </a:srgbClr>
                </a:solidFill>
                <a:latin typeface="Calibri"/>
              </a:rPr>
              <a:t>Prepared by Nitesh Roopa, CA, Managing Partner, ProfitPulse, Profit-Pulse.com.au</a:t>
            </a:r>
          </a:p>
        </p:txBody>
      </p:sp>
      <p:sp>
        <p:nvSpPr>
          <p:cNvPr id="8" name="TextBox 7"/>
          <p:cNvSpPr txBox="1"/>
          <p:nvPr/>
        </p:nvSpPr>
        <p:spPr>
          <a:xfrm>
            <a:off x="9601200" y="6510528"/>
            <a:ext cx="2240280" cy="274320"/>
          </a:xfrm>
          <a:prstGeom prst="rect">
            <a:avLst/>
          </a:prstGeom>
          <a:noFill/>
        </p:spPr>
        <p:txBody>
          <a:bodyPr wrap="square" lIns="0" rIns="0" tIns="0" bIns="0">
            <a:noAutofit/>
          </a:bodyPr>
          <a:lstStyle/>
          <a:p>
            <a:pPr algn="r"/>
            <a:r>
              <a:rPr sz="800" b="0" i="0">
                <a:solidFill>
                  <a:srgbClr val="000000">
                    <a:alpha val="55000"/>
                  </a:srgbClr>
                </a:solidFill>
                <a:latin typeface="Calibri"/>
              </a:rPr>
              <a:t>07 Aug 2026</a:t>
            </a:r>
          </a:p>
        </p:txBody>
      </p:sp>
      <p:sp>
        <p:nvSpPr>
          <p:cNvPr id="9" name="TextBox 8"/>
          <p:cNvSpPr txBox="1"/>
          <p:nvPr/>
        </p:nvSpPr>
        <p:spPr>
          <a:xfrm>
            <a:off x="320040" y="1051560"/>
            <a:ext cx="6949440" cy="502920"/>
          </a:xfrm>
          <a:prstGeom prst="rect">
            <a:avLst/>
          </a:prstGeom>
          <a:noFill/>
        </p:spPr>
        <p:txBody>
          <a:bodyPr wrap="square" lIns="0" rIns="0" tIns="0" bIns="0">
            <a:noAutofit/>
          </a:bodyPr>
          <a:lstStyle/>
          <a:p>
            <a:pPr algn="l"/>
            <a:r>
              <a:rPr sz="2100" b="1" i="0">
                <a:solidFill>
                  <a:srgbClr val="000000"/>
                </a:solidFill>
                <a:latin typeface="Cambria"/>
              </a:rPr>
              <a:t>Product and Service Line Profitability</a:t>
            </a:r>
          </a:p>
        </p:txBody>
      </p:sp>
      <p:sp>
        <p:nvSpPr>
          <p:cNvPr id="10" name="TextBox 9"/>
          <p:cNvSpPr txBox="1"/>
          <p:nvPr/>
        </p:nvSpPr>
        <p:spPr>
          <a:xfrm>
            <a:off x="320040" y="1536192"/>
            <a:ext cx="6949440" cy="365760"/>
          </a:xfrm>
          <a:prstGeom prst="rect">
            <a:avLst/>
          </a:prstGeom>
          <a:noFill/>
        </p:spPr>
        <p:txBody>
          <a:bodyPr wrap="square" lIns="0" rIns="0" tIns="0" bIns="0">
            <a:noAutofit/>
          </a:bodyPr>
          <a:lstStyle/>
          <a:p>
            <a:pPr algn="l"/>
            <a:r>
              <a:rPr sz="1600" b="1" i="0">
                <a:solidFill>
                  <a:srgbClr val="01A296"/>
                </a:solidFill>
                <a:latin typeface="Calibri"/>
              </a:rPr>
              <a:t>$3,950 one off</a:t>
            </a:r>
          </a:p>
        </p:txBody>
      </p:sp>
      <p:sp>
        <p:nvSpPr>
          <p:cNvPr id="11" name="TextBox 10"/>
          <p:cNvSpPr txBox="1"/>
          <p:nvPr/>
        </p:nvSpPr>
        <p:spPr>
          <a:xfrm>
            <a:off x="320040" y="1938528"/>
            <a:ext cx="6949440" cy="914400"/>
          </a:xfrm>
          <a:prstGeom prst="rect">
            <a:avLst/>
          </a:prstGeom>
          <a:noFill/>
        </p:spPr>
        <p:txBody>
          <a:bodyPr wrap="square" lIns="0" rIns="0" tIns="0" bIns="0">
            <a:spAutoFit/>
          </a:bodyPr>
          <a:lstStyle/>
          <a:p>
            <a:pPr algn="l">
              <a:spcAft>
                <a:spcPts val="0"/>
              </a:spcAft>
            </a:pPr>
            <a:r>
              <a:rPr sz="1100" b="0" i="0">
                <a:solidFill>
                  <a:srgbClr val="000000"/>
                </a:solidFill>
                <a:latin typeface="Calibri"/>
              </a:rPr>
              <a:t>A three week project ranking every product or service line by gross margin, contribution margin and operational drag. For Taskforce, that means a clear, sourced view of what RentSafe, RentRepair and manufacturer warranty work each contribute once network payouts, platform costs and service time are counted.</a:t>
            </a:r>
          </a:p>
        </p:txBody>
      </p:sp>
      <p:sp>
        <p:nvSpPr>
          <p:cNvPr id="12" name="Rectangle 11"/>
          <p:cNvSpPr/>
          <p:nvPr/>
        </p:nvSpPr>
        <p:spPr>
          <a:xfrm>
            <a:off x="320040" y="2971800"/>
            <a:ext cx="6949440" cy="1143000"/>
          </a:xfrm>
          <a:prstGeom prst="rect">
            <a:avLst/>
          </a:prstGeom>
          <a:solidFill>
            <a:srgbClr val="E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2971800"/>
            <a:ext cx="54864" cy="11430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108960"/>
            <a:ext cx="6492240" cy="320040"/>
          </a:xfrm>
          <a:prstGeom prst="rect">
            <a:avLst/>
          </a:prstGeom>
          <a:noFill/>
        </p:spPr>
        <p:txBody>
          <a:bodyPr wrap="square" lIns="0" rIns="0" tIns="0" bIns="0">
            <a:noAutofit/>
          </a:bodyPr>
          <a:lstStyle/>
          <a:p>
            <a:pPr algn="l"/>
            <a:r>
              <a:rPr sz="1300" b="1" i="0">
                <a:solidFill>
                  <a:srgbClr val="000000"/>
                </a:solidFill>
                <a:latin typeface="Calibri"/>
              </a:rPr>
              <a:t>Step one, answer a few quick questions</a:t>
            </a:r>
          </a:p>
        </p:txBody>
      </p:sp>
      <p:sp>
        <p:nvSpPr>
          <p:cNvPr id="15" name="TextBox 14"/>
          <p:cNvSpPr txBox="1"/>
          <p:nvPr/>
        </p:nvSpPr>
        <p:spPr>
          <a:xfrm>
            <a:off x="548640" y="3401568"/>
            <a:ext cx="6492240" cy="274320"/>
          </a:xfrm>
          <a:prstGeom prst="rect">
            <a:avLst/>
          </a:prstGeom>
          <a:noFill/>
        </p:spPr>
        <p:txBody>
          <a:bodyPr wrap="square" lIns="0" rIns="0" tIns="0" bIns="0">
            <a:noAutofit/>
          </a:bodyPr>
          <a:lstStyle/>
          <a:p>
            <a:pPr algn="l"/>
            <a:r>
              <a:rPr sz="1100" b="0" i="0">
                <a:solidFill>
                  <a:srgbClr val="000000">
                    <a:alpha val="75000"/>
                  </a:srgbClr>
                </a:solidFill>
                <a:latin typeface="Calibri"/>
              </a:rPr>
              <a:t>See the solutions matched to your size and industry.</a:t>
            </a:r>
          </a:p>
        </p:txBody>
      </p:sp>
      <p:sp>
        <p:nvSpPr>
          <p:cNvPr id="16" name="TextBox 15"/>
          <p:cNvSpPr txBox="1"/>
          <p:nvPr/>
        </p:nvSpPr>
        <p:spPr>
          <a:xfrm>
            <a:off x="548640" y="3675887"/>
            <a:ext cx="6492240" cy="320040"/>
          </a:xfrm>
          <a:prstGeom prst="rect">
            <a:avLst/>
          </a:prstGeom>
          <a:noFill/>
        </p:spPr>
        <p:txBody>
          <a:bodyPr wrap="square" lIns="0" rIns="0" tIns="0" bIns="0">
            <a:spAutoFit/>
          </a:bodyPr>
          <a:lstStyle/>
          <a:p>
            <a:pPr algn="l"/>
            <a:r>
              <a:rPr sz="1200" b="1">
                <a:solidFill>
                  <a:srgbClr val="01A296"/>
                </a:solidFill>
                <a:latin typeface="Calibri"/>
                <a:hlinkClick r:id="rId2"/>
              </a:rPr>
              <a:t>profit-pulse.com.au/services/find-your-fit</a:t>
            </a:r>
          </a:p>
        </p:txBody>
      </p:sp>
      <p:sp>
        <p:nvSpPr>
          <p:cNvPr id="17" name="Rectangle 16"/>
          <p:cNvSpPr/>
          <p:nvPr/>
        </p:nvSpPr>
        <p:spPr>
          <a:xfrm>
            <a:off x="320040" y="4297680"/>
            <a:ext cx="6949440" cy="50292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434840"/>
            <a:ext cx="6492240" cy="274320"/>
          </a:xfrm>
          <a:prstGeom prst="rect">
            <a:avLst/>
          </a:prstGeom>
          <a:noFill/>
        </p:spPr>
        <p:txBody>
          <a:bodyPr wrap="square" lIns="0" rIns="0" tIns="0" bIns="0">
            <a:spAutoFit/>
          </a:bodyPr>
          <a:lstStyle/>
          <a:p>
            <a:pPr algn="l"/>
            <a:r>
              <a:rPr sz="1300" b="1">
                <a:solidFill>
                  <a:srgbClr val="000000"/>
                </a:solidFill>
                <a:latin typeface="Calibri"/>
                <a:hlinkClick r:id="rId3"/>
              </a:rPr>
              <a:t>Purchase the suggested product now to get started</a:t>
            </a:r>
          </a:p>
        </p:txBody>
      </p:sp>
      <p:sp>
        <p:nvSpPr>
          <p:cNvPr id="19" name="TextBox 18"/>
          <p:cNvSpPr txBox="1"/>
          <p:nvPr/>
        </p:nvSpPr>
        <p:spPr>
          <a:xfrm>
            <a:off x="320040" y="4983480"/>
            <a:ext cx="6949440" cy="274320"/>
          </a:xfrm>
          <a:prstGeom prst="rect">
            <a:avLst/>
          </a:prstGeom>
          <a:noFill/>
        </p:spPr>
        <p:txBody>
          <a:bodyPr wrap="square" lIns="0" rIns="0" tIns="0" bIns="0">
            <a:noAutofit/>
          </a:bodyPr>
          <a:lstStyle/>
          <a:p>
            <a:pPr algn="l"/>
            <a:r>
              <a:rPr sz="1100" b="0" i="0">
                <a:solidFill>
                  <a:srgbClr val="000000">
                    <a:alpha val="75000"/>
                  </a:srgbClr>
                </a:solidFill>
                <a:latin typeface="Calibri"/>
              </a:rPr>
              <a:t>Prefer a conversation first?</a:t>
            </a:r>
          </a:p>
        </p:txBody>
      </p:sp>
      <p:sp>
        <p:nvSpPr>
          <p:cNvPr id="20" name="TextBox 19"/>
          <p:cNvSpPr txBox="1"/>
          <p:nvPr/>
        </p:nvSpPr>
        <p:spPr>
          <a:xfrm>
            <a:off x="320040" y="5257800"/>
            <a:ext cx="6949440" cy="274320"/>
          </a:xfrm>
          <a:prstGeom prst="rect">
            <a:avLst/>
          </a:prstGeom>
          <a:noFill/>
        </p:spPr>
        <p:txBody>
          <a:bodyPr wrap="square" lIns="0" rIns="0" tIns="0" bIns="0">
            <a:spAutoFit/>
          </a:bodyPr>
          <a:lstStyle/>
          <a:p>
            <a:pPr algn="l"/>
            <a:r>
              <a:rPr sz="1100" b="1">
                <a:solidFill>
                  <a:srgbClr val="01A296"/>
                </a:solidFill>
                <a:latin typeface="Calibri"/>
                <a:hlinkClick r:id="rId4"/>
              </a:rPr>
              <a:t>Book a complimentary discovery call</a:t>
            </a:r>
          </a:p>
        </p:txBody>
      </p:sp>
      <p:sp>
        <p:nvSpPr>
          <p:cNvPr id="21" name="Rectangle 20"/>
          <p:cNvSpPr/>
          <p:nvPr/>
        </p:nvSpPr>
        <p:spPr>
          <a:xfrm>
            <a:off x="7543800" y="1051560"/>
            <a:ext cx="4325112" cy="51206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43800" y="1051560"/>
            <a:ext cx="4325112"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99832" y="1280160"/>
            <a:ext cx="3813048" cy="365760"/>
          </a:xfrm>
          <a:prstGeom prst="rect">
            <a:avLst/>
          </a:prstGeom>
          <a:noFill/>
        </p:spPr>
        <p:txBody>
          <a:bodyPr wrap="square" lIns="0" rIns="0" tIns="0" bIns="0">
            <a:noAutofit/>
          </a:bodyPr>
          <a:lstStyle/>
          <a:p>
            <a:pPr algn="l"/>
            <a:r>
              <a:rPr sz="1800" b="1" i="0">
                <a:solidFill>
                  <a:srgbClr val="F8C806"/>
                </a:solidFill>
                <a:latin typeface="Cambria"/>
              </a:rPr>
              <a:t>Nitesh Roopa</a:t>
            </a:r>
          </a:p>
        </p:txBody>
      </p:sp>
      <p:sp>
        <p:nvSpPr>
          <p:cNvPr id="24" name="TextBox 23"/>
          <p:cNvSpPr txBox="1"/>
          <p:nvPr/>
        </p:nvSpPr>
        <p:spPr>
          <a:xfrm>
            <a:off x="7799832" y="1664208"/>
            <a:ext cx="3813048" cy="320040"/>
          </a:xfrm>
          <a:prstGeom prst="rect">
            <a:avLst/>
          </a:prstGeom>
          <a:noFill/>
        </p:spPr>
        <p:txBody>
          <a:bodyPr wrap="square" lIns="0" rIns="0" tIns="0" bIns="0">
            <a:noAutofit/>
          </a:bodyPr>
          <a:lstStyle/>
          <a:p>
            <a:pPr algn="l"/>
            <a:r>
              <a:rPr sz="1200" b="0" i="0">
                <a:solidFill>
                  <a:srgbClr val="FFFFFF"/>
                </a:solidFill>
                <a:latin typeface="Calibri"/>
              </a:rPr>
              <a:t>CA, Managing Partner, ProfitPulse</a:t>
            </a:r>
          </a:p>
        </p:txBody>
      </p:sp>
      <p:sp>
        <p:nvSpPr>
          <p:cNvPr id="25" name="Rectangle 24"/>
          <p:cNvSpPr/>
          <p:nvPr/>
        </p:nvSpPr>
        <p:spPr>
          <a:xfrm>
            <a:off x="7799832" y="2084831"/>
            <a:ext cx="3813048" cy="127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99832" y="2240280"/>
            <a:ext cx="3813048" cy="1554480"/>
          </a:xfrm>
          <a:prstGeom prst="rect">
            <a:avLst/>
          </a:prstGeom>
          <a:noFill/>
        </p:spPr>
        <p:txBody>
          <a:bodyPr wrap="square" lIns="0" rIns="0" tIns="0" bIns="0">
            <a:spAutoFit/>
          </a:bodyPr>
          <a:lstStyle/>
          <a:p>
            <a:pPr algn="l">
              <a:spcAft>
                <a:spcPts val="800"/>
              </a:spcAft>
            </a:pPr>
            <a:r>
              <a:rPr sz="1100" b="0" i="0">
                <a:solidFill>
                  <a:srgbClr val="E6E5DE"/>
                </a:solidFill>
                <a:latin typeface="Calibri"/>
              </a:rPr>
              <a:t>16 years of experience across 4 countries</a:t>
            </a:r>
          </a:p>
          <a:p>
            <a:pPr algn="l">
              <a:spcAft>
                <a:spcPts val="800"/>
              </a:spcAft>
            </a:pPr>
            <a:r>
              <a:rPr sz="1100" b="0" i="0">
                <a:solidFill>
                  <a:srgbClr val="E6E5DE"/>
                </a:solidFill>
                <a:latin typeface="Calibri"/>
              </a:rPr>
              <a:t>52 deals executed and managed across the career</a:t>
            </a:r>
          </a:p>
          <a:p>
            <a:pPr algn="l">
              <a:spcAft>
                <a:spcPts val="800"/>
              </a:spcAft>
            </a:pPr>
            <a:r>
              <a:rPr sz="1100" b="0" i="0">
                <a:solidFill>
                  <a:srgbClr val="E6E5DE"/>
                </a:solidFill>
                <a:latin typeface="Calibri"/>
              </a:rPr>
              <a:t>Largest single deal USD 1.3 billion, Cahora Bassa</a:t>
            </a:r>
          </a:p>
          <a:p>
            <a:pPr algn="l">
              <a:spcAft>
                <a:spcPts val="800"/>
              </a:spcAft>
            </a:pPr>
            <a:r>
              <a:rPr sz="1100" b="0" i="0">
                <a:solidFill>
                  <a:srgbClr val="E6E5DE"/>
                </a:solidFill>
                <a:latin typeface="Calibri"/>
              </a:rPr>
              <a:t>Total GRBT project value over AUD 10 billion</a:t>
            </a:r>
          </a:p>
        </p:txBody>
      </p:sp>
      <p:sp>
        <p:nvSpPr>
          <p:cNvPr id="27" name="Rectangle 26"/>
          <p:cNvSpPr/>
          <p:nvPr/>
        </p:nvSpPr>
        <p:spPr>
          <a:xfrm>
            <a:off x="7799832" y="3886200"/>
            <a:ext cx="3813048" cy="12700"/>
          </a:xfrm>
          <a:prstGeom prst="rect">
            <a:avLst/>
          </a:prstGeom>
          <a:solidFill>
            <a:srgbClr val="E6E5DE">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99832" y="4069080"/>
            <a:ext cx="3813048" cy="1371600"/>
          </a:xfrm>
          <a:prstGeom prst="rect">
            <a:avLst/>
          </a:prstGeom>
          <a:noFill/>
        </p:spPr>
        <p:txBody>
          <a:bodyPr wrap="square" lIns="0" rIns="0" tIns="0" bIns="0">
            <a:spAutoFit/>
          </a:bodyPr>
          <a:lstStyle/>
          <a:p>
            <a:pPr algn="l">
              <a:spcAft>
                <a:spcPts val="600"/>
              </a:spcAft>
            </a:pPr>
            <a:r>
              <a:rPr sz="1100" b="0" i="0">
                <a:solidFill>
                  <a:srgbClr val="E6E5DE"/>
                </a:solidFill>
                <a:latin typeface="Calibri"/>
              </a:rPr>
              <a:t>Profit-Pulse.com.au</a:t>
            </a:r>
          </a:p>
          <a:p>
            <a:pPr algn="l">
              <a:spcAft>
                <a:spcPts val="600"/>
              </a:spcAft>
            </a:pPr>
            <a:r>
              <a:rPr sz="1100" b="0" i="0">
                <a:solidFill>
                  <a:srgbClr val="01A296"/>
                </a:solidFill>
                <a:latin typeface="Calibri"/>
              </a:rPr>
              <a:t>Nitesh@Profit-Pulse.com.au</a:t>
            </a:r>
          </a:p>
          <a:p>
            <a:pPr algn="l">
              <a:spcAft>
                <a:spcPts val="600"/>
              </a:spcAft>
            </a:pPr>
            <a:r>
              <a:rPr sz="1100" b="0" i="0">
                <a:solidFill>
                  <a:srgbClr val="E6E5DE"/>
                </a:solidFill>
                <a:latin typeface="Calibri"/>
              </a:rPr>
              <a:t>+61 411 876 267</a:t>
            </a:r>
          </a:p>
          <a:p>
            <a:pPr algn="l">
              <a:spcAft>
                <a:spcPts val="600"/>
              </a:spcAft>
            </a:pPr>
            <a:r>
              <a:rPr sz="1000" b="0" i="0">
                <a:solidFill>
                  <a:srgbClr val="E6E5DE"/>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