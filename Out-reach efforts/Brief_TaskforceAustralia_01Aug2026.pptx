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chor="ctr">
            <a:noAutofit/>
          </a:bodyPr>
          <a:lstStyle/>
          <a:p>
            <a:pPr algn="l"/>
            <a:r>
              <a:rPr sz="1200" b="1" i="0">
                <a:solidFill>
                  <a:srgbClr val="E6E5DE"/>
                </a:solidFill>
                <a:latin typeface="Calibri"/>
              </a:rPr>
              <a:t>COMMERCIAL INTELLIGENCE BRIEF</a:t>
            </a:r>
          </a:p>
        </p:txBody>
      </p:sp>
      <p:sp>
        <p:nvSpPr>
          <p:cNvPr id="5" name="TextBox 4"/>
          <p:cNvSpPr txBox="1"/>
          <p:nvPr/>
        </p:nvSpPr>
        <p:spPr>
          <a:xfrm>
            <a:off x="8229600" y="292608"/>
            <a:ext cx="3639312" cy="365760"/>
          </a:xfrm>
          <a:prstGeom prst="rect">
            <a:avLst/>
          </a:prstGeom>
          <a:noFill/>
        </p:spPr>
        <p:txBody>
          <a:bodyPr wrap="square" anchor="ctr">
            <a:noAutofit/>
          </a:bodyPr>
          <a:lstStyle/>
          <a:p>
            <a:pPr algn="r"/>
            <a:r>
              <a:rPr sz="1200" b="1" i="0">
                <a:solidFill>
                  <a:srgbClr val="01A296"/>
                </a:solidFill>
                <a:latin typeface="Calibri"/>
              </a:rPr>
              <a:t>PROFITPULSE</a:t>
            </a:r>
          </a:p>
        </p:txBody>
      </p:sp>
      <p:sp>
        <p:nvSpPr>
          <p:cNvPr id="6" name="TextBox 5"/>
          <p:cNvSpPr txBox="1"/>
          <p:nvPr/>
        </p:nvSpPr>
        <p:spPr>
          <a:xfrm>
            <a:off x="320040" y="1024128"/>
            <a:ext cx="8686800" cy="621792"/>
          </a:xfrm>
          <a:prstGeom prst="rect">
            <a:avLst/>
          </a:prstGeom>
          <a:noFill/>
        </p:spPr>
        <p:txBody>
          <a:bodyPr wrap="square" anchor="t">
            <a:noAutofit/>
          </a:bodyPr>
          <a:lstStyle/>
          <a:p>
            <a:pPr algn="l"/>
            <a:r>
              <a:rPr sz="4000" b="1" i="0">
                <a:solidFill>
                  <a:srgbClr val="000000"/>
                </a:solidFill>
                <a:latin typeface="Cambria"/>
              </a:rPr>
              <a:t>Taskforce Australia</a:t>
            </a:r>
          </a:p>
        </p:txBody>
      </p:sp>
      <p:sp>
        <p:nvSpPr>
          <p:cNvPr id="7" name="TextBox 6"/>
          <p:cNvSpPr txBox="1"/>
          <p:nvPr/>
        </p:nvSpPr>
        <p:spPr>
          <a:xfrm>
            <a:off x="320040" y="1847088"/>
            <a:ext cx="11338560" cy="292608"/>
          </a:xfrm>
          <a:prstGeom prst="rect">
            <a:avLst/>
          </a:prstGeom>
          <a:noFill/>
        </p:spPr>
        <p:txBody>
          <a:bodyPr wrap="square" anchor="t">
            <a:noAutofit/>
          </a:bodyPr>
          <a:lstStyle/>
          <a:p>
            <a:pPr algn="l"/>
            <a:r>
              <a:rPr sz="1200" b="0" i="1">
                <a:solidFill>
                  <a:srgbClr val="333333"/>
                </a:solidFill>
                <a:latin typeface="Calibri"/>
              </a:rPr>
              <a:t>National rental property compliance and maintenance platform, Burnley VIC</a:t>
            </a:r>
          </a:p>
        </p:txBody>
      </p:sp>
      <p:sp>
        <p:nvSpPr>
          <p:cNvPr id="8" name="Rectangle 7"/>
          <p:cNvSpPr/>
          <p:nvPr/>
        </p:nvSpPr>
        <p:spPr>
          <a:xfrm>
            <a:off x="5486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322576"/>
            <a:ext cx="1883664" cy="457200"/>
          </a:xfrm>
          <a:prstGeom prst="rect">
            <a:avLst/>
          </a:prstGeom>
          <a:noFill/>
        </p:spPr>
        <p:txBody>
          <a:bodyPr wrap="square" anchor="t">
            <a:noAutofit/>
          </a:bodyPr>
          <a:lstStyle/>
          <a:p>
            <a:pPr algn="l"/>
            <a:r>
              <a:rPr sz="2700" b="1" i="0">
                <a:solidFill>
                  <a:srgbClr val="F8C806"/>
                </a:solidFill>
                <a:latin typeface="Cambria"/>
              </a:rPr>
              <a:t>$12.8M</a:t>
            </a:r>
          </a:p>
        </p:txBody>
      </p:sp>
      <p:sp>
        <p:nvSpPr>
          <p:cNvPr id="11" name="TextBox 10"/>
          <p:cNvSpPr txBox="1"/>
          <p:nvPr/>
        </p:nvSpPr>
        <p:spPr>
          <a:xfrm>
            <a:off x="658368" y="2816352"/>
            <a:ext cx="1883664" cy="502920"/>
          </a:xfrm>
          <a:prstGeom prst="rect">
            <a:avLst/>
          </a:prstGeom>
          <a:noFill/>
        </p:spPr>
        <p:txBody>
          <a:bodyPr wrap="square" anchor="t">
            <a:noAutofit/>
          </a:bodyPr>
          <a:lstStyle/>
          <a:p>
            <a:pPr algn="l">
              <a:lnSpc>
                <a:spcPct val="105000"/>
              </a:lnSpc>
            </a:pPr>
            <a:r>
              <a:rPr sz="1050" b="0" i="0">
                <a:solidFill>
                  <a:srgbClr val="E6E5DE"/>
                </a:solidFill>
                <a:latin typeface="Calibri"/>
              </a:rPr>
              <a:t>FY25 revenue</a:t>
            </a:r>
          </a:p>
        </p:txBody>
      </p:sp>
      <p:sp>
        <p:nvSpPr>
          <p:cNvPr id="12" name="TextBox 11"/>
          <p:cNvSpPr txBox="1"/>
          <p:nvPr/>
        </p:nvSpPr>
        <p:spPr>
          <a:xfrm>
            <a:off x="658368" y="3401568"/>
            <a:ext cx="1883664" cy="219456"/>
          </a:xfrm>
          <a:prstGeom prst="rect">
            <a:avLst/>
          </a:prstGeom>
          <a:noFill/>
        </p:spPr>
        <p:txBody>
          <a:bodyPr wrap="square" anchor="t">
            <a:noAutofit/>
          </a:bodyPr>
          <a:lstStyle/>
          <a:p>
            <a:pPr algn="l"/>
            <a:r>
              <a:rPr sz="750" b="0" i="1">
                <a:solidFill>
                  <a:srgbClr val="9A9A9A"/>
                </a:solidFill>
                <a:latin typeface="Calibri"/>
              </a:rPr>
              <a:t>Smart50 2025 award, Nov 2025</a:t>
            </a:r>
          </a:p>
        </p:txBody>
      </p:sp>
      <p:sp>
        <p:nvSpPr>
          <p:cNvPr id="13" name="Rectangle 12"/>
          <p:cNvSpPr/>
          <p:nvPr/>
        </p:nvSpPr>
        <p:spPr>
          <a:xfrm>
            <a:off x="27889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8892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2322576"/>
            <a:ext cx="1883664" cy="457200"/>
          </a:xfrm>
          <a:prstGeom prst="rect">
            <a:avLst/>
          </a:prstGeom>
          <a:noFill/>
        </p:spPr>
        <p:txBody>
          <a:bodyPr wrap="square" anchor="t">
            <a:noAutofit/>
          </a:bodyPr>
          <a:lstStyle/>
          <a:p>
            <a:pPr algn="l"/>
            <a:r>
              <a:rPr sz="2700" b="1" i="0">
                <a:solidFill>
                  <a:srgbClr val="F8C806"/>
                </a:solidFill>
                <a:latin typeface="Cambria"/>
              </a:rPr>
              <a:t>72%</a:t>
            </a:r>
          </a:p>
        </p:txBody>
      </p:sp>
      <p:sp>
        <p:nvSpPr>
          <p:cNvPr id="16" name="TextBox 15"/>
          <p:cNvSpPr txBox="1"/>
          <p:nvPr/>
        </p:nvSpPr>
        <p:spPr>
          <a:xfrm>
            <a:off x="2898648" y="2816352"/>
            <a:ext cx="1883664" cy="502920"/>
          </a:xfrm>
          <a:prstGeom prst="rect">
            <a:avLst/>
          </a:prstGeom>
          <a:noFill/>
        </p:spPr>
        <p:txBody>
          <a:bodyPr wrap="square" anchor="t">
            <a:noAutofit/>
          </a:bodyPr>
          <a:lstStyle/>
          <a:p>
            <a:pPr algn="l">
              <a:lnSpc>
                <a:spcPct val="105000"/>
              </a:lnSpc>
            </a:pPr>
            <a:r>
              <a:rPr sz="1050" b="0" i="0">
                <a:solidFill>
                  <a:srgbClr val="E6E5DE"/>
                </a:solidFill>
                <a:latin typeface="Calibri"/>
              </a:rPr>
              <a:t>Revenue growth,</a:t>
            </a:r>
          </a:p>
          <a:p>
            <a:pPr algn="l">
              <a:lnSpc>
                <a:spcPct val="105000"/>
              </a:lnSpc>
            </a:pPr>
            <a:r>
              <a:rPr sz="1050" b="0" i="0">
                <a:solidFill>
                  <a:srgbClr val="E6E5DE"/>
                </a:solidFill>
                <a:latin typeface="Calibri"/>
              </a:rPr>
              <a:t>FY23 to FY25</a:t>
            </a:r>
          </a:p>
        </p:txBody>
      </p:sp>
      <p:sp>
        <p:nvSpPr>
          <p:cNvPr id="17" name="TextBox 16"/>
          <p:cNvSpPr txBox="1"/>
          <p:nvPr/>
        </p:nvSpPr>
        <p:spPr>
          <a:xfrm>
            <a:off x="2898648" y="3401568"/>
            <a:ext cx="1883664" cy="219456"/>
          </a:xfrm>
          <a:prstGeom prst="rect">
            <a:avLst/>
          </a:prstGeom>
          <a:noFill/>
        </p:spPr>
        <p:txBody>
          <a:bodyPr wrap="square" anchor="t">
            <a:noAutofit/>
          </a:bodyPr>
          <a:lstStyle/>
          <a:p>
            <a:pPr algn="l"/>
            <a:r>
              <a:rPr sz="750" b="0" i="1">
                <a:solidFill>
                  <a:srgbClr val="9A9A9A"/>
                </a:solidFill>
                <a:latin typeface="Calibri"/>
              </a:rPr>
              <a:t>Smart50 2023 and 2025</a:t>
            </a:r>
          </a:p>
        </p:txBody>
      </p:sp>
      <p:sp>
        <p:nvSpPr>
          <p:cNvPr id="18" name="Rectangle 17"/>
          <p:cNvSpPr/>
          <p:nvPr/>
        </p:nvSpPr>
        <p:spPr>
          <a:xfrm>
            <a:off x="502920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38928" y="2322576"/>
            <a:ext cx="1883664" cy="457200"/>
          </a:xfrm>
          <a:prstGeom prst="rect">
            <a:avLst/>
          </a:prstGeom>
          <a:noFill/>
        </p:spPr>
        <p:txBody>
          <a:bodyPr wrap="square" anchor="t">
            <a:noAutofit/>
          </a:bodyPr>
          <a:lstStyle/>
          <a:p>
            <a:pPr algn="l"/>
            <a:r>
              <a:rPr sz="2700" b="1" i="0">
                <a:solidFill>
                  <a:srgbClr val="F8C806"/>
                </a:solidFill>
                <a:latin typeface="Cambria"/>
              </a:rPr>
              <a:t>19</a:t>
            </a:r>
          </a:p>
        </p:txBody>
      </p:sp>
      <p:sp>
        <p:nvSpPr>
          <p:cNvPr id="21" name="TextBox 20"/>
          <p:cNvSpPr txBox="1"/>
          <p:nvPr/>
        </p:nvSpPr>
        <p:spPr>
          <a:xfrm>
            <a:off x="5138928" y="2816352"/>
            <a:ext cx="1883664" cy="502920"/>
          </a:xfrm>
          <a:prstGeom prst="rect">
            <a:avLst/>
          </a:prstGeom>
          <a:noFill/>
        </p:spPr>
        <p:txBody>
          <a:bodyPr wrap="square" anchor="t">
            <a:noAutofit/>
          </a:bodyPr>
          <a:lstStyle/>
          <a:p>
            <a:pPr algn="l">
              <a:lnSpc>
                <a:spcPct val="105000"/>
              </a:lnSpc>
            </a:pPr>
            <a:r>
              <a:rPr sz="1050" b="0" i="0">
                <a:solidFill>
                  <a:srgbClr val="E6E5DE"/>
                </a:solidFill>
                <a:latin typeface="Calibri"/>
              </a:rPr>
              <a:t>People on</a:t>
            </a:r>
          </a:p>
          <a:p>
            <a:pPr algn="l">
              <a:lnSpc>
                <a:spcPct val="105000"/>
              </a:lnSpc>
            </a:pPr>
            <a:r>
              <a:rPr sz="1050" b="0" i="0">
                <a:solidFill>
                  <a:srgbClr val="E6E5DE"/>
                </a:solidFill>
                <a:latin typeface="Calibri"/>
              </a:rPr>
              <a:t>the team</a:t>
            </a:r>
          </a:p>
        </p:txBody>
      </p:sp>
      <p:sp>
        <p:nvSpPr>
          <p:cNvPr id="22" name="TextBox 21"/>
          <p:cNvSpPr txBox="1"/>
          <p:nvPr/>
        </p:nvSpPr>
        <p:spPr>
          <a:xfrm>
            <a:off x="5138928" y="3401568"/>
            <a:ext cx="1883664" cy="219456"/>
          </a:xfrm>
          <a:prstGeom prst="rect">
            <a:avLst/>
          </a:prstGeom>
          <a:noFill/>
        </p:spPr>
        <p:txBody>
          <a:bodyPr wrap="square" anchor="t">
            <a:noAutofit/>
          </a:bodyPr>
          <a:lstStyle/>
          <a:p>
            <a:pPr algn="l"/>
            <a:r>
              <a:rPr sz="750" b="0" i="1">
                <a:solidFill>
                  <a:srgbClr val="9A9A9A"/>
                </a:solidFill>
                <a:latin typeface="Calibri"/>
              </a:rPr>
              <a:t>Smart50 2025 award</a:t>
            </a:r>
          </a:p>
        </p:txBody>
      </p:sp>
      <p:sp>
        <p:nvSpPr>
          <p:cNvPr id="23" name="Rectangle 22"/>
          <p:cNvSpPr/>
          <p:nvPr/>
        </p:nvSpPr>
        <p:spPr>
          <a:xfrm>
            <a:off x="726948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79208" y="2322576"/>
            <a:ext cx="1883664" cy="457200"/>
          </a:xfrm>
          <a:prstGeom prst="rect">
            <a:avLst/>
          </a:prstGeom>
          <a:noFill/>
        </p:spPr>
        <p:txBody>
          <a:bodyPr wrap="square" anchor="t">
            <a:noAutofit/>
          </a:bodyPr>
          <a:lstStyle/>
          <a:p>
            <a:pPr algn="l"/>
            <a:r>
              <a:rPr sz="2700" b="1" i="0">
                <a:solidFill>
                  <a:srgbClr val="F8C806"/>
                </a:solidFill>
                <a:latin typeface="Cambria"/>
              </a:rPr>
              <a:t>2014</a:t>
            </a:r>
          </a:p>
        </p:txBody>
      </p:sp>
      <p:sp>
        <p:nvSpPr>
          <p:cNvPr id="26" name="TextBox 25"/>
          <p:cNvSpPr txBox="1"/>
          <p:nvPr/>
        </p:nvSpPr>
        <p:spPr>
          <a:xfrm>
            <a:off x="7379208" y="2816352"/>
            <a:ext cx="1883664" cy="502920"/>
          </a:xfrm>
          <a:prstGeom prst="rect">
            <a:avLst/>
          </a:prstGeom>
          <a:noFill/>
        </p:spPr>
        <p:txBody>
          <a:bodyPr wrap="square" anchor="t">
            <a:noAutofit/>
          </a:bodyPr>
          <a:lstStyle/>
          <a:p>
            <a:pPr algn="l">
              <a:lnSpc>
                <a:spcPct val="105000"/>
              </a:lnSpc>
            </a:pPr>
            <a:r>
              <a:rPr sz="1050" b="0" i="0">
                <a:solidFill>
                  <a:srgbClr val="E6E5DE"/>
                </a:solidFill>
                <a:latin typeface="Calibri"/>
              </a:rPr>
              <a:t>Founded,</a:t>
            </a:r>
          </a:p>
          <a:p>
            <a:pPr algn="l">
              <a:lnSpc>
                <a:spcPct val="105000"/>
              </a:lnSpc>
            </a:pPr>
            <a:r>
              <a:rPr sz="1050" b="0" i="0">
                <a:solidFill>
                  <a:srgbClr val="E6E5DE"/>
                </a:solidFill>
                <a:latin typeface="Calibri"/>
              </a:rPr>
              <a:t>Burnley VIC</a:t>
            </a:r>
          </a:p>
        </p:txBody>
      </p:sp>
      <p:sp>
        <p:nvSpPr>
          <p:cNvPr id="27" name="TextBox 26"/>
          <p:cNvSpPr txBox="1"/>
          <p:nvPr/>
        </p:nvSpPr>
        <p:spPr>
          <a:xfrm>
            <a:off x="7379208" y="3401568"/>
            <a:ext cx="1883664" cy="219456"/>
          </a:xfrm>
          <a:prstGeom prst="rect">
            <a:avLst/>
          </a:prstGeom>
          <a:noFill/>
        </p:spPr>
        <p:txBody>
          <a:bodyPr wrap="square" anchor="t">
            <a:noAutofit/>
          </a:bodyPr>
          <a:lstStyle/>
          <a:p>
            <a:pPr algn="l"/>
            <a:r>
              <a:rPr sz="750" b="0" i="1">
                <a:solidFill>
                  <a:srgbClr val="9A9A9A"/>
                </a:solidFill>
                <a:latin typeface="Calibri"/>
              </a:rPr>
              <a:t>Company website</a:t>
            </a:r>
          </a:p>
        </p:txBody>
      </p:sp>
      <p:sp>
        <p:nvSpPr>
          <p:cNvPr id="28" name="Rectangle 27"/>
          <p:cNvSpPr/>
          <p:nvPr/>
        </p:nvSpPr>
        <p:spPr>
          <a:xfrm>
            <a:off x="950976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976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19488" y="2322576"/>
            <a:ext cx="1883664" cy="457200"/>
          </a:xfrm>
          <a:prstGeom prst="rect">
            <a:avLst/>
          </a:prstGeom>
          <a:noFill/>
        </p:spPr>
        <p:txBody>
          <a:bodyPr wrap="square" anchor="t">
            <a:noAutofit/>
          </a:bodyPr>
          <a:lstStyle/>
          <a:p>
            <a:pPr algn="l"/>
            <a:r>
              <a:rPr sz="2700" b="1" i="0">
                <a:solidFill>
                  <a:srgbClr val="F8C806"/>
                </a:solidFill>
                <a:latin typeface="Cambria"/>
              </a:rPr>
              <a:t>140K+</a:t>
            </a:r>
          </a:p>
        </p:txBody>
      </p:sp>
      <p:sp>
        <p:nvSpPr>
          <p:cNvPr id="31" name="TextBox 30"/>
          <p:cNvSpPr txBox="1"/>
          <p:nvPr/>
        </p:nvSpPr>
        <p:spPr>
          <a:xfrm>
            <a:off x="9619488" y="2816352"/>
            <a:ext cx="1883664" cy="502920"/>
          </a:xfrm>
          <a:prstGeom prst="rect">
            <a:avLst/>
          </a:prstGeom>
          <a:noFill/>
        </p:spPr>
        <p:txBody>
          <a:bodyPr wrap="square" anchor="t">
            <a:noAutofit/>
          </a:bodyPr>
          <a:lstStyle/>
          <a:p>
            <a:pPr algn="l">
              <a:lnSpc>
                <a:spcPct val="105000"/>
              </a:lnSpc>
            </a:pPr>
            <a:r>
              <a:rPr sz="1050" b="0" i="0">
                <a:solidFill>
                  <a:srgbClr val="E6E5DE"/>
                </a:solidFill>
                <a:latin typeface="Calibri"/>
              </a:rPr>
              <a:t>RentSafe jobs</a:t>
            </a:r>
          </a:p>
          <a:p>
            <a:pPr algn="l">
              <a:lnSpc>
                <a:spcPct val="105000"/>
              </a:lnSpc>
            </a:pPr>
            <a:r>
              <a:rPr sz="1050" b="0" i="0">
                <a:solidFill>
                  <a:srgbClr val="E6E5DE"/>
                </a:solidFill>
                <a:latin typeface="Calibri"/>
              </a:rPr>
              <a:t>completed</a:t>
            </a:r>
          </a:p>
        </p:txBody>
      </p:sp>
      <p:sp>
        <p:nvSpPr>
          <p:cNvPr id="32" name="TextBox 31"/>
          <p:cNvSpPr txBox="1"/>
          <p:nvPr/>
        </p:nvSpPr>
        <p:spPr>
          <a:xfrm>
            <a:off x="9619488" y="3401568"/>
            <a:ext cx="1883664" cy="219456"/>
          </a:xfrm>
          <a:prstGeom prst="rect">
            <a:avLst/>
          </a:prstGeom>
          <a:noFill/>
        </p:spPr>
        <p:txBody>
          <a:bodyPr wrap="square" anchor="t">
            <a:noAutofit/>
          </a:bodyPr>
          <a:lstStyle/>
          <a:p>
            <a:pPr algn="l"/>
            <a:r>
              <a:rPr sz="750" b="0" i="1">
                <a:solidFill>
                  <a:srgbClr val="9A9A9A"/>
                </a:solidFill>
                <a:latin typeface="Calibri"/>
              </a:rPr>
              <a:t>Taskforce Australia site</a:t>
            </a:r>
          </a:p>
        </p:txBody>
      </p:sp>
      <p:sp>
        <p:nvSpPr>
          <p:cNvPr id="33" name="TextBox 32"/>
          <p:cNvSpPr txBox="1"/>
          <p:nvPr/>
        </p:nvSpPr>
        <p:spPr>
          <a:xfrm>
            <a:off x="548640" y="3977639"/>
            <a:ext cx="5120640" cy="274320"/>
          </a:xfrm>
          <a:prstGeom prst="rect">
            <a:avLst/>
          </a:prstGeom>
          <a:noFill/>
        </p:spPr>
        <p:txBody>
          <a:bodyPr wrap="square" anchor="t">
            <a:noAutofit/>
          </a:bodyPr>
          <a:lstStyle/>
          <a:p>
            <a:pPr algn="l"/>
            <a:r>
              <a:rPr sz="1100" b="1" i="0">
                <a:solidFill>
                  <a:srgbClr val="01A296"/>
                </a:solidFill>
                <a:latin typeface="Calibri"/>
              </a:rPr>
              <a:t>REVENUE, THREE VERIFIED YEARS</a:t>
            </a:r>
          </a:p>
        </p:txBody>
      </p:sp>
      <p:sp>
        <p:nvSpPr>
          <p:cNvPr id="34" name="Rectangle 33"/>
          <p:cNvSpPr/>
          <p:nvPr/>
        </p:nvSpPr>
        <p:spPr>
          <a:xfrm>
            <a:off x="731520" y="5086993"/>
            <a:ext cx="822960" cy="902327"/>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4794385"/>
            <a:ext cx="1097280" cy="256032"/>
          </a:xfrm>
          <a:prstGeom prst="rect">
            <a:avLst/>
          </a:prstGeom>
          <a:noFill/>
        </p:spPr>
        <p:txBody>
          <a:bodyPr wrap="square" anchor="t">
            <a:noAutofit/>
          </a:bodyPr>
          <a:lstStyle/>
          <a:p>
            <a:pPr algn="l"/>
            <a:r>
              <a:rPr sz="1100" b="1" i="0">
                <a:solidFill>
                  <a:srgbClr val="000000"/>
                </a:solidFill>
                <a:latin typeface="Calibri"/>
              </a:rPr>
              <a:t>$7.43M</a:t>
            </a:r>
          </a:p>
        </p:txBody>
      </p:sp>
      <p:sp>
        <p:nvSpPr>
          <p:cNvPr id="36" name="TextBox 35"/>
          <p:cNvSpPr txBox="1"/>
          <p:nvPr/>
        </p:nvSpPr>
        <p:spPr>
          <a:xfrm>
            <a:off x="731520" y="6035040"/>
            <a:ext cx="822960" cy="256032"/>
          </a:xfrm>
          <a:prstGeom prst="rect">
            <a:avLst/>
          </a:prstGeom>
          <a:noFill/>
        </p:spPr>
        <p:txBody>
          <a:bodyPr wrap="square" anchor="t">
            <a:noAutofit/>
          </a:bodyPr>
          <a:lstStyle/>
          <a:p>
            <a:pPr algn="ctr"/>
            <a:r>
              <a:rPr sz="1000" b="0" i="0">
                <a:solidFill>
                  <a:srgbClr val="444444"/>
                </a:solidFill>
                <a:latin typeface="Calibri"/>
              </a:rPr>
              <a:t>FY23</a:t>
            </a:r>
          </a:p>
        </p:txBody>
      </p:sp>
      <p:sp>
        <p:nvSpPr>
          <p:cNvPr id="37" name="Rectangle 36"/>
          <p:cNvSpPr/>
          <p:nvPr/>
        </p:nvSpPr>
        <p:spPr>
          <a:xfrm>
            <a:off x="2240280" y="4811316"/>
            <a:ext cx="822960" cy="117800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03120" y="4518708"/>
            <a:ext cx="1097280" cy="256032"/>
          </a:xfrm>
          <a:prstGeom prst="rect">
            <a:avLst/>
          </a:prstGeom>
          <a:noFill/>
        </p:spPr>
        <p:txBody>
          <a:bodyPr wrap="square" anchor="t">
            <a:noAutofit/>
          </a:bodyPr>
          <a:lstStyle/>
          <a:p>
            <a:pPr algn="l"/>
            <a:r>
              <a:rPr sz="1100" b="1" i="0">
                <a:solidFill>
                  <a:srgbClr val="000000"/>
                </a:solidFill>
                <a:latin typeface="Calibri"/>
              </a:rPr>
              <a:t>$9.70M</a:t>
            </a:r>
          </a:p>
        </p:txBody>
      </p:sp>
      <p:sp>
        <p:nvSpPr>
          <p:cNvPr id="39" name="TextBox 38"/>
          <p:cNvSpPr txBox="1"/>
          <p:nvPr/>
        </p:nvSpPr>
        <p:spPr>
          <a:xfrm>
            <a:off x="2240280" y="6035040"/>
            <a:ext cx="822960" cy="256032"/>
          </a:xfrm>
          <a:prstGeom prst="rect">
            <a:avLst/>
          </a:prstGeom>
          <a:noFill/>
        </p:spPr>
        <p:txBody>
          <a:bodyPr wrap="square" anchor="t">
            <a:noAutofit/>
          </a:bodyPr>
          <a:lstStyle/>
          <a:p>
            <a:pPr algn="ctr"/>
            <a:r>
              <a:rPr sz="1000" b="0" i="0">
                <a:solidFill>
                  <a:srgbClr val="444444"/>
                </a:solidFill>
                <a:latin typeface="Calibri"/>
              </a:rPr>
              <a:t>FY24</a:t>
            </a:r>
          </a:p>
        </p:txBody>
      </p:sp>
      <p:sp>
        <p:nvSpPr>
          <p:cNvPr id="40" name="Rectangle 39"/>
          <p:cNvSpPr/>
          <p:nvPr/>
        </p:nvSpPr>
        <p:spPr>
          <a:xfrm>
            <a:off x="3749040" y="4434840"/>
            <a:ext cx="822960" cy="155448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11880" y="4142232"/>
            <a:ext cx="1097280" cy="256032"/>
          </a:xfrm>
          <a:prstGeom prst="rect">
            <a:avLst/>
          </a:prstGeom>
          <a:noFill/>
        </p:spPr>
        <p:txBody>
          <a:bodyPr wrap="square" anchor="t">
            <a:noAutofit/>
          </a:bodyPr>
          <a:lstStyle/>
          <a:p>
            <a:pPr algn="l"/>
            <a:r>
              <a:rPr sz="1100" b="1" i="0">
                <a:solidFill>
                  <a:srgbClr val="000000"/>
                </a:solidFill>
                <a:latin typeface="Calibri"/>
              </a:rPr>
              <a:t>$12.80M</a:t>
            </a:r>
          </a:p>
        </p:txBody>
      </p:sp>
      <p:sp>
        <p:nvSpPr>
          <p:cNvPr id="42" name="TextBox 41"/>
          <p:cNvSpPr txBox="1"/>
          <p:nvPr/>
        </p:nvSpPr>
        <p:spPr>
          <a:xfrm>
            <a:off x="3749040" y="6035040"/>
            <a:ext cx="822960" cy="256032"/>
          </a:xfrm>
          <a:prstGeom prst="rect">
            <a:avLst/>
          </a:prstGeom>
          <a:noFill/>
        </p:spPr>
        <p:txBody>
          <a:bodyPr wrap="square" anchor="t">
            <a:noAutofit/>
          </a:bodyPr>
          <a:lstStyle/>
          <a:p>
            <a:pPr algn="ctr"/>
            <a:r>
              <a:rPr sz="1000" b="0" i="0">
                <a:solidFill>
                  <a:srgbClr val="444444"/>
                </a:solidFill>
                <a:latin typeface="Calibri"/>
              </a:rPr>
              <a:t>FY25</a:t>
            </a:r>
          </a:p>
        </p:txBody>
      </p:sp>
      <p:sp>
        <p:nvSpPr>
          <p:cNvPr id="43" name="TextBox 42"/>
          <p:cNvSpPr txBox="1"/>
          <p:nvPr/>
        </p:nvSpPr>
        <p:spPr>
          <a:xfrm>
            <a:off x="548640" y="6309360"/>
            <a:ext cx="5120640" cy="228600"/>
          </a:xfrm>
          <a:prstGeom prst="rect">
            <a:avLst/>
          </a:prstGeom>
          <a:noFill/>
        </p:spPr>
        <p:txBody>
          <a:bodyPr wrap="square" anchor="t">
            <a:noAutofit/>
          </a:bodyPr>
          <a:lstStyle/>
          <a:p>
            <a:pPr algn="l"/>
            <a:r>
              <a:rPr sz="750" b="0" i="1">
                <a:solidFill>
                  <a:srgbClr val="777777"/>
                </a:solidFill>
                <a:latin typeface="Calibri"/>
              </a:rPr>
              <a:t>Source: SmartCompany Smart50 award citations, 2023, 2024 and 2025</a:t>
            </a:r>
          </a:p>
        </p:txBody>
      </p:sp>
      <p:sp>
        <p:nvSpPr>
          <p:cNvPr id="44" name="TextBox 43"/>
          <p:cNvSpPr txBox="1"/>
          <p:nvPr/>
        </p:nvSpPr>
        <p:spPr>
          <a:xfrm>
            <a:off x="6035040" y="3977639"/>
            <a:ext cx="5806440" cy="274320"/>
          </a:xfrm>
          <a:prstGeom prst="rect">
            <a:avLst/>
          </a:prstGeom>
          <a:noFill/>
        </p:spPr>
        <p:txBody>
          <a:bodyPr wrap="square" anchor="t">
            <a:noAutofit/>
          </a:bodyPr>
          <a:lstStyle/>
          <a:p>
            <a:pPr algn="l"/>
            <a:r>
              <a:rPr sz="1100" b="1" i="0">
                <a:solidFill>
                  <a:srgbClr val="01A296"/>
                </a:solidFill>
                <a:latin typeface="Calibri"/>
              </a:rPr>
              <a:t>KEY COMMERCIAL SIGNALS</a:t>
            </a:r>
          </a:p>
        </p:txBody>
      </p:sp>
      <p:sp>
        <p:nvSpPr>
          <p:cNvPr id="45" name="TextBox 44"/>
          <p:cNvSpPr txBox="1"/>
          <p:nvPr/>
        </p:nvSpPr>
        <p:spPr>
          <a:xfrm>
            <a:off x="6035040" y="4325111"/>
            <a:ext cx="5806440" cy="384048"/>
          </a:xfrm>
          <a:prstGeom prst="rect">
            <a:avLst/>
          </a:prstGeom>
          <a:noFill/>
        </p:spPr>
        <p:txBody>
          <a:bodyPr wrap="square" anchor="t">
            <a:noAutofit/>
          </a:bodyPr>
          <a:lstStyle/>
          <a:p>
            <a:pPr algn="l">
              <a:lnSpc>
                <a:spcPct val="100000"/>
              </a:lnSpc>
            </a:pPr>
            <a:r>
              <a:rPr sz="1000" b="0" i="0">
                <a:solidFill>
                  <a:srgbClr val="222222"/>
                </a:solidFill>
                <a:latin typeface="Calibri"/>
              </a:rPr>
              <a:t>•  Ranked 37th nationally in Smart50 2025, its third straight Smart50 year since 2023. (SmartCompany)</a:t>
            </a:r>
          </a:p>
        </p:txBody>
      </p:sp>
      <p:sp>
        <p:nvSpPr>
          <p:cNvPr id="46" name="TextBox 45"/>
          <p:cNvSpPr txBox="1"/>
          <p:nvPr/>
        </p:nvSpPr>
        <p:spPr>
          <a:xfrm>
            <a:off x="6035040" y="4745735"/>
            <a:ext cx="5806440" cy="384048"/>
          </a:xfrm>
          <a:prstGeom prst="rect">
            <a:avLst/>
          </a:prstGeom>
          <a:noFill/>
        </p:spPr>
        <p:txBody>
          <a:bodyPr wrap="square" anchor="t">
            <a:noAutofit/>
          </a:bodyPr>
          <a:lstStyle/>
          <a:p>
            <a:pPr algn="l">
              <a:lnSpc>
                <a:spcPct val="100000"/>
              </a:lnSpc>
            </a:pPr>
            <a:r>
              <a:rPr sz="1000" b="0" i="0">
                <a:solidFill>
                  <a:srgbClr val="222222"/>
                </a:solidFill>
                <a:latin typeface="Calibri"/>
              </a:rPr>
              <a:t>•  Revenue rose from $7.43M in FY23 to $12.8M in FY25 while the team held near 19 to 20 people. (Smart50 2023 to 2025)</a:t>
            </a:r>
          </a:p>
        </p:txBody>
      </p:sp>
      <p:sp>
        <p:nvSpPr>
          <p:cNvPr id="47" name="TextBox 46"/>
          <p:cNvSpPr txBox="1"/>
          <p:nvPr/>
        </p:nvSpPr>
        <p:spPr>
          <a:xfrm>
            <a:off x="6035040" y="5166359"/>
            <a:ext cx="5806440" cy="384048"/>
          </a:xfrm>
          <a:prstGeom prst="rect">
            <a:avLst/>
          </a:prstGeom>
          <a:noFill/>
        </p:spPr>
        <p:txBody>
          <a:bodyPr wrap="square" anchor="t">
            <a:noAutofit/>
          </a:bodyPr>
          <a:lstStyle/>
          <a:p>
            <a:pPr algn="l">
              <a:lnSpc>
                <a:spcPct val="100000"/>
              </a:lnSpc>
            </a:pPr>
            <a:r>
              <a:rPr sz="1000" b="0" i="0">
                <a:solidFill>
                  <a:srgbClr val="222222"/>
                </a:solidFill>
                <a:latin typeface="Calibri"/>
              </a:rPr>
              <a:t>•  Named Victorian State Winner for Outstanding Growth, 2024 Telstra Best of Business Awards. (Telstra)</a:t>
            </a:r>
          </a:p>
        </p:txBody>
      </p:sp>
      <p:sp>
        <p:nvSpPr>
          <p:cNvPr id="48" name="TextBox 47"/>
          <p:cNvSpPr txBox="1"/>
          <p:nvPr/>
        </p:nvSpPr>
        <p:spPr>
          <a:xfrm>
            <a:off x="6035040" y="5586983"/>
            <a:ext cx="5806440" cy="384048"/>
          </a:xfrm>
          <a:prstGeom prst="rect">
            <a:avLst/>
          </a:prstGeom>
          <a:noFill/>
        </p:spPr>
        <p:txBody>
          <a:bodyPr wrap="square" anchor="t">
            <a:noAutofit/>
          </a:bodyPr>
          <a:lstStyle/>
          <a:p>
            <a:pPr algn="l">
              <a:lnSpc>
                <a:spcPct val="100000"/>
              </a:lnSpc>
            </a:pPr>
            <a:r>
              <a:rPr sz="1000" b="0" i="0">
                <a:solidFill>
                  <a:srgbClr val="222222"/>
                </a:solidFill>
                <a:latin typeface="Calibri"/>
              </a:rPr>
              <a:t>•  RentSafe, launched 2021, has completed over 140,000 compliance jobs across 300 real estate offices. (Company site)</a:t>
            </a:r>
          </a:p>
        </p:txBody>
      </p:sp>
      <p:sp>
        <p:nvSpPr>
          <p:cNvPr id="49" name="TextBox 48"/>
          <p:cNvSpPr txBox="1"/>
          <p:nvPr/>
        </p:nvSpPr>
        <p:spPr>
          <a:xfrm>
            <a:off x="6035040" y="6007607"/>
            <a:ext cx="5806440" cy="384048"/>
          </a:xfrm>
          <a:prstGeom prst="rect">
            <a:avLst/>
          </a:prstGeom>
          <a:noFill/>
        </p:spPr>
        <p:txBody>
          <a:bodyPr wrap="square" anchor="t">
            <a:noAutofit/>
          </a:bodyPr>
          <a:lstStyle/>
          <a:p>
            <a:pPr algn="l">
              <a:lnSpc>
                <a:spcPct val="100000"/>
              </a:lnSpc>
            </a:pPr>
            <a:r>
              <a:rPr sz="1000" b="0" i="0">
                <a:solidFill>
                  <a:srgbClr val="222222"/>
                </a:solidFill>
                <a:latin typeface="Calibri"/>
              </a:rPr>
              <a:t>•  Runs three distinct lines: RentSafe compliance, RentRepair maintenance, and manufacturer warranty servicing. (Company site)</a:t>
            </a:r>
          </a:p>
        </p:txBody>
      </p:sp>
      <p:sp>
        <p:nvSpPr>
          <p:cNvPr id="50" name="TextBox 49"/>
          <p:cNvSpPr txBox="1"/>
          <p:nvPr/>
        </p:nvSpPr>
        <p:spPr>
          <a:xfrm>
            <a:off x="320040" y="6473952"/>
            <a:ext cx="8229600" cy="274320"/>
          </a:xfrm>
          <a:prstGeom prst="rect">
            <a:avLst/>
          </a:prstGeom>
          <a:noFill/>
        </p:spPr>
        <p:txBody>
          <a:bodyPr wrap="square" anchor="t">
            <a:noAutofit/>
          </a:bodyPr>
          <a:lstStyle/>
          <a:p>
            <a:pPr algn="l"/>
            <a:r>
              <a:rPr sz="800" b="0" i="0">
                <a:solidFill>
                  <a:srgbClr val="666666"/>
                </a:solidFill>
                <a:latin typeface="Calibri"/>
              </a:rPr>
              <a:t>Prepared by Nitesh Roopa CA, Managing Partner, ProfitPulse, Profit-Pulse.com.au</a:t>
            </a:r>
          </a:p>
        </p:txBody>
      </p:sp>
      <p:sp>
        <p:nvSpPr>
          <p:cNvPr id="51" name="TextBox 50"/>
          <p:cNvSpPr txBox="1"/>
          <p:nvPr/>
        </p:nvSpPr>
        <p:spPr>
          <a:xfrm>
            <a:off x="9692640" y="6473952"/>
            <a:ext cx="2176272" cy="274320"/>
          </a:xfrm>
          <a:prstGeom prst="rect">
            <a:avLst/>
          </a:prstGeom>
          <a:noFill/>
        </p:spPr>
        <p:txBody>
          <a:bodyPr wrap="square" anchor="t">
            <a:noAutofit/>
          </a:bodyPr>
          <a:lstStyle/>
          <a:p>
            <a:pPr algn="r"/>
            <a:r>
              <a:rPr sz="800" b="0" i="0">
                <a:solidFill>
                  <a:srgbClr val="666666"/>
                </a:solidFill>
                <a:latin typeface="Calibri"/>
              </a:rPr>
              <a:t>01 Aug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chor="ctr">
            <a:noAutofit/>
          </a:bodyPr>
          <a:lstStyle/>
          <a:p>
            <a:pPr algn="l"/>
            <a:r>
              <a:rPr sz="1200" b="1" i="0">
                <a:solidFill>
                  <a:srgbClr val="E6E5DE"/>
                </a:solidFill>
                <a:latin typeface="Calibri"/>
              </a:rPr>
              <a:t>THE OPPORTUNITY</a:t>
            </a:r>
          </a:p>
        </p:txBody>
      </p:sp>
      <p:sp>
        <p:nvSpPr>
          <p:cNvPr id="5" name="TextBox 4"/>
          <p:cNvSpPr txBox="1"/>
          <p:nvPr/>
        </p:nvSpPr>
        <p:spPr>
          <a:xfrm>
            <a:off x="8229600" y="292608"/>
            <a:ext cx="3639312" cy="365760"/>
          </a:xfrm>
          <a:prstGeom prst="rect">
            <a:avLst/>
          </a:prstGeom>
          <a:noFill/>
        </p:spPr>
        <p:txBody>
          <a:bodyPr wrap="square" anchor="ctr">
            <a:noAutofit/>
          </a:bodyPr>
          <a:lstStyle/>
          <a:p>
            <a:pPr algn="r"/>
            <a:r>
              <a:rPr sz="1200" b="1" i="0">
                <a:solidFill>
                  <a:srgbClr val="01A296"/>
                </a:solidFill>
                <a:latin typeface="Calibri"/>
              </a:rPr>
              <a:t>PROFITPULSE</a:t>
            </a:r>
          </a:p>
        </p:txBody>
      </p:sp>
      <p:sp>
        <p:nvSpPr>
          <p:cNvPr id="6" name="TextBox 5"/>
          <p:cNvSpPr txBox="1"/>
          <p:nvPr/>
        </p:nvSpPr>
        <p:spPr>
          <a:xfrm>
            <a:off x="320040" y="1024128"/>
            <a:ext cx="11521440" cy="320040"/>
          </a:xfrm>
          <a:prstGeom prst="rect">
            <a:avLst/>
          </a:prstGeom>
          <a:noFill/>
        </p:spPr>
        <p:txBody>
          <a:bodyPr wrap="square" anchor="t">
            <a:noAutofit/>
          </a:bodyPr>
          <a:lstStyle/>
          <a:p>
            <a:pPr algn="l"/>
            <a:r>
              <a:rPr sz="1300" b="1" i="0">
                <a:solidFill>
                  <a:srgbClr val="000000"/>
                </a:solidFill>
                <a:latin typeface="Calibri"/>
              </a:rPr>
              <a:t>Taskforce Australia: three commercial observations from ProfitPulse</a:t>
            </a:r>
          </a:p>
        </p:txBody>
      </p:sp>
      <p:sp>
        <p:nvSpPr>
          <p:cNvPr id="7" name="Rectangle 6"/>
          <p:cNvSpPr/>
          <p:nvPr/>
        </p:nvSpPr>
        <p:spPr>
          <a:xfrm>
            <a:off x="320040" y="1508760"/>
            <a:ext cx="3675887" cy="43434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691640"/>
            <a:ext cx="3310127" cy="548640"/>
          </a:xfrm>
          <a:prstGeom prst="rect">
            <a:avLst/>
          </a:prstGeom>
          <a:noFill/>
        </p:spPr>
        <p:txBody>
          <a:bodyPr wrap="square" anchor="t">
            <a:noAutofit/>
          </a:bodyPr>
          <a:lstStyle/>
          <a:p>
            <a:pPr algn="l"/>
            <a:r>
              <a:rPr sz="3000" b="1" i="0">
                <a:solidFill>
                  <a:srgbClr val="FFFFFF"/>
                </a:solidFill>
                <a:latin typeface="Cambria"/>
              </a:rPr>
              <a:t>01</a:t>
            </a:r>
          </a:p>
        </p:txBody>
      </p:sp>
      <p:sp>
        <p:nvSpPr>
          <p:cNvPr id="9" name="TextBox 8"/>
          <p:cNvSpPr txBox="1"/>
          <p:nvPr/>
        </p:nvSpPr>
        <p:spPr>
          <a:xfrm>
            <a:off x="521208" y="2377440"/>
            <a:ext cx="3273551" cy="685800"/>
          </a:xfrm>
          <a:prstGeom prst="rect">
            <a:avLst/>
          </a:prstGeom>
          <a:noFill/>
        </p:spPr>
        <p:txBody>
          <a:bodyPr wrap="square" anchor="t">
            <a:noAutofit/>
          </a:bodyPr>
          <a:lstStyle/>
          <a:p>
            <a:pPr algn="l">
              <a:lnSpc>
                <a:spcPct val="100000"/>
              </a:lnSpc>
            </a:pPr>
            <a:r>
              <a:rPr sz="1500" b="1" i="0">
                <a:solidFill>
                  <a:srgbClr val="FFFFFF"/>
                </a:solidFill>
                <a:latin typeface="Cambria"/>
              </a:rPr>
              <a:t>Two products, one blended margin</a:t>
            </a:r>
          </a:p>
        </p:txBody>
      </p:sp>
      <p:sp>
        <p:nvSpPr>
          <p:cNvPr id="10" name="TextBox 9"/>
          <p:cNvSpPr txBox="1"/>
          <p:nvPr/>
        </p:nvSpPr>
        <p:spPr>
          <a:xfrm>
            <a:off x="521208" y="3108960"/>
            <a:ext cx="3273551" cy="2606040"/>
          </a:xfrm>
          <a:prstGeom prst="rect">
            <a:avLst/>
          </a:prstGeom>
          <a:noFill/>
        </p:spPr>
        <p:txBody>
          <a:bodyPr wrap="square" anchor="t">
            <a:noAutofit/>
          </a:bodyPr>
          <a:lstStyle/>
          <a:p>
            <a:pPr algn="l">
              <a:lnSpc>
                <a:spcPct val="112000"/>
              </a:lnSpc>
            </a:pPr>
            <a:r>
              <a:rPr sz="1050" b="0" i="0">
                <a:solidFill>
                  <a:srgbClr val="FFFFFF"/>
                </a:solidFill>
                <a:latin typeface="Calibri"/>
              </a:rPr>
              <a:t>RentSafe compliance checks, RentRepair maintenance subscriptions, and manufacturer warranty servicing are priced and resourced differently, yet revenue is reported as one blended figure. Without a line by line margin view it is hard to tell which line is funding the growth and which is diluting it.</a:t>
            </a:r>
          </a:p>
        </p:txBody>
      </p:sp>
      <p:sp>
        <p:nvSpPr>
          <p:cNvPr id="11" name="Rectangle 10"/>
          <p:cNvSpPr/>
          <p:nvPr/>
        </p:nvSpPr>
        <p:spPr>
          <a:xfrm>
            <a:off x="4105655" y="1508760"/>
            <a:ext cx="3675887"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06823" y="1691640"/>
            <a:ext cx="3310127" cy="548640"/>
          </a:xfrm>
          <a:prstGeom prst="rect">
            <a:avLst/>
          </a:prstGeom>
          <a:noFill/>
        </p:spPr>
        <p:txBody>
          <a:bodyPr wrap="square" anchor="t">
            <a:noAutofit/>
          </a:bodyPr>
          <a:lstStyle/>
          <a:p>
            <a:pPr algn="l"/>
            <a:r>
              <a:rPr sz="3000" b="1" i="0">
                <a:solidFill>
                  <a:srgbClr val="FFFFFF"/>
                </a:solidFill>
                <a:latin typeface="Cambria"/>
              </a:rPr>
              <a:t>02</a:t>
            </a:r>
          </a:p>
        </p:txBody>
      </p:sp>
      <p:sp>
        <p:nvSpPr>
          <p:cNvPr id="13" name="TextBox 12"/>
          <p:cNvSpPr txBox="1"/>
          <p:nvPr/>
        </p:nvSpPr>
        <p:spPr>
          <a:xfrm>
            <a:off x="4306823" y="2377440"/>
            <a:ext cx="3273551" cy="685800"/>
          </a:xfrm>
          <a:prstGeom prst="rect">
            <a:avLst/>
          </a:prstGeom>
          <a:noFill/>
        </p:spPr>
        <p:txBody>
          <a:bodyPr wrap="square" anchor="t">
            <a:noAutofit/>
          </a:bodyPr>
          <a:lstStyle/>
          <a:p>
            <a:pPr algn="l">
              <a:lnSpc>
                <a:spcPct val="100000"/>
              </a:lnSpc>
            </a:pPr>
            <a:r>
              <a:rPr sz="1500" b="1" i="0">
                <a:solidFill>
                  <a:srgbClr val="FFFFFF"/>
                </a:solidFill>
                <a:latin typeface="Cambria"/>
              </a:rPr>
              <a:t>Two very different customers</a:t>
            </a:r>
          </a:p>
        </p:txBody>
      </p:sp>
      <p:sp>
        <p:nvSpPr>
          <p:cNvPr id="14" name="TextBox 13"/>
          <p:cNvSpPr txBox="1"/>
          <p:nvPr/>
        </p:nvSpPr>
        <p:spPr>
          <a:xfrm>
            <a:off x="4306823" y="3108960"/>
            <a:ext cx="3273551" cy="2606040"/>
          </a:xfrm>
          <a:prstGeom prst="rect">
            <a:avLst/>
          </a:prstGeom>
          <a:noFill/>
        </p:spPr>
        <p:txBody>
          <a:bodyPr wrap="square" anchor="t">
            <a:noAutofit/>
          </a:bodyPr>
          <a:lstStyle/>
          <a:p>
            <a:pPr algn="l">
              <a:lnSpc>
                <a:spcPct val="112000"/>
              </a:lnSpc>
            </a:pPr>
            <a:r>
              <a:rPr sz="1050" b="0" i="0">
                <a:solidFill>
                  <a:srgbClr val="FFFFFF"/>
                </a:solidFill>
                <a:latin typeface="Calibri"/>
              </a:rPr>
              <a:t>RentSafe and RentRepair serve real estate agencies and property managers, who chase compliance and tenant satisfaction. Warranty servicing serves manufacturers, who chase fault rates and callback costs. These groups pay, churn and cost to serve very differently, and that unevenness is worth mapping.</a:t>
            </a:r>
          </a:p>
        </p:txBody>
      </p:sp>
      <p:sp>
        <p:nvSpPr>
          <p:cNvPr id="15" name="Rectangle 14"/>
          <p:cNvSpPr/>
          <p:nvPr/>
        </p:nvSpPr>
        <p:spPr>
          <a:xfrm>
            <a:off x="7891270" y="1508760"/>
            <a:ext cx="3675887" cy="43434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38" y="1691640"/>
            <a:ext cx="3310127" cy="548640"/>
          </a:xfrm>
          <a:prstGeom prst="rect">
            <a:avLst/>
          </a:prstGeom>
          <a:noFill/>
        </p:spPr>
        <p:txBody>
          <a:bodyPr wrap="square" anchor="t">
            <a:noAutofit/>
          </a:bodyPr>
          <a:lstStyle/>
          <a:p>
            <a:pPr algn="l"/>
            <a:r>
              <a:rPr sz="3000" b="1" i="0">
                <a:solidFill>
                  <a:srgbClr val="000000"/>
                </a:solidFill>
                <a:latin typeface="Cambria"/>
              </a:rPr>
              <a:t>03</a:t>
            </a:r>
          </a:p>
        </p:txBody>
      </p:sp>
      <p:sp>
        <p:nvSpPr>
          <p:cNvPr id="17" name="TextBox 16"/>
          <p:cNvSpPr txBox="1"/>
          <p:nvPr/>
        </p:nvSpPr>
        <p:spPr>
          <a:xfrm>
            <a:off x="8092438" y="2377440"/>
            <a:ext cx="3273551" cy="685800"/>
          </a:xfrm>
          <a:prstGeom prst="rect">
            <a:avLst/>
          </a:prstGeom>
          <a:noFill/>
        </p:spPr>
        <p:txBody>
          <a:bodyPr wrap="square" anchor="t">
            <a:noAutofit/>
          </a:bodyPr>
          <a:lstStyle/>
          <a:p>
            <a:pPr algn="l">
              <a:lnSpc>
                <a:spcPct val="100000"/>
              </a:lnSpc>
            </a:pPr>
            <a:r>
              <a:rPr sz="1500" b="1" i="0">
                <a:solidFill>
                  <a:srgbClr val="000000"/>
                </a:solidFill>
                <a:latin typeface="Cambria"/>
              </a:rPr>
              <a:t>Flat headcount, doubling revenue</a:t>
            </a:r>
          </a:p>
        </p:txBody>
      </p:sp>
      <p:sp>
        <p:nvSpPr>
          <p:cNvPr id="18" name="TextBox 17"/>
          <p:cNvSpPr txBox="1"/>
          <p:nvPr/>
        </p:nvSpPr>
        <p:spPr>
          <a:xfrm>
            <a:off x="8092438" y="3108960"/>
            <a:ext cx="3273551" cy="2606040"/>
          </a:xfrm>
          <a:prstGeom prst="rect">
            <a:avLst/>
          </a:prstGeom>
          <a:noFill/>
        </p:spPr>
        <p:txBody>
          <a:bodyPr wrap="square" anchor="t">
            <a:noAutofit/>
          </a:bodyPr>
          <a:lstStyle/>
          <a:p>
            <a:pPr algn="l">
              <a:lnSpc>
                <a:spcPct val="112000"/>
              </a:lnSpc>
            </a:pPr>
            <a:r>
              <a:rPr sz="1050" b="0" i="0">
                <a:solidFill>
                  <a:srgbClr val="000000"/>
                </a:solidFill>
                <a:latin typeface="Calibri"/>
              </a:rPr>
              <a:t>Revenue rose from $7.43 million in FY23 to $12.8 million in FY25 while the team held at 19 to 20 people, a genuine operating leverage story built on a network of over 5,500 tradespeople rather than headcount. The next stage of growth deserves a costed plan for the platform and working capital.</a:t>
            </a:r>
          </a:p>
        </p:txBody>
      </p:sp>
      <p:sp>
        <p:nvSpPr>
          <p:cNvPr id="19" name="TextBox 18"/>
          <p:cNvSpPr txBox="1"/>
          <p:nvPr/>
        </p:nvSpPr>
        <p:spPr>
          <a:xfrm>
            <a:off x="320040" y="5943600"/>
            <a:ext cx="11521440" cy="457200"/>
          </a:xfrm>
          <a:prstGeom prst="rect">
            <a:avLst/>
          </a:prstGeom>
          <a:noFill/>
        </p:spPr>
        <p:txBody>
          <a:bodyPr wrap="square" anchor="t">
            <a:noAutofit/>
          </a:bodyPr>
          <a:lstStyle/>
          <a:p>
            <a:pPr algn="ctr"/>
            <a:r>
              <a:rPr sz="1050" b="0" i="1">
                <a:solidFill>
                  <a:srgbClr val="333333"/>
                </a:solidFill>
                <a:latin typeface="Calibri"/>
              </a:rPr>
              <a:t>These observations are offered in good faith. Taskforce has built a genuinely scaled national platform. The question is simply whether the margin picture is as clear as the growth curve.</a:t>
            </a:r>
          </a:p>
        </p:txBody>
      </p:sp>
      <p:sp>
        <p:nvSpPr>
          <p:cNvPr id="20" name="TextBox 19"/>
          <p:cNvSpPr txBox="1"/>
          <p:nvPr/>
        </p:nvSpPr>
        <p:spPr>
          <a:xfrm>
            <a:off x="320040" y="6473952"/>
            <a:ext cx="8229600" cy="274320"/>
          </a:xfrm>
          <a:prstGeom prst="rect">
            <a:avLst/>
          </a:prstGeom>
          <a:noFill/>
        </p:spPr>
        <p:txBody>
          <a:bodyPr wrap="square" anchor="t">
            <a:noAutofit/>
          </a:bodyPr>
          <a:lstStyle/>
          <a:p>
            <a:pPr algn="l"/>
            <a:r>
              <a:rPr sz="800" b="0" i="0">
                <a:solidFill>
                  <a:srgbClr val="666666"/>
                </a:solidFill>
                <a:latin typeface="Calibri"/>
              </a:rPr>
              <a:t>Prepared by Nitesh Roopa CA, Managing Partner, ProfitPulse, Profit-Pulse.com.au</a:t>
            </a:r>
          </a:p>
        </p:txBody>
      </p:sp>
      <p:sp>
        <p:nvSpPr>
          <p:cNvPr id="21" name="TextBox 20"/>
          <p:cNvSpPr txBox="1"/>
          <p:nvPr/>
        </p:nvSpPr>
        <p:spPr>
          <a:xfrm>
            <a:off x="9692640" y="6473952"/>
            <a:ext cx="2176272" cy="274320"/>
          </a:xfrm>
          <a:prstGeom prst="rect">
            <a:avLst/>
          </a:prstGeom>
          <a:noFill/>
        </p:spPr>
        <p:txBody>
          <a:bodyPr wrap="square" anchor="t">
            <a:noAutofit/>
          </a:bodyPr>
          <a:lstStyle/>
          <a:p>
            <a:pPr algn="r"/>
            <a:r>
              <a:rPr sz="800" b="0" i="0">
                <a:solidFill>
                  <a:srgbClr val="666666"/>
                </a:solidFill>
                <a:latin typeface="Calibri"/>
              </a:rPr>
              <a:t>01 Aug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chor="ctr">
            <a:noAutofit/>
          </a:bodyPr>
          <a:lstStyle/>
          <a:p>
            <a:pPr algn="l"/>
            <a:r>
              <a:rPr sz="1200" b="1" i="0">
                <a:solidFill>
                  <a:srgbClr val="E6E5DE"/>
                </a:solidFill>
                <a:latin typeface="Calibri"/>
              </a:rPr>
              <a:t>THE RECOMMENDATION</a:t>
            </a:r>
          </a:p>
        </p:txBody>
      </p:sp>
      <p:sp>
        <p:nvSpPr>
          <p:cNvPr id="5" name="TextBox 4"/>
          <p:cNvSpPr txBox="1"/>
          <p:nvPr/>
        </p:nvSpPr>
        <p:spPr>
          <a:xfrm>
            <a:off x="8229600" y="292608"/>
            <a:ext cx="3639312" cy="365760"/>
          </a:xfrm>
          <a:prstGeom prst="rect">
            <a:avLst/>
          </a:prstGeom>
          <a:noFill/>
        </p:spPr>
        <p:txBody>
          <a:bodyPr wrap="square" anchor="ctr">
            <a:noAutofit/>
          </a:bodyPr>
          <a:lstStyle/>
          <a:p>
            <a:pPr algn="r"/>
            <a:r>
              <a:rPr sz="1200" b="1" i="0">
                <a:solidFill>
                  <a:srgbClr val="01A296"/>
                </a:solidFill>
                <a:latin typeface="Calibri"/>
              </a:rPr>
              <a:t>PROFITPULSE</a:t>
            </a:r>
          </a:p>
        </p:txBody>
      </p:sp>
      <p:sp>
        <p:nvSpPr>
          <p:cNvPr id="6" name="TextBox 5"/>
          <p:cNvSpPr txBox="1"/>
          <p:nvPr/>
        </p:nvSpPr>
        <p:spPr>
          <a:xfrm>
            <a:off x="320040" y="1143000"/>
            <a:ext cx="6903720" cy="502920"/>
          </a:xfrm>
          <a:prstGeom prst="rect">
            <a:avLst/>
          </a:prstGeom>
          <a:noFill/>
        </p:spPr>
        <p:txBody>
          <a:bodyPr wrap="square" anchor="t">
            <a:noAutofit/>
          </a:bodyPr>
          <a:lstStyle/>
          <a:p>
            <a:pPr algn="l"/>
            <a:r>
              <a:rPr sz="2200" b="1" i="0">
                <a:solidFill>
                  <a:srgbClr val="000000"/>
                </a:solidFill>
                <a:latin typeface="Cambria"/>
              </a:rPr>
              <a:t>Product and Service Line Profitability</a:t>
            </a:r>
          </a:p>
        </p:txBody>
      </p:sp>
      <p:sp>
        <p:nvSpPr>
          <p:cNvPr id="7" name="TextBox 6"/>
          <p:cNvSpPr txBox="1"/>
          <p:nvPr/>
        </p:nvSpPr>
        <p:spPr>
          <a:xfrm>
            <a:off x="320040" y="1673352"/>
            <a:ext cx="6903720" cy="365760"/>
          </a:xfrm>
          <a:prstGeom prst="rect">
            <a:avLst/>
          </a:prstGeom>
          <a:noFill/>
        </p:spPr>
        <p:txBody>
          <a:bodyPr wrap="square" anchor="t">
            <a:noAutofit/>
          </a:bodyPr>
          <a:lstStyle/>
          <a:p>
            <a:pPr algn="l"/>
            <a:r>
              <a:rPr sz="1600" b="1" i="0">
                <a:solidFill>
                  <a:srgbClr val="B87A02"/>
                </a:solidFill>
                <a:latin typeface="Calibri"/>
              </a:rPr>
              <a:t>$3,950 one off</a:t>
            </a:r>
          </a:p>
        </p:txBody>
      </p:sp>
      <p:sp>
        <p:nvSpPr>
          <p:cNvPr id="8" name="TextBox 7"/>
          <p:cNvSpPr txBox="1"/>
          <p:nvPr/>
        </p:nvSpPr>
        <p:spPr>
          <a:xfrm>
            <a:off x="320040" y="2084831"/>
            <a:ext cx="6903720" cy="685800"/>
          </a:xfrm>
          <a:prstGeom prst="rect">
            <a:avLst/>
          </a:prstGeom>
          <a:noFill/>
        </p:spPr>
        <p:txBody>
          <a:bodyPr wrap="square" anchor="t">
            <a:noAutofit/>
          </a:bodyPr>
          <a:lstStyle/>
          <a:p>
            <a:pPr algn="l">
              <a:lnSpc>
                <a:spcPct val="110000"/>
              </a:lnSpc>
            </a:pPr>
            <a:r>
              <a:rPr sz="1150" b="0" i="0">
                <a:solidFill>
                  <a:srgbClr val="222222"/>
                </a:solidFill>
                <a:latin typeface="Calibri"/>
              </a:rPr>
              <a:t>A three week review ranking RentSafe, RentRepair, and warranty servicing by gross margin, contribution margin, and operational drag, so growth capital follows the line that earns it.</a:t>
            </a:r>
          </a:p>
        </p:txBody>
      </p:sp>
      <p:sp>
        <p:nvSpPr>
          <p:cNvPr id="9" name="Rectangle 8"/>
          <p:cNvSpPr/>
          <p:nvPr/>
        </p:nvSpPr>
        <p:spPr>
          <a:xfrm>
            <a:off x="320040" y="2880360"/>
            <a:ext cx="6903720" cy="1325880"/>
          </a:xfrm>
          <a:prstGeom prst="rect">
            <a:avLst/>
          </a:prstGeom>
          <a:solidFill>
            <a:srgbClr val="F2FAF9"/>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017520"/>
            <a:ext cx="6537960" cy="320040"/>
          </a:xfrm>
          <a:prstGeom prst="rect">
            <a:avLst/>
          </a:prstGeom>
          <a:noFill/>
        </p:spPr>
        <p:txBody>
          <a:bodyPr wrap="square" anchor="t">
            <a:noAutofit/>
          </a:bodyPr>
          <a:lstStyle/>
          <a:p>
            <a:pPr algn="l"/>
            <a:r>
              <a:rPr sz="1300" b="1" i="0">
                <a:solidFill>
                  <a:srgbClr val="01A296"/>
                </a:solidFill>
                <a:latin typeface="Calibri"/>
              </a:rPr>
              <a:t>Step one, answer a few quick questions</a:t>
            </a:r>
          </a:p>
        </p:txBody>
      </p:sp>
      <p:sp>
        <p:nvSpPr>
          <p:cNvPr id="11" name="TextBox 10"/>
          <p:cNvSpPr txBox="1"/>
          <p:nvPr/>
        </p:nvSpPr>
        <p:spPr>
          <a:xfrm>
            <a:off x="502920" y="3364992"/>
            <a:ext cx="6537960" cy="274320"/>
          </a:xfrm>
          <a:prstGeom prst="rect">
            <a:avLst/>
          </a:prstGeom>
          <a:noFill/>
        </p:spPr>
        <p:txBody>
          <a:bodyPr wrap="square" anchor="t">
            <a:noAutofit/>
          </a:bodyPr>
          <a:lstStyle/>
          <a:p>
            <a:pPr algn="l"/>
            <a:r>
              <a:rPr sz="1100" b="0" i="0">
                <a:solidFill>
                  <a:srgbClr val="222222"/>
                </a:solidFill>
                <a:latin typeface="Calibri"/>
              </a:rPr>
              <a:t>See the solutions matched to your size and industry.</a:t>
            </a:r>
          </a:p>
        </p:txBody>
      </p:sp>
      <p:sp>
        <p:nvSpPr>
          <p:cNvPr id="12" name="TextBox 11"/>
          <p:cNvSpPr txBox="1"/>
          <p:nvPr/>
        </p:nvSpPr>
        <p:spPr>
          <a:xfrm>
            <a:off x="502920" y="3657600"/>
            <a:ext cx="6537960" cy="320040"/>
          </a:xfrm>
          <a:prstGeom prst="rect">
            <a:avLst/>
          </a:prstGeom>
          <a:noFill/>
        </p:spPr>
        <p:txBody>
          <a:bodyPr wrap="square" anchor="t">
            <a:noAutofit/>
          </a:bodyPr>
          <a:lstStyle/>
          <a:p>
            <a:pPr algn="l"/>
            <a:r>
              <a:rPr sz="1300" b="1" i="0">
                <a:solidFill>
                  <a:srgbClr val="01A296"/>
                </a:solidFill>
                <a:latin typeface="Calibri"/>
                <a:hlinkClick r:id="rId2"/>
              </a:rPr>
              <a:t>profit-pulse.com.au/services/find-your-fit</a:t>
            </a:r>
          </a:p>
        </p:txBody>
      </p:sp>
      <p:sp>
        <p:nvSpPr>
          <p:cNvPr id="13" name="Rectangle 12"/>
          <p:cNvSpPr/>
          <p:nvPr/>
        </p:nvSpPr>
        <p:spPr>
          <a:xfrm>
            <a:off x="320040" y="4343400"/>
            <a:ext cx="6903720" cy="59436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4343400"/>
            <a:ext cx="6903720" cy="594360"/>
          </a:xfrm>
          <a:prstGeom prst="rect">
            <a:avLst/>
          </a:prstGeom>
          <a:noFill/>
        </p:spPr>
        <p:txBody>
          <a:bodyPr wrap="square" anchor="ctr">
            <a:noAutofit/>
          </a:bodyPr>
          <a:lstStyle/>
          <a:p>
            <a:pPr algn="ctr"/>
            <a:r>
              <a:rPr sz="1300" b="1" i="0">
                <a:solidFill>
                  <a:srgbClr val="000000"/>
                </a:solidFill>
                <a:latin typeface="Calibri"/>
                <a:hlinkClick r:id="rId3"/>
              </a:rPr>
              <a:t>Purchase the suggested product now to get started</a:t>
            </a:r>
          </a:p>
        </p:txBody>
      </p:sp>
      <p:sp>
        <p:nvSpPr>
          <p:cNvPr id="15" name="TextBox 14"/>
          <p:cNvSpPr txBox="1"/>
          <p:nvPr/>
        </p:nvSpPr>
        <p:spPr>
          <a:xfrm>
            <a:off x="320040" y="5120640"/>
            <a:ext cx="6903720" cy="274320"/>
          </a:xfrm>
          <a:prstGeom prst="rect">
            <a:avLst/>
          </a:prstGeom>
          <a:noFill/>
        </p:spPr>
        <p:txBody>
          <a:bodyPr wrap="square" anchor="t">
            <a:noAutofit/>
          </a:bodyPr>
          <a:lstStyle/>
          <a:p>
            <a:pPr algn="l"/>
            <a:r>
              <a:rPr sz="1100" b="0" i="0">
                <a:solidFill>
                  <a:srgbClr val="222222"/>
                </a:solidFill>
                <a:latin typeface="Calibri"/>
              </a:rPr>
              <a:t>Prefer a conversation first?</a:t>
            </a:r>
          </a:p>
        </p:txBody>
      </p:sp>
      <p:sp>
        <p:nvSpPr>
          <p:cNvPr id="16" name="TextBox 15"/>
          <p:cNvSpPr txBox="1"/>
          <p:nvPr/>
        </p:nvSpPr>
        <p:spPr>
          <a:xfrm>
            <a:off x="320040" y="5413248"/>
            <a:ext cx="6903720" cy="320040"/>
          </a:xfrm>
          <a:prstGeom prst="rect">
            <a:avLst/>
          </a:prstGeom>
          <a:noFill/>
        </p:spPr>
        <p:txBody>
          <a:bodyPr wrap="square" anchor="t">
            <a:noAutofit/>
          </a:bodyPr>
          <a:lstStyle/>
          <a:p>
            <a:pPr algn="l"/>
            <a:r>
              <a:rPr sz="1200" b="1" i="0">
                <a:solidFill>
                  <a:srgbClr val="01A296"/>
                </a:solidFill>
                <a:latin typeface="Calibri"/>
                <a:hlinkClick r:id="rId4"/>
              </a:rPr>
              <a:t>Book a complimentary discovery call</a:t>
            </a:r>
          </a:p>
        </p:txBody>
      </p:sp>
      <p:sp>
        <p:nvSpPr>
          <p:cNvPr id="17" name="Rectangle 16"/>
          <p:cNvSpPr/>
          <p:nvPr/>
        </p:nvSpPr>
        <p:spPr>
          <a:xfrm>
            <a:off x="7452360" y="1143000"/>
            <a:ext cx="4416552" cy="4892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1325880"/>
            <a:ext cx="3959352" cy="365760"/>
          </a:xfrm>
          <a:prstGeom prst="rect">
            <a:avLst/>
          </a:prstGeom>
          <a:noFill/>
        </p:spPr>
        <p:txBody>
          <a:bodyPr wrap="square" anchor="t">
            <a:noAutofit/>
          </a:bodyPr>
          <a:lstStyle/>
          <a:p>
            <a:pPr algn="l"/>
            <a:r>
              <a:rPr sz="1700" b="1" i="0">
                <a:solidFill>
                  <a:srgbClr val="F8C806"/>
                </a:solidFill>
                <a:latin typeface="Cambria"/>
              </a:rPr>
              <a:t>NITESH ROOPA</a:t>
            </a:r>
          </a:p>
        </p:txBody>
      </p:sp>
      <p:sp>
        <p:nvSpPr>
          <p:cNvPr id="19" name="TextBox 18"/>
          <p:cNvSpPr txBox="1"/>
          <p:nvPr/>
        </p:nvSpPr>
        <p:spPr>
          <a:xfrm>
            <a:off x="7680960" y="1691640"/>
            <a:ext cx="3959352" cy="320040"/>
          </a:xfrm>
          <a:prstGeom prst="rect">
            <a:avLst/>
          </a:prstGeom>
          <a:noFill/>
        </p:spPr>
        <p:txBody>
          <a:bodyPr wrap="square" anchor="t">
            <a:noAutofit/>
          </a:bodyPr>
          <a:lstStyle/>
          <a:p>
            <a:pPr algn="l"/>
            <a:r>
              <a:rPr sz="1200" b="0" i="0">
                <a:solidFill>
                  <a:srgbClr val="FFFFFF"/>
                </a:solidFill>
                <a:latin typeface="Calibri"/>
              </a:rPr>
              <a:t>CA, Managing Partner, ProfitPulse</a:t>
            </a:r>
          </a:p>
        </p:txBody>
      </p:sp>
      <p:sp>
        <p:nvSpPr>
          <p:cNvPr id="20" name="Rectangle 19"/>
          <p:cNvSpPr/>
          <p:nvPr/>
        </p:nvSpPr>
        <p:spPr>
          <a:xfrm>
            <a:off x="7680960" y="2084831"/>
            <a:ext cx="395935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2240280"/>
            <a:ext cx="3959352" cy="292608"/>
          </a:xfrm>
          <a:prstGeom prst="rect">
            <a:avLst/>
          </a:prstGeom>
          <a:noFill/>
        </p:spPr>
        <p:txBody>
          <a:bodyPr wrap="square" anchor="t">
            <a:noAutofit/>
          </a:bodyPr>
          <a:lstStyle/>
          <a:p>
            <a:pPr algn="l"/>
            <a:r>
              <a:rPr sz="1050" b="0" i="0">
                <a:solidFill>
                  <a:srgbClr val="E6E5DE"/>
                </a:solidFill>
                <a:latin typeface="Calibri"/>
              </a:rPr>
              <a:t>•  16 years across 4 countries</a:t>
            </a:r>
          </a:p>
        </p:txBody>
      </p:sp>
      <p:sp>
        <p:nvSpPr>
          <p:cNvPr id="22" name="TextBox 21"/>
          <p:cNvSpPr txBox="1"/>
          <p:nvPr/>
        </p:nvSpPr>
        <p:spPr>
          <a:xfrm>
            <a:off x="7680960" y="2551176"/>
            <a:ext cx="3959352" cy="292608"/>
          </a:xfrm>
          <a:prstGeom prst="rect">
            <a:avLst/>
          </a:prstGeom>
          <a:noFill/>
        </p:spPr>
        <p:txBody>
          <a:bodyPr wrap="square" anchor="t">
            <a:noAutofit/>
          </a:bodyPr>
          <a:lstStyle/>
          <a:p>
            <a:pPr algn="l"/>
            <a:r>
              <a:rPr sz="1050" b="0" i="0">
                <a:solidFill>
                  <a:srgbClr val="E6E5DE"/>
                </a:solidFill>
                <a:latin typeface="Calibri"/>
              </a:rPr>
              <a:t>•  52 deals executed and managed</a:t>
            </a:r>
          </a:p>
        </p:txBody>
      </p:sp>
      <p:sp>
        <p:nvSpPr>
          <p:cNvPr id="23" name="TextBox 22"/>
          <p:cNvSpPr txBox="1"/>
          <p:nvPr/>
        </p:nvSpPr>
        <p:spPr>
          <a:xfrm>
            <a:off x="7680960" y="2862072"/>
            <a:ext cx="3959352" cy="292608"/>
          </a:xfrm>
          <a:prstGeom prst="rect">
            <a:avLst/>
          </a:prstGeom>
          <a:noFill/>
        </p:spPr>
        <p:txBody>
          <a:bodyPr wrap="square" anchor="t">
            <a:noAutofit/>
          </a:bodyPr>
          <a:lstStyle/>
          <a:p>
            <a:pPr algn="l"/>
            <a:r>
              <a:rPr sz="1050" b="0" i="0">
                <a:solidFill>
                  <a:srgbClr val="E6E5DE"/>
                </a:solidFill>
                <a:latin typeface="Calibri"/>
              </a:rPr>
              <a:t>•  Largest deal: USD 1.3B, Cahora Bassa</a:t>
            </a:r>
          </a:p>
        </p:txBody>
      </p:sp>
      <p:sp>
        <p:nvSpPr>
          <p:cNvPr id="24" name="TextBox 23"/>
          <p:cNvSpPr txBox="1"/>
          <p:nvPr/>
        </p:nvSpPr>
        <p:spPr>
          <a:xfrm>
            <a:off x="7680960" y="3172968"/>
            <a:ext cx="3959352" cy="292608"/>
          </a:xfrm>
          <a:prstGeom prst="rect">
            <a:avLst/>
          </a:prstGeom>
          <a:noFill/>
        </p:spPr>
        <p:txBody>
          <a:bodyPr wrap="square" anchor="t">
            <a:noAutofit/>
          </a:bodyPr>
          <a:lstStyle/>
          <a:p>
            <a:pPr algn="l"/>
            <a:r>
              <a:rPr sz="1050" b="0" i="0">
                <a:solidFill>
                  <a:srgbClr val="E6E5DE"/>
                </a:solidFill>
                <a:latin typeface="Calibri"/>
              </a:rPr>
              <a:t>•  Total GRBT project value over AUD 10B</a:t>
            </a:r>
          </a:p>
        </p:txBody>
      </p:sp>
      <p:sp>
        <p:nvSpPr>
          <p:cNvPr id="25" name="Rectangle 24"/>
          <p:cNvSpPr/>
          <p:nvPr/>
        </p:nvSpPr>
        <p:spPr>
          <a:xfrm>
            <a:off x="7680960" y="3538728"/>
            <a:ext cx="3959352" cy="12700"/>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0" y="3703320"/>
            <a:ext cx="3959352" cy="274320"/>
          </a:xfrm>
          <a:prstGeom prst="rect">
            <a:avLst/>
          </a:prstGeom>
          <a:noFill/>
        </p:spPr>
        <p:txBody>
          <a:bodyPr wrap="square" anchor="t">
            <a:noAutofit/>
          </a:bodyPr>
          <a:lstStyle/>
          <a:p>
            <a:pPr algn="l"/>
            <a:r>
              <a:rPr sz="1050" b="0" i="0">
                <a:solidFill>
                  <a:srgbClr val="E6E5DE"/>
                </a:solidFill>
                <a:latin typeface="Calibri"/>
              </a:rPr>
              <a:t>Profit-Pulse.com.au</a:t>
            </a:r>
          </a:p>
        </p:txBody>
      </p:sp>
      <p:sp>
        <p:nvSpPr>
          <p:cNvPr id="27" name="TextBox 26"/>
          <p:cNvSpPr txBox="1"/>
          <p:nvPr/>
        </p:nvSpPr>
        <p:spPr>
          <a:xfrm>
            <a:off x="7680960" y="3995928"/>
            <a:ext cx="3959352" cy="274320"/>
          </a:xfrm>
          <a:prstGeom prst="rect">
            <a:avLst/>
          </a:prstGeom>
          <a:noFill/>
        </p:spPr>
        <p:txBody>
          <a:bodyPr wrap="square" anchor="t">
            <a:noAutofit/>
          </a:bodyPr>
          <a:lstStyle/>
          <a:p>
            <a:pPr algn="l"/>
            <a:r>
              <a:rPr sz="1050" b="0" i="0">
                <a:solidFill>
                  <a:srgbClr val="E6E5DE"/>
                </a:solidFill>
                <a:latin typeface="Calibri"/>
              </a:rPr>
              <a:t>Nitesh@Profit-Pulse.com.au</a:t>
            </a:r>
          </a:p>
        </p:txBody>
      </p:sp>
      <p:sp>
        <p:nvSpPr>
          <p:cNvPr id="28" name="TextBox 27"/>
          <p:cNvSpPr txBox="1"/>
          <p:nvPr/>
        </p:nvSpPr>
        <p:spPr>
          <a:xfrm>
            <a:off x="7680960" y="4288536"/>
            <a:ext cx="3959352" cy="274320"/>
          </a:xfrm>
          <a:prstGeom prst="rect">
            <a:avLst/>
          </a:prstGeom>
          <a:noFill/>
        </p:spPr>
        <p:txBody>
          <a:bodyPr wrap="square" anchor="t">
            <a:noAutofit/>
          </a:bodyPr>
          <a:lstStyle/>
          <a:p>
            <a:pPr algn="l"/>
            <a:r>
              <a:rPr sz="1050" b="0" i="0">
                <a:solidFill>
                  <a:srgbClr val="E6E5DE"/>
                </a:solidFill>
                <a:latin typeface="Calibri"/>
              </a:rPr>
              <a:t>+61 411 876 267</a:t>
            </a:r>
          </a:p>
        </p:txBody>
      </p:sp>
      <p:sp>
        <p:nvSpPr>
          <p:cNvPr id="29" name="TextBox 28"/>
          <p:cNvSpPr txBox="1"/>
          <p:nvPr/>
        </p:nvSpPr>
        <p:spPr>
          <a:xfrm>
            <a:off x="7680960" y="4581144"/>
            <a:ext cx="3959352" cy="274320"/>
          </a:xfrm>
          <a:prstGeom prst="rect">
            <a:avLst/>
          </a:prstGeom>
          <a:noFill/>
        </p:spPr>
        <p:txBody>
          <a:bodyPr wrap="square" anchor="t">
            <a:noAutofit/>
          </a:bodyPr>
          <a:lstStyle/>
          <a:p>
            <a:pPr algn="l"/>
            <a:r>
              <a:rPr sz="1050" b="0" i="0">
                <a:solidFill>
                  <a:srgbClr val="E6E5DE"/>
                </a:solidFill>
                <a:latin typeface="Calibri"/>
              </a:rPr>
              <a:t>linkedin.com/in/nitesh-roopa-77594163</a:t>
            </a:r>
          </a:p>
        </p:txBody>
      </p:sp>
      <p:sp>
        <p:nvSpPr>
          <p:cNvPr id="30" name="TextBox 29"/>
          <p:cNvSpPr txBox="1"/>
          <p:nvPr/>
        </p:nvSpPr>
        <p:spPr>
          <a:xfrm>
            <a:off x="320040" y="6473952"/>
            <a:ext cx="8229600" cy="274320"/>
          </a:xfrm>
          <a:prstGeom prst="rect">
            <a:avLst/>
          </a:prstGeom>
          <a:noFill/>
        </p:spPr>
        <p:txBody>
          <a:bodyPr wrap="square" anchor="t">
            <a:noAutofit/>
          </a:bodyPr>
          <a:lstStyle/>
          <a:p>
            <a:pPr algn="l"/>
            <a:r>
              <a:rPr sz="800" b="0" i="0">
                <a:solidFill>
                  <a:srgbClr val="666666"/>
                </a:solidFill>
                <a:latin typeface="Calibri"/>
              </a:rPr>
              <a:t>Prepared by Nitesh Roopa CA, Managing Partner, ProfitPulse, Profit-Pulse.com.au</a:t>
            </a:r>
          </a:p>
        </p:txBody>
      </p:sp>
      <p:sp>
        <p:nvSpPr>
          <p:cNvPr id="31" name="TextBox 30"/>
          <p:cNvSpPr txBox="1"/>
          <p:nvPr/>
        </p:nvSpPr>
        <p:spPr>
          <a:xfrm>
            <a:off x="9692640" y="6473952"/>
            <a:ext cx="2176272" cy="274320"/>
          </a:xfrm>
          <a:prstGeom prst="rect">
            <a:avLst/>
          </a:prstGeom>
          <a:noFill/>
        </p:spPr>
        <p:txBody>
          <a:bodyPr wrap="square" anchor="t">
            <a:noAutofit/>
          </a:bodyPr>
          <a:lstStyle/>
          <a:p>
            <a:pPr algn="r"/>
            <a:r>
              <a:rPr sz="800" b="0" i="0">
                <a:solidFill>
                  <a:srgbClr val="666666"/>
                </a:solidFill>
                <a:latin typeface="Calibri"/>
              </a:rPr>
              <a:t>01 Aug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