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services/find-your-fit/" TargetMode="External"/><Relationship Id="rId3" Type="http://schemas.openxmlformats.org/officeDocument/2006/relationships/hyperlink" Target="https://buy.stripe.com/eVqdRad9e66cftK23Z3ks0h"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6858000" cy="365760"/>
          </a:xfrm>
          <a:prstGeom prst="rect">
            <a:avLst/>
          </a:prstGeom>
          <a:noFill/>
        </p:spPr>
        <p:txBody>
          <a:bodyPr wrap="square" anchor="ctr" lIns="0" rIns="0" tIns="0" bIns="0"/>
          <a:lstStyle/>
          <a:p>
            <a:pPr algn="l"/>
            <a:r>
              <a:rPr sz="1200" b="1" i="0">
                <a:solidFill>
                  <a:srgbClr val="E6E5DE"/>
                </a:solidFill>
                <a:latin typeface="Calibri"/>
              </a:rPr>
              <a:t>COMMERCIAL INTELLIGENCE BRIEF</a:t>
            </a:r>
          </a:p>
        </p:txBody>
      </p:sp>
      <p:sp>
        <p:nvSpPr>
          <p:cNvPr id="5" name="TextBox 4"/>
          <p:cNvSpPr txBox="1"/>
          <p:nvPr/>
        </p:nvSpPr>
        <p:spPr>
          <a:xfrm>
            <a:off x="8229600" y="292608"/>
            <a:ext cx="3749039" cy="365760"/>
          </a:xfrm>
          <a:prstGeom prst="rect">
            <a:avLst/>
          </a:prstGeom>
          <a:noFill/>
        </p:spPr>
        <p:txBody>
          <a:bodyPr wrap="square" anchor="ctr" lIns="0" rIns="0" tIns="0" bIns="0"/>
          <a:lstStyle/>
          <a:p>
            <a:pPr algn="r"/>
            <a:r>
              <a:rPr sz="1200" b="1" i="0">
                <a:solidFill>
                  <a:srgbClr val="F8C806"/>
                </a:solidFill>
                <a:latin typeface="Calibri"/>
              </a:rPr>
              <a:t>PROFITPULSE</a:t>
            </a:r>
          </a:p>
        </p:txBody>
      </p:sp>
      <p:sp>
        <p:nvSpPr>
          <p:cNvPr id="6" name="Rectangle 5"/>
          <p:cNvSpPr/>
          <p:nvPr/>
        </p:nvSpPr>
        <p:spPr>
          <a:xfrm>
            <a:off x="320040" y="6428232"/>
            <a:ext cx="11521440" cy="9525"/>
          </a:xfrm>
          <a:prstGeom prst="rect">
            <a:avLst/>
          </a:prstGeom>
          <a:solidFill>
            <a:srgbClr val="E6E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510528"/>
            <a:ext cx="8229600" cy="274320"/>
          </a:xfrm>
          <a:prstGeom prst="rect">
            <a:avLst/>
          </a:prstGeom>
          <a:noFill/>
        </p:spPr>
        <p:txBody>
          <a:bodyPr wrap="square" lIns="0" rIns="0" tIns="0" bIns="0"/>
          <a:lstStyle/>
          <a:p>
            <a:pPr algn="l"/>
            <a:r>
              <a:rPr sz="800" b="0" i="0">
                <a:solidFill>
                  <a:srgbClr val="000000"/>
                </a:solidFill>
                <a:latin typeface="Calibri"/>
              </a:rPr>
              <a:t>Prepared by Nitesh Roopa CA, Managing Partner and Founder, ProfitPulse, Profit-Pulse.com.au</a:t>
            </a:r>
          </a:p>
        </p:txBody>
      </p:sp>
      <p:sp>
        <p:nvSpPr>
          <p:cNvPr id="8" name="TextBox 7"/>
          <p:cNvSpPr txBox="1"/>
          <p:nvPr/>
        </p:nvSpPr>
        <p:spPr>
          <a:xfrm>
            <a:off x="9144000" y="6510528"/>
            <a:ext cx="2697480" cy="274320"/>
          </a:xfrm>
          <a:prstGeom prst="rect">
            <a:avLst/>
          </a:prstGeom>
          <a:noFill/>
        </p:spPr>
        <p:txBody>
          <a:bodyPr wrap="square" lIns="0" rIns="0" tIns="0" bIns="0"/>
          <a:lstStyle/>
          <a:p>
            <a:pPr algn="r"/>
            <a:r>
              <a:rPr sz="800" b="0" i="0">
                <a:solidFill>
                  <a:srgbClr val="000000"/>
                </a:solidFill>
                <a:latin typeface="Calibri"/>
              </a:rPr>
              <a:t>22 Jul 2026</a:t>
            </a:r>
          </a:p>
        </p:txBody>
      </p:sp>
      <p:sp>
        <p:nvSpPr>
          <p:cNvPr id="9" name="TextBox 8"/>
          <p:cNvSpPr txBox="1"/>
          <p:nvPr/>
        </p:nvSpPr>
        <p:spPr>
          <a:xfrm>
            <a:off x="320040" y="1078992"/>
            <a:ext cx="8686800" cy="685800"/>
          </a:xfrm>
          <a:prstGeom prst="rect">
            <a:avLst/>
          </a:prstGeom>
          <a:noFill/>
        </p:spPr>
        <p:txBody>
          <a:bodyPr wrap="square" lIns="0" rIns="0" tIns="0" bIns="0"/>
          <a:lstStyle/>
          <a:p>
            <a:pPr algn="l"/>
            <a:r>
              <a:rPr sz="4000" b="1" i="0">
                <a:solidFill>
                  <a:srgbClr val="000000"/>
                </a:solidFill>
                <a:latin typeface="Cambria"/>
              </a:rPr>
              <a:t>Paire</a:t>
            </a:r>
          </a:p>
        </p:txBody>
      </p:sp>
      <p:sp>
        <p:nvSpPr>
          <p:cNvPr id="10" name="TextBox 9"/>
          <p:cNvSpPr txBox="1"/>
          <p:nvPr/>
        </p:nvSpPr>
        <p:spPr>
          <a:xfrm>
            <a:off x="320040" y="1755648"/>
            <a:ext cx="10058400" cy="292608"/>
          </a:xfrm>
          <a:prstGeom prst="rect">
            <a:avLst/>
          </a:prstGeom>
          <a:noFill/>
        </p:spPr>
        <p:txBody>
          <a:bodyPr wrap="square" lIns="0" rIns="0" tIns="0" bIns="0"/>
          <a:lstStyle/>
          <a:p>
            <a:pPr algn="l"/>
            <a:r>
              <a:rPr sz="1200" b="0" i="0">
                <a:solidFill>
                  <a:srgbClr val="000000"/>
                </a:solidFill>
                <a:latin typeface="Calibri"/>
              </a:rPr>
              <a:t>Direct to consumer apparel brand, South Melbourne VIC</a:t>
            </a:r>
          </a:p>
        </p:txBody>
      </p:sp>
      <p:sp>
        <p:nvSpPr>
          <p:cNvPr id="11" name="Rectangle 10"/>
          <p:cNvSpPr/>
          <p:nvPr/>
        </p:nvSpPr>
        <p:spPr>
          <a:xfrm>
            <a:off x="320040" y="2121408"/>
            <a:ext cx="1810512"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2121408"/>
            <a:ext cx="1810512"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 y="2249424"/>
            <a:ext cx="1554480" cy="457200"/>
          </a:xfrm>
          <a:prstGeom prst="rect">
            <a:avLst/>
          </a:prstGeom>
          <a:noFill/>
        </p:spPr>
        <p:txBody>
          <a:bodyPr wrap="square" lIns="0" rIns="0" tIns="0" bIns="0"/>
          <a:lstStyle/>
          <a:p>
            <a:pPr algn="l"/>
            <a:r>
              <a:rPr sz="2800" b="1" i="0">
                <a:solidFill>
                  <a:srgbClr val="F8C806"/>
                </a:solidFill>
                <a:latin typeface="Cambria"/>
              </a:rPr>
              <a:t>$9.4M</a:t>
            </a:r>
          </a:p>
        </p:txBody>
      </p:sp>
      <p:sp>
        <p:nvSpPr>
          <p:cNvPr id="14" name="TextBox 13"/>
          <p:cNvSpPr txBox="1"/>
          <p:nvPr/>
        </p:nvSpPr>
        <p:spPr>
          <a:xfrm>
            <a:off x="448056" y="2743200"/>
            <a:ext cx="1554480" cy="502920"/>
          </a:xfrm>
          <a:prstGeom prst="rect">
            <a:avLst/>
          </a:prstGeom>
          <a:noFill/>
        </p:spPr>
        <p:txBody>
          <a:bodyPr wrap="square" lIns="0" rIns="0" tIns="0" bIns="0">
            <a:spAutoFit/>
          </a:bodyPr>
          <a:lstStyle/>
          <a:p>
            <a:pPr algn="l">
              <a:lnSpc>
                <a:spcPct val="100000"/>
              </a:lnSpc>
            </a:pPr>
            <a:r>
              <a:rPr sz="1050" b="0" i="0">
                <a:solidFill>
                  <a:srgbClr val="E6E5DE"/>
                </a:solidFill>
                <a:latin typeface="Calibri"/>
              </a:rPr>
              <a:t>FY25 revenue,</a:t>
            </a:r>
          </a:p>
          <a:p>
            <a:pPr algn="l">
              <a:lnSpc>
                <a:spcPct val="100000"/>
              </a:lnSpc>
            </a:pPr>
            <a:r>
              <a:rPr sz="1050" b="0" i="0">
                <a:solidFill>
                  <a:srgbClr val="E6E5DE"/>
                </a:solidFill>
                <a:latin typeface="Calibri"/>
              </a:rPr>
              <a:t>Smart50 rank</a:t>
            </a:r>
          </a:p>
        </p:txBody>
      </p:sp>
      <p:sp>
        <p:nvSpPr>
          <p:cNvPr id="15" name="TextBox 14"/>
          <p:cNvSpPr txBox="1"/>
          <p:nvPr/>
        </p:nvSpPr>
        <p:spPr>
          <a:xfrm>
            <a:off x="448056" y="3328416"/>
            <a:ext cx="1554480" cy="201168"/>
          </a:xfrm>
          <a:prstGeom prst="rect">
            <a:avLst/>
          </a:prstGeom>
          <a:noFill/>
        </p:spPr>
        <p:txBody>
          <a:bodyPr wrap="square" lIns="0" rIns="0" tIns="0" bIns="0"/>
          <a:lstStyle/>
          <a:p>
            <a:pPr algn="l"/>
            <a:r>
              <a:rPr sz="750" b="0" i="1">
                <a:solidFill>
                  <a:srgbClr val="E6E5DE"/>
                </a:solidFill>
                <a:latin typeface="Calibri"/>
              </a:rPr>
              <a:t>SmartCompany, Nov 2025</a:t>
            </a:r>
          </a:p>
        </p:txBody>
      </p:sp>
      <p:sp>
        <p:nvSpPr>
          <p:cNvPr id="16" name="Rectangle 15"/>
          <p:cNvSpPr/>
          <p:nvPr/>
        </p:nvSpPr>
        <p:spPr>
          <a:xfrm>
            <a:off x="2267712" y="2121408"/>
            <a:ext cx="1810512"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67712" y="2121408"/>
            <a:ext cx="1810512"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95728" y="2249424"/>
            <a:ext cx="1554480" cy="457200"/>
          </a:xfrm>
          <a:prstGeom prst="rect">
            <a:avLst/>
          </a:prstGeom>
          <a:noFill/>
        </p:spPr>
        <p:txBody>
          <a:bodyPr wrap="square" lIns="0" rIns="0" tIns="0" bIns="0"/>
          <a:lstStyle/>
          <a:p>
            <a:pPr algn="l"/>
            <a:r>
              <a:rPr sz="2800" b="1" i="0">
                <a:solidFill>
                  <a:srgbClr val="F8C806"/>
                </a:solidFill>
                <a:latin typeface="Cambria"/>
              </a:rPr>
              <a:t>64%</a:t>
            </a:r>
          </a:p>
        </p:txBody>
      </p:sp>
      <p:sp>
        <p:nvSpPr>
          <p:cNvPr id="19" name="TextBox 18"/>
          <p:cNvSpPr txBox="1"/>
          <p:nvPr/>
        </p:nvSpPr>
        <p:spPr>
          <a:xfrm>
            <a:off x="2395728" y="2743200"/>
            <a:ext cx="1554480" cy="502920"/>
          </a:xfrm>
          <a:prstGeom prst="rect">
            <a:avLst/>
          </a:prstGeom>
          <a:noFill/>
        </p:spPr>
        <p:txBody>
          <a:bodyPr wrap="square" lIns="0" rIns="0" tIns="0" bIns="0">
            <a:spAutoFit/>
          </a:bodyPr>
          <a:lstStyle/>
          <a:p>
            <a:pPr algn="l">
              <a:lnSpc>
                <a:spcPct val="100000"/>
              </a:lnSpc>
            </a:pPr>
            <a:r>
              <a:rPr sz="1050" b="0" i="0">
                <a:solidFill>
                  <a:srgbClr val="E6E5DE"/>
                </a:solidFill>
                <a:latin typeface="Calibri"/>
              </a:rPr>
              <a:t>FY25 revenue</a:t>
            </a:r>
          </a:p>
          <a:p>
            <a:pPr algn="l">
              <a:lnSpc>
                <a:spcPct val="100000"/>
              </a:lnSpc>
            </a:pPr>
            <a:r>
              <a:rPr sz="1050" b="0" i="0">
                <a:solidFill>
                  <a:srgbClr val="E6E5DE"/>
                </a:solidFill>
                <a:latin typeface="Calibri"/>
              </a:rPr>
              <a:t>growth</a:t>
            </a:r>
          </a:p>
        </p:txBody>
      </p:sp>
      <p:sp>
        <p:nvSpPr>
          <p:cNvPr id="20" name="TextBox 19"/>
          <p:cNvSpPr txBox="1"/>
          <p:nvPr/>
        </p:nvSpPr>
        <p:spPr>
          <a:xfrm>
            <a:off x="2395728" y="3328416"/>
            <a:ext cx="1554480" cy="201168"/>
          </a:xfrm>
          <a:prstGeom prst="rect">
            <a:avLst/>
          </a:prstGeom>
          <a:noFill/>
        </p:spPr>
        <p:txBody>
          <a:bodyPr wrap="square" lIns="0" rIns="0" tIns="0" bIns="0"/>
          <a:lstStyle/>
          <a:p>
            <a:pPr algn="l"/>
            <a:r>
              <a:rPr sz="750" b="0" i="1">
                <a:solidFill>
                  <a:srgbClr val="E6E5DE"/>
                </a:solidFill>
                <a:latin typeface="Calibri"/>
              </a:rPr>
              <a:t>SmartCompany, Nov 2025</a:t>
            </a:r>
          </a:p>
        </p:txBody>
      </p:sp>
      <p:sp>
        <p:nvSpPr>
          <p:cNvPr id="21" name="Rectangle 20"/>
          <p:cNvSpPr/>
          <p:nvPr/>
        </p:nvSpPr>
        <p:spPr>
          <a:xfrm>
            <a:off x="4215384" y="2121408"/>
            <a:ext cx="1810512"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15384" y="2121408"/>
            <a:ext cx="1810512"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43400" y="2249424"/>
            <a:ext cx="1554480" cy="457200"/>
          </a:xfrm>
          <a:prstGeom prst="rect">
            <a:avLst/>
          </a:prstGeom>
          <a:noFill/>
        </p:spPr>
        <p:txBody>
          <a:bodyPr wrap="square" lIns="0" rIns="0" tIns="0" bIns="0"/>
          <a:lstStyle/>
          <a:p>
            <a:pPr algn="l"/>
            <a:r>
              <a:rPr sz="2800" b="1" i="0">
                <a:solidFill>
                  <a:srgbClr val="F8C806"/>
                </a:solidFill>
                <a:latin typeface="Cambria"/>
              </a:rPr>
              <a:t>88%</a:t>
            </a:r>
          </a:p>
        </p:txBody>
      </p:sp>
      <p:sp>
        <p:nvSpPr>
          <p:cNvPr id="24" name="TextBox 23"/>
          <p:cNvSpPr txBox="1"/>
          <p:nvPr/>
        </p:nvSpPr>
        <p:spPr>
          <a:xfrm>
            <a:off x="4343400" y="2743200"/>
            <a:ext cx="1554480" cy="502920"/>
          </a:xfrm>
          <a:prstGeom prst="rect">
            <a:avLst/>
          </a:prstGeom>
          <a:noFill/>
        </p:spPr>
        <p:txBody>
          <a:bodyPr wrap="square" lIns="0" rIns="0" tIns="0" bIns="0">
            <a:spAutoFit/>
          </a:bodyPr>
          <a:lstStyle/>
          <a:p>
            <a:pPr algn="l">
              <a:lnSpc>
                <a:spcPct val="100000"/>
              </a:lnSpc>
            </a:pPr>
            <a:r>
              <a:rPr sz="1050" b="0" i="0">
                <a:solidFill>
                  <a:srgbClr val="E6E5DE"/>
                </a:solidFill>
                <a:latin typeface="Calibri"/>
              </a:rPr>
              <a:t>FY24 revenue</a:t>
            </a:r>
          </a:p>
          <a:p>
            <a:pPr algn="l">
              <a:lnSpc>
                <a:spcPct val="100000"/>
              </a:lnSpc>
            </a:pPr>
            <a:r>
              <a:rPr sz="1050" b="0" i="0">
                <a:solidFill>
                  <a:srgbClr val="E6E5DE"/>
                </a:solidFill>
                <a:latin typeface="Calibri"/>
              </a:rPr>
              <a:t>growth</a:t>
            </a:r>
          </a:p>
        </p:txBody>
      </p:sp>
      <p:sp>
        <p:nvSpPr>
          <p:cNvPr id="25" name="TextBox 24"/>
          <p:cNvSpPr txBox="1"/>
          <p:nvPr/>
        </p:nvSpPr>
        <p:spPr>
          <a:xfrm>
            <a:off x="4343400" y="3328416"/>
            <a:ext cx="1554480" cy="201168"/>
          </a:xfrm>
          <a:prstGeom prst="rect">
            <a:avLst/>
          </a:prstGeom>
          <a:noFill/>
        </p:spPr>
        <p:txBody>
          <a:bodyPr wrap="square" lIns="0" rIns="0" tIns="0" bIns="0"/>
          <a:lstStyle/>
          <a:p>
            <a:pPr algn="l"/>
            <a:r>
              <a:rPr sz="750" b="0" i="1">
                <a:solidFill>
                  <a:srgbClr val="E6E5DE"/>
                </a:solidFill>
                <a:latin typeface="Calibri"/>
              </a:rPr>
              <a:t>SmartCompany, 2024</a:t>
            </a:r>
          </a:p>
        </p:txBody>
      </p:sp>
      <p:sp>
        <p:nvSpPr>
          <p:cNvPr id="26" name="Rectangle 25"/>
          <p:cNvSpPr/>
          <p:nvPr/>
        </p:nvSpPr>
        <p:spPr>
          <a:xfrm>
            <a:off x="6163056" y="2121408"/>
            <a:ext cx="1810512"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2121408"/>
            <a:ext cx="1810512"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1072" y="2249424"/>
            <a:ext cx="1554480" cy="457200"/>
          </a:xfrm>
          <a:prstGeom prst="rect">
            <a:avLst/>
          </a:prstGeom>
          <a:noFill/>
        </p:spPr>
        <p:txBody>
          <a:bodyPr wrap="square" lIns="0" rIns="0" tIns="0" bIns="0"/>
          <a:lstStyle/>
          <a:p>
            <a:pPr algn="l"/>
            <a:r>
              <a:rPr sz="2800" b="1" i="0">
                <a:solidFill>
                  <a:srgbClr val="F8C806"/>
                </a:solidFill>
                <a:latin typeface="Cambria"/>
              </a:rPr>
              <a:t>#15</a:t>
            </a:r>
          </a:p>
        </p:txBody>
      </p:sp>
      <p:sp>
        <p:nvSpPr>
          <p:cNvPr id="29" name="TextBox 28"/>
          <p:cNvSpPr txBox="1"/>
          <p:nvPr/>
        </p:nvSpPr>
        <p:spPr>
          <a:xfrm>
            <a:off x="6291072" y="2743200"/>
            <a:ext cx="1554480" cy="502920"/>
          </a:xfrm>
          <a:prstGeom prst="rect">
            <a:avLst/>
          </a:prstGeom>
          <a:noFill/>
        </p:spPr>
        <p:txBody>
          <a:bodyPr wrap="square" lIns="0" rIns="0" tIns="0" bIns="0">
            <a:spAutoFit/>
          </a:bodyPr>
          <a:lstStyle/>
          <a:p>
            <a:pPr algn="l">
              <a:lnSpc>
                <a:spcPct val="100000"/>
              </a:lnSpc>
            </a:pPr>
            <a:r>
              <a:rPr sz="1050" b="0" i="0">
                <a:solidFill>
                  <a:srgbClr val="E6E5DE"/>
                </a:solidFill>
                <a:latin typeface="Calibri"/>
              </a:rPr>
              <a:t>2025 Smart50</a:t>
            </a:r>
          </a:p>
          <a:p>
            <a:pPr algn="l">
              <a:lnSpc>
                <a:spcPct val="100000"/>
              </a:lnSpc>
            </a:pPr>
            <a:r>
              <a:rPr sz="1050" b="0" i="0">
                <a:solidFill>
                  <a:srgbClr val="E6E5DE"/>
                </a:solidFill>
                <a:latin typeface="Calibri"/>
              </a:rPr>
              <a:t>national rank</a:t>
            </a:r>
          </a:p>
        </p:txBody>
      </p:sp>
      <p:sp>
        <p:nvSpPr>
          <p:cNvPr id="30" name="TextBox 29"/>
          <p:cNvSpPr txBox="1"/>
          <p:nvPr/>
        </p:nvSpPr>
        <p:spPr>
          <a:xfrm>
            <a:off x="6291072" y="3328416"/>
            <a:ext cx="1554480" cy="201168"/>
          </a:xfrm>
          <a:prstGeom prst="rect">
            <a:avLst/>
          </a:prstGeom>
          <a:noFill/>
        </p:spPr>
        <p:txBody>
          <a:bodyPr wrap="square" lIns="0" rIns="0" tIns="0" bIns="0"/>
          <a:lstStyle/>
          <a:p>
            <a:pPr algn="l"/>
            <a:r>
              <a:rPr sz="750" b="0" i="1">
                <a:solidFill>
                  <a:srgbClr val="E6E5DE"/>
                </a:solidFill>
                <a:latin typeface="Calibri"/>
              </a:rPr>
              <a:t>SmartCompany, Nov 2025</a:t>
            </a:r>
          </a:p>
        </p:txBody>
      </p:sp>
      <p:sp>
        <p:nvSpPr>
          <p:cNvPr id="31" name="Rectangle 30"/>
          <p:cNvSpPr/>
          <p:nvPr/>
        </p:nvSpPr>
        <p:spPr>
          <a:xfrm>
            <a:off x="8110728" y="2121408"/>
            <a:ext cx="1810512"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110728" y="2121408"/>
            <a:ext cx="1810512"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38744" y="2249424"/>
            <a:ext cx="1554480" cy="457200"/>
          </a:xfrm>
          <a:prstGeom prst="rect">
            <a:avLst/>
          </a:prstGeom>
          <a:noFill/>
        </p:spPr>
        <p:txBody>
          <a:bodyPr wrap="square" lIns="0" rIns="0" tIns="0" bIns="0"/>
          <a:lstStyle/>
          <a:p>
            <a:pPr algn="l"/>
            <a:r>
              <a:rPr sz="2800" b="1" i="0">
                <a:solidFill>
                  <a:srgbClr val="F8C806"/>
                </a:solidFill>
                <a:latin typeface="Cambria"/>
              </a:rPr>
              <a:t>2021</a:t>
            </a:r>
          </a:p>
        </p:txBody>
      </p:sp>
      <p:sp>
        <p:nvSpPr>
          <p:cNvPr id="34" name="TextBox 33"/>
          <p:cNvSpPr txBox="1"/>
          <p:nvPr/>
        </p:nvSpPr>
        <p:spPr>
          <a:xfrm>
            <a:off x="8238744" y="2743200"/>
            <a:ext cx="1554480" cy="502920"/>
          </a:xfrm>
          <a:prstGeom prst="rect">
            <a:avLst/>
          </a:prstGeom>
          <a:noFill/>
        </p:spPr>
        <p:txBody>
          <a:bodyPr wrap="square" lIns="0" rIns="0" tIns="0" bIns="0">
            <a:spAutoFit/>
          </a:bodyPr>
          <a:lstStyle/>
          <a:p>
            <a:pPr algn="l">
              <a:lnSpc>
                <a:spcPct val="100000"/>
              </a:lnSpc>
            </a:pPr>
            <a:r>
              <a:rPr sz="1050" b="0" i="0">
                <a:solidFill>
                  <a:srgbClr val="E6E5DE"/>
                </a:solidFill>
                <a:latin typeface="Calibri"/>
              </a:rPr>
              <a:t>Year founded,</a:t>
            </a:r>
          </a:p>
          <a:p>
            <a:pPr algn="l">
              <a:lnSpc>
                <a:spcPct val="100000"/>
              </a:lnSpc>
            </a:pPr>
            <a:r>
              <a:rPr sz="1050" b="0" i="0">
                <a:solidFill>
                  <a:srgbClr val="E6E5DE"/>
                </a:solidFill>
                <a:latin typeface="Calibri"/>
              </a:rPr>
              <a:t>per Smart50</a:t>
            </a:r>
          </a:p>
        </p:txBody>
      </p:sp>
      <p:sp>
        <p:nvSpPr>
          <p:cNvPr id="35" name="TextBox 34"/>
          <p:cNvSpPr txBox="1"/>
          <p:nvPr/>
        </p:nvSpPr>
        <p:spPr>
          <a:xfrm>
            <a:off x="8238744" y="3328416"/>
            <a:ext cx="1554480" cy="201168"/>
          </a:xfrm>
          <a:prstGeom prst="rect">
            <a:avLst/>
          </a:prstGeom>
          <a:noFill/>
        </p:spPr>
        <p:txBody>
          <a:bodyPr wrap="square" lIns="0" rIns="0" tIns="0" bIns="0"/>
          <a:lstStyle/>
          <a:p>
            <a:pPr algn="l"/>
            <a:r>
              <a:rPr sz="750" b="0" i="1">
                <a:solidFill>
                  <a:srgbClr val="E6E5DE"/>
                </a:solidFill>
                <a:latin typeface="Calibri"/>
              </a:rPr>
              <a:t>SmartCompany, 2023</a:t>
            </a:r>
          </a:p>
        </p:txBody>
      </p:sp>
      <p:sp>
        <p:nvSpPr>
          <p:cNvPr id="36" name="Rectangle 35"/>
          <p:cNvSpPr/>
          <p:nvPr/>
        </p:nvSpPr>
        <p:spPr>
          <a:xfrm>
            <a:off x="10058400" y="2121408"/>
            <a:ext cx="1810512" cy="146304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058400" y="2121408"/>
            <a:ext cx="1810512"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86416" y="2249424"/>
            <a:ext cx="1554480" cy="457200"/>
          </a:xfrm>
          <a:prstGeom prst="rect">
            <a:avLst/>
          </a:prstGeom>
          <a:noFill/>
        </p:spPr>
        <p:txBody>
          <a:bodyPr wrap="square" lIns="0" rIns="0" tIns="0" bIns="0"/>
          <a:lstStyle/>
          <a:p>
            <a:pPr algn="l"/>
            <a:r>
              <a:rPr sz="2800" b="1" i="0">
                <a:solidFill>
                  <a:srgbClr val="F8C806"/>
                </a:solidFill>
                <a:latin typeface="Cambria"/>
              </a:rPr>
              <a:t>16</a:t>
            </a:r>
          </a:p>
        </p:txBody>
      </p:sp>
      <p:sp>
        <p:nvSpPr>
          <p:cNvPr id="39" name="TextBox 38"/>
          <p:cNvSpPr txBox="1"/>
          <p:nvPr/>
        </p:nvSpPr>
        <p:spPr>
          <a:xfrm>
            <a:off x="10186416" y="2743200"/>
            <a:ext cx="1554480" cy="502920"/>
          </a:xfrm>
          <a:prstGeom prst="rect">
            <a:avLst/>
          </a:prstGeom>
          <a:noFill/>
        </p:spPr>
        <p:txBody>
          <a:bodyPr wrap="square" lIns="0" rIns="0" tIns="0" bIns="0">
            <a:spAutoFit/>
          </a:bodyPr>
          <a:lstStyle/>
          <a:p>
            <a:pPr algn="l">
              <a:lnSpc>
                <a:spcPct val="100000"/>
              </a:lnSpc>
            </a:pPr>
            <a:r>
              <a:rPr sz="1050" b="0" i="0">
                <a:solidFill>
                  <a:srgbClr val="E6E5DE"/>
                </a:solidFill>
                <a:latin typeface="Calibri"/>
              </a:rPr>
              <a:t>Full time staff,</a:t>
            </a:r>
          </a:p>
          <a:p>
            <a:pPr algn="l">
              <a:lnSpc>
                <a:spcPct val="100000"/>
              </a:lnSpc>
            </a:pPr>
            <a:r>
              <a:rPr sz="1050" b="0" i="0">
                <a:solidFill>
                  <a:srgbClr val="E6E5DE"/>
                </a:solidFill>
                <a:latin typeface="Calibri"/>
              </a:rPr>
              <a:t>FY25</a:t>
            </a:r>
          </a:p>
        </p:txBody>
      </p:sp>
      <p:sp>
        <p:nvSpPr>
          <p:cNvPr id="40" name="TextBox 39"/>
          <p:cNvSpPr txBox="1"/>
          <p:nvPr/>
        </p:nvSpPr>
        <p:spPr>
          <a:xfrm>
            <a:off x="10186416" y="3328416"/>
            <a:ext cx="1554480" cy="201168"/>
          </a:xfrm>
          <a:prstGeom prst="rect">
            <a:avLst/>
          </a:prstGeom>
          <a:noFill/>
        </p:spPr>
        <p:txBody>
          <a:bodyPr wrap="square" lIns="0" rIns="0" tIns="0" bIns="0"/>
          <a:lstStyle/>
          <a:p>
            <a:pPr algn="l"/>
            <a:r>
              <a:rPr sz="750" b="0" i="1">
                <a:solidFill>
                  <a:srgbClr val="E6E5DE"/>
                </a:solidFill>
                <a:latin typeface="Calibri"/>
              </a:rPr>
              <a:t>SmartCompany, Nov 2025</a:t>
            </a:r>
          </a:p>
        </p:txBody>
      </p:sp>
      <p:sp>
        <p:nvSpPr>
          <p:cNvPr id="41" name="TextBox 40"/>
          <p:cNvSpPr txBox="1"/>
          <p:nvPr/>
        </p:nvSpPr>
        <p:spPr>
          <a:xfrm>
            <a:off x="320040" y="3913632"/>
            <a:ext cx="5486400" cy="274320"/>
          </a:xfrm>
          <a:prstGeom prst="rect">
            <a:avLst/>
          </a:prstGeom>
          <a:noFill/>
        </p:spPr>
        <p:txBody>
          <a:bodyPr wrap="square" lIns="0" rIns="0" tIns="0" bIns="0"/>
          <a:lstStyle/>
          <a:p>
            <a:pPr algn="l"/>
            <a:r>
              <a:rPr sz="1200" b="1" i="0">
                <a:solidFill>
                  <a:srgbClr val="01A296"/>
                </a:solidFill>
                <a:latin typeface="Calibri"/>
              </a:rPr>
              <a:t>KEY COMMERCIAL SIGNALS</a:t>
            </a:r>
          </a:p>
        </p:txBody>
      </p:sp>
      <p:sp>
        <p:nvSpPr>
          <p:cNvPr id="42" name="TextBox 41"/>
          <p:cNvSpPr txBox="1"/>
          <p:nvPr/>
        </p:nvSpPr>
        <p:spPr>
          <a:xfrm>
            <a:off x="320040" y="4224528"/>
            <a:ext cx="11521440" cy="2057400"/>
          </a:xfrm>
          <a:prstGeom prst="rect">
            <a:avLst/>
          </a:prstGeom>
          <a:noFill/>
        </p:spPr>
        <p:txBody>
          <a:bodyPr wrap="square" lIns="0" rIns="0" tIns="0" bIns="0">
            <a:spAutoFit/>
          </a:bodyPr>
          <a:lstStyle/>
          <a:p>
            <a:pPr algn="l">
              <a:lnSpc>
                <a:spcPct val="128000"/>
              </a:lnSpc>
              <a:spcAft>
                <a:spcPts val="600"/>
              </a:spcAft>
            </a:pPr>
            <a:r>
              <a:rPr sz="1150" b="0" i="0">
                <a:solidFill>
                  <a:srgbClr val="000000"/>
                </a:solidFill>
                <a:latin typeface="Calibri"/>
              </a:rPr>
              <a:t>•  Ranked 15th nationally on the 2025 Smart50 fastest growing companies list. Source: SmartCompany, Nov 2025</a:t>
            </a:r>
          </a:p>
          <a:p>
            <a:pPr algn="l">
              <a:lnSpc>
                <a:spcPct val="128000"/>
              </a:lnSpc>
              <a:spcAft>
                <a:spcPts val="600"/>
              </a:spcAft>
            </a:pPr>
            <a:r>
              <a:rPr sz="1150" b="0" i="0">
                <a:solidFill>
                  <a:srgbClr val="000000"/>
                </a:solidFill>
                <a:latin typeface="Calibri"/>
              </a:rPr>
              <a:t>•  Won the Smart50 2024 Rising Star Award and the Smart50 2024 Retail Award. Source: SmartCompany, 2024</a:t>
            </a:r>
          </a:p>
          <a:p>
            <a:pPr algn="l">
              <a:lnSpc>
                <a:spcPct val="128000"/>
              </a:lnSpc>
              <a:spcAft>
                <a:spcPts val="600"/>
              </a:spcAft>
            </a:pPr>
            <a:r>
              <a:rPr sz="1150" b="0" i="0">
                <a:solidFill>
                  <a:srgbClr val="000000"/>
                </a:solidFill>
                <a:latin typeface="Calibri"/>
              </a:rPr>
              <a:t>•  Opened first bricks and mortar flagship store at QV Melbourne, January 2025. Source: Inside Retail, Jan 2025</a:t>
            </a:r>
          </a:p>
          <a:p>
            <a:pPr algn="l">
              <a:lnSpc>
                <a:spcPct val="128000"/>
              </a:lnSpc>
              <a:spcAft>
                <a:spcPts val="600"/>
              </a:spcAft>
            </a:pPr>
            <a:r>
              <a:rPr sz="1150" b="0" i="0">
                <a:solidFill>
                  <a:srgbClr val="000000"/>
                </a:solidFill>
                <a:latin typeface="Calibri"/>
              </a:rPr>
              <a:t>•  Now stocked through wholesale partners in Singapore, 12 stores, and Malaysia, 3 stores. Source: Business News Australia</a:t>
            </a:r>
          </a:p>
          <a:p>
            <a:pPr algn="l">
              <a:lnSpc>
                <a:spcPct val="128000"/>
              </a:lnSpc>
              <a:spcAft>
                <a:spcPts val="600"/>
              </a:spcAft>
            </a:pPr>
            <a:r>
              <a:rPr sz="1150" b="0" i="0">
                <a:solidFill>
                  <a:srgbClr val="000000"/>
                </a:solidFill>
                <a:latin typeface="Calibri"/>
              </a:rPr>
              <a:t>•  Featured on Shark Tank Australia, national television exposure for the brand. Source: SmartCompany</a:t>
            </a:r>
          </a:p>
          <a:p>
            <a:pPr algn="l">
              <a:lnSpc>
                <a:spcPct val="128000"/>
              </a:lnSpc>
              <a:spcAft>
                <a:spcPts val="600"/>
              </a:spcAft>
            </a:pPr>
            <a:r>
              <a:rPr sz="1150" b="0" i="0">
                <a:solidFill>
                  <a:srgbClr val="000000"/>
                </a:solidFill>
                <a:latin typeface="Calibri"/>
              </a:rPr>
              <a:t>•  Revenue grew from about $1 million in 2021 to $9.4 million in FY25. Source: SmartCompany Smart50 profiles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6858000" cy="365760"/>
          </a:xfrm>
          <a:prstGeom prst="rect">
            <a:avLst/>
          </a:prstGeom>
          <a:noFill/>
        </p:spPr>
        <p:txBody>
          <a:bodyPr wrap="square" anchor="ctr" lIns="0" rIns="0" tIns="0" bIns="0"/>
          <a:lstStyle/>
          <a:p>
            <a:pPr algn="l"/>
            <a:r>
              <a:rPr sz="1200" b="1" i="0">
                <a:solidFill>
                  <a:srgbClr val="E6E5DE"/>
                </a:solidFill>
                <a:latin typeface="Calibri"/>
              </a:rPr>
              <a:t>THE OPPORTUNITY</a:t>
            </a:r>
          </a:p>
        </p:txBody>
      </p:sp>
      <p:sp>
        <p:nvSpPr>
          <p:cNvPr id="5" name="TextBox 4"/>
          <p:cNvSpPr txBox="1"/>
          <p:nvPr/>
        </p:nvSpPr>
        <p:spPr>
          <a:xfrm>
            <a:off x="8229600" y="292608"/>
            <a:ext cx="3749039" cy="365760"/>
          </a:xfrm>
          <a:prstGeom prst="rect">
            <a:avLst/>
          </a:prstGeom>
          <a:noFill/>
        </p:spPr>
        <p:txBody>
          <a:bodyPr wrap="square" anchor="ctr" lIns="0" rIns="0" tIns="0" bIns="0"/>
          <a:lstStyle/>
          <a:p>
            <a:pPr algn="r"/>
            <a:r>
              <a:rPr sz="1200" b="1" i="0">
                <a:solidFill>
                  <a:srgbClr val="F8C806"/>
                </a:solidFill>
                <a:latin typeface="Calibri"/>
              </a:rPr>
              <a:t>PAIRE</a:t>
            </a:r>
          </a:p>
        </p:txBody>
      </p:sp>
      <p:sp>
        <p:nvSpPr>
          <p:cNvPr id="6" name="Rectangle 5"/>
          <p:cNvSpPr/>
          <p:nvPr/>
        </p:nvSpPr>
        <p:spPr>
          <a:xfrm>
            <a:off x="320040" y="6428232"/>
            <a:ext cx="11521440" cy="9525"/>
          </a:xfrm>
          <a:prstGeom prst="rect">
            <a:avLst/>
          </a:prstGeom>
          <a:solidFill>
            <a:srgbClr val="E6E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510528"/>
            <a:ext cx="8229600" cy="274320"/>
          </a:xfrm>
          <a:prstGeom prst="rect">
            <a:avLst/>
          </a:prstGeom>
          <a:noFill/>
        </p:spPr>
        <p:txBody>
          <a:bodyPr wrap="square" lIns="0" rIns="0" tIns="0" bIns="0"/>
          <a:lstStyle/>
          <a:p>
            <a:pPr algn="l"/>
            <a:r>
              <a:rPr sz="800" b="0" i="0">
                <a:solidFill>
                  <a:srgbClr val="000000"/>
                </a:solidFill>
                <a:latin typeface="Calibri"/>
              </a:rPr>
              <a:t>Prepared by Nitesh Roopa CA, Managing Partner and Founder, ProfitPulse, Profit-Pulse.com.au</a:t>
            </a:r>
          </a:p>
        </p:txBody>
      </p:sp>
      <p:sp>
        <p:nvSpPr>
          <p:cNvPr id="8" name="TextBox 7"/>
          <p:cNvSpPr txBox="1"/>
          <p:nvPr/>
        </p:nvSpPr>
        <p:spPr>
          <a:xfrm>
            <a:off x="9144000" y="6510528"/>
            <a:ext cx="2697480" cy="274320"/>
          </a:xfrm>
          <a:prstGeom prst="rect">
            <a:avLst/>
          </a:prstGeom>
          <a:noFill/>
        </p:spPr>
        <p:txBody>
          <a:bodyPr wrap="square" lIns="0" rIns="0" tIns="0" bIns="0"/>
          <a:lstStyle/>
          <a:p>
            <a:pPr algn="r"/>
            <a:r>
              <a:rPr sz="800" b="0" i="0">
                <a:solidFill>
                  <a:srgbClr val="000000"/>
                </a:solidFill>
                <a:latin typeface="Calibri"/>
              </a:rPr>
              <a:t>22 Jul 2026</a:t>
            </a:r>
          </a:p>
        </p:txBody>
      </p:sp>
      <p:sp>
        <p:nvSpPr>
          <p:cNvPr id="9" name="TextBox 8"/>
          <p:cNvSpPr txBox="1"/>
          <p:nvPr/>
        </p:nvSpPr>
        <p:spPr>
          <a:xfrm>
            <a:off x="320040" y="1051560"/>
            <a:ext cx="11521440" cy="320040"/>
          </a:xfrm>
          <a:prstGeom prst="rect">
            <a:avLst/>
          </a:prstGeom>
          <a:noFill/>
        </p:spPr>
        <p:txBody>
          <a:bodyPr wrap="square" lIns="0" rIns="0" tIns="0" bIns="0"/>
          <a:lstStyle/>
          <a:p>
            <a:pPr algn="l"/>
            <a:r>
              <a:rPr sz="1400" b="0" i="1">
                <a:solidFill>
                  <a:srgbClr val="000000"/>
                </a:solidFill>
                <a:latin typeface="Calibri"/>
              </a:rPr>
              <a:t>Three commercial observations from ProfitPulse</a:t>
            </a:r>
          </a:p>
        </p:txBody>
      </p:sp>
      <p:sp>
        <p:nvSpPr>
          <p:cNvPr id="10" name="Rectangle 9"/>
          <p:cNvSpPr/>
          <p:nvPr/>
        </p:nvSpPr>
        <p:spPr>
          <a:xfrm>
            <a:off x="320040" y="1481328"/>
            <a:ext cx="3941063" cy="448056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 y="1645920"/>
            <a:ext cx="3538727" cy="640080"/>
          </a:xfrm>
          <a:prstGeom prst="rect">
            <a:avLst/>
          </a:prstGeom>
          <a:noFill/>
        </p:spPr>
        <p:txBody>
          <a:bodyPr wrap="square" lIns="0" rIns="0" tIns="0" bIns="0"/>
          <a:lstStyle/>
          <a:p>
            <a:pPr algn="l"/>
            <a:r>
              <a:rPr sz="3400" b="1" i="0">
                <a:solidFill>
                  <a:srgbClr val="000000"/>
                </a:solidFill>
                <a:latin typeface="Cambria"/>
              </a:rPr>
              <a:t>01</a:t>
            </a:r>
          </a:p>
        </p:txBody>
      </p:sp>
      <p:sp>
        <p:nvSpPr>
          <p:cNvPr id="12" name="TextBox 11"/>
          <p:cNvSpPr txBox="1"/>
          <p:nvPr/>
        </p:nvSpPr>
        <p:spPr>
          <a:xfrm>
            <a:off x="521208" y="2322576"/>
            <a:ext cx="3538727" cy="731520"/>
          </a:xfrm>
          <a:prstGeom prst="rect">
            <a:avLst/>
          </a:prstGeom>
          <a:noFill/>
        </p:spPr>
        <p:txBody>
          <a:bodyPr wrap="square" lIns="0" rIns="0" tIns="0" bIns="0"/>
          <a:lstStyle/>
          <a:p>
            <a:pPr algn="l">
              <a:lnSpc>
                <a:spcPct val="105000"/>
              </a:lnSpc>
            </a:pPr>
            <a:r>
              <a:rPr sz="1500" b="1" i="0">
                <a:solidFill>
                  <a:srgbClr val="000000"/>
                </a:solidFill>
                <a:latin typeface="Cambria"/>
              </a:rPr>
              <a:t>Three growth fronts, one balance sheet</a:t>
            </a:r>
          </a:p>
        </p:txBody>
      </p:sp>
      <p:sp>
        <p:nvSpPr>
          <p:cNvPr id="13" name="TextBox 12"/>
          <p:cNvSpPr txBox="1"/>
          <p:nvPr/>
        </p:nvSpPr>
        <p:spPr>
          <a:xfrm>
            <a:off x="521208" y="3145536"/>
            <a:ext cx="3538727" cy="2697480"/>
          </a:xfrm>
          <a:prstGeom prst="rect">
            <a:avLst/>
          </a:prstGeom>
          <a:noFill/>
        </p:spPr>
        <p:txBody>
          <a:bodyPr wrap="square" lIns="0" rIns="0" tIns="0" bIns="0"/>
          <a:lstStyle/>
          <a:p>
            <a:pPr algn="l">
              <a:lnSpc>
                <a:spcPct val="118000"/>
              </a:lnSpc>
            </a:pPr>
            <a:r>
              <a:rPr sz="1100" b="0" i="0">
                <a:solidFill>
                  <a:srgbClr val="000000"/>
                </a:solidFill>
                <a:latin typeface="Calibri"/>
              </a:rPr>
              <a:t>In under two years Paire has added two Melbourne retail stores to its online business and opened its first international wholesale accounts in Singapore and Malaysia. Each channel carries its own cost structure: retail fit out and staffing, wholesale margin and freight, online customer acquisition. Without a channel by channel view, it is easy to keep funding the loudest growth story rather than the most profitable one.</a:t>
            </a:r>
          </a:p>
        </p:txBody>
      </p:sp>
      <p:sp>
        <p:nvSpPr>
          <p:cNvPr id="14" name="Rectangle 13"/>
          <p:cNvSpPr/>
          <p:nvPr/>
        </p:nvSpPr>
        <p:spPr>
          <a:xfrm>
            <a:off x="4279391" y="1481328"/>
            <a:ext cx="3941063" cy="448056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59" y="1645920"/>
            <a:ext cx="3538727" cy="640080"/>
          </a:xfrm>
          <a:prstGeom prst="rect">
            <a:avLst/>
          </a:prstGeom>
          <a:noFill/>
        </p:spPr>
        <p:txBody>
          <a:bodyPr wrap="square" lIns="0" rIns="0" tIns="0" bIns="0"/>
          <a:lstStyle/>
          <a:p>
            <a:pPr algn="l"/>
            <a:r>
              <a:rPr sz="3400" b="1" i="0">
                <a:solidFill>
                  <a:srgbClr val="01A296"/>
                </a:solidFill>
                <a:latin typeface="Cambria"/>
              </a:rPr>
              <a:t>02</a:t>
            </a:r>
          </a:p>
        </p:txBody>
      </p:sp>
      <p:sp>
        <p:nvSpPr>
          <p:cNvPr id="16" name="TextBox 15"/>
          <p:cNvSpPr txBox="1"/>
          <p:nvPr/>
        </p:nvSpPr>
        <p:spPr>
          <a:xfrm>
            <a:off x="4480559" y="2322576"/>
            <a:ext cx="3538727" cy="731520"/>
          </a:xfrm>
          <a:prstGeom prst="rect">
            <a:avLst/>
          </a:prstGeom>
          <a:noFill/>
        </p:spPr>
        <p:txBody>
          <a:bodyPr wrap="square" lIns="0" rIns="0" tIns="0" bIns="0"/>
          <a:lstStyle/>
          <a:p>
            <a:pPr algn="l">
              <a:lnSpc>
                <a:spcPct val="105000"/>
              </a:lnSpc>
            </a:pPr>
            <a:r>
              <a:rPr sz="1500" b="1" i="0">
                <a:solidFill>
                  <a:srgbClr val="E6E5DE"/>
                </a:solidFill>
                <a:latin typeface="Cambria"/>
              </a:rPr>
              <a:t>Inventory is the quiet cash risk</a:t>
            </a:r>
          </a:p>
        </p:txBody>
      </p:sp>
      <p:sp>
        <p:nvSpPr>
          <p:cNvPr id="17" name="TextBox 16"/>
          <p:cNvSpPr txBox="1"/>
          <p:nvPr/>
        </p:nvSpPr>
        <p:spPr>
          <a:xfrm>
            <a:off x="4480559" y="3145536"/>
            <a:ext cx="3538727" cy="2697480"/>
          </a:xfrm>
          <a:prstGeom prst="rect">
            <a:avLst/>
          </a:prstGeom>
          <a:noFill/>
        </p:spPr>
        <p:txBody>
          <a:bodyPr wrap="square" lIns="0" rIns="0" tIns="0" bIns="0"/>
          <a:lstStyle/>
          <a:p>
            <a:pPr algn="l">
              <a:lnSpc>
                <a:spcPct val="118000"/>
              </a:lnSpc>
            </a:pPr>
            <a:r>
              <a:rPr sz="1100" b="0" i="0">
                <a:solidFill>
                  <a:srgbClr val="E6E5DE"/>
                </a:solidFill>
                <a:latin typeface="Calibri"/>
              </a:rPr>
              <a:t>Apparel businesses scaling into new stores and new export markets at the same time typically see cash tied up in stock rise faster than revenue, since every new store and every new wholesale partner needs its own opening stock position. A Working Capital Unlock exercise would show exactly how much cash sits in stock today and where it can be released without starving the next store opening.</a:t>
            </a:r>
          </a:p>
        </p:txBody>
      </p:sp>
      <p:sp>
        <p:nvSpPr>
          <p:cNvPr id="18" name="Rectangle 17"/>
          <p:cNvSpPr/>
          <p:nvPr/>
        </p:nvSpPr>
        <p:spPr>
          <a:xfrm>
            <a:off x="8238742" y="1481328"/>
            <a:ext cx="3941063" cy="4480560"/>
          </a:xfrm>
          <a:prstGeom prst="rect">
            <a:avLst/>
          </a:prstGeom>
          <a:solidFill>
            <a:srgbClr val="E3A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39910" y="1645920"/>
            <a:ext cx="3538727" cy="640080"/>
          </a:xfrm>
          <a:prstGeom prst="rect">
            <a:avLst/>
          </a:prstGeom>
          <a:noFill/>
        </p:spPr>
        <p:txBody>
          <a:bodyPr wrap="square" lIns="0" rIns="0" tIns="0" bIns="0"/>
          <a:lstStyle/>
          <a:p>
            <a:pPr algn="l"/>
            <a:r>
              <a:rPr sz="3400" b="1" i="0">
                <a:solidFill>
                  <a:srgbClr val="000000"/>
                </a:solidFill>
                <a:latin typeface="Cambria"/>
              </a:rPr>
              <a:t>03</a:t>
            </a:r>
          </a:p>
        </p:txBody>
      </p:sp>
      <p:sp>
        <p:nvSpPr>
          <p:cNvPr id="20" name="TextBox 19"/>
          <p:cNvSpPr txBox="1"/>
          <p:nvPr/>
        </p:nvSpPr>
        <p:spPr>
          <a:xfrm>
            <a:off x="8439910" y="2322576"/>
            <a:ext cx="3538727" cy="731520"/>
          </a:xfrm>
          <a:prstGeom prst="rect">
            <a:avLst/>
          </a:prstGeom>
          <a:noFill/>
        </p:spPr>
        <p:txBody>
          <a:bodyPr wrap="square" lIns="0" rIns="0" tIns="0" bIns="0"/>
          <a:lstStyle/>
          <a:p>
            <a:pPr algn="l">
              <a:lnSpc>
                <a:spcPct val="105000"/>
              </a:lnSpc>
            </a:pPr>
            <a:r>
              <a:rPr sz="1500" b="1" i="0">
                <a:solidFill>
                  <a:srgbClr val="000000"/>
                </a:solidFill>
                <a:latin typeface="Cambria"/>
              </a:rPr>
              <a:t>Nine times revenue growth deserves a costed plan</a:t>
            </a:r>
          </a:p>
        </p:txBody>
      </p:sp>
      <p:sp>
        <p:nvSpPr>
          <p:cNvPr id="21" name="TextBox 20"/>
          <p:cNvSpPr txBox="1"/>
          <p:nvPr/>
        </p:nvSpPr>
        <p:spPr>
          <a:xfrm>
            <a:off x="8439910" y="3145536"/>
            <a:ext cx="3538727" cy="2697480"/>
          </a:xfrm>
          <a:prstGeom prst="rect">
            <a:avLst/>
          </a:prstGeom>
          <a:noFill/>
        </p:spPr>
        <p:txBody>
          <a:bodyPr wrap="square" lIns="0" rIns="0" tIns="0" bIns="0"/>
          <a:lstStyle/>
          <a:p>
            <a:pPr algn="l">
              <a:lnSpc>
                <a:spcPct val="118000"/>
              </a:lnSpc>
            </a:pPr>
            <a:r>
              <a:rPr sz="1100" b="0" i="0">
                <a:solidFill>
                  <a:srgbClr val="000000"/>
                </a:solidFill>
                <a:latin typeface="Calibri"/>
              </a:rPr>
              <a:t>Revenue has grown roughly ninefold since 2021, reaching $9.4 million in FY25 on 64 percent growth, following 88 percent growth the year before. That is the profile of a business ready for a formal twelve month growth plan, ranking retail expansion, wholesale scaling, and new product lines by expected return for the team and for any future funding partner.</a:t>
            </a:r>
          </a:p>
        </p:txBody>
      </p:sp>
      <p:sp>
        <p:nvSpPr>
          <p:cNvPr id="22" name="TextBox 21"/>
          <p:cNvSpPr txBox="1"/>
          <p:nvPr/>
        </p:nvSpPr>
        <p:spPr>
          <a:xfrm>
            <a:off x="320040" y="6053328"/>
            <a:ext cx="11521440" cy="365760"/>
          </a:xfrm>
          <a:prstGeom prst="rect">
            <a:avLst/>
          </a:prstGeom>
          <a:noFill/>
        </p:spPr>
        <p:txBody>
          <a:bodyPr wrap="square" lIns="0" rIns="0" tIns="0" bIns="0"/>
          <a:lstStyle/>
          <a:p>
            <a:pPr algn="l"/>
            <a:r>
              <a:rPr sz="1050" b="0" i="1">
                <a:solidFill>
                  <a:srgbClr val="000000"/>
                </a:solidFill>
                <a:latin typeface="Calibri"/>
              </a:rPr>
              <a:t>These observations are offered in good faith. Paire has built something genuinely impressive in four years. The question is simply whether the operating and capital plan is keeping pace with three simultaneous growth fronts.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6858000" cy="365760"/>
          </a:xfrm>
          <a:prstGeom prst="rect">
            <a:avLst/>
          </a:prstGeom>
          <a:noFill/>
        </p:spPr>
        <p:txBody>
          <a:bodyPr wrap="square" anchor="ctr" lIns="0" rIns="0" tIns="0" bIns="0"/>
          <a:lstStyle/>
          <a:p>
            <a:pPr algn="l"/>
            <a:r>
              <a:rPr sz="1200" b="1" i="0">
                <a:solidFill>
                  <a:srgbClr val="E6E5DE"/>
                </a:solidFill>
                <a:latin typeface="Calibri"/>
              </a:rPr>
              <a:t>THE RECOMMENDATION</a:t>
            </a:r>
          </a:p>
        </p:txBody>
      </p:sp>
      <p:sp>
        <p:nvSpPr>
          <p:cNvPr id="5" name="TextBox 4"/>
          <p:cNvSpPr txBox="1"/>
          <p:nvPr/>
        </p:nvSpPr>
        <p:spPr>
          <a:xfrm>
            <a:off x="8229600" y="292608"/>
            <a:ext cx="3749039" cy="365760"/>
          </a:xfrm>
          <a:prstGeom prst="rect">
            <a:avLst/>
          </a:prstGeom>
          <a:noFill/>
        </p:spPr>
        <p:txBody>
          <a:bodyPr wrap="square" anchor="ctr" lIns="0" rIns="0" tIns="0" bIns="0"/>
          <a:lstStyle/>
          <a:p>
            <a:pPr algn="r"/>
            <a:r>
              <a:rPr sz="1200" b="1" i="0">
                <a:solidFill>
                  <a:srgbClr val="F8C806"/>
                </a:solidFill>
                <a:latin typeface="Calibri"/>
              </a:rPr>
              <a:t>PAIRE</a:t>
            </a:r>
          </a:p>
        </p:txBody>
      </p:sp>
      <p:sp>
        <p:nvSpPr>
          <p:cNvPr id="6" name="Rectangle 5"/>
          <p:cNvSpPr/>
          <p:nvPr/>
        </p:nvSpPr>
        <p:spPr>
          <a:xfrm>
            <a:off x="320040" y="6428232"/>
            <a:ext cx="11521440" cy="9525"/>
          </a:xfrm>
          <a:prstGeom prst="rect">
            <a:avLst/>
          </a:prstGeom>
          <a:solidFill>
            <a:srgbClr val="E6E5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510528"/>
            <a:ext cx="8229600" cy="274320"/>
          </a:xfrm>
          <a:prstGeom prst="rect">
            <a:avLst/>
          </a:prstGeom>
          <a:noFill/>
        </p:spPr>
        <p:txBody>
          <a:bodyPr wrap="square" lIns="0" rIns="0" tIns="0" bIns="0"/>
          <a:lstStyle/>
          <a:p>
            <a:pPr algn="l"/>
            <a:r>
              <a:rPr sz="800" b="0" i="0">
                <a:solidFill>
                  <a:srgbClr val="000000"/>
                </a:solidFill>
                <a:latin typeface="Calibri"/>
              </a:rPr>
              <a:t>Prepared by Nitesh Roopa CA, Managing Partner and Founder, ProfitPulse, Profit-Pulse.com.au</a:t>
            </a:r>
          </a:p>
        </p:txBody>
      </p:sp>
      <p:sp>
        <p:nvSpPr>
          <p:cNvPr id="8" name="TextBox 7"/>
          <p:cNvSpPr txBox="1"/>
          <p:nvPr/>
        </p:nvSpPr>
        <p:spPr>
          <a:xfrm>
            <a:off x="9144000" y="6510528"/>
            <a:ext cx="2697480" cy="274320"/>
          </a:xfrm>
          <a:prstGeom prst="rect">
            <a:avLst/>
          </a:prstGeom>
          <a:noFill/>
        </p:spPr>
        <p:txBody>
          <a:bodyPr wrap="square" lIns="0" rIns="0" tIns="0" bIns="0"/>
          <a:lstStyle/>
          <a:p>
            <a:pPr algn="r"/>
            <a:r>
              <a:rPr sz="800" b="0" i="0">
                <a:solidFill>
                  <a:srgbClr val="000000"/>
                </a:solidFill>
                <a:latin typeface="Calibri"/>
              </a:rPr>
              <a:t>22 Jul 2026</a:t>
            </a:r>
          </a:p>
        </p:txBody>
      </p:sp>
      <p:sp>
        <p:nvSpPr>
          <p:cNvPr id="9" name="TextBox 8"/>
          <p:cNvSpPr txBox="1"/>
          <p:nvPr/>
        </p:nvSpPr>
        <p:spPr>
          <a:xfrm>
            <a:off x="320040" y="1051560"/>
            <a:ext cx="6720840" cy="457200"/>
          </a:xfrm>
          <a:prstGeom prst="rect">
            <a:avLst/>
          </a:prstGeom>
          <a:noFill/>
        </p:spPr>
        <p:txBody>
          <a:bodyPr wrap="square" lIns="0" rIns="0" tIns="0" bIns="0"/>
          <a:lstStyle/>
          <a:p>
            <a:pPr algn="l"/>
            <a:r>
              <a:rPr sz="2400" b="1" i="0">
                <a:solidFill>
                  <a:srgbClr val="000000"/>
                </a:solidFill>
                <a:latin typeface="Cambria"/>
              </a:rPr>
              <a:t>Strategic Growth Diagnostic</a:t>
            </a:r>
          </a:p>
        </p:txBody>
      </p:sp>
      <p:sp>
        <p:nvSpPr>
          <p:cNvPr id="10" name="TextBox 9"/>
          <p:cNvSpPr txBox="1"/>
          <p:nvPr/>
        </p:nvSpPr>
        <p:spPr>
          <a:xfrm>
            <a:off x="320040" y="1517904"/>
            <a:ext cx="6720840" cy="292608"/>
          </a:xfrm>
          <a:prstGeom prst="rect">
            <a:avLst/>
          </a:prstGeom>
          <a:noFill/>
        </p:spPr>
        <p:txBody>
          <a:bodyPr wrap="square" lIns="0" rIns="0" tIns="0" bIns="0"/>
          <a:lstStyle/>
          <a:p>
            <a:pPr algn="l"/>
            <a:r>
              <a:rPr sz="1300" b="1" i="0">
                <a:solidFill>
                  <a:srgbClr val="01A296"/>
                </a:solidFill>
                <a:latin typeface="Calibri"/>
              </a:rPr>
              <a:t>$5,000 one off, ProfitPulse verified price</a:t>
            </a:r>
          </a:p>
        </p:txBody>
      </p:sp>
      <p:sp>
        <p:nvSpPr>
          <p:cNvPr id="11" name="TextBox 10"/>
          <p:cNvSpPr txBox="1"/>
          <p:nvPr/>
        </p:nvSpPr>
        <p:spPr>
          <a:xfrm>
            <a:off x="320040" y="1883664"/>
            <a:ext cx="6720840" cy="685800"/>
          </a:xfrm>
          <a:prstGeom prst="rect">
            <a:avLst/>
          </a:prstGeom>
          <a:noFill/>
        </p:spPr>
        <p:txBody>
          <a:bodyPr wrap="square" lIns="0" rIns="0" tIns="0" bIns="0"/>
          <a:lstStyle/>
          <a:p>
            <a:pPr algn="l">
              <a:lnSpc>
                <a:spcPct val="115000"/>
              </a:lnSpc>
            </a:pPr>
            <a:r>
              <a:rPr sz="1150" b="0" i="0">
                <a:solidFill>
                  <a:srgbClr val="000000"/>
                </a:solidFill>
                <a:latin typeface="Calibri"/>
              </a:rPr>
              <a:t>Maps revenue, capacity, and margin headroom across retail, wholesale, and online, then produces a twelve month growth plan with funding and capital allocation steps for each channel.</a:t>
            </a:r>
          </a:p>
        </p:txBody>
      </p:sp>
      <p:sp>
        <p:nvSpPr>
          <p:cNvPr id="12" name="Rectangle 11"/>
          <p:cNvSpPr/>
          <p:nvPr/>
        </p:nvSpPr>
        <p:spPr>
          <a:xfrm>
            <a:off x="320040" y="2697480"/>
            <a:ext cx="6720840" cy="1234440"/>
          </a:xfrm>
          <a:prstGeom prst="rect">
            <a:avLst/>
          </a:prstGeom>
          <a:solidFill>
            <a:srgbClr val="E6E5DE"/>
          </a:solidFill>
          <a:ln w="12700">
            <a:solidFill>
              <a:srgbClr val="01A2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816352"/>
            <a:ext cx="6355080" cy="292608"/>
          </a:xfrm>
          <a:prstGeom prst="rect">
            <a:avLst/>
          </a:prstGeom>
          <a:noFill/>
        </p:spPr>
        <p:txBody>
          <a:bodyPr wrap="square" lIns="0" rIns="0" tIns="0" bIns="0"/>
          <a:lstStyle/>
          <a:p>
            <a:pPr algn="l"/>
            <a:r>
              <a:rPr sz="1250" b="1" i="0">
                <a:solidFill>
                  <a:srgbClr val="000000"/>
                </a:solidFill>
                <a:latin typeface="Calibri"/>
              </a:rPr>
              <a:t>Step one, answer a few quick questions</a:t>
            </a:r>
          </a:p>
        </p:txBody>
      </p:sp>
      <p:sp>
        <p:nvSpPr>
          <p:cNvPr id="14" name="TextBox 13"/>
          <p:cNvSpPr txBox="1"/>
          <p:nvPr/>
        </p:nvSpPr>
        <p:spPr>
          <a:xfrm>
            <a:off x="502920" y="3127248"/>
            <a:ext cx="6355080" cy="274320"/>
          </a:xfrm>
          <a:prstGeom prst="rect">
            <a:avLst/>
          </a:prstGeom>
          <a:noFill/>
        </p:spPr>
        <p:txBody>
          <a:bodyPr wrap="square" lIns="0" rIns="0" tIns="0" bIns="0"/>
          <a:lstStyle/>
          <a:p>
            <a:pPr algn="l"/>
            <a:r>
              <a:rPr sz="1100" b="0" i="0">
                <a:solidFill>
                  <a:srgbClr val="000000"/>
                </a:solidFill>
                <a:latin typeface="Calibri"/>
              </a:rPr>
              <a:t>See the solutions matched to your size and industry.</a:t>
            </a:r>
          </a:p>
        </p:txBody>
      </p:sp>
      <p:sp>
        <p:nvSpPr>
          <p:cNvPr id="15" name="TextBox 14"/>
          <p:cNvSpPr txBox="1"/>
          <p:nvPr/>
        </p:nvSpPr>
        <p:spPr>
          <a:xfrm>
            <a:off x="502920" y="3429000"/>
            <a:ext cx="6355080" cy="292608"/>
          </a:xfrm>
          <a:prstGeom prst="rect">
            <a:avLst/>
          </a:prstGeom>
          <a:noFill/>
        </p:spPr>
        <p:txBody>
          <a:bodyPr wrap="square" lIns="0" rIns="0" tIns="0" bIns="0"/>
          <a:lstStyle/>
          <a:p>
            <a:pPr algn="l"/>
            <a:r>
              <a:rPr sz="1250" b="1" i="0">
                <a:solidFill>
                  <a:srgbClr val="01A296"/>
                </a:solidFill>
                <a:latin typeface="Calibri"/>
                <a:hlinkClick r:id="rId2"/>
              </a:rPr>
              <a:t>profit-pulse.com.au/services/find-your-fit</a:t>
            </a:r>
          </a:p>
        </p:txBody>
      </p:sp>
      <p:sp>
        <p:nvSpPr>
          <p:cNvPr id="16" name="Rectangle 15"/>
          <p:cNvSpPr/>
          <p:nvPr/>
        </p:nvSpPr>
        <p:spPr>
          <a:xfrm>
            <a:off x="320040" y="4114800"/>
            <a:ext cx="4663440" cy="50292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 y="4114800"/>
            <a:ext cx="4343400" cy="502920"/>
          </a:xfrm>
          <a:prstGeom prst="rect">
            <a:avLst/>
          </a:prstGeom>
          <a:noFill/>
        </p:spPr>
        <p:txBody>
          <a:bodyPr wrap="square" anchor="ctr" lIns="0" rIns="0" tIns="0" bIns="0"/>
          <a:lstStyle/>
          <a:p>
            <a:pPr algn="l"/>
            <a:r>
              <a:rPr sz="1200" b="1" i="0">
                <a:solidFill>
                  <a:srgbClr val="000000"/>
                </a:solidFill>
                <a:latin typeface="Calibri"/>
                <a:hlinkClick r:id="rId3"/>
              </a:rPr>
              <a:t>Purchase the suggested product now to get started</a:t>
            </a:r>
          </a:p>
        </p:txBody>
      </p:sp>
      <p:sp>
        <p:nvSpPr>
          <p:cNvPr id="18" name="TextBox 17"/>
          <p:cNvSpPr txBox="1"/>
          <p:nvPr/>
        </p:nvSpPr>
        <p:spPr>
          <a:xfrm>
            <a:off x="320040" y="4828032"/>
            <a:ext cx="6720840" cy="274320"/>
          </a:xfrm>
          <a:prstGeom prst="rect">
            <a:avLst/>
          </a:prstGeom>
          <a:noFill/>
        </p:spPr>
        <p:txBody>
          <a:bodyPr wrap="square" lIns="0" rIns="0" tIns="0" bIns="0"/>
          <a:lstStyle/>
          <a:p>
            <a:pPr algn="l"/>
            <a:r>
              <a:rPr sz="1150" b="0" i="0">
                <a:solidFill>
                  <a:srgbClr val="000000"/>
                </a:solidFill>
                <a:latin typeface="Calibri"/>
              </a:rPr>
              <a:t>Prefer a conversation first?</a:t>
            </a:r>
          </a:p>
        </p:txBody>
      </p:sp>
      <p:sp>
        <p:nvSpPr>
          <p:cNvPr id="19" name="TextBox 18"/>
          <p:cNvSpPr txBox="1"/>
          <p:nvPr/>
        </p:nvSpPr>
        <p:spPr>
          <a:xfrm>
            <a:off x="320040" y="5120640"/>
            <a:ext cx="6720840" cy="274320"/>
          </a:xfrm>
          <a:prstGeom prst="rect">
            <a:avLst/>
          </a:prstGeom>
          <a:noFill/>
        </p:spPr>
        <p:txBody>
          <a:bodyPr wrap="square" lIns="0" rIns="0" tIns="0" bIns="0"/>
          <a:lstStyle/>
          <a:p>
            <a:pPr algn="l"/>
            <a:r>
              <a:rPr sz="1150" b="1" i="0">
                <a:solidFill>
                  <a:srgbClr val="01A296"/>
                </a:solidFill>
                <a:latin typeface="Calibri"/>
                <a:hlinkClick r:id="rId4"/>
              </a:rPr>
              <a:t>Book a complimentary discovery call</a:t>
            </a:r>
          </a:p>
        </p:txBody>
      </p:sp>
      <p:sp>
        <p:nvSpPr>
          <p:cNvPr id="20" name="TextBox 19"/>
          <p:cNvSpPr txBox="1"/>
          <p:nvPr/>
        </p:nvSpPr>
        <p:spPr>
          <a:xfrm>
            <a:off x="320040" y="5623560"/>
            <a:ext cx="6720840" cy="502920"/>
          </a:xfrm>
          <a:prstGeom prst="rect">
            <a:avLst/>
          </a:prstGeom>
          <a:noFill/>
        </p:spPr>
        <p:txBody>
          <a:bodyPr wrap="square" lIns="0" rIns="0" tIns="0" bIns="0"/>
          <a:lstStyle/>
          <a:p>
            <a:pPr algn="l">
              <a:lnSpc>
                <a:spcPct val="110000"/>
              </a:lnSpc>
            </a:pPr>
            <a:r>
              <a:rPr sz="950" b="0" i="1">
                <a:solidFill>
                  <a:srgbClr val="000000"/>
                </a:solidFill>
                <a:latin typeface="Calibri"/>
              </a:rPr>
              <a:t>Wedge: rapid multi channel expansion without a costed capital plan across retail, wholesale, and online.</a:t>
            </a:r>
          </a:p>
        </p:txBody>
      </p:sp>
      <p:sp>
        <p:nvSpPr>
          <p:cNvPr id="21" name="Rectangle 20"/>
          <p:cNvSpPr/>
          <p:nvPr/>
        </p:nvSpPr>
        <p:spPr>
          <a:xfrm>
            <a:off x="7269480" y="1051560"/>
            <a:ext cx="4572000" cy="50749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70648" y="1234440"/>
            <a:ext cx="4169664" cy="365760"/>
          </a:xfrm>
          <a:prstGeom prst="rect">
            <a:avLst/>
          </a:prstGeom>
          <a:noFill/>
        </p:spPr>
        <p:txBody>
          <a:bodyPr wrap="square" lIns="0" rIns="0" tIns="0" bIns="0"/>
          <a:lstStyle/>
          <a:p>
            <a:pPr algn="l"/>
            <a:r>
              <a:rPr sz="1800" b="1" i="0">
                <a:solidFill>
                  <a:srgbClr val="F8C806"/>
                </a:solidFill>
                <a:latin typeface="Cambria"/>
              </a:rPr>
              <a:t>Nitesh Roopa</a:t>
            </a:r>
          </a:p>
        </p:txBody>
      </p:sp>
      <p:sp>
        <p:nvSpPr>
          <p:cNvPr id="23" name="TextBox 22"/>
          <p:cNvSpPr txBox="1"/>
          <p:nvPr/>
        </p:nvSpPr>
        <p:spPr>
          <a:xfrm>
            <a:off x="7470648" y="1600200"/>
            <a:ext cx="4169664" cy="274320"/>
          </a:xfrm>
          <a:prstGeom prst="rect">
            <a:avLst/>
          </a:prstGeom>
          <a:noFill/>
        </p:spPr>
        <p:txBody>
          <a:bodyPr wrap="square" lIns="0" rIns="0" tIns="0" bIns="0"/>
          <a:lstStyle/>
          <a:p>
            <a:pPr algn="l"/>
            <a:r>
              <a:rPr sz="1150" b="0" i="0">
                <a:solidFill>
                  <a:srgbClr val="E6E5DE"/>
                </a:solidFill>
                <a:latin typeface="Calibri"/>
              </a:rPr>
              <a:t>CA, Managing Partner, ProfitPulse</a:t>
            </a:r>
          </a:p>
        </p:txBody>
      </p:sp>
      <p:sp>
        <p:nvSpPr>
          <p:cNvPr id="24" name="Rectangle 23"/>
          <p:cNvSpPr/>
          <p:nvPr/>
        </p:nvSpPr>
        <p:spPr>
          <a:xfrm>
            <a:off x="7470648" y="1938528"/>
            <a:ext cx="4169664" cy="127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70648" y="2103120"/>
            <a:ext cx="4169664" cy="1280160"/>
          </a:xfrm>
          <a:prstGeom prst="rect">
            <a:avLst/>
          </a:prstGeom>
          <a:noFill/>
        </p:spPr>
        <p:txBody>
          <a:bodyPr wrap="square" lIns="0" rIns="0" tIns="0" bIns="0">
            <a:spAutoFit/>
          </a:bodyPr>
          <a:lstStyle/>
          <a:p>
            <a:pPr algn="l">
              <a:lnSpc>
                <a:spcPct val="125000"/>
              </a:lnSpc>
              <a:spcAft>
                <a:spcPts val="500"/>
              </a:spcAft>
            </a:pPr>
            <a:r>
              <a:rPr sz="1050" b="0" i="0">
                <a:solidFill>
                  <a:srgbClr val="E6E5DE"/>
                </a:solidFill>
                <a:latin typeface="Calibri"/>
              </a:rPr>
              <a:t>•  16 years across 4 countries</a:t>
            </a:r>
          </a:p>
          <a:p>
            <a:pPr algn="l">
              <a:lnSpc>
                <a:spcPct val="125000"/>
              </a:lnSpc>
              <a:spcAft>
                <a:spcPts val="500"/>
              </a:spcAft>
            </a:pPr>
            <a:r>
              <a:rPr sz="1050" b="0" i="0">
                <a:solidFill>
                  <a:srgbClr val="E6E5DE"/>
                </a:solidFill>
                <a:latin typeface="Calibri"/>
              </a:rPr>
              <a:t>•  52 deals executed and managed</a:t>
            </a:r>
          </a:p>
          <a:p>
            <a:pPr algn="l">
              <a:lnSpc>
                <a:spcPct val="125000"/>
              </a:lnSpc>
              <a:spcAft>
                <a:spcPts val="500"/>
              </a:spcAft>
            </a:pPr>
            <a:r>
              <a:rPr sz="1050" b="0" i="0">
                <a:solidFill>
                  <a:srgbClr val="E6E5DE"/>
                </a:solidFill>
                <a:latin typeface="Calibri"/>
              </a:rPr>
              <a:t>•  Largest deal USD 1.3 billion, Cahora Bassa Hydro</a:t>
            </a:r>
          </a:p>
          <a:p>
            <a:pPr algn="l">
              <a:lnSpc>
                <a:spcPct val="125000"/>
              </a:lnSpc>
              <a:spcAft>
                <a:spcPts val="500"/>
              </a:spcAft>
            </a:pPr>
            <a:r>
              <a:rPr sz="1050" b="0" i="0">
                <a:solidFill>
                  <a:srgbClr val="E6E5DE"/>
                </a:solidFill>
                <a:latin typeface="Calibri"/>
              </a:rPr>
              <a:t>•  Queensland GRBT project value over AUD 10 billion</a:t>
            </a:r>
          </a:p>
        </p:txBody>
      </p:sp>
      <p:sp>
        <p:nvSpPr>
          <p:cNvPr id="26" name="Rectangle 25"/>
          <p:cNvSpPr/>
          <p:nvPr/>
        </p:nvSpPr>
        <p:spPr>
          <a:xfrm>
            <a:off x="7470648" y="3520440"/>
            <a:ext cx="4169664" cy="127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70648" y="3703320"/>
            <a:ext cx="4169664" cy="1280160"/>
          </a:xfrm>
          <a:prstGeom prst="rect">
            <a:avLst/>
          </a:prstGeom>
          <a:noFill/>
        </p:spPr>
        <p:txBody>
          <a:bodyPr wrap="square" lIns="0" rIns="0" tIns="0" bIns="0">
            <a:spAutoFit/>
          </a:bodyPr>
          <a:lstStyle/>
          <a:p>
            <a:pPr algn="l">
              <a:lnSpc>
                <a:spcPct val="130000"/>
              </a:lnSpc>
              <a:spcAft>
                <a:spcPts val="400"/>
              </a:spcAft>
            </a:pPr>
            <a:r>
              <a:rPr sz="1050" b="0" i="0">
                <a:solidFill>
                  <a:srgbClr val="E6E5DE"/>
                </a:solidFill>
                <a:latin typeface="Calibri"/>
              </a:rPr>
              <a:t>Profit-Pulse.com.au</a:t>
            </a:r>
          </a:p>
          <a:p>
            <a:pPr algn="l">
              <a:lnSpc>
                <a:spcPct val="130000"/>
              </a:lnSpc>
              <a:spcAft>
                <a:spcPts val="400"/>
              </a:spcAft>
            </a:pPr>
            <a:r>
              <a:rPr sz="1050" b="0" i="0">
                <a:solidFill>
                  <a:srgbClr val="01A296"/>
                </a:solidFill>
                <a:latin typeface="Calibri"/>
              </a:rPr>
              <a:t>Nitesh@Profit-Pulse.com.au</a:t>
            </a:r>
          </a:p>
          <a:p>
            <a:pPr algn="l">
              <a:lnSpc>
                <a:spcPct val="130000"/>
              </a:lnSpc>
              <a:spcAft>
                <a:spcPts val="400"/>
              </a:spcAft>
            </a:pPr>
            <a:r>
              <a:rPr sz="1050" b="0" i="0">
                <a:solidFill>
                  <a:srgbClr val="E6E5DE"/>
                </a:solidFill>
                <a:latin typeface="Calibri"/>
              </a:rPr>
              <a:t>+61 411 876 267</a:t>
            </a:r>
          </a:p>
          <a:p>
            <a:pPr algn="l">
              <a:lnSpc>
                <a:spcPct val="130000"/>
              </a:lnSpc>
              <a:spcAft>
                <a:spcPts val="400"/>
              </a:spcAft>
            </a:pPr>
            <a:r>
              <a:rPr sz="1050" b="0" i="0">
                <a:solidFill>
                  <a:srgbClr val="01A296"/>
                </a:solidFill>
                <a:latin typeface="Calibri"/>
              </a:rPr>
              <a:t>linkedin.com/in/nitesh-roopa-77594163</a:t>
            </a:r>
          </a:p>
        </p:txBody>
      </p:sp>
      <p:sp>
        <p:nvSpPr>
          <p:cNvPr id="28" name="TextBox 27"/>
          <p:cNvSpPr txBox="1"/>
          <p:nvPr/>
        </p:nvSpPr>
        <p:spPr>
          <a:xfrm>
            <a:off x="7470648" y="5760720"/>
            <a:ext cx="4169664" cy="274320"/>
          </a:xfrm>
          <a:prstGeom prst="rect">
            <a:avLst/>
          </a:prstGeom>
          <a:noFill/>
        </p:spPr>
        <p:txBody>
          <a:bodyPr wrap="square" lIns="0" rIns="0" tIns="0" bIns="0"/>
          <a:lstStyle/>
          <a:p>
            <a:pPr algn="l"/>
            <a:r>
              <a:rPr sz="1000" b="0" i="0">
                <a:solidFill>
                  <a:srgbClr val="E6E5DE"/>
                </a:solidFill>
                <a:latin typeface="Calibri"/>
              </a:rPr>
              <a:t>Brisbane, Australia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