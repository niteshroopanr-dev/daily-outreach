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$M</c:v>
                </c:pt>
              </c:strCache>
            </c:strRef>
          </c:tx>
          <c:spPr>
            <a:solidFill>
              <a:srgbClr val="01A296"/>
            </a:solidFill>
          </c:spPr>
          <c:cat>
            <c:strRef>
              <c:f>Sheet1!$A$2:$A$3</c:f>
              <c:strCache>
                <c:ptCount val="2"/>
                <c:pt idx="0">
                  <c:v>Smart50 2024</c:v>
                </c:pt>
                <c:pt idx="1">
                  <c:v>Smart50 2025</c:v>
                </c:pt>
              </c:strCache>
            </c:strRef>
          </c:cat>
          <c:val>
            <c:numRef>
              <c:f>Sheet1!$B$2:$B$3</c:f>
              <c:numCache>
                <c:formatCode>General</c:formatCode>
                <c:ptCount val="2"/>
                <c:pt idx="0">
                  <c:v>7.3</c:v>
                </c:pt>
                <c:pt idx="1">
                  <c:v>13.0</c:v>
                </c:pt>
              </c:numCache>
            </c:numRef>
          </c:val>
        </c:ser>
        <c:dLbls>
          <c:txPr>
            <a:bodyPr/>
            <a:lstStyle/>
            <a:p>
              <a:pPr>
                <a:defRPr sz="1100" b="1">
                  <a:solidFill>
                    <a:srgbClr val="000000"/>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01A296"/>
            </a:solidFill>
          </a:ln>
        </c:spPr>
        <c:txPr>
          <a:bodyPr/>
          <a:lstStyle/>
          <a:p>
            <a:pPr>
              <a:defRPr sz="10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14AaEYb163Y4a9q4c73ks0y"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92608"/>
            <a:ext cx="6858000" cy="365760"/>
          </a:xfrm>
          <a:prstGeom prst="rect">
            <a:avLst/>
          </a:prstGeom>
          <a:noFill/>
        </p:spPr>
        <p:txBody>
          <a:bodyPr wrap="square">
            <a:noAutofit/>
          </a:bodyPr>
          <a:lstStyle/>
          <a:p>
            <a:pPr algn="l"/>
            <a:r>
              <a:rPr sz="1300" b="1" i="0">
                <a:solidFill>
                  <a:srgbClr val="E6E5DE"/>
                </a:solidFill>
                <a:latin typeface="Calibri"/>
              </a:rPr>
              <a:t>COMMERCIAL INTELLIGENCE BRIEF</a:t>
            </a:r>
          </a:p>
        </p:txBody>
      </p:sp>
      <p:sp>
        <p:nvSpPr>
          <p:cNvPr id="4" name="TextBox 3"/>
          <p:cNvSpPr txBox="1"/>
          <p:nvPr/>
        </p:nvSpPr>
        <p:spPr>
          <a:xfrm>
            <a:off x="5029200" y="292608"/>
            <a:ext cx="6858000" cy="365760"/>
          </a:xfrm>
          <a:prstGeom prst="rect">
            <a:avLst/>
          </a:prstGeom>
          <a:noFill/>
        </p:spPr>
        <p:txBody>
          <a:bodyPr wrap="square">
            <a:noAutofit/>
          </a:bodyPr>
          <a:lstStyle/>
          <a:p>
            <a:pPr algn="r"/>
            <a:r>
              <a:rPr sz="1300" b="1" i="0">
                <a:solidFill>
                  <a:srgbClr val="01A296"/>
                </a:solidFill>
                <a:latin typeface="Calibri"/>
              </a:rPr>
              <a:t>EQUALITY MEDIA + MARKETING</a:t>
            </a:r>
          </a:p>
        </p:txBody>
      </p:sp>
      <p:sp>
        <p:nvSpPr>
          <p:cNvPr id="5" name="TextBox 4"/>
          <p:cNvSpPr txBox="1"/>
          <p:nvPr/>
        </p:nvSpPr>
        <p:spPr>
          <a:xfrm>
            <a:off x="320040" y="6446520"/>
            <a:ext cx="8686800" cy="274320"/>
          </a:xfrm>
          <a:prstGeom prst="rect">
            <a:avLst/>
          </a:prstGeom>
          <a:noFill/>
        </p:spPr>
        <p:txBody>
          <a:bodyPr wrap="square">
            <a:noAutofit/>
          </a:bodyPr>
          <a:lstStyle/>
          <a:p>
            <a:pPr algn="l"/>
            <a:r>
              <a:rPr sz="800" b="0" i="0">
                <a:solidFill>
                  <a:srgbClr val="000000"/>
                </a:solidFill>
                <a:latin typeface="Calibri"/>
              </a:rPr>
              <a:t>Prepared by Nitesh Roopa CA, Managing Partner and Founder, ProfitPulse, Profit-Pulse.com.au</a:t>
            </a:r>
          </a:p>
        </p:txBody>
      </p:sp>
      <p:sp>
        <p:nvSpPr>
          <p:cNvPr id="6" name="TextBox 5"/>
          <p:cNvSpPr txBox="1"/>
          <p:nvPr/>
        </p:nvSpPr>
        <p:spPr>
          <a:xfrm>
            <a:off x="9601200" y="6446520"/>
            <a:ext cx="2286000" cy="274320"/>
          </a:xfrm>
          <a:prstGeom prst="rect">
            <a:avLst/>
          </a:prstGeom>
          <a:noFill/>
        </p:spPr>
        <p:txBody>
          <a:bodyPr wrap="square">
            <a:noAutofit/>
          </a:bodyPr>
          <a:lstStyle/>
          <a:p>
            <a:pPr algn="r"/>
            <a:r>
              <a:rPr sz="800" b="0" i="0">
                <a:solidFill>
                  <a:srgbClr val="000000"/>
                </a:solidFill>
                <a:latin typeface="Calibri"/>
              </a:rPr>
              <a:t>06 Aug 2026</a:t>
            </a:r>
          </a:p>
        </p:txBody>
      </p:sp>
      <p:sp>
        <p:nvSpPr>
          <p:cNvPr id="7" name="Rectangle 6"/>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97280"/>
            <a:ext cx="10515600" cy="640080"/>
          </a:xfrm>
          <a:prstGeom prst="rect">
            <a:avLst/>
          </a:prstGeom>
          <a:noFill/>
        </p:spPr>
        <p:txBody>
          <a:bodyPr wrap="square">
            <a:noAutofit/>
          </a:bodyPr>
          <a:lstStyle/>
          <a:p>
            <a:pPr algn="l"/>
            <a:r>
              <a:rPr sz="4000" b="1" i="0">
                <a:solidFill>
                  <a:srgbClr val="000000"/>
                </a:solidFill>
                <a:latin typeface="Georgia"/>
              </a:rPr>
              <a:t>Equality Media + Marketing</a:t>
            </a:r>
          </a:p>
        </p:txBody>
      </p:sp>
      <p:sp>
        <p:nvSpPr>
          <p:cNvPr id="9" name="TextBox 8"/>
          <p:cNvSpPr txBox="1"/>
          <p:nvPr/>
        </p:nvSpPr>
        <p:spPr>
          <a:xfrm>
            <a:off x="320040" y="1691640"/>
            <a:ext cx="10515600" cy="320040"/>
          </a:xfrm>
          <a:prstGeom prst="rect">
            <a:avLst/>
          </a:prstGeom>
          <a:noFill/>
        </p:spPr>
        <p:txBody>
          <a:bodyPr wrap="square">
            <a:noAutofit/>
          </a:bodyPr>
          <a:lstStyle/>
          <a:p>
            <a:pPr algn="l"/>
            <a:r>
              <a:rPr sz="1300" b="0" i="1">
                <a:solidFill>
                  <a:srgbClr val="000000"/>
                </a:solidFill>
                <a:latin typeface="Calibri"/>
              </a:rPr>
              <a:t>Independent full service advertising agency, Richmond, Melbourne VIC</a:t>
            </a:r>
          </a:p>
        </p:txBody>
      </p:sp>
      <p:sp>
        <p:nvSpPr>
          <p:cNvPr id="10" name="Rectangle 9"/>
          <p:cNvSpPr/>
          <p:nvPr/>
        </p:nvSpPr>
        <p:spPr>
          <a:xfrm>
            <a:off x="320040" y="2194560"/>
            <a:ext cx="2084831"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194560"/>
            <a:ext cx="2084831"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2304288"/>
            <a:ext cx="1865375" cy="457200"/>
          </a:xfrm>
          <a:prstGeom prst="rect">
            <a:avLst/>
          </a:prstGeom>
          <a:noFill/>
        </p:spPr>
        <p:txBody>
          <a:bodyPr wrap="square">
            <a:noAutofit/>
          </a:bodyPr>
          <a:lstStyle/>
          <a:p>
            <a:pPr algn="l"/>
            <a:r>
              <a:rPr sz="2800" b="1" i="0">
                <a:solidFill>
                  <a:srgbClr val="F8C806"/>
                </a:solidFill>
                <a:latin typeface="Calibri"/>
              </a:rPr>
              <a:t>$13M</a:t>
            </a:r>
          </a:p>
        </p:txBody>
      </p:sp>
      <p:sp>
        <p:nvSpPr>
          <p:cNvPr id="13" name="TextBox 12"/>
          <p:cNvSpPr txBox="1"/>
          <p:nvPr/>
        </p:nvSpPr>
        <p:spPr>
          <a:xfrm>
            <a:off x="429768" y="2798064"/>
            <a:ext cx="1865375" cy="502920"/>
          </a:xfrm>
          <a:prstGeom prst="rect">
            <a:avLst/>
          </a:prstGeom>
          <a:noFill/>
        </p:spPr>
        <p:txBody>
          <a:bodyPr wrap="square">
            <a:noAutofit/>
          </a:bodyPr>
          <a:lstStyle/>
          <a:p>
            <a:pPr algn="l">
              <a:spcAft>
                <a:spcPts val="0"/>
              </a:spcAft>
            </a:pPr>
            <a:r>
              <a:rPr sz="1000" b="0" i="0">
                <a:solidFill>
                  <a:srgbClr val="E6E5DE"/>
                </a:solidFill>
                <a:latin typeface="Calibri"/>
              </a:rPr>
              <a:t>Annual revenue,</a:t>
            </a:r>
          </a:p>
          <a:p>
            <a:pPr algn="l">
              <a:spcAft>
                <a:spcPts val="0"/>
              </a:spcAft>
            </a:pPr>
            <a:r>
              <a:rPr sz="1000" b="0" i="0">
                <a:solidFill>
                  <a:srgbClr val="E6E5DE"/>
                </a:solidFill>
                <a:latin typeface="Calibri"/>
              </a:rPr>
              <a:t>rank 24 nationally</a:t>
            </a:r>
          </a:p>
        </p:txBody>
      </p:sp>
      <p:sp>
        <p:nvSpPr>
          <p:cNvPr id="14" name="TextBox 13"/>
          <p:cNvSpPr txBox="1"/>
          <p:nvPr/>
        </p:nvSpPr>
        <p:spPr>
          <a:xfrm>
            <a:off x="429768" y="3383280"/>
            <a:ext cx="1865375" cy="237744"/>
          </a:xfrm>
          <a:prstGeom prst="rect">
            <a:avLst/>
          </a:prstGeom>
          <a:noFill/>
        </p:spPr>
        <p:txBody>
          <a:bodyPr wrap="square">
            <a:noAutofit/>
          </a:bodyPr>
          <a:lstStyle/>
          <a:p>
            <a:pPr algn="l"/>
            <a:r>
              <a:rPr sz="700" b="0" i="1">
                <a:solidFill>
                  <a:srgbClr val="E6E5DE"/>
                </a:solidFill>
                <a:latin typeface="Calibri"/>
              </a:rPr>
              <a:t>SmartCompany Smart50 2025</a:t>
            </a:r>
          </a:p>
        </p:txBody>
      </p:sp>
      <p:sp>
        <p:nvSpPr>
          <p:cNvPr id="15" name="Rectangle 14"/>
          <p:cNvSpPr/>
          <p:nvPr/>
        </p:nvSpPr>
        <p:spPr>
          <a:xfrm>
            <a:off x="2542031" y="2194560"/>
            <a:ext cx="2084831"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42031" y="2194560"/>
            <a:ext cx="2084831"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51759" y="2304288"/>
            <a:ext cx="1865375" cy="457200"/>
          </a:xfrm>
          <a:prstGeom prst="rect">
            <a:avLst/>
          </a:prstGeom>
          <a:noFill/>
        </p:spPr>
        <p:txBody>
          <a:bodyPr wrap="square">
            <a:noAutofit/>
          </a:bodyPr>
          <a:lstStyle/>
          <a:p>
            <a:pPr algn="l"/>
            <a:r>
              <a:rPr sz="2800" b="1" i="0">
                <a:solidFill>
                  <a:srgbClr val="F8C806"/>
                </a:solidFill>
                <a:latin typeface="Calibri"/>
              </a:rPr>
              <a:t>49%</a:t>
            </a:r>
          </a:p>
        </p:txBody>
      </p:sp>
      <p:sp>
        <p:nvSpPr>
          <p:cNvPr id="18" name="TextBox 17"/>
          <p:cNvSpPr txBox="1"/>
          <p:nvPr/>
        </p:nvSpPr>
        <p:spPr>
          <a:xfrm>
            <a:off x="2651759" y="2798064"/>
            <a:ext cx="1865375" cy="502920"/>
          </a:xfrm>
          <a:prstGeom prst="rect">
            <a:avLst/>
          </a:prstGeom>
          <a:noFill/>
        </p:spPr>
        <p:txBody>
          <a:bodyPr wrap="square">
            <a:noAutofit/>
          </a:bodyPr>
          <a:lstStyle/>
          <a:p>
            <a:pPr algn="l">
              <a:spcAft>
                <a:spcPts val="0"/>
              </a:spcAft>
            </a:pPr>
            <a:r>
              <a:rPr sz="1000" b="0" i="0">
                <a:solidFill>
                  <a:srgbClr val="E6E5DE"/>
                </a:solidFill>
                <a:latin typeface="Calibri"/>
              </a:rPr>
              <a:t>Three year revenue</a:t>
            </a:r>
          </a:p>
          <a:p>
            <a:pPr algn="l">
              <a:spcAft>
                <a:spcPts val="0"/>
              </a:spcAft>
            </a:pPr>
            <a:r>
              <a:rPr sz="1000" b="0" i="0">
                <a:solidFill>
                  <a:srgbClr val="E6E5DE"/>
                </a:solidFill>
                <a:latin typeface="Calibri"/>
              </a:rPr>
              <a:t>growth rate</a:t>
            </a:r>
          </a:p>
        </p:txBody>
      </p:sp>
      <p:sp>
        <p:nvSpPr>
          <p:cNvPr id="19" name="TextBox 18"/>
          <p:cNvSpPr txBox="1"/>
          <p:nvPr/>
        </p:nvSpPr>
        <p:spPr>
          <a:xfrm>
            <a:off x="2651759" y="3383280"/>
            <a:ext cx="1865375" cy="237744"/>
          </a:xfrm>
          <a:prstGeom prst="rect">
            <a:avLst/>
          </a:prstGeom>
          <a:noFill/>
        </p:spPr>
        <p:txBody>
          <a:bodyPr wrap="square">
            <a:noAutofit/>
          </a:bodyPr>
          <a:lstStyle/>
          <a:p>
            <a:pPr algn="l"/>
            <a:r>
              <a:rPr sz="700" b="0" i="1">
                <a:solidFill>
                  <a:srgbClr val="E6E5DE"/>
                </a:solidFill>
                <a:latin typeface="Calibri"/>
              </a:rPr>
              <a:t>SmartCompany Smart50 2025</a:t>
            </a:r>
          </a:p>
        </p:txBody>
      </p:sp>
      <p:sp>
        <p:nvSpPr>
          <p:cNvPr id="20" name="Rectangle 19"/>
          <p:cNvSpPr/>
          <p:nvPr/>
        </p:nvSpPr>
        <p:spPr>
          <a:xfrm>
            <a:off x="4764022" y="2194560"/>
            <a:ext cx="2084831"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64022" y="2194560"/>
            <a:ext cx="2084831"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73750" y="2304288"/>
            <a:ext cx="1865375" cy="457200"/>
          </a:xfrm>
          <a:prstGeom prst="rect">
            <a:avLst/>
          </a:prstGeom>
          <a:noFill/>
        </p:spPr>
        <p:txBody>
          <a:bodyPr wrap="square">
            <a:noAutofit/>
          </a:bodyPr>
          <a:lstStyle/>
          <a:p>
            <a:pPr algn="l"/>
            <a:r>
              <a:rPr sz="2800" b="1" i="0">
                <a:solidFill>
                  <a:srgbClr val="F8C806"/>
                </a:solidFill>
                <a:latin typeface="Calibri"/>
              </a:rPr>
              <a:t>30</a:t>
            </a:r>
          </a:p>
        </p:txBody>
      </p:sp>
      <p:sp>
        <p:nvSpPr>
          <p:cNvPr id="23" name="TextBox 22"/>
          <p:cNvSpPr txBox="1"/>
          <p:nvPr/>
        </p:nvSpPr>
        <p:spPr>
          <a:xfrm>
            <a:off x="4873750" y="2798064"/>
            <a:ext cx="1865375" cy="502920"/>
          </a:xfrm>
          <a:prstGeom prst="rect">
            <a:avLst/>
          </a:prstGeom>
          <a:noFill/>
        </p:spPr>
        <p:txBody>
          <a:bodyPr wrap="square">
            <a:noAutofit/>
          </a:bodyPr>
          <a:lstStyle/>
          <a:p>
            <a:pPr algn="l">
              <a:spcAft>
                <a:spcPts val="0"/>
              </a:spcAft>
            </a:pPr>
            <a:r>
              <a:rPr sz="1000" b="0" i="0">
                <a:solidFill>
                  <a:srgbClr val="E6E5DE"/>
                </a:solidFill>
                <a:latin typeface="Calibri"/>
              </a:rPr>
              <a:t>People on the</a:t>
            </a:r>
          </a:p>
          <a:p>
            <a:pPr algn="l">
              <a:spcAft>
                <a:spcPts val="0"/>
              </a:spcAft>
            </a:pPr>
            <a:r>
              <a:rPr sz="1000" b="0" i="0">
                <a:solidFill>
                  <a:srgbClr val="E6E5DE"/>
                </a:solidFill>
                <a:latin typeface="Calibri"/>
              </a:rPr>
              <a:t>team</a:t>
            </a:r>
          </a:p>
        </p:txBody>
      </p:sp>
      <p:sp>
        <p:nvSpPr>
          <p:cNvPr id="24" name="TextBox 23"/>
          <p:cNvSpPr txBox="1"/>
          <p:nvPr/>
        </p:nvSpPr>
        <p:spPr>
          <a:xfrm>
            <a:off x="4873750" y="3383280"/>
            <a:ext cx="1865375" cy="237744"/>
          </a:xfrm>
          <a:prstGeom prst="rect">
            <a:avLst/>
          </a:prstGeom>
          <a:noFill/>
        </p:spPr>
        <p:txBody>
          <a:bodyPr wrap="square">
            <a:noAutofit/>
          </a:bodyPr>
          <a:lstStyle/>
          <a:p>
            <a:pPr algn="l"/>
            <a:r>
              <a:rPr sz="700" b="0" i="1">
                <a:solidFill>
                  <a:srgbClr val="E6E5DE"/>
                </a:solidFill>
                <a:latin typeface="Calibri"/>
              </a:rPr>
              <a:t>Mumbrella, 2026</a:t>
            </a:r>
          </a:p>
        </p:txBody>
      </p:sp>
      <p:sp>
        <p:nvSpPr>
          <p:cNvPr id="25" name="Rectangle 24"/>
          <p:cNvSpPr/>
          <p:nvPr/>
        </p:nvSpPr>
        <p:spPr>
          <a:xfrm>
            <a:off x="6986013" y="2194560"/>
            <a:ext cx="2084831"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86013" y="2194560"/>
            <a:ext cx="2084831"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95741" y="2304288"/>
            <a:ext cx="1865375" cy="457200"/>
          </a:xfrm>
          <a:prstGeom prst="rect">
            <a:avLst/>
          </a:prstGeom>
          <a:noFill/>
        </p:spPr>
        <p:txBody>
          <a:bodyPr wrap="square">
            <a:noAutofit/>
          </a:bodyPr>
          <a:lstStyle/>
          <a:p>
            <a:pPr algn="l"/>
            <a:r>
              <a:rPr sz="2800" b="1" i="0">
                <a:solidFill>
                  <a:srgbClr val="F8C806"/>
                </a:solidFill>
                <a:latin typeface="Calibri"/>
              </a:rPr>
              <a:t>#55</a:t>
            </a:r>
          </a:p>
        </p:txBody>
      </p:sp>
      <p:sp>
        <p:nvSpPr>
          <p:cNvPr id="28" name="TextBox 27"/>
          <p:cNvSpPr txBox="1"/>
          <p:nvPr/>
        </p:nvSpPr>
        <p:spPr>
          <a:xfrm>
            <a:off x="7095741" y="2798064"/>
            <a:ext cx="1865375" cy="502920"/>
          </a:xfrm>
          <a:prstGeom prst="rect">
            <a:avLst/>
          </a:prstGeom>
          <a:noFill/>
        </p:spPr>
        <p:txBody>
          <a:bodyPr wrap="square">
            <a:noAutofit/>
          </a:bodyPr>
          <a:lstStyle/>
          <a:p>
            <a:pPr algn="l">
              <a:spcAft>
                <a:spcPts val="0"/>
              </a:spcAft>
            </a:pPr>
            <a:r>
              <a:rPr sz="1000" b="0" i="0">
                <a:solidFill>
                  <a:srgbClr val="E6E5DE"/>
                </a:solidFill>
                <a:latin typeface="Calibri"/>
              </a:rPr>
              <a:t>AFR Fast 100</a:t>
            </a:r>
          </a:p>
          <a:p>
            <a:pPr algn="l">
              <a:spcAft>
                <a:spcPts val="0"/>
              </a:spcAft>
            </a:pPr>
            <a:r>
              <a:rPr sz="1000" b="0" i="0">
                <a:solidFill>
                  <a:srgbClr val="E6E5DE"/>
                </a:solidFill>
                <a:latin typeface="Calibri"/>
              </a:rPr>
              <a:t>2025 national rank</a:t>
            </a:r>
          </a:p>
        </p:txBody>
      </p:sp>
      <p:sp>
        <p:nvSpPr>
          <p:cNvPr id="29" name="TextBox 28"/>
          <p:cNvSpPr txBox="1"/>
          <p:nvPr/>
        </p:nvSpPr>
        <p:spPr>
          <a:xfrm>
            <a:off x="7095741" y="3383280"/>
            <a:ext cx="1865375" cy="237744"/>
          </a:xfrm>
          <a:prstGeom prst="rect">
            <a:avLst/>
          </a:prstGeom>
          <a:noFill/>
        </p:spPr>
        <p:txBody>
          <a:bodyPr wrap="square">
            <a:noAutofit/>
          </a:bodyPr>
          <a:lstStyle/>
          <a:p>
            <a:pPr algn="l"/>
            <a:r>
              <a:rPr sz="700" b="0" i="1">
                <a:solidFill>
                  <a:srgbClr val="E6E5DE"/>
                </a:solidFill>
                <a:latin typeface="Calibri"/>
              </a:rPr>
              <a:t>AFR Fast 100 list, 2025</a:t>
            </a:r>
          </a:p>
        </p:txBody>
      </p:sp>
      <p:sp>
        <p:nvSpPr>
          <p:cNvPr id="30" name="Rectangle 29"/>
          <p:cNvSpPr/>
          <p:nvPr/>
        </p:nvSpPr>
        <p:spPr>
          <a:xfrm>
            <a:off x="9208004" y="2194560"/>
            <a:ext cx="2084831"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08004" y="2194560"/>
            <a:ext cx="2084831"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17732" y="2304288"/>
            <a:ext cx="1865375" cy="457200"/>
          </a:xfrm>
          <a:prstGeom prst="rect">
            <a:avLst/>
          </a:prstGeom>
          <a:noFill/>
        </p:spPr>
        <p:txBody>
          <a:bodyPr wrap="square">
            <a:noAutofit/>
          </a:bodyPr>
          <a:lstStyle/>
          <a:p>
            <a:pPr algn="l"/>
            <a:r>
              <a:rPr sz="2800" b="1" i="0">
                <a:solidFill>
                  <a:srgbClr val="F8C806"/>
                </a:solidFill>
                <a:latin typeface="Calibri"/>
              </a:rPr>
              <a:t>2018</a:t>
            </a:r>
          </a:p>
        </p:txBody>
      </p:sp>
      <p:sp>
        <p:nvSpPr>
          <p:cNvPr id="33" name="TextBox 32"/>
          <p:cNvSpPr txBox="1"/>
          <p:nvPr/>
        </p:nvSpPr>
        <p:spPr>
          <a:xfrm>
            <a:off x="9317732" y="2798064"/>
            <a:ext cx="1865375" cy="502920"/>
          </a:xfrm>
          <a:prstGeom prst="rect">
            <a:avLst/>
          </a:prstGeom>
          <a:noFill/>
        </p:spPr>
        <p:txBody>
          <a:bodyPr wrap="square">
            <a:noAutofit/>
          </a:bodyPr>
          <a:lstStyle/>
          <a:p>
            <a:pPr algn="l">
              <a:spcAft>
                <a:spcPts val="0"/>
              </a:spcAft>
            </a:pPr>
            <a:r>
              <a:rPr sz="1000" b="0" i="0">
                <a:solidFill>
                  <a:srgbClr val="E6E5DE"/>
                </a:solidFill>
                <a:latin typeface="Calibri"/>
              </a:rPr>
              <a:t>Year the agency</a:t>
            </a:r>
          </a:p>
          <a:p>
            <a:pPr algn="l">
              <a:spcAft>
                <a:spcPts val="0"/>
              </a:spcAft>
            </a:pPr>
            <a:r>
              <a:rPr sz="1000" b="0" i="0">
                <a:solidFill>
                  <a:srgbClr val="E6E5DE"/>
                </a:solidFill>
                <a:latin typeface="Calibri"/>
              </a:rPr>
              <a:t>was founded</a:t>
            </a:r>
          </a:p>
        </p:txBody>
      </p:sp>
      <p:sp>
        <p:nvSpPr>
          <p:cNvPr id="34" name="TextBox 33"/>
          <p:cNvSpPr txBox="1"/>
          <p:nvPr/>
        </p:nvSpPr>
        <p:spPr>
          <a:xfrm>
            <a:off x="9317732" y="3383280"/>
            <a:ext cx="1865375" cy="237744"/>
          </a:xfrm>
          <a:prstGeom prst="rect">
            <a:avLst/>
          </a:prstGeom>
          <a:noFill/>
        </p:spPr>
        <p:txBody>
          <a:bodyPr wrap="square">
            <a:noAutofit/>
          </a:bodyPr>
          <a:lstStyle/>
          <a:p>
            <a:pPr algn="l"/>
            <a:r>
              <a:rPr sz="700" b="0" i="1">
                <a:solidFill>
                  <a:srgbClr val="E6E5DE"/>
                </a:solidFill>
                <a:latin typeface="Calibri"/>
              </a:rPr>
              <a:t>Smart50 2024 and 2025</a:t>
            </a:r>
          </a:p>
        </p:txBody>
      </p:sp>
      <p:sp>
        <p:nvSpPr>
          <p:cNvPr id="35" name="TextBox 34"/>
          <p:cNvSpPr txBox="1"/>
          <p:nvPr/>
        </p:nvSpPr>
        <p:spPr>
          <a:xfrm>
            <a:off x="320040" y="3977639"/>
            <a:ext cx="5029200" cy="274320"/>
          </a:xfrm>
          <a:prstGeom prst="rect">
            <a:avLst/>
          </a:prstGeom>
          <a:noFill/>
        </p:spPr>
        <p:txBody>
          <a:bodyPr wrap="square">
            <a:noAutofit/>
          </a:bodyPr>
          <a:lstStyle/>
          <a:p>
            <a:pPr algn="l"/>
            <a:r>
              <a:rPr sz="1100" b="1" i="0">
                <a:solidFill>
                  <a:srgbClr val="01A296"/>
                </a:solidFill>
                <a:latin typeface="Calibri"/>
              </a:rPr>
              <a:t>REVENUE REPORTED AT AWARD TIME</a:t>
            </a:r>
          </a:p>
        </p:txBody>
      </p:sp>
      <p:graphicFrame>
        <p:nvGraphicFramePr>
          <p:cNvPr id="36" name="Chart 35"/>
          <p:cNvGraphicFramePr>
            <a:graphicFrameLocks noGrp="1"/>
          </p:cNvGraphicFramePr>
          <p:nvPr/>
        </p:nvGraphicFramePr>
        <p:xfrm>
          <a:off x="320040" y="4297680"/>
          <a:ext cx="5029200" cy="1783080"/>
        </p:xfrm>
        <a:graphic>
          <a:graphicData uri="http://schemas.openxmlformats.org/drawingml/2006/chart">
            <c:chart xmlns:c="http://schemas.openxmlformats.org/drawingml/2006/chart" r:id="rId2"/>
          </a:graphicData>
        </a:graphic>
      </p:graphicFrame>
      <p:sp>
        <p:nvSpPr>
          <p:cNvPr id="37" name="TextBox 36"/>
          <p:cNvSpPr txBox="1"/>
          <p:nvPr/>
        </p:nvSpPr>
        <p:spPr>
          <a:xfrm>
            <a:off x="320040" y="6108192"/>
            <a:ext cx="5029200" cy="228600"/>
          </a:xfrm>
          <a:prstGeom prst="rect">
            <a:avLst/>
          </a:prstGeom>
          <a:noFill/>
        </p:spPr>
        <p:txBody>
          <a:bodyPr wrap="square">
            <a:noAutofit/>
          </a:bodyPr>
          <a:lstStyle/>
          <a:p>
            <a:pPr algn="l"/>
            <a:r>
              <a:rPr sz="700" b="0" i="1">
                <a:solidFill>
                  <a:srgbClr val="000000"/>
                </a:solidFill>
                <a:latin typeface="Calibri"/>
              </a:rPr>
              <a:t>Source: SmartCompany Smart50 2024 and 2025 award citations</a:t>
            </a:r>
          </a:p>
        </p:txBody>
      </p:sp>
      <p:sp>
        <p:nvSpPr>
          <p:cNvPr id="38" name="TextBox 37"/>
          <p:cNvSpPr txBox="1"/>
          <p:nvPr/>
        </p:nvSpPr>
        <p:spPr>
          <a:xfrm>
            <a:off x="5577840" y="3977639"/>
            <a:ext cx="6263640" cy="274320"/>
          </a:xfrm>
          <a:prstGeom prst="rect">
            <a:avLst/>
          </a:prstGeom>
          <a:noFill/>
        </p:spPr>
        <p:txBody>
          <a:bodyPr wrap="square">
            <a:noAutofit/>
          </a:bodyPr>
          <a:lstStyle/>
          <a:p>
            <a:pPr algn="l"/>
            <a:r>
              <a:rPr sz="1100" b="1" i="0">
                <a:solidFill>
                  <a:srgbClr val="01A296"/>
                </a:solidFill>
                <a:latin typeface="Calibri"/>
              </a:rPr>
              <a:t>KEY COMMERCIAL SIGNALS</a:t>
            </a:r>
          </a:p>
        </p:txBody>
      </p:sp>
      <p:sp>
        <p:nvSpPr>
          <p:cNvPr id="39" name="TextBox 38"/>
          <p:cNvSpPr txBox="1"/>
          <p:nvPr/>
        </p:nvSpPr>
        <p:spPr>
          <a:xfrm>
            <a:off x="5577840" y="4279392"/>
            <a:ext cx="6263640" cy="1965960"/>
          </a:xfrm>
          <a:prstGeom prst="rect">
            <a:avLst/>
          </a:prstGeom>
          <a:noFill/>
        </p:spPr>
        <p:txBody>
          <a:bodyPr wrap="square">
            <a:noAutofit/>
          </a:bodyPr>
          <a:lstStyle/>
          <a:p>
            <a:pPr algn="l">
              <a:lnSpc>
                <a:spcPct val="105000"/>
              </a:lnSpc>
              <a:spcAft>
                <a:spcPts val="800"/>
              </a:spcAft>
            </a:pPr>
            <a:r>
              <a:rPr sz="1100" b="0" i="0">
                <a:solidFill>
                  <a:srgbClr val="000000"/>
                </a:solidFill>
                <a:latin typeface="Calibri"/>
              </a:rPr>
              <a:t>•  Ranked 24th on the 2025 Smart50 list, up from 45th in 2024. (SmartCompany)</a:t>
            </a:r>
          </a:p>
          <a:p>
            <a:pPr algn="l">
              <a:lnSpc>
                <a:spcPct val="105000"/>
              </a:lnSpc>
              <a:spcAft>
                <a:spcPts val="800"/>
              </a:spcAft>
            </a:pPr>
            <a:r>
              <a:rPr sz="1100" b="0" i="0">
                <a:solidFill>
                  <a:srgbClr val="000000"/>
                </a:solidFill>
                <a:latin typeface="Calibri"/>
              </a:rPr>
              <a:t>•  Also placed 55th nationally on the AFR Fast 100 2025 growth list. (AFR Fast 100)</a:t>
            </a:r>
          </a:p>
          <a:p>
            <a:pPr algn="l">
              <a:lnSpc>
                <a:spcPct val="105000"/>
              </a:lnSpc>
              <a:spcAft>
                <a:spcPts val="800"/>
              </a:spcAft>
            </a:pPr>
            <a:r>
              <a:rPr sz="1100" b="0" i="0">
                <a:solidFill>
                  <a:srgbClr val="000000"/>
                </a:solidFill>
                <a:latin typeface="Calibri"/>
              </a:rPr>
              <a:t>•  Appointed ANZ media agency of record for skincare brand BIODERMA in 2025. (AdNews, B&amp;T)</a:t>
            </a:r>
          </a:p>
          <a:p>
            <a:pPr algn="l">
              <a:lnSpc>
                <a:spcPct val="105000"/>
              </a:lnSpc>
              <a:spcAft>
                <a:spcPts val="800"/>
              </a:spcAft>
            </a:pPr>
            <a:r>
              <a:rPr sz="1100" b="0" i="0">
                <a:solidFill>
                  <a:srgbClr val="000000"/>
                </a:solidFill>
                <a:latin typeface="Calibri"/>
              </a:rPr>
              <a:t>•  Named 2026 AFR BOSS Best Place to Work winner, Media and Marketing category. (Mumbrella)</a:t>
            </a:r>
          </a:p>
          <a:p>
            <a:pPr algn="l">
              <a:lnSpc>
                <a:spcPct val="105000"/>
              </a:lnSpc>
              <a:spcAft>
                <a:spcPts val="800"/>
              </a:spcAft>
            </a:pPr>
            <a:r>
              <a:rPr sz="1100" b="0" i="0">
                <a:solidFill>
                  <a:srgbClr val="000000"/>
                </a:solidFill>
                <a:latin typeface="Calibri"/>
              </a:rPr>
              <a:t>•  Team has grown from 17 people in 2024 toward 30 by 2026. (SmartCompany, Mumbrella)</a:t>
            </a:r>
          </a:p>
          <a:p>
            <a:pPr algn="l">
              <a:lnSpc>
                <a:spcPct val="105000"/>
              </a:lnSpc>
              <a:spcAft>
                <a:spcPts val="800"/>
              </a:spcAft>
            </a:pPr>
            <a:r>
              <a:rPr sz="1100" b="0" i="0">
                <a:solidFill>
                  <a:srgbClr val="000000"/>
                </a:solidFill>
                <a:latin typeface="Calibri"/>
              </a:rPr>
              <a:t>•  Runs a four day, full pay 32 hour work week introduced in 2022. (Mumbrella, AdNews)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92608"/>
            <a:ext cx="6858000" cy="365760"/>
          </a:xfrm>
          <a:prstGeom prst="rect">
            <a:avLst/>
          </a:prstGeom>
          <a:noFill/>
        </p:spPr>
        <p:txBody>
          <a:bodyPr wrap="square">
            <a:noAutofit/>
          </a:bodyPr>
          <a:lstStyle/>
          <a:p>
            <a:pPr algn="l"/>
            <a:r>
              <a:rPr sz="1300" b="1" i="0">
                <a:solidFill>
                  <a:srgbClr val="E6E5DE"/>
                </a:solidFill>
                <a:latin typeface="Calibri"/>
              </a:rPr>
              <a:t>THE OPPORTUNITY</a:t>
            </a:r>
          </a:p>
        </p:txBody>
      </p:sp>
      <p:sp>
        <p:nvSpPr>
          <p:cNvPr id="4" name="TextBox 3"/>
          <p:cNvSpPr txBox="1"/>
          <p:nvPr/>
        </p:nvSpPr>
        <p:spPr>
          <a:xfrm>
            <a:off x="5029200" y="292608"/>
            <a:ext cx="6858000" cy="365760"/>
          </a:xfrm>
          <a:prstGeom prst="rect">
            <a:avLst/>
          </a:prstGeom>
          <a:noFill/>
        </p:spPr>
        <p:txBody>
          <a:bodyPr wrap="square">
            <a:noAutofit/>
          </a:bodyPr>
          <a:lstStyle/>
          <a:p>
            <a:pPr algn="r"/>
            <a:r>
              <a:rPr sz="1300" b="1" i="0">
                <a:solidFill>
                  <a:srgbClr val="01A296"/>
                </a:solidFill>
                <a:latin typeface="Calibri"/>
              </a:rPr>
              <a:t>EQUALITY MEDIA + MARKETING</a:t>
            </a:r>
          </a:p>
        </p:txBody>
      </p:sp>
      <p:sp>
        <p:nvSpPr>
          <p:cNvPr id="5" name="TextBox 4"/>
          <p:cNvSpPr txBox="1"/>
          <p:nvPr/>
        </p:nvSpPr>
        <p:spPr>
          <a:xfrm>
            <a:off x="320040" y="6446520"/>
            <a:ext cx="8686800" cy="274320"/>
          </a:xfrm>
          <a:prstGeom prst="rect">
            <a:avLst/>
          </a:prstGeom>
          <a:noFill/>
        </p:spPr>
        <p:txBody>
          <a:bodyPr wrap="square">
            <a:noAutofit/>
          </a:bodyPr>
          <a:lstStyle/>
          <a:p>
            <a:pPr algn="l"/>
            <a:r>
              <a:rPr sz="800" b="0" i="0">
                <a:solidFill>
                  <a:srgbClr val="000000"/>
                </a:solidFill>
                <a:latin typeface="Calibri"/>
              </a:rPr>
              <a:t>Prepared by Nitesh Roopa CA, Managing Partner and Founder, ProfitPulse, Profit-Pulse.com.au</a:t>
            </a:r>
          </a:p>
        </p:txBody>
      </p:sp>
      <p:sp>
        <p:nvSpPr>
          <p:cNvPr id="6" name="TextBox 5"/>
          <p:cNvSpPr txBox="1"/>
          <p:nvPr/>
        </p:nvSpPr>
        <p:spPr>
          <a:xfrm>
            <a:off x="9601200" y="6446520"/>
            <a:ext cx="2286000" cy="274320"/>
          </a:xfrm>
          <a:prstGeom prst="rect">
            <a:avLst/>
          </a:prstGeom>
          <a:noFill/>
        </p:spPr>
        <p:txBody>
          <a:bodyPr wrap="square">
            <a:noAutofit/>
          </a:bodyPr>
          <a:lstStyle/>
          <a:p>
            <a:pPr algn="r"/>
            <a:r>
              <a:rPr sz="800" b="0" i="0">
                <a:solidFill>
                  <a:srgbClr val="000000"/>
                </a:solidFill>
                <a:latin typeface="Calibri"/>
              </a:rPr>
              <a:t>06 Aug 2026</a:t>
            </a:r>
          </a:p>
        </p:txBody>
      </p:sp>
      <p:sp>
        <p:nvSpPr>
          <p:cNvPr id="7" name="Rectangle 6"/>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987552"/>
            <a:ext cx="11247120" cy="320040"/>
          </a:xfrm>
          <a:prstGeom prst="rect">
            <a:avLst/>
          </a:prstGeom>
          <a:noFill/>
        </p:spPr>
        <p:txBody>
          <a:bodyPr wrap="square">
            <a:noAutofit/>
          </a:bodyPr>
          <a:lstStyle/>
          <a:p>
            <a:pPr algn="l"/>
            <a:r>
              <a:rPr sz="1300" b="1" i="0">
                <a:solidFill>
                  <a:srgbClr val="01A296"/>
                </a:solidFill>
                <a:latin typeface="Calibri"/>
              </a:rPr>
              <a:t>Equality Media + Marketing: three commercial observations from ProfitPulse</a:t>
            </a:r>
          </a:p>
        </p:txBody>
      </p:sp>
      <p:sp>
        <p:nvSpPr>
          <p:cNvPr id="9" name="Rectangle 8"/>
          <p:cNvSpPr/>
          <p:nvPr/>
        </p:nvSpPr>
        <p:spPr>
          <a:xfrm>
            <a:off x="320040" y="1417320"/>
            <a:ext cx="3685032" cy="43434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00200"/>
            <a:ext cx="3319272" cy="548640"/>
          </a:xfrm>
          <a:prstGeom prst="rect">
            <a:avLst/>
          </a:prstGeom>
          <a:noFill/>
        </p:spPr>
        <p:txBody>
          <a:bodyPr wrap="square">
            <a:noAutofit/>
          </a:bodyPr>
          <a:lstStyle/>
          <a:p>
            <a:pPr algn="l"/>
            <a:r>
              <a:rPr sz="3000" b="1" i="0">
                <a:solidFill>
                  <a:srgbClr val="000000"/>
                </a:solidFill>
                <a:latin typeface="Georgia"/>
              </a:rPr>
              <a:t>01</a:t>
            </a:r>
          </a:p>
        </p:txBody>
      </p:sp>
      <p:sp>
        <p:nvSpPr>
          <p:cNvPr id="11" name="TextBox 10"/>
          <p:cNvSpPr txBox="1"/>
          <p:nvPr/>
        </p:nvSpPr>
        <p:spPr>
          <a:xfrm>
            <a:off x="502920" y="2194560"/>
            <a:ext cx="3319272" cy="685800"/>
          </a:xfrm>
          <a:prstGeom prst="rect">
            <a:avLst/>
          </a:prstGeom>
          <a:noFill/>
        </p:spPr>
        <p:txBody>
          <a:bodyPr wrap="square">
            <a:noAutofit/>
          </a:bodyPr>
          <a:lstStyle/>
          <a:p>
            <a:pPr algn="l"/>
            <a:r>
              <a:rPr sz="1500" b="1" i="0">
                <a:solidFill>
                  <a:srgbClr val="000000"/>
                </a:solidFill>
                <a:latin typeface="Calibri"/>
              </a:rPr>
              <a:t>Growth is outrunning the finance function</a:t>
            </a:r>
          </a:p>
        </p:txBody>
      </p:sp>
      <p:sp>
        <p:nvSpPr>
          <p:cNvPr id="12" name="TextBox 11"/>
          <p:cNvSpPr txBox="1"/>
          <p:nvPr/>
        </p:nvSpPr>
        <p:spPr>
          <a:xfrm>
            <a:off x="502920" y="2971800"/>
            <a:ext cx="3319272" cy="2651760"/>
          </a:xfrm>
          <a:prstGeom prst="rect">
            <a:avLst/>
          </a:prstGeom>
          <a:noFill/>
        </p:spPr>
        <p:txBody>
          <a:bodyPr wrap="square">
            <a:noAutofit/>
          </a:bodyPr>
          <a:lstStyle/>
          <a:p>
            <a:pPr algn="l">
              <a:lnSpc>
                <a:spcPct val="115000"/>
              </a:lnSpc>
              <a:spcAft>
                <a:spcPts val="400"/>
              </a:spcAft>
            </a:pPr>
            <a:r>
              <a:rPr sz="1100" b="0" i="0">
                <a:solidFill>
                  <a:srgbClr val="000000"/>
                </a:solidFill>
                <a:latin typeface="Calibri"/>
              </a:rPr>
              <a:t>Revenue reported at Smart50 award time moved from 7.3 million dollars in 2024 to 13 million in 2025, while the team has grown toward 30 people. That pace of hiring and client onboarding is a common point where cash timing, not profit, becomes the real constraint on how fast a business can safely take on new work.</a:t>
            </a:r>
          </a:p>
        </p:txBody>
      </p:sp>
      <p:sp>
        <p:nvSpPr>
          <p:cNvPr id="13" name="Rectangle 12"/>
          <p:cNvSpPr/>
          <p:nvPr/>
        </p:nvSpPr>
        <p:spPr>
          <a:xfrm>
            <a:off x="4114800" y="1417320"/>
            <a:ext cx="3685032" cy="4343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1600200"/>
            <a:ext cx="3319272" cy="548640"/>
          </a:xfrm>
          <a:prstGeom prst="rect">
            <a:avLst/>
          </a:prstGeom>
          <a:noFill/>
        </p:spPr>
        <p:txBody>
          <a:bodyPr wrap="square">
            <a:noAutofit/>
          </a:bodyPr>
          <a:lstStyle/>
          <a:p>
            <a:pPr algn="l"/>
            <a:r>
              <a:rPr sz="3000" b="1" i="0">
                <a:solidFill>
                  <a:srgbClr val="E6E5DE"/>
                </a:solidFill>
                <a:latin typeface="Georgia"/>
              </a:rPr>
              <a:t>02</a:t>
            </a:r>
          </a:p>
        </p:txBody>
      </p:sp>
      <p:sp>
        <p:nvSpPr>
          <p:cNvPr id="15" name="TextBox 14"/>
          <p:cNvSpPr txBox="1"/>
          <p:nvPr/>
        </p:nvSpPr>
        <p:spPr>
          <a:xfrm>
            <a:off x="4297680" y="2194560"/>
            <a:ext cx="3319272" cy="685800"/>
          </a:xfrm>
          <a:prstGeom prst="rect">
            <a:avLst/>
          </a:prstGeom>
          <a:noFill/>
        </p:spPr>
        <p:txBody>
          <a:bodyPr wrap="square">
            <a:noAutofit/>
          </a:bodyPr>
          <a:lstStyle/>
          <a:p>
            <a:pPr algn="l"/>
            <a:r>
              <a:rPr sz="1500" b="1" i="0">
                <a:solidFill>
                  <a:srgbClr val="E6E5DE"/>
                </a:solidFill>
                <a:latin typeface="Calibri"/>
              </a:rPr>
              <a:t>Media buying carries a working capital load</a:t>
            </a:r>
          </a:p>
        </p:txBody>
      </p:sp>
      <p:sp>
        <p:nvSpPr>
          <p:cNvPr id="16" name="TextBox 15"/>
          <p:cNvSpPr txBox="1"/>
          <p:nvPr/>
        </p:nvSpPr>
        <p:spPr>
          <a:xfrm>
            <a:off x="4297680" y="2971800"/>
            <a:ext cx="3319272" cy="2651760"/>
          </a:xfrm>
          <a:prstGeom prst="rect">
            <a:avLst/>
          </a:prstGeom>
          <a:noFill/>
        </p:spPr>
        <p:txBody>
          <a:bodyPr wrap="square">
            <a:noAutofit/>
          </a:bodyPr>
          <a:lstStyle/>
          <a:p>
            <a:pPr algn="l">
              <a:lnSpc>
                <a:spcPct val="115000"/>
              </a:lnSpc>
              <a:spcAft>
                <a:spcPts val="400"/>
              </a:spcAft>
            </a:pPr>
            <a:r>
              <a:rPr sz="1100" b="0" i="0">
                <a:solidFill>
                  <a:srgbClr val="E6E5DE"/>
                </a:solidFill>
                <a:latin typeface="Calibri"/>
              </a:rPr>
              <a:t>Full service planning and buying, including the new ANZ mandate for BIODERMA, typically means paying media suppliers ahead of client settlement. As billings scale, the gap between paying media costs and collecting client revenue widens, and can quietly absorb cash the business assumes it still has on hand.</a:t>
            </a:r>
          </a:p>
        </p:txBody>
      </p:sp>
      <p:sp>
        <p:nvSpPr>
          <p:cNvPr id="17" name="Rectangle 16"/>
          <p:cNvSpPr/>
          <p:nvPr/>
        </p:nvSpPr>
        <p:spPr>
          <a:xfrm>
            <a:off x="7909560" y="1417320"/>
            <a:ext cx="3685032" cy="434340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1600200"/>
            <a:ext cx="3319272" cy="548640"/>
          </a:xfrm>
          <a:prstGeom prst="rect">
            <a:avLst/>
          </a:prstGeom>
          <a:noFill/>
        </p:spPr>
        <p:txBody>
          <a:bodyPr wrap="square">
            <a:noAutofit/>
          </a:bodyPr>
          <a:lstStyle/>
          <a:p>
            <a:pPr algn="l"/>
            <a:r>
              <a:rPr sz="3000" b="1" i="0">
                <a:solidFill>
                  <a:srgbClr val="000000"/>
                </a:solidFill>
                <a:latin typeface="Georgia"/>
              </a:rPr>
              <a:t>03</a:t>
            </a:r>
          </a:p>
        </p:txBody>
      </p:sp>
      <p:sp>
        <p:nvSpPr>
          <p:cNvPr id="19" name="TextBox 18"/>
          <p:cNvSpPr txBox="1"/>
          <p:nvPr/>
        </p:nvSpPr>
        <p:spPr>
          <a:xfrm>
            <a:off x="8092440" y="2194560"/>
            <a:ext cx="3319272" cy="685800"/>
          </a:xfrm>
          <a:prstGeom prst="rect">
            <a:avLst/>
          </a:prstGeom>
          <a:noFill/>
        </p:spPr>
        <p:txBody>
          <a:bodyPr wrap="square">
            <a:noAutofit/>
          </a:bodyPr>
          <a:lstStyle/>
          <a:p>
            <a:pPr algn="l"/>
            <a:r>
              <a:rPr sz="1500" b="1" i="0">
                <a:solidFill>
                  <a:srgbClr val="000000"/>
                </a:solidFill>
                <a:latin typeface="Calibri"/>
              </a:rPr>
              <a:t>A four day week raises the value of every hour</a:t>
            </a:r>
          </a:p>
        </p:txBody>
      </p:sp>
      <p:sp>
        <p:nvSpPr>
          <p:cNvPr id="20" name="TextBox 19"/>
          <p:cNvSpPr txBox="1"/>
          <p:nvPr/>
        </p:nvSpPr>
        <p:spPr>
          <a:xfrm>
            <a:off x="8092440" y="2971800"/>
            <a:ext cx="3319272" cy="2651760"/>
          </a:xfrm>
          <a:prstGeom prst="rect">
            <a:avLst/>
          </a:prstGeom>
          <a:noFill/>
        </p:spPr>
        <p:txBody>
          <a:bodyPr wrap="square">
            <a:noAutofit/>
          </a:bodyPr>
          <a:lstStyle/>
          <a:p>
            <a:pPr algn="l">
              <a:lnSpc>
                <a:spcPct val="115000"/>
              </a:lnSpc>
              <a:spcAft>
                <a:spcPts val="400"/>
              </a:spcAft>
            </a:pPr>
            <a:r>
              <a:rPr sz="1100" b="0" i="0">
                <a:solidFill>
                  <a:srgbClr val="000000"/>
                </a:solidFill>
                <a:latin typeface="Calibri"/>
              </a:rPr>
              <a:t>Equality Time has delivered 85 percent staff retention, 14 percent growth in gross profit and a 23 percent rise in client work. Running full pay on a 32 hour week means each hour of capacity carries more weight, which makes a live view of where time turns into margin as important as the cash discipline needed to fund growth.</a:t>
            </a:r>
          </a:p>
        </p:txBody>
      </p:sp>
      <p:sp>
        <p:nvSpPr>
          <p:cNvPr id="21" name="TextBox 20"/>
          <p:cNvSpPr txBox="1"/>
          <p:nvPr/>
        </p:nvSpPr>
        <p:spPr>
          <a:xfrm>
            <a:off x="320040" y="5870448"/>
            <a:ext cx="11521440" cy="457200"/>
          </a:xfrm>
          <a:prstGeom prst="rect">
            <a:avLst/>
          </a:prstGeom>
          <a:noFill/>
        </p:spPr>
        <p:txBody>
          <a:bodyPr wrap="square">
            <a:noAutofit/>
          </a:bodyPr>
          <a:lstStyle/>
          <a:p>
            <a:pPr algn="l"/>
            <a:r>
              <a:rPr sz="1100" b="0" i="1">
                <a:solidFill>
                  <a:srgbClr val="000000"/>
                </a:solidFill>
                <a:latin typeface="Calibri"/>
              </a:rPr>
              <a:t>These observations are offered in good faith. Equality Media + Marketing has built something genuinely impressive. The question is simply whether the financial architecture keeps pace with the growth.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92608"/>
            <a:ext cx="6858000" cy="365760"/>
          </a:xfrm>
          <a:prstGeom prst="rect">
            <a:avLst/>
          </a:prstGeom>
          <a:noFill/>
        </p:spPr>
        <p:txBody>
          <a:bodyPr wrap="square">
            <a:noAutofit/>
          </a:bodyPr>
          <a:lstStyle/>
          <a:p>
            <a:pPr algn="l"/>
            <a:r>
              <a:rPr sz="1300" b="1" i="0">
                <a:solidFill>
                  <a:srgbClr val="E6E5DE"/>
                </a:solidFill>
                <a:latin typeface="Calibri"/>
              </a:rPr>
              <a:t>THE RECOMMENDATION</a:t>
            </a:r>
          </a:p>
        </p:txBody>
      </p:sp>
      <p:sp>
        <p:nvSpPr>
          <p:cNvPr id="4" name="TextBox 3"/>
          <p:cNvSpPr txBox="1"/>
          <p:nvPr/>
        </p:nvSpPr>
        <p:spPr>
          <a:xfrm>
            <a:off x="5029200" y="292608"/>
            <a:ext cx="6858000" cy="365760"/>
          </a:xfrm>
          <a:prstGeom prst="rect">
            <a:avLst/>
          </a:prstGeom>
          <a:noFill/>
        </p:spPr>
        <p:txBody>
          <a:bodyPr wrap="square">
            <a:noAutofit/>
          </a:bodyPr>
          <a:lstStyle/>
          <a:p>
            <a:pPr algn="r"/>
            <a:r>
              <a:rPr sz="1300" b="1" i="0">
                <a:solidFill>
                  <a:srgbClr val="01A296"/>
                </a:solidFill>
                <a:latin typeface="Calibri"/>
              </a:rPr>
              <a:t>EQUALITY MEDIA + MARKETING</a:t>
            </a:r>
          </a:p>
        </p:txBody>
      </p:sp>
      <p:sp>
        <p:nvSpPr>
          <p:cNvPr id="5" name="TextBox 4"/>
          <p:cNvSpPr txBox="1"/>
          <p:nvPr/>
        </p:nvSpPr>
        <p:spPr>
          <a:xfrm>
            <a:off x="320040" y="6446520"/>
            <a:ext cx="8686800" cy="274320"/>
          </a:xfrm>
          <a:prstGeom prst="rect">
            <a:avLst/>
          </a:prstGeom>
          <a:noFill/>
        </p:spPr>
        <p:txBody>
          <a:bodyPr wrap="square">
            <a:noAutofit/>
          </a:bodyPr>
          <a:lstStyle/>
          <a:p>
            <a:pPr algn="l"/>
            <a:r>
              <a:rPr sz="800" b="0" i="0">
                <a:solidFill>
                  <a:srgbClr val="000000"/>
                </a:solidFill>
                <a:latin typeface="Calibri"/>
              </a:rPr>
              <a:t>Prepared by Nitesh Roopa CA, Managing Partner and Founder, ProfitPulse, Profit-Pulse.com.au</a:t>
            </a:r>
          </a:p>
        </p:txBody>
      </p:sp>
      <p:sp>
        <p:nvSpPr>
          <p:cNvPr id="6" name="TextBox 5"/>
          <p:cNvSpPr txBox="1"/>
          <p:nvPr/>
        </p:nvSpPr>
        <p:spPr>
          <a:xfrm>
            <a:off x="9601200" y="6446520"/>
            <a:ext cx="2286000" cy="274320"/>
          </a:xfrm>
          <a:prstGeom prst="rect">
            <a:avLst/>
          </a:prstGeom>
          <a:noFill/>
        </p:spPr>
        <p:txBody>
          <a:bodyPr wrap="square">
            <a:noAutofit/>
          </a:bodyPr>
          <a:lstStyle/>
          <a:p>
            <a:pPr algn="r"/>
            <a:r>
              <a:rPr sz="800" b="0" i="0">
                <a:solidFill>
                  <a:srgbClr val="000000"/>
                </a:solidFill>
                <a:latin typeface="Calibri"/>
              </a:rPr>
              <a:t>06 Aug 2026</a:t>
            </a:r>
          </a:p>
        </p:txBody>
      </p:sp>
      <p:sp>
        <p:nvSpPr>
          <p:cNvPr id="7" name="Rectangle 6"/>
          <p:cNvSpPr/>
          <p:nvPr/>
        </p:nvSpPr>
        <p:spPr>
          <a:xfrm>
            <a:off x="0" y="0"/>
            <a:ext cx="91440" cy="6858000"/>
          </a:xfrm>
          <a:prstGeom prst="rect">
            <a:avLst/>
          </a:prstGeom>
          <a:solidFill>
            <a:srgbClr val="F8C8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097280"/>
            <a:ext cx="6858000" cy="502920"/>
          </a:xfrm>
          <a:prstGeom prst="rect">
            <a:avLst/>
          </a:prstGeom>
          <a:noFill/>
        </p:spPr>
        <p:txBody>
          <a:bodyPr wrap="square">
            <a:noAutofit/>
          </a:bodyPr>
          <a:lstStyle/>
          <a:p>
            <a:pPr algn="l"/>
            <a:r>
              <a:rPr sz="2600" b="1" i="0">
                <a:solidFill>
                  <a:srgbClr val="000000"/>
                </a:solidFill>
                <a:latin typeface="Georgia"/>
              </a:rPr>
              <a:t>Working Capital Unlock</a:t>
            </a:r>
          </a:p>
        </p:txBody>
      </p:sp>
      <p:sp>
        <p:nvSpPr>
          <p:cNvPr id="9" name="TextBox 8"/>
          <p:cNvSpPr txBox="1"/>
          <p:nvPr/>
        </p:nvSpPr>
        <p:spPr>
          <a:xfrm>
            <a:off x="320040" y="1627632"/>
            <a:ext cx="6858000" cy="320040"/>
          </a:xfrm>
          <a:prstGeom prst="rect">
            <a:avLst/>
          </a:prstGeom>
          <a:noFill/>
        </p:spPr>
        <p:txBody>
          <a:bodyPr wrap="square">
            <a:noAutofit/>
          </a:bodyPr>
          <a:lstStyle/>
          <a:p>
            <a:pPr algn="l"/>
            <a:r>
              <a:rPr sz="1400" b="1" i="0">
                <a:solidFill>
                  <a:srgbClr val="01A296"/>
                </a:solidFill>
                <a:latin typeface="Calibri"/>
              </a:rPr>
              <a:t>$4,450 one off, ProfitPulse verified price</a:t>
            </a:r>
          </a:p>
        </p:txBody>
      </p:sp>
      <p:sp>
        <p:nvSpPr>
          <p:cNvPr id="10" name="TextBox 9"/>
          <p:cNvSpPr txBox="1"/>
          <p:nvPr/>
        </p:nvSpPr>
        <p:spPr>
          <a:xfrm>
            <a:off x="320040" y="2011680"/>
            <a:ext cx="6858000" cy="777240"/>
          </a:xfrm>
          <a:prstGeom prst="rect">
            <a:avLst/>
          </a:prstGeom>
          <a:noFill/>
        </p:spPr>
        <p:txBody>
          <a:bodyPr wrap="square">
            <a:noAutofit/>
          </a:bodyPr>
          <a:lstStyle/>
          <a:p>
            <a:pPr algn="l">
              <a:lnSpc>
                <a:spcPct val="115000"/>
              </a:lnSpc>
              <a:spcAft>
                <a:spcPts val="400"/>
              </a:spcAft>
            </a:pPr>
            <a:r>
              <a:rPr sz="1200" b="0" i="0">
                <a:solidFill>
                  <a:srgbClr val="000000"/>
                </a:solidFill>
                <a:latin typeface="Calibri"/>
              </a:rPr>
              <a:t>Maps cash trapped in debtors, supplier payment timing and stock or work in progress across the business, then delivers a prioritised action list to release cash within weeks.</a:t>
            </a:r>
          </a:p>
        </p:txBody>
      </p:sp>
      <p:sp>
        <p:nvSpPr>
          <p:cNvPr id="11" name="Rectangle 10"/>
          <p:cNvSpPr/>
          <p:nvPr/>
        </p:nvSpPr>
        <p:spPr>
          <a:xfrm>
            <a:off x="320040" y="2880360"/>
            <a:ext cx="6858000" cy="1371600"/>
          </a:xfrm>
          <a:prstGeom prst="rect">
            <a:avLst/>
          </a:prstGeom>
          <a:solidFill>
            <a:srgbClr val="E6E5DE"/>
          </a:solidFill>
          <a:ln w="12700">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035808"/>
            <a:ext cx="6492240" cy="320040"/>
          </a:xfrm>
          <a:prstGeom prst="rect">
            <a:avLst/>
          </a:prstGeom>
          <a:noFill/>
        </p:spPr>
        <p:txBody>
          <a:bodyPr wrap="square">
            <a:noAutofit/>
          </a:bodyPr>
          <a:lstStyle/>
          <a:p>
            <a:pPr algn="l"/>
            <a:r>
              <a:rPr sz="1300" b="1" i="0">
                <a:solidFill>
                  <a:srgbClr val="000000"/>
                </a:solidFill>
                <a:latin typeface="Calibri"/>
              </a:rPr>
              <a:t>Step one, answer a few quick questions</a:t>
            </a:r>
          </a:p>
        </p:txBody>
      </p:sp>
      <p:sp>
        <p:nvSpPr>
          <p:cNvPr id="13" name="TextBox 12"/>
          <p:cNvSpPr txBox="1"/>
          <p:nvPr/>
        </p:nvSpPr>
        <p:spPr>
          <a:xfrm>
            <a:off x="502920" y="3364992"/>
            <a:ext cx="6492240" cy="320040"/>
          </a:xfrm>
          <a:prstGeom prst="rect">
            <a:avLst/>
          </a:prstGeom>
          <a:noFill/>
        </p:spPr>
        <p:txBody>
          <a:bodyPr wrap="square">
            <a:noAutofit/>
          </a:bodyPr>
          <a:lstStyle/>
          <a:p>
            <a:pPr algn="l"/>
            <a:r>
              <a:rPr sz="1100" b="0" i="0">
                <a:solidFill>
                  <a:srgbClr val="000000"/>
                </a:solidFill>
                <a:latin typeface="Calibri"/>
              </a:rPr>
              <a:t>See the solutions matched to your size and industry.</a:t>
            </a:r>
          </a:p>
        </p:txBody>
      </p:sp>
      <p:sp>
        <p:nvSpPr>
          <p:cNvPr id="14" name="TextBox 13"/>
          <p:cNvSpPr txBox="1"/>
          <p:nvPr/>
        </p:nvSpPr>
        <p:spPr>
          <a:xfrm>
            <a:off x="502920" y="3703320"/>
            <a:ext cx="6492240" cy="365760"/>
          </a:xfrm>
          <a:prstGeom prst="rect">
            <a:avLst/>
          </a:prstGeom>
          <a:noFill/>
        </p:spPr>
        <p:txBody>
          <a:bodyPr wrap="square">
            <a:noAutofit/>
          </a:bodyPr>
          <a:lstStyle/>
          <a:p>
            <a:pPr algn="l"/>
            <a:r>
              <a:rPr sz="1300" b="1" i="0">
                <a:solidFill>
                  <a:srgbClr val="01A296"/>
                </a:solidFill>
                <a:latin typeface="Calibri"/>
                <a:hlinkClick r:id="rId2"/>
              </a:rPr>
              <a:t>profit-pulse.com.au/services/find-your-fit</a:t>
            </a:r>
          </a:p>
        </p:txBody>
      </p:sp>
      <p:sp>
        <p:nvSpPr>
          <p:cNvPr id="15" name="Rectangle 14"/>
          <p:cNvSpPr/>
          <p:nvPr/>
        </p:nvSpPr>
        <p:spPr>
          <a:xfrm>
            <a:off x="320040" y="4434840"/>
            <a:ext cx="6858000" cy="64008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626864"/>
            <a:ext cx="6492240" cy="320040"/>
          </a:xfrm>
          <a:prstGeom prst="rect">
            <a:avLst/>
          </a:prstGeom>
          <a:noFill/>
        </p:spPr>
        <p:txBody>
          <a:bodyPr wrap="square">
            <a:noAutofit/>
          </a:bodyPr>
          <a:lstStyle/>
          <a:p>
            <a:pPr algn="ctr"/>
            <a:r>
              <a:rPr sz="1300" b="1" i="0">
                <a:solidFill>
                  <a:srgbClr val="000000"/>
                </a:solidFill>
                <a:latin typeface="Calibri"/>
                <a:hlinkClick r:id="rId3"/>
              </a:rPr>
              <a:t>Purchase the suggested product now to get started</a:t>
            </a:r>
          </a:p>
        </p:txBody>
      </p:sp>
      <p:sp>
        <p:nvSpPr>
          <p:cNvPr id="17" name="TextBox 16"/>
          <p:cNvSpPr txBox="1"/>
          <p:nvPr/>
        </p:nvSpPr>
        <p:spPr>
          <a:xfrm>
            <a:off x="320040" y="5257800"/>
            <a:ext cx="6858000" cy="274320"/>
          </a:xfrm>
          <a:prstGeom prst="rect">
            <a:avLst/>
          </a:prstGeom>
          <a:noFill/>
        </p:spPr>
        <p:txBody>
          <a:bodyPr wrap="square">
            <a:noAutofit/>
          </a:bodyPr>
          <a:lstStyle/>
          <a:p>
            <a:pPr algn="l"/>
            <a:r>
              <a:rPr sz="1200" b="1" i="0">
                <a:solidFill>
                  <a:srgbClr val="000000"/>
                </a:solidFill>
                <a:latin typeface="Calibri"/>
              </a:rPr>
              <a:t>Prefer a conversation first?</a:t>
            </a:r>
          </a:p>
        </p:txBody>
      </p:sp>
      <p:sp>
        <p:nvSpPr>
          <p:cNvPr id="18" name="TextBox 17"/>
          <p:cNvSpPr txBox="1"/>
          <p:nvPr/>
        </p:nvSpPr>
        <p:spPr>
          <a:xfrm>
            <a:off x="320040" y="5559552"/>
            <a:ext cx="6858000" cy="320040"/>
          </a:xfrm>
          <a:prstGeom prst="rect">
            <a:avLst/>
          </a:prstGeom>
          <a:noFill/>
        </p:spPr>
        <p:txBody>
          <a:bodyPr wrap="square">
            <a:noAutofit/>
          </a:bodyPr>
          <a:lstStyle/>
          <a:p>
            <a:pPr algn="l"/>
            <a:r>
              <a:rPr sz="1200" b="0" i="0">
                <a:solidFill>
                  <a:srgbClr val="01A296"/>
                </a:solidFill>
                <a:latin typeface="Calibri"/>
                <a:hlinkClick r:id="rId4"/>
              </a:rPr>
              <a:t>Book a complimentary discovery call</a:t>
            </a:r>
          </a:p>
        </p:txBody>
      </p:sp>
      <p:sp>
        <p:nvSpPr>
          <p:cNvPr id="19" name="Rectangle 18"/>
          <p:cNvSpPr/>
          <p:nvPr/>
        </p:nvSpPr>
        <p:spPr>
          <a:xfrm>
            <a:off x="7452360" y="1097280"/>
            <a:ext cx="4434840" cy="4892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52360" y="1097280"/>
            <a:ext cx="4434840"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1298448"/>
            <a:ext cx="3977640" cy="411480"/>
          </a:xfrm>
          <a:prstGeom prst="rect">
            <a:avLst/>
          </a:prstGeom>
          <a:noFill/>
        </p:spPr>
        <p:txBody>
          <a:bodyPr wrap="square">
            <a:noAutofit/>
          </a:bodyPr>
          <a:lstStyle/>
          <a:p>
            <a:pPr algn="l"/>
            <a:r>
              <a:rPr sz="1900" b="1" i="0">
                <a:solidFill>
                  <a:srgbClr val="F8C806"/>
                </a:solidFill>
                <a:latin typeface="Georgia"/>
              </a:rPr>
              <a:t>Nitesh Roopa</a:t>
            </a:r>
          </a:p>
        </p:txBody>
      </p:sp>
      <p:sp>
        <p:nvSpPr>
          <p:cNvPr id="22" name="TextBox 21"/>
          <p:cNvSpPr txBox="1"/>
          <p:nvPr/>
        </p:nvSpPr>
        <p:spPr>
          <a:xfrm>
            <a:off x="7680960" y="1691640"/>
            <a:ext cx="3977640" cy="320040"/>
          </a:xfrm>
          <a:prstGeom prst="rect">
            <a:avLst/>
          </a:prstGeom>
          <a:noFill/>
        </p:spPr>
        <p:txBody>
          <a:bodyPr wrap="square">
            <a:noAutofit/>
          </a:bodyPr>
          <a:lstStyle/>
          <a:p>
            <a:pPr algn="l"/>
            <a:r>
              <a:rPr sz="1200" b="0" i="0">
                <a:solidFill>
                  <a:srgbClr val="FFFFFF"/>
                </a:solidFill>
                <a:latin typeface="Calibri"/>
              </a:rPr>
              <a:t>CA, Managing Partner, ProfitPulse</a:t>
            </a:r>
          </a:p>
        </p:txBody>
      </p:sp>
      <p:sp>
        <p:nvSpPr>
          <p:cNvPr id="23" name="TextBox 22"/>
          <p:cNvSpPr txBox="1"/>
          <p:nvPr/>
        </p:nvSpPr>
        <p:spPr>
          <a:xfrm>
            <a:off x="7680960" y="2148840"/>
            <a:ext cx="3977640" cy="1371600"/>
          </a:xfrm>
          <a:prstGeom prst="rect">
            <a:avLst/>
          </a:prstGeom>
          <a:noFill/>
        </p:spPr>
        <p:txBody>
          <a:bodyPr wrap="square">
            <a:noAutofit/>
          </a:bodyPr>
          <a:lstStyle/>
          <a:p>
            <a:pPr algn="l">
              <a:lnSpc>
                <a:spcPct val="110000"/>
              </a:lnSpc>
              <a:spcAft>
                <a:spcPts val="500"/>
              </a:spcAft>
            </a:pPr>
            <a:r>
              <a:rPr sz="1100" b="0" i="0">
                <a:solidFill>
                  <a:srgbClr val="E6E5DE"/>
                </a:solidFill>
                <a:latin typeface="Calibri"/>
              </a:rPr>
              <a:t>16 years across 4 countries</a:t>
            </a:r>
          </a:p>
          <a:p>
            <a:pPr algn="l">
              <a:lnSpc>
                <a:spcPct val="110000"/>
              </a:lnSpc>
              <a:spcAft>
                <a:spcPts val="500"/>
              </a:spcAft>
            </a:pPr>
            <a:r>
              <a:rPr sz="1100" b="0" i="0">
                <a:solidFill>
                  <a:srgbClr val="E6E5DE"/>
                </a:solidFill>
                <a:latin typeface="Calibri"/>
              </a:rPr>
              <a:t>52 deals executed and managed</a:t>
            </a:r>
          </a:p>
          <a:p>
            <a:pPr algn="l">
              <a:lnSpc>
                <a:spcPct val="110000"/>
              </a:lnSpc>
              <a:spcAft>
                <a:spcPts val="500"/>
              </a:spcAft>
            </a:pPr>
            <a:r>
              <a:rPr sz="1100" b="0" i="0">
                <a:solidFill>
                  <a:srgbClr val="E6E5DE"/>
                </a:solidFill>
                <a:latin typeface="Calibri"/>
              </a:rPr>
              <a:t>Largest single deal, USD 1.3 billion,</a:t>
            </a:r>
          </a:p>
          <a:p>
            <a:pPr algn="l">
              <a:lnSpc>
                <a:spcPct val="110000"/>
              </a:lnSpc>
              <a:spcAft>
                <a:spcPts val="500"/>
              </a:spcAft>
            </a:pPr>
            <a:r>
              <a:rPr sz="1100" b="0" i="0">
                <a:solidFill>
                  <a:srgbClr val="E6E5DE"/>
                </a:solidFill>
                <a:latin typeface="Calibri"/>
              </a:rPr>
              <a:t>Cahora Bassa, Mozambique Government</a:t>
            </a:r>
          </a:p>
          <a:p>
            <a:pPr algn="l">
              <a:lnSpc>
                <a:spcPct val="110000"/>
              </a:lnSpc>
              <a:spcAft>
                <a:spcPts val="500"/>
              </a:spcAft>
            </a:pPr>
            <a:r>
              <a:rPr sz="1100" b="0" i="0">
                <a:solidFill>
                  <a:srgbClr val="E6E5DE"/>
                </a:solidFill>
                <a:latin typeface="Calibri"/>
              </a:rPr>
              <a:t>Total GRBT project value over AUD 10 billion</a:t>
            </a:r>
          </a:p>
        </p:txBody>
      </p:sp>
      <p:sp>
        <p:nvSpPr>
          <p:cNvPr id="24" name="Rectangle 23"/>
          <p:cNvSpPr/>
          <p:nvPr/>
        </p:nvSpPr>
        <p:spPr>
          <a:xfrm>
            <a:off x="7680960" y="3657600"/>
            <a:ext cx="3977640" cy="1905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0" y="3840480"/>
            <a:ext cx="3977640" cy="1463040"/>
          </a:xfrm>
          <a:prstGeom prst="rect">
            <a:avLst/>
          </a:prstGeom>
          <a:noFill/>
        </p:spPr>
        <p:txBody>
          <a:bodyPr wrap="square">
            <a:noAutofit/>
          </a:bodyPr>
          <a:lstStyle/>
          <a:p>
            <a:pPr algn="l">
              <a:lnSpc>
                <a:spcPct val="110000"/>
              </a:lnSpc>
              <a:spcAft>
                <a:spcPts val="800"/>
              </a:spcAft>
            </a:pPr>
            <a:r>
              <a:rPr sz="1200" b="0" i="0">
                <a:solidFill>
                  <a:srgbClr val="E6E5DE"/>
                </a:solidFill>
                <a:latin typeface="Calibri"/>
              </a:rPr>
              <a:t>Profit-Pulse.com.au</a:t>
            </a:r>
          </a:p>
          <a:p>
            <a:pPr algn="l">
              <a:lnSpc>
                <a:spcPct val="110000"/>
              </a:lnSpc>
              <a:spcAft>
                <a:spcPts val="800"/>
              </a:spcAft>
            </a:pPr>
            <a:r>
              <a:rPr sz="1200" b="0" i="0">
                <a:solidFill>
                  <a:srgbClr val="01A296"/>
                </a:solidFill>
                <a:latin typeface="Calibri"/>
              </a:rPr>
              <a:t>Nitesh@Profit-Pulse.com.au</a:t>
            </a:r>
          </a:p>
          <a:p>
            <a:pPr algn="l">
              <a:lnSpc>
                <a:spcPct val="110000"/>
              </a:lnSpc>
              <a:spcAft>
                <a:spcPts val="800"/>
              </a:spcAft>
            </a:pPr>
            <a:r>
              <a:rPr sz="1200" b="0" i="0">
                <a:solidFill>
                  <a:srgbClr val="E6E5DE"/>
                </a:solidFill>
                <a:latin typeface="Calibri"/>
              </a:rPr>
              <a:t>+61 411 876 267</a:t>
            </a:r>
          </a:p>
          <a:p>
            <a:pPr algn="l">
              <a:lnSpc>
                <a:spcPct val="110000"/>
              </a:lnSpc>
              <a:spcAft>
                <a:spcPts val="800"/>
              </a:spcAft>
            </a:pPr>
            <a:r>
              <a:rPr sz="1000" b="0" i="0">
                <a:solidFill>
                  <a:srgbClr val="E6E5DE"/>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