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fit-pulse.com.au/services/find-your-fit/" TargetMode="External"/><Relationship Id="rId3" Type="http://schemas.openxmlformats.org/officeDocument/2006/relationships/hyperlink" Target="https://buy.stripe.com/5kQ9AU7OU9io95m8sn3ks0l" TargetMode="External"/><Relationship Id="rId4" Type="http://schemas.openxmlformats.org/officeDocument/2006/relationships/hyperlink" Target="https://bookings.cloud.microsoft/book/ProfitPulse1@profit-pulse.com.au/?ismsaljsauthenabled=tru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9184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E5DE"/>
                </a:solidFill>
                <a:latin typeface="Liberation Sans"/>
              </a:rPr>
              <a:t>COMMERCIAL INTELLIGENCE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92608"/>
            <a:ext cx="3593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01A296"/>
                </a:solidFill>
                <a:latin typeface="Liberation Serif"/>
              </a:rPr>
              <a:t>iCatalyst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11430000" cy="9525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iberation Sans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Liberation Sans"/>
              </a:rPr>
              <a:t>14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24128"/>
            <a:ext cx="8229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Liberation Serif"/>
              </a:rPr>
              <a:t>iCatalyst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0078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Liberation Sans"/>
              </a:rPr>
              <a:t>Microsoft Dynamics 365 and Power Platform consultancy, Subiaco, Perth WA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2103120" cy="1417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768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Liberation Serif"/>
              </a:rPr>
              <a:t>$13.5M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FY2025 verified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92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E6E5DE"/>
                </a:solidFill>
                <a:latin typeface="Liberation Sans"/>
              </a:rPr>
              <a:t>SmartCompany Smart50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148840"/>
            <a:ext cx="2103120" cy="1417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2768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Liberation Serif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706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Revenue growth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year on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192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E6E5DE"/>
                </a:solidFill>
                <a:latin typeface="Liberation Sans"/>
              </a:rPr>
              <a:t>SmartCompany Smart50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148840"/>
            <a:ext cx="2103120" cy="1417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2768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Liberation Serif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7706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Team members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nationally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3192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E6E5DE"/>
                </a:solidFill>
                <a:latin typeface="Liberation Sans"/>
              </a:rPr>
              <a:t>SmartCompany Smart50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148840"/>
            <a:ext cx="2103120" cy="1417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2768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Liberation Serif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7706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Offices across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Australia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3192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E6E5DE"/>
                </a:solidFill>
                <a:latin typeface="Liberation Sans"/>
              </a:rPr>
              <a:t>ITBrief, iTWire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148840"/>
            <a:ext cx="2103120" cy="1417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214884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22768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Liberation Serif"/>
              </a:rPr>
              <a:t>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7706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Year founded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in Perth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3192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E6E5DE"/>
                </a:solidFill>
                <a:latin typeface="Liberation Sans"/>
              </a:rPr>
              <a:t>SmartCompany Smart50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822191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1A296"/>
                </a:solidFill>
                <a:latin typeface="Liberation Sans"/>
              </a:rPr>
              <a:t>VERIFIED REVENUE 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822191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1A296"/>
                </a:solidFill>
                <a:latin typeface="Liberation Sans"/>
              </a:rPr>
              <a:t>KEY COMMERCIAL SIGNALS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293766"/>
            <a:ext cx="777240" cy="512673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1944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iberation Sans"/>
              </a:rPr>
              <a:t>$5.22M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861303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iberation Sans"/>
              </a:rPr>
              <a:t>2023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83080" y="4873413"/>
            <a:ext cx="777240" cy="933026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0" y="4599093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iberation Sans"/>
              </a:rPr>
              <a:t>$9.5M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861303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iberation Sans"/>
              </a:rPr>
              <a:t>2024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4480559"/>
            <a:ext cx="777240" cy="1325880"/>
          </a:xfrm>
          <a:prstGeom prst="rect">
            <a:avLst/>
          </a:prstGeom>
          <a:solidFill>
            <a:srgbClr val="E3A7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42062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iberation Sans"/>
              </a:rPr>
              <a:t>$13.5M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861303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iberation Sans"/>
              </a:rPr>
              <a:t>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806440"/>
            <a:ext cx="3200400" cy="127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144768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000000"/>
                </a:solidFill>
                <a:latin typeface="Liberation Sans"/>
              </a:rPr>
              <a:t>Source: SmartCompany Smart50 award citations, 2023 to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160520"/>
            <a:ext cx="69494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000000"/>
                </a:solidFill>
                <a:latin typeface="Liberation Sans"/>
              </a:rPr>
              <a:t>■  Acquired Brisbane based Beyond CRM in 2025, adding a fourth national office (ITBrief, iTWire)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000000"/>
                </a:solidFill>
                <a:latin typeface="Liberation Sans"/>
              </a:rPr>
              <a:t>■  Average project value grew from $100,000 to $350,000 as delivery scaled up (Microsoft Customer Story)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000000"/>
                </a:solidFill>
                <a:latin typeface="Liberation Sans"/>
              </a:rPr>
              <a:t>■  Achieved Microsoft Solutions Partner status within 9 months of launch (Microsoft Customer Story)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000000"/>
                </a:solidFill>
                <a:latin typeface="Liberation Sans"/>
              </a:rPr>
              <a:t>■  FY26 target: 30% growth in managed services revenue, 25% growth in customers (ARN, techpartner.news)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000000"/>
                </a:solidFill>
                <a:latin typeface="Liberation Sans"/>
              </a:rPr>
              <a:t>■  Three straight Smart50 appearances: rank 40 in 2023, rank 4 in 2024, rank 16 in 2025 (SmartCompany)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9184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E5DE"/>
                </a:solidFill>
                <a:latin typeface="Liberation San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92608"/>
            <a:ext cx="3593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01A296"/>
                </a:solidFill>
                <a:latin typeface="Liberation Serif"/>
              </a:rPr>
              <a:t>iCatalyst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11430000" cy="9525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iberation Sans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Liberation Sans"/>
              </a:rPr>
              <a:t>14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2412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Liberation Serif"/>
              </a:rPr>
              <a:t>iCatalyst: three commercial observations from ProfitPulse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536192"/>
            <a:ext cx="3877056" cy="4279392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7373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Liberation Serif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32304"/>
            <a:ext cx="33649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0000"/>
                </a:solidFill>
                <a:latin typeface="Liberation Sans"/>
              </a:rPr>
              <a:t>Four offices, one growth plan?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182112"/>
            <a:ext cx="336499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000000"/>
                </a:solidFill>
                <a:latin typeface="Liberation Sans"/>
              </a:rPr>
              <a:t>iCatalyst added its fourth office this year through the Beyond CRM acquisition in Brisbane, joining Perth, Melbourne and Sydney. Each site carries its own hiring, marketing and integration cost. A Capital Allocation Review would rank where the next dollar across these four sites should go before FY26 spend is committed.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6" y="1536192"/>
            <a:ext cx="3877056" cy="42793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7373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8C806"/>
                </a:solidFill>
                <a:latin typeface="Liberation Serif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432304"/>
            <a:ext cx="33649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Average deal size just tripled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182112"/>
            <a:ext cx="336499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Liberation Sans"/>
              </a:rPr>
              <a:t>Average project value grew from $100,000 to $350,000 as headcount scaled to 50, with seventy percent of revenue still tied to time based project work. A Workforce Capacity and Utilisation Review would show which offices carry spare delivery capacity and which are stretched thin.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1536192"/>
            <a:ext cx="3877056" cy="4279392"/>
          </a:xfrm>
          <a:prstGeom prst="rect">
            <a:avLst/>
          </a:prstGeom>
          <a:solidFill>
            <a:srgbClr val="E3A7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17373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Liberation Serif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432304"/>
            <a:ext cx="33649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0000"/>
                </a:solidFill>
                <a:latin typeface="Liberation Sans"/>
              </a:rPr>
              <a:t>FY26 targets need a costed pathway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3182112"/>
            <a:ext cx="336499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000000"/>
                </a:solidFill>
                <a:latin typeface="Liberation Sans"/>
              </a:rPr>
              <a:t>iCatalyst has set FY26 targets of thirty percent growth in managed services revenue and twenty five percent growth in customers, plus new proprietary IP. A Strategic Growth Diagnostic would turn those public targets into a costed, scenario tested twelve month roadmap before the year begins.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07024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Liberation Sans"/>
              </a:rPr>
              <a:t>These observations are offered in good faith. iCatalyst has built something rare in five years. The question is simply whether the capital plan matches the ambition.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9184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E5DE"/>
                </a:solidFill>
                <a:latin typeface="Liberation Sans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92608"/>
            <a:ext cx="35935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01A296"/>
                </a:solidFill>
                <a:latin typeface="Liberation Serif"/>
              </a:rPr>
              <a:t>iCatalyst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19088"/>
            <a:ext cx="11430000" cy="9525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iberation Sans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73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Liberation Sans"/>
              </a:rPr>
              <a:t>14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6949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Liberation Serif"/>
              </a:rPr>
              <a:t>Capital Allocation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6949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6A102"/>
                </a:solidFill>
                <a:latin typeface="Liberation Sans"/>
              </a:rPr>
              <a:t>$7,500 one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Liberation Sans"/>
              </a:rPr>
              <a:t>Independent review of where capital is deployed across people, offices and the Beyond CRM integration, ranked against the return each is generating.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6949440" cy="1417320"/>
          </a:xfrm>
          <a:prstGeom prst="rect">
            <a:avLst/>
          </a:prstGeom>
          <a:solidFill>
            <a:srgbClr val="E6E5DE"/>
          </a:solidFill>
          <a:ln w="12700">
            <a:solidFill>
              <a:srgbClr val="01A2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798064"/>
            <a:ext cx="6547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Liberation Sans"/>
              </a:rPr>
              <a:t>Step one: answer a few quick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27248"/>
            <a:ext cx="6547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Liberation Sans"/>
              </a:rPr>
              <a:t>See the solutions matched to your size and industry.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38144"/>
            <a:ext cx="65471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1A296"/>
                </a:solidFill>
                <a:latin typeface="Liberation Sans"/>
                <a:hlinkClick r:id="rId2"/>
              </a:rPr>
              <a:t>profit-pulse.com.au/services/find-your-fit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85615"/>
            <a:ext cx="6547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A102"/>
                </a:solidFill>
                <a:latin typeface="Liberation Sans"/>
                <a:hlinkClick r:id="rId3"/>
              </a:rPr>
              <a:t>Purchase the suggested product now to get started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61104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Liberation Sans"/>
              </a:rPr>
              <a:t>Prefer a conversation first?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5371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1A296"/>
                </a:solidFill>
                <a:latin typeface="Liberation Sans"/>
                <a:hlinkClick r:id="rId4"/>
              </a:rPr>
              <a:t>Book a complimentary discovery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29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000000"/>
                </a:solidFill>
                <a:latin typeface="Liberation Sans"/>
              </a:rPr>
              <a:t>Supporting services identified: Strategic Growth Diagnostic, Workforce Capacity and Utilisation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1231" y="1051560"/>
            <a:ext cx="4224528" cy="5074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71231" y="1051560"/>
            <a:ext cx="4224528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1280160"/>
            <a:ext cx="37673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8C806"/>
                </a:solidFill>
                <a:latin typeface="Liberation Serif"/>
              </a:rPr>
              <a:t>Nitesh Roopa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1700784"/>
            <a:ext cx="3767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5DE"/>
                </a:solidFill>
                <a:latin typeface="Liberation Sans"/>
              </a:rPr>
              <a:t>CA, Managing Partner, ProfitPulse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99831" y="2048256"/>
            <a:ext cx="3767328" cy="1524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2212848"/>
            <a:ext cx="3767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16 years of experience across 4 countries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52 deals executed and managed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Largest deal USD 1.3 billion, Cahora Bassa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E6E5DE"/>
                </a:solidFill>
                <a:latin typeface="Liberation Sans"/>
              </a:rPr>
              <a:t>AUD 10 billion Gympie Road Bypass Tunnel business case, QIC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99831" y="3840480"/>
            <a:ext cx="3767328" cy="127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1" y="4005072"/>
            <a:ext cx="376732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E6E5DE"/>
                </a:solidFill>
                <a:latin typeface="Liberation Sans"/>
              </a:rPr>
              <a:t>Profit-Pulse.com.au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01A296"/>
                </a:solidFill>
                <a:latin typeface="Liberation Sans"/>
              </a:rPr>
              <a:t>Nitesh@Profit-Pulse.com.au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E6E5DE"/>
                </a:solidFill>
                <a:latin typeface="Liberation Sans"/>
              </a:rPr>
              <a:t>+61 411 876 267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E6E5DE"/>
                </a:solidFill>
                <a:latin typeface="Liberation Sans"/>
              </a:rPr>
              <a:t>linkedin.com/in/nitesh-roopa-77594163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1A296"/>
      </a:hlink>
      <a:folHlink>
        <a:srgbClr val="01A2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