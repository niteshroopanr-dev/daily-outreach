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92608"/>
            <a:ext cx="3657600" cy="365760"/>
          </a:xfrm>
          <a:prstGeom prst="rect">
            <a:avLst/>
          </a:prstGeom>
          <a:noFill/>
        </p:spPr>
        <p:txBody>
          <a:bodyPr wrap="square"/>
          <a:lstStyle/>
          <a:p>
            <a:pPr algn="l"/>
            <a:r>
              <a:rPr sz="1100" b="1" i="0">
                <a:solidFill>
                  <a:srgbClr val="01A296"/>
                </a:solidFill>
                <a:latin typeface="Arial"/>
              </a:rPr>
              <a:t>PROFITPULSE</a:t>
            </a:r>
          </a:p>
        </p:txBody>
      </p:sp>
      <p:sp>
        <p:nvSpPr>
          <p:cNvPr id="4" name="Rectangle 3"/>
          <p:cNvSpPr/>
          <p:nvPr/>
        </p:nvSpPr>
        <p:spPr>
          <a:xfrm>
            <a:off x="228600" y="694944"/>
            <a:ext cx="2743200" cy="254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051560"/>
            <a:ext cx="8229600" cy="1097280"/>
          </a:xfrm>
          <a:prstGeom prst="rect">
            <a:avLst/>
          </a:prstGeom>
          <a:noFill/>
        </p:spPr>
        <p:txBody>
          <a:bodyPr wrap="square"/>
          <a:lstStyle/>
          <a:p>
            <a:pPr algn="l"/>
            <a:r>
              <a:rPr sz="6800" b="1" i="0">
                <a:solidFill>
                  <a:srgbClr val="F8C806"/>
                </a:solidFill>
                <a:latin typeface="Arial"/>
              </a:rPr>
              <a:t>AdUnion</a:t>
            </a:r>
          </a:p>
        </p:txBody>
      </p:sp>
      <p:sp>
        <p:nvSpPr>
          <p:cNvPr id="6" name="TextBox 5"/>
          <p:cNvSpPr txBox="1"/>
          <p:nvPr/>
        </p:nvSpPr>
        <p:spPr>
          <a:xfrm>
            <a:off x="228600" y="2240280"/>
            <a:ext cx="8686800" cy="548640"/>
          </a:xfrm>
          <a:prstGeom prst="rect">
            <a:avLst/>
          </a:prstGeom>
          <a:noFill/>
        </p:spPr>
        <p:txBody>
          <a:bodyPr wrap="square"/>
          <a:lstStyle/>
          <a:p>
            <a:pPr algn="l"/>
            <a:r>
              <a:rPr sz="2600" b="0" i="0">
                <a:solidFill>
                  <a:srgbClr val="FFFFFF"/>
                </a:solidFill>
                <a:latin typeface="Arial"/>
              </a:rPr>
              <a:t>Three years of compounding growth.</a:t>
            </a:r>
          </a:p>
        </p:txBody>
      </p:sp>
      <p:sp>
        <p:nvSpPr>
          <p:cNvPr id="7" name="TextBox 6"/>
          <p:cNvSpPr txBox="1"/>
          <p:nvPr/>
        </p:nvSpPr>
        <p:spPr>
          <a:xfrm>
            <a:off x="228600" y="2788920"/>
            <a:ext cx="8686800" cy="548640"/>
          </a:xfrm>
          <a:prstGeom prst="rect">
            <a:avLst/>
          </a:prstGeom>
          <a:noFill/>
        </p:spPr>
        <p:txBody>
          <a:bodyPr wrap="square"/>
          <a:lstStyle/>
          <a:p>
            <a:pPr algn="l"/>
            <a:r>
              <a:rPr sz="2600" b="0" i="0">
                <a:solidFill>
                  <a:srgbClr val="E6E5DE"/>
                </a:solidFill>
                <a:latin typeface="Arial"/>
              </a:rPr>
              <a:t>The next stage belongs to margin clarity.</a:t>
            </a:r>
          </a:p>
        </p:txBody>
      </p:sp>
      <p:sp>
        <p:nvSpPr>
          <p:cNvPr id="8" name="Rectangle 7"/>
          <p:cNvSpPr/>
          <p:nvPr/>
        </p:nvSpPr>
        <p:spPr>
          <a:xfrm>
            <a:off x="228600" y="3401568"/>
            <a:ext cx="4572000" cy="254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3520440"/>
            <a:ext cx="11430000" cy="822960"/>
          </a:xfrm>
          <a:prstGeom prst="rect">
            <a:avLst/>
          </a:prstGeom>
          <a:noFill/>
        </p:spPr>
        <p:txBody>
          <a:bodyPr wrap="square">
            <a:spAutoFit/>
          </a:bodyPr>
          <a:lstStyle/>
          <a:p>
            <a:pPr algn="l"/>
            <a:r>
              <a:rPr sz="1500" b="0" i="0">
                <a:solidFill>
                  <a:srgbClr val="E6E5DE"/>
                </a:solidFill>
                <a:latin typeface="Arial"/>
              </a:rPr>
              <a:t>$9.3M revenue   •   81% three year growth   •   10 people</a:t>
            </a:r>
          </a:p>
          <a:p>
            <a:pPr algn="l"/>
            <a:r>
              <a:rPr sz="1300" b="0" i="0">
                <a:solidFill>
                  <a:srgbClr val="01A296"/>
                </a:solidFill>
                <a:latin typeface="Arial"/>
              </a:rPr>
              <a:t>Smart50 2025 #8   •   AFR Fast 100 2025 #26   •   Deloitte Tech Fast 50 2025 #31</a:t>
            </a:r>
          </a:p>
        </p:txBody>
      </p:sp>
      <p:sp>
        <p:nvSpPr>
          <p:cNvPr id="10" name="TextBox 9"/>
          <p:cNvSpPr txBox="1"/>
          <p:nvPr/>
        </p:nvSpPr>
        <p:spPr>
          <a:xfrm>
            <a:off x="8686800" y="1371600"/>
            <a:ext cx="3200400" cy="457200"/>
          </a:xfrm>
          <a:prstGeom prst="rect">
            <a:avLst/>
          </a:prstGeom>
          <a:noFill/>
        </p:spPr>
        <p:txBody>
          <a:bodyPr wrap="square"/>
          <a:lstStyle/>
          <a:p>
            <a:pPr algn="r"/>
            <a:r>
              <a:rPr sz="1100" b="1" i="0">
                <a:solidFill>
                  <a:srgbClr val="01A296"/>
                </a:solidFill>
                <a:latin typeface="Arial"/>
              </a:rPr>
              <a:t>MELBOURNE</a:t>
            </a:r>
          </a:p>
        </p:txBody>
      </p:sp>
      <p:sp>
        <p:nvSpPr>
          <p:cNvPr id="11" name="TextBox 10"/>
          <p:cNvSpPr txBox="1"/>
          <p:nvPr/>
        </p:nvSpPr>
        <p:spPr>
          <a:xfrm>
            <a:off x="8686800" y="1828800"/>
            <a:ext cx="3200400" cy="731520"/>
          </a:xfrm>
          <a:prstGeom prst="rect">
            <a:avLst/>
          </a:prstGeom>
          <a:noFill/>
        </p:spPr>
        <p:txBody>
          <a:bodyPr wrap="square"/>
          <a:lstStyle/>
          <a:p>
            <a:pPr algn="r"/>
            <a:r>
              <a:rPr sz="4800" b="1" i="0">
                <a:solidFill>
                  <a:srgbClr val="222222"/>
                </a:solidFill>
                <a:latin typeface="Arial"/>
              </a:rPr>
              <a:t>2016</a:t>
            </a:r>
          </a:p>
        </p:txBody>
      </p:sp>
      <p:sp>
        <p:nvSpPr>
          <p:cNvPr id="12" name="TextBox 11"/>
          <p:cNvSpPr txBox="1"/>
          <p:nvPr/>
        </p:nvSpPr>
        <p:spPr>
          <a:xfrm>
            <a:off x="8686800" y="2560320"/>
            <a:ext cx="3200400" cy="365760"/>
          </a:xfrm>
          <a:prstGeom prst="rect">
            <a:avLst/>
          </a:prstGeom>
          <a:noFill/>
        </p:spPr>
        <p:txBody>
          <a:bodyPr wrap="square"/>
          <a:lstStyle/>
          <a:p>
            <a:pPr algn="r"/>
            <a:r>
              <a:rPr sz="1100" b="0" i="0">
                <a:solidFill>
                  <a:srgbClr val="444444"/>
                </a:solidFill>
                <a:latin typeface="Arial"/>
              </a:rPr>
              <a:t>Founded</a:t>
            </a:r>
          </a:p>
        </p:txBody>
      </p:sp>
      <p:sp>
        <p:nvSpPr>
          <p:cNvPr id="13" name="TextBox 12"/>
          <p:cNvSpPr txBox="1"/>
          <p:nvPr/>
        </p:nvSpPr>
        <p:spPr>
          <a:xfrm>
            <a:off x="9144000" y="6309360"/>
            <a:ext cx="2743200" cy="365760"/>
          </a:xfrm>
          <a:prstGeom prst="rect">
            <a:avLst/>
          </a:prstGeom>
          <a:noFill/>
        </p:spPr>
        <p:txBody>
          <a:bodyPr wrap="square"/>
          <a:lstStyle/>
          <a:p>
            <a:pPr algn="r"/>
            <a:r>
              <a:rPr sz="1200" b="0" i="0">
                <a:solidFill>
                  <a:srgbClr val="444444"/>
                </a:solidFill>
                <a:latin typeface="Arial"/>
              </a:rPr>
              <a:t>09 Jun 2026</a:t>
            </a:r>
          </a:p>
        </p:txBody>
      </p:sp>
      <p:sp>
        <p:nvSpPr>
          <p:cNvPr id="14" name="TextBox 13"/>
          <p:cNvSpPr txBox="1"/>
          <p:nvPr/>
        </p:nvSpPr>
        <p:spPr>
          <a:xfrm>
            <a:off x="228600" y="6309360"/>
            <a:ext cx="3657600" cy="365760"/>
          </a:xfrm>
          <a:prstGeom prst="rect">
            <a:avLst/>
          </a:prstGeom>
          <a:noFill/>
        </p:spPr>
        <p:txBody>
          <a:bodyPr wrap="square"/>
          <a:lstStyle/>
          <a:p>
            <a:pPr algn="l"/>
            <a:r>
              <a:rPr sz="1200" b="0" i="0">
                <a:solidFill>
                  <a:srgbClr val="444444"/>
                </a:solidFill>
                <a:latin typeface="Arial"/>
              </a:rPr>
              <a:t>Profit-Pulse.com.au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1081195719200" cy="8686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37160"/>
            <a:ext cx="6400800" cy="548640"/>
          </a:xfrm>
          <a:prstGeom prst="rect">
            <a:avLst/>
          </a:prstGeom>
          <a:noFill/>
        </p:spPr>
        <p:txBody>
          <a:bodyPr wrap="square"/>
          <a:lstStyle/>
          <a:p>
            <a:pPr algn="l"/>
            <a:r>
              <a:rPr sz="1300" b="1" i="0">
                <a:solidFill>
                  <a:srgbClr val="F8C806"/>
                </a:solidFill>
                <a:latin typeface="Arial"/>
              </a:rPr>
              <a:t>THE INSIGHT</a:t>
            </a:r>
          </a:p>
        </p:txBody>
      </p:sp>
      <p:sp>
        <p:nvSpPr>
          <p:cNvPr id="5" name="TextBox 4"/>
          <p:cNvSpPr txBox="1"/>
          <p:nvPr/>
        </p:nvSpPr>
        <p:spPr>
          <a:xfrm>
            <a:off x="8229600" y="137160"/>
            <a:ext cx="3657600" cy="548640"/>
          </a:xfrm>
          <a:prstGeom prst="rect">
            <a:avLst/>
          </a:prstGeom>
          <a:noFill/>
        </p:spPr>
        <p:txBody>
          <a:bodyPr wrap="square"/>
          <a:lstStyle/>
          <a:p>
            <a:pPr algn="r"/>
            <a:r>
              <a:rPr sz="1300" b="1" i="0">
                <a:solidFill>
                  <a:srgbClr val="01A296"/>
                </a:solidFill>
                <a:latin typeface="Arial"/>
              </a:rPr>
              <a:t>AdUnion</a:t>
            </a:r>
          </a:p>
        </p:txBody>
      </p:sp>
      <p:sp>
        <p:nvSpPr>
          <p:cNvPr id="6" name="TextBox 5"/>
          <p:cNvSpPr txBox="1"/>
          <p:nvPr/>
        </p:nvSpPr>
        <p:spPr>
          <a:xfrm>
            <a:off x="228600" y="960120"/>
            <a:ext cx="4114800" cy="320040"/>
          </a:xfrm>
          <a:prstGeom prst="rect">
            <a:avLst/>
          </a:prstGeom>
          <a:noFill/>
        </p:spPr>
        <p:txBody>
          <a:bodyPr wrap="square"/>
          <a:lstStyle/>
          <a:p>
            <a:pPr algn="l"/>
            <a:r>
              <a:rPr sz="1100" b="1" i="0">
                <a:solidFill>
                  <a:srgbClr val="01A296"/>
                </a:solidFill>
                <a:latin typeface="Arial"/>
              </a:rPr>
              <a:t>Verified facts</a:t>
            </a:r>
          </a:p>
        </p:txBody>
      </p:sp>
      <p:sp>
        <p:nvSpPr>
          <p:cNvPr id="7" name="TextBox 6"/>
          <p:cNvSpPr txBox="1"/>
          <p:nvPr/>
        </p:nvSpPr>
        <p:spPr>
          <a:xfrm>
            <a:off x="228600" y="1325880"/>
            <a:ext cx="1920240" cy="347472"/>
          </a:xfrm>
          <a:prstGeom prst="rect">
            <a:avLst/>
          </a:prstGeom>
          <a:noFill/>
        </p:spPr>
        <p:txBody>
          <a:bodyPr wrap="square"/>
          <a:lstStyle/>
          <a:p>
            <a:pPr algn="l"/>
            <a:r>
              <a:rPr sz="1100" b="0" i="0">
                <a:solidFill>
                  <a:srgbClr val="888888"/>
                </a:solidFill>
                <a:latin typeface="Arial"/>
              </a:rPr>
              <a:t>Revenue (FY2024)</a:t>
            </a:r>
          </a:p>
        </p:txBody>
      </p:sp>
      <p:sp>
        <p:nvSpPr>
          <p:cNvPr id="8" name="TextBox 7"/>
          <p:cNvSpPr txBox="1"/>
          <p:nvPr/>
        </p:nvSpPr>
        <p:spPr>
          <a:xfrm>
            <a:off x="2240280" y="1325880"/>
            <a:ext cx="2103120" cy="347472"/>
          </a:xfrm>
          <a:prstGeom prst="rect">
            <a:avLst/>
          </a:prstGeom>
          <a:noFill/>
        </p:spPr>
        <p:txBody>
          <a:bodyPr wrap="square"/>
          <a:lstStyle/>
          <a:p>
            <a:pPr algn="l"/>
            <a:r>
              <a:rPr sz="1100" b="1" i="0">
                <a:solidFill>
                  <a:srgbClr val="E6E5DE"/>
                </a:solidFill>
                <a:latin typeface="Arial"/>
              </a:rPr>
              <a:t>$9.3 million</a:t>
            </a:r>
          </a:p>
        </p:txBody>
      </p:sp>
      <p:sp>
        <p:nvSpPr>
          <p:cNvPr id="9" name="TextBox 8"/>
          <p:cNvSpPr txBox="1"/>
          <p:nvPr/>
        </p:nvSpPr>
        <p:spPr>
          <a:xfrm>
            <a:off x="228600" y="1673352"/>
            <a:ext cx="1920240" cy="347472"/>
          </a:xfrm>
          <a:prstGeom prst="rect">
            <a:avLst/>
          </a:prstGeom>
          <a:noFill/>
        </p:spPr>
        <p:txBody>
          <a:bodyPr wrap="square"/>
          <a:lstStyle/>
          <a:p>
            <a:pPr algn="l"/>
            <a:r>
              <a:rPr sz="1100" b="0" i="0">
                <a:solidFill>
                  <a:srgbClr val="888888"/>
                </a:solidFill>
                <a:latin typeface="Arial"/>
              </a:rPr>
              <a:t>3 year growth</a:t>
            </a:r>
          </a:p>
        </p:txBody>
      </p:sp>
      <p:sp>
        <p:nvSpPr>
          <p:cNvPr id="10" name="TextBox 9"/>
          <p:cNvSpPr txBox="1"/>
          <p:nvPr/>
        </p:nvSpPr>
        <p:spPr>
          <a:xfrm>
            <a:off x="2240280" y="1673352"/>
            <a:ext cx="2103120" cy="347472"/>
          </a:xfrm>
          <a:prstGeom prst="rect">
            <a:avLst/>
          </a:prstGeom>
          <a:noFill/>
        </p:spPr>
        <p:txBody>
          <a:bodyPr wrap="square"/>
          <a:lstStyle/>
          <a:p>
            <a:pPr algn="l"/>
            <a:r>
              <a:rPr sz="1100" b="1" i="0">
                <a:solidFill>
                  <a:srgbClr val="E6E5DE"/>
                </a:solidFill>
                <a:latin typeface="Arial"/>
              </a:rPr>
              <a:t>81% average</a:t>
            </a:r>
          </a:p>
        </p:txBody>
      </p:sp>
      <p:sp>
        <p:nvSpPr>
          <p:cNvPr id="11" name="TextBox 10"/>
          <p:cNvSpPr txBox="1"/>
          <p:nvPr/>
        </p:nvSpPr>
        <p:spPr>
          <a:xfrm>
            <a:off x="228600" y="2020824"/>
            <a:ext cx="1920240" cy="347472"/>
          </a:xfrm>
          <a:prstGeom prst="rect">
            <a:avLst/>
          </a:prstGeom>
          <a:noFill/>
        </p:spPr>
        <p:txBody>
          <a:bodyPr wrap="square"/>
          <a:lstStyle/>
          <a:p>
            <a:pPr algn="l"/>
            <a:r>
              <a:rPr sz="1100" b="0" i="0">
                <a:solidFill>
                  <a:srgbClr val="888888"/>
                </a:solidFill>
                <a:latin typeface="Arial"/>
              </a:rPr>
              <a:t>Revenue since 2023</a:t>
            </a:r>
          </a:p>
        </p:txBody>
      </p:sp>
      <p:sp>
        <p:nvSpPr>
          <p:cNvPr id="12" name="TextBox 11"/>
          <p:cNvSpPr txBox="1"/>
          <p:nvPr/>
        </p:nvSpPr>
        <p:spPr>
          <a:xfrm>
            <a:off x="2240280" y="2020824"/>
            <a:ext cx="2103120" cy="347472"/>
          </a:xfrm>
          <a:prstGeom prst="rect">
            <a:avLst/>
          </a:prstGeom>
          <a:noFill/>
        </p:spPr>
        <p:txBody>
          <a:bodyPr wrap="square"/>
          <a:lstStyle/>
          <a:p>
            <a:pPr algn="l"/>
            <a:r>
              <a:rPr sz="1100" b="1" i="0">
                <a:solidFill>
                  <a:srgbClr val="E6E5DE"/>
                </a:solidFill>
                <a:latin typeface="Arial"/>
              </a:rPr>
              <a:t>Tripled</a:t>
            </a:r>
          </a:p>
        </p:txBody>
      </p:sp>
      <p:sp>
        <p:nvSpPr>
          <p:cNvPr id="13" name="TextBox 12"/>
          <p:cNvSpPr txBox="1"/>
          <p:nvPr/>
        </p:nvSpPr>
        <p:spPr>
          <a:xfrm>
            <a:off x="228600" y="2368296"/>
            <a:ext cx="1920240" cy="347472"/>
          </a:xfrm>
          <a:prstGeom prst="rect">
            <a:avLst/>
          </a:prstGeom>
          <a:noFill/>
        </p:spPr>
        <p:txBody>
          <a:bodyPr wrap="square"/>
          <a:lstStyle/>
          <a:p>
            <a:pPr algn="l"/>
            <a:r>
              <a:rPr sz="1100" b="0" i="0">
                <a:solidFill>
                  <a:srgbClr val="888888"/>
                </a:solidFill>
                <a:latin typeface="Arial"/>
              </a:rPr>
              <a:t>Team size</a:t>
            </a:r>
          </a:p>
        </p:txBody>
      </p:sp>
      <p:sp>
        <p:nvSpPr>
          <p:cNvPr id="14" name="TextBox 13"/>
          <p:cNvSpPr txBox="1"/>
          <p:nvPr/>
        </p:nvSpPr>
        <p:spPr>
          <a:xfrm>
            <a:off x="2240280" y="2368296"/>
            <a:ext cx="2103120" cy="347472"/>
          </a:xfrm>
          <a:prstGeom prst="rect">
            <a:avLst/>
          </a:prstGeom>
          <a:noFill/>
        </p:spPr>
        <p:txBody>
          <a:bodyPr wrap="square"/>
          <a:lstStyle/>
          <a:p>
            <a:pPr algn="l"/>
            <a:r>
              <a:rPr sz="1100" b="1" i="0">
                <a:solidFill>
                  <a:srgbClr val="E6E5DE"/>
                </a:solidFill>
                <a:latin typeface="Arial"/>
              </a:rPr>
              <a:t>10 people</a:t>
            </a:r>
          </a:p>
        </p:txBody>
      </p:sp>
      <p:sp>
        <p:nvSpPr>
          <p:cNvPr id="15" name="TextBox 14"/>
          <p:cNvSpPr txBox="1"/>
          <p:nvPr/>
        </p:nvSpPr>
        <p:spPr>
          <a:xfrm>
            <a:off x="228600" y="2715768"/>
            <a:ext cx="1920240" cy="347472"/>
          </a:xfrm>
          <a:prstGeom prst="rect">
            <a:avLst/>
          </a:prstGeom>
          <a:noFill/>
        </p:spPr>
        <p:txBody>
          <a:bodyPr wrap="square"/>
          <a:lstStyle/>
          <a:p>
            <a:pPr algn="l"/>
            <a:r>
              <a:rPr sz="1100" b="0" i="0">
                <a:solidFill>
                  <a:srgbClr val="888888"/>
                </a:solidFill>
                <a:latin typeface="Arial"/>
              </a:rPr>
              <a:t>Smart50 2025</a:t>
            </a:r>
          </a:p>
        </p:txBody>
      </p:sp>
      <p:sp>
        <p:nvSpPr>
          <p:cNvPr id="16" name="TextBox 15"/>
          <p:cNvSpPr txBox="1"/>
          <p:nvPr/>
        </p:nvSpPr>
        <p:spPr>
          <a:xfrm>
            <a:off x="2240280" y="2715768"/>
            <a:ext cx="2103120" cy="347472"/>
          </a:xfrm>
          <a:prstGeom prst="rect">
            <a:avLst/>
          </a:prstGeom>
          <a:noFill/>
        </p:spPr>
        <p:txBody>
          <a:bodyPr wrap="square"/>
          <a:lstStyle/>
          <a:p>
            <a:pPr algn="l"/>
            <a:r>
              <a:rPr sz="1100" b="1" i="0">
                <a:solidFill>
                  <a:srgbClr val="E6E5DE"/>
                </a:solidFill>
                <a:latin typeface="Arial"/>
              </a:rPr>
              <a:t>Rank 8 of 50</a:t>
            </a:r>
          </a:p>
        </p:txBody>
      </p:sp>
      <p:sp>
        <p:nvSpPr>
          <p:cNvPr id="17" name="TextBox 16"/>
          <p:cNvSpPr txBox="1"/>
          <p:nvPr/>
        </p:nvSpPr>
        <p:spPr>
          <a:xfrm>
            <a:off x="228600" y="3063240"/>
            <a:ext cx="1920240" cy="347472"/>
          </a:xfrm>
          <a:prstGeom prst="rect">
            <a:avLst/>
          </a:prstGeom>
          <a:noFill/>
        </p:spPr>
        <p:txBody>
          <a:bodyPr wrap="square"/>
          <a:lstStyle/>
          <a:p>
            <a:pPr algn="l"/>
            <a:r>
              <a:rPr sz="1100" b="0" i="0">
                <a:solidFill>
                  <a:srgbClr val="888888"/>
                </a:solidFill>
                <a:latin typeface="Arial"/>
              </a:rPr>
              <a:t>AFR Fast 100 2025</a:t>
            </a:r>
          </a:p>
        </p:txBody>
      </p:sp>
      <p:sp>
        <p:nvSpPr>
          <p:cNvPr id="18" name="TextBox 17"/>
          <p:cNvSpPr txBox="1"/>
          <p:nvPr/>
        </p:nvSpPr>
        <p:spPr>
          <a:xfrm>
            <a:off x="2240280" y="3063240"/>
            <a:ext cx="2103120" cy="347472"/>
          </a:xfrm>
          <a:prstGeom prst="rect">
            <a:avLst/>
          </a:prstGeom>
          <a:noFill/>
        </p:spPr>
        <p:txBody>
          <a:bodyPr wrap="square"/>
          <a:lstStyle/>
          <a:p>
            <a:pPr algn="l"/>
            <a:r>
              <a:rPr sz="1100" b="1" i="0">
                <a:solidFill>
                  <a:srgbClr val="E6E5DE"/>
                </a:solidFill>
                <a:latin typeface="Arial"/>
              </a:rPr>
              <a:t>Rank 26</a:t>
            </a:r>
          </a:p>
        </p:txBody>
      </p:sp>
      <p:sp>
        <p:nvSpPr>
          <p:cNvPr id="19" name="TextBox 18"/>
          <p:cNvSpPr txBox="1"/>
          <p:nvPr/>
        </p:nvSpPr>
        <p:spPr>
          <a:xfrm>
            <a:off x="228600" y="3410712"/>
            <a:ext cx="1920240" cy="347472"/>
          </a:xfrm>
          <a:prstGeom prst="rect">
            <a:avLst/>
          </a:prstGeom>
          <a:noFill/>
        </p:spPr>
        <p:txBody>
          <a:bodyPr wrap="square"/>
          <a:lstStyle/>
          <a:p>
            <a:pPr algn="l"/>
            <a:r>
              <a:rPr sz="1100" b="0" i="0">
                <a:solidFill>
                  <a:srgbClr val="888888"/>
                </a:solidFill>
                <a:latin typeface="Arial"/>
              </a:rPr>
              <a:t>Deloitte Tech Fast 50</a:t>
            </a:r>
          </a:p>
        </p:txBody>
      </p:sp>
      <p:sp>
        <p:nvSpPr>
          <p:cNvPr id="20" name="TextBox 19"/>
          <p:cNvSpPr txBox="1"/>
          <p:nvPr/>
        </p:nvSpPr>
        <p:spPr>
          <a:xfrm>
            <a:off x="2240280" y="3410712"/>
            <a:ext cx="2103120" cy="347472"/>
          </a:xfrm>
          <a:prstGeom prst="rect">
            <a:avLst/>
          </a:prstGeom>
          <a:noFill/>
        </p:spPr>
        <p:txBody>
          <a:bodyPr wrap="square"/>
          <a:lstStyle/>
          <a:p>
            <a:pPr algn="l"/>
            <a:r>
              <a:rPr sz="1100" b="1" i="0">
                <a:solidFill>
                  <a:srgbClr val="E6E5DE"/>
                </a:solidFill>
                <a:latin typeface="Arial"/>
              </a:rPr>
              <a:t>Rank 31</a:t>
            </a:r>
          </a:p>
        </p:txBody>
      </p:sp>
      <p:sp>
        <p:nvSpPr>
          <p:cNvPr id="21" name="TextBox 20"/>
          <p:cNvSpPr txBox="1"/>
          <p:nvPr/>
        </p:nvSpPr>
        <p:spPr>
          <a:xfrm>
            <a:off x="228600" y="3758184"/>
            <a:ext cx="1920240" cy="347472"/>
          </a:xfrm>
          <a:prstGeom prst="rect">
            <a:avLst/>
          </a:prstGeom>
          <a:noFill/>
        </p:spPr>
        <p:txBody>
          <a:bodyPr wrap="square"/>
          <a:lstStyle/>
          <a:p>
            <a:pPr algn="l"/>
            <a:r>
              <a:rPr sz="1100" b="0" i="0">
                <a:solidFill>
                  <a:srgbClr val="888888"/>
                </a:solidFill>
                <a:latin typeface="Arial"/>
              </a:rPr>
              <a:t>Founded</a:t>
            </a:r>
          </a:p>
        </p:txBody>
      </p:sp>
      <p:sp>
        <p:nvSpPr>
          <p:cNvPr id="22" name="TextBox 21"/>
          <p:cNvSpPr txBox="1"/>
          <p:nvPr/>
        </p:nvSpPr>
        <p:spPr>
          <a:xfrm>
            <a:off x="2240280" y="3758184"/>
            <a:ext cx="2103120" cy="347472"/>
          </a:xfrm>
          <a:prstGeom prst="rect">
            <a:avLst/>
          </a:prstGeom>
          <a:noFill/>
        </p:spPr>
        <p:txBody>
          <a:bodyPr wrap="square"/>
          <a:lstStyle/>
          <a:p>
            <a:pPr algn="l"/>
            <a:r>
              <a:rPr sz="1100" b="1" i="0">
                <a:solidFill>
                  <a:srgbClr val="E6E5DE"/>
                </a:solidFill>
                <a:latin typeface="Arial"/>
              </a:rPr>
              <a:t>2016</a:t>
            </a:r>
          </a:p>
        </p:txBody>
      </p:sp>
      <p:sp>
        <p:nvSpPr>
          <p:cNvPr id="23" name="TextBox 22"/>
          <p:cNvSpPr txBox="1"/>
          <p:nvPr/>
        </p:nvSpPr>
        <p:spPr>
          <a:xfrm>
            <a:off x="228600" y="4105656"/>
            <a:ext cx="1920240" cy="347472"/>
          </a:xfrm>
          <a:prstGeom prst="rect">
            <a:avLst/>
          </a:prstGeom>
          <a:noFill/>
        </p:spPr>
        <p:txBody>
          <a:bodyPr wrap="square"/>
          <a:lstStyle/>
          <a:p>
            <a:pPr algn="l"/>
            <a:r>
              <a:rPr sz="1100" b="0" i="0">
                <a:solidFill>
                  <a:srgbClr val="888888"/>
                </a:solidFill>
                <a:latin typeface="Arial"/>
              </a:rPr>
              <a:t>Location</a:t>
            </a:r>
          </a:p>
        </p:txBody>
      </p:sp>
      <p:sp>
        <p:nvSpPr>
          <p:cNvPr id="24" name="TextBox 23"/>
          <p:cNvSpPr txBox="1"/>
          <p:nvPr/>
        </p:nvSpPr>
        <p:spPr>
          <a:xfrm>
            <a:off x="2240280" y="4105656"/>
            <a:ext cx="2103120" cy="347472"/>
          </a:xfrm>
          <a:prstGeom prst="rect">
            <a:avLst/>
          </a:prstGeom>
          <a:noFill/>
        </p:spPr>
        <p:txBody>
          <a:bodyPr wrap="square"/>
          <a:lstStyle/>
          <a:p>
            <a:pPr algn="l"/>
            <a:r>
              <a:rPr sz="1100" b="1" i="0">
                <a:solidFill>
                  <a:srgbClr val="E6E5DE"/>
                </a:solidFill>
                <a:latin typeface="Arial"/>
              </a:rPr>
              <a:t>Cremorne, Melbourne VIC</a:t>
            </a:r>
          </a:p>
        </p:txBody>
      </p:sp>
      <p:sp>
        <p:nvSpPr>
          <p:cNvPr id="25" name="TextBox 24"/>
          <p:cNvSpPr txBox="1"/>
          <p:nvPr/>
        </p:nvSpPr>
        <p:spPr>
          <a:xfrm>
            <a:off x="228600" y="4453128"/>
            <a:ext cx="1920240" cy="347472"/>
          </a:xfrm>
          <a:prstGeom prst="rect">
            <a:avLst/>
          </a:prstGeom>
          <a:noFill/>
        </p:spPr>
        <p:txBody>
          <a:bodyPr wrap="square"/>
          <a:lstStyle/>
          <a:p>
            <a:pPr algn="l"/>
            <a:r>
              <a:rPr sz="1100" b="0" i="0">
                <a:solidFill>
                  <a:srgbClr val="888888"/>
                </a:solidFill>
                <a:latin typeface="Arial"/>
              </a:rPr>
              <a:t>Managing Director</a:t>
            </a:r>
          </a:p>
        </p:txBody>
      </p:sp>
      <p:sp>
        <p:nvSpPr>
          <p:cNvPr id="26" name="TextBox 25"/>
          <p:cNvSpPr txBox="1"/>
          <p:nvPr/>
        </p:nvSpPr>
        <p:spPr>
          <a:xfrm>
            <a:off x="2240280" y="4453128"/>
            <a:ext cx="2103120" cy="347472"/>
          </a:xfrm>
          <a:prstGeom prst="rect">
            <a:avLst/>
          </a:prstGeom>
          <a:noFill/>
        </p:spPr>
        <p:txBody>
          <a:bodyPr wrap="square"/>
          <a:lstStyle/>
          <a:p>
            <a:pPr algn="l"/>
            <a:r>
              <a:rPr sz="1100" b="1" i="0">
                <a:solidFill>
                  <a:srgbClr val="E6E5DE"/>
                </a:solidFill>
                <a:latin typeface="Arial"/>
              </a:rPr>
              <a:t>Robert Ong</a:t>
            </a:r>
          </a:p>
        </p:txBody>
      </p:sp>
      <p:sp>
        <p:nvSpPr>
          <p:cNvPr id="27" name="TextBox 26"/>
          <p:cNvSpPr txBox="1"/>
          <p:nvPr/>
        </p:nvSpPr>
        <p:spPr>
          <a:xfrm>
            <a:off x="228600" y="4956048"/>
            <a:ext cx="4114800" cy="457200"/>
          </a:xfrm>
          <a:prstGeom prst="rect">
            <a:avLst/>
          </a:prstGeom>
          <a:noFill/>
        </p:spPr>
        <p:txBody>
          <a:bodyPr wrap="square"/>
          <a:lstStyle/>
          <a:p>
            <a:pPr algn="l"/>
            <a:r>
              <a:rPr sz="900" b="0" i="1">
                <a:solidFill>
                  <a:srgbClr val="555555"/>
                </a:solidFill>
                <a:latin typeface="Arial"/>
              </a:rPr>
              <a:t>Source: SmartCompany Smart50 2025 award citation and public industry publications</a:t>
            </a:r>
          </a:p>
        </p:txBody>
      </p:sp>
      <p:sp>
        <p:nvSpPr>
          <p:cNvPr id="28" name="Rectangle 27"/>
          <p:cNvSpPr/>
          <p:nvPr/>
        </p:nvSpPr>
        <p:spPr>
          <a:xfrm>
            <a:off x="4480560" y="914400"/>
            <a:ext cx="19050" cy="521208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3440" y="960120"/>
            <a:ext cx="7223760" cy="320040"/>
          </a:xfrm>
          <a:prstGeom prst="rect">
            <a:avLst/>
          </a:prstGeom>
          <a:noFill/>
        </p:spPr>
        <p:txBody>
          <a:bodyPr wrap="square"/>
          <a:lstStyle/>
          <a:p>
            <a:pPr algn="l"/>
            <a:r>
              <a:rPr sz="1100" b="1" i="0">
                <a:solidFill>
                  <a:srgbClr val="01A296"/>
                </a:solidFill>
                <a:latin typeface="Arial"/>
              </a:rPr>
              <a:t>The commercial observation</a:t>
            </a:r>
          </a:p>
        </p:txBody>
      </p:sp>
      <p:sp>
        <p:nvSpPr>
          <p:cNvPr id="30" name="TextBox 29"/>
          <p:cNvSpPr txBox="1"/>
          <p:nvPr/>
        </p:nvSpPr>
        <p:spPr>
          <a:xfrm>
            <a:off x="4663440" y="1325880"/>
            <a:ext cx="7223760" cy="3931920"/>
          </a:xfrm>
          <a:prstGeom prst="rect">
            <a:avLst/>
          </a:prstGeom>
          <a:noFill/>
        </p:spPr>
        <p:txBody>
          <a:bodyPr wrap="square"/>
          <a:lstStyle/>
          <a:p>
            <a:pPr algn="l"/>
            <a:r>
              <a:rPr sz="1300" b="0" i="0">
                <a:solidFill>
                  <a:srgbClr val="E6E5DE"/>
                </a:solidFill>
                <a:latin typeface="Arial"/>
              </a:rPr>
              <a:t>AdUnion has compounded at 81 percent over three years and now manages streaming campaigns for Samsung, Tubi, Tangerine Telecom, and a growing roster across retail, travel, and financial services. With ten people generating $9.3 million in revenue, productivity is exceptional.
The question that follows rapid, diversified growth is: which clients drive the real margin after the full cost of service, team time, and platform investment are allocated? In most agencies at this stage, the answer is uneven. The clients that look largest by revenue are not always the ones that yield the most to the business.
The Customer Concentration and Profitability Map answers that question in three weeks: every client ranked by revenue, gross margin contribution, and effort to serve. The output is a clear action list: grow these, reprice these, reset these.</a:t>
            </a:r>
          </a:p>
        </p:txBody>
      </p:sp>
      <p:sp>
        <p:nvSpPr>
          <p:cNvPr id="31" name="Rectangle 30"/>
          <p:cNvSpPr/>
          <p:nvPr/>
        </p:nvSpPr>
        <p:spPr>
          <a:xfrm>
            <a:off x="73152" y="5760720"/>
            <a:ext cx="12118543" cy="822960"/>
          </a:xfrm>
          <a:prstGeom prst="rect">
            <a:avLst/>
          </a:prstGeom>
          <a:solidFill>
            <a:srgbClr val="041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152" y="5760720"/>
            <a:ext cx="365760" cy="82296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5806440"/>
            <a:ext cx="11247120" cy="777240"/>
          </a:xfrm>
          <a:prstGeom prst="rect">
            <a:avLst/>
          </a:prstGeom>
          <a:noFill/>
        </p:spPr>
        <p:txBody>
          <a:bodyPr wrap="square">
            <a:spAutoFit/>
          </a:bodyPr>
          <a:lstStyle/>
          <a:p>
            <a:pPr algn="l"/>
            <a:r>
              <a:rPr sz="1400" b="1" i="0">
                <a:solidFill>
                  <a:srgbClr val="F8C806"/>
                </a:solidFill>
                <a:latin typeface="Arial"/>
              </a:rPr>
              <a:t>Matched Service: Customer Concentration and Profitability Map  (G2)</a:t>
            </a:r>
          </a:p>
          <a:p>
            <a:pPr algn="l"/>
            <a:r>
              <a:rPr sz="1100" b="0" i="0">
                <a:solidFill>
                  <a:srgbClr val="E6E5DE"/>
                </a:solidFill>
                <a:latin typeface="Arial"/>
              </a:rPr>
              <a:t>Command tier  •  $3,950 one off  •  ProfitPulse verified price  •  Questionnaire confirms exact fit</a:t>
            </a:r>
          </a:p>
        </p:txBody>
      </p:sp>
      <p:sp>
        <p:nvSpPr>
          <p:cNvPr id="34" name="TextBox 33"/>
          <p:cNvSpPr txBox="1"/>
          <p:nvPr/>
        </p:nvSpPr>
        <p:spPr>
          <a:xfrm>
            <a:off x="228600" y="6537960"/>
            <a:ext cx="3657600" cy="274320"/>
          </a:xfrm>
          <a:prstGeom prst="rect">
            <a:avLst/>
          </a:prstGeom>
          <a:noFill/>
        </p:spPr>
        <p:txBody>
          <a:bodyPr wrap="square"/>
          <a:lstStyle/>
          <a:p>
            <a:pPr algn="l"/>
            <a:r>
              <a:rPr sz="1000" b="0" i="0">
                <a:solidFill>
                  <a:srgbClr val="444444"/>
                </a:solidFill>
                <a:latin typeface="Arial"/>
              </a:rPr>
              <a:t>Profit-Pulse.com.au</a:t>
            </a:r>
          </a:p>
        </p:txBody>
      </p:sp>
      <p:sp>
        <p:nvSpPr>
          <p:cNvPr id="35" name="TextBox 34"/>
          <p:cNvSpPr txBox="1"/>
          <p:nvPr/>
        </p:nvSpPr>
        <p:spPr>
          <a:xfrm>
            <a:off x="9144000" y="6537960"/>
            <a:ext cx="2743200" cy="274320"/>
          </a:xfrm>
          <a:prstGeom prst="rect">
            <a:avLst/>
          </a:prstGeom>
          <a:noFill/>
        </p:spPr>
        <p:txBody>
          <a:bodyPr wrap="square"/>
          <a:lstStyle/>
          <a:p>
            <a:pPr algn="r"/>
            <a:r>
              <a:rPr sz="1000" b="0" i="0">
                <a:solidFill>
                  <a:srgbClr val="444444"/>
                </a:solidFill>
                <a:latin typeface="Arial"/>
              </a:rPr>
              <a:t>09 Jun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8686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37160"/>
            <a:ext cx="8229600" cy="548640"/>
          </a:xfrm>
          <a:prstGeom prst="rect">
            <a:avLst/>
          </a:prstGeom>
          <a:noFill/>
        </p:spPr>
        <p:txBody>
          <a:bodyPr wrap="square"/>
          <a:lstStyle/>
          <a:p>
            <a:pPr algn="l"/>
            <a:r>
              <a:rPr sz="1300" b="1" i="0">
                <a:solidFill>
                  <a:srgbClr val="F8C806"/>
                </a:solidFill>
                <a:latin typeface="Arial"/>
              </a:rPr>
              <a:t>FIND THE RIGHT FIX FOR YOUR BUSINESS</a:t>
            </a:r>
          </a:p>
        </p:txBody>
      </p:sp>
      <p:sp>
        <p:nvSpPr>
          <p:cNvPr id="5" name="TextBox 4"/>
          <p:cNvSpPr txBox="1"/>
          <p:nvPr/>
        </p:nvSpPr>
        <p:spPr>
          <a:xfrm>
            <a:off x="8686800" y="137160"/>
            <a:ext cx="3200400" cy="548640"/>
          </a:xfrm>
          <a:prstGeom prst="rect">
            <a:avLst/>
          </a:prstGeom>
          <a:noFill/>
        </p:spPr>
        <p:txBody>
          <a:bodyPr wrap="square"/>
          <a:lstStyle/>
          <a:p>
            <a:pPr algn="r"/>
            <a:r>
              <a:rPr sz="1300" b="1" i="0">
                <a:solidFill>
                  <a:srgbClr val="01A296"/>
                </a:solidFill>
                <a:latin typeface="Arial"/>
              </a:rPr>
              <a:t>AdUnion</a:t>
            </a:r>
          </a:p>
        </p:txBody>
      </p:sp>
      <p:sp>
        <p:nvSpPr>
          <p:cNvPr id="6" name="Rectangle 5"/>
          <p:cNvSpPr/>
          <p:nvPr/>
        </p:nvSpPr>
        <p:spPr>
          <a:xfrm>
            <a:off x="228600" y="1005840"/>
            <a:ext cx="7223760" cy="2194560"/>
          </a:xfrm>
          <a:prstGeom prst="rect">
            <a:avLst/>
          </a:prstGeom>
          <a:solidFill>
            <a:srgbClr val="041A18"/>
          </a:solidFill>
          <a:ln w="12700">
            <a:solidFill>
              <a:srgbClr val="01A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078992"/>
            <a:ext cx="6858000" cy="365760"/>
          </a:xfrm>
          <a:prstGeom prst="rect">
            <a:avLst/>
          </a:prstGeom>
          <a:noFill/>
        </p:spPr>
        <p:txBody>
          <a:bodyPr wrap="square"/>
          <a:lstStyle/>
          <a:p>
            <a:pPr algn="l"/>
            <a:r>
              <a:rPr sz="1400" b="1" i="0">
                <a:solidFill>
                  <a:srgbClr val="F8C806"/>
                </a:solidFill>
                <a:latin typeface="Arial"/>
              </a:rPr>
              <a:t>Step 1: Answer a few quick questions</a:t>
            </a:r>
          </a:p>
        </p:txBody>
      </p:sp>
      <p:sp>
        <p:nvSpPr>
          <p:cNvPr id="8" name="TextBox 7"/>
          <p:cNvSpPr txBox="1"/>
          <p:nvPr/>
        </p:nvSpPr>
        <p:spPr>
          <a:xfrm>
            <a:off x="411480" y="1463040"/>
            <a:ext cx="6858000" cy="411480"/>
          </a:xfrm>
          <a:prstGeom prst="rect">
            <a:avLst/>
          </a:prstGeom>
          <a:noFill/>
        </p:spPr>
        <p:txBody>
          <a:bodyPr wrap="square"/>
          <a:lstStyle/>
          <a:p>
            <a:pPr algn="l"/>
            <a:r>
              <a:rPr sz="1200" b="0" i="0">
                <a:solidFill>
                  <a:srgbClr val="E6E5DE"/>
                </a:solidFill>
                <a:latin typeface="Arial"/>
              </a:rPr>
              <a:t>See the solutions matched to your size and industry, each with a direct purchase option.</a:t>
            </a:r>
          </a:p>
        </p:txBody>
      </p:sp>
      <p:sp>
        <p:nvSpPr>
          <p:cNvPr id="9" name="TextBox 8"/>
          <p:cNvSpPr txBox="1"/>
          <p:nvPr/>
        </p:nvSpPr>
        <p:spPr>
          <a:xfrm>
            <a:off x="411480" y="1901952"/>
            <a:ext cx="6858000" cy="502920"/>
          </a:xfrm>
          <a:prstGeom prst="rect">
            <a:avLst/>
          </a:prstGeom>
          <a:noFill/>
        </p:spPr>
        <p:txBody>
          <a:bodyPr wrap="square"/>
          <a:lstStyle/>
          <a:p>
            <a:pPr algn="l"/>
            <a:r>
              <a:rPr sz="1100" b="0" i="0">
                <a:solidFill>
                  <a:srgbClr val="01A296"/>
                </a:solidFill>
                <a:latin typeface="Arial"/>
              </a:rPr>
              <a:t>profit-pulse.com.au/full-suite-of-products?utm_source=outreach&amp;utm_medium=pptx&amp;utm_campaign=nightly_outreach&amp;utm_content=adunion</a:t>
            </a:r>
          </a:p>
        </p:txBody>
      </p:sp>
      <p:sp>
        <p:nvSpPr>
          <p:cNvPr id="10" name="TextBox 9"/>
          <p:cNvSpPr txBox="1"/>
          <p:nvPr/>
        </p:nvSpPr>
        <p:spPr>
          <a:xfrm>
            <a:off x="411480" y="2450592"/>
            <a:ext cx="2286000" cy="457200"/>
          </a:xfrm>
          <a:prstGeom prst="rect">
            <a:avLst/>
          </a:prstGeom>
          <a:noFill/>
        </p:spPr>
        <p:txBody>
          <a:bodyPr wrap="square"/>
          <a:lstStyle/>
          <a:p>
            <a:pPr algn="l"/>
            <a:r>
              <a:rPr sz="1100" b="1" i="0">
                <a:solidFill>
                  <a:srgbClr val="01A296"/>
                </a:solidFill>
                <a:latin typeface="Arial"/>
              </a:rPr>
              <a:t>QUESTIONNAIRE</a:t>
            </a:r>
          </a:p>
        </p:txBody>
      </p:sp>
      <p:sp>
        <p:nvSpPr>
          <p:cNvPr id="11" name="Rectangle 10"/>
          <p:cNvSpPr/>
          <p:nvPr/>
        </p:nvSpPr>
        <p:spPr>
          <a:xfrm>
            <a:off x="228600" y="3310128"/>
            <a:ext cx="7223760" cy="1905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3374136"/>
            <a:ext cx="3657600" cy="320040"/>
          </a:xfrm>
          <a:prstGeom prst="rect">
            <a:avLst/>
          </a:prstGeom>
          <a:noFill/>
        </p:spPr>
        <p:txBody>
          <a:bodyPr wrap="square"/>
          <a:lstStyle/>
          <a:p>
            <a:pPr algn="l"/>
            <a:r>
              <a:rPr sz="1100" b="0" i="0">
                <a:solidFill>
                  <a:srgbClr val="666666"/>
                </a:solidFill>
                <a:latin typeface="Arial"/>
              </a:rPr>
              <a:t>Or start directly</a:t>
            </a:r>
          </a:p>
        </p:txBody>
      </p:sp>
      <p:sp>
        <p:nvSpPr>
          <p:cNvPr id="13" name="Rectangle 12"/>
          <p:cNvSpPr/>
          <p:nvPr/>
        </p:nvSpPr>
        <p:spPr>
          <a:xfrm>
            <a:off x="228600" y="3749039"/>
            <a:ext cx="7223760" cy="1691640"/>
          </a:xfrm>
          <a:prstGeom prst="rect">
            <a:avLst/>
          </a:prstGeom>
          <a:solidFill>
            <a:srgbClr val="1A1500"/>
          </a:solidFill>
          <a:ln w="12700">
            <a:solidFill>
              <a:srgbClr val="F6A10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3822191"/>
            <a:ext cx="6858000" cy="411480"/>
          </a:xfrm>
          <a:prstGeom prst="rect">
            <a:avLst/>
          </a:prstGeom>
          <a:noFill/>
        </p:spPr>
        <p:txBody>
          <a:bodyPr wrap="square"/>
          <a:lstStyle/>
          <a:p>
            <a:pPr algn="l"/>
            <a:r>
              <a:rPr sz="1400" b="1" i="0">
                <a:solidFill>
                  <a:srgbClr val="F6A102"/>
                </a:solidFill>
                <a:latin typeface="Arial"/>
              </a:rPr>
              <a:t>Customer Concentration and Profitability Map</a:t>
            </a:r>
          </a:p>
        </p:txBody>
      </p:sp>
      <p:sp>
        <p:nvSpPr>
          <p:cNvPr id="15" name="TextBox 14"/>
          <p:cNvSpPr txBox="1"/>
          <p:nvPr/>
        </p:nvSpPr>
        <p:spPr>
          <a:xfrm>
            <a:off x="411480" y="4251960"/>
            <a:ext cx="6858000" cy="548640"/>
          </a:xfrm>
          <a:prstGeom prst="rect">
            <a:avLst/>
          </a:prstGeom>
          <a:noFill/>
        </p:spPr>
        <p:txBody>
          <a:bodyPr wrap="square">
            <a:spAutoFit/>
          </a:bodyPr>
          <a:lstStyle/>
          <a:p>
            <a:pPr algn="l"/>
            <a:r>
              <a:rPr sz="1200" b="0" i="0">
                <a:solidFill>
                  <a:srgbClr val="E6E5DE"/>
                </a:solidFill>
                <a:latin typeface="Arial"/>
              </a:rPr>
              <a:t>Command tier  •  $3,950 one off  •  ProfitPulse verified price</a:t>
            </a:r>
          </a:p>
          <a:p>
            <a:pPr algn="l"/>
            <a:r>
              <a:rPr sz="1100" b="0" i="0">
                <a:solidFill>
                  <a:srgbClr val="888888"/>
                </a:solidFill>
                <a:latin typeface="Arial"/>
              </a:rPr>
              <a:t>Questionnaire confirms exact tier before purchase if preferred.</a:t>
            </a:r>
          </a:p>
        </p:txBody>
      </p:sp>
      <p:sp>
        <p:nvSpPr>
          <p:cNvPr id="16" name="TextBox 15"/>
          <p:cNvSpPr txBox="1"/>
          <p:nvPr/>
        </p:nvSpPr>
        <p:spPr>
          <a:xfrm>
            <a:off x="411480" y="4818888"/>
            <a:ext cx="6858000" cy="411480"/>
          </a:xfrm>
          <a:prstGeom prst="rect">
            <a:avLst/>
          </a:prstGeom>
          <a:noFill/>
        </p:spPr>
        <p:txBody>
          <a:bodyPr wrap="square"/>
          <a:lstStyle/>
          <a:p>
            <a:pPr algn="l"/>
            <a:r>
              <a:rPr sz="1100" b="0" i="0">
                <a:solidFill>
                  <a:srgbClr val="F6A102"/>
                </a:solidFill>
                <a:latin typeface="Arial"/>
              </a:rPr>
              <a:t>buy.stripe.com/14AbJ21qw2U0ftK0ZV3ks1A</a:t>
            </a:r>
          </a:p>
        </p:txBody>
      </p:sp>
      <p:sp>
        <p:nvSpPr>
          <p:cNvPr id="17" name="TextBox 16"/>
          <p:cNvSpPr txBox="1"/>
          <p:nvPr/>
        </p:nvSpPr>
        <p:spPr>
          <a:xfrm>
            <a:off x="411480" y="5532120"/>
            <a:ext cx="6858000" cy="320040"/>
          </a:xfrm>
          <a:prstGeom prst="rect">
            <a:avLst/>
          </a:prstGeom>
          <a:noFill/>
        </p:spPr>
        <p:txBody>
          <a:bodyPr wrap="square"/>
          <a:lstStyle/>
          <a:p>
            <a:pPr algn="l"/>
            <a:r>
              <a:rPr sz="1100" b="0" i="0">
                <a:solidFill>
                  <a:srgbClr val="E6E5DE"/>
                </a:solidFill>
                <a:latin typeface="Arial"/>
              </a:rPr>
              <a:t>Prefer a conversation first?</a:t>
            </a:r>
          </a:p>
        </p:txBody>
      </p:sp>
      <p:sp>
        <p:nvSpPr>
          <p:cNvPr id="18" name="TextBox 17"/>
          <p:cNvSpPr txBox="1"/>
          <p:nvPr/>
        </p:nvSpPr>
        <p:spPr>
          <a:xfrm>
            <a:off x="411480" y="5852160"/>
            <a:ext cx="6858000" cy="411480"/>
          </a:xfrm>
          <a:prstGeom prst="rect">
            <a:avLst/>
          </a:prstGeom>
          <a:noFill/>
        </p:spPr>
        <p:txBody>
          <a:bodyPr wrap="square"/>
          <a:lstStyle/>
          <a:p>
            <a:pPr algn="l"/>
            <a:r>
              <a:rPr sz="1000" b="0" i="0">
                <a:solidFill>
                  <a:srgbClr val="01A296"/>
                </a:solidFill>
                <a:latin typeface="Arial"/>
              </a:rPr>
              <a:t>Book a complimentary discovery call:  bookings.cloud.microsoft/book/ProfitPulse1@profit-pulse.com.au/</a:t>
            </a:r>
          </a:p>
        </p:txBody>
      </p:sp>
      <p:sp>
        <p:nvSpPr>
          <p:cNvPr id="19" name="Rectangle 18"/>
          <p:cNvSpPr/>
          <p:nvPr/>
        </p:nvSpPr>
        <p:spPr>
          <a:xfrm>
            <a:off x="7726679" y="1005840"/>
            <a:ext cx="4206240" cy="5212080"/>
          </a:xfrm>
          <a:prstGeom prst="rect">
            <a:avLst/>
          </a:prstGeom>
          <a:solidFill>
            <a:srgbClr val="0A0A0A"/>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9560" y="1143000"/>
            <a:ext cx="3840480" cy="457200"/>
          </a:xfrm>
          <a:prstGeom prst="rect">
            <a:avLst/>
          </a:prstGeom>
          <a:noFill/>
        </p:spPr>
        <p:txBody>
          <a:bodyPr wrap="square"/>
          <a:lstStyle/>
          <a:p>
            <a:pPr algn="l"/>
            <a:r>
              <a:rPr sz="1800" b="1" i="0">
                <a:solidFill>
                  <a:srgbClr val="F8C806"/>
                </a:solidFill>
                <a:latin typeface="Arial"/>
              </a:rPr>
              <a:t>NITESH ROOPA</a:t>
            </a:r>
          </a:p>
        </p:txBody>
      </p:sp>
      <p:sp>
        <p:nvSpPr>
          <p:cNvPr id="21" name="TextBox 20"/>
          <p:cNvSpPr txBox="1"/>
          <p:nvPr/>
        </p:nvSpPr>
        <p:spPr>
          <a:xfrm>
            <a:off x="7909560" y="1600200"/>
            <a:ext cx="3840480" cy="320040"/>
          </a:xfrm>
          <a:prstGeom prst="rect">
            <a:avLst/>
          </a:prstGeom>
          <a:noFill/>
        </p:spPr>
        <p:txBody>
          <a:bodyPr wrap="square"/>
          <a:lstStyle/>
          <a:p>
            <a:pPr algn="l"/>
            <a:r>
              <a:rPr sz="1300" b="0" i="0">
                <a:solidFill>
                  <a:srgbClr val="FFFFFF"/>
                </a:solidFill>
                <a:latin typeface="Arial"/>
              </a:rPr>
              <a:t>CA, Managing Partner</a:t>
            </a:r>
          </a:p>
        </p:txBody>
      </p:sp>
      <p:sp>
        <p:nvSpPr>
          <p:cNvPr id="22" name="TextBox 21"/>
          <p:cNvSpPr txBox="1"/>
          <p:nvPr/>
        </p:nvSpPr>
        <p:spPr>
          <a:xfrm>
            <a:off x="7909560" y="1920240"/>
            <a:ext cx="3840480" cy="411480"/>
          </a:xfrm>
          <a:prstGeom prst="rect">
            <a:avLst/>
          </a:prstGeom>
          <a:noFill/>
        </p:spPr>
        <p:txBody>
          <a:bodyPr wrap="square"/>
          <a:lstStyle/>
          <a:p>
            <a:pPr algn="l"/>
            <a:r>
              <a:rPr sz="2000" b="1" i="0">
                <a:solidFill>
                  <a:srgbClr val="01A296"/>
                </a:solidFill>
                <a:latin typeface="Arial"/>
              </a:rPr>
              <a:t>ProfitPulse</a:t>
            </a:r>
          </a:p>
        </p:txBody>
      </p:sp>
      <p:sp>
        <p:nvSpPr>
          <p:cNvPr id="23" name="Rectangle 22"/>
          <p:cNvSpPr/>
          <p:nvPr/>
        </p:nvSpPr>
        <p:spPr>
          <a:xfrm>
            <a:off x="7909560" y="2395728"/>
            <a:ext cx="3474720" cy="1905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09560" y="2514600"/>
            <a:ext cx="3840480" cy="3200400"/>
          </a:xfrm>
          <a:prstGeom prst="rect">
            <a:avLst/>
          </a:prstGeom>
          <a:noFill/>
        </p:spPr>
        <p:txBody>
          <a:bodyPr wrap="square">
            <a:spAutoFit/>
          </a:bodyPr>
          <a:lstStyle/>
          <a:p>
            <a:pPr algn="l">
              <a:spcAft>
                <a:spcPts val="200"/>
              </a:spcAft>
            </a:pPr>
            <a:r>
              <a:rPr sz="1200" b="0" i="0">
                <a:solidFill>
                  <a:srgbClr val="E6E5DE"/>
                </a:solidFill>
                <a:latin typeface="Arial"/>
              </a:rPr>
              <a:t>Profit-Pulse.com.au</a:t>
            </a:r>
          </a:p>
          <a:p>
            <a:pPr algn="l">
              <a:spcAft>
                <a:spcPts val="200"/>
              </a:spcAft>
            </a:pPr>
            <a:r>
              <a:rPr sz="1200" b="0" i="0">
                <a:solidFill>
                  <a:srgbClr val="01A296"/>
                </a:solidFill>
                <a:latin typeface="Arial"/>
              </a:rPr>
              <a:t>Nitesh@Profit-Pulse.com.au</a:t>
            </a:r>
          </a:p>
          <a:p>
            <a:pPr algn="l">
              <a:spcAft>
                <a:spcPts val="200"/>
              </a:spcAft>
            </a:pPr>
            <a:r>
              <a:rPr sz="1200" b="0" i="0">
                <a:solidFill>
                  <a:srgbClr val="E6E5DE"/>
                </a:solidFill>
                <a:latin typeface="Arial"/>
              </a:rPr>
              <a:t>+61 411 876 267</a:t>
            </a:r>
          </a:p>
          <a:p>
            <a:pPr algn="l">
              <a:spcAft>
                <a:spcPts val="200"/>
              </a:spcAft>
            </a:pPr>
            <a:r>
              <a:rPr sz="800" b="0" i="0">
                <a:solidFill>
                  <a:srgbClr val="FFFFFF"/>
                </a:solidFill>
                <a:latin typeface="Arial"/>
              </a:rPr>
              <a:t/>
            </a:r>
          </a:p>
          <a:p>
            <a:pPr algn="l">
              <a:spcAft>
                <a:spcPts val="200"/>
              </a:spcAft>
            </a:pPr>
            <a:r>
              <a:rPr sz="1100" b="0" i="0">
                <a:solidFill>
                  <a:srgbClr val="888888"/>
                </a:solidFill>
                <a:latin typeface="Arial"/>
              </a:rPr>
              <a:t>16 years across 4 countries</a:t>
            </a:r>
          </a:p>
          <a:p>
            <a:pPr algn="l">
              <a:spcAft>
                <a:spcPts val="200"/>
              </a:spcAft>
            </a:pPr>
            <a:r>
              <a:rPr sz="1100" b="0" i="0">
                <a:solidFill>
                  <a:srgbClr val="888888"/>
                </a:solidFill>
                <a:latin typeface="Arial"/>
              </a:rPr>
              <a:t>52 deals executed and managed</a:t>
            </a:r>
          </a:p>
          <a:p>
            <a:pPr algn="l">
              <a:spcAft>
                <a:spcPts val="200"/>
              </a:spcAft>
            </a:pPr>
            <a:r>
              <a:rPr sz="1100" b="0" i="0">
                <a:solidFill>
                  <a:srgbClr val="888888"/>
                </a:solidFill>
                <a:latin typeface="Arial"/>
              </a:rPr>
              <a:t>CA (SAICA, South Africa)</a:t>
            </a:r>
          </a:p>
        </p:txBody>
      </p:sp>
      <p:sp>
        <p:nvSpPr>
          <p:cNvPr id="25" name="TextBox 24"/>
          <p:cNvSpPr txBox="1"/>
          <p:nvPr/>
        </p:nvSpPr>
        <p:spPr>
          <a:xfrm>
            <a:off x="228600" y="6537960"/>
            <a:ext cx="3657600" cy="274320"/>
          </a:xfrm>
          <a:prstGeom prst="rect">
            <a:avLst/>
          </a:prstGeom>
          <a:noFill/>
        </p:spPr>
        <p:txBody>
          <a:bodyPr wrap="square"/>
          <a:lstStyle/>
          <a:p>
            <a:pPr algn="l"/>
            <a:r>
              <a:rPr sz="1000" b="0" i="0">
                <a:solidFill>
                  <a:srgbClr val="444444"/>
                </a:solidFill>
                <a:latin typeface="Arial"/>
              </a:rPr>
              <a:t>Profit-Pulse.com.au</a:t>
            </a:r>
          </a:p>
        </p:txBody>
      </p:sp>
      <p:sp>
        <p:nvSpPr>
          <p:cNvPr id="26" name="TextBox 25"/>
          <p:cNvSpPr txBox="1"/>
          <p:nvPr/>
        </p:nvSpPr>
        <p:spPr>
          <a:xfrm>
            <a:off x="9144000" y="6537960"/>
            <a:ext cx="2743200" cy="274320"/>
          </a:xfrm>
          <a:prstGeom prst="rect">
            <a:avLst/>
          </a:prstGeom>
          <a:noFill/>
        </p:spPr>
        <p:txBody>
          <a:bodyPr wrap="square"/>
          <a:lstStyle/>
          <a:p>
            <a:pPr algn="r"/>
            <a:r>
              <a:rPr sz="1000" b="0" i="0">
                <a:solidFill>
                  <a:srgbClr val="444444"/>
                </a:solidFill>
                <a:latin typeface="Arial"/>
              </a:rPr>
              <a:t>09 Jun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