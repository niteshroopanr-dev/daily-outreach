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eVqdRad9e66cftK23Z3ks0h"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92608"/>
            <a:ext cx="7315200" cy="365760"/>
          </a:xfrm>
          <a:prstGeom prst="rect">
            <a:avLst/>
          </a:prstGeom>
          <a:noFill/>
        </p:spPr>
        <p:txBody>
          <a:bodyPr wrap="square" anchor="t" lIns="0" rIns="0" tIns="0" bIns="0">
            <a:noAutofit/>
          </a:bodyPr>
          <a:lstStyle/>
          <a:p>
            <a:pPr algn="l"/>
            <a:r>
              <a:rPr sz="1300" b="1" i="0">
                <a:solidFill>
                  <a:srgbClr val="E6E5DE"/>
                </a:solidFill>
                <a:latin typeface="Calibri"/>
              </a:rPr>
              <a:t>COMMERCIAL INTELLIGENCE BRIEF</a:t>
            </a:r>
          </a:p>
        </p:txBody>
      </p:sp>
      <p:sp>
        <p:nvSpPr>
          <p:cNvPr id="5" name="TextBox 4"/>
          <p:cNvSpPr txBox="1"/>
          <p:nvPr/>
        </p:nvSpPr>
        <p:spPr>
          <a:xfrm>
            <a:off x="8229600" y="292608"/>
            <a:ext cx="3685032" cy="365760"/>
          </a:xfrm>
          <a:prstGeom prst="rect">
            <a:avLst/>
          </a:prstGeom>
          <a:noFill/>
        </p:spPr>
        <p:txBody>
          <a:bodyPr wrap="square" anchor="t" lIns="0" rIns="0" tIns="0" bIns="0">
            <a:noAutofit/>
          </a:bodyPr>
          <a:lstStyle/>
          <a:p>
            <a:pPr algn="r"/>
            <a:r>
              <a:rPr sz="1300" b="1" i="0">
                <a:solidFill>
                  <a:srgbClr val="01A296"/>
                </a:solidFill>
                <a:latin typeface="Calibri"/>
              </a:rPr>
              <a:t>PROFITPULSE</a:t>
            </a:r>
          </a:p>
        </p:txBody>
      </p:sp>
      <p:sp>
        <p:nvSpPr>
          <p:cNvPr id="6" name="TextBox 5"/>
          <p:cNvSpPr txBox="1"/>
          <p:nvPr/>
        </p:nvSpPr>
        <p:spPr>
          <a:xfrm>
            <a:off x="274320" y="6473952"/>
            <a:ext cx="8686800" cy="274320"/>
          </a:xfrm>
          <a:prstGeom prst="rect">
            <a:avLst/>
          </a:prstGeom>
          <a:noFill/>
        </p:spPr>
        <p:txBody>
          <a:bodyPr wrap="square" anchor="t" lIns="0" rIns="0" tIns="0" bIns="0">
            <a:noAutofit/>
          </a:bodyPr>
          <a:lstStyle/>
          <a:p>
            <a:pPr algn="l"/>
            <a:r>
              <a:rPr sz="800" b="0" i="0">
                <a:solidFill>
                  <a:srgbClr val="01A296"/>
                </a:solidFill>
                <a:latin typeface="Calibri"/>
              </a:rPr>
              <a:t>Prepared by Nitesh Roopa CA, Managing Partner and Founder, ProfitPulse, Profit-Pulse.com.au</a:t>
            </a:r>
          </a:p>
        </p:txBody>
      </p:sp>
      <p:sp>
        <p:nvSpPr>
          <p:cNvPr id="7" name="TextBox 6"/>
          <p:cNvSpPr txBox="1"/>
          <p:nvPr/>
        </p:nvSpPr>
        <p:spPr>
          <a:xfrm>
            <a:off x="9601200" y="6473952"/>
            <a:ext cx="2313432" cy="274320"/>
          </a:xfrm>
          <a:prstGeom prst="rect">
            <a:avLst/>
          </a:prstGeom>
          <a:noFill/>
        </p:spPr>
        <p:txBody>
          <a:bodyPr wrap="square" anchor="t" lIns="0" rIns="0" tIns="0" bIns="0">
            <a:noAutofit/>
          </a:bodyPr>
          <a:lstStyle/>
          <a:p>
            <a:pPr algn="r"/>
            <a:r>
              <a:rPr sz="800" b="0" i="0">
                <a:solidFill>
                  <a:srgbClr val="01A296"/>
                </a:solidFill>
                <a:latin typeface="Calibri"/>
              </a:rPr>
              <a:t>25 Jul 2026</a:t>
            </a:r>
          </a:p>
        </p:txBody>
      </p:sp>
      <p:sp>
        <p:nvSpPr>
          <p:cNvPr id="8" name="TextBox 7"/>
          <p:cNvSpPr txBox="1"/>
          <p:nvPr/>
        </p:nvSpPr>
        <p:spPr>
          <a:xfrm>
            <a:off x="274320" y="914400"/>
            <a:ext cx="8686800" cy="777240"/>
          </a:xfrm>
          <a:prstGeom prst="rect">
            <a:avLst/>
          </a:prstGeom>
          <a:noFill/>
        </p:spPr>
        <p:txBody>
          <a:bodyPr wrap="square" anchor="t" lIns="0" rIns="0" tIns="0" bIns="0">
            <a:noAutofit/>
          </a:bodyPr>
          <a:lstStyle/>
          <a:p>
            <a:pPr algn="l"/>
            <a:r>
              <a:rPr sz="4200" b="1" i="0">
                <a:solidFill>
                  <a:srgbClr val="000000"/>
                </a:solidFill>
                <a:latin typeface="Georgia"/>
              </a:rPr>
              <a:t>Orbitkey</a:t>
            </a:r>
          </a:p>
        </p:txBody>
      </p:sp>
      <p:sp>
        <p:nvSpPr>
          <p:cNvPr id="9" name="TextBox 8"/>
          <p:cNvSpPr txBox="1"/>
          <p:nvPr/>
        </p:nvSpPr>
        <p:spPr>
          <a:xfrm>
            <a:off x="274320" y="1783080"/>
            <a:ext cx="10058400" cy="320040"/>
          </a:xfrm>
          <a:prstGeom prst="rect">
            <a:avLst/>
          </a:prstGeom>
          <a:noFill/>
        </p:spPr>
        <p:txBody>
          <a:bodyPr wrap="square" anchor="t" lIns="0" rIns="0" tIns="0" bIns="0">
            <a:noAutofit/>
          </a:bodyPr>
          <a:lstStyle/>
          <a:p>
            <a:pPr algn="l"/>
            <a:r>
              <a:rPr sz="1300" b="0" i="1">
                <a:solidFill>
                  <a:srgbClr val="01A296"/>
                </a:solidFill>
                <a:latin typeface="Calibri"/>
              </a:rPr>
              <a:t>Everyday carry goods designer, direct to consumer and wholesale, Melbourne</a:t>
            </a:r>
          </a:p>
        </p:txBody>
      </p:sp>
      <p:sp>
        <p:nvSpPr>
          <p:cNvPr id="10" name="Rectangle 9"/>
          <p:cNvSpPr/>
          <p:nvPr/>
        </p:nvSpPr>
        <p:spPr>
          <a:xfrm>
            <a:off x="274320" y="2194560"/>
            <a:ext cx="182620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2194560"/>
            <a:ext cx="1826209" cy="5486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2359152"/>
            <a:ext cx="1606753" cy="457200"/>
          </a:xfrm>
          <a:prstGeom prst="rect">
            <a:avLst/>
          </a:prstGeom>
          <a:noFill/>
        </p:spPr>
        <p:txBody>
          <a:bodyPr wrap="square" anchor="t" lIns="0" rIns="0" tIns="0" bIns="0">
            <a:noAutofit/>
          </a:bodyPr>
          <a:lstStyle/>
          <a:p>
            <a:pPr algn="l"/>
            <a:r>
              <a:rPr sz="2800" b="1" i="0">
                <a:solidFill>
                  <a:srgbClr val="F8C806"/>
                </a:solidFill>
                <a:latin typeface="Georgia"/>
              </a:rPr>
              <a:t>$24.6M</a:t>
            </a:r>
          </a:p>
        </p:txBody>
      </p:sp>
      <p:sp>
        <p:nvSpPr>
          <p:cNvPr id="13" name="TextBox 12"/>
          <p:cNvSpPr txBox="1"/>
          <p:nvPr/>
        </p:nvSpPr>
        <p:spPr>
          <a:xfrm>
            <a:off x="384048" y="2852928"/>
            <a:ext cx="1606753" cy="502920"/>
          </a:xfrm>
          <a:prstGeom prst="rect">
            <a:avLst/>
          </a:prstGeom>
          <a:noFill/>
        </p:spPr>
        <p:txBody>
          <a:bodyPr wrap="square" lIns="0" rIns="0" tIns="0" bIns="0">
            <a:noAutofit/>
          </a:bodyPr>
          <a:lstStyle/>
          <a:p>
            <a:pPr algn="l">
              <a:lnSpc>
                <a:spcPct val="105000"/>
              </a:lnSpc>
              <a:spcAft>
                <a:spcPts val="0"/>
              </a:spcAft>
            </a:pPr>
            <a:r>
              <a:rPr sz="1100" b="0">
                <a:solidFill>
                  <a:srgbClr val="E6E5DE"/>
                </a:solidFill>
                <a:latin typeface="Calibri"/>
              </a:rPr>
              <a:t>FY2025 annual revenue</a:t>
            </a:r>
          </a:p>
        </p:txBody>
      </p:sp>
      <p:sp>
        <p:nvSpPr>
          <p:cNvPr id="14" name="TextBox 13"/>
          <p:cNvSpPr txBox="1"/>
          <p:nvPr/>
        </p:nvSpPr>
        <p:spPr>
          <a:xfrm>
            <a:off x="384048" y="3401568"/>
            <a:ext cx="1606753" cy="219456"/>
          </a:xfrm>
          <a:prstGeom prst="rect">
            <a:avLst/>
          </a:prstGeom>
          <a:noFill/>
        </p:spPr>
        <p:txBody>
          <a:bodyPr wrap="square" anchor="t" lIns="0" rIns="0" tIns="0" bIns="0">
            <a:noAutofit/>
          </a:bodyPr>
          <a:lstStyle/>
          <a:p>
            <a:pPr algn="l"/>
            <a:r>
              <a:rPr sz="800" b="0" i="1">
                <a:solidFill>
                  <a:srgbClr val="01A296"/>
                </a:solidFill>
                <a:latin typeface="Calibri"/>
              </a:rPr>
              <a:t>SmartCompany Nov 2025</a:t>
            </a:r>
          </a:p>
        </p:txBody>
      </p:sp>
      <p:sp>
        <p:nvSpPr>
          <p:cNvPr id="15" name="Rectangle 14"/>
          <p:cNvSpPr/>
          <p:nvPr/>
        </p:nvSpPr>
        <p:spPr>
          <a:xfrm>
            <a:off x="2237689" y="2194560"/>
            <a:ext cx="182620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37689" y="2194560"/>
            <a:ext cx="1826209" cy="5486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47417" y="2359152"/>
            <a:ext cx="1606753" cy="457200"/>
          </a:xfrm>
          <a:prstGeom prst="rect">
            <a:avLst/>
          </a:prstGeom>
          <a:noFill/>
        </p:spPr>
        <p:txBody>
          <a:bodyPr wrap="square" anchor="t" lIns="0" rIns="0" tIns="0" bIns="0">
            <a:noAutofit/>
          </a:bodyPr>
          <a:lstStyle/>
          <a:p>
            <a:pPr algn="l"/>
            <a:r>
              <a:rPr sz="2800" b="1" i="0">
                <a:solidFill>
                  <a:srgbClr val="F8C806"/>
                </a:solidFill>
                <a:latin typeface="Georgia"/>
              </a:rPr>
              <a:t>+20%</a:t>
            </a:r>
          </a:p>
        </p:txBody>
      </p:sp>
      <p:sp>
        <p:nvSpPr>
          <p:cNvPr id="18" name="TextBox 17"/>
          <p:cNvSpPr txBox="1"/>
          <p:nvPr/>
        </p:nvSpPr>
        <p:spPr>
          <a:xfrm>
            <a:off x="2347417" y="2852928"/>
            <a:ext cx="1606753" cy="502920"/>
          </a:xfrm>
          <a:prstGeom prst="rect">
            <a:avLst/>
          </a:prstGeom>
          <a:noFill/>
        </p:spPr>
        <p:txBody>
          <a:bodyPr wrap="square" lIns="0" rIns="0" tIns="0" bIns="0">
            <a:noAutofit/>
          </a:bodyPr>
          <a:lstStyle/>
          <a:p>
            <a:pPr algn="l">
              <a:lnSpc>
                <a:spcPct val="105000"/>
              </a:lnSpc>
              <a:spcAft>
                <a:spcPts val="0"/>
              </a:spcAft>
            </a:pPr>
            <a:r>
              <a:rPr sz="1100" b="0">
                <a:solidFill>
                  <a:srgbClr val="E6E5DE"/>
                </a:solidFill>
                <a:latin typeface="Calibri"/>
              </a:rPr>
              <a:t>Revenue growth year on year</a:t>
            </a:r>
          </a:p>
        </p:txBody>
      </p:sp>
      <p:sp>
        <p:nvSpPr>
          <p:cNvPr id="19" name="TextBox 18"/>
          <p:cNvSpPr txBox="1"/>
          <p:nvPr/>
        </p:nvSpPr>
        <p:spPr>
          <a:xfrm>
            <a:off x="2347417" y="3401568"/>
            <a:ext cx="1606753" cy="219456"/>
          </a:xfrm>
          <a:prstGeom prst="rect">
            <a:avLst/>
          </a:prstGeom>
          <a:noFill/>
        </p:spPr>
        <p:txBody>
          <a:bodyPr wrap="square" anchor="t" lIns="0" rIns="0" tIns="0" bIns="0">
            <a:noAutofit/>
          </a:bodyPr>
          <a:lstStyle/>
          <a:p>
            <a:pPr algn="l"/>
            <a:r>
              <a:rPr sz="800" b="0" i="1">
                <a:solidFill>
                  <a:srgbClr val="01A296"/>
                </a:solidFill>
                <a:latin typeface="Calibri"/>
              </a:rPr>
              <a:t>SmartCompany Nov 2025</a:t>
            </a:r>
          </a:p>
        </p:txBody>
      </p:sp>
      <p:sp>
        <p:nvSpPr>
          <p:cNvPr id="20" name="Rectangle 19"/>
          <p:cNvSpPr/>
          <p:nvPr/>
        </p:nvSpPr>
        <p:spPr>
          <a:xfrm>
            <a:off x="4201058" y="2194560"/>
            <a:ext cx="182620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01058" y="2194560"/>
            <a:ext cx="1826209" cy="5486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10786" y="2359152"/>
            <a:ext cx="1606753" cy="457200"/>
          </a:xfrm>
          <a:prstGeom prst="rect">
            <a:avLst/>
          </a:prstGeom>
          <a:noFill/>
        </p:spPr>
        <p:txBody>
          <a:bodyPr wrap="square" anchor="t" lIns="0" rIns="0" tIns="0" bIns="0">
            <a:noAutofit/>
          </a:bodyPr>
          <a:lstStyle/>
          <a:p>
            <a:pPr algn="l"/>
            <a:r>
              <a:rPr sz="2800" b="1" i="0">
                <a:solidFill>
                  <a:srgbClr val="F8C806"/>
                </a:solidFill>
                <a:latin typeface="Georgia"/>
              </a:rPr>
              <a:t>44</a:t>
            </a:r>
          </a:p>
        </p:txBody>
      </p:sp>
      <p:sp>
        <p:nvSpPr>
          <p:cNvPr id="23" name="TextBox 22"/>
          <p:cNvSpPr txBox="1"/>
          <p:nvPr/>
        </p:nvSpPr>
        <p:spPr>
          <a:xfrm>
            <a:off x="4310786" y="2852928"/>
            <a:ext cx="1606753" cy="502920"/>
          </a:xfrm>
          <a:prstGeom prst="rect">
            <a:avLst/>
          </a:prstGeom>
          <a:noFill/>
        </p:spPr>
        <p:txBody>
          <a:bodyPr wrap="square" lIns="0" rIns="0" tIns="0" bIns="0">
            <a:noAutofit/>
          </a:bodyPr>
          <a:lstStyle/>
          <a:p>
            <a:pPr algn="l">
              <a:lnSpc>
                <a:spcPct val="105000"/>
              </a:lnSpc>
              <a:spcAft>
                <a:spcPts val="0"/>
              </a:spcAft>
            </a:pPr>
            <a:r>
              <a:rPr sz="1100" b="0">
                <a:solidFill>
                  <a:srgbClr val="E6E5DE"/>
                </a:solidFill>
                <a:latin typeface="Calibri"/>
              </a:rPr>
              <a:t>Employees, Smart50 listing</a:t>
            </a:r>
          </a:p>
        </p:txBody>
      </p:sp>
      <p:sp>
        <p:nvSpPr>
          <p:cNvPr id="24" name="TextBox 23"/>
          <p:cNvSpPr txBox="1"/>
          <p:nvPr/>
        </p:nvSpPr>
        <p:spPr>
          <a:xfrm>
            <a:off x="4310786" y="3401568"/>
            <a:ext cx="1606753" cy="219456"/>
          </a:xfrm>
          <a:prstGeom prst="rect">
            <a:avLst/>
          </a:prstGeom>
          <a:noFill/>
        </p:spPr>
        <p:txBody>
          <a:bodyPr wrap="square" anchor="t" lIns="0" rIns="0" tIns="0" bIns="0">
            <a:noAutofit/>
          </a:bodyPr>
          <a:lstStyle/>
          <a:p>
            <a:pPr algn="l"/>
            <a:r>
              <a:rPr sz="800" b="0" i="1">
                <a:solidFill>
                  <a:srgbClr val="01A296"/>
                </a:solidFill>
                <a:latin typeface="Calibri"/>
              </a:rPr>
              <a:t>SmartCompany Nov 2025</a:t>
            </a:r>
          </a:p>
        </p:txBody>
      </p:sp>
      <p:sp>
        <p:nvSpPr>
          <p:cNvPr id="25" name="Rectangle 24"/>
          <p:cNvSpPr/>
          <p:nvPr/>
        </p:nvSpPr>
        <p:spPr>
          <a:xfrm>
            <a:off x="6164427" y="2194560"/>
            <a:ext cx="182620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64427" y="2194560"/>
            <a:ext cx="1826209" cy="5486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74155" y="2359152"/>
            <a:ext cx="1606753" cy="457200"/>
          </a:xfrm>
          <a:prstGeom prst="rect">
            <a:avLst/>
          </a:prstGeom>
          <a:noFill/>
        </p:spPr>
        <p:txBody>
          <a:bodyPr wrap="square" anchor="t" lIns="0" rIns="0" tIns="0" bIns="0">
            <a:noAutofit/>
          </a:bodyPr>
          <a:lstStyle/>
          <a:p>
            <a:pPr algn="l"/>
            <a:r>
              <a:rPr sz="2800" b="1" i="0">
                <a:solidFill>
                  <a:srgbClr val="F8C806"/>
                </a:solidFill>
                <a:latin typeface="Georgia"/>
              </a:rPr>
              <a:t>#50</a:t>
            </a:r>
          </a:p>
        </p:txBody>
      </p:sp>
      <p:sp>
        <p:nvSpPr>
          <p:cNvPr id="28" name="TextBox 27"/>
          <p:cNvSpPr txBox="1"/>
          <p:nvPr/>
        </p:nvSpPr>
        <p:spPr>
          <a:xfrm>
            <a:off x="6274155" y="2852928"/>
            <a:ext cx="1606753" cy="502920"/>
          </a:xfrm>
          <a:prstGeom prst="rect">
            <a:avLst/>
          </a:prstGeom>
          <a:noFill/>
        </p:spPr>
        <p:txBody>
          <a:bodyPr wrap="square" lIns="0" rIns="0" tIns="0" bIns="0">
            <a:noAutofit/>
          </a:bodyPr>
          <a:lstStyle/>
          <a:p>
            <a:pPr algn="l">
              <a:lnSpc>
                <a:spcPct val="105000"/>
              </a:lnSpc>
              <a:spcAft>
                <a:spcPts val="0"/>
              </a:spcAft>
            </a:pPr>
            <a:r>
              <a:rPr sz="1100" b="0">
                <a:solidFill>
                  <a:srgbClr val="E6E5DE"/>
                </a:solidFill>
                <a:latin typeface="Calibri"/>
              </a:rPr>
              <a:t>Smart50 2025 national rank</a:t>
            </a:r>
          </a:p>
        </p:txBody>
      </p:sp>
      <p:sp>
        <p:nvSpPr>
          <p:cNvPr id="29" name="TextBox 28"/>
          <p:cNvSpPr txBox="1"/>
          <p:nvPr/>
        </p:nvSpPr>
        <p:spPr>
          <a:xfrm>
            <a:off x="6274155" y="3401568"/>
            <a:ext cx="1606753" cy="219456"/>
          </a:xfrm>
          <a:prstGeom prst="rect">
            <a:avLst/>
          </a:prstGeom>
          <a:noFill/>
        </p:spPr>
        <p:txBody>
          <a:bodyPr wrap="square" anchor="t" lIns="0" rIns="0" tIns="0" bIns="0">
            <a:noAutofit/>
          </a:bodyPr>
          <a:lstStyle/>
          <a:p>
            <a:pPr algn="l"/>
            <a:r>
              <a:rPr sz="800" b="0" i="1">
                <a:solidFill>
                  <a:srgbClr val="01A296"/>
                </a:solidFill>
                <a:latin typeface="Calibri"/>
              </a:rPr>
              <a:t>SmartCompany Nov 2025</a:t>
            </a:r>
          </a:p>
        </p:txBody>
      </p:sp>
      <p:sp>
        <p:nvSpPr>
          <p:cNvPr id="30" name="Rectangle 29"/>
          <p:cNvSpPr/>
          <p:nvPr/>
        </p:nvSpPr>
        <p:spPr>
          <a:xfrm>
            <a:off x="8127796" y="2194560"/>
            <a:ext cx="182620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2194560"/>
            <a:ext cx="1826209" cy="5486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7524" y="2359152"/>
            <a:ext cx="1606753" cy="457200"/>
          </a:xfrm>
          <a:prstGeom prst="rect">
            <a:avLst/>
          </a:prstGeom>
          <a:noFill/>
        </p:spPr>
        <p:txBody>
          <a:bodyPr wrap="square" anchor="t" lIns="0" rIns="0" tIns="0" bIns="0">
            <a:noAutofit/>
          </a:bodyPr>
          <a:lstStyle/>
          <a:p>
            <a:pPr algn="l"/>
            <a:r>
              <a:rPr sz="2800" b="1" i="0">
                <a:solidFill>
                  <a:srgbClr val="F8C806"/>
                </a:solidFill>
                <a:latin typeface="Georgia"/>
              </a:rPr>
              <a:t>1,000+</a:t>
            </a:r>
          </a:p>
        </p:txBody>
      </p:sp>
      <p:sp>
        <p:nvSpPr>
          <p:cNvPr id="33" name="TextBox 32"/>
          <p:cNvSpPr txBox="1"/>
          <p:nvPr/>
        </p:nvSpPr>
        <p:spPr>
          <a:xfrm>
            <a:off x="8237524" y="2852928"/>
            <a:ext cx="1606753" cy="502920"/>
          </a:xfrm>
          <a:prstGeom prst="rect">
            <a:avLst/>
          </a:prstGeom>
          <a:noFill/>
        </p:spPr>
        <p:txBody>
          <a:bodyPr wrap="square" lIns="0" rIns="0" tIns="0" bIns="0">
            <a:noAutofit/>
          </a:bodyPr>
          <a:lstStyle/>
          <a:p>
            <a:pPr algn="l">
              <a:lnSpc>
                <a:spcPct val="105000"/>
              </a:lnSpc>
              <a:spcAft>
                <a:spcPts val="0"/>
              </a:spcAft>
            </a:pPr>
            <a:r>
              <a:rPr sz="1100" b="0">
                <a:solidFill>
                  <a:srgbClr val="E6E5DE"/>
                </a:solidFill>
                <a:latin typeface="Calibri"/>
              </a:rPr>
              <a:t>Wholesale stockists worldwide</a:t>
            </a:r>
          </a:p>
        </p:txBody>
      </p:sp>
      <p:sp>
        <p:nvSpPr>
          <p:cNvPr id="34" name="TextBox 33"/>
          <p:cNvSpPr txBox="1"/>
          <p:nvPr/>
        </p:nvSpPr>
        <p:spPr>
          <a:xfrm>
            <a:off x="8237524" y="3401568"/>
            <a:ext cx="1606753" cy="219456"/>
          </a:xfrm>
          <a:prstGeom prst="rect">
            <a:avLst/>
          </a:prstGeom>
          <a:noFill/>
        </p:spPr>
        <p:txBody>
          <a:bodyPr wrap="square" anchor="t" lIns="0" rIns="0" tIns="0" bIns="0">
            <a:noAutofit/>
          </a:bodyPr>
          <a:lstStyle/>
          <a:p>
            <a:pPr algn="l"/>
            <a:r>
              <a:rPr sz="800" b="0" i="1">
                <a:solidFill>
                  <a:srgbClr val="01A296"/>
                </a:solidFill>
                <a:latin typeface="Calibri"/>
              </a:rPr>
              <a:t>Airwallex case study</a:t>
            </a:r>
          </a:p>
        </p:txBody>
      </p:sp>
      <p:sp>
        <p:nvSpPr>
          <p:cNvPr id="35" name="Rectangle 34"/>
          <p:cNvSpPr/>
          <p:nvPr/>
        </p:nvSpPr>
        <p:spPr>
          <a:xfrm>
            <a:off x="10091165" y="2194560"/>
            <a:ext cx="182620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091165" y="2194560"/>
            <a:ext cx="1826209" cy="5486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00893" y="2359152"/>
            <a:ext cx="1606753" cy="457200"/>
          </a:xfrm>
          <a:prstGeom prst="rect">
            <a:avLst/>
          </a:prstGeom>
          <a:noFill/>
        </p:spPr>
        <p:txBody>
          <a:bodyPr wrap="square" anchor="t" lIns="0" rIns="0" tIns="0" bIns="0">
            <a:noAutofit/>
          </a:bodyPr>
          <a:lstStyle/>
          <a:p>
            <a:pPr algn="l"/>
            <a:r>
              <a:rPr sz="2800" b="1" i="0">
                <a:solidFill>
                  <a:srgbClr val="F8C806"/>
                </a:solidFill>
                <a:latin typeface="Georgia"/>
              </a:rPr>
              <a:t>$8M+</a:t>
            </a:r>
          </a:p>
        </p:txBody>
      </p:sp>
      <p:sp>
        <p:nvSpPr>
          <p:cNvPr id="38" name="TextBox 37"/>
          <p:cNvSpPr txBox="1"/>
          <p:nvPr/>
        </p:nvSpPr>
        <p:spPr>
          <a:xfrm>
            <a:off x="10200893" y="2852928"/>
            <a:ext cx="1606753" cy="502920"/>
          </a:xfrm>
          <a:prstGeom prst="rect">
            <a:avLst/>
          </a:prstGeom>
          <a:noFill/>
        </p:spPr>
        <p:txBody>
          <a:bodyPr wrap="square" lIns="0" rIns="0" tIns="0" bIns="0">
            <a:noAutofit/>
          </a:bodyPr>
          <a:lstStyle/>
          <a:p>
            <a:pPr algn="l">
              <a:lnSpc>
                <a:spcPct val="105000"/>
              </a:lnSpc>
              <a:spcAft>
                <a:spcPts val="0"/>
              </a:spcAft>
            </a:pPr>
            <a:r>
              <a:rPr sz="1100" b="0">
                <a:solidFill>
                  <a:srgbClr val="E6E5DE"/>
                </a:solidFill>
                <a:latin typeface="Calibri"/>
              </a:rPr>
              <a:t>Raised, 11 Kickstarter runs</a:t>
            </a:r>
          </a:p>
        </p:txBody>
      </p:sp>
      <p:sp>
        <p:nvSpPr>
          <p:cNvPr id="39" name="TextBox 38"/>
          <p:cNvSpPr txBox="1"/>
          <p:nvPr/>
        </p:nvSpPr>
        <p:spPr>
          <a:xfrm>
            <a:off x="10200893" y="3401568"/>
            <a:ext cx="1606753" cy="219456"/>
          </a:xfrm>
          <a:prstGeom prst="rect">
            <a:avLst/>
          </a:prstGeom>
          <a:noFill/>
        </p:spPr>
        <p:txBody>
          <a:bodyPr wrap="square" anchor="t" lIns="0" rIns="0" tIns="0" bIns="0">
            <a:noAutofit/>
          </a:bodyPr>
          <a:lstStyle/>
          <a:p>
            <a:pPr algn="l"/>
            <a:r>
              <a:rPr sz="800" b="0" i="1">
                <a:solidFill>
                  <a:srgbClr val="01A296"/>
                </a:solidFill>
                <a:latin typeface="Calibri"/>
              </a:rPr>
              <a:t>SmartCompany feature</a:t>
            </a:r>
          </a:p>
        </p:txBody>
      </p:sp>
      <p:sp>
        <p:nvSpPr>
          <p:cNvPr id="40" name="TextBox 39"/>
          <p:cNvSpPr txBox="1"/>
          <p:nvPr/>
        </p:nvSpPr>
        <p:spPr>
          <a:xfrm>
            <a:off x="274320" y="3822191"/>
            <a:ext cx="5486400" cy="274320"/>
          </a:xfrm>
          <a:prstGeom prst="rect">
            <a:avLst/>
          </a:prstGeom>
          <a:noFill/>
        </p:spPr>
        <p:txBody>
          <a:bodyPr wrap="square" anchor="t" lIns="0" rIns="0" tIns="0" bIns="0">
            <a:noAutofit/>
          </a:bodyPr>
          <a:lstStyle/>
          <a:p>
            <a:pPr algn="l"/>
            <a:r>
              <a:rPr sz="1200" b="1" i="0">
                <a:solidFill>
                  <a:srgbClr val="01A296"/>
                </a:solidFill>
                <a:latin typeface="Calibri"/>
              </a:rPr>
              <a:t>KEY COMMERCIAL SIGNALS</a:t>
            </a:r>
          </a:p>
        </p:txBody>
      </p:sp>
      <p:sp>
        <p:nvSpPr>
          <p:cNvPr id="41" name="Rectangle 40"/>
          <p:cNvSpPr/>
          <p:nvPr/>
        </p:nvSpPr>
        <p:spPr>
          <a:xfrm>
            <a:off x="274320" y="4133087"/>
            <a:ext cx="5486400" cy="1524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4251960"/>
            <a:ext cx="11338560" cy="2103120"/>
          </a:xfrm>
          <a:prstGeom prst="rect">
            <a:avLst/>
          </a:prstGeom>
          <a:noFill/>
        </p:spPr>
        <p:txBody>
          <a:bodyPr wrap="square" lIns="0" rIns="0" tIns="0" bIns="0">
            <a:noAutofit/>
          </a:bodyPr>
          <a:lstStyle/>
          <a:p>
            <a:pPr algn="l">
              <a:lnSpc>
                <a:spcPct val="120000"/>
              </a:lnSpc>
              <a:spcAft>
                <a:spcPts val="800"/>
              </a:spcAft>
            </a:pPr>
            <a:r>
              <a:rPr sz="1300" b="0">
                <a:solidFill>
                  <a:srgbClr val="000000"/>
                </a:solidFill>
                <a:latin typeface="Calibri"/>
              </a:rPr>
              <a:t>•  Expanding wholesale into US and European markets. SmartCompany Nov 2025.</a:t>
            </a:r>
          </a:p>
          <a:p>
            <a:pPr algn="l">
              <a:lnSpc>
                <a:spcPct val="120000"/>
              </a:lnSpc>
              <a:spcAft>
                <a:spcPts val="800"/>
              </a:spcAft>
            </a:pPr>
            <a:r>
              <a:rPr sz="1300" b="0">
                <a:solidFill>
                  <a:srgbClr val="000000"/>
                </a:solidFill>
                <a:latin typeface="Calibri"/>
              </a:rPr>
              <a:t>•  Rebuilt Airwallex payment rails, cut EU settlement from 4 days to 1. Airwallex.</a:t>
            </a:r>
          </a:p>
          <a:p>
            <a:pPr algn="l">
              <a:lnSpc>
                <a:spcPct val="120000"/>
              </a:lnSpc>
              <a:spcAft>
                <a:spcPts val="800"/>
              </a:spcAft>
            </a:pPr>
            <a:r>
              <a:rPr sz="1300" b="0">
                <a:solidFill>
                  <a:srgbClr val="000000"/>
                </a:solidFill>
                <a:latin typeface="Calibri"/>
              </a:rPr>
              <a:t>•  Certified B Corp, Impact Score 83.7. B Lab, bcorporation.net.</a:t>
            </a:r>
          </a:p>
          <a:p>
            <a:pPr algn="l">
              <a:lnSpc>
                <a:spcPct val="120000"/>
              </a:lnSpc>
              <a:spcAft>
                <a:spcPts val="800"/>
              </a:spcAft>
            </a:pPr>
            <a:r>
              <a:rPr sz="1300" b="0">
                <a:solidFill>
                  <a:srgbClr val="000000"/>
                </a:solidFill>
                <a:latin typeface="Calibri"/>
              </a:rPr>
              <a:t>•  Kickstarter 11, Daily Tote, raised over $393,500. SmartCompany.</a:t>
            </a:r>
          </a:p>
          <a:p>
            <a:pPr algn="l">
              <a:lnSpc>
                <a:spcPct val="120000"/>
              </a:lnSpc>
              <a:spcAft>
                <a:spcPts val="800"/>
              </a:spcAft>
            </a:pPr>
            <a:r>
              <a:rPr sz="1300" b="0">
                <a:solidFill>
                  <a:srgbClr val="000000"/>
                </a:solidFill>
                <a:latin typeface="Calibri"/>
              </a:rPr>
              <a:t>•  Over 1,000 wholesale stockists across AU, EU and US. Airwallex.</a:t>
            </a:r>
          </a:p>
          <a:p>
            <a:pPr algn="l">
              <a:lnSpc>
                <a:spcPct val="120000"/>
              </a:lnSpc>
              <a:spcAft>
                <a:spcPts val="800"/>
              </a:spcAft>
            </a:pPr>
            <a:r>
              <a:rPr sz="1300" b="0">
                <a:solidFill>
                  <a:srgbClr val="000000"/>
                </a:solidFill>
                <a:latin typeface="Calibri"/>
              </a:rPr>
              <a:t>•  Plan to become a one stop shop for everyday organisation. SmartCompany.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92608"/>
            <a:ext cx="7315200" cy="365760"/>
          </a:xfrm>
          <a:prstGeom prst="rect">
            <a:avLst/>
          </a:prstGeom>
          <a:noFill/>
        </p:spPr>
        <p:txBody>
          <a:bodyPr wrap="square" anchor="t" lIns="0" rIns="0" tIns="0" bIns="0">
            <a:noAutofit/>
          </a:bodyPr>
          <a:lstStyle/>
          <a:p>
            <a:pPr algn="l"/>
            <a:r>
              <a:rPr sz="1300" b="1" i="0">
                <a:solidFill>
                  <a:srgbClr val="E6E5DE"/>
                </a:solidFill>
                <a:latin typeface="Calibri"/>
              </a:rPr>
              <a:t>THE OPPORTUNITY</a:t>
            </a:r>
          </a:p>
        </p:txBody>
      </p:sp>
      <p:sp>
        <p:nvSpPr>
          <p:cNvPr id="5" name="TextBox 4"/>
          <p:cNvSpPr txBox="1"/>
          <p:nvPr/>
        </p:nvSpPr>
        <p:spPr>
          <a:xfrm>
            <a:off x="8229600" y="292608"/>
            <a:ext cx="3685032" cy="365760"/>
          </a:xfrm>
          <a:prstGeom prst="rect">
            <a:avLst/>
          </a:prstGeom>
          <a:noFill/>
        </p:spPr>
        <p:txBody>
          <a:bodyPr wrap="square" anchor="t" lIns="0" rIns="0" tIns="0" bIns="0">
            <a:noAutofit/>
          </a:bodyPr>
          <a:lstStyle/>
          <a:p>
            <a:pPr algn="r"/>
            <a:r>
              <a:rPr sz="1300" b="1" i="0">
                <a:solidFill>
                  <a:srgbClr val="01A296"/>
                </a:solidFill>
                <a:latin typeface="Calibri"/>
              </a:rPr>
              <a:t>ORBITKEY</a:t>
            </a:r>
          </a:p>
        </p:txBody>
      </p:sp>
      <p:sp>
        <p:nvSpPr>
          <p:cNvPr id="6" name="TextBox 5"/>
          <p:cNvSpPr txBox="1"/>
          <p:nvPr/>
        </p:nvSpPr>
        <p:spPr>
          <a:xfrm>
            <a:off x="274320" y="6473952"/>
            <a:ext cx="8686800" cy="274320"/>
          </a:xfrm>
          <a:prstGeom prst="rect">
            <a:avLst/>
          </a:prstGeom>
          <a:noFill/>
        </p:spPr>
        <p:txBody>
          <a:bodyPr wrap="square" anchor="t" lIns="0" rIns="0" tIns="0" bIns="0">
            <a:noAutofit/>
          </a:bodyPr>
          <a:lstStyle/>
          <a:p>
            <a:pPr algn="l"/>
            <a:r>
              <a:rPr sz="800" b="0" i="0">
                <a:solidFill>
                  <a:srgbClr val="01A296"/>
                </a:solidFill>
                <a:latin typeface="Calibri"/>
              </a:rPr>
              <a:t>Prepared by Nitesh Roopa CA, Managing Partner and Founder, ProfitPulse, Profit-Pulse.com.au</a:t>
            </a:r>
          </a:p>
        </p:txBody>
      </p:sp>
      <p:sp>
        <p:nvSpPr>
          <p:cNvPr id="7" name="TextBox 6"/>
          <p:cNvSpPr txBox="1"/>
          <p:nvPr/>
        </p:nvSpPr>
        <p:spPr>
          <a:xfrm>
            <a:off x="9601200" y="6473952"/>
            <a:ext cx="2313432" cy="274320"/>
          </a:xfrm>
          <a:prstGeom prst="rect">
            <a:avLst/>
          </a:prstGeom>
          <a:noFill/>
        </p:spPr>
        <p:txBody>
          <a:bodyPr wrap="square" anchor="t" lIns="0" rIns="0" tIns="0" bIns="0">
            <a:noAutofit/>
          </a:bodyPr>
          <a:lstStyle/>
          <a:p>
            <a:pPr algn="r"/>
            <a:r>
              <a:rPr sz="800" b="0" i="0">
                <a:solidFill>
                  <a:srgbClr val="01A296"/>
                </a:solidFill>
                <a:latin typeface="Calibri"/>
              </a:rPr>
              <a:t>25 Jul 2026</a:t>
            </a:r>
          </a:p>
        </p:txBody>
      </p:sp>
      <p:sp>
        <p:nvSpPr>
          <p:cNvPr id="8" name="TextBox 7"/>
          <p:cNvSpPr txBox="1"/>
          <p:nvPr/>
        </p:nvSpPr>
        <p:spPr>
          <a:xfrm>
            <a:off x="274320" y="1024128"/>
            <a:ext cx="11430000" cy="320040"/>
          </a:xfrm>
          <a:prstGeom prst="rect">
            <a:avLst/>
          </a:prstGeom>
          <a:noFill/>
        </p:spPr>
        <p:txBody>
          <a:bodyPr wrap="square" anchor="t" lIns="0" rIns="0" tIns="0" bIns="0">
            <a:noAutofit/>
          </a:bodyPr>
          <a:lstStyle/>
          <a:p>
            <a:pPr algn="l"/>
            <a:r>
              <a:rPr sz="1500" b="1" i="0">
                <a:solidFill>
                  <a:srgbClr val="000000"/>
                </a:solidFill>
                <a:latin typeface="Georgia"/>
              </a:rPr>
              <a:t>Orbitkey: three commercial observations from ProfitPulse</a:t>
            </a:r>
          </a:p>
        </p:txBody>
      </p:sp>
      <p:sp>
        <p:nvSpPr>
          <p:cNvPr id="9" name="Rectangle 8"/>
          <p:cNvSpPr/>
          <p:nvPr/>
        </p:nvSpPr>
        <p:spPr>
          <a:xfrm>
            <a:off x="274320" y="1444752"/>
            <a:ext cx="3789578" cy="416052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1627632"/>
            <a:ext cx="3387242" cy="548640"/>
          </a:xfrm>
          <a:prstGeom prst="rect">
            <a:avLst/>
          </a:prstGeom>
          <a:noFill/>
        </p:spPr>
        <p:txBody>
          <a:bodyPr wrap="square" anchor="t" lIns="0" rIns="0" tIns="0" bIns="0">
            <a:noAutofit/>
          </a:bodyPr>
          <a:lstStyle/>
          <a:p>
            <a:pPr algn="l"/>
            <a:r>
              <a:rPr sz="3000" b="1" i="0">
                <a:solidFill>
                  <a:srgbClr val="F8C806"/>
                </a:solidFill>
                <a:latin typeface="Georgia"/>
              </a:rPr>
              <a:t>01</a:t>
            </a:r>
          </a:p>
        </p:txBody>
      </p:sp>
      <p:sp>
        <p:nvSpPr>
          <p:cNvPr id="11" name="TextBox 10"/>
          <p:cNvSpPr txBox="1"/>
          <p:nvPr/>
        </p:nvSpPr>
        <p:spPr>
          <a:xfrm>
            <a:off x="475488" y="2313432"/>
            <a:ext cx="3387242" cy="685800"/>
          </a:xfrm>
          <a:prstGeom prst="rect">
            <a:avLst/>
          </a:prstGeom>
          <a:noFill/>
        </p:spPr>
        <p:txBody>
          <a:bodyPr wrap="square" anchor="t" lIns="0" rIns="0" tIns="0" bIns="0">
            <a:noAutofit/>
          </a:bodyPr>
          <a:lstStyle/>
          <a:p>
            <a:pPr algn="l"/>
            <a:r>
              <a:rPr sz="1600" b="1" i="0">
                <a:solidFill>
                  <a:srgbClr val="000000"/>
                </a:solidFill>
                <a:latin typeface="Georgia"/>
              </a:rPr>
              <a:t>Reinvestment without a formal plan</a:t>
            </a:r>
          </a:p>
        </p:txBody>
      </p:sp>
      <p:sp>
        <p:nvSpPr>
          <p:cNvPr id="12" name="TextBox 11"/>
          <p:cNvSpPr txBox="1"/>
          <p:nvPr/>
        </p:nvSpPr>
        <p:spPr>
          <a:xfrm>
            <a:off x="475488" y="3090672"/>
            <a:ext cx="3387242" cy="2377440"/>
          </a:xfrm>
          <a:prstGeom prst="rect">
            <a:avLst/>
          </a:prstGeom>
          <a:noFill/>
        </p:spPr>
        <p:txBody>
          <a:bodyPr wrap="square" lIns="0" rIns="0" tIns="0" bIns="0">
            <a:noAutofit/>
          </a:bodyPr>
          <a:lstStyle/>
          <a:p>
            <a:pPr algn="l">
              <a:lnSpc>
                <a:spcPct val="118000"/>
              </a:lnSpc>
              <a:spcAft>
                <a:spcPts val="0"/>
              </a:spcAft>
            </a:pPr>
            <a:r>
              <a:rPr sz="1100" b="0">
                <a:solidFill>
                  <a:srgbClr val="000000"/>
                </a:solidFill>
                <a:latin typeface="Calibri"/>
              </a:rPr>
              <a:t>Twenty percent annual growth to $24.6 million has been funded entirely by Kickstarter proceeds and retained earnings, not debt or equity. Every reinvestment choice, market, product, hire, has rested on founder judgement alone. At this scale a costed growth plan turns instinct into evidence.</a:t>
            </a:r>
          </a:p>
        </p:txBody>
      </p:sp>
      <p:sp>
        <p:nvSpPr>
          <p:cNvPr id="13" name="Rectangle 12"/>
          <p:cNvSpPr/>
          <p:nvPr/>
        </p:nvSpPr>
        <p:spPr>
          <a:xfrm>
            <a:off x="4201058" y="1444752"/>
            <a:ext cx="3789578" cy="41605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2226" y="1627632"/>
            <a:ext cx="3387242" cy="548640"/>
          </a:xfrm>
          <a:prstGeom prst="rect">
            <a:avLst/>
          </a:prstGeom>
          <a:noFill/>
        </p:spPr>
        <p:txBody>
          <a:bodyPr wrap="square" anchor="t" lIns="0" rIns="0" tIns="0" bIns="0">
            <a:noAutofit/>
          </a:bodyPr>
          <a:lstStyle/>
          <a:p>
            <a:pPr algn="l"/>
            <a:r>
              <a:rPr sz="3000" b="1" i="0">
                <a:solidFill>
                  <a:srgbClr val="F8C806"/>
                </a:solidFill>
                <a:latin typeface="Georgia"/>
              </a:rPr>
              <a:t>02</a:t>
            </a:r>
          </a:p>
        </p:txBody>
      </p:sp>
      <p:sp>
        <p:nvSpPr>
          <p:cNvPr id="15" name="TextBox 14"/>
          <p:cNvSpPr txBox="1"/>
          <p:nvPr/>
        </p:nvSpPr>
        <p:spPr>
          <a:xfrm>
            <a:off x="4402226" y="2313432"/>
            <a:ext cx="3387242" cy="685800"/>
          </a:xfrm>
          <a:prstGeom prst="rect">
            <a:avLst/>
          </a:prstGeom>
          <a:noFill/>
        </p:spPr>
        <p:txBody>
          <a:bodyPr wrap="square" anchor="t" lIns="0" rIns="0" tIns="0" bIns="0">
            <a:noAutofit/>
          </a:bodyPr>
          <a:lstStyle/>
          <a:p>
            <a:pPr algn="l"/>
            <a:r>
              <a:rPr sz="1600" b="1" i="0">
                <a:solidFill>
                  <a:srgbClr val="FFFFFF"/>
                </a:solidFill>
                <a:latin typeface="Georgia"/>
              </a:rPr>
              <a:t>Currency risk is rising with scale</a:t>
            </a:r>
          </a:p>
        </p:txBody>
      </p:sp>
      <p:sp>
        <p:nvSpPr>
          <p:cNvPr id="16" name="TextBox 15"/>
          <p:cNvSpPr txBox="1"/>
          <p:nvPr/>
        </p:nvSpPr>
        <p:spPr>
          <a:xfrm>
            <a:off x="4402226" y="3090672"/>
            <a:ext cx="3387242" cy="2377440"/>
          </a:xfrm>
          <a:prstGeom prst="rect">
            <a:avLst/>
          </a:prstGeom>
          <a:noFill/>
        </p:spPr>
        <p:txBody>
          <a:bodyPr wrap="square" lIns="0" rIns="0" tIns="0" bIns="0">
            <a:noAutofit/>
          </a:bodyPr>
          <a:lstStyle/>
          <a:p>
            <a:pPr algn="l">
              <a:lnSpc>
                <a:spcPct val="118000"/>
              </a:lnSpc>
              <a:spcAft>
                <a:spcPts val="0"/>
              </a:spcAft>
            </a:pPr>
            <a:r>
              <a:rPr sz="1100" b="0">
                <a:solidFill>
                  <a:srgbClr val="FFFFFF"/>
                </a:solidFill>
                <a:latin typeface="Calibri"/>
              </a:rPr>
              <a:t>Orbitkey rebuilt its payment rails with Airwallex specifically to serve wholesale growth into Europe, cutting settlement time from four days to one. As stockists multiply past a thousand across three continents, currency exposure becomes a genuine margin question, not a back office task.</a:t>
            </a:r>
          </a:p>
        </p:txBody>
      </p:sp>
      <p:sp>
        <p:nvSpPr>
          <p:cNvPr id="17" name="Rectangle 16"/>
          <p:cNvSpPr/>
          <p:nvPr/>
        </p:nvSpPr>
        <p:spPr>
          <a:xfrm>
            <a:off x="8127796" y="1444752"/>
            <a:ext cx="3789578" cy="416052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8964" y="1627632"/>
            <a:ext cx="3387242" cy="548640"/>
          </a:xfrm>
          <a:prstGeom prst="rect">
            <a:avLst/>
          </a:prstGeom>
          <a:noFill/>
        </p:spPr>
        <p:txBody>
          <a:bodyPr wrap="square" anchor="t" lIns="0" rIns="0" tIns="0" bIns="0">
            <a:noAutofit/>
          </a:bodyPr>
          <a:lstStyle/>
          <a:p>
            <a:pPr algn="l"/>
            <a:r>
              <a:rPr sz="3000" b="1" i="0">
                <a:solidFill>
                  <a:srgbClr val="FFFFFF"/>
                </a:solidFill>
                <a:latin typeface="Georgia"/>
              </a:rPr>
              <a:t>03</a:t>
            </a:r>
          </a:p>
        </p:txBody>
      </p:sp>
      <p:sp>
        <p:nvSpPr>
          <p:cNvPr id="19" name="TextBox 18"/>
          <p:cNvSpPr txBox="1"/>
          <p:nvPr/>
        </p:nvSpPr>
        <p:spPr>
          <a:xfrm>
            <a:off x="8328964" y="2313432"/>
            <a:ext cx="3387242" cy="685800"/>
          </a:xfrm>
          <a:prstGeom prst="rect">
            <a:avLst/>
          </a:prstGeom>
          <a:noFill/>
        </p:spPr>
        <p:txBody>
          <a:bodyPr wrap="square" anchor="t" lIns="0" rIns="0" tIns="0" bIns="0">
            <a:noAutofit/>
          </a:bodyPr>
          <a:lstStyle/>
          <a:p>
            <a:pPr algn="l"/>
            <a:r>
              <a:rPr sz="1600" b="1" i="0">
                <a:solidFill>
                  <a:srgbClr val="000000"/>
                </a:solidFill>
                <a:latin typeface="Georgia"/>
              </a:rPr>
              <a:t>Product depth needs a capital lens</a:t>
            </a:r>
          </a:p>
        </p:txBody>
      </p:sp>
      <p:sp>
        <p:nvSpPr>
          <p:cNvPr id="20" name="TextBox 19"/>
          <p:cNvSpPr txBox="1"/>
          <p:nvPr/>
        </p:nvSpPr>
        <p:spPr>
          <a:xfrm>
            <a:off x="8328964" y="3090672"/>
            <a:ext cx="3387242" cy="2377440"/>
          </a:xfrm>
          <a:prstGeom prst="rect">
            <a:avLst/>
          </a:prstGeom>
          <a:noFill/>
        </p:spPr>
        <p:txBody>
          <a:bodyPr wrap="square" lIns="0" rIns="0" tIns="0" bIns="0">
            <a:noAutofit/>
          </a:bodyPr>
          <a:lstStyle/>
          <a:p>
            <a:pPr algn="l">
              <a:lnSpc>
                <a:spcPct val="118000"/>
              </a:lnSpc>
              <a:spcAft>
                <a:spcPts val="0"/>
              </a:spcAft>
            </a:pPr>
            <a:r>
              <a:rPr sz="1100" b="0">
                <a:solidFill>
                  <a:srgbClr val="000000"/>
                </a:solidFill>
                <a:latin typeface="Calibri"/>
              </a:rPr>
              <a:t>The stated plan to become a one stop shop for everyday organisation means more product lines competing for the same reinvested profit pool. Ranking each line and market by margin and return before the next Kickstarter launch protects the growth rate already earned.</a:t>
            </a:r>
          </a:p>
        </p:txBody>
      </p:sp>
      <p:sp>
        <p:nvSpPr>
          <p:cNvPr id="21" name="TextBox 20"/>
          <p:cNvSpPr txBox="1"/>
          <p:nvPr/>
        </p:nvSpPr>
        <p:spPr>
          <a:xfrm>
            <a:off x="274320" y="5742432"/>
            <a:ext cx="11338560" cy="548640"/>
          </a:xfrm>
          <a:prstGeom prst="rect">
            <a:avLst/>
          </a:prstGeom>
          <a:noFill/>
        </p:spPr>
        <p:txBody>
          <a:bodyPr wrap="square" anchor="t" lIns="0" rIns="0" tIns="0" bIns="0">
            <a:noAutofit/>
          </a:bodyPr>
          <a:lstStyle/>
          <a:p>
            <a:pPr algn="l"/>
            <a:r>
              <a:rPr sz="1100" b="0" i="1">
                <a:solidFill>
                  <a:srgbClr val="01A296"/>
                </a:solidFill>
                <a:latin typeface="Calibri"/>
              </a:rPr>
              <a:t>These are observations offered in good faith. Orbitkey has built something genuinely impressive from conviction and community alone. The question is simply whether the financial architecture keeps pace with the ambition.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92608"/>
            <a:ext cx="7315200" cy="365760"/>
          </a:xfrm>
          <a:prstGeom prst="rect">
            <a:avLst/>
          </a:prstGeom>
          <a:noFill/>
        </p:spPr>
        <p:txBody>
          <a:bodyPr wrap="square" anchor="t" lIns="0" rIns="0" tIns="0" bIns="0">
            <a:noAutofit/>
          </a:bodyPr>
          <a:lstStyle/>
          <a:p>
            <a:pPr algn="l"/>
            <a:r>
              <a:rPr sz="1300" b="1" i="0">
                <a:solidFill>
                  <a:srgbClr val="E6E5DE"/>
                </a:solidFill>
                <a:latin typeface="Calibri"/>
              </a:rPr>
              <a:t>THE RECOMMENDATION</a:t>
            </a:r>
          </a:p>
        </p:txBody>
      </p:sp>
      <p:sp>
        <p:nvSpPr>
          <p:cNvPr id="5" name="TextBox 4"/>
          <p:cNvSpPr txBox="1"/>
          <p:nvPr/>
        </p:nvSpPr>
        <p:spPr>
          <a:xfrm>
            <a:off x="8229600" y="292608"/>
            <a:ext cx="3685032" cy="365760"/>
          </a:xfrm>
          <a:prstGeom prst="rect">
            <a:avLst/>
          </a:prstGeom>
          <a:noFill/>
        </p:spPr>
        <p:txBody>
          <a:bodyPr wrap="square" anchor="t" lIns="0" rIns="0" tIns="0" bIns="0">
            <a:noAutofit/>
          </a:bodyPr>
          <a:lstStyle/>
          <a:p>
            <a:pPr algn="r"/>
            <a:r>
              <a:rPr sz="1300" b="1" i="0">
                <a:solidFill>
                  <a:srgbClr val="01A296"/>
                </a:solidFill>
                <a:latin typeface="Calibri"/>
              </a:rPr>
              <a:t>ORBITKEY</a:t>
            </a:r>
          </a:p>
        </p:txBody>
      </p:sp>
      <p:sp>
        <p:nvSpPr>
          <p:cNvPr id="6" name="TextBox 5"/>
          <p:cNvSpPr txBox="1"/>
          <p:nvPr/>
        </p:nvSpPr>
        <p:spPr>
          <a:xfrm>
            <a:off x="274320" y="6473952"/>
            <a:ext cx="8686800" cy="274320"/>
          </a:xfrm>
          <a:prstGeom prst="rect">
            <a:avLst/>
          </a:prstGeom>
          <a:noFill/>
        </p:spPr>
        <p:txBody>
          <a:bodyPr wrap="square" anchor="t" lIns="0" rIns="0" tIns="0" bIns="0">
            <a:noAutofit/>
          </a:bodyPr>
          <a:lstStyle/>
          <a:p>
            <a:pPr algn="l"/>
            <a:r>
              <a:rPr sz="800" b="0" i="0">
                <a:solidFill>
                  <a:srgbClr val="01A296"/>
                </a:solidFill>
                <a:latin typeface="Calibri"/>
              </a:rPr>
              <a:t>Prepared by Nitesh Roopa CA, Managing Partner and Founder, ProfitPulse, Profit-Pulse.com.au</a:t>
            </a:r>
          </a:p>
        </p:txBody>
      </p:sp>
      <p:sp>
        <p:nvSpPr>
          <p:cNvPr id="7" name="TextBox 6"/>
          <p:cNvSpPr txBox="1"/>
          <p:nvPr/>
        </p:nvSpPr>
        <p:spPr>
          <a:xfrm>
            <a:off x="9601200" y="6473952"/>
            <a:ext cx="2313432" cy="274320"/>
          </a:xfrm>
          <a:prstGeom prst="rect">
            <a:avLst/>
          </a:prstGeom>
          <a:noFill/>
        </p:spPr>
        <p:txBody>
          <a:bodyPr wrap="square" anchor="t" lIns="0" rIns="0" tIns="0" bIns="0">
            <a:noAutofit/>
          </a:bodyPr>
          <a:lstStyle/>
          <a:p>
            <a:pPr algn="r"/>
            <a:r>
              <a:rPr sz="800" b="0" i="0">
                <a:solidFill>
                  <a:srgbClr val="01A296"/>
                </a:solidFill>
                <a:latin typeface="Calibri"/>
              </a:rPr>
              <a:t>25 Jul 2026</a:t>
            </a:r>
          </a:p>
        </p:txBody>
      </p:sp>
      <p:sp>
        <p:nvSpPr>
          <p:cNvPr id="8" name="TextBox 7"/>
          <p:cNvSpPr txBox="1"/>
          <p:nvPr/>
        </p:nvSpPr>
        <p:spPr>
          <a:xfrm>
            <a:off x="274320" y="1078992"/>
            <a:ext cx="6949440" cy="502920"/>
          </a:xfrm>
          <a:prstGeom prst="rect">
            <a:avLst/>
          </a:prstGeom>
          <a:noFill/>
        </p:spPr>
        <p:txBody>
          <a:bodyPr wrap="square" anchor="t" lIns="0" rIns="0" tIns="0" bIns="0">
            <a:noAutofit/>
          </a:bodyPr>
          <a:lstStyle/>
          <a:p>
            <a:pPr algn="l"/>
            <a:r>
              <a:rPr sz="2400" b="1" i="0">
                <a:solidFill>
                  <a:srgbClr val="000000"/>
                </a:solidFill>
                <a:latin typeface="Georgia"/>
              </a:rPr>
              <a:t>Strategic Growth Diagnostic</a:t>
            </a:r>
          </a:p>
        </p:txBody>
      </p:sp>
      <p:sp>
        <p:nvSpPr>
          <p:cNvPr id="9" name="TextBox 8"/>
          <p:cNvSpPr txBox="1"/>
          <p:nvPr/>
        </p:nvSpPr>
        <p:spPr>
          <a:xfrm>
            <a:off x="274320" y="1600200"/>
            <a:ext cx="6949440" cy="320040"/>
          </a:xfrm>
          <a:prstGeom prst="rect">
            <a:avLst/>
          </a:prstGeom>
          <a:noFill/>
        </p:spPr>
        <p:txBody>
          <a:bodyPr wrap="square" anchor="t" lIns="0" rIns="0" tIns="0" bIns="0">
            <a:noAutofit/>
          </a:bodyPr>
          <a:lstStyle/>
          <a:p>
            <a:pPr algn="l"/>
            <a:r>
              <a:rPr sz="1400" b="1" i="0">
                <a:solidFill>
                  <a:srgbClr val="01A296"/>
                </a:solidFill>
                <a:latin typeface="Calibri"/>
              </a:rPr>
              <a:t>$5,000 one off, ProfitPulse verified figure</a:t>
            </a:r>
          </a:p>
        </p:txBody>
      </p:sp>
      <p:sp>
        <p:nvSpPr>
          <p:cNvPr id="10" name="TextBox 9"/>
          <p:cNvSpPr txBox="1"/>
          <p:nvPr/>
        </p:nvSpPr>
        <p:spPr>
          <a:xfrm>
            <a:off x="274320" y="1965960"/>
            <a:ext cx="6949440" cy="640080"/>
          </a:xfrm>
          <a:prstGeom prst="rect">
            <a:avLst/>
          </a:prstGeom>
          <a:noFill/>
        </p:spPr>
        <p:txBody>
          <a:bodyPr wrap="square" lIns="0" rIns="0" tIns="0" bIns="0">
            <a:noAutofit/>
          </a:bodyPr>
          <a:lstStyle/>
          <a:p>
            <a:pPr algn="l">
              <a:lnSpc>
                <a:spcPct val="115000"/>
              </a:lnSpc>
              <a:spcAft>
                <a:spcPts val="0"/>
              </a:spcAft>
            </a:pPr>
            <a:r>
              <a:rPr sz="1200" b="0">
                <a:solidFill>
                  <a:srgbClr val="000000"/>
                </a:solidFill>
                <a:latin typeface="Calibri"/>
              </a:rPr>
              <a:t>Maps revenue, capacity and margin headroom into a costed twelve month growth plan for the US and Europe expansion under way.</a:t>
            </a:r>
          </a:p>
        </p:txBody>
      </p:sp>
      <p:sp>
        <p:nvSpPr>
          <p:cNvPr id="11" name="Rectangle 10"/>
          <p:cNvSpPr/>
          <p:nvPr/>
        </p:nvSpPr>
        <p:spPr>
          <a:xfrm>
            <a:off x="274320" y="2697480"/>
            <a:ext cx="6949440" cy="141732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834640"/>
            <a:ext cx="6583680" cy="320040"/>
          </a:xfrm>
          <a:prstGeom prst="rect">
            <a:avLst/>
          </a:prstGeom>
          <a:noFill/>
        </p:spPr>
        <p:txBody>
          <a:bodyPr wrap="square" anchor="t" lIns="0" rIns="0" tIns="0" bIns="0">
            <a:noAutofit/>
          </a:bodyPr>
          <a:lstStyle/>
          <a:p>
            <a:pPr algn="l"/>
            <a:r>
              <a:rPr sz="1300" b="1" i="0">
                <a:solidFill>
                  <a:srgbClr val="000000"/>
                </a:solidFill>
                <a:latin typeface="Calibri"/>
              </a:rPr>
              <a:t>Step one, answer a few quick questions</a:t>
            </a:r>
          </a:p>
        </p:txBody>
      </p:sp>
      <p:sp>
        <p:nvSpPr>
          <p:cNvPr id="13" name="TextBox 12"/>
          <p:cNvSpPr txBox="1"/>
          <p:nvPr/>
        </p:nvSpPr>
        <p:spPr>
          <a:xfrm>
            <a:off x="457200" y="3182112"/>
            <a:ext cx="6583680" cy="320040"/>
          </a:xfrm>
          <a:prstGeom prst="rect">
            <a:avLst/>
          </a:prstGeom>
          <a:noFill/>
        </p:spPr>
        <p:txBody>
          <a:bodyPr wrap="square" anchor="t" lIns="0" rIns="0" tIns="0" bIns="0">
            <a:noAutofit/>
          </a:bodyPr>
          <a:lstStyle/>
          <a:p>
            <a:pPr algn="l"/>
            <a:r>
              <a:rPr sz="1100" b="0" i="0">
                <a:solidFill>
                  <a:srgbClr val="000000"/>
                </a:solidFill>
                <a:latin typeface="Calibri"/>
              </a:rPr>
              <a:t>See the solutions matched to your size and industry.</a:t>
            </a:r>
          </a:p>
        </p:txBody>
      </p:sp>
      <p:sp>
        <p:nvSpPr>
          <p:cNvPr id="14" name="TextBox 13"/>
          <p:cNvSpPr txBox="1"/>
          <p:nvPr/>
        </p:nvSpPr>
        <p:spPr>
          <a:xfrm>
            <a:off x="457200" y="3566160"/>
            <a:ext cx="6583680" cy="365760"/>
          </a:xfrm>
          <a:prstGeom prst="rect">
            <a:avLst/>
          </a:prstGeom>
          <a:noFill/>
        </p:spPr>
        <p:txBody>
          <a:bodyPr wrap="square" anchor="t" lIns="0" rIns="0" tIns="0" bIns="0">
            <a:noAutofit/>
          </a:bodyPr>
          <a:lstStyle/>
          <a:p>
            <a:pPr algn="l"/>
            <a:r>
              <a:rPr sz="1300" b="1" i="0">
                <a:solidFill>
                  <a:srgbClr val="FFFFFF"/>
                </a:solidFill>
                <a:latin typeface="Calibri"/>
                <a:hlinkClick r:id="rId2"/>
              </a:rPr>
              <a:t>profit-pulse.com.au/services/find-your-fit</a:t>
            </a:r>
          </a:p>
        </p:txBody>
      </p:sp>
      <p:sp>
        <p:nvSpPr>
          <p:cNvPr id="15" name="Rectangle 14"/>
          <p:cNvSpPr/>
          <p:nvPr/>
        </p:nvSpPr>
        <p:spPr>
          <a:xfrm>
            <a:off x="274320" y="4279392"/>
            <a:ext cx="6949440"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443984"/>
            <a:ext cx="6583680" cy="320040"/>
          </a:xfrm>
          <a:prstGeom prst="rect">
            <a:avLst/>
          </a:prstGeom>
          <a:noFill/>
        </p:spPr>
        <p:txBody>
          <a:bodyPr wrap="square" anchor="t" lIns="0" rIns="0" tIns="0" bIns="0">
            <a:noAutofit/>
          </a:bodyPr>
          <a:lstStyle/>
          <a:p>
            <a:pPr algn="l"/>
            <a:r>
              <a:rPr sz="1300" b="1" i="0">
                <a:solidFill>
                  <a:srgbClr val="F8C806"/>
                </a:solidFill>
                <a:latin typeface="Calibri"/>
                <a:hlinkClick r:id="rId3"/>
              </a:rPr>
              <a:t>Purchase the suggested product now to get started</a:t>
            </a:r>
          </a:p>
        </p:txBody>
      </p:sp>
      <p:sp>
        <p:nvSpPr>
          <p:cNvPr id="17" name="TextBox 16"/>
          <p:cNvSpPr txBox="1"/>
          <p:nvPr/>
        </p:nvSpPr>
        <p:spPr>
          <a:xfrm>
            <a:off x="274320" y="5029200"/>
            <a:ext cx="6949440" cy="365760"/>
          </a:xfrm>
          <a:prstGeom prst="rect">
            <a:avLst/>
          </a:prstGeom>
          <a:noFill/>
        </p:spPr>
        <p:txBody>
          <a:bodyPr wrap="square" anchor="t" lIns="0" rIns="0" tIns="0" bIns="0">
            <a:noAutofit/>
          </a:bodyPr>
          <a:lstStyle/>
          <a:p>
            <a:pPr algn="l"/>
            <a:r>
              <a:rPr sz="1200" b="0" i="0">
                <a:solidFill>
                  <a:srgbClr val="000000"/>
                </a:solidFill>
                <a:latin typeface="Calibri"/>
                <a:hlinkClick r:id="rId4"/>
              </a:rPr>
              <a:t>Prefer a conversation first? Book a complimentary discovery call.</a:t>
            </a:r>
          </a:p>
        </p:txBody>
      </p:sp>
      <p:sp>
        <p:nvSpPr>
          <p:cNvPr id="18" name="Rectangle 17"/>
          <p:cNvSpPr/>
          <p:nvPr/>
        </p:nvSpPr>
        <p:spPr>
          <a:xfrm>
            <a:off x="7452360" y="1078992"/>
            <a:ext cx="4462272" cy="5138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53528" y="1280160"/>
            <a:ext cx="4059936" cy="365760"/>
          </a:xfrm>
          <a:prstGeom prst="rect">
            <a:avLst/>
          </a:prstGeom>
          <a:noFill/>
        </p:spPr>
        <p:txBody>
          <a:bodyPr wrap="square" anchor="t" lIns="0" rIns="0" tIns="0" bIns="0">
            <a:noAutofit/>
          </a:bodyPr>
          <a:lstStyle/>
          <a:p>
            <a:pPr algn="l"/>
            <a:r>
              <a:rPr sz="1600" b="1" i="0">
                <a:solidFill>
                  <a:srgbClr val="F8C806"/>
                </a:solidFill>
                <a:latin typeface="Calibri"/>
              </a:rPr>
              <a:t>NITESH ROOPA</a:t>
            </a:r>
          </a:p>
        </p:txBody>
      </p:sp>
      <p:sp>
        <p:nvSpPr>
          <p:cNvPr id="20" name="TextBox 19"/>
          <p:cNvSpPr txBox="1"/>
          <p:nvPr/>
        </p:nvSpPr>
        <p:spPr>
          <a:xfrm>
            <a:off x="7653528" y="1645920"/>
            <a:ext cx="4059936" cy="320040"/>
          </a:xfrm>
          <a:prstGeom prst="rect">
            <a:avLst/>
          </a:prstGeom>
          <a:noFill/>
        </p:spPr>
        <p:txBody>
          <a:bodyPr wrap="square" anchor="t" lIns="0" rIns="0" tIns="0" bIns="0">
            <a:noAutofit/>
          </a:bodyPr>
          <a:lstStyle/>
          <a:p>
            <a:pPr algn="l"/>
            <a:r>
              <a:rPr sz="1200" b="0" i="0">
                <a:solidFill>
                  <a:srgbClr val="FFFFFF"/>
                </a:solidFill>
                <a:latin typeface="Calibri"/>
              </a:rPr>
              <a:t>CA, Managing Partner, ProfitPulse</a:t>
            </a:r>
          </a:p>
        </p:txBody>
      </p:sp>
      <p:sp>
        <p:nvSpPr>
          <p:cNvPr id="21" name="Rectangle 20"/>
          <p:cNvSpPr/>
          <p:nvPr/>
        </p:nvSpPr>
        <p:spPr>
          <a:xfrm>
            <a:off x="7653528" y="1965960"/>
            <a:ext cx="4059936" cy="1524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53528" y="2194560"/>
            <a:ext cx="4059936" cy="1828800"/>
          </a:xfrm>
          <a:prstGeom prst="rect">
            <a:avLst/>
          </a:prstGeom>
          <a:noFill/>
        </p:spPr>
        <p:txBody>
          <a:bodyPr wrap="square" lIns="0" rIns="0" tIns="0" bIns="0">
            <a:noAutofit/>
          </a:bodyPr>
          <a:lstStyle/>
          <a:p>
            <a:pPr algn="l">
              <a:lnSpc>
                <a:spcPct val="120000"/>
              </a:lnSpc>
              <a:spcAft>
                <a:spcPts val="1600"/>
              </a:spcAft>
            </a:pPr>
            <a:r>
              <a:rPr sz="1100" b="0">
                <a:solidFill>
                  <a:srgbClr val="E6E5DE"/>
                </a:solidFill>
                <a:latin typeface="Calibri"/>
              </a:rPr>
              <a:t>16 years of experience across 4 countries</a:t>
            </a:r>
          </a:p>
          <a:p>
            <a:pPr algn="l">
              <a:lnSpc>
                <a:spcPct val="120000"/>
              </a:lnSpc>
              <a:spcAft>
                <a:spcPts val="1600"/>
              </a:spcAft>
            </a:pPr>
            <a:r>
              <a:rPr sz="1100" b="0">
                <a:solidFill>
                  <a:srgbClr val="E6E5DE"/>
                </a:solidFill>
                <a:latin typeface="Calibri"/>
              </a:rPr>
              <a:t>Over 52 deals executed and managed</a:t>
            </a:r>
          </a:p>
          <a:p>
            <a:pPr algn="l">
              <a:lnSpc>
                <a:spcPct val="120000"/>
              </a:lnSpc>
              <a:spcAft>
                <a:spcPts val="1600"/>
              </a:spcAft>
            </a:pPr>
            <a:r>
              <a:rPr sz="1100" b="0">
                <a:solidFill>
                  <a:srgbClr val="E6E5DE"/>
                </a:solidFill>
                <a:latin typeface="Calibri"/>
              </a:rPr>
              <a:t>Largest single deal, USD 1.3 billion, Cahora Bassa Hydro</a:t>
            </a:r>
          </a:p>
          <a:p>
            <a:pPr algn="l">
              <a:lnSpc>
                <a:spcPct val="120000"/>
              </a:lnSpc>
              <a:spcAft>
                <a:spcPts val="1600"/>
              </a:spcAft>
            </a:pPr>
            <a:r>
              <a:rPr sz="1100" b="0">
                <a:solidFill>
                  <a:srgbClr val="E6E5DE"/>
                </a:solidFill>
                <a:latin typeface="Calibri"/>
              </a:rPr>
              <a:t>Total GRBT project value in Queensland over AUD 10 billion</a:t>
            </a:r>
          </a:p>
        </p:txBody>
      </p:sp>
      <p:sp>
        <p:nvSpPr>
          <p:cNvPr id="23" name="Rectangle 22"/>
          <p:cNvSpPr/>
          <p:nvPr/>
        </p:nvSpPr>
        <p:spPr>
          <a:xfrm>
            <a:off x="7653528" y="3931920"/>
            <a:ext cx="4059936" cy="1524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53528" y="4187952"/>
            <a:ext cx="4059936" cy="1737360"/>
          </a:xfrm>
          <a:prstGeom prst="rect">
            <a:avLst/>
          </a:prstGeom>
          <a:noFill/>
        </p:spPr>
        <p:txBody>
          <a:bodyPr wrap="square" lIns="0" rIns="0" tIns="0" bIns="0">
            <a:noAutofit/>
          </a:bodyPr>
          <a:lstStyle/>
          <a:p>
            <a:pPr algn="l">
              <a:lnSpc>
                <a:spcPct val="135000"/>
              </a:lnSpc>
              <a:spcAft>
                <a:spcPts val="800"/>
              </a:spcAft>
            </a:pPr>
            <a:r>
              <a:rPr sz="1100" b="0">
                <a:solidFill>
                  <a:srgbClr val="FFFFFF"/>
                </a:solidFill>
                <a:latin typeface="Calibri"/>
              </a:rPr>
              <a:t>Profit-Pulse.com.au</a:t>
            </a:r>
          </a:p>
          <a:p>
            <a:pPr algn="l">
              <a:lnSpc>
                <a:spcPct val="135000"/>
              </a:lnSpc>
              <a:spcAft>
                <a:spcPts val="800"/>
              </a:spcAft>
            </a:pPr>
            <a:r>
              <a:rPr sz="1100" b="0">
                <a:solidFill>
                  <a:srgbClr val="FFFFFF"/>
                </a:solidFill>
                <a:latin typeface="Calibri"/>
              </a:rPr>
              <a:t>Nitesh@Profit-Pulse.com.au</a:t>
            </a:r>
          </a:p>
          <a:p>
            <a:pPr algn="l">
              <a:lnSpc>
                <a:spcPct val="135000"/>
              </a:lnSpc>
              <a:spcAft>
                <a:spcPts val="800"/>
              </a:spcAft>
            </a:pPr>
            <a:r>
              <a:rPr sz="1100" b="0">
                <a:solidFill>
                  <a:srgbClr val="FFFFFF"/>
                </a:solidFill>
                <a:latin typeface="Calibri"/>
              </a:rPr>
              <a:t>+61 411 876 267</a:t>
            </a:r>
          </a:p>
          <a:p>
            <a:pPr algn="l">
              <a:lnSpc>
                <a:spcPct val="135000"/>
              </a:lnSpc>
              <a:spcAft>
                <a:spcPts val="800"/>
              </a:spcAft>
            </a:pPr>
            <a:r>
              <a:rPr sz="1100" b="0">
                <a:solidFill>
                  <a:srgbClr val="FFFFFF"/>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