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82880"/>
            <a:ext cx="6858000" cy="411480"/>
          </a:xfrm>
          <a:prstGeom prst="rect">
            <a:avLst/>
          </a:prstGeom>
          <a:noFill/>
        </p:spPr>
        <p:txBody>
          <a:bodyPr wrap="square">
            <a:spAutoFit/>
          </a:bodyPr>
          <a:lstStyle/>
          <a:p>
            <a:pPr algn="l"/>
            <a:r>
              <a:rPr sz="1100" b="1" i="0">
                <a:solidFill>
                  <a:srgbClr val="E6E5DE"/>
                </a:solidFill>
                <a:latin typeface="Calibri"/>
              </a:rPr>
              <a:t>COMMERCIAL INTELLIGENCE BRIEF</a:t>
            </a:r>
          </a:p>
        </p:txBody>
      </p:sp>
      <p:sp>
        <p:nvSpPr>
          <p:cNvPr id="5" name="TextBox 4"/>
          <p:cNvSpPr txBox="1"/>
          <p:nvPr/>
        </p:nvSpPr>
        <p:spPr>
          <a:xfrm>
            <a:off x="7132320" y="182880"/>
            <a:ext cx="4846320" cy="411480"/>
          </a:xfrm>
          <a:prstGeom prst="rect">
            <a:avLst/>
          </a:prstGeom>
          <a:noFill/>
        </p:spPr>
        <p:txBody>
          <a:bodyPr wrap="square">
            <a:spAutoFit/>
          </a:bodyPr>
          <a:lstStyle/>
          <a:p>
            <a:pPr algn="r"/>
            <a:r>
              <a:rPr sz="1100" b="1" i="0">
                <a:solidFill>
                  <a:srgbClr val="01A296"/>
                </a:solidFill>
                <a:latin typeface="Calibri"/>
              </a:rPr>
              <a:t>TASKFORCE AUSTRALIA</a:t>
            </a:r>
          </a:p>
        </p:txBody>
      </p:sp>
      <p:sp>
        <p:nvSpPr>
          <p:cNvPr id="6" name="TextBox 5"/>
          <p:cNvSpPr txBox="1"/>
          <p:nvPr/>
        </p:nvSpPr>
        <p:spPr>
          <a:xfrm>
            <a:off x="228600" y="548640"/>
            <a:ext cx="4572000" cy="274320"/>
          </a:xfrm>
          <a:prstGeom prst="rect">
            <a:avLst/>
          </a:prstGeom>
          <a:noFill/>
        </p:spPr>
        <p:txBody>
          <a:bodyPr wrap="square">
            <a:spAutoFit/>
          </a:bodyPr>
          <a:lstStyle/>
          <a:p>
            <a:pPr algn="l"/>
            <a:r>
              <a:rPr sz="900" b="0" i="0">
                <a:solidFill>
                  <a:srgbClr val="888888"/>
                </a:solidFill>
                <a:latin typeface="Calibri"/>
              </a:rPr>
              <a:t>25 Jun 2026</a:t>
            </a:r>
          </a:p>
        </p:txBody>
      </p:sp>
      <p:sp>
        <p:nvSpPr>
          <p:cNvPr id="7" name="TextBox 6"/>
          <p:cNvSpPr txBox="1"/>
          <p:nvPr/>
        </p:nvSpPr>
        <p:spPr>
          <a:xfrm>
            <a:off x="228600" y="1005840"/>
            <a:ext cx="8229600" cy="640080"/>
          </a:xfrm>
          <a:prstGeom prst="rect">
            <a:avLst/>
          </a:prstGeom>
          <a:noFill/>
        </p:spPr>
        <p:txBody>
          <a:bodyPr wrap="square">
            <a:spAutoFit/>
          </a:bodyPr>
          <a:lstStyle/>
          <a:p>
            <a:pPr algn="l"/>
            <a:r>
              <a:rPr sz="4000" b="1" i="0">
                <a:solidFill>
                  <a:srgbClr val="000000"/>
                </a:solidFill>
                <a:latin typeface="Georgia"/>
              </a:rPr>
              <a:t>Taskforce Australia</a:t>
            </a:r>
          </a:p>
        </p:txBody>
      </p:sp>
      <p:sp>
        <p:nvSpPr>
          <p:cNvPr id="8" name="TextBox 7"/>
          <p:cNvSpPr txBox="1"/>
          <p:nvPr/>
        </p:nvSpPr>
        <p:spPr>
          <a:xfrm>
            <a:off x="228600" y="1691640"/>
            <a:ext cx="11430000" cy="365760"/>
          </a:xfrm>
          <a:prstGeom prst="rect">
            <a:avLst/>
          </a:prstGeom>
          <a:noFill/>
        </p:spPr>
        <p:txBody>
          <a:bodyPr wrap="square">
            <a:spAutoFit/>
          </a:bodyPr>
          <a:lstStyle/>
          <a:p>
            <a:pPr algn="l"/>
            <a:r>
              <a:rPr sz="1200" b="0" i="0">
                <a:solidFill>
                  <a:srgbClr val="01A296"/>
                </a:solidFill>
                <a:latin typeface="Calibri"/>
              </a:rPr>
              <a:t>Technology enabled property maintenance and compliance platform, Burnley, Melbourne VIC</a:t>
            </a:r>
          </a:p>
        </p:txBody>
      </p:sp>
      <p:sp>
        <p:nvSpPr>
          <p:cNvPr id="9" name="Rectangle 8"/>
          <p:cNvSpPr/>
          <p:nvPr/>
        </p:nvSpPr>
        <p:spPr>
          <a:xfrm>
            <a:off x="228600" y="2103120"/>
            <a:ext cx="11750040" cy="254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2176272"/>
            <a:ext cx="187451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217627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267712"/>
            <a:ext cx="1691639" cy="530352"/>
          </a:xfrm>
          <a:prstGeom prst="rect">
            <a:avLst/>
          </a:prstGeom>
          <a:noFill/>
        </p:spPr>
        <p:txBody>
          <a:bodyPr wrap="square">
            <a:spAutoFit/>
          </a:bodyPr>
          <a:lstStyle/>
          <a:p>
            <a:pPr algn="l"/>
            <a:r>
              <a:rPr sz="2600" b="1" i="0">
                <a:solidFill>
                  <a:srgbClr val="F8C806"/>
                </a:solidFill>
                <a:latin typeface="Georgia"/>
              </a:rPr>
              <a:t>$12.8M</a:t>
            </a:r>
          </a:p>
        </p:txBody>
      </p:sp>
      <p:sp>
        <p:nvSpPr>
          <p:cNvPr id="13" name="TextBox 12"/>
          <p:cNvSpPr txBox="1"/>
          <p:nvPr/>
        </p:nvSpPr>
        <p:spPr>
          <a:xfrm>
            <a:off x="320040" y="2834640"/>
            <a:ext cx="1691639" cy="320040"/>
          </a:xfrm>
          <a:prstGeom prst="rect">
            <a:avLst/>
          </a:prstGeom>
          <a:noFill/>
        </p:spPr>
        <p:txBody>
          <a:bodyPr wrap="square">
            <a:spAutoFit/>
          </a:bodyPr>
          <a:lstStyle/>
          <a:p>
            <a:pPr algn="l"/>
            <a:r>
              <a:rPr sz="1000" b="0" i="0">
                <a:solidFill>
                  <a:srgbClr val="E6E5DE"/>
                </a:solidFill>
                <a:latin typeface="Calibri"/>
              </a:rPr>
              <a:t>Revenue FY2025</a:t>
            </a:r>
          </a:p>
        </p:txBody>
      </p:sp>
      <p:sp>
        <p:nvSpPr>
          <p:cNvPr id="14" name="TextBox 13"/>
          <p:cNvSpPr txBox="1"/>
          <p:nvPr/>
        </p:nvSpPr>
        <p:spPr>
          <a:xfrm>
            <a:off x="320040" y="3182112"/>
            <a:ext cx="1691639" cy="201168"/>
          </a:xfrm>
          <a:prstGeom prst="rect">
            <a:avLst/>
          </a:prstGeom>
          <a:noFill/>
        </p:spPr>
        <p:txBody>
          <a:bodyPr wrap="square">
            <a:spAutoFit/>
          </a:bodyPr>
          <a:lstStyle/>
          <a:p>
            <a:pPr algn="l"/>
            <a:r>
              <a:rPr sz="700" b="0" i="1">
                <a:solidFill>
                  <a:srgbClr val="01A296"/>
                </a:solidFill>
                <a:latin typeface="Calibri"/>
              </a:rPr>
              <a:t>Smart50 Nov 2025</a:t>
            </a:r>
          </a:p>
        </p:txBody>
      </p:sp>
      <p:sp>
        <p:nvSpPr>
          <p:cNvPr id="15" name="Rectangle 14"/>
          <p:cNvSpPr/>
          <p:nvPr/>
        </p:nvSpPr>
        <p:spPr>
          <a:xfrm>
            <a:off x="2148839" y="2176272"/>
            <a:ext cx="187451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48839" y="217627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40279" y="2267712"/>
            <a:ext cx="1691639" cy="530352"/>
          </a:xfrm>
          <a:prstGeom prst="rect">
            <a:avLst/>
          </a:prstGeom>
          <a:noFill/>
        </p:spPr>
        <p:txBody>
          <a:bodyPr wrap="square">
            <a:spAutoFit/>
          </a:bodyPr>
          <a:lstStyle/>
          <a:p>
            <a:pPr algn="l"/>
            <a:r>
              <a:rPr sz="2600" b="1" i="0">
                <a:solidFill>
                  <a:srgbClr val="F8C806"/>
                </a:solidFill>
                <a:latin typeface="Georgia"/>
              </a:rPr>
              <a:t>31%</a:t>
            </a:r>
          </a:p>
        </p:txBody>
      </p:sp>
      <p:sp>
        <p:nvSpPr>
          <p:cNvPr id="18" name="TextBox 17"/>
          <p:cNvSpPr txBox="1"/>
          <p:nvPr/>
        </p:nvSpPr>
        <p:spPr>
          <a:xfrm>
            <a:off x="2240279" y="2834640"/>
            <a:ext cx="1691639" cy="320040"/>
          </a:xfrm>
          <a:prstGeom prst="rect">
            <a:avLst/>
          </a:prstGeom>
          <a:noFill/>
        </p:spPr>
        <p:txBody>
          <a:bodyPr wrap="square">
            <a:spAutoFit/>
          </a:bodyPr>
          <a:lstStyle/>
          <a:p>
            <a:pPr algn="l"/>
            <a:r>
              <a:rPr sz="1000" b="0" i="0">
                <a:solidFill>
                  <a:srgbClr val="E6E5DE"/>
                </a:solidFill>
                <a:latin typeface="Calibri"/>
              </a:rPr>
              <a:t>Year on year growth</a:t>
            </a:r>
          </a:p>
        </p:txBody>
      </p:sp>
      <p:sp>
        <p:nvSpPr>
          <p:cNvPr id="19" name="TextBox 18"/>
          <p:cNvSpPr txBox="1"/>
          <p:nvPr/>
        </p:nvSpPr>
        <p:spPr>
          <a:xfrm>
            <a:off x="2240279" y="3182112"/>
            <a:ext cx="1691639" cy="201168"/>
          </a:xfrm>
          <a:prstGeom prst="rect">
            <a:avLst/>
          </a:prstGeom>
          <a:noFill/>
        </p:spPr>
        <p:txBody>
          <a:bodyPr wrap="square">
            <a:spAutoFit/>
          </a:bodyPr>
          <a:lstStyle/>
          <a:p>
            <a:pPr algn="l"/>
            <a:r>
              <a:rPr sz="700" b="0" i="1">
                <a:solidFill>
                  <a:srgbClr val="01A296"/>
                </a:solidFill>
                <a:latin typeface="Calibri"/>
              </a:rPr>
              <a:t>Smart50 Nov 2025</a:t>
            </a:r>
          </a:p>
        </p:txBody>
      </p:sp>
      <p:sp>
        <p:nvSpPr>
          <p:cNvPr id="20" name="Rectangle 19"/>
          <p:cNvSpPr/>
          <p:nvPr/>
        </p:nvSpPr>
        <p:spPr>
          <a:xfrm>
            <a:off x="4069078" y="2176272"/>
            <a:ext cx="187451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69078" y="217627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60518" y="2267712"/>
            <a:ext cx="1691639" cy="530352"/>
          </a:xfrm>
          <a:prstGeom prst="rect">
            <a:avLst/>
          </a:prstGeom>
          <a:noFill/>
        </p:spPr>
        <p:txBody>
          <a:bodyPr wrap="square">
            <a:spAutoFit/>
          </a:bodyPr>
          <a:lstStyle/>
          <a:p>
            <a:pPr algn="l"/>
            <a:r>
              <a:rPr sz="2600" b="1" i="0">
                <a:solidFill>
                  <a:srgbClr val="F8C806"/>
                </a:solidFill>
                <a:latin typeface="Georgia"/>
              </a:rPr>
              <a:t>19</a:t>
            </a:r>
          </a:p>
        </p:txBody>
      </p:sp>
      <p:sp>
        <p:nvSpPr>
          <p:cNvPr id="23" name="TextBox 22"/>
          <p:cNvSpPr txBox="1"/>
          <p:nvPr/>
        </p:nvSpPr>
        <p:spPr>
          <a:xfrm>
            <a:off x="4160518" y="2834640"/>
            <a:ext cx="1691639" cy="320040"/>
          </a:xfrm>
          <a:prstGeom prst="rect">
            <a:avLst/>
          </a:prstGeom>
          <a:noFill/>
        </p:spPr>
        <p:txBody>
          <a:bodyPr wrap="square">
            <a:spAutoFit/>
          </a:bodyPr>
          <a:lstStyle/>
          <a:p>
            <a:pPr algn="l"/>
            <a:r>
              <a:rPr sz="1000" b="0" i="0">
                <a:solidFill>
                  <a:srgbClr val="E6E5DE"/>
                </a:solidFill>
                <a:latin typeface="Calibri"/>
              </a:rPr>
              <a:t>Full time team members</a:t>
            </a:r>
          </a:p>
        </p:txBody>
      </p:sp>
      <p:sp>
        <p:nvSpPr>
          <p:cNvPr id="24" name="TextBox 23"/>
          <p:cNvSpPr txBox="1"/>
          <p:nvPr/>
        </p:nvSpPr>
        <p:spPr>
          <a:xfrm>
            <a:off x="4160518" y="3182112"/>
            <a:ext cx="1691639" cy="201168"/>
          </a:xfrm>
          <a:prstGeom prst="rect">
            <a:avLst/>
          </a:prstGeom>
          <a:noFill/>
        </p:spPr>
        <p:txBody>
          <a:bodyPr wrap="square">
            <a:spAutoFit/>
          </a:bodyPr>
          <a:lstStyle/>
          <a:p>
            <a:pPr algn="l"/>
            <a:r>
              <a:rPr sz="700" b="0" i="1">
                <a:solidFill>
                  <a:srgbClr val="01A296"/>
                </a:solidFill>
                <a:latin typeface="Calibri"/>
              </a:rPr>
              <a:t>Smart50 Nov 2025</a:t>
            </a:r>
          </a:p>
        </p:txBody>
      </p:sp>
      <p:sp>
        <p:nvSpPr>
          <p:cNvPr id="25" name="Rectangle 24"/>
          <p:cNvSpPr/>
          <p:nvPr/>
        </p:nvSpPr>
        <p:spPr>
          <a:xfrm>
            <a:off x="5989317" y="2176272"/>
            <a:ext cx="187451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89317" y="217627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0757" y="2267712"/>
            <a:ext cx="1691639" cy="530352"/>
          </a:xfrm>
          <a:prstGeom prst="rect">
            <a:avLst/>
          </a:prstGeom>
          <a:noFill/>
        </p:spPr>
        <p:txBody>
          <a:bodyPr wrap="square">
            <a:spAutoFit/>
          </a:bodyPr>
          <a:lstStyle/>
          <a:p>
            <a:pPr algn="l"/>
            <a:r>
              <a:rPr sz="2600" b="1" i="0">
                <a:solidFill>
                  <a:srgbClr val="F8C806"/>
                </a:solidFill>
                <a:latin typeface="Georgia"/>
              </a:rPr>
              <a:t>5,500</a:t>
            </a:r>
          </a:p>
        </p:txBody>
      </p:sp>
      <p:sp>
        <p:nvSpPr>
          <p:cNvPr id="28" name="TextBox 27"/>
          <p:cNvSpPr txBox="1"/>
          <p:nvPr/>
        </p:nvSpPr>
        <p:spPr>
          <a:xfrm>
            <a:off x="6080757" y="2834640"/>
            <a:ext cx="1691639" cy="320040"/>
          </a:xfrm>
          <a:prstGeom prst="rect">
            <a:avLst/>
          </a:prstGeom>
          <a:noFill/>
        </p:spPr>
        <p:txBody>
          <a:bodyPr wrap="square">
            <a:spAutoFit/>
          </a:bodyPr>
          <a:lstStyle/>
          <a:p>
            <a:pPr algn="l"/>
            <a:r>
              <a:rPr sz="1000" b="0" i="0">
                <a:solidFill>
                  <a:srgbClr val="E6E5DE"/>
                </a:solidFill>
                <a:latin typeface="Calibri"/>
              </a:rPr>
              <a:t>Tradespeople in network</a:t>
            </a:r>
          </a:p>
        </p:txBody>
      </p:sp>
      <p:sp>
        <p:nvSpPr>
          <p:cNvPr id="29" name="TextBox 28"/>
          <p:cNvSpPr txBox="1"/>
          <p:nvPr/>
        </p:nvSpPr>
        <p:spPr>
          <a:xfrm>
            <a:off x="6080757" y="3182112"/>
            <a:ext cx="1691639" cy="201168"/>
          </a:xfrm>
          <a:prstGeom prst="rect">
            <a:avLst/>
          </a:prstGeom>
          <a:noFill/>
        </p:spPr>
        <p:txBody>
          <a:bodyPr wrap="square">
            <a:spAutoFit/>
          </a:bodyPr>
          <a:lstStyle/>
          <a:p>
            <a:pPr algn="l"/>
            <a:r>
              <a:rPr sz="700" b="0" i="1">
                <a:solidFill>
                  <a:srgbClr val="01A296"/>
                </a:solidFill>
                <a:latin typeface="Calibri"/>
              </a:rPr>
              <a:t>Smart50 Nov 2025</a:t>
            </a:r>
          </a:p>
        </p:txBody>
      </p:sp>
      <p:sp>
        <p:nvSpPr>
          <p:cNvPr id="30" name="Rectangle 29"/>
          <p:cNvSpPr/>
          <p:nvPr/>
        </p:nvSpPr>
        <p:spPr>
          <a:xfrm>
            <a:off x="7909556" y="2176272"/>
            <a:ext cx="187451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09556" y="217627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0996" y="2267712"/>
            <a:ext cx="1691639" cy="530352"/>
          </a:xfrm>
          <a:prstGeom prst="rect">
            <a:avLst/>
          </a:prstGeom>
          <a:noFill/>
        </p:spPr>
        <p:txBody>
          <a:bodyPr wrap="square">
            <a:spAutoFit/>
          </a:bodyPr>
          <a:lstStyle/>
          <a:p>
            <a:pPr algn="l"/>
            <a:r>
              <a:rPr sz="2600" b="1" i="0">
                <a:solidFill>
                  <a:srgbClr val="F8C806"/>
                </a:solidFill>
                <a:latin typeface="Georgia"/>
              </a:rPr>
              <a:t>#37</a:t>
            </a:r>
          </a:p>
        </p:txBody>
      </p:sp>
      <p:sp>
        <p:nvSpPr>
          <p:cNvPr id="33" name="TextBox 32"/>
          <p:cNvSpPr txBox="1"/>
          <p:nvPr/>
        </p:nvSpPr>
        <p:spPr>
          <a:xfrm>
            <a:off x="8000996" y="2834640"/>
            <a:ext cx="1691639" cy="320040"/>
          </a:xfrm>
          <a:prstGeom prst="rect">
            <a:avLst/>
          </a:prstGeom>
          <a:noFill/>
        </p:spPr>
        <p:txBody>
          <a:bodyPr wrap="square">
            <a:spAutoFit/>
          </a:bodyPr>
          <a:lstStyle/>
          <a:p>
            <a:pPr algn="l"/>
            <a:r>
              <a:rPr sz="1000" b="0" i="0">
                <a:solidFill>
                  <a:srgbClr val="E6E5DE"/>
                </a:solidFill>
                <a:latin typeface="Calibri"/>
              </a:rPr>
              <a:t>Smart50 2025 national rank</a:t>
            </a:r>
          </a:p>
        </p:txBody>
      </p:sp>
      <p:sp>
        <p:nvSpPr>
          <p:cNvPr id="34" name="TextBox 33"/>
          <p:cNvSpPr txBox="1"/>
          <p:nvPr/>
        </p:nvSpPr>
        <p:spPr>
          <a:xfrm>
            <a:off x="8000996" y="3182112"/>
            <a:ext cx="1691639" cy="201168"/>
          </a:xfrm>
          <a:prstGeom prst="rect">
            <a:avLst/>
          </a:prstGeom>
          <a:noFill/>
        </p:spPr>
        <p:txBody>
          <a:bodyPr wrap="square">
            <a:spAutoFit/>
          </a:bodyPr>
          <a:lstStyle/>
          <a:p>
            <a:pPr algn="l"/>
            <a:r>
              <a:rPr sz="700" b="0" i="1">
                <a:solidFill>
                  <a:srgbClr val="01A296"/>
                </a:solidFill>
                <a:latin typeface="Calibri"/>
              </a:rPr>
              <a:t>Smart50 Nov 2025</a:t>
            </a:r>
          </a:p>
        </p:txBody>
      </p:sp>
      <p:sp>
        <p:nvSpPr>
          <p:cNvPr id="35" name="Rectangle 34"/>
          <p:cNvSpPr/>
          <p:nvPr/>
        </p:nvSpPr>
        <p:spPr>
          <a:xfrm>
            <a:off x="9829795" y="2176272"/>
            <a:ext cx="187451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29795" y="2176272"/>
            <a:ext cx="1874519"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21235" y="2267712"/>
            <a:ext cx="1691639" cy="530352"/>
          </a:xfrm>
          <a:prstGeom prst="rect">
            <a:avLst/>
          </a:prstGeom>
          <a:noFill/>
        </p:spPr>
        <p:txBody>
          <a:bodyPr wrap="square">
            <a:spAutoFit/>
          </a:bodyPr>
          <a:lstStyle/>
          <a:p>
            <a:pPr algn="l"/>
            <a:r>
              <a:rPr sz="2600" b="1" i="0">
                <a:solidFill>
                  <a:srgbClr val="F8C806"/>
                </a:solidFill>
                <a:latin typeface="Georgia"/>
              </a:rPr>
              <a:t>500</a:t>
            </a:r>
          </a:p>
        </p:txBody>
      </p:sp>
      <p:sp>
        <p:nvSpPr>
          <p:cNvPr id="38" name="TextBox 37"/>
          <p:cNvSpPr txBox="1"/>
          <p:nvPr/>
        </p:nvSpPr>
        <p:spPr>
          <a:xfrm>
            <a:off x="9921235" y="2834640"/>
            <a:ext cx="1691639" cy="320040"/>
          </a:xfrm>
          <a:prstGeom prst="rect">
            <a:avLst/>
          </a:prstGeom>
          <a:noFill/>
        </p:spPr>
        <p:txBody>
          <a:bodyPr wrap="square">
            <a:spAutoFit/>
          </a:bodyPr>
          <a:lstStyle/>
          <a:p>
            <a:pPr algn="l"/>
            <a:r>
              <a:rPr sz="1000" b="0" i="0">
                <a:solidFill>
                  <a:srgbClr val="E6E5DE"/>
                </a:solidFill>
                <a:latin typeface="Calibri"/>
              </a:rPr>
              <a:t>Real estate agency clients</a:t>
            </a:r>
          </a:p>
        </p:txBody>
      </p:sp>
      <p:sp>
        <p:nvSpPr>
          <p:cNvPr id="39" name="TextBox 38"/>
          <p:cNvSpPr txBox="1"/>
          <p:nvPr/>
        </p:nvSpPr>
        <p:spPr>
          <a:xfrm>
            <a:off x="9921235" y="3182112"/>
            <a:ext cx="1691639" cy="201168"/>
          </a:xfrm>
          <a:prstGeom prst="rect">
            <a:avLst/>
          </a:prstGeom>
          <a:noFill/>
        </p:spPr>
        <p:txBody>
          <a:bodyPr wrap="square">
            <a:spAutoFit/>
          </a:bodyPr>
          <a:lstStyle/>
          <a:p>
            <a:pPr algn="l"/>
            <a:r>
              <a:rPr sz="700" b="0" i="1">
                <a:solidFill>
                  <a:srgbClr val="01A296"/>
                </a:solidFill>
                <a:latin typeface="Calibri"/>
              </a:rPr>
              <a:t>taskforce.com.au</a:t>
            </a:r>
          </a:p>
        </p:txBody>
      </p:sp>
      <p:sp>
        <p:nvSpPr>
          <p:cNvPr id="40" name="TextBox 39"/>
          <p:cNvSpPr txBox="1"/>
          <p:nvPr/>
        </p:nvSpPr>
        <p:spPr>
          <a:xfrm>
            <a:off x="228600" y="3566160"/>
            <a:ext cx="6675120" cy="292608"/>
          </a:xfrm>
          <a:prstGeom prst="rect">
            <a:avLst/>
          </a:prstGeom>
          <a:noFill/>
        </p:spPr>
        <p:txBody>
          <a:bodyPr wrap="square">
            <a:spAutoFit/>
          </a:bodyPr>
          <a:lstStyle/>
          <a:p>
            <a:pPr algn="l"/>
            <a:r>
              <a:rPr sz="1100" b="1" i="0">
                <a:solidFill>
                  <a:srgbClr val="01A296"/>
                </a:solidFill>
                <a:latin typeface="Calibri"/>
              </a:rPr>
              <a:t>KEY COMMERCIAL SIGNALS</a:t>
            </a:r>
          </a:p>
        </p:txBody>
      </p:sp>
      <p:sp>
        <p:nvSpPr>
          <p:cNvPr id="41" name="TextBox 40"/>
          <p:cNvSpPr txBox="1"/>
          <p:nvPr/>
        </p:nvSpPr>
        <p:spPr>
          <a:xfrm>
            <a:off x="228600" y="3913632"/>
            <a:ext cx="6492240" cy="365760"/>
          </a:xfrm>
          <a:prstGeom prst="rect">
            <a:avLst/>
          </a:prstGeom>
          <a:noFill/>
        </p:spPr>
        <p:txBody>
          <a:bodyPr wrap="square">
            <a:spAutoFit/>
          </a:bodyPr>
          <a:lstStyle/>
          <a:p>
            <a:pPr algn="l"/>
            <a:r>
              <a:rPr sz="900" b="0" i="0">
                <a:solidFill>
                  <a:srgbClr val="000000"/>
                </a:solidFill>
                <a:latin typeface="Calibri"/>
              </a:rPr>
              <a:t>Three consecutive Smart50 placements (2023, 2024, 2025), with national ranking improving each year.</a:t>
            </a:r>
          </a:p>
          <a:p>
            <a:pPr algn="l"/>
            <a:r>
              <a:rPr sz="700" b="0" i="1">
                <a:solidFill>
                  <a:srgbClr val="888888"/>
                </a:solidFill>
                <a:latin typeface="Calibri"/>
              </a:rPr>
              <a:t>Source: SmartCompany Smart50 series 2023 to 2025.</a:t>
            </a:r>
          </a:p>
        </p:txBody>
      </p:sp>
      <p:sp>
        <p:nvSpPr>
          <p:cNvPr id="42" name="TextBox 41"/>
          <p:cNvSpPr txBox="1"/>
          <p:nvPr/>
        </p:nvSpPr>
        <p:spPr>
          <a:xfrm>
            <a:off x="228600" y="4265676"/>
            <a:ext cx="6492240" cy="365760"/>
          </a:xfrm>
          <a:prstGeom prst="rect">
            <a:avLst/>
          </a:prstGeom>
          <a:noFill/>
        </p:spPr>
        <p:txBody>
          <a:bodyPr wrap="square">
            <a:spAutoFit/>
          </a:bodyPr>
          <a:lstStyle/>
          <a:p>
            <a:pPr algn="l"/>
            <a:r>
              <a:rPr sz="900" b="0" i="0">
                <a:solidFill>
                  <a:srgbClr val="000000"/>
                </a:solidFill>
                <a:latin typeface="Calibri"/>
              </a:rPr>
              <a:t>Revenue grew from $7.43M to $12.8M in two years, a cumulative 72 percent increase.</a:t>
            </a:r>
          </a:p>
          <a:p>
            <a:pPr algn="l"/>
            <a:r>
              <a:rPr sz="700" b="0" i="1">
                <a:solidFill>
                  <a:srgbClr val="888888"/>
                </a:solidFill>
                <a:latin typeface="Calibri"/>
              </a:rPr>
              <a:t>Source: SmartCompany Smart50 2023 and Smart50 2025.</a:t>
            </a:r>
          </a:p>
        </p:txBody>
      </p:sp>
      <p:sp>
        <p:nvSpPr>
          <p:cNvPr id="43" name="TextBox 42"/>
          <p:cNvSpPr txBox="1"/>
          <p:nvPr/>
        </p:nvSpPr>
        <p:spPr>
          <a:xfrm>
            <a:off x="228600" y="4617720"/>
            <a:ext cx="6492240" cy="365760"/>
          </a:xfrm>
          <a:prstGeom prst="rect">
            <a:avLst/>
          </a:prstGeom>
          <a:noFill/>
        </p:spPr>
        <p:txBody>
          <a:bodyPr wrap="square">
            <a:spAutoFit/>
          </a:bodyPr>
          <a:lstStyle/>
          <a:p>
            <a:pPr algn="l"/>
            <a:r>
              <a:rPr sz="900" b="0" i="0">
                <a:solidFill>
                  <a:srgbClr val="000000"/>
                </a:solidFill>
                <a:latin typeface="Calibri"/>
              </a:rPr>
              <a:t>Housing division publicly named the strongest and most profitable area; social housing expansion is underway.</a:t>
            </a:r>
          </a:p>
          <a:p>
            <a:pPr algn="l"/>
            <a:r>
              <a:rPr sz="700" b="0" i="1">
                <a:solidFill>
                  <a:srgbClr val="888888"/>
                </a:solidFill>
                <a:latin typeface="Calibri"/>
              </a:rPr>
              <a:t>Source: SmartCompany Smart50 2025.</a:t>
            </a:r>
          </a:p>
        </p:txBody>
      </p:sp>
      <p:sp>
        <p:nvSpPr>
          <p:cNvPr id="44" name="TextBox 43"/>
          <p:cNvSpPr txBox="1"/>
          <p:nvPr/>
        </p:nvSpPr>
        <p:spPr>
          <a:xfrm>
            <a:off x="228600" y="4969764"/>
            <a:ext cx="6492240" cy="365760"/>
          </a:xfrm>
          <a:prstGeom prst="rect">
            <a:avLst/>
          </a:prstGeom>
          <a:noFill/>
        </p:spPr>
        <p:txBody>
          <a:bodyPr wrap="square">
            <a:spAutoFit/>
          </a:bodyPr>
          <a:lstStyle/>
          <a:p>
            <a:pPr algn="l"/>
            <a:r>
              <a:rPr sz="900" b="0" i="0">
                <a:solidFill>
                  <a:srgbClr val="000000"/>
                </a:solidFill>
                <a:latin typeface="Calibri"/>
              </a:rPr>
              <a:t>Founders have publicly committed to 50 to 60 percent CAGR for the next three years via organically funded growth.</a:t>
            </a:r>
          </a:p>
          <a:p>
            <a:pPr algn="l"/>
            <a:r>
              <a:rPr sz="700" b="0" i="1">
                <a:solidFill>
                  <a:srgbClr val="888888"/>
                </a:solidFill>
                <a:latin typeface="Calibri"/>
              </a:rPr>
              <a:t>Source: SmartCompany Smart50 2025.</a:t>
            </a:r>
          </a:p>
        </p:txBody>
      </p:sp>
      <p:sp>
        <p:nvSpPr>
          <p:cNvPr id="45" name="TextBox 44"/>
          <p:cNvSpPr txBox="1"/>
          <p:nvPr/>
        </p:nvSpPr>
        <p:spPr>
          <a:xfrm>
            <a:off x="228600" y="5321808"/>
            <a:ext cx="6492240" cy="365760"/>
          </a:xfrm>
          <a:prstGeom prst="rect">
            <a:avLst/>
          </a:prstGeom>
          <a:noFill/>
        </p:spPr>
        <p:txBody>
          <a:bodyPr wrap="square">
            <a:spAutoFit/>
          </a:bodyPr>
          <a:lstStyle/>
          <a:p>
            <a:pPr algn="l"/>
            <a:r>
              <a:rPr sz="900" b="0" i="0">
                <a:solidFill>
                  <a:srgbClr val="000000"/>
                </a:solidFill>
                <a:latin typeface="Calibri"/>
              </a:rPr>
              <a:t>Four point growth agenda includes AI platform investment and a staff equity plan, creating active capital allocation decisions.</a:t>
            </a:r>
          </a:p>
          <a:p>
            <a:pPr algn="l"/>
            <a:r>
              <a:rPr sz="700" b="0" i="1">
                <a:solidFill>
                  <a:srgbClr val="888888"/>
                </a:solidFill>
                <a:latin typeface="Calibri"/>
              </a:rPr>
              <a:t>Source: SmartCompany Smart50 2025.</a:t>
            </a:r>
          </a:p>
        </p:txBody>
      </p:sp>
      <p:sp>
        <p:nvSpPr>
          <p:cNvPr id="46" name="TextBox 45"/>
          <p:cNvSpPr txBox="1"/>
          <p:nvPr/>
        </p:nvSpPr>
        <p:spPr>
          <a:xfrm>
            <a:off x="228600" y="5673852"/>
            <a:ext cx="6492240" cy="365760"/>
          </a:xfrm>
          <a:prstGeom prst="rect">
            <a:avLst/>
          </a:prstGeom>
          <a:noFill/>
        </p:spPr>
        <p:txBody>
          <a:bodyPr wrap="square">
            <a:spAutoFit/>
          </a:bodyPr>
          <a:lstStyle/>
          <a:p>
            <a:pPr algn="l"/>
            <a:r>
              <a:rPr sz="900" b="0" i="0">
                <a:solidFill>
                  <a:srgbClr val="000000"/>
                </a:solidFill>
                <a:latin typeface="Calibri"/>
              </a:rPr>
              <a:t>RentSafe platform serves 500 real estate agencies with automated property safety compliance for rental properties.</a:t>
            </a:r>
          </a:p>
          <a:p>
            <a:pPr algn="l"/>
            <a:r>
              <a:rPr sz="700" b="0" i="1">
                <a:solidFill>
                  <a:srgbClr val="888888"/>
                </a:solidFill>
                <a:latin typeface="Calibri"/>
              </a:rPr>
              <a:t>Source: taskforce.com.au and PropTechPRO company profile.</a:t>
            </a:r>
          </a:p>
        </p:txBody>
      </p:sp>
      <p:sp>
        <p:nvSpPr>
          <p:cNvPr id="47" name="TextBox 46"/>
          <p:cNvSpPr txBox="1"/>
          <p:nvPr/>
        </p:nvSpPr>
        <p:spPr>
          <a:xfrm>
            <a:off x="7040880" y="3566160"/>
            <a:ext cx="4937760" cy="292608"/>
          </a:xfrm>
          <a:prstGeom prst="rect">
            <a:avLst/>
          </a:prstGeom>
          <a:noFill/>
        </p:spPr>
        <p:txBody>
          <a:bodyPr wrap="square">
            <a:spAutoFit/>
          </a:bodyPr>
          <a:lstStyle/>
          <a:p>
            <a:pPr algn="l"/>
            <a:r>
              <a:rPr sz="1100" b="1" i="0">
                <a:solidFill>
                  <a:srgbClr val="01A296"/>
                </a:solidFill>
                <a:latin typeface="Calibri"/>
              </a:rPr>
              <a:t>REVENUE GROWTH  (AUD)</a:t>
            </a:r>
          </a:p>
        </p:txBody>
      </p:sp>
      <p:sp>
        <p:nvSpPr>
          <p:cNvPr id="48" name="Rectangle 47"/>
          <p:cNvSpPr/>
          <p:nvPr/>
        </p:nvSpPr>
        <p:spPr>
          <a:xfrm>
            <a:off x="7315200" y="4828961"/>
            <a:ext cx="1143000" cy="1114639"/>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0" y="4554641"/>
            <a:ext cx="1143000" cy="256032"/>
          </a:xfrm>
          <a:prstGeom prst="rect">
            <a:avLst/>
          </a:prstGeom>
          <a:noFill/>
        </p:spPr>
        <p:txBody>
          <a:bodyPr wrap="square">
            <a:spAutoFit/>
          </a:bodyPr>
          <a:lstStyle/>
          <a:p>
            <a:pPr algn="ctr"/>
            <a:r>
              <a:rPr sz="900" b="1" i="0">
                <a:solidFill>
                  <a:srgbClr val="000000"/>
                </a:solidFill>
                <a:latin typeface="Calibri"/>
              </a:rPr>
              <a:t>$7.43M</a:t>
            </a:r>
          </a:p>
        </p:txBody>
      </p:sp>
      <p:sp>
        <p:nvSpPr>
          <p:cNvPr id="50" name="TextBox 49"/>
          <p:cNvSpPr txBox="1"/>
          <p:nvPr/>
        </p:nvSpPr>
        <p:spPr>
          <a:xfrm>
            <a:off x="7315200" y="5971032"/>
            <a:ext cx="1143000" cy="201168"/>
          </a:xfrm>
          <a:prstGeom prst="rect">
            <a:avLst/>
          </a:prstGeom>
          <a:noFill/>
        </p:spPr>
        <p:txBody>
          <a:bodyPr wrap="square">
            <a:spAutoFit/>
          </a:bodyPr>
          <a:lstStyle/>
          <a:p>
            <a:pPr algn="ctr"/>
            <a:r>
              <a:rPr sz="900" b="0" i="0">
                <a:solidFill>
                  <a:srgbClr val="444444"/>
                </a:solidFill>
                <a:latin typeface="Calibri"/>
              </a:rPr>
              <a:t>FY2023</a:t>
            </a:r>
          </a:p>
        </p:txBody>
      </p:sp>
      <p:sp>
        <p:nvSpPr>
          <p:cNvPr id="51" name="Rectangle 50"/>
          <p:cNvSpPr/>
          <p:nvPr/>
        </p:nvSpPr>
        <p:spPr>
          <a:xfrm>
            <a:off x="8823960" y="4488419"/>
            <a:ext cx="1143000" cy="1455181"/>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823960" y="4214099"/>
            <a:ext cx="1143000" cy="256032"/>
          </a:xfrm>
          <a:prstGeom prst="rect">
            <a:avLst/>
          </a:prstGeom>
          <a:noFill/>
        </p:spPr>
        <p:txBody>
          <a:bodyPr wrap="square">
            <a:spAutoFit/>
          </a:bodyPr>
          <a:lstStyle/>
          <a:p>
            <a:pPr algn="ctr"/>
            <a:r>
              <a:rPr sz="900" b="1" i="0">
                <a:solidFill>
                  <a:srgbClr val="000000"/>
                </a:solidFill>
                <a:latin typeface="Calibri"/>
              </a:rPr>
              <a:t>$9.7M</a:t>
            </a:r>
          </a:p>
        </p:txBody>
      </p:sp>
      <p:sp>
        <p:nvSpPr>
          <p:cNvPr id="53" name="TextBox 52"/>
          <p:cNvSpPr txBox="1"/>
          <p:nvPr/>
        </p:nvSpPr>
        <p:spPr>
          <a:xfrm>
            <a:off x="8823960" y="5971032"/>
            <a:ext cx="1143000" cy="201168"/>
          </a:xfrm>
          <a:prstGeom prst="rect">
            <a:avLst/>
          </a:prstGeom>
          <a:noFill/>
        </p:spPr>
        <p:txBody>
          <a:bodyPr wrap="square">
            <a:spAutoFit/>
          </a:bodyPr>
          <a:lstStyle/>
          <a:p>
            <a:pPr algn="ctr"/>
            <a:r>
              <a:rPr sz="900" b="0" i="0">
                <a:solidFill>
                  <a:srgbClr val="444444"/>
                </a:solidFill>
                <a:latin typeface="Calibri"/>
              </a:rPr>
              <a:t>FY2024</a:t>
            </a:r>
          </a:p>
        </p:txBody>
      </p:sp>
      <p:sp>
        <p:nvSpPr>
          <p:cNvPr id="54" name="Rectangle 53"/>
          <p:cNvSpPr/>
          <p:nvPr/>
        </p:nvSpPr>
        <p:spPr>
          <a:xfrm>
            <a:off x="10332720" y="4023360"/>
            <a:ext cx="1143000" cy="192024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2720" y="3749040"/>
            <a:ext cx="1143000" cy="256032"/>
          </a:xfrm>
          <a:prstGeom prst="rect">
            <a:avLst/>
          </a:prstGeom>
          <a:noFill/>
        </p:spPr>
        <p:txBody>
          <a:bodyPr wrap="square">
            <a:spAutoFit/>
          </a:bodyPr>
          <a:lstStyle/>
          <a:p>
            <a:pPr algn="ctr"/>
            <a:r>
              <a:rPr sz="900" b="1" i="0">
                <a:solidFill>
                  <a:srgbClr val="000000"/>
                </a:solidFill>
                <a:latin typeface="Calibri"/>
              </a:rPr>
              <a:t>$12.8M</a:t>
            </a:r>
          </a:p>
        </p:txBody>
      </p:sp>
      <p:sp>
        <p:nvSpPr>
          <p:cNvPr id="56" name="TextBox 55"/>
          <p:cNvSpPr txBox="1"/>
          <p:nvPr/>
        </p:nvSpPr>
        <p:spPr>
          <a:xfrm>
            <a:off x="10332720" y="5971032"/>
            <a:ext cx="1143000" cy="201168"/>
          </a:xfrm>
          <a:prstGeom prst="rect">
            <a:avLst/>
          </a:prstGeom>
          <a:noFill/>
        </p:spPr>
        <p:txBody>
          <a:bodyPr wrap="square">
            <a:spAutoFit/>
          </a:bodyPr>
          <a:lstStyle/>
          <a:p>
            <a:pPr algn="ctr"/>
            <a:r>
              <a:rPr sz="900" b="0" i="0">
                <a:solidFill>
                  <a:srgbClr val="444444"/>
                </a:solidFill>
                <a:latin typeface="Calibri"/>
              </a:rPr>
              <a:t>FY2025</a:t>
            </a:r>
          </a:p>
        </p:txBody>
      </p:sp>
      <p:sp>
        <p:nvSpPr>
          <p:cNvPr id="57" name="TextBox 56"/>
          <p:cNvSpPr txBox="1"/>
          <p:nvPr/>
        </p:nvSpPr>
        <p:spPr>
          <a:xfrm>
            <a:off x="7040880" y="6199632"/>
            <a:ext cx="4937760" cy="201168"/>
          </a:xfrm>
          <a:prstGeom prst="rect">
            <a:avLst/>
          </a:prstGeom>
          <a:noFill/>
        </p:spPr>
        <p:txBody>
          <a:bodyPr wrap="square">
            <a:spAutoFit/>
          </a:bodyPr>
          <a:lstStyle/>
          <a:p>
            <a:pPr algn="l"/>
            <a:r>
              <a:rPr sz="700" b="0" i="1">
                <a:solidFill>
                  <a:srgbClr val="01A296"/>
                </a:solidFill>
                <a:latin typeface="Calibri"/>
              </a:rPr>
              <a:t>Source: SmartCompany Smart50 award citations 2023, 2024, and 2025</a:t>
            </a:r>
          </a:p>
        </p:txBody>
      </p:sp>
      <p:sp>
        <p:nvSpPr>
          <p:cNvPr id="58" name="Rectangle 57"/>
          <p:cNvSpPr/>
          <p:nvPr/>
        </p:nvSpPr>
        <p:spPr>
          <a:xfrm>
            <a:off x="91440" y="6583680"/>
            <a:ext cx="12100255"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8600" y="6601968"/>
            <a:ext cx="9144000" cy="228600"/>
          </a:xfrm>
          <a:prstGeom prst="rect">
            <a:avLst/>
          </a:prstGeom>
          <a:noFill/>
        </p:spPr>
        <p:txBody>
          <a:bodyPr wrap="square">
            <a:spAutoFit/>
          </a:bodyPr>
          <a:lstStyle/>
          <a:p>
            <a:pPr algn="l"/>
            <a:r>
              <a:rPr sz="800" b="0" i="0">
                <a:solidFill>
                  <a:srgbClr val="666666"/>
                </a:solidFill>
                <a:latin typeface="Calibri"/>
              </a:rPr>
              <a:t>Prepared by Nitesh Roopa CA, Managing Partner and Founder, ProfitPulse, Profit-Pulse.com.au</a:t>
            </a:r>
          </a:p>
        </p:txBody>
      </p:sp>
      <p:sp>
        <p:nvSpPr>
          <p:cNvPr id="60" name="TextBox 59"/>
          <p:cNvSpPr txBox="1"/>
          <p:nvPr/>
        </p:nvSpPr>
        <p:spPr>
          <a:xfrm>
            <a:off x="9601200" y="6601968"/>
            <a:ext cx="2377440" cy="228600"/>
          </a:xfrm>
          <a:prstGeom prst="rect">
            <a:avLst/>
          </a:prstGeom>
          <a:noFill/>
        </p:spPr>
        <p:txBody>
          <a:bodyPr wrap="square">
            <a:spAutoFit/>
          </a:bodyPr>
          <a:lstStyle/>
          <a:p>
            <a:pPr algn="r"/>
            <a:r>
              <a:rPr sz="800" b="0" i="0">
                <a:solidFill>
                  <a:srgbClr val="666666"/>
                </a:solidFill>
                <a:latin typeface="Calibri"/>
              </a:rPr>
              <a:t>25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82880"/>
            <a:ext cx="6858000" cy="411480"/>
          </a:xfrm>
          <a:prstGeom prst="rect">
            <a:avLst/>
          </a:prstGeom>
          <a:noFill/>
        </p:spPr>
        <p:txBody>
          <a:bodyPr wrap="square">
            <a:spAutoFit/>
          </a:bodyPr>
          <a:lstStyle/>
          <a:p>
            <a:pPr algn="l"/>
            <a:r>
              <a:rPr sz="1100" b="1" i="0">
                <a:solidFill>
                  <a:srgbClr val="E6E5DE"/>
                </a:solidFill>
                <a:latin typeface="Calibri"/>
              </a:rPr>
              <a:t>THE OPPORTUNITY</a:t>
            </a:r>
          </a:p>
        </p:txBody>
      </p:sp>
      <p:sp>
        <p:nvSpPr>
          <p:cNvPr id="5" name="TextBox 4"/>
          <p:cNvSpPr txBox="1"/>
          <p:nvPr/>
        </p:nvSpPr>
        <p:spPr>
          <a:xfrm>
            <a:off x="7132320" y="182880"/>
            <a:ext cx="4846320" cy="411480"/>
          </a:xfrm>
          <a:prstGeom prst="rect">
            <a:avLst/>
          </a:prstGeom>
          <a:noFill/>
        </p:spPr>
        <p:txBody>
          <a:bodyPr wrap="square">
            <a:spAutoFit/>
          </a:bodyPr>
          <a:lstStyle/>
          <a:p>
            <a:pPr algn="r"/>
            <a:r>
              <a:rPr sz="1100" b="1" i="0">
                <a:solidFill>
                  <a:srgbClr val="01A296"/>
                </a:solidFill>
                <a:latin typeface="Calibri"/>
              </a:rPr>
              <a:t>TASKFORCE AUSTRALIA</a:t>
            </a:r>
          </a:p>
        </p:txBody>
      </p:sp>
      <p:sp>
        <p:nvSpPr>
          <p:cNvPr id="6" name="TextBox 5"/>
          <p:cNvSpPr txBox="1"/>
          <p:nvPr/>
        </p:nvSpPr>
        <p:spPr>
          <a:xfrm>
            <a:off x="228600" y="969264"/>
            <a:ext cx="11430000" cy="347472"/>
          </a:xfrm>
          <a:prstGeom prst="rect">
            <a:avLst/>
          </a:prstGeom>
          <a:noFill/>
        </p:spPr>
        <p:txBody>
          <a:bodyPr wrap="square">
            <a:spAutoFit/>
          </a:bodyPr>
          <a:lstStyle/>
          <a:p>
            <a:pPr algn="l"/>
            <a:r>
              <a:rPr sz="1400" b="0" i="0">
                <a:solidFill>
                  <a:srgbClr val="444444"/>
                </a:solidFill>
                <a:latin typeface="Calibri"/>
              </a:rPr>
              <a:t>Three commercial observations from ProfitPulse</a:t>
            </a:r>
          </a:p>
        </p:txBody>
      </p:sp>
      <p:sp>
        <p:nvSpPr>
          <p:cNvPr id="7" name="Rectangle 6"/>
          <p:cNvSpPr/>
          <p:nvPr/>
        </p:nvSpPr>
        <p:spPr>
          <a:xfrm>
            <a:off x="228600" y="1417320"/>
            <a:ext cx="3749039" cy="484632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 y="1600200"/>
            <a:ext cx="3419855" cy="530352"/>
          </a:xfrm>
          <a:prstGeom prst="rect">
            <a:avLst/>
          </a:prstGeom>
          <a:noFill/>
        </p:spPr>
        <p:txBody>
          <a:bodyPr wrap="square">
            <a:spAutoFit/>
          </a:bodyPr>
          <a:lstStyle/>
          <a:p>
            <a:pPr algn="l"/>
            <a:r>
              <a:rPr sz="2800" b="1" i="0">
                <a:solidFill>
                  <a:srgbClr val="FFFFFF"/>
                </a:solidFill>
                <a:latin typeface="Georgia"/>
              </a:rPr>
              <a:t>01</a:t>
            </a:r>
          </a:p>
        </p:txBody>
      </p:sp>
      <p:sp>
        <p:nvSpPr>
          <p:cNvPr id="9" name="TextBox 8"/>
          <p:cNvSpPr txBox="1"/>
          <p:nvPr/>
        </p:nvSpPr>
        <p:spPr>
          <a:xfrm>
            <a:off x="393192" y="2221992"/>
            <a:ext cx="3419855" cy="548640"/>
          </a:xfrm>
          <a:prstGeom prst="rect">
            <a:avLst/>
          </a:prstGeom>
          <a:noFill/>
        </p:spPr>
        <p:txBody>
          <a:bodyPr wrap="square">
            <a:spAutoFit/>
          </a:bodyPr>
          <a:lstStyle/>
          <a:p>
            <a:pPr algn="l"/>
            <a:r>
              <a:rPr sz="1200" b="1" i="0">
                <a:solidFill>
                  <a:srgbClr val="FFFFFF"/>
                </a:solidFill>
                <a:latin typeface="Calibri"/>
              </a:rPr>
              <a:t>Exceptional operating leverage sets the foundation</a:t>
            </a:r>
          </a:p>
        </p:txBody>
      </p:sp>
      <p:sp>
        <p:nvSpPr>
          <p:cNvPr id="10" name="TextBox 9"/>
          <p:cNvSpPr txBox="1"/>
          <p:nvPr/>
        </p:nvSpPr>
        <p:spPr>
          <a:xfrm>
            <a:off x="393192" y="2862072"/>
            <a:ext cx="3419855" cy="3182112"/>
          </a:xfrm>
          <a:prstGeom prst="rect">
            <a:avLst/>
          </a:prstGeom>
          <a:noFill/>
        </p:spPr>
        <p:txBody>
          <a:bodyPr wrap="square">
            <a:spAutoFit/>
          </a:bodyPr>
          <a:lstStyle/>
          <a:p>
            <a:pPr algn="l"/>
            <a:r>
              <a:rPr sz="1000" b="0" i="0">
                <a:solidFill>
                  <a:srgbClr val="FFFFFF"/>
                </a:solidFill>
                <a:latin typeface="Calibri"/>
              </a:rPr>
              <a:t>Taskforce generates $12.8M in annual revenue with 19 full time staff, producing approximately $674K in revenue per employee. This figure is verifiable across three consecutive Smart50 award citations. A business operating at this ratio has a clearly productive core model. The next question is not whether the model works but what the financial architecture should look like to scale it intentionally and without overstretching the team or the balance sheet.</a:t>
            </a:r>
          </a:p>
        </p:txBody>
      </p:sp>
      <p:sp>
        <p:nvSpPr>
          <p:cNvPr id="11" name="Rectangle 10"/>
          <p:cNvSpPr/>
          <p:nvPr/>
        </p:nvSpPr>
        <p:spPr>
          <a:xfrm>
            <a:off x="4178807" y="1417320"/>
            <a:ext cx="3749039" cy="4846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399" y="1600200"/>
            <a:ext cx="3419855" cy="530352"/>
          </a:xfrm>
          <a:prstGeom prst="rect">
            <a:avLst/>
          </a:prstGeom>
          <a:noFill/>
        </p:spPr>
        <p:txBody>
          <a:bodyPr wrap="square">
            <a:spAutoFit/>
          </a:bodyPr>
          <a:lstStyle/>
          <a:p>
            <a:pPr algn="l"/>
            <a:r>
              <a:rPr sz="2800" b="1" i="0">
                <a:solidFill>
                  <a:srgbClr val="F8C806"/>
                </a:solidFill>
                <a:latin typeface="Georgia"/>
              </a:rPr>
              <a:t>02</a:t>
            </a:r>
          </a:p>
        </p:txBody>
      </p:sp>
      <p:sp>
        <p:nvSpPr>
          <p:cNvPr id="13" name="TextBox 12"/>
          <p:cNvSpPr txBox="1"/>
          <p:nvPr/>
        </p:nvSpPr>
        <p:spPr>
          <a:xfrm>
            <a:off x="4343399" y="2221992"/>
            <a:ext cx="3419855" cy="548640"/>
          </a:xfrm>
          <a:prstGeom prst="rect">
            <a:avLst/>
          </a:prstGeom>
          <a:noFill/>
        </p:spPr>
        <p:txBody>
          <a:bodyPr wrap="square">
            <a:spAutoFit/>
          </a:bodyPr>
          <a:lstStyle/>
          <a:p>
            <a:pPr algn="l"/>
            <a:r>
              <a:rPr sz="1200" b="1" i="0">
                <a:solidFill>
                  <a:srgbClr val="F8C806"/>
                </a:solidFill>
                <a:latin typeface="Calibri"/>
              </a:rPr>
              <a:t>Four growth vectors competing for the same capital pool</a:t>
            </a:r>
          </a:p>
        </p:txBody>
      </p:sp>
      <p:sp>
        <p:nvSpPr>
          <p:cNvPr id="14" name="TextBox 13"/>
          <p:cNvSpPr txBox="1"/>
          <p:nvPr/>
        </p:nvSpPr>
        <p:spPr>
          <a:xfrm>
            <a:off x="4343399" y="2862072"/>
            <a:ext cx="3419855" cy="3182112"/>
          </a:xfrm>
          <a:prstGeom prst="rect">
            <a:avLst/>
          </a:prstGeom>
          <a:noFill/>
        </p:spPr>
        <p:txBody>
          <a:bodyPr wrap="square">
            <a:spAutoFit/>
          </a:bodyPr>
          <a:lstStyle/>
          <a:p>
            <a:pPr algn="l"/>
            <a:r>
              <a:rPr sz="1000" b="0" i="0">
                <a:solidFill>
                  <a:srgbClr val="E6E5DE"/>
                </a:solidFill>
                <a:latin typeface="Calibri"/>
              </a:rPr>
              <a:t>The four point growth agenda covers social housing expansion, a staff equity plan, AI platform development, and organic growth in the core compliance business. All four represent genuine opportunities backed by strong underlying market tailwinds in rental compliance and community housing. Without a structured capital allocation model and a scenario tested 12 month plan, the risk is that resources are spread thinly across all four vectors rather than sequenced against the highest return lever at each stage of the growth journey.</a:t>
            </a:r>
          </a:p>
        </p:txBody>
      </p:sp>
      <p:sp>
        <p:nvSpPr>
          <p:cNvPr id="15" name="Rectangle 14"/>
          <p:cNvSpPr/>
          <p:nvPr/>
        </p:nvSpPr>
        <p:spPr>
          <a:xfrm>
            <a:off x="8129014" y="1417320"/>
            <a:ext cx="3749039" cy="484632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6" y="1600200"/>
            <a:ext cx="3419855" cy="530352"/>
          </a:xfrm>
          <a:prstGeom prst="rect">
            <a:avLst/>
          </a:prstGeom>
          <a:noFill/>
        </p:spPr>
        <p:txBody>
          <a:bodyPr wrap="square">
            <a:spAutoFit/>
          </a:bodyPr>
          <a:lstStyle/>
          <a:p>
            <a:pPr algn="l"/>
            <a:r>
              <a:rPr sz="2800" b="1" i="0">
                <a:solidFill>
                  <a:srgbClr val="000000"/>
                </a:solidFill>
                <a:latin typeface="Georgia"/>
              </a:rPr>
              <a:t>03</a:t>
            </a:r>
          </a:p>
        </p:txBody>
      </p:sp>
      <p:sp>
        <p:nvSpPr>
          <p:cNvPr id="17" name="TextBox 16"/>
          <p:cNvSpPr txBox="1"/>
          <p:nvPr/>
        </p:nvSpPr>
        <p:spPr>
          <a:xfrm>
            <a:off x="8293606" y="2221992"/>
            <a:ext cx="3419855" cy="548640"/>
          </a:xfrm>
          <a:prstGeom prst="rect">
            <a:avLst/>
          </a:prstGeom>
          <a:noFill/>
        </p:spPr>
        <p:txBody>
          <a:bodyPr wrap="square">
            <a:spAutoFit/>
          </a:bodyPr>
          <a:lstStyle/>
          <a:p>
            <a:pPr algn="l"/>
            <a:r>
              <a:rPr sz="1200" b="1" i="0">
                <a:solidFill>
                  <a:srgbClr val="000000"/>
                </a:solidFill>
                <a:latin typeface="Calibri"/>
              </a:rPr>
              <a:t>A 50% CAGR ambition needs a financial plan to match the ambition</a:t>
            </a:r>
          </a:p>
        </p:txBody>
      </p:sp>
      <p:sp>
        <p:nvSpPr>
          <p:cNvPr id="18" name="TextBox 17"/>
          <p:cNvSpPr txBox="1"/>
          <p:nvPr/>
        </p:nvSpPr>
        <p:spPr>
          <a:xfrm>
            <a:off x="8293606" y="2862072"/>
            <a:ext cx="3419855" cy="3182112"/>
          </a:xfrm>
          <a:prstGeom prst="rect">
            <a:avLst/>
          </a:prstGeom>
          <a:noFill/>
        </p:spPr>
        <p:txBody>
          <a:bodyPr wrap="square">
            <a:spAutoFit/>
          </a:bodyPr>
          <a:lstStyle/>
          <a:p>
            <a:pPr algn="l"/>
            <a:r>
              <a:rPr sz="1000" b="0" i="0">
                <a:solidFill>
                  <a:srgbClr val="000000"/>
                </a:solidFill>
                <a:latin typeface="Calibri"/>
              </a:rPr>
              <a:t>Jason Bright has publicly committed to a 50 to 60 percent CAGR over the next three years, implying revenue approaching $30M by FY2028 from a current base of $12.8M. That trajectory requires a clear view of margin headroom, capacity constraints, and funding requirements before capital is deployed across the four growth vectors. A costed 12 month growth plan with three scenario models is the instrument that converts that ambition into a fundable and executable path forward. This is the specific capability a Strategic Growth Diagnostic delivers.</a:t>
            </a:r>
          </a:p>
        </p:txBody>
      </p:sp>
      <p:sp>
        <p:nvSpPr>
          <p:cNvPr id="19" name="TextBox 18"/>
          <p:cNvSpPr txBox="1"/>
          <p:nvPr/>
        </p:nvSpPr>
        <p:spPr>
          <a:xfrm>
            <a:off x="228600" y="6373368"/>
            <a:ext cx="11704320" cy="347472"/>
          </a:xfrm>
          <a:prstGeom prst="rect">
            <a:avLst/>
          </a:prstGeom>
          <a:noFill/>
        </p:spPr>
        <p:txBody>
          <a:bodyPr wrap="square">
            <a:spAutoFit/>
          </a:bodyPr>
          <a:lstStyle/>
          <a:p>
            <a:pPr algn="l"/>
            <a:r>
              <a:rPr sz="900" b="0" i="1">
                <a:solidFill>
                  <a:srgbClr val="666666"/>
                </a:solidFill>
                <a:latin typeface="Calibri"/>
              </a:rPr>
              <a:t>These observations are offered in good faith. Taskforce Australia has built something genuinely impressive. The question is simply whether the financial architecture matches the ambition.</a:t>
            </a:r>
          </a:p>
        </p:txBody>
      </p:sp>
      <p:sp>
        <p:nvSpPr>
          <p:cNvPr id="20" name="Rectangle 19"/>
          <p:cNvSpPr/>
          <p:nvPr/>
        </p:nvSpPr>
        <p:spPr>
          <a:xfrm>
            <a:off x="91440" y="6583680"/>
            <a:ext cx="12100255"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 y="6601968"/>
            <a:ext cx="9144000" cy="228600"/>
          </a:xfrm>
          <a:prstGeom prst="rect">
            <a:avLst/>
          </a:prstGeom>
          <a:noFill/>
        </p:spPr>
        <p:txBody>
          <a:bodyPr wrap="square">
            <a:spAutoFit/>
          </a:bodyPr>
          <a:lstStyle/>
          <a:p>
            <a:pPr algn="l"/>
            <a:r>
              <a:rPr sz="800" b="0" i="0">
                <a:solidFill>
                  <a:srgbClr val="666666"/>
                </a:solidFill>
                <a:latin typeface="Calibri"/>
              </a:rPr>
              <a:t>Prepared by Nitesh Roopa CA, Managing Partner and Founder, ProfitPulse, Profit-Pulse.com.au</a:t>
            </a:r>
          </a:p>
        </p:txBody>
      </p:sp>
      <p:sp>
        <p:nvSpPr>
          <p:cNvPr id="22" name="TextBox 21"/>
          <p:cNvSpPr txBox="1"/>
          <p:nvPr/>
        </p:nvSpPr>
        <p:spPr>
          <a:xfrm>
            <a:off x="9601200" y="6601968"/>
            <a:ext cx="2377440" cy="228600"/>
          </a:xfrm>
          <a:prstGeom prst="rect">
            <a:avLst/>
          </a:prstGeom>
          <a:noFill/>
        </p:spPr>
        <p:txBody>
          <a:bodyPr wrap="square">
            <a:spAutoFit/>
          </a:bodyPr>
          <a:lstStyle/>
          <a:p>
            <a:pPr algn="r"/>
            <a:r>
              <a:rPr sz="800" b="0" i="0">
                <a:solidFill>
                  <a:srgbClr val="666666"/>
                </a:solidFill>
                <a:latin typeface="Calibri"/>
              </a:rPr>
              <a:t>25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82880"/>
            <a:ext cx="6858000" cy="411480"/>
          </a:xfrm>
          <a:prstGeom prst="rect">
            <a:avLst/>
          </a:prstGeom>
          <a:noFill/>
        </p:spPr>
        <p:txBody>
          <a:bodyPr wrap="square">
            <a:spAutoFit/>
          </a:bodyPr>
          <a:lstStyle/>
          <a:p>
            <a:pPr algn="l"/>
            <a:r>
              <a:rPr sz="1100" b="1" i="0">
                <a:solidFill>
                  <a:srgbClr val="E6E5DE"/>
                </a:solidFill>
                <a:latin typeface="Calibri"/>
              </a:rPr>
              <a:t>THE RECOMMENDATION</a:t>
            </a:r>
          </a:p>
        </p:txBody>
      </p:sp>
      <p:sp>
        <p:nvSpPr>
          <p:cNvPr id="5" name="TextBox 4"/>
          <p:cNvSpPr txBox="1"/>
          <p:nvPr/>
        </p:nvSpPr>
        <p:spPr>
          <a:xfrm>
            <a:off x="7132320" y="182880"/>
            <a:ext cx="4846320" cy="411480"/>
          </a:xfrm>
          <a:prstGeom prst="rect">
            <a:avLst/>
          </a:prstGeom>
          <a:noFill/>
        </p:spPr>
        <p:txBody>
          <a:bodyPr wrap="square">
            <a:spAutoFit/>
          </a:bodyPr>
          <a:lstStyle/>
          <a:p>
            <a:pPr algn="r"/>
            <a:r>
              <a:rPr sz="1100" b="1" i="0">
                <a:solidFill>
                  <a:srgbClr val="01A296"/>
                </a:solidFill>
                <a:latin typeface="Calibri"/>
              </a:rPr>
              <a:t>TASKFORCE AUSTRALIA</a:t>
            </a:r>
          </a:p>
        </p:txBody>
      </p:sp>
      <p:sp>
        <p:nvSpPr>
          <p:cNvPr id="6" name="TextBox 5"/>
          <p:cNvSpPr txBox="1"/>
          <p:nvPr/>
        </p:nvSpPr>
        <p:spPr>
          <a:xfrm>
            <a:off x="228600" y="1024128"/>
            <a:ext cx="6675120" cy="566928"/>
          </a:xfrm>
          <a:prstGeom prst="rect">
            <a:avLst/>
          </a:prstGeom>
          <a:noFill/>
        </p:spPr>
        <p:txBody>
          <a:bodyPr wrap="square">
            <a:spAutoFit/>
          </a:bodyPr>
          <a:lstStyle/>
          <a:p>
            <a:pPr algn="l"/>
            <a:r>
              <a:rPr sz="2600" b="1" i="0">
                <a:solidFill>
                  <a:srgbClr val="000000"/>
                </a:solidFill>
                <a:latin typeface="Georgia"/>
              </a:rPr>
              <a:t>Strategic Growth Diagnostic</a:t>
            </a:r>
          </a:p>
        </p:txBody>
      </p:sp>
      <p:sp>
        <p:nvSpPr>
          <p:cNvPr id="7" name="TextBox 6"/>
          <p:cNvSpPr txBox="1"/>
          <p:nvPr/>
        </p:nvSpPr>
        <p:spPr>
          <a:xfrm>
            <a:off x="228600" y="1618488"/>
            <a:ext cx="6675120" cy="347472"/>
          </a:xfrm>
          <a:prstGeom prst="rect">
            <a:avLst/>
          </a:prstGeom>
          <a:noFill/>
        </p:spPr>
        <p:txBody>
          <a:bodyPr wrap="square">
            <a:spAutoFit/>
          </a:bodyPr>
          <a:lstStyle/>
          <a:p>
            <a:pPr algn="l"/>
            <a:r>
              <a:rPr sz="1600" b="1" i="0">
                <a:solidFill>
                  <a:srgbClr val="01A296"/>
                </a:solidFill>
                <a:latin typeface="Calibri"/>
              </a:rPr>
              <a:t>$5,000 one off</a:t>
            </a:r>
          </a:p>
        </p:txBody>
      </p:sp>
      <p:sp>
        <p:nvSpPr>
          <p:cNvPr id="8" name="TextBox 7"/>
          <p:cNvSpPr txBox="1"/>
          <p:nvPr/>
        </p:nvSpPr>
        <p:spPr>
          <a:xfrm>
            <a:off x="228600" y="2029968"/>
            <a:ext cx="6675120" cy="685800"/>
          </a:xfrm>
          <a:prstGeom prst="rect">
            <a:avLst/>
          </a:prstGeom>
          <a:noFill/>
        </p:spPr>
        <p:txBody>
          <a:bodyPr wrap="square">
            <a:spAutoFit/>
          </a:bodyPr>
          <a:lstStyle/>
          <a:p>
            <a:pPr algn="l"/>
            <a:r>
              <a:rPr sz="1100" b="0" i="0">
                <a:solidFill>
                  <a:srgbClr val="333333"/>
                </a:solidFill>
                <a:latin typeface="Calibri"/>
              </a:rPr>
              <a:t>A six week engagement that maps your revenue, capacity, and margin headroom, then produces a 12 month growth plan with funding and capital allocation steps spelled out. Three scenario modelling. Designed for a business with a clear growth target that needs the financial architecture to support it.</a:t>
            </a:r>
          </a:p>
        </p:txBody>
      </p:sp>
      <p:sp>
        <p:nvSpPr>
          <p:cNvPr id="9" name="Rectangle 8"/>
          <p:cNvSpPr/>
          <p:nvPr/>
        </p:nvSpPr>
        <p:spPr>
          <a:xfrm>
            <a:off x="228600" y="2807208"/>
            <a:ext cx="667512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2880360"/>
            <a:ext cx="6675120" cy="1371600"/>
          </a:xfrm>
          <a:prstGeom prst="rect">
            <a:avLst/>
          </a:prstGeom>
          <a:solidFill>
            <a:srgbClr val="F0FBFA"/>
          </a:solidFill>
          <a:ln w="12700">
            <a:solidFill>
              <a:srgbClr val="01A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971800"/>
            <a:ext cx="6400800" cy="365760"/>
          </a:xfrm>
          <a:prstGeom prst="rect">
            <a:avLst/>
          </a:prstGeom>
          <a:noFill/>
        </p:spPr>
        <p:txBody>
          <a:bodyPr wrap="square">
            <a:spAutoFit/>
          </a:bodyPr>
          <a:lstStyle/>
          <a:p>
            <a:pPr algn="l"/>
            <a:r>
              <a:rPr sz="1300" b="1" i="0">
                <a:solidFill>
                  <a:srgbClr val="01A296"/>
                </a:solidFill>
                <a:latin typeface="Calibri"/>
              </a:rPr>
              <a:t>Step one: answer a few quick questions</a:t>
            </a:r>
          </a:p>
        </p:txBody>
      </p:sp>
      <p:sp>
        <p:nvSpPr>
          <p:cNvPr id="12" name="TextBox 11"/>
          <p:cNvSpPr txBox="1"/>
          <p:nvPr/>
        </p:nvSpPr>
        <p:spPr>
          <a:xfrm>
            <a:off x="365760" y="3364992"/>
            <a:ext cx="6400800" cy="256032"/>
          </a:xfrm>
          <a:prstGeom prst="rect">
            <a:avLst/>
          </a:prstGeom>
          <a:noFill/>
        </p:spPr>
        <p:txBody>
          <a:bodyPr wrap="square">
            <a:spAutoFit/>
          </a:bodyPr>
          <a:lstStyle/>
          <a:p>
            <a:pPr algn="l"/>
            <a:r>
              <a:rPr sz="1100" b="0" i="0">
                <a:solidFill>
                  <a:srgbClr val="000000"/>
                </a:solidFill>
                <a:latin typeface="Calibri"/>
              </a:rPr>
              <a:t>See the solutions matched to your size and industry.</a:t>
            </a:r>
          </a:p>
        </p:txBody>
      </p:sp>
      <p:sp>
        <p:nvSpPr>
          <p:cNvPr id="13" name="TextBox 12"/>
          <p:cNvSpPr txBox="1"/>
          <p:nvPr/>
        </p:nvSpPr>
        <p:spPr>
          <a:xfrm>
            <a:off x="365760" y="3639312"/>
            <a:ext cx="6400800" cy="274320"/>
          </a:xfrm>
          <a:prstGeom prst="rect">
            <a:avLst/>
          </a:prstGeom>
          <a:noFill/>
        </p:spPr>
        <p:txBody>
          <a:bodyPr wrap="square">
            <a:spAutoFit/>
          </a:bodyPr>
          <a:lstStyle/>
          <a:p>
            <a:pPr algn="l"/>
            <a:r>
              <a:rPr sz="1100" b="1">
                <a:solidFill>
                  <a:srgbClr val="01A296"/>
                </a:solidFill>
                <a:latin typeface="Calibri"/>
                <a:hlinkClick r:id="rId2"/>
              </a:rPr>
              <a:t>profit-pulse.com.au/full-suite-of-products</a:t>
            </a:r>
          </a:p>
        </p:txBody>
      </p:sp>
      <p:sp>
        <p:nvSpPr>
          <p:cNvPr id="14" name="Rectangle 13"/>
          <p:cNvSpPr/>
          <p:nvPr/>
        </p:nvSpPr>
        <p:spPr>
          <a:xfrm>
            <a:off x="228600" y="4361688"/>
            <a:ext cx="6675120" cy="475488"/>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4425696"/>
            <a:ext cx="6400800" cy="347472"/>
          </a:xfrm>
          <a:prstGeom prst="rect">
            <a:avLst/>
          </a:prstGeom>
          <a:noFill/>
        </p:spPr>
        <p:txBody>
          <a:bodyPr wrap="square">
            <a:spAutoFit/>
          </a:bodyPr>
          <a:lstStyle/>
          <a:p>
            <a:pPr algn="l"/>
            <a:r>
              <a:rPr sz="1200" b="1">
                <a:solidFill>
                  <a:srgbClr val="000000"/>
                </a:solidFill>
                <a:latin typeface="Calibri"/>
                <a:hlinkClick r:id="rId3"/>
              </a:rPr>
              <a:t>Purchase the suggested product now to get started</a:t>
            </a:r>
          </a:p>
        </p:txBody>
      </p:sp>
      <p:sp>
        <p:nvSpPr>
          <p:cNvPr id="16" name="TextBox 15"/>
          <p:cNvSpPr txBox="1"/>
          <p:nvPr/>
        </p:nvSpPr>
        <p:spPr>
          <a:xfrm>
            <a:off x="228600" y="4965192"/>
            <a:ext cx="2743200" cy="274320"/>
          </a:xfrm>
          <a:prstGeom prst="rect">
            <a:avLst/>
          </a:prstGeom>
          <a:noFill/>
        </p:spPr>
        <p:txBody>
          <a:bodyPr wrap="square">
            <a:spAutoFit/>
          </a:bodyPr>
          <a:lstStyle/>
          <a:p>
            <a:pPr algn="l"/>
            <a:r>
              <a:rPr sz="1100" b="0" i="0">
                <a:solidFill>
                  <a:srgbClr val="444444"/>
                </a:solidFill>
                <a:latin typeface="Calibri"/>
              </a:rPr>
              <a:t>Prefer a conversation first?</a:t>
            </a:r>
          </a:p>
        </p:txBody>
      </p:sp>
      <p:sp>
        <p:nvSpPr>
          <p:cNvPr id="17" name="TextBox 16"/>
          <p:cNvSpPr txBox="1"/>
          <p:nvPr/>
        </p:nvSpPr>
        <p:spPr>
          <a:xfrm>
            <a:off x="3063240" y="4965192"/>
            <a:ext cx="3657600" cy="274320"/>
          </a:xfrm>
          <a:prstGeom prst="rect">
            <a:avLst/>
          </a:prstGeom>
          <a:noFill/>
        </p:spPr>
        <p:txBody>
          <a:bodyPr wrap="square">
            <a:spAutoFit/>
          </a:bodyPr>
          <a:lstStyle/>
          <a:p>
            <a:pPr algn="l"/>
            <a:r>
              <a:rPr sz="1100" b="0">
                <a:solidFill>
                  <a:srgbClr val="01A296"/>
                </a:solidFill>
                <a:latin typeface="Calibri"/>
                <a:hlinkClick r:id="rId4"/>
              </a:rPr>
              <a:t>Book a complimentary discovery call</a:t>
            </a:r>
          </a:p>
        </p:txBody>
      </p:sp>
      <p:sp>
        <p:nvSpPr>
          <p:cNvPr id="18" name="Rectangle 17"/>
          <p:cNvSpPr/>
          <p:nvPr/>
        </p:nvSpPr>
        <p:spPr>
          <a:xfrm>
            <a:off x="7178040" y="1005840"/>
            <a:ext cx="4800600" cy="51663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0920" y="1143000"/>
            <a:ext cx="4434840" cy="475488"/>
          </a:xfrm>
          <a:prstGeom prst="rect">
            <a:avLst/>
          </a:prstGeom>
          <a:noFill/>
        </p:spPr>
        <p:txBody>
          <a:bodyPr wrap="square">
            <a:spAutoFit/>
          </a:bodyPr>
          <a:lstStyle/>
          <a:p>
            <a:pPr algn="l"/>
            <a:r>
              <a:rPr sz="2200" b="1" i="0">
                <a:solidFill>
                  <a:srgbClr val="F8C806"/>
                </a:solidFill>
                <a:latin typeface="Georgia"/>
              </a:rPr>
              <a:t>Nitesh Roopa</a:t>
            </a:r>
          </a:p>
        </p:txBody>
      </p:sp>
      <p:sp>
        <p:nvSpPr>
          <p:cNvPr id="20" name="TextBox 19"/>
          <p:cNvSpPr txBox="1"/>
          <p:nvPr/>
        </p:nvSpPr>
        <p:spPr>
          <a:xfrm>
            <a:off x="7360920" y="1636776"/>
            <a:ext cx="4434840" cy="274320"/>
          </a:xfrm>
          <a:prstGeom prst="rect">
            <a:avLst/>
          </a:prstGeom>
          <a:noFill/>
        </p:spPr>
        <p:txBody>
          <a:bodyPr wrap="square">
            <a:spAutoFit/>
          </a:bodyPr>
          <a:lstStyle/>
          <a:p>
            <a:pPr algn="l"/>
            <a:r>
              <a:rPr sz="1300" b="0" i="0">
                <a:solidFill>
                  <a:srgbClr val="FFFFFF"/>
                </a:solidFill>
                <a:latin typeface="Calibri"/>
              </a:rPr>
              <a:t>CA, Managing Partner</a:t>
            </a:r>
          </a:p>
        </p:txBody>
      </p:sp>
      <p:sp>
        <p:nvSpPr>
          <p:cNvPr id="21" name="TextBox 20"/>
          <p:cNvSpPr txBox="1"/>
          <p:nvPr/>
        </p:nvSpPr>
        <p:spPr>
          <a:xfrm>
            <a:off x="7360920" y="1938528"/>
            <a:ext cx="4434840" cy="384048"/>
          </a:xfrm>
          <a:prstGeom prst="rect">
            <a:avLst/>
          </a:prstGeom>
          <a:noFill/>
        </p:spPr>
        <p:txBody>
          <a:bodyPr wrap="square">
            <a:spAutoFit/>
          </a:bodyPr>
          <a:lstStyle/>
          <a:p>
            <a:pPr algn="l"/>
            <a:r>
              <a:rPr sz="2000" b="1" i="0">
                <a:solidFill>
                  <a:srgbClr val="01A296"/>
                </a:solidFill>
                <a:latin typeface="Calibri"/>
              </a:rPr>
              <a:t>ProfitPulse</a:t>
            </a:r>
          </a:p>
        </p:txBody>
      </p:sp>
      <p:sp>
        <p:nvSpPr>
          <p:cNvPr id="22" name="Rectangle 21"/>
          <p:cNvSpPr/>
          <p:nvPr/>
        </p:nvSpPr>
        <p:spPr>
          <a:xfrm>
            <a:off x="7360920" y="2395728"/>
            <a:ext cx="443484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0920" y="2532888"/>
            <a:ext cx="4434840" cy="329184"/>
          </a:xfrm>
          <a:prstGeom prst="rect">
            <a:avLst/>
          </a:prstGeom>
          <a:noFill/>
        </p:spPr>
        <p:txBody>
          <a:bodyPr wrap="square">
            <a:spAutoFit/>
          </a:bodyPr>
          <a:lstStyle/>
          <a:p>
            <a:pPr algn="l"/>
            <a:r>
              <a:rPr sz="1000" b="0" i="0">
                <a:solidFill>
                  <a:srgbClr val="888888"/>
                </a:solidFill>
                <a:latin typeface="Calibri"/>
              </a:rPr>
              <a:t>16 years of experience across 4 countries</a:t>
            </a:r>
          </a:p>
        </p:txBody>
      </p:sp>
      <p:sp>
        <p:nvSpPr>
          <p:cNvPr id="24" name="TextBox 23"/>
          <p:cNvSpPr txBox="1"/>
          <p:nvPr/>
        </p:nvSpPr>
        <p:spPr>
          <a:xfrm>
            <a:off x="7360920" y="2871216"/>
            <a:ext cx="4434840" cy="329184"/>
          </a:xfrm>
          <a:prstGeom prst="rect">
            <a:avLst/>
          </a:prstGeom>
          <a:noFill/>
        </p:spPr>
        <p:txBody>
          <a:bodyPr wrap="square">
            <a:spAutoFit/>
          </a:bodyPr>
          <a:lstStyle/>
          <a:p>
            <a:pPr algn="l"/>
            <a:r>
              <a:rPr sz="1000" b="0" i="0">
                <a:solidFill>
                  <a:srgbClr val="888888"/>
                </a:solidFill>
                <a:latin typeface="Calibri"/>
              </a:rPr>
              <a:t>52 deals executed and managed across career</a:t>
            </a:r>
          </a:p>
        </p:txBody>
      </p:sp>
      <p:sp>
        <p:nvSpPr>
          <p:cNvPr id="25" name="TextBox 24"/>
          <p:cNvSpPr txBox="1"/>
          <p:nvPr/>
        </p:nvSpPr>
        <p:spPr>
          <a:xfrm>
            <a:off x="7360920" y="3209544"/>
            <a:ext cx="4434840" cy="329184"/>
          </a:xfrm>
          <a:prstGeom prst="rect">
            <a:avLst/>
          </a:prstGeom>
          <a:noFill/>
        </p:spPr>
        <p:txBody>
          <a:bodyPr wrap="square">
            <a:spAutoFit/>
          </a:bodyPr>
          <a:lstStyle/>
          <a:p>
            <a:pPr algn="l"/>
            <a:r>
              <a:rPr sz="1000" b="0" i="0">
                <a:solidFill>
                  <a:srgbClr val="888888"/>
                </a:solidFill>
                <a:latin typeface="Calibri"/>
              </a:rPr>
              <a:t>Largest single deal: USD 1.3 billion, Cahora Bassa Hydro, Mozambique</a:t>
            </a:r>
          </a:p>
        </p:txBody>
      </p:sp>
      <p:sp>
        <p:nvSpPr>
          <p:cNvPr id="26" name="TextBox 25"/>
          <p:cNvSpPr txBox="1"/>
          <p:nvPr/>
        </p:nvSpPr>
        <p:spPr>
          <a:xfrm>
            <a:off x="7360920" y="3547872"/>
            <a:ext cx="4434840" cy="329184"/>
          </a:xfrm>
          <a:prstGeom prst="rect">
            <a:avLst/>
          </a:prstGeom>
          <a:noFill/>
        </p:spPr>
        <p:txBody>
          <a:bodyPr wrap="square">
            <a:spAutoFit/>
          </a:bodyPr>
          <a:lstStyle/>
          <a:p>
            <a:pPr algn="l"/>
            <a:r>
              <a:rPr sz="1000" b="0" i="0">
                <a:solidFill>
                  <a:srgbClr val="888888"/>
                </a:solidFill>
                <a:latin typeface="Calibri"/>
              </a:rPr>
              <a:t>Total GRBT Queensland project value: over AUD 10 billion</a:t>
            </a:r>
          </a:p>
        </p:txBody>
      </p:sp>
      <p:sp>
        <p:nvSpPr>
          <p:cNvPr id="27" name="Rectangle 26"/>
          <p:cNvSpPr/>
          <p:nvPr/>
        </p:nvSpPr>
        <p:spPr>
          <a:xfrm>
            <a:off x="7360920" y="3931920"/>
            <a:ext cx="443484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60920" y="4087368"/>
            <a:ext cx="4434840" cy="274320"/>
          </a:xfrm>
          <a:prstGeom prst="rect">
            <a:avLst/>
          </a:prstGeom>
          <a:noFill/>
        </p:spPr>
        <p:txBody>
          <a:bodyPr wrap="square">
            <a:spAutoFit/>
          </a:bodyPr>
          <a:lstStyle/>
          <a:p>
            <a:pPr algn="l"/>
            <a:r>
              <a:rPr sz="1000" b="0" i="0">
                <a:solidFill>
                  <a:srgbClr val="E6E5DE"/>
                </a:solidFill>
                <a:latin typeface="Calibri"/>
              </a:rPr>
              <a:t>Profit-Pulse.com.au</a:t>
            </a:r>
          </a:p>
        </p:txBody>
      </p:sp>
      <p:sp>
        <p:nvSpPr>
          <p:cNvPr id="29" name="TextBox 28"/>
          <p:cNvSpPr txBox="1"/>
          <p:nvPr/>
        </p:nvSpPr>
        <p:spPr>
          <a:xfrm>
            <a:off x="7360920" y="4352544"/>
            <a:ext cx="4434840" cy="274320"/>
          </a:xfrm>
          <a:prstGeom prst="rect">
            <a:avLst/>
          </a:prstGeom>
          <a:noFill/>
        </p:spPr>
        <p:txBody>
          <a:bodyPr wrap="square">
            <a:spAutoFit/>
          </a:bodyPr>
          <a:lstStyle/>
          <a:p>
            <a:pPr algn="l"/>
            <a:r>
              <a:rPr sz="1000" b="0" i="0">
                <a:solidFill>
                  <a:srgbClr val="01A296"/>
                </a:solidFill>
                <a:latin typeface="Calibri"/>
              </a:rPr>
              <a:t>Nitesh@Profit-Pulse.com.au</a:t>
            </a:r>
          </a:p>
        </p:txBody>
      </p:sp>
      <p:sp>
        <p:nvSpPr>
          <p:cNvPr id="30" name="TextBox 29"/>
          <p:cNvSpPr txBox="1"/>
          <p:nvPr/>
        </p:nvSpPr>
        <p:spPr>
          <a:xfrm>
            <a:off x="7360920" y="4617720"/>
            <a:ext cx="4434840" cy="274320"/>
          </a:xfrm>
          <a:prstGeom prst="rect">
            <a:avLst/>
          </a:prstGeom>
          <a:noFill/>
        </p:spPr>
        <p:txBody>
          <a:bodyPr wrap="square">
            <a:spAutoFit/>
          </a:bodyPr>
          <a:lstStyle/>
          <a:p>
            <a:pPr algn="l"/>
            <a:r>
              <a:rPr sz="1000" b="0" i="0">
                <a:solidFill>
                  <a:srgbClr val="E6E5DE"/>
                </a:solidFill>
                <a:latin typeface="Calibri"/>
              </a:rPr>
              <a:t>+61 411 876 267</a:t>
            </a:r>
          </a:p>
        </p:txBody>
      </p:sp>
      <p:sp>
        <p:nvSpPr>
          <p:cNvPr id="31" name="TextBox 30"/>
          <p:cNvSpPr txBox="1"/>
          <p:nvPr/>
        </p:nvSpPr>
        <p:spPr>
          <a:xfrm>
            <a:off x="7360920" y="4882896"/>
            <a:ext cx="4434840" cy="274320"/>
          </a:xfrm>
          <a:prstGeom prst="rect">
            <a:avLst/>
          </a:prstGeom>
          <a:noFill/>
        </p:spPr>
        <p:txBody>
          <a:bodyPr wrap="square">
            <a:spAutoFit/>
          </a:bodyPr>
          <a:lstStyle/>
          <a:p>
            <a:pPr algn="l"/>
            <a:r>
              <a:rPr sz="1000" b="0" i="0">
                <a:solidFill>
                  <a:srgbClr val="888888"/>
                </a:solidFill>
                <a:latin typeface="Calibri"/>
              </a:rPr>
              <a:t>linkedin.com/in/nitesh-roopa-77594163</a:t>
            </a:r>
          </a:p>
        </p:txBody>
      </p:sp>
      <p:sp>
        <p:nvSpPr>
          <p:cNvPr id="32" name="Rectangle 31"/>
          <p:cNvSpPr/>
          <p:nvPr/>
        </p:nvSpPr>
        <p:spPr>
          <a:xfrm>
            <a:off x="91440" y="6583680"/>
            <a:ext cx="12100255" cy="127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 y="6601968"/>
            <a:ext cx="9144000" cy="228600"/>
          </a:xfrm>
          <a:prstGeom prst="rect">
            <a:avLst/>
          </a:prstGeom>
          <a:noFill/>
        </p:spPr>
        <p:txBody>
          <a:bodyPr wrap="square">
            <a:spAutoFit/>
          </a:bodyPr>
          <a:lstStyle/>
          <a:p>
            <a:pPr algn="l"/>
            <a:r>
              <a:rPr sz="800" b="0" i="0">
                <a:solidFill>
                  <a:srgbClr val="666666"/>
                </a:solidFill>
                <a:latin typeface="Calibri"/>
              </a:rPr>
              <a:t>Prepared by Nitesh Roopa CA, Managing Partner and Founder, ProfitPulse, Profit-Pulse.com.au</a:t>
            </a:r>
          </a:p>
        </p:txBody>
      </p:sp>
      <p:sp>
        <p:nvSpPr>
          <p:cNvPr id="34" name="TextBox 33"/>
          <p:cNvSpPr txBox="1"/>
          <p:nvPr/>
        </p:nvSpPr>
        <p:spPr>
          <a:xfrm>
            <a:off x="9601200" y="6601968"/>
            <a:ext cx="2377440" cy="228600"/>
          </a:xfrm>
          <a:prstGeom prst="rect">
            <a:avLst/>
          </a:prstGeom>
          <a:noFill/>
        </p:spPr>
        <p:txBody>
          <a:bodyPr wrap="square">
            <a:spAutoFit/>
          </a:bodyPr>
          <a:lstStyle/>
          <a:p>
            <a:pPr algn="r"/>
            <a:r>
              <a:rPr sz="800" b="0" i="0">
                <a:solidFill>
                  <a:srgbClr val="666666"/>
                </a:solidFill>
                <a:latin typeface="Calibri"/>
              </a:rPr>
              <a:t>25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