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rofit-pulse.com.au/full-suite-of-products" TargetMode="External"/><Relationship Id="rId3" Type="http://schemas.openxmlformats.org/officeDocument/2006/relationships/hyperlink" Target="https://buy.stripe.com/bJe00kc5agKQepG0ZV3ks1x" TargetMode="External"/><Relationship Id="rId4" Type="http://schemas.openxmlformats.org/officeDocument/2006/relationships/hyperlink" Target="https://bookings.cloud.microsoft/book/ProfitPulse1@profit-pulse.com.au/?ismsaljsauthenabled=tru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7772400" cy="365760"/>
          </a:xfrm>
          <a:prstGeom prst="rect">
            <a:avLst/>
          </a:prstGeom>
          <a:noFill/>
        </p:spPr>
        <p:txBody>
          <a:bodyPr wrap="square">
            <a:spAutoFit/>
          </a:bodyPr>
          <a:lstStyle/>
          <a:p>
            <a:pPr algn="l"/>
            <a:r>
              <a:rPr sz="1100" b="1" i="0">
                <a:solidFill>
                  <a:srgbClr val="E6E5DE"/>
                </a:solidFill>
                <a:latin typeface="Calibri"/>
              </a:rPr>
              <a:t>COMMERCIAL INTELLIGENCE BRIEF</a:t>
            </a:r>
          </a:p>
        </p:txBody>
      </p:sp>
      <p:sp>
        <p:nvSpPr>
          <p:cNvPr id="5" name="TextBox 4"/>
          <p:cNvSpPr txBox="1"/>
          <p:nvPr/>
        </p:nvSpPr>
        <p:spPr>
          <a:xfrm>
            <a:off x="7863840" y="109728"/>
            <a:ext cx="4206240" cy="365760"/>
          </a:xfrm>
          <a:prstGeom prst="rect">
            <a:avLst/>
          </a:prstGeom>
          <a:noFill/>
        </p:spPr>
        <p:txBody>
          <a:bodyPr wrap="square">
            <a:spAutoFit/>
          </a:bodyPr>
          <a:lstStyle/>
          <a:p>
            <a:pPr algn="r"/>
            <a:r>
              <a:rPr sz="1100" b="1" i="0">
                <a:solidFill>
                  <a:srgbClr val="01A296"/>
                </a:solidFill>
                <a:latin typeface="Calibri"/>
              </a:rPr>
              <a:t>PROFITPULSE</a:t>
            </a:r>
          </a:p>
        </p:txBody>
      </p:sp>
      <p:sp>
        <p:nvSpPr>
          <p:cNvPr id="6" name="TextBox 5"/>
          <p:cNvSpPr txBox="1"/>
          <p:nvPr/>
        </p:nvSpPr>
        <p:spPr>
          <a:xfrm>
            <a:off x="228600" y="969264"/>
            <a:ext cx="9144000" cy="658368"/>
          </a:xfrm>
          <a:prstGeom prst="rect">
            <a:avLst/>
          </a:prstGeom>
          <a:noFill/>
        </p:spPr>
        <p:txBody>
          <a:bodyPr wrap="square">
            <a:spAutoFit/>
          </a:bodyPr>
          <a:lstStyle/>
          <a:p>
            <a:pPr algn="l"/>
            <a:r>
              <a:rPr sz="4400" b="1" i="0">
                <a:solidFill>
                  <a:srgbClr val="000000"/>
                </a:solidFill>
                <a:latin typeface="Georgia"/>
              </a:rPr>
              <a:t>Taskforce Australia</a:t>
            </a:r>
          </a:p>
        </p:txBody>
      </p:sp>
      <p:sp>
        <p:nvSpPr>
          <p:cNvPr id="7" name="TextBox 6"/>
          <p:cNvSpPr txBox="1"/>
          <p:nvPr/>
        </p:nvSpPr>
        <p:spPr>
          <a:xfrm>
            <a:off x="228600" y="1664208"/>
            <a:ext cx="11430000" cy="320040"/>
          </a:xfrm>
          <a:prstGeom prst="rect">
            <a:avLst/>
          </a:prstGeom>
          <a:noFill/>
        </p:spPr>
        <p:txBody>
          <a:bodyPr wrap="square">
            <a:spAutoFit/>
          </a:bodyPr>
          <a:lstStyle/>
          <a:p>
            <a:pPr algn="l"/>
            <a:r>
              <a:rPr sz="1300" b="0" i="0">
                <a:solidFill>
                  <a:srgbClr val="01A296"/>
                </a:solidFill>
                <a:latin typeface="Calibri"/>
              </a:rPr>
              <a:t>Property maintenance and safety compliance platform  |  Burnley, Melbourne VIC</a:t>
            </a:r>
          </a:p>
        </p:txBody>
      </p:sp>
      <p:sp>
        <p:nvSpPr>
          <p:cNvPr id="8" name="Rectangle 7"/>
          <p:cNvSpPr/>
          <p:nvPr/>
        </p:nvSpPr>
        <p:spPr>
          <a:xfrm>
            <a:off x="228600" y="2057400"/>
            <a:ext cx="1901952"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 y="2057400"/>
            <a:ext cx="1901952"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2148840"/>
            <a:ext cx="1719072" cy="502920"/>
          </a:xfrm>
          <a:prstGeom prst="rect">
            <a:avLst/>
          </a:prstGeom>
          <a:noFill/>
        </p:spPr>
        <p:txBody>
          <a:bodyPr wrap="square">
            <a:spAutoFit/>
          </a:bodyPr>
          <a:lstStyle/>
          <a:p>
            <a:pPr algn="l"/>
            <a:r>
              <a:rPr sz="2800" b="1" i="0">
                <a:solidFill>
                  <a:srgbClr val="F8C806"/>
                </a:solidFill>
                <a:latin typeface="Georgia"/>
              </a:rPr>
              <a:t>$12.8M</a:t>
            </a:r>
          </a:p>
        </p:txBody>
      </p:sp>
      <p:sp>
        <p:nvSpPr>
          <p:cNvPr id="11" name="TextBox 10"/>
          <p:cNvSpPr txBox="1"/>
          <p:nvPr/>
        </p:nvSpPr>
        <p:spPr>
          <a:xfrm>
            <a:off x="320040" y="2688336"/>
            <a:ext cx="1719072" cy="246888"/>
          </a:xfrm>
          <a:prstGeom prst="rect">
            <a:avLst/>
          </a:prstGeom>
          <a:noFill/>
        </p:spPr>
        <p:txBody>
          <a:bodyPr wrap="square">
            <a:spAutoFit/>
          </a:bodyPr>
          <a:lstStyle/>
          <a:p>
            <a:pPr algn="l"/>
            <a:r>
              <a:rPr sz="1100" b="0" i="0">
                <a:solidFill>
                  <a:srgbClr val="E6E5DE"/>
                </a:solidFill>
                <a:latin typeface="Calibri"/>
              </a:rPr>
              <a:t>Revenue</a:t>
            </a:r>
          </a:p>
        </p:txBody>
      </p:sp>
      <p:sp>
        <p:nvSpPr>
          <p:cNvPr id="12" name="TextBox 11"/>
          <p:cNvSpPr txBox="1"/>
          <p:nvPr/>
        </p:nvSpPr>
        <p:spPr>
          <a:xfrm>
            <a:off x="320040" y="2935224"/>
            <a:ext cx="1719072" cy="246888"/>
          </a:xfrm>
          <a:prstGeom prst="rect">
            <a:avLst/>
          </a:prstGeom>
          <a:noFill/>
        </p:spPr>
        <p:txBody>
          <a:bodyPr wrap="square">
            <a:spAutoFit/>
          </a:bodyPr>
          <a:lstStyle/>
          <a:p>
            <a:pPr algn="l"/>
            <a:r>
              <a:rPr sz="1100" b="0" i="0">
                <a:solidFill>
                  <a:srgbClr val="E6E5DE"/>
                </a:solidFill>
                <a:latin typeface="Calibri"/>
              </a:rPr>
              <a:t>FY25</a:t>
            </a:r>
          </a:p>
        </p:txBody>
      </p:sp>
      <p:sp>
        <p:nvSpPr>
          <p:cNvPr id="13" name="TextBox 12"/>
          <p:cNvSpPr txBox="1"/>
          <p:nvPr/>
        </p:nvSpPr>
        <p:spPr>
          <a:xfrm>
            <a:off x="320040" y="3172968"/>
            <a:ext cx="1719072" cy="182880"/>
          </a:xfrm>
          <a:prstGeom prst="rect">
            <a:avLst/>
          </a:prstGeom>
          <a:noFill/>
        </p:spPr>
        <p:txBody>
          <a:bodyPr wrap="square">
            <a:spAutoFit/>
          </a:bodyPr>
          <a:lstStyle/>
          <a:p>
            <a:pPr algn="l"/>
            <a:r>
              <a:rPr sz="700" b="0" i="0">
                <a:solidFill>
                  <a:srgbClr val="888888"/>
                </a:solidFill>
                <a:latin typeface="Calibri"/>
              </a:rPr>
              <a:t>Smart50 2025</a:t>
            </a:r>
          </a:p>
        </p:txBody>
      </p:sp>
      <p:sp>
        <p:nvSpPr>
          <p:cNvPr id="14" name="Rectangle 13"/>
          <p:cNvSpPr/>
          <p:nvPr/>
        </p:nvSpPr>
        <p:spPr>
          <a:xfrm>
            <a:off x="2185416" y="2057400"/>
            <a:ext cx="1901952"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185416" y="2057400"/>
            <a:ext cx="1901952"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76856" y="2148840"/>
            <a:ext cx="1719072" cy="502920"/>
          </a:xfrm>
          <a:prstGeom prst="rect">
            <a:avLst/>
          </a:prstGeom>
          <a:noFill/>
        </p:spPr>
        <p:txBody>
          <a:bodyPr wrap="square">
            <a:spAutoFit/>
          </a:bodyPr>
          <a:lstStyle/>
          <a:p>
            <a:pPr algn="l"/>
            <a:r>
              <a:rPr sz="2800" b="1" i="0">
                <a:solidFill>
                  <a:srgbClr val="F8C806"/>
                </a:solidFill>
                <a:latin typeface="Georgia"/>
              </a:rPr>
              <a:t>31%</a:t>
            </a:r>
          </a:p>
        </p:txBody>
      </p:sp>
      <p:sp>
        <p:nvSpPr>
          <p:cNvPr id="17" name="TextBox 16"/>
          <p:cNvSpPr txBox="1"/>
          <p:nvPr/>
        </p:nvSpPr>
        <p:spPr>
          <a:xfrm>
            <a:off x="2276856" y="2688336"/>
            <a:ext cx="1719072" cy="246888"/>
          </a:xfrm>
          <a:prstGeom prst="rect">
            <a:avLst/>
          </a:prstGeom>
          <a:noFill/>
        </p:spPr>
        <p:txBody>
          <a:bodyPr wrap="square">
            <a:spAutoFit/>
          </a:bodyPr>
          <a:lstStyle/>
          <a:p>
            <a:pPr algn="l"/>
            <a:r>
              <a:rPr sz="1100" b="0" i="0">
                <a:solidFill>
                  <a:srgbClr val="E6E5DE"/>
                </a:solidFill>
                <a:latin typeface="Calibri"/>
              </a:rPr>
              <a:t>Revenue</a:t>
            </a:r>
          </a:p>
        </p:txBody>
      </p:sp>
      <p:sp>
        <p:nvSpPr>
          <p:cNvPr id="18" name="TextBox 17"/>
          <p:cNvSpPr txBox="1"/>
          <p:nvPr/>
        </p:nvSpPr>
        <p:spPr>
          <a:xfrm>
            <a:off x="2276856" y="2935224"/>
            <a:ext cx="1719072" cy="246888"/>
          </a:xfrm>
          <a:prstGeom prst="rect">
            <a:avLst/>
          </a:prstGeom>
          <a:noFill/>
        </p:spPr>
        <p:txBody>
          <a:bodyPr wrap="square">
            <a:spAutoFit/>
          </a:bodyPr>
          <a:lstStyle/>
          <a:p>
            <a:pPr algn="l"/>
            <a:r>
              <a:rPr sz="1100" b="0" i="0">
                <a:solidFill>
                  <a:srgbClr val="E6E5DE"/>
                </a:solidFill>
                <a:latin typeface="Calibri"/>
              </a:rPr>
              <a:t>Growth Rate</a:t>
            </a:r>
          </a:p>
        </p:txBody>
      </p:sp>
      <p:sp>
        <p:nvSpPr>
          <p:cNvPr id="19" name="TextBox 18"/>
          <p:cNvSpPr txBox="1"/>
          <p:nvPr/>
        </p:nvSpPr>
        <p:spPr>
          <a:xfrm>
            <a:off x="2276856" y="3172968"/>
            <a:ext cx="1719072" cy="182880"/>
          </a:xfrm>
          <a:prstGeom prst="rect">
            <a:avLst/>
          </a:prstGeom>
          <a:noFill/>
        </p:spPr>
        <p:txBody>
          <a:bodyPr wrap="square">
            <a:spAutoFit/>
          </a:bodyPr>
          <a:lstStyle/>
          <a:p>
            <a:pPr algn="l"/>
            <a:r>
              <a:rPr sz="700" b="0" i="0">
                <a:solidFill>
                  <a:srgbClr val="888888"/>
                </a:solidFill>
                <a:latin typeface="Calibri"/>
              </a:rPr>
              <a:t>Smart50 2025</a:t>
            </a:r>
          </a:p>
        </p:txBody>
      </p:sp>
      <p:sp>
        <p:nvSpPr>
          <p:cNvPr id="20" name="Rectangle 19"/>
          <p:cNvSpPr/>
          <p:nvPr/>
        </p:nvSpPr>
        <p:spPr>
          <a:xfrm>
            <a:off x="4142232" y="2057400"/>
            <a:ext cx="1901952"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42232" y="2057400"/>
            <a:ext cx="1901952"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33672" y="2148840"/>
            <a:ext cx="1719072" cy="502920"/>
          </a:xfrm>
          <a:prstGeom prst="rect">
            <a:avLst/>
          </a:prstGeom>
          <a:noFill/>
        </p:spPr>
        <p:txBody>
          <a:bodyPr wrap="square">
            <a:spAutoFit/>
          </a:bodyPr>
          <a:lstStyle/>
          <a:p>
            <a:pPr algn="l"/>
            <a:r>
              <a:rPr sz="2800" b="1" i="0">
                <a:solidFill>
                  <a:srgbClr val="F8C806"/>
                </a:solidFill>
                <a:latin typeface="Georgia"/>
              </a:rPr>
              <a:t>19</a:t>
            </a:r>
          </a:p>
        </p:txBody>
      </p:sp>
      <p:sp>
        <p:nvSpPr>
          <p:cNvPr id="23" name="TextBox 22"/>
          <p:cNvSpPr txBox="1"/>
          <p:nvPr/>
        </p:nvSpPr>
        <p:spPr>
          <a:xfrm>
            <a:off x="4233672" y="2688336"/>
            <a:ext cx="1719072" cy="246888"/>
          </a:xfrm>
          <a:prstGeom prst="rect">
            <a:avLst/>
          </a:prstGeom>
          <a:noFill/>
        </p:spPr>
        <p:txBody>
          <a:bodyPr wrap="square">
            <a:spAutoFit/>
          </a:bodyPr>
          <a:lstStyle/>
          <a:p>
            <a:pPr algn="l"/>
            <a:r>
              <a:rPr sz="1100" b="0" i="0">
                <a:solidFill>
                  <a:srgbClr val="E6E5DE"/>
                </a:solidFill>
                <a:latin typeface="Calibri"/>
              </a:rPr>
              <a:t>In-House</a:t>
            </a:r>
          </a:p>
        </p:txBody>
      </p:sp>
      <p:sp>
        <p:nvSpPr>
          <p:cNvPr id="24" name="TextBox 23"/>
          <p:cNvSpPr txBox="1"/>
          <p:nvPr/>
        </p:nvSpPr>
        <p:spPr>
          <a:xfrm>
            <a:off x="4233672" y="2935224"/>
            <a:ext cx="1719072" cy="246888"/>
          </a:xfrm>
          <a:prstGeom prst="rect">
            <a:avLst/>
          </a:prstGeom>
          <a:noFill/>
        </p:spPr>
        <p:txBody>
          <a:bodyPr wrap="square">
            <a:spAutoFit/>
          </a:bodyPr>
          <a:lstStyle/>
          <a:p>
            <a:pPr algn="l"/>
            <a:r>
              <a:rPr sz="1100" b="0" i="0">
                <a:solidFill>
                  <a:srgbClr val="E6E5DE"/>
                </a:solidFill>
                <a:latin typeface="Calibri"/>
              </a:rPr>
              <a:t>Team</a:t>
            </a:r>
          </a:p>
        </p:txBody>
      </p:sp>
      <p:sp>
        <p:nvSpPr>
          <p:cNvPr id="25" name="TextBox 24"/>
          <p:cNvSpPr txBox="1"/>
          <p:nvPr/>
        </p:nvSpPr>
        <p:spPr>
          <a:xfrm>
            <a:off x="4233672" y="3172968"/>
            <a:ext cx="1719072" cy="182880"/>
          </a:xfrm>
          <a:prstGeom prst="rect">
            <a:avLst/>
          </a:prstGeom>
          <a:noFill/>
        </p:spPr>
        <p:txBody>
          <a:bodyPr wrap="square">
            <a:spAutoFit/>
          </a:bodyPr>
          <a:lstStyle/>
          <a:p>
            <a:pPr algn="l"/>
            <a:r>
              <a:rPr sz="700" b="0" i="0">
                <a:solidFill>
                  <a:srgbClr val="888888"/>
                </a:solidFill>
                <a:latin typeface="Calibri"/>
              </a:rPr>
              <a:t>Smart50 2025</a:t>
            </a:r>
          </a:p>
        </p:txBody>
      </p:sp>
      <p:sp>
        <p:nvSpPr>
          <p:cNvPr id="26" name="Rectangle 25"/>
          <p:cNvSpPr/>
          <p:nvPr/>
        </p:nvSpPr>
        <p:spPr>
          <a:xfrm>
            <a:off x="6099048" y="2057400"/>
            <a:ext cx="1901952"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099048" y="2057400"/>
            <a:ext cx="1901952"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0488" y="2148840"/>
            <a:ext cx="1719072" cy="502920"/>
          </a:xfrm>
          <a:prstGeom prst="rect">
            <a:avLst/>
          </a:prstGeom>
          <a:noFill/>
        </p:spPr>
        <p:txBody>
          <a:bodyPr wrap="square">
            <a:spAutoFit/>
          </a:bodyPr>
          <a:lstStyle/>
          <a:p>
            <a:pPr algn="l"/>
            <a:r>
              <a:rPr sz="2800" b="1" i="0">
                <a:solidFill>
                  <a:srgbClr val="F8C806"/>
                </a:solidFill>
                <a:latin typeface="Georgia"/>
              </a:rPr>
              <a:t>5,500</a:t>
            </a:r>
          </a:p>
        </p:txBody>
      </p:sp>
      <p:sp>
        <p:nvSpPr>
          <p:cNvPr id="29" name="TextBox 28"/>
          <p:cNvSpPr txBox="1"/>
          <p:nvPr/>
        </p:nvSpPr>
        <p:spPr>
          <a:xfrm>
            <a:off x="6190488" y="2688336"/>
            <a:ext cx="1719072" cy="246888"/>
          </a:xfrm>
          <a:prstGeom prst="rect">
            <a:avLst/>
          </a:prstGeom>
          <a:noFill/>
        </p:spPr>
        <p:txBody>
          <a:bodyPr wrap="square">
            <a:spAutoFit/>
          </a:bodyPr>
          <a:lstStyle/>
          <a:p>
            <a:pPr algn="l"/>
            <a:r>
              <a:rPr sz="1100" b="0" i="0">
                <a:solidFill>
                  <a:srgbClr val="E6E5DE"/>
                </a:solidFill>
                <a:latin typeface="Calibri"/>
              </a:rPr>
              <a:t>Trade</a:t>
            </a:r>
          </a:p>
        </p:txBody>
      </p:sp>
      <p:sp>
        <p:nvSpPr>
          <p:cNvPr id="30" name="TextBox 29"/>
          <p:cNvSpPr txBox="1"/>
          <p:nvPr/>
        </p:nvSpPr>
        <p:spPr>
          <a:xfrm>
            <a:off x="6190488" y="2935224"/>
            <a:ext cx="1719072" cy="246888"/>
          </a:xfrm>
          <a:prstGeom prst="rect">
            <a:avLst/>
          </a:prstGeom>
          <a:noFill/>
        </p:spPr>
        <p:txBody>
          <a:bodyPr wrap="square">
            <a:spAutoFit/>
          </a:bodyPr>
          <a:lstStyle/>
          <a:p>
            <a:pPr algn="l"/>
            <a:r>
              <a:rPr sz="1100" b="0" i="0">
                <a:solidFill>
                  <a:srgbClr val="E6E5DE"/>
                </a:solidFill>
                <a:latin typeface="Calibri"/>
              </a:rPr>
              <a:t>Network</a:t>
            </a:r>
          </a:p>
        </p:txBody>
      </p:sp>
      <p:sp>
        <p:nvSpPr>
          <p:cNvPr id="31" name="TextBox 30"/>
          <p:cNvSpPr txBox="1"/>
          <p:nvPr/>
        </p:nvSpPr>
        <p:spPr>
          <a:xfrm>
            <a:off x="6190488" y="3172968"/>
            <a:ext cx="1719072" cy="182880"/>
          </a:xfrm>
          <a:prstGeom prst="rect">
            <a:avLst/>
          </a:prstGeom>
          <a:noFill/>
        </p:spPr>
        <p:txBody>
          <a:bodyPr wrap="square">
            <a:spAutoFit/>
          </a:bodyPr>
          <a:lstStyle/>
          <a:p>
            <a:pPr algn="l"/>
            <a:r>
              <a:rPr sz="700" b="0" i="0">
                <a:solidFill>
                  <a:srgbClr val="888888"/>
                </a:solidFill>
                <a:latin typeface="Calibri"/>
              </a:rPr>
              <a:t>Smart50 2025</a:t>
            </a:r>
          </a:p>
        </p:txBody>
      </p:sp>
      <p:sp>
        <p:nvSpPr>
          <p:cNvPr id="32" name="Rectangle 31"/>
          <p:cNvSpPr/>
          <p:nvPr/>
        </p:nvSpPr>
        <p:spPr>
          <a:xfrm>
            <a:off x="8055864" y="2057400"/>
            <a:ext cx="1901952"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55864" y="2057400"/>
            <a:ext cx="1901952"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147304" y="2148840"/>
            <a:ext cx="1719072" cy="502920"/>
          </a:xfrm>
          <a:prstGeom prst="rect">
            <a:avLst/>
          </a:prstGeom>
          <a:noFill/>
        </p:spPr>
        <p:txBody>
          <a:bodyPr wrap="square">
            <a:spAutoFit/>
          </a:bodyPr>
          <a:lstStyle/>
          <a:p>
            <a:pPr algn="l"/>
            <a:r>
              <a:rPr sz="2800" b="1" i="0">
                <a:solidFill>
                  <a:srgbClr val="F8C806"/>
                </a:solidFill>
                <a:latin typeface="Georgia"/>
              </a:rPr>
              <a:t>618%</a:t>
            </a:r>
          </a:p>
        </p:txBody>
      </p:sp>
      <p:sp>
        <p:nvSpPr>
          <p:cNvPr id="35" name="TextBox 34"/>
          <p:cNvSpPr txBox="1"/>
          <p:nvPr/>
        </p:nvSpPr>
        <p:spPr>
          <a:xfrm>
            <a:off x="8147304" y="2688336"/>
            <a:ext cx="1719072" cy="246888"/>
          </a:xfrm>
          <a:prstGeom prst="rect">
            <a:avLst/>
          </a:prstGeom>
          <a:noFill/>
        </p:spPr>
        <p:txBody>
          <a:bodyPr wrap="square">
            <a:spAutoFit/>
          </a:bodyPr>
          <a:lstStyle/>
          <a:p>
            <a:pPr algn="l"/>
            <a:r>
              <a:rPr sz="1100" b="0" i="0">
                <a:solidFill>
                  <a:srgbClr val="E6E5DE"/>
                </a:solidFill>
                <a:latin typeface="Calibri"/>
              </a:rPr>
              <a:t>Housing Jobs</a:t>
            </a:r>
          </a:p>
        </p:txBody>
      </p:sp>
      <p:sp>
        <p:nvSpPr>
          <p:cNvPr id="36" name="TextBox 35"/>
          <p:cNvSpPr txBox="1"/>
          <p:nvPr/>
        </p:nvSpPr>
        <p:spPr>
          <a:xfrm>
            <a:off x="8147304" y="2935224"/>
            <a:ext cx="1719072" cy="246888"/>
          </a:xfrm>
          <a:prstGeom prst="rect">
            <a:avLst/>
          </a:prstGeom>
          <a:noFill/>
        </p:spPr>
        <p:txBody>
          <a:bodyPr wrap="square">
            <a:spAutoFit/>
          </a:bodyPr>
          <a:lstStyle/>
          <a:p>
            <a:pPr algn="l"/>
            <a:r>
              <a:rPr sz="1100" b="0" i="0">
                <a:solidFill>
                  <a:srgbClr val="E6E5DE"/>
                </a:solidFill>
                <a:latin typeface="Calibri"/>
              </a:rPr>
              <a:t>YoY Growth</a:t>
            </a:r>
          </a:p>
        </p:txBody>
      </p:sp>
      <p:sp>
        <p:nvSpPr>
          <p:cNvPr id="37" name="TextBox 36"/>
          <p:cNvSpPr txBox="1"/>
          <p:nvPr/>
        </p:nvSpPr>
        <p:spPr>
          <a:xfrm>
            <a:off x="8147304" y="3172968"/>
            <a:ext cx="1719072" cy="182880"/>
          </a:xfrm>
          <a:prstGeom prst="rect">
            <a:avLst/>
          </a:prstGeom>
          <a:noFill/>
        </p:spPr>
        <p:txBody>
          <a:bodyPr wrap="square">
            <a:spAutoFit/>
          </a:bodyPr>
          <a:lstStyle/>
          <a:p>
            <a:pPr algn="l"/>
            <a:r>
              <a:rPr sz="700" b="0" i="0">
                <a:solidFill>
                  <a:srgbClr val="888888"/>
                </a:solidFill>
                <a:latin typeface="Calibri"/>
              </a:rPr>
              <a:t>Smart50 2025</a:t>
            </a:r>
          </a:p>
        </p:txBody>
      </p:sp>
      <p:sp>
        <p:nvSpPr>
          <p:cNvPr id="38" name="Rectangle 37"/>
          <p:cNvSpPr/>
          <p:nvPr/>
        </p:nvSpPr>
        <p:spPr>
          <a:xfrm>
            <a:off x="10012680" y="2057400"/>
            <a:ext cx="1901952" cy="1325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0012680" y="2057400"/>
            <a:ext cx="1901952" cy="64008"/>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104120" y="2148840"/>
            <a:ext cx="1719072" cy="502920"/>
          </a:xfrm>
          <a:prstGeom prst="rect">
            <a:avLst/>
          </a:prstGeom>
          <a:noFill/>
        </p:spPr>
        <p:txBody>
          <a:bodyPr wrap="square">
            <a:spAutoFit/>
          </a:bodyPr>
          <a:lstStyle/>
          <a:p>
            <a:pPr algn="l"/>
            <a:r>
              <a:rPr sz="2800" b="1" i="0">
                <a:solidFill>
                  <a:srgbClr val="F8C806"/>
                </a:solidFill>
                <a:latin typeface="Georgia"/>
              </a:rPr>
              <a:t>#37</a:t>
            </a:r>
          </a:p>
        </p:txBody>
      </p:sp>
      <p:sp>
        <p:nvSpPr>
          <p:cNvPr id="41" name="TextBox 40"/>
          <p:cNvSpPr txBox="1"/>
          <p:nvPr/>
        </p:nvSpPr>
        <p:spPr>
          <a:xfrm>
            <a:off x="10104120" y="2688336"/>
            <a:ext cx="1719072" cy="246888"/>
          </a:xfrm>
          <a:prstGeom prst="rect">
            <a:avLst/>
          </a:prstGeom>
          <a:noFill/>
        </p:spPr>
        <p:txBody>
          <a:bodyPr wrap="square">
            <a:spAutoFit/>
          </a:bodyPr>
          <a:lstStyle/>
          <a:p>
            <a:pPr algn="l"/>
            <a:r>
              <a:rPr sz="1100" b="0" i="0">
                <a:solidFill>
                  <a:srgbClr val="E6E5DE"/>
                </a:solidFill>
                <a:latin typeface="Calibri"/>
              </a:rPr>
              <a:t>Smart50</a:t>
            </a:r>
          </a:p>
        </p:txBody>
      </p:sp>
      <p:sp>
        <p:nvSpPr>
          <p:cNvPr id="42" name="TextBox 41"/>
          <p:cNvSpPr txBox="1"/>
          <p:nvPr/>
        </p:nvSpPr>
        <p:spPr>
          <a:xfrm>
            <a:off x="10104120" y="2935224"/>
            <a:ext cx="1719072" cy="246888"/>
          </a:xfrm>
          <a:prstGeom prst="rect">
            <a:avLst/>
          </a:prstGeom>
          <a:noFill/>
        </p:spPr>
        <p:txBody>
          <a:bodyPr wrap="square">
            <a:spAutoFit/>
          </a:bodyPr>
          <a:lstStyle/>
          <a:p>
            <a:pPr algn="l"/>
            <a:r>
              <a:rPr sz="1100" b="0" i="0">
                <a:solidFill>
                  <a:srgbClr val="E6E5DE"/>
                </a:solidFill>
                <a:latin typeface="Calibri"/>
              </a:rPr>
              <a:t>2025 Rank</a:t>
            </a:r>
          </a:p>
        </p:txBody>
      </p:sp>
      <p:sp>
        <p:nvSpPr>
          <p:cNvPr id="43" name="TextBox 42"/>
          <p:cNvSpPr txBox="1"/>
          <p:nvPr/>
        </p:nvSpPr>
        <p:spPr>
          <a:xfrm>
            <a:off x="10104120" y="3172968"/>
            <a:ext cx="1719072" cy="182880"/>
          </a:xfrm>
          <a:prstGeom prst="rect">
            <a:avLst/>
          </a:prstGeom>
          <a:noFill/>
        </p:spPr>
        <p:txBody>
          <a:bodyPr wrap="square">
            <a:spAutoFit/>
          </a:bodyPr>
          <a:lstStyle/>
          <a:p>
            <a:pPr algn="l"/>
            <a:r>
              <a:rPr sz="700" b="0" i="0">
                <a:solidFill>
                  <a:srgbClr val="888888"/>
                </a:solidFill>
                <a:latin typeface="Calibri"/>
              </a:rPr>
              <a:t>SmartCompany 2025</a:t>
            </a:r>
          </a:p>
        </p:txBody>
      </p:sp>
      <p:sp>
        <p:nvSpPr>
          <p:cNvPr id="44" name="TextBox 43"/>
          <p:cNvSpPr txBox="1"/>
          <p:nvPr/>
        </p:nvSpPr>
        <p:spPr>
          <a:xfrm>
            <a:off x="8595360" y="3493008"/>
            <a:ext cx="3383280" cy="256032"/>
          </a:xfrm>
          <a:prstGeom prst="rect">
            <a:avLst/>
          </a:prstGeom>
          <a:noFill/>
        </p:spPr>
        <p:txBody>
          <a:bodyPr wrap="square">
            <a:spAutoFit/>
          </a:bodyPr>
          <a:lstStyle/>
          <a:p>
            <a:pPr algn="l"/>
            <a:r>
              <a:rPr sz="1100" b="1" i="0">
                <a:solidFill>
                  <a:srgbClr val="01A296"/>
                </a:solidFill>
                <a:latin typeface="Calibri"/>
              </a:rPr>
              <a:t>REVENUE GROWTH</a:t>
            </a:r>
          </a:p>
        </p:txBody>
      </p:sp>
      <p:sp>
        <p:nvSpPr>
          <p:cNvPr id="45" name="Rectangle 44"/>
          <p:cNvSpPr/>
          <p:nvPr/>
        </p:nvSpPr>
        <p:spPr>
          <a:xfrm>
            <a:off x="8595360" y="3794760"/>
            <a:ext cx="3383280" cy="24871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915400" y="4725815"/>
            <a:ext cx="1051560" cy="1172064"/>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915400" y="4469783"/>
            <a:ext cx="1051560" cy="237744"/>
          </a:xfrm>
          <a:prstGeom prst="rect">
            <a:avLst/>
          </a:prstGeom>
          <a:noFill/>
        </p:spPr>
        <p:txBody>
          <a:bodyPr wrap="square">
            <a:spAutoFit/>
          </a:bodyPr>
          <a:lstStyle/>
          <a:p>
            <a:pPr algn="ctr"/>
            <a:r>
              <a:rPr sz="1000" b="1" i="0">
                <a:solidFill>
                  <a:srgbClr val="000000"/>
                </a:solidFill>
                <a:latin typeface="Calibri"/>
              </a:rPr>
              <a:t>$9.7M</a:t>
            </a:r>
          </a:p>
        </p:txBody>
      </p:sp>
      <p:sp>
        <p:nvSpPr>
          <p:cNvPr id="48" name="TextBox 47"/>
          <p:cNvSpPr txBox="1"/>
          <p:nvPr/>
        </p:nvSpPr>
        <p:spPr>
          <a:xfrm>
            <a:off x="8915400" y="5925312"/>
            <a:ext cx="1051560" cy="237744"/>
          </a:xfrm>
          <a:prstGeom prst="rect">
            <a:avLst/>
          </a:prstGeom>
          <a:noFill/>
        </p:spPr>
        <p:txBody>
          <a:bodyPr wrap="square">
            <a:spAutoFit/>
          </a:bodyPr>
          <a:lstStyle/>
          <a:p>
            <a:pPr algn="ctr"/>
            <a:r>
              <a:rPr sz="1000" b="0" i="0">
                <a:solidFill>
                  <a:srgbClr val="444444"/>
                </a:solidFill>
                <a:latin typeface="Calibri"/>
              </a:rPr>
              <a:t>FY24</a:t>
            </a:r>
          </a:p>
        </p:txBody>
      </p:sp>
      <p:sp>
        <p:nvSpPr>
          <p:cNvPr id="49" name="Rectangle 48"/>
          <p:cNvSpPr/>
          <p:nvPr/>
        </p:nvSpPr>
        <p:spPr>
          <a:xfrm>
            <a:off x="10287000" y="4351237"/>
            <a:ext cx="1051560" cy="1546642"/>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287000" y="4095205"/>
            <a:ext cx="1051560" cy="237744"/>
          </a:xfrm>
          <a:prstGeom prst="rect">
            <a:avLst/>
          </a:prstGeom>
          <a:noFill/>
        </p:spPr>
        <p:txBody>
          <a:bodyPr wrap="square">
            <a:spAutoFit/>
          </a:bodyPr>
          <a:lstStyle/>
          <a:p>
            <a:pPr algn="ctr"/>
            <a:r>
              <a:rPr sz="1000" b="1" i="0">
                <a:solidFill>
                  <a:srgbClr val="000000"/>
                </a:solidFill>
                <a:latin typeface="Calibri"/>
              </a:rPr>
              <a:t>$12.8M</a:t>
            </a:r>
          </a:p>
        </p:txBody>
      </p:sp>
      <p:sp>
        <p:nvSpPr>
          <p:cNvPr id="51" name="TextBox 50"/>
          <p:cNvSpPr txBox="1"/>
          <p:nvPr/>
        </p:nvSpPr>
        <p:spPr>
          <a:xfrm>
            <a:off x="10287000" y="5925312"/>
            <a:ext cx="1051560" cy="237744"/>
          </a:xfrm>
          <a:prstGeom prst="rect">
            <a:avLst/>
          </a:prstGeom>
          <a:noFill/>
        </p:spPr>
        <p:txBody>
          <a:bodyPr wrap="square">
            <a:spAutoFit/>
          </a:bodyPr>
          <a:lstStyle/>
          <a:p>
            <a:pPr algn="ctr"/>
            <a:r>
              <a:rPr sz="1000" b="0" i="0">
                <a:solidFill>
                  <a:srgbClr val="444444"/>
                </a:solidFill>
                <a:latin typeface="Calibri"/>
              </a:rPr>
              <a:t>FY25</a:t>
            </a:r>
          </a:p>
        </p:txBody>
      </p:sp>
      <p:sp>
        <p:nvSpPr>
          <p:cNvPr id="52" name="TextBox 51"/>
          <p:cNvSpPr txBox="1"/>
          <p:nvPr/>
        </p:nvSpPr>
        <p:spPr>
          <a:xfrm>
            <a:off x="8595360" y="6318504"/>
            <a:ext cx="3383280" cy="201168"/>
          </a:xfrm>
          <a:prstGeom prst="rect">
            <a:avLst/>
          </a:prstGeom>
          <a:noFill/>
        </p:spPr>
        <p:txBody>
          <a:bodyPr wrap="square">
            <a:spAutoFit/>
          </a:bodyPr>
          <a:lstStyle/>
          <a:p>
            <a:pPr algn="l"/>
            <a:r>
              <a:rPr sz="700" b="0" i="0">
                <a:solidFill>
                  <a:srgbClr val="888888"/>
                </a:solidFill>
                <a:latin typeface="Calibri"/>
              </a:rPr>
              <a:t>Source: Smart50 2024 and 2025, SmartCompany</a:t>
            </a:r>
          </a:p>
        </p:txBody>
      </p:sp>
      <p:sp>
        <p:nvSpPr>
          <p:cNvPr id="53" name="TextBox 52"/>
          <p:cNvSpPr txBox="1"/>
          <p:nvPr/>
        </p:nvSpPr>
        <p:spPr>
          <a:xfrm>
            <a:off x="228600" y="3493008"/>
            <a:ext cx="8229600" cy="256032"/>
          </a:xfrm>
          <a:prstGeom prst="rect">
            <a:avLst/>
          </a:prstGeom>
          <a:noFill/>
        </p:spPr>
        <p:txBody>
          <a:bodyPr wrap="square">
            <a:spAutoFit/>
          </a:bodyPr>
          <a:lstStyle/>
          <a:p>
            <a:pPr algn="l"/>
            <a:r>
              <a:rPr sz="1100" b="1" i="0">
                <a:solidFill>
                  <a:srgbClr val="01A296"/>
                </a:solidFill>
                <a:latin typeface="Calibri"/>
              </a:rPr>
              <a:t>KEY COMMERCIAL SIGNALS</a:t>
            </a:r>
          </a:p>
        </p:txBody>
      </p:sp>
      <p:sp>
        <p:nvSpPr>
          <p:cNvPr id="54" name="TextBox 53"/>
          <p:cNvSpPr txBox="1"/>
          <p:nvPr/>
        </p:nvSpPr>
        <p:spPr>
          <a:xfrm>
            <a:off x="228600" y="3803904"/>
            <a:ext cx="8229600" cy="338328"/>
          </a:xfrm>
          <a:prstGeom prst="rect">
            <a:avLst/>
          </a:prstGeom>
          <a:noFill/>
        </p:spPr>
        <p:txBody>
          <a:bodyPr wrap="square">
            <a:spAutoFit/>
          </a:bodyPr>
          <a:lstStyle/>
          <a:p>
            <a:pPr algn="l"/>
            <a:r>
              <a:rPr sz="1100" b="0" i="0">
                <a:solidFill>
                  <a:srgbClr val="000000"/>
                </a:solidFill>
                <a:latin typeface="Calibri"/>
              </a:rPr>
              <a:t>•  Housing jobs grew 618% year-on-year, making housing the dominant service area  (Smart50 2025, SmartCompany)</a:t>
            </a:r>
          </a:p>
        </p:txBody>
      </p:sp>
      <p:sp>
        <p:nvSpPr>
          <p:cNvPr id="55" name="TextBox 54"/>
          <p:cNvSpPr txBox="1"/>
          <p:nvPr/>
        </p:nvSpPr>
        <p:spPr>
          <a:xfrm>
            <a:off x="228600" y="4242816"/>
            <a:ext cx="8229600" cy="338328"/>
          </a:xfrm>
          <a:prstGeom prst="rect">
            <a:avLst/>
          </a:prstGeom>
          <a:noFill/>
        </p:spPr>
        <p:txBody>
          <a:bodyPr wrap="square">
            <a:spAutoFit/>
          </a:bodyPr>
          <a:lstStyle/>
          <a:p>
            <a:pPr algn="l"/>
            <a:r>
              <a:rPr sz="1100" b="0" i="0">
                <a:solidFill>
                  <a:srgbClr val="000000"/>
                </a:solidFill>
                <a:latin typeface="Calibri"/>
              </a:rPr>
              <a:t>•  Housing division confirmed as strongest and most profitable area of the business  (Smart50 2025)</a:t>
            </a:r>
          </a:p>
        </p:txBody>
      </p:sp>
      <p:sp>
        <p:nvSpPr>
          <p:cNvPr id="56" name="TextBox 55"/>
          <p:cNvSpPr txBox="1"/>
          <p:nvPr/>
        </p:nvSpPr>
        <p:spPr>
          <a:xfrm>
            <a:off x="228600" y="4681728"/>
            <a:ext cx="8229600" cy="338328"/>
          </a:xfrm>
          <a:prstGeom prst="rect">
            <a:avLst/>
          </a:prstGeom>
          <a:noFill/>
        </p:spPr>
        <p:txBody>
          <a:bodyPr wrap="square">
            <a:spAutoFit/>
          </a:bodyPr>
          <a:lstStyle/>
          <a:p>
            <a:pPr algn="l"/>
            <a:r>
              <a:rPr sz="1100" b="0" i="0">
                <a:solidFill>
                  <a:srgbClr val="000000"/>
                </a:solidFill>
                <a:latin typeface="Calibri"/>
              </a:rPr>
              <a:t>•  Equity plan for staff and customers in active development  (Smart50 2025, SmartCompany)</a:t>
            </a:r>
          </a:p>
        </p:txBody>
      </p:sp>
      <p:sp>
        <p:nvSpPr>
          <p:cNvPr id="57" name="TextBox 56"/>
          <p:cNvSpPr txBox="1"/>
          <p:nvPr/>
        </p:nvSpPr>
        <p:spPr>
          <a:xfrm>
            <a:off x="228600" y="5120640"/>
            <a:ext cx="8229600" cy="338328"/>
          </a:xfrm>
          <a:prstGeom prst="rect">
            <a:avLst/>
          </a:prstGeom>
          <a:noFill/>
        </p:spPr>
        <p:txBody>
          <a:bodyPr wrap="square">
            <a:spAutoFit/>
          </a:bodyPr>
          <a:lstStyle/>
          <a:p>
            <a:pPr algn="l"/>
            <a:r>
              <a:rPr sz="1100" b="0" i="0">
                <a:solidFill>
                  <a:srgbClr val="000000"/>
                </a:solidFill>
                <a:latin typeface="Calibri"/>
              </a:rPr>
              <a:t>•  AI-enhanced scheduling platform expansion underway as part of four-point growth agenda  (Smart50 2025)</a:t>
            </a:r>
          </a:p>
        </p:txBody>
      </p:sp>
      <p:sp>
        <p:nvSpPr>
          <p:cNvPr id="58" name="TextBox 57"/>
          <p:cNvSpPr txBox="1"/>
          <p:nvPr/>
        </p:nvSpPr>
        <p:spPr>
          <a:xfrm>
            <a:off x="228600" y="5559552"/>
            <a:ext cx="8229600" cy="338328"/>
          </a:xfrm>
          <a:prstGeom prst="rect">
            <a:avLst/>
          </a:prstGeom>
          <a:noFill/>
        </p:spPr>
        <p:txBody>
          <a:bodyPr wrap="square">
            <a:spAutoFit/>
          </a:bodyPr>
          <a:lstStyle/>
          <a:p>
            <a:pPr algn="l"/>
            <a:r>
              <a:rPr sz="1100" b="0" i="0">
                <a:solidFill>
                  <a:srgbClr val="000000"/>
                </a:solidFill>
                <a:latin typeface="Calibri"/>
              </a:rPr>
              <a:t>•  Three consecutive Smart50 appearances: 2023, 2024, and 2025, confirming sustained performance  (SmartCompany)</a:t>
            </a:r>
          </a:p>
        </p:txBody>
      </p:sp>
      <p:sp>
        <p:nvSpPr>
          <p:cNvPr id="59" name="TextBox 58"/>
          <p:cNvSpPr txBox="1"/>
          <p:nvPr/>
        </p:nvSpPr>
        <p:spPr>
          <a:xfrm>
            <a:off x="228600" y="6537960"/>
            <a:ext cx="8686800" cy="256032"/>
          </a:xfrm>
          <a:prstGeom prst="rect">
            <a:avLst/>
          </a:prstGeom>
          <a:noFill/>
        </p:spPr>
        <p:txBody>
          <a:bodyPr wrap="square">
            <a:spAutoFit/>
          </a:bodyPr>
          <a:lstStyle/>
          <a:p>
            <a:pPr algn="l"/>
            <a:r>
              <a:rPr sz="900" b="0" i="0">
                <a:solidFill>
                  <a:srgbClr val="444444"/>
                </a:solidFill>
                <a:latin typeface="Calibri"/>
              </a:rPr>
              <a:t>Prepared by Nitesh Roopa CA, Managing Partner and Founder, ProfitPulse, Profit-Pulse.com.au</a:t>
            </a:r>
          </a:p>
        </p:txBody>
      </p:sp>
      <p:sp>
        <p:nvSpPr>
          <p:cNvPr id="60" name="TextBox 59"/>
          <p:cNvSpPr txBox="1"/>
          <p:nvPr/>
        </p:nvSpPr>
        <p:spPr>
          <a:xfrm>
            <a:off x="9418320" y="6537960"/>
            <a:ext cx="2651760" cy="256032"/>
          </a:xfrm>
          <a:prstGeom prst="rect">
            <a:avLst/>
          </a:prstGeom>
          <a:noFill/>
        </p:spPr>
        <p:txBody>
          <a:bodyPr wrap="square">
            <a:spAutoFit/>
          </a:bodyPr>
          <a:lstStyle/>
          <a:p>
            <a:pPr algn="r"/>
            <a:r>
              <a:rPr sz="900" b="0" i="0">
                <a:solidFill>
                  <a:srgbClr val="444444"/>
                </a:solidFill>
                <a:latin typeface="Calibri"/>
              </a:rPr>
              <a:t>23 Jun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7772400" cy="365760"/>
          </a:xfrm>
          <a:prstGeom prst="rect">
            <a:avLst/>
          </a:prstGeom>
          <a:noFill/>
        </p:spPr>
        <p:txBody>
          <a:bodyPr wrap="square">
            <a:spAutoFit/>
          </a:bodyPr>
          <a:lstStyle/>
          <a:p>
            <a:pPr algn="l"/>
            <a:r>
              <a:rPr sz="1100" b="1" i="0">
                <a:solidFill>
                  <a:srgbClr val="E6E5DE"/>
                </a:solidFill>
                <a:latin typeface="Calibri"/>
              </a:rPr>
              <a:t>THE OPPORTUNITY</a:t>
            </a:r>
          </a:p>
        </p:txBody>
      </p:sp>
      <p:sp>
        <p:nvSpPr>
          <p:cNvPr id="5" name="TextBox 4"/>
          <p:cNvSpPr txBox="1"/>
          <p:nvPr/>
        </p:nvSpPr>
        <p:spPr>
          <a:xfrm>
            <a:off x="7863840" y="109728"/>
            <a:ext cx="4206240" cy="365760"/>
          </a:xfrm>
          <a:prstGeom prst="rect">
            <a:avLst/>
          </a:prstGeom>
          <a:noFill/>
        </p:spPr>
        <p:txBody>
          <a:bodyPr wrap="square">
            <a:spAutoFit/>
          </a:bodyPr>
          <a:lstStyle/>
          <a:p>
            <a:pPr algn="r"/>
            <a:r>
              <a:rPr sz="1100" b="1" i="0">
                <a:solidFill>
                  <a:srgbClr val="01A296"/>
                </a:solidFill>
                <a:latin typeface="Calibri"/>
              </a:rPr>
              <a:t>Taskforce Australia</a:t>
            </a:r>
          </a:p>
        </p:txBody>
      </p:sp>
      <p:sp>
        <p:nvSpPr>
          <p:cNvPr id="6" name="TextBox 5"/>
          <p:cNvSpPr txBox="1"/>
          <p:nvPr/>
        </p:nvSpPr>
        <p:spPr>
          <a:xfrm>
            <a:off x="228600" y="969264"/>
            <a:ext cx="11430000" cy="320040"/>
          </a:xfrm>
          <a:prstGeom prst="rect">
            <a:avLst/>
          </a:prstGeom>
          <a:noFill/>
        </p:spPr>
        <p:txBody>
          <a:bodyPr wrap="square">
            <a:spAutoFit/>
          </a:bodyPr>
          <a:lstStyle/>
          <a:p>
            <a:pPr algn="l"/>
            <a:r>
              <a:rPr sz="1300" b="0" i="0">
                <a:solidFill>
                  <a:srgbClr val="444444"/>
                </a:solidFill>
                <a:latin typeface="Calibri"/>
              </a:rPr>
              <a:t>Taskforce Australia  |  Three commercial observations from ProfitPulse</a:t>
            </a:r>
          </a:p>
        </p:txBody>
      </p:sp>
      <p:sp>
        <p:nvSpPr>
          <p:cNvPr id="7" name="Rectangle 6"/>
          <p:cNvSpPr/>
          <p:nvPr/>
        </p:nvSpPr>
        <p:spPr>
          <a:xfrm>
            <a:off x="228600" y="1371600"/>
            <a:ext cx="3749039" cy="475488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3192" y="1508760"/>
            <a:ext cx="3474719" cy="457200"/>
          </a:xfrm>
          <a:prstGeom prst="rect">
            <a:avLst/>
          </a:prstGeom>
          <a:noFill/>
        </p:spPr>
        <p:txBody>
          <a:bodyPr wrap="square">
            <a:spAutoFit/>
          </a:bodyPr>
          <a:lstStyle/>
          <a:p>
            <a:pPr algn="l"/>
            <a:r>
              <a:rPr sz="3000" b="1" i="0">
                <a:solidFill>
                  <a:srgbClr val="FFFFFF"/>
                </a:solidFill>
                <a:latin typeface="Georgia"/>
              </a:rPr>
              <a:t>01</a:t>
            </a:r>
          </a:p>
        </p:txBody>
      </p:sp>
      <p:sp>
        <p:nvSpPr>
          <p:cNvPr id="9" name="TextBox 8"/>
          <p:cNvSpPr txBox="1"/>
          <p:nvPr/>
        </p:nvSpPr>
        <p:spPr>
          <a:xfrm>
            <a:off x="393192" y="2057400"/>
            <a:ext cx="3474719" cy="777240"/>
          </a:xfrm>
          <a:prstGeom prst="rect">
            <a:avLst/>
          </a:prstGeom>
          <a:noFill/>
        </p:spPr>
        <p:txBody>
          <a:bodyPr wrap="square">
            <a:spAutoFit/>
          </a:bodyPr>
          <a:lstStyle/>
          <a:p>
            <a:pPr algn="l"/>
            <a:r>
              <a:rPr sz="1200" b="1" i="0">
                <a:solidFill>
                  <a:srgbClr val="FFFFFF"/>
                </a:solidFill>
                <a:latin typeface="Calibri"/>
              </a:rPr>
              <a:t>618 percent growth in one service line reshapes the financial architecture</a:t>
            </a:r>
          </a:p>
        </p:txBody>
      </p:sp>
      <p:sp>
        <p:nvSpPr>
          <p:cNvPr id="10" name="TextBox 9"/>
          <p:cNvSpPr txBox="1"/>
          <p:nvPr/>
        </p:nvSpPr>
        <p:spPr>
          <a:xfrm>
            <a:off x="393192" y="2880360"/>
            <a:ext cx="3474719" cy="3108960"/>
          </a:xfrm>
          <a:prstGeom prst="rect">
            <a:avLst/>
          </a:prstGeom>
          <a:noFill/>
        </p:spPr>
        <p:txBody>
          <a:bodyPr wrap="square">
            <a:spAutoFit/>
          </a:bodyPr>
          <a:lstStyle/>
          <a:p>
            <a:pPr algn="l"/>
            <a:r>
              <a:rPr sz="1000" b="0" i="0">
                <a:solidFill>
                  <a:srgbClr val="FFFFFF"/>
                </a:solidFill>
                <a:latin typeface="Calibri"/>
              </a:rPr>
              <a:t>When housing jobs grow 618 percent in a single year the revenue mix, cost structure, and customer concentration profile of the business all change simultaneously. The housing division is the acknowledged margin leader, but at this growth velocity the question shifts from which division is strongest to how strong, by how much, and on what terms. Without a service line profitability map that allocates sub-contractor costs, technology investment, and coordination time to each job type, the income statement cannot tell that story. Growing faster into the wrong margin structure has destroyed value in many platform businesses. Knowing the real housing unit economics now protects against that risk.</a:t>
            </a:r>
          </a:p>
        </p:txBody>
      </p:sp>
      <p:sp>
        <p:nvSpPr>
          <p:cNvPr id="11" name="Rectangle 10"/>
          <p:cNvSpPr/>
          <p:nvPr/>
        </p:nvSpPr>
        <p:spPr>
          <a:xfrm>
            <a:off x="4069079" y="1371600"/>
            <a:ext cx="3749039" cy="47548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33671" y="1508760"/>
            <a:ext cx="3474719" cy="457200"/>
          </a:xfrm>
          <a:prstGeom prst="rect">
            <a:avLst/>
          </a:prstGeom>
          <a:noFill/>
        </p:spPr>
        <p:txBody>
          <a:bodyPr wrap="square">
            <a:spAutoFit/>
          </a:bodyPr>
          <a:lstStyle/>
          <a:p>
            <a:pPr algn="l"/>
            <a:r>
              <a:rPr sz="3000" b="1" i="0">
                <a:solidFill>
                  <a:srgbClr val="E6E5DE"/>
                </a:solidFill>
                <a:latin typeface="Georgia"/>
              </a:rPr>
              <a:t>02</a:t>
            </a:r>
          </a:p>
        </p:txBody>
      </p:sp>
      <p:sp>
        <p:nvSpPr>
          <p:cNvPr id="13" name="TextBox 12"/>
          <p:cNvSpPr txBox="1"/>
          <p:nvPr/>
        </p:nvSpPr>
        <p:spPr>
          <a:xfrm>
            <a:off x="4233671" y="2057400"/>
            <a:ext cx="3474719" cy="777240"/>
          </a:xfrm>
          <a:prstGeom prst="rect">
            <a:avLst/>
          </a:prstGeom>
          <a:noFill/>
        </p:spPr>
        <p:txBody>
          <a:bodyPr wrap="square">
            <a:spAutoFit/>
          </a:bodyPr>
          <a:lstStyle/>
          <a:p>
            <a:pPr algn="l"/>
            <a:r>
              <a:rPr sz="1200" b="1" i="0">
                <a:solidFill>
                  <a:srgbClr val="E6E5DE"/>
                </a:solidFill>
                <a:latin typeface="Calibri"/>
              </a:rPr>
              <a:t>5,500 tradespeople managed by 19 people creates leverage and concentration risk simultaneously</a:t>
            </a:r>
          </a:p>
        </p:txBody>
      </p:sp>
      <p:sp>
        <p:nvSpPr>
          <p:cNvPr id="14" name="TextBox 13"/>
          <p:cNvSpPr txBox="1"/>
          <p:nvPr/>
        </p:nvSpPr>
        <p:spPr>
          <a:xfrm>
            <a:off x="4233671" y="2880360"/>
            <a:ext cx="3474719" cy="3108960"/>
          </a:xfrm>
          <a:prstGeom prst="rect">
            <a:avLst/>
          </a:prstGeom>
          <a:noFill/>
        </p:spPr>
        <p:txBody>
          <a:bodyPr wrap="square">
            <a:spAutoFit/>
          </a:bodyPr>
          <a:lstStyle/>
          <a:p>
            <a:pPr algn="l"/>
            <a:r>
              <a:rPr sz="1000" b="0" i="0">
                <a:solidFill>
                  <a:srgbClr val="E6E5DE"/>
                </a:solidFill>
                <a:latin typeface="Calibri"/>
              </a:rPr>
              <a:t>Nineteen people generating $12.8 million creates revenue per head of approximately $674,000. That is the signature of an asset-light platform, not a traditional trades business. The platform economics are real. But they are only sustainable if the customer base is sufficiently diversified and all service lines clear their contribution hurdles after full cost allocation. As housing clients grow to dominate job volume, the concentration of that revenue in a small number of housing providers becomes the primary financial risk. A customer concentration and profitability map would quantify that exposure clearly and identify which accounts are both large and genuinely high margin.</a:t>
            </a:r>
          </a:p>
        </p:txBody>
      </p:sp>
      <p:sp>
        <p:nvSpPr>
          <p:cNvPr id="15" name="Rectangle 14"/>
          <p:cNvSpPr/>
          <p:nvPr/>
        </p:nvSpPr>
        <p:spPr>
          <a:xfrm>
            <a:off x="7909558" y="1371600"/>
            <a:ext cx="3749039" cy="4754880"/>
          </a:xfrm>
          <a:prstGeom prst="rect">
            <a:avLst/>
          </a:prstGeom>
          <a:solidFill>
            <a:srgbClr val="E3A7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74150" y="1508760"/>
            <a:ext cx="3474719" cy="457200"/>
          </a:xfrm>
          <a:prstGeom prst="rect">
            <a:avLst/>
          </a:prstGeom>
          <a:noFill/>
        </p:spPr>
        <p:txBody>
          <a:bodyPr wrap="square">
            <a:spAutoFit/>
          </a:bodyPr>
          <a:lstStyle/>
          <a:p>
            <a:pPr algn="l"/>
            <a:r>
              <a:rPr sz="3000" b="1" i="0">
                <a:solidFill>
                  <a:srgbClr val="000000"/>
                </a:solidFill>
                <a:latin typeface="Georgia"/>
              </a:rPr>
              <a:t>03</a:t>
            </a:r>
          </a:p>
        </p:txBody>
      </p:sp>
      <p:sp>
        <p:nvSpPr>
          <p:cNvPr id="17" name="TextBox 16"/>
          <p:cNvSpPr txBox="1"/>
          <p:nvPr/>
        </p:nvSpPr>
        <p:spPr>
          <a:xfrm>
            <a:off x="8074150" y="2057400"/>
            <a:ext cx="3474719" cy="777240"/>
          </a:xfrm>
          <a:prstGeom prst="rect">
            <a:avLst/>
          </a:prstGeom>
          <a:noFill/>
        </p:spPr>
        <p:txBody>
          <a:bodyPr wrap="square">
            <a:spAutoFit/>
          </a:bodyPr>
          <a:lstStyle/>
          <a:p>
            <a:pPr algn="l"/>
            <a:r>
              <a:rPr sz="1200" b="1" i="0">
                <a:solidFill>
                  <a:srgbClr val="000000"/>
                </a:solidFill>
                <a:latin typeface="Calibri"/>
              </a:rPr>
              <a:t>The equity plan and growth agenda need a financial foundation before activation</a:t>
            </a:r>
          </a:p>
        </p:txBody>
      </p:sp>
      <p:sp>
        <p:nvSpPr>
          <p:cNvPr id="18" name="TextBox 17"/>
          <p:cNvSpPr txBox="1"/>
          <p:nvPr/>
        </p:nvSpPr>
        <p:spPr>
          <a:xfrm>
            <a:off x="8074150" y="2880360"/>
            <a:ext cx="3474719" cy="3108960"/>
          </a:xfrm>
          <a:prstGeom prst="rect">
            <a:avLst/>
          </a:prstGeom>
          <a:noFill/>
        </p:spPr>
        <p:txBody>
          <a:bodyPr wrap="square">
            <a:spAutoFit/>
          </a:bodyPr>
          <a:lstStyle/>
          <a:p>
            <a:pPr algn="l"/>
            <a:r>
              <a:rPr sz="1000" b="0" i="0">
                <a:solidFill>
                  <a:srgbClr val="000000"/>
                </a:solidFill>
                <a:latin typeface="Calibri"/>
              </a:rPr>
              <a:t>Taskforce has stated it will create an equity plan for staff and customers. Equity plans work when anchored to a clear view of business value, margin quality, and growth trajectory. That foundation requires knowing where the earnings actually come from, which service lines and customers drive the repeatable margin, and what the valuation story looks like at exit or restructuring. Building that picture now, while the housing division is growing at 618 percent and before the equity plan is finalised, means the plan is anchored to the right numbers and the right incentive levers from the start.</a:t>
            </a:r>
          </a:p>
        </p:txBody>
      </p:sp>
      <p:sp>
        <p:nvSpPr>
          <p:cNvPr id="19" name="TextBox 18"/>
          <p:cNvSpPr txBox="1"/>
          <p:nvPr/>
        </p:nvSpPr>
        <p:spPr>
          <a:xfrm>
            <a:off x="228600" y="6217920"/>
            <a:ext cx="11734495" cy="411480"/>
          </a:xfrm>
          <a:prstGeom prst="rect">
            <a:avLst/>
          </a:prstGeom>
          <a:noFill/>
        </p:spPr>
        <p:txBody>
          <a:bodyPr wrap="square">
            <a:spAutoFit/>
          </a:bodyPr>
          <a:lstStyle/>
          <a:p>
            <a:pPr algn="l"/>
            <a:r>
              <a:rPr sz="1000" b="0" i="1">
                <a:solidFill>
                  <a:srgbClr val="444444"/>
                </a:solidFill>
                <a:latin typeface="Calibri"/>
              </a:rPr>
              <a:t>These observations are offered in good faith. Taskforce has built something genuinely impressive in property services, and the 618 percent housing growth signal is one of the strongest single-year moves on any Smart50 list this year. The question is simply whether the financial architecture now matches the ambition.</a:t>
            </a:r>
          </a:p>
        </p:txBody>
      </p:sp>
      <p:sp>
        <p:nvSpPr>
          <p:cNvPr id="20" name="TextBox 19"/>
          <p:cNvSpPr txBox="1"/>
          <p:nvPr/>
        </p:nvSpPr>
        <p:spPr>
          <a:xfrm>
            <a:off x="228600" y="6537960"/>
            <a:ext cx="8686800" cy="256032"/>
          </a:xfrm>
          <a:prstGeom prst="rect">
            <a:avLst/>
          </a:prstGeom>
          <a:noFill/>
        </p:spPr>
        <p:txBody>
          <a:bodyPr wrap="square">
            <a:spAutoFit/>
          </a:bodyPr>
          <a:lstStyle/>
          <a:p>
            <a:pPr algn="l"/>
            <a:r>
              <a:rPr sz="900" b="0" i="0">
                <a:solidFill>
                  <a:srgbClr val="444444"/>
                </a:solidFill>
                <a:latin typeface="Calibri"/>
              </a:rPr>
              <a:t>Prepared by Nitesh Roopa CA, Managing Partner and Founder, ProfitPulse, Profit-Pulse.com.au</a:t>
            </a:r>
          </a:p>
        </p:txBody>
      </p:sp>
      <p:sp>
        <p:nvSpPr>
          <p:cNvPr id="21" name="TextBox 20"/>
          <p:cNvSpPr txBox="1"/>
          <p:nvPr/>
        </p:nvSpPr>
        <p:spPr>
          <a:xfrm>
            <a:off x="9418320" y="6537960"/>
            <a:ext cx="2651760" cy="256032"/>
          </a:xfrm>
          <a:prstGeom prst="rect">
            <a:avLst/>
          </a:prstGeom>
          <a:noFill/>
        </p:spPr>
        <p:txBody>
          <a:bodyPr wrap="square">
            <a:spAutoFit/>
          </a:bodyPr>
          <a:lstStyle/>
          <a:p>
            <a:pPr algn="r"/>
            <a:r>
              <a:rPr sz="900" b="0" i="0">
                <a:solidFill>
                  <a:srgbClr val="444444"/>
                </a:solidFill>
                <a:latin typeface="Calibri"/>
              </a:rPr>
              <a:t>23 Jun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 cy="6858000"/>
          </a:xfrm>
          <a:prstGeom prst="rect">
            <a:avLst/>
          </a:prstGeom>
          <a:solidFill>
            <a:srgbClr val="F6A10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 y="0"/>
            <a:ext cx="12100255"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109728"/>
            <a:ext cx="7772400" cy="365760"/>
          </a:xfrm>
          <a:prstGeom prst="rect">
            <a:avLst/>
          </a:prstGeom>
          <a:noFill/>
        </p:spPr>
        <p:txBody>
          <a:bodyPr wrap="square">
            <a:spAutoFit/>
          </a:bodyPr>
          <a:lstStyle/>
          <a:p>
            <a:pPr algn="l"/>
            <a:r>
              <a:rPr sz="1100" b="1" i="0">
                <a:solidFill>
                  <a:srgbClr val="E6E5DE"/>
                </a:solidFill>
                <a:latin typeface="Calibri"/>
              </a:rPr>
              <a:t>THE RECOMMENDATION</a:t>
            </a:r>
          </a:p>
        </p:txBody>
      </p:sp>
      <p:sp>
        <p:nvSpPr>
          <p:cNvPr id="5" name="TextBox 4"/>
          <p:cNvSpPr txBox="1"/>
          <p:nvPr/>
        </p:nvSpPr>
        <p:spPr>
          <a:xfrm>
            <a:off x="7863840" y="109728"/>
            <a:ext cx="4206240" cy="365760"/>
          </a:xfrm>
          <a:prstGeom prst="rect">
            <a:avLst/>
          </a:prstGeom>
          <a:noFill/>
        </p:spPr>
        <p:txBody>
          <a:bodyPr wrap="square">
            <a:spAutoFit/>
          </a:bodyPr>
          <a:lstStyle/>
          <a:p>
            <a:pPr algn="r"/>
            <a:r>
              <a:rPr sz="1100" b="1" i="0">
                <a:solidFill>
                  <a:srgbClr val="01A296"/>
                </a:solidFill>
                <a:latin typeface="Calibri"/>
              </a:rPr>
              <a:t>Taskforce Australia</a:t>
            </a:r>
          </a:p>
        </p:txBody>
      </p:sp>
      <p:sp>
        <p:nvSpPr>
          <p:cNvPr id="6" name="TextBox 5"/>
          <p:cNvSpPr txBox="1"/>
          <p:nvPr/>
        </p:nvSpPr>
        <p:spPr>
          <a:xfrm>
            <a:off x="228600" y="1005840"/>
            <a:ext cx="6995160" cy="566928"/>
          </a:xfrm>
          <a:prstGeom prst="rect">
            <a:avLst/>
          </a:prstGeom>
          <a:noFill/>
        </p:spPr>
        <p:txBody>
          <a:bodyPr wrap="square">
            <a:spAutoFit/>
          </a:bodyPr>
          <a:lstStyle/>
          <a:p>
            <a:pPr algn="l"/>
            <a:r>
              <a:rPr sz="2600" b="1" i="0">
                <a:solidFill>
                  <a:srgbClr val="000000"/>
                </a:solidFill>
                <a:latin typeface="Georgia"/>
              </a:rPr>
              <a:t>Operational Intelligence Review</a:t>
            </a:r>
          </a:p>
        </p:txBody>
      </p:sp>
      <p:sp>
        <p:nvSpPr>
          <p:cNvPr id="7" name="TextBox 6"/>
          <p:cNvSpPr txBox="1"/>
          <p:nvPr/>
        </p:nvSpPr>
        <p:spPr>
          <a:xfrm>
            <a:off x="228600" y="1609344"/>
            <a:ext cx="6995160" cy="347472"/>
          </a:xfrm>
          <a:prstGeom prst="rect">
            <a:avLst/>
          </a:prstGeom>
          <a:noFill/>
        </p:spPr>
        <p:txBody>
          <a:bodyPr wrap="square">
            <a:spAutoFit/>
          </a:bodyPr>
          <a:lstStyle/>
          <a:p>
            <a:pPr algn="l"/>
            <a:r>
              <a:rPr sz="1600" b="1" i="0">
                <a:solidFill>
                  <a:srgbClr val="01A296"/>
                </a:solidFill>
                <a:latin typeface="Calibri"/>
              </a:rPr>
              <a:t>$6,500 one off</a:t>
            </a:r>
          </a:p>
        </p:txBody>
      </p:sp>
      <p:sp>
        <p:nvSpPr>
          <p:cNvPr id="8" name="TextBox 7"/>
          <p:cNvSpPr txBox="1"/>
          <p:nvPr/>
        </p:nvSpPr>
        <p:spPr>
          <a:xfrm>
            <a:off x="228600" y="2011680"/>
            <a:ext cx="6995160" cy="731520"/>
          </a:xfrm>
          <a:prstGeom prst="rect">
            <a:avLst/>
          </a:prstGeom>
          <a:noFill/>
        </p:spPr>
        <p:txBody>
          <a:bodyPr wrap="square">
            <a:spAutoFit/>
          </a:bodyPr>
          <a:lstStyle/>
          <a:p>
            <a:pPr algn="l"/>
            <a:r>
              <a:rPr sz="1100" b="0" i="0">
                <a:solidFill>
                  <a:srgbClr val="444444"/>
                </a:solidFill>
                <a:latin typeface="Calibri"/>
              </a:rPr>
              <a:t>A six week deep dive across customer concentration and profitability, product and service line margin, workforce capacity, and operational bottlenecks. Delivers a prioritised 12 month action list calibrated to the specific growth signals visible in this business.</a:t>
            </a:r>
          </a:p>
        </p:txBody>
      </p:sp>
      <p:sp>
        <p:nvSpPr>
          <p:cNvPr id="9" name="Rectangle 8"/>
          <p:cNvSpPr/>
          <p:nvPr/>
        </p:nvSpPr>
        <p:spPr>
          <a:xfrm>
            <a:off x="228600" y="2834640"/>
            <a:ext cx="6995160" cy="132588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926080"/>
            <a:ext cx="6720840" cy="347472"/>
          </a:xfrm>
          <a:prstGeom prst="rect">
            <a:avLst/>
          </a:prstGeom>
          <a:noFill/>
        </p:spPr>
        <p:txBody>
          <a:bodyPr wrap="square">
            <a:spAutoFit/>
          </a:bodyPr>
          <a:lstStyle/>
          <a:p>
            <a:pPr algn="l"/>
            <a:r>
              <a:rPr sz="1300" b="1" i="0">
                <a:solidFill>
                  <a:srgbClr val="000000"/>
                </a:solidFill>
                <a:latin typeface="Calibri"/>
              </a:rPr>
              <a:t>Step one: answer a few quick questions</a:t>
            </a:r>
          </a:p>
        </p:txBody>
      </p:sp>
      <p:sp>
        <p:nvSpPr>
          <p:cNvPr id="11" name="TextBox 10"/>
          <p:cNvSpPr txBox="1"/>
          <p:nvPr/>
        </p:nvSpPr>
        <p:spPr>
          <a:xfrm>
            <a:off x="365760" y="3310128"/>
            <a:ext cx="6720840" cy="292608"/>
          </a:xfrm>
          <a:prstGeom prst="rect">
            <a:avLst/>
          </a:prstGeom>
          <a:noFill/>
        </p:spPr>
        <p:txBody>
          <a:bodyPr wrap="square">
            <a:spAutoFit/>
          </a:bodyPr>
          <a:lstStyle/>
          <a:p>
            <a:pPr algn="l"/>
            <a:r>
              <a:rPr sz="1100" b="0" i="0">
                <a:solidFill>
                  <a:srgbClr val="000000"/>
                </a:solidFill>
                <a:latin typeface="Calibri"/>
              </a:rPr>
              <a:t>See the solutions matched to your size and industry</a:t>
            </a:r>
          </a:p>
        </p:txBody>
      </p:sp>
      <p:sp>
        <p:nvSpPr>
          <p:cNvPr id="12" name="TextBox 11"/>
          <p:cNvSpPr txBox="1"/>
          <p:nvPr/>
        </p:nvSpPr>
        <p:spPr>
          <a:xfrm>
            <a:off x="365760" y="3639312"/>
            <a:ext cx="6720840" cy="438912"/>
          </a:xfrm>
          <a:prstGeom prst="rect">
            <a:avLst/>
          </a:prstGeom>
          <a:noFill/>
        </p:spPr>
        <p:txBody>
          <a:bodyPr wrap="square">
            <a:spAutoFit/>
          </a:bodyPr>
          <a:lstStyle/>
          <a:p>
            <a:pPr algn="l"/>
            <a:r>
              <a:rPr sz="1200" b="1" i="0">
                <a:solidFill>
                  <a:srgbClr val="000000"/>
                </a:solidFill>
                <a:latin typeface="Calibri"/>
                <a:hlinkClick r:id="rId2"/>
              </a:rPr>
              <a:t>profit-pulse.com.au/full-suite-of-products</a:t>
            </a:r>
          </a:p>
        </p:txBody>
      </p:sp>
      <p:sp>
        <p:nvSpPr>
          <p:cNvPr id="13" name="Rectangle 12"/>
          <p:cNvSpPr/>
          <p:nvPr/>
        </p:nvSpPr>
        <p:spPr>
          <a:xfrm>
            <a:off x="228600" y="4251960"/>
            <a:ext cx="6995160" cy="127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28600" y="4343400"/>
            <a:ext cx="6995160" cy="292608"/>
          </a:xfrm>
          <a:prstGeom prst="rect">
            <a:avLst/>
          </a:prstGeom>
          <a:noFill/>
        </p:spPr>
        <p:txBody>
          <a:bodyPr wrap="square">
            <a:spAutoFit/>
          </a:bodyPr>
          <a:lstStyle/>
          <a:p>
            <a:pPr algn="l"/>
            <a:r>
              <a:rPr sz="1000" b="0" i="0">
                <a:solidFill>
                  <a:srgbClr val="444444"/>
                </a:solidFill>
                <a:latin typeface="Calibri"/>
              </a:rPr>
              <a:t>Already know this is the priority? You can begin with Operational Intelligence Review, $6,500 one off.</a:t>
            </a:r>
          </a:p>
        </p:txBody>
      </p:sp>
      <p:sp>
        <p:nvSpPr>
          <p:cNvPr id="15" name="TextBox 14"/>
          <p:cNvSpPr txBox="1"/>
          <p:nvPr/>
        </p:nvSpPr>
        <p:spPr>
          <a:xfrm>
            <a:off x="228600" y="4663440"/>
            <a:ext cx="6995160" cy="320040"/>
          </a:xfrm>
          <a:prstGeom prst="rect">
            <a:avLst/>
          </a:prstGeom>
          <a:noFill/>
        </p:spPr>
        <p:txBody>
          <a:bodyPr wrap="square">
            <a:spAutoFit/>
          </a:bodyPr>
          <a:lstStyle/>
          <a:p>
            <a:pPr algn="l"/>
            <a:r>
              <a:rPr sz="1200" b="1" i="0">
                <a:solidFill>
                  <a:srgbClr val="F6A102"/>
                </a:solidFill>
                <a:latin typeface="Calibri"/>
                <a:hlinkClick r:id="rId3"/>
              </a:rPr>
              <a:t>Purchase the suggested product now to get started</a:t>
            </a:r>
          </a:p>
        </p:txBody>
      </p:sp>
      <p:sp>
        <p:nvSpPr>
          <p:cNvPr id="16" name="TextBox 15"/>
          <p:cNvSpPr txBox="1"/>
          <p:nvPr/>
        </p:nvSpPr>
        <p:spPr>
          <a:xfrm>
            <a:off x="228600" y="5120640"/>
            <a:ext cx="6995160" cy="274320"/>
          </a:xfrm>
          <a:prstGeom prst="rect">
            <a:avLst/>
          </a:prstGeom>
          <a:noFill/>
        </p:spPr>
        <p:txBody>
          <a:bodyPr wrap="square">
            <a:spAutoFit/>
          </a:bodyPr>
          <a:lstStyle/>
          <a:p>
            <a:pPr algn="l"/>
            <a:r>
              <a:rPr sz="1100" b="0" i="0">
                <a:solidFill>
                  <a:srgbClr val="444444"/>
                </a:solidFill>
                <a:latin typeface="Calibri"/>
              </a:rPr>
              <a:t>Prefer a conversation first?</a:t>
            </a:r>
          </a:p>
        </p:txBody>
      </p:sp>
      <p:sp>
        <p:nvSpPr>
          <p:cNvPr id="17" name="TextBox 16"/>
          <p:cNvSpPr txBox="1"/>
          <p:nvPr/>
        </p:nvSpPr>
        <p:spPr>
          <a:xfrm>
            <a:off x="228600" y="5413248"/>
            <a:ext cx="6995160" cy="274320"/>
          </a:xfrm>
          <a:prstGeom prst="rect">
            <a:avLst/>
          </a:prstGeom>
          <a:noFill/>
        </p:spPr>
        <p:txBody>
          <a:bodyPr wrap="square">
            <a:spAutoFit/>
          </a:bodyPr>
          <a:lstStyle/>
          <a:p>
            <a:pPr algn="l"/>
            <a:r>
              <a:rPr sz="1100" b="1" i="0">
                <a:solidFill>
                  <a:srgbClr val="01A296"/>
                </a:solidFill>
                <a:latin typeface="Calibri"/>
                <a:hlinkClick r:id="rId4"/>
              </a:rPr>
              <a:t>Book a complimentary discovery call</a:t>
            </a:r>
          </a:p>
        </p:txBody>
      </p:sp>
      <p:sp>
        <p:nvSpPr>
          <p:cNvPr id="18" name="Rectangle 17"/>
          <p:cNvSpPr/>
          <p:nvPr/>
        </p:nvSpPr>
        <p:spPr>
          <a:xfrm>
            <a:off x="7406640" y="1005840"/>
            <a:ext cx="4526280" cy="5440680"/>
          </a:xfrm>
          <a:prstGeom prst="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406640" y="1005840"/>
            <a:ext cx="64008" cy="544068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07808" y="1143000"/>
            <a:ext cx="4206240" cy="502920"/>
          </a:xfrm>
          <a:prstGeom prst="rect">
            <a:avLst/>
          </a:prstGeom>
          <a:noFill/>
        </p:spPr>
        <p:txBody>
          <a:bodyPr wrap="square">
            <a:spAutoFit/>
          </a:bodyPr>
          <a:lstStyle/>
          <a:p>
            <a:pPr algn="l"/>
            <a:r>
              <a:rPr sz="2200" b="1" i="0">
                <a:solidFill>
                  <a:srgbClr val="000000"/>
                </a:solidFill>
                <a:latin typeface="Georgia"/>
              </a:rPr>
              <a:t>Nitesh Roopa</a:t>
            </a:r>
          </a:p>
        </p:txBody>
      </p:sp>
      <p:sp>
        <p:nvSpPr>
          <p:cNvPr id="21" name="TextBox 20"/>
          <p:cNvSpPr txBox="1"/>
          <p:nvPr/>
        </p:nvSpPr>
        <p:spPr>
          <a:xfrm>
            <a:off x="7607808" y="1673352"/>
            <a:ext cx="4206240" cy="274320"/>
          </a:xfrm>
          <a:prstGeom prst="rect">
            <a:avLst/>
          </a:prstGeom>
          <a:noFill/>
        </p:spPr>
        <p:txBody>
          <a:bodyPr wrap="square">
            <a:spAutoFit/>
          </a:bodyPr>
          <a:lstStyle/>
          <a:p>
            <a:pPr algn="l"/>
            <a:r>
              <a:rPr sz="1300" b="0" i="0">
                <a:solidFill>
                  <a:srgbClr val="444444"/>
                </a:solidFill>
                <a:latin typeface="Calibri"/>
              </a:rPr>
              <a:t>CA, Managing Partner</a:t>
            </a:r>
          </a:p>
        </p:txBody>
      </p:sp>
      <p:sp>
        <p:nvSpPr>
          <p:cNvPr id="22" name="TextBox 21"/>
          <p:cNvSpPr txBox="1"/>
          <p:nvPr/>
        </p:nvSpPr>
        <p:spPr>
          <a:xfrm>
            <a:off x="7607808" y="1975104"/>
            <a:ext cx="4206240" cy="347472"/>
          </a:xfrm>
          <a:prstGeom prst="rect">
            <a:avLst/>
          </a:prstGeom>
          <a:noFill/>
        </p:spPr>
        <p:txBody>
          <a:bodyPr wrap="square">
            <a:spAutoFit/>
          </a:bodyPr>
          <a:lstStyle/>
          <a:p>
            <a:pPr algn="l"/>
            <a:r>
              <a:rPr sz="1600" b="1" i="0">
                <a:solidFill>
                  <a:srgbClr val="01A296"/>
                </a:solidFill>
                <a:latin typeface="Calibri"/>
              </a:rPr>
              <a:t>ProfitPulse</a:t>
            </a:r>
          </a:p>
        </p:txBody>
      </p:sp>
      <p:sp>
        <p:nvSpPr>
          <p:cNvPr id="23" name="Rectangle 22"/>
          <p:cNvSpPr/>
          <p:nvPr/>
        </p:nvSpPr>
        <p:spPr>
          <a:xfrm>
            <a:off x="7607808" y="2395728"/>
            <a:ext cx="4123944" cy="19050"/>
          </a:xfrm>
          <a:prstGeom prst="rect">
            <a:avLst/>
          </a:prstGeom>
          <a:solidFill>
            <a:srgbClr val="01A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7808" y="2542032"/>
            <a:ext cx="4206240" cy="301752"/>
          </a:xfrm>
          <a:prstGeom prst="rect">
            <a:avLst/>
          </a:prstGeom>
          <a:noFill/>
        </p:spPr>
        <p:txBody>
          <a:bodyPr wrap="square">
            <a:spAutoFit/>
          </a:bodyPr>
          <a:lstStyle/>
          <a:p>
            <a:pPr algn="l"/>
            <a:r>
              <a:rPr sz="1000" b="0" i="0">
                <a:solidFill>
                  <a:srgbClr val="444444"/>
                </a:solidFill>
                <a:latin typeface="Calibri"/>
              </a:rPr>
              <a:t>16 years of experience across 4 countries</a:t>
            </a:r>
          </a:p>
        </p:txBody>
      </p:sp>
      <p:sp>
        <p:nvSpPr>
          <p:cNvPr id="25" name="TextBox 24"/>
          <p:cNvSpPr txBox="1"/>
          <p:nvPr/>
        </p:nvSpPr>
        <p:spPr>
          <a:xfrm>
            <a:off x="7607808" y="2907792"/>
            <a:ext cx="4206240" cy="301752"/>
          </a:xfrm>
          <a:prstGeom prst="rect">
            <a:avLst/>
          </a:prstGeom>
          <a:noFill/>
        </p:spPr>
        <p:txBody>
          <a:bodyPr wrap="square">
            <a:spAutoFit/>
          </a:bodyPr>
          <a:lstStyle/>
          <a:p>
            <a:pPr algn="l"/>
            <a:r>
              <a:rPr sz="1000" b="0" i="0">
                <a:solidFill>
                  <a:srgbClr val="444444"/>
                </a:solidFill>
                <a:latin typeface="Calibri"/>
              </a:rPr>
              <a:t>52 deals executed and managed</a:t>
            </a:r>
          </a:p>
        </p:txBody>
      </p:sp>
      <p:sp>
        <p:nvSpPr>
          <p:cNvPr id="26" name="TextBox 25"/>
          <p:cNvSpPr txBox="1"/>
          <p:nvPr/>
        </p:nvSpPr>
        <p:spPr>
          <a:xfrm>
            <a:off x="7607808" y="3273552"/>
            <a:ext cx="4206240" cy="301752"/>
          </a:xfrm>
          <a:prstGeom prst="rect">
            <a:avLst/>
          </a:prstGeom>
          <a:noFill/>
        </p:spPr>
        <p:txBody>
          <a:bodyPr wrap="square">
            <a:spAutoFit/>
          </a:bodyPr>
          <a:lstStyle/>
          <a:p>
            <a:pPr algn="l"/>
            <a:r>
              <a:rPr sz="1000" b="0" i="0">
                <a:solidFill>
                  <a:srgbClr val="444444"/>
                </a:solidFill>
                <a:latin typeface="Calibri"/>
              </a:rPr>
              <a:t>Largest single deal: USD 1.3 billion, Cahora Bassa, Mozambique</a:t>
            </a:r>
          </a:p>
        </p:txBody>
      </p:sp>
      <p:sp>
        <p:nvSpPr>
          <p:cNvPr id="27" name="TextBox 26"/>
          <p:cNvSpPr txBox="1"/>
          <p:nvPr/>
        </p:nvSpPr>
        <p:spPr>
          <a:xfrm>
            <a:off x="7607808" y="3639312"/>
            <a:ext cx="4206240" cy="301752"/>
          </a:xfrm>
          <a:prstGeom prst="rect">
            <a:avLst/>
          </a:prstGeom>
          <a:noFill/>
        </p:spPr>
        <p:txBody>
          <a:bodyPr wrap="square">
            <a:spAutoFit/>
          </a:bodyPr>
          <a:lstStyle/>
          <a:p>
            <a:pPr algn="l"/>
            <a:r>
              <a:rPr sz="1000" b="0" i="0">
                <a:solidFill>
                  <a:srgbClr val="444444"/>
                </a:solidFill>
                <a:latin typeface="Calibri"/>
              </a:rPr>
              <a:t>Total GRBT project value: over AUD 10 billion</a:t>
            </a:r>
          </a:p>
        </p:txBody>
      </p:sp>
      <p:sp>
        <p:nvSpPr>
          <p:cNvPr id="28" name="Rectangle 27"/>
          <p:cNvSpPr/>
          <p:nvPr/>
        </p:nvSpPr>
        <p:spPr>
          <a:xfrm>
            <a:off x="7607808" y="4050792"/>
            <a:ext cx="4123944" cy="127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607808" y="4206240"/>
            <a:ext cx="4206240" cy="274320"/>
          </a:xfrm>
          <a:prstGeom prst="rect">
            <a:avLst/>
          </a:prstGeom>
          <a:noFill/>
        </p:spPr>
        <p:txBody>
          <a:bodyPr wrap="square">
            <a:spAutoFit/>
          </a:bodyPr>
          <a:lstStyle/>
          <a:p>
            <a:pPr algn="l"/>
            <a:r>
              <a:rPr sz="1000" b="0" i="0">
                <a:solidFill>
                  <a:srgbClr val="444444"/>
                </a:solidFill>
                <a:latin typeface="Calibri"/>
              </a:rPr>
              <a:t>Profit-Pulse.com.au</a:t>
            </a:r>
          </a:p>
        </p:txBody>
      </p:sp>
      <p:sp>
        <p:nvSpPr>
          <p:cNvPr id="30" name="TextBox 29"/>
          <p:cNvSpPr txBox="1"/>
          <p:nvPr/>
        </p:nvSpPr>
        <p:spPr>
          <a:xfrm>
            <a:off x="7607808" y="4507992"/>
            <a:ext cx="4206240" cy="274320"/>
          </a:xfrm>
          <a:prstGeom prst="rect">
            <a:avLst/>
          </a:prstGeom>
          <a:noFill/>
        </p:spPr>
        <p:txBody>
          <a:bodyPr wrap="square">
            <a:spAutoFit/>
          </a:bodyPr>
          <a:lstStyle/>
          <a:p>
            <a:pPr algn="l"/>
            <a:r>
              <a:rPr sz="1000" b="0" i="0">
                <a:solidFill>
                  <a:srgbClr val="01A296"/>
                </a:solidFill>
                <a:latin typeface="Calibri"/>
              </a:rPr>
              <a:t>Nitesh@Profit-Pulse.com.au</a:t>
            </a:r>
          </a:p>
        </p:txBody>
      </p:sp>
      <p:sp>
        <p:nvSpPr>
          <p:cNvPr id="31" name="TextBox 30"/>
          <p:cNvSpPr txBox="1"/>
          <p:nvPr/>
        </p:nvSpPr>
        <p:spPr>
          <a:xfrm>
            <a:off x="7607808" y="4809744"/>
            <a:ext cx="4206240" cy="274320"/>
          </a:xfrm>
          <a:prstGeom prst="rect">
            <a:avLst/>
          </a:prstGeom>
          <a:noFill/>
        </p:spPr>
        <p:txBody>
          <a:bodyPr wrap="square">
            <a:spAutoFit/>
          </a:bodyPr>
          <a:lstStyle/>
          <a:p>
            <a:pPr algn="l"/>
            <a:r>
              <a:rPr sz="1000" b="0" i="0">
                <a:solidFill>
                  <a:srgbClr val="444444"/>
                </a:solidFill>
                <a:latin typeface="Calibri"/>
              </a:rPr>
              <a:t>+61 411 876 267</a:t>
            </a:r>
          </a:p>
        </p:txBody>
      </p:sp>
      <p:sp>
        <p:nvSpPr>
          <p:cNvPr id="32" name="TextBox 31"/>
          <p:cNvSpPr txBox="1"/>
          <p:nvPr/>
        </p:nvSpPr>
        <p:spPr>
          <a:xfrm>
            <a:off x="7607808" y="5111496"/>
            <a:ext cx="4206240" cy="274320"/>
          </a:xfrm>
          <a:prstGeom prst="rect">
            <a:avLst/>
          </a:prstGeom>
          <a:noFill/>
        </p:spPr>
        <p:txBody>
          <a:bodyPr wrap="square">
            <a:spAutoFit/>
          </a:bodyPr>
          <a:lstStyle/>
          <a:p>
            <a:pPr algn="l"/>
            <a:r>
              <a:rPr sz="1000" b="0" i="0">
                <a:solidFill>
                  <a:srgbClr val="888888"/>
                </a:solidFill>
                <a:latin typeface="Calibri"/>
              </a:rPr>
              <a:t>linkedin.com/in/nitesh-roopa-77594163</a:t>
            </a:r>
          </a:p>
        </p:txBody>
      </p:sp>
      <p:sp>
        <p:nvSpPr>
          <p:cNvPr id="33" name="TextBox 32"/>
          <p:cNvSpPr txBox="1"/>
          <p:nvPr/>
        </p:nvSpPr>
        <p:spPr>
          <a:xfrm>
            <a:off x="228600" y="6537960"/>
            <a:ext cx="8686800" cy="256032"/>
          </a:xfrm>
          <a:prstGeom prst="rect">
            <a:avLst/>
          </a:prstGeom>
          <a:noFill/>
        </p:spPr>
        <p:txBody>
          <a:bodyPr wrap="square">
            <a:spAutoFit/>
          </a:bodyPr>
          <a:lstStyle/>
          <a:p>
            <a:pPr algn="l"/>
            <a:r>
              <a:rPr sz="900" b="0" i="0">
                <a:solidFill>
                  <a:srgbClr val="444444"/>
                </a:solidFill>
                <a:latin typeface="Calibri"/>
              </a:rPr>
              <a:t>Prepared by Nitesh Roopa CA, Managing Partner and Founder, ProfitPulse, Profit-Pulse.com.au</a:t>
            </a:r>
          </a:p>
        </p:txBody>
      </p:sp>
      <p:sp>
        <p:nvSpPr>
          <p:cNvPr id="34" name="TextBox 33"/>
          <p:cNvSpPr txBox="1"/>
          <p:nvPr/>
        </p:nvSpPr>
        <p:spPr>
          <a:xfrm>
            <a:off x="9418320" y="6537960"/>
            <a:ext cx="2651760" cy="256032"/>
          </a:xfrm>
          <a:prstGeom prst="rect">
            <a:avLst/>
          </a:prstGeom>
          <a:noFill/>
        </p:spPr>
        <p:txBody>
          <a:bodyPr wrap="square">
            <a:spAutoFit/>
          </a:bodyPr>
          <a:lstStyle/>
          <a:p>
            <a:pPr algn="r"/>
            <a:r>
              <a:rPr sz="900" b="0" i="0">
                <a:solidFill>
                  <a:srgbClr val="444444"/>
                </a:solidFill>
                <a:latin typeface="Calibri"/>
              </a:rPr>
              <a:t>23 Jun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