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ctr" lIns="0" rIns="0" tIns="0" bIns="0">
            <a:noAutofit/>
          </a:bodyPr>
          <a:lstStyle/>
          <a:p>
            <a:pPr algn="l"/>
            <a:r>
              <a:rPr sz="1200" b="1" i="0">
                <a:solidFill>
                  <a:srgbClr val="E6E5DE"/>
                </a:solidFill>
                <a:latin typeface="Arial"/>
              </a:rPr>
              <a:t>COMMERCIAL INTELLIGENCE BRIEF</a:t>
            </a:r>
          </a:p>
        </p:txBody>
      </p:sp>
      <p:sp>
        <p:nvSpPr>
          <p:cNvPr id="5" name="TextBox 4"/>
          <p:cNvSpPr txBox="1"/>
          <p:nvPr/>
        </p:nvSpPr>
        <p:spPr>
          <a:xfrm>
            <a:off x="8229600" y="292608"/>
            <a:ext cx="3657600" cy="365760"/>
          </a:xfrm>
          <a:prstGeom prst="rect">
            <a:avLst/>
          </a:prstGeom>
          <a:noFill/>
        </p:spPr>
        <p:txBody>
          <a:bodyPr wrap="square" anchor="ctr" lIns="0" rIns="0" tIns="0" bIns="0">
            <a:noAutofit/>
          </a:bodyPr>
          <a:lstStyle/>
          <a:p>
            <a:pPr algn="r"/>
            <a:r>
              <a:rPr sz="1300" b="1" i="0">
                <a:solidFill>
                  <a:srgbClr val="01A296"/>
                </a:solidFill>
                <a:latin typeface="Arial"/>
              </a:rPr>
              <a:t>PROFITPULSE</a:t>
            </a:r>
          </a:p>
        </p:txBody>
      </p:sp>
      <p:sp>
        <p:nvSpPr>
          <p:cNvPr id="6" name="Rectangle 5"/>
          <p:cNvSpPr/>
          <p:nvPr/>
        </p:nvSpPr>
        <p:spPr>
          <a:xfrm>
            <a:off x="320040" y="6428232"/>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lIns="0" rIns="0" tIns="0" bIns="0">
            <a:noAutofit/>
          </a:bodyPr>
          <a:lstStyle/>
          <a:p>
            <a:pPr algn="r"/>
            <a:r>
              <a:rPr sz="800" b="0" i="0">
                <a:solidFill>
                  <a:srgbClr val="000000"/>
                </a:solidFill>
                <a:latin typeface="Arial"/>
              </a:rPr>
              <a:t>19 Aug 2026</a:t>
            </a:r>
          </a:p>
        </p:txBody>
      </p:sp>
      <p:sp>
        <p:nvSpPr>
          <p:cNvPr id="9" name="TextBox 8"/>
          <p:cNvSpPr txBox="1"/>
          <p:nvPr/>
        </p:nvSpPr>
        <p:spPr>
          <a:xfrm>
            <a:off x="320040" y="1051560"/>
            <a:ext cx="7315200" cy="777240"/>
          </a:xfrm>
          <a:prstGeom prst="rect">
            <a:avLst/>
          </a:prstGeom>
          <a:noFill/>
        </p:spPr>
        <p:txBody>
          <a:bodyPr wrap="square" lIns="0" rIns="0" tIns="0" bIns="0">
            <a:noAutofit/>
          </a:bodyPr>
          <a:lstStyle/>
          <a:p>
            <a:pPr algn="l"/>
            <a:r>
              <a:rPr sz="4200" b="1" i="0">
                <a:solidFill>
                  <a:srgbClr val="000000"/>
                </a:solidFill>
                <a:latin typeface="Georgia"/>
              </a:rPr>
              <a:t>Sniip</a:t>
            </a:r>
          </a:p>
        </p:txBody>
      </p:sp>
      <p:sp>
        <p:nvSpPr>
          <p:cNvPr id="10" name="TextBox 9"/>
          <p:cNvSpPr txBox="1"/>
          <p:nvPr/>
        </p:nvSpPr>
        <p:spPr>
          <a:xfrm>
            <a:off x="320040" y="1874519"/>
            <a:ext cx="10058400" cy="274320"/>
          </a:xfrm>
          <a:prstGeom prst="rect">
            <a:avLst/>
          </a:prstGeom>
          <a:noFill/>
        </p:spPr>
        <p:txBody>
          <a:bodyPr wrap="square" lIns="0" rIns="0" tIns="0" bIns="0">
            <a:noAutofit/>
          </a:bodyPr>
          <a:lstStyle/>
          <a:p>
            <a:pPr algn="l"/>
            <a:r>
              <a:rPr sz="1300" b="0" i="0">
                <a:solidFill>
                  <a:srgbClr val="000000"/>
                </a:solidFill>
                <a:latin typeface="Arial"/>
              </a:rPr>
              <a:t>Consumer and business bill payment platform, Brisbane, Queensland</a:t>
            </a:r>
          </a:p>
        </p:txBody>
      </p:sp>
      <p:sp>
        <p:nvSpPr>
          <p:cNvPr id="11" name="Rectangle 10"/>
          <p:cNvSpPr/>
          <p:nvPr/>
        </p:nvSpPr>
        <p:spPr>
          <a:xfrm>
            <a:off x="3200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1828800" cy="384048"/>
          </a:xfrm>
          <a:prstGeom prst="rect">
            <a:avLst/>
          </a:prstGeom>
          <a:noFill/>
        </p:spPr>
        <p:txBody>
          <a:bodyPr wrap="square" lIns="0" rIns="0" tIns="0" bIns="0">
            <a:noAutofit/>
          </a:bodyPr>
          <a:lstStyle/>
          <a:p>
            <a:pPr algn="l"/>
            <a:r>
              <a:rPr sz="2700" b="1" i="0">
                <a:solidFill>
                  <a:srgbClr val="F8C806"/>
                </a:solidFill>
                <a:latin typeface="Georgia"/>
              </a:rPr>
              <a:t>2014</a:t>
            </a:r>
          </a:p>
        </p:txBody>
      </p:sp>
      <p:sp>
        <p:nvSpPr>
          <p:cNvPr id="14" name="TextBox 13"/>
          <p:cNvSpPr txBox="1"/>
          <p:nvPr/>
        </p:nvSpPr>
        <p:spPr>
          <a:xfrm>
            <a:off x="457200" y="2926080"/>
            <a:ext cx="1828800" cy="457200"/>
          </a:xfrm>
          <a:prstGeom prst="rect">
            <a:avLst/>
          </a:prstGeom>
          <a:noFill/>
        </p:spPr>
        <p:txBody>
          <a:bodyPr wrap="square" lIns="0" rIns="0" tIns="0" bIns="0">
            <a:noAutofit/>
          </a:bodyPr>
          <a:lstStyle/>
          <a:p>
            <a:pPr algn="l">
              <a:spcAft>
                <a:spcPts val="0"/>
              </a:spcAft>
            </a:pPr>
            <a:r>
              <a:rPr sz="1050" b="0" i="0">
                <a:solidFill>
                  <a:srgbClr val="E6E5DE"/>
                </a:solidFill>
                <a:latin typeface="Arial"/>
              </a:rPr>
              <a:t>Founded in</a:t>
            </a:r>
          </a:p>
          <a:p>
            <a:pPr algn="l">
              <a:spcAft>
                <a:spcPts val="0"/>
              </a:spcAft>
            </a:pPr>
            <a:r>
              <a:rPr sz="1050" b="0" i="0">
                <a:solidFill>
                  <a:srgbClr val="E6E5DE"/>
                </a:solidFill>
                <a:latin typeface="Arial"/>
              </a:rPr>
              <a:t>Brisbane</a:t>
            </a:r>
          </a:p>
        </p:txBody>
      </p:sp>
      <p:sp>
        <p:nvSpPr>
          <p:cNvPr id="15" name="TextBox 14"/>
          <p:cNvSpPr txBox="1"/>
          <p:nvPr/>
        </p:nvSpPr>
        <p:spPr>
          <a:xfrm>
            <a:off x="457200" y="3419856"/>
            <a:ext cx="1828800" cy="201168"/>
          </a:xfrm>
          <a:prstGeom prst="rect">
            <a:avLst/>
          </a:prstGeom>
          <a:noFill/>
        </p:spPr>
        <p:txBody>
          <a:bodyPr wrap="square" lIns="0" rIns="0" tIns="0" bIns="0">
            <a:noAutofit/>
          </a:bodyPr>
          <a:lstStyle/>
          <a:p>
            <a:pPr algn="l"/>
            <a:r>
              <a:rPr sz="700" b="0" i="1">
                <a:solidFill>
                  <a:srgbClr val="E6E5DE"/>
                </a:solidFill>
                <a:latin typeface="Arial"/>
              </a:rPr>
              <a:t>Sniip company site</a:t>
            </a:r>
          </a:p>
        </p:txBody>
      </p:sp>
      <p:sp>
        <p:nvSpPr>
          <p:cNvPr id="16" name="Rectangle 15"/>
          <p:cNvSpPr/>
          <p:nvPr/>
        </p:nvSpPr>
        <p:spPr>
          <a:xfrm>
            <a:off x="2560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2304288"/>
            <a:ext cx="1828800" cy="384048"/>
          </a:xfrm>
          <a:prstGeom prst="rect">
            <a:avLst/>
          </a:prstGeom>
          <a:noFill/>
        </p:spPr>
        <p:txBody>
          <a:bodyPr wrap="square" lIns="0" rIns="0" tIns="0" bIns="0">
            <a:noAutofit/>
          </a:bodyPr>
          <a:lstStyle/>
          <a:p>
            <a:pPr algn="l"/>
            <a:r>
              <a:rPr sz="2700" b="1" i="0">
                <a:solidFill>
                  <a:srgbClr val="F8C806"/>
                </a:solidFill>
                <a:latin typeface="Georgia"/>
              </a:rPr>
              <a:t>200K+</a:t>
            </a:r>
          </a:p>
        </p:txBody>
      </p:sp>
      <p:sp>
        <p:nvSpPr>
          <p:cNvPr id="19" name="TextBox 18"/>
          <p:cNvSpPr txBox="1"/>
          <p:nvPr/>
        </p:nvSpPr>
        <p:spPr>
          <a:xfrm>
            <a:off x="2697480" y="2926080"/>
            <a:ext cx="1828800" cy="457200"/>
          </a:xfrm>
          <a:prstGeom prst="rect">
            <a:avLst/>
          </a:prstGeom>
          <a:noFill/>
        </p:spPr>
        <p:txBody>
          <a:bodyPr wrap="square" lIns="0" rIns="0" tIns="0" bIns="0">
            <a:noAutofit/>
          </a:bodyPr>
          <a:lstStyle/>
          <a:p>
            <a:pPr algn="l">
              <a:spcAft>
                <a:spcPts val="0"/>
              </a:spcAft>
            </a:pPr>
            <a:r>
              <a:rPr sz="1050" b="0" i="0">
                <a:solidFill>
                  <a:srgbClr val="E6E5DE"/>
                </a:solidFill>
                <a:latin typeface="Arial"/>
              </a:rPr>
              <a:t>Business and personal</a:t>
            </a:r>
          </a:p>
          <a:p>
            <a:pPr algn="l">
              <a:spcAft>
                <a:spcPts val="0"/>
              </a:spcAft>
            </a:pPr>
            <a:r>
              <a:rPr sz="1050" b="0" i="0">
                <a:solidFill>
                  <a:srgbClr val="E6E5DE"/>
                </a:solidFill>
                <a:latin typeface="Arial"/>
              </a:rPr>
              <a:t>customers</a:t>
            </a:r>
          </a:p>
        </p:txBody>
      </p:sp>
      <p:sp>
        <p:nvSpPr>
          <p:cNvPr id="20" name="TextBox 19"/>
          <p:cNvSpPr txBox="1"/>
          <p:nvPr/>
        </p:nvSpPr>
        <p:spPr>
          <a:xfrm>
            <a:off x="2697480" y="3419856"/>
            <a:ext cx="1828800" cy="201168"/>
          </a:xfrm>
          <a:prstGeom prst="rect">
            <a:avLst/>
          </a:prstGeom>
          <a:noFill/>
        </p:spPr>
        <p:txBody>
          <a:bodyPr wrap="square" lIns="0" rIns="0" tIns="0" bIns="0">
            <a:noAutofit/>
          </a:bodyPr>
          <a:lstStyle/>
          <a:p>
            <a:pPr algn="l"/>
            <a:r>
              <a:rPr sz="700" b="0" i="1">
                <a:solidFill>
                  <a:srgbClr val="E6E5DE"/>
                </a:solidFill>
                <a:latin typeface="Arial"/>
              </a:rPr>
              <a:t>Sniip company site</a:t>
            </a:r>
          </a:p>
        </p:txBody>
      </p:sp>
      <p:sp>
        <p:nvSpPr>
          <p:cNvPr id="21" name="Rectangle 20"/>
          <p:cNvSpPr/>
          <p:nvPr/>
        </p:nvSpPr>
        <p:spPr>
          <a:xfrm>
            <a:off x="4800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006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2304288"/>
            <a:ext cx="1828800" cy="384048"/>
          </a:xfrm>
          <a:prstGeom prst="rect">
            <a:avLst/>
          </a:prstGeom>
          <a:noFill/>
        </p:spPr>
        <p:txBody>
          <a:bodyPr wrap="square" lIns="0" rIns="0" tIns="0" bIns="0">
            <a:noAutofit/>
          </a:bodyPr>
          <a:lstStyle/>
          <a:p>
            <a:pPr algn="l"/>
            <a:r>
              <a:rPr sz="2700" b="1" i="0">
                <a:solidFill>
                  <a:srgbClr val="F8C806"/>
                </a:solidFill>
                <a:latin typeface="Georgia"/>
              </a:rPr>
              <a:t>$500M+</a:t>
            </a:r>
          </a:p>
        </p:txBody>
      </p:sp>
      <p:sp>
        <p:nvSpPr>
          <p:cNvPr id="24" name="TextBox 23"/>
          <p:cNvSpPr txBox="1"/>
          <p:nvPr/>
        </p:nvSpPr>
        <p:spPr>
          <a:xfrm>
            <a:off x="4937760" y="2926080"/>
            <a:ext cx="1828800" cy="457200"/>
          </a:xfrm>
          <a:prstGeom prst="rect">
            <a:avLst/>
          </a:prstGeom>
          <a:noFill/>
        </p:spPr>
        <p:txBody>
          <a:bodyPr wrap="square" lIns="0" rIns="0" tIns="0" bIns="0">
            <a:noAutofit/>
          </a:bodyPr>
          <a:lstStyle/>
          <a:p>
            <a:pPr algn="l">
              <a:spcAft>
                <a:spcPts val="0"/>
              </a:spcAft>
            </a:pPr>
            <a:r>
              <a:rPr sz="1050" b="0" i="0">
                <a:solidFill>
                  <a:srgbClr val="E6E5DE"/>
                </a:solidFill>
                <a:latin typeface="Arial"/>
              </a:rPr>
              <a:t>Processed in</a:t>
            </a:r>
          </a:p>
          <a:p>
            <a:pPr algn="l">
              <a:spcAft>
                <a:spcPts val="0"/>
              </a:spcAft>
            </a:pPr>
            <a:r>
              <a:rPr sz="1050" b="0" i="0">
                <a:solidFill>
                  <a:srgbClr val="E6E5DE"/>
                </a:solidFill>
                <a:latin typeface="Arial"/>
              </a:rPr>
              <a:t>bill payments</a:t>
            </a:r>
          </a:p>
        </p:txBody>
      </p:sp>
      <p:sp>
        <p:nvSpPr>
          <p:cNvPr id="25" name="TextBox 24"/>
          <p:cNvSpPr txBox="1"/>
          <p:nvPr/>
        </p:nvSpPr>
        <p:spPr>
          <a:xfrm>
            <a:off x="4937760" y="3419856"/>
            <a:ext cx="1828800" cy="201168"/>
          </a:xfrm>
          <a:prstGeom prst="rect">
            <a:avLst/>
          </a:prstGeom>
          <a:noFill/>
        </p:spPr>
        <p:txBody>
          <a:bodyPr wrap="square" lIns="0" rIns="0" tIns="0" bIns="0">
            <a:noAutofit/>
          </a:bodyPr>
          <a:lstStyle/>
          <a:p>
            <a:pPr algn="l"/>
            <a:r>
              <a:rPr sz="700" b="0" i="1">
                <a:solidFill>
                  <a:srgbClr val="E6E5DE"/>
                </a:solidFill>
                <a:latin typeface="Arial"/>
              </a:rPr>
              <a:t>Sniip company site</a:t>
            </a:r>
          </a:p>
        </p:txBody>
      </p:sp>
      <p:sp>
        <p:nvSpPr>
          <p:cNvPr id="26" name="Rectangle 25"/>
          <p:cNvSpPr/>
          <p:nvPr/>
        </p:nvSpPr>
        <p:spPr>
          <a:xfrm>
            <a:off x="7040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408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78040" y="2304288"/>
            <a:ext cx="1828800" cy="384048"/>
          </a:xfrm>
          <a:prstGeom prst="rect">
            <a:avLst/>
          </a:prstGeom>
          <a:noFill/>
        </p:spPr>
        <p:txBody>
          <a:bodyPr wrap="square" lIns="0" rIns="0" tIns="0" bIns="0">
            <a:noAutofit/>
          </a:bodyPr>
          <a:lstStyle/>
          <a:p>
            <a:pPr algn="l"/>
            <a:r>
              <a:rPr sz="2700" b="1" i="0">
                <a:solidFill>
                  <a:srgbClr val="F8C806"/>
                </a:solidFill>
                <a:latin typeface="Georgia"/>
              </a:rPr>
              <a:t>2025</a:t>
            </a:r>
          </a:p>
        </p:txBody>
      </p:sp>
      <p:sp>
        <p:nvSpPr>
          <p:cNvPr id="29" name="TextBox 28"/>
          <p:cNvSpPr txBox="1"/>
          <p:nvPr/>
        </p:nvSpPr>
        <p:spPr>
          <a:xfrm>
            <a:off x="7178040" y="2926080"/>
            <a:ext cx="1828800" cy="457200"/>
          </a:xfrm>
          <a:prstGeom prst="rect">
            <a:avLst/>
          </a:prstGeom>
          <a:noFill/>
        </p:spPr>
        <p:txBody>
          <a:bodyPr wrap="square" lIns="0" rIns="0" tIns="0" bIns="0">
            <a:noAutofit/>
          </a:bodyPr>
          <a:lstStyle/>
          <a:p>
            <a:pPr algn="l">
              <a:spcAft>
                <a:spcPts val="0"/>
              </a:spcAft>
            </a:pPr>
            <a:r>
              <a:rPr sz="1050" b="0" i="0">
                <a:solidFill>
                  <a:srgbClr val="E6E5DE"/>
                </a:solidFill>
                <a:latin typeface="Arial"/>
              </a:rPr>
              <a:t>AFR Fast 100</a:t>
            </a:r>
          </a:p>
          <a:p>
            <a:pPr algn="l">
              <a:spcAft>
                <a:spcPts val="0"/>
              </a:spcAft>
            </a:pPr>
            <a:r>
              <a:rPr sz="1050" b="0" i="0">
                <a:solidFill>
                  <a:srgbClr val="E6E5DE"/>
                </a:solidFill>
                <a:latin typeface="Arial"/>
              </a:rPr>
              <a:t>debut year</a:t>
            </a:r>
          </a:p>
        </p:txBody>
      </p:sp>
      <p:sp>
        <p:nvSpPr>
          <p:cNvPr id="30" name="TextBox 29"/>
          <p:cNvSpPr txBox="1"/>
          <p:nvPr/>
        </p:nvSpPr>
        <p:spPr>
          <a:xfrm>
            <a:off x="7178040" y="3419856"/>
            <a:ext cx="1828800" cy="201168"/>
          </a:xfrm>
          <a:prstGeom prst="rect">
            <a:avLst/>
          </a:prstGeom>
          <a:noFill/>
        </p:spPr>
        <p:txBody>
          <a:bodyPr wrap="square" lIns="0" rIns="0" tIns="0" bIns="0">
            <a:noAutofit/>
          </a:bodyPr>
          <a:lstStyle/>
          <a:p>
            <a:pPr algn="l"/>
            <a:r>
              <a:rPr sz="700" b="0" i="1">
                <a:solidFill>
                  <a:srgbClr val="E6E5DE"/>
                </a:solidFill>
                <a:latin typeface="Arial"/>
              </a:rPr>
              <a:t>AFR Fast 100 2025 list</a:t>
            </a:r>
          </a:p>
        </p:txBody>
      </p:sp>
      <p:sp>
        <p:nvSpPr>
          <p:cNvPr id="31" name="Rectangle 30"/>
          <p:cNvSpPr/>
          <p:nvPr/>
        </p:nvSpPr>
        <p:spPr>
          <a:xfrm>
            <a:off x="9281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811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0" y="2304288"/>
            <a:ext cx="1828800" cy="384048"/>
          </a:xfrm>
          <a:prstGeom prst="rect">
            <a:avLst/>
          </a:prstGeom>
          <a:noFill/>
        </p:spPr>
        <p:txBody>
          <a:bodyPr wrap="square" lIns="0" rIns="0" tIns="0" bIns="0">
            <a:noAutofit/>
          </a:bodyPr>
          <a:lstStyle/>
          <a:p>
            <a:pPr algn="l"/>
            <a:r>
              <a:rPr sz="2700" b="1" i="0">
                <a:solidFill>
                  <a:srgbClr val="F8C806"/>
                </a:solidFill>
                <a:latin typeface="Georgia"/>
              </a:rPr>
              <a:t>5</a:t>
            </a:r>
          </a:p>
        </p:txBody>
      </p:sp>
      <p:sp>
        <p:nvSpPr>
          <p:cNvPr id="34" name="TextBox 33"/>
          <p:cNvSpPr txBox="1"/>
          <p:nvPr/>
        </p:nvSpPr>
        <p:spPr>
          <a:xfrm>
            <a:off x="9418320" y="2926080"/>
            <a:ext cx="1828800" cy="457200"/>
          </a:xfrm>
          <a:prstGeom prst="rect">
            <a:avLst/>
          </a:prstGeom>
          <a:noFill/>
        </p:spPr>
        <p:txBody>
          <a:bodyPr wrap="square" lIns="0" rIns="0" tIns="0" bIns="0">
            <a:noAutofit/>
          </a:bodyPr>
          <a:lstStyle/>
          <a:p>
            <a:pPr algn="l">
              <a:spcAft>
                <a:spcPts val="0"/>
              </a:spcAft>
            </a:pPr>
            <a:r>
              <a:rPr sz="1050" b="0" i="0">
                <a:solidFill>
                  <a:srgbClr val="E6E5DE"/>
                </a:solidFill>
                <a:latin typeface="Arial"/>
              </a:rPr>
              <a:t>Major payment partners</a:t>
            </a:r>
          </a:p>
          <a:p>
            <a:pPr algn="l">
              <a:spcAft>
                <a:spcPts val="0"/>
              </a:spcAft>
            </a:pPr>
            <a:r>
              <a:rPr sz="1050" b="0" i="0">
                <a:solidFill>
                  <a:srgbClr val="E6E5DE"/>
                </a:solidFill>
                <a:latin typeface="Arial"/>
              </a:rPr>
              <a:t>added</a:t>
            </a:r>
          </a:p>
        </p:txBody>
      </p:sp>
      <p:sp>
        <p:nvSpPr>
          <p:cNvPr id="35" name="TextBox 34"/>
          <p:cNvSpPr txBox="1"/>
          <p:nvPr/>
        </p:nvSpPr>
        <p:spPr>
          <a:xfrm>
            <a:off x="9418320" y="3419856"/>
            <a:ext cx="1828800" cy="201168"/>
          </a:xfrm>
          <a:prstGeom prst="rect">
            <a:avLst/>
          </a:prstGeom>
          <a:noFill/>
        </p:spPr>
        <p:txBody>
          <a:bodyPr wrap="square" lIns="0" rIns="0" tIns="0" bIns="0">
            <a:noAutofit/>
          </a:bodyPr>
          <a:lstStyle/>
          <a:p>
            <a:pPr algn="l"/>
            <a:r>
              <a:rPr sz="700" b="0" i="1">
                <a:solidFill>
                  <a:srgbClr val="E6E5DE"/>
                </a:solidFill>
                <a:latin typeface="Arial"/>
              </a:rPr>
              <a:t>Company &amp; partner news</a:t>
            </a:r>
          </a:p>
        </p:txBody>
      </p:sp>
      <p:sp>
        <p:nvSpPr>
          <p:cNvPr id="36" name="TextBox 35"/>
          <p:cNvSpPr txBox="1"/>
          <p:nvPr/>
        </p:nvSpPr>
        <p:spPr>
          <a:xfrm>
            <a:off x="320040" y="3977639"/>
            <a:ext cx="5486400" cy="274320"/>
          </a:xfrm>
          <a:prstGeom prst="rect">
            <a:avLst/>
          </a:prstGeom>
          <a:noFill/>
        </p:spPr>
        <p:txBody>
          <a:bodyPr wrap="square" lIns="0" rIns="0" tIns="0" bIns="0">
            <a:noAutofit/>
          </a:bodyPr>
          <a:lstStyle/>
          <a:p>
            <a:pPr algn="l"/>
            <a:r>
              <a:rPr sz="1200" b="1" i="0">
                <a:solidFill>
                  <a:srgbClr val="01A296"/>
                </a:solidFill>
                <a:latin typeface="Arial"/>
              </a:rPr>
              <a:t>KEY COMMERCIAL SIGNALS</a:t>
            </a:r>
          </a:p>
        </p:txBody>
      </p:sp>
      <p:sp>
        <p:nvSpPr>
          <p:cNvPr id="37" name="TextBox 36"/>
          <p:cNvSpPr txBox="1"/>
          <p:nvPr/>
        </p:nvSpPr>
        <p:spPr>
          <a:xfrm>
            <a:off x="320040" y="4315968"/>
            <a:ext cx="11521440" cy="1920240"/>
          </a:xfrm>
          <a:prstGeom prst="rect">
            <a:avLst/>
          </a:prstGeom>
          <a:noFill/>
        </p:spPr>
        <p:txBody>
          <a:bodyPr wrap="square" lIns="0" rIns="0" tIns="0" bIns="0">
            <a:noAutofit/>
          </a:bodyPr>
          <a:lstStyle/>
          <a:p>
            <a:pPr algn="l">
              <a:spcAft>
                <a:spcPts val="600"/>
              </a:spcAft>
            </a:pPr>
            <a:r>
              <a:rPr sz="1150" b="0" i="0">
                <a:solidFill>
                  <a:srgbClr val="000000"/>
                </a:solidFill>
                <a:latin typeface="Arial"/>
              </a:rPr>
              <a:t>•  Debuted on the AFR Fast 100 2025, confirming FY25 revenue above five million dollars.</a:t>
            </a:r>
          </a:p>
          <a:p>
            <a:pPr algn="l">
              <a:spcAft>
                <a:spcPts val="600"/>
              </a:spcAft>
            </a:pPr>
            <a:r>
              <a:rPr sz="1150" b="0" i="0">
                <a:solidFill>
                  <a:srgbClr val="000000"/>
                </a:solidFill>
                <a:latin typeface="Arial"/>
              </a:rPr>
              <a:t>•  Won Best Innovation in Payments at the Fintech Australia Finnies Awards, June 2025.</a:t>
            </a:r>
          </a:p>
          <a:p>
            <a:pPr algn="l">
              <a:spcAft>
                <a:spcPts val="600"/>
              </a:spcAft>
            </a:pPr>
            <a:r>
              <a:rPr sz="1150" b="0" i="0">
                <a:solidFill>
                  <a:srgbClr val="000000"/>
                </a:solidFill>
                <a:latin typeface="Arial"/>
              </a:rPr>
              <a:t>•  Named a finalist again in the same category at the 2026 Finnies Awards.</a:t>
            </a:r>
          </a:p>
          <a:p>
            <a:pPr algn="l">
              <a:spcAft>
                <a:spcPts val="600"/>
              </a:spcAft>
            </a:pPr>
            <a:r>
              <a:rPr sz="1150" b="0" i="0">
                <a:solidFill>
                  <a:srgbClr val="000000"/>
                </a:solidFill>
                <a:latin typeface="Arial"/>
              </a:rPr>
              <a:t>•  Added BPAY, American Express, Qantas Frequent Flyer, Virgin and WEX Motorpass as partners.</a:t>
            </a:r>
          </a:p>
          <a:p>
            <a:pPr algn="l">
              <a:spcAft>
                <a:spcPts val="600"/>
              </a:spcAft>
            </a:pPr>
            <a:r>
              <a:rPr sz="1150" b="0" i="0">
                <a:solidFill>
                  <a:srgbClr val="000000"/>
                </a:solidFill>
                <a:latin typeface="Arial"/>
              </a:rPr>
              <a:t>•  LinkedIn lists a team of 11 to 50 people running the platform from Brisbane.</a:t>
            </a:r>
          </a:p>
          <a:p>
            <a:pPr algn="l">
              <a:spcAft>
                <a:spcPts val="600"/>
              </a:spcAft>
            </a:pPr>
            <a:r>
              <a:rPr sz="1150" b="0" i="0">
                <a:solidFill>
                  <a:srgbClr val="000000"/>
                </a:solidFill>
                <a:latin typeface="Arial"/>
              </a:rPr>
              <a:t>•  Founded in 2014 by Damien Vasta, who remains Founder and Chief Executive Officer.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ctr" lIns="0" rIns="0" tIns="0" bIns="0">
            <a:noAutofit/>
          </a:bodyPr>
          <a:lstStyle/>
          <a:p>
            <a:pPr algn="l"/>
            <a:r>
              <a:rPr sz="1200" b="1" i="0">
                <a:solidFill>
                  <a:srgbClr val="E6E5DE"/>
                </a:solidFill>
                <a:latin typeface="Arial"/>
              </a:rPr>
              <a:t>THE OPPORTUNITY</a:t>
            </a:r>
          </a:p>
        </p:txBody>
      </p:sp>
      <p:sp>
        <p:nvSpPr>
          <p:cNvPr id="5" name="TextBox 4"/>
          <p:cNvSpPr txBox="1"/>
          <p:nvPr/>
        </p:nvSpPr>
        <p:spPr>
          <a:xfrm>
            <a:off x="8229600" y="292608"/>
            <a:ext cx="3657600" cy="365760"/>
          </a:xfrm>
          <a:prstGeom prst="rect">
            <a:avLst/>
          </a:prstGeom>
          <a:noFill/>
        </p:spPr>
        <p:txBody>
          <a:bodyPr wrap="square" anchor="ctr" lIns="0" rIns="0" tIns="0" bIns="0">
            <a:noAutofit/>
          </a:bodyPr>
          <a:lstStyle/>
          <a:p>
            <a:pPr algn="r"/>
            <a:r>
              <a:rPr sz="1300" b="1" i="0">
                <a:solidFill>
                  <a:srgbClr val="01A296"/>
                </a:solidFill>
                <a:latin typeface="Arial"/>
              </a:rPr>
              <a:t>SNIIP</a:t>
            </a:r>
          </a:p>
        </p:txBody>
      </p:sp>
      <p:sp>
        <p:nvSpPr>
          <p:cNvPr id="6" name="Rectangle 5"/>
          <p:cNvSpPr/>
          <p:nvPr/>
        </p:nvSpPr>
        <p:spPr>
          <a:xfrm>
            <a:off x="320040" y="6428232"/>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lIns="0" rIns="0" tIns="0" bIns="0">
            <a:noAutofit/>
          </a:bodyPr>
          <a:lstStyle/>
          <a:p>
            <a:pPr algn="r"/>
            <a:r>
              <a:rPr sz="800" b="0" i="0">
                <a:solidFill>
                  <a:srgbClr val="000000"/>
                </a:solidFill>
                <a:latin typeface="Arial"/>
              </a:rPr>
              <a:t>19 Aug 2026</a:t>
            </a:r>
          </a:p>
        </p:txBody>
      </p:sp>
      <p:sp>
        <p:nvSpPr>
          <p:cNvPr id="9" name="TextBox 8"/>
          <p:cNvSpPr txBox="1"/>
          <p:nvPr/>
        </p:nvSpPr>
        <p:spPr>
          <a:xfrm>
            <a:off x="320040" y="1051560"/>
            <a:ext cx="11430000" cy="365760"/>
          </a:xfrm>
          <a:prstGeom prst="rect">
            <a:avLst/>
          </a:prstGeom>
          <a:noFill/>
        </p:spPr>
        <p:txBody>
          <a:bodyPr wrap="square" lIns="0" rIns="0" tIns="0" bIns="0">
            <a:noAutofit/>
          </a:bodyPr>
          <a:lstStyle/>
          <a:p>
            <a:pPr algn="l"/>
            <a:r>
              <a:rPr sz="1500" b="1" i="0">
                <a:solidFill>
                  <a:srgbClr val="000000"/>
                </a:solidFill>
                <a:latin typeface="Georgia"/>
              </a:rPr>
              <a:t>Three commercial observations from ProfitPulse</a:t>
            </a:r>
          </a:p>
        </p:txBody>
      </p:sp>
      <p:sp>
        <p:nvSpPr>
          <p:cNvPr id="10" name="Rectangle 9"/>
          <p:cNvSpPr/>
          <p:nvPr/>
        </p:nvSpPr>
        <p:spPr>
          <a:xfrm>
            <a:off x="320040" y="1600200"/>
            <a:ext cx="3657600"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3200400" cy="594360"/>
          </a:xfrm>
          <a:prstGeom prst="rect">
            <a:avLst/>
          </a:prstGeom>
          <a:noFill/>
        </p:spPr>
        <p:txBody>
          <a:bodyPr wrap="square" lIns="0" rIns="0" tIns="0" bIns="0">
            <a:noAutofit/>
          </a:bodyPr>
          <a:lstStyle/>
          <a:p>
            <a:pPr algn="l"/>
            <a:r>
              <a:rPr sz="3000" b="1" i="0">
                <a:solidFill>
                  <a:srgbClr val="000000"/>
                </a:solidFill>
                <a:latin typeface="Georgia"/>
              </a:rPr>
              <a:t>01</a:t>
            </a:r>
          </a:p>
        </p:txBody>
      </p:sp>
      <p:sp>
        <p:nvSpPr>
          <p:cNvPr id="12" name="TextBox 11"/>
          <p:cNvSpPr txBox="1"/>
          <p:nvPr/>
        </p:nvSpPr>
        <p:spPr>
          <a:xfrm>
            <a:off x="548640" y="2468880"/>
            <a:ext cx="3200400" cy="685800"/>
          </a:xfrm>
          <a:prstGeom prst="rect">
            <a:avLst/>
          </a:prstGeom>
          <a:noFill/>
        </p:spPr>
        <p:txBody>
          <a:bodyPr wrap="square" lIns="0" rIns="0" tIns="0" bIns="0">
            <a:noAutofit/>
          </a:bodyPr>
          <a:lstStyle/>
          <a:p>
            <a:pPr algn="l"/>
            <a:r>
              <a:rPr sz="1450" b="1" i="0">
                <a:solidFill>
                  <a:srgbClr val="FFFFFF"/>
                </a:solidFill>
                <a:latin typeface="Arial"/>
              </a:rPr>
              <a:t>Five partners, one finance team</a:t>
            </a:r>
          </a:p>
        </p:txBody>
      </p:sp>
      <p:sp>
        <p:nvSpPr>
          <p:cNvPr id="13" name="TextBox 12"/>
          <p:cNvSpPr txBox="1"/>
          <p:nvPr/>
        </p:nvSpPr>
        <p:spPr>
          <a:xfrm>
            <a:off x="548640" y="3200400"/>
            <a:ext cx="3200400" cy="2377440"/>
          </a:xfrm>
          <a:prstGeom prst="rect">
            <a:avLst/>
          </a:prstGeom>
          <a:noFill/>
        </p:spPr>
        <p:txBody>
          <a:bodyPr wrap="square" lIns="0" rIns="0" tIns="0" bIns="0">
            <a:noAutofit/>
          </a:bodyPr>
          <a:lstStyle/>
          <a:p>
            <a:pPr algn="l">
              <a:lnSpc>
                <a:spcPct val="112000"/>
              </a:lnSpc>
            </a:pPr>
            <a:r>
              <a:rPr sz="1050" b="0" i="0">
                <a:solidFill>
                  <a:srgbClr val="FFFFFF"/>
                </a:solidFill>
                <a:latin typeface="Arial"/>
              </a:rPr>
              <a:t>In roughly a year Sniip added BPAY, American Express, Qantas Frequent Flyer, Virgin Australia Business Flyer and WEX Motorpass. Each partner carries its own settlement cycle and margin profile. Layering five economic models onto one finance function in twelve months tests reporting fast.</a:t>
            </a:r>
          </a:p>
        </p:txBody>
      </p:sp>
      <p:sp>
        <p:nvSpPr>
          <p:cNvPr id="14" name="Rectangle 13"/>
          <p:cNvSpPr/>
          <p:nvPr/>
        </p:nvSpPr>
        <p:spPr>
          <a:xfrm>
            <a:off x="4096512" y="1600200"/>
            <a:ext cx="3657600" cy="4160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5112" y="1783080"/>
            <a:ext cx="3200400" cy="594360"/>
          </a:xfrm>
          <a:prstGeom prst="rect">
            <a:avLst/>
          </a:prstGeom>
          <a:noFill/>
        </p:spPr>
        <p:txBody>
          <a:bodyPr wrap="square" lIns="0" rIns="0" tIns="0" bIns="0">
            <a:noAutofit/>
          </a:bodyPr>
          <a:lstStyle/>
          <a:p>
            <a:pPr algn="l"/>
            <a:r>
              <a:rPr sz="3000" b="1" i="0">
                <a:solidFill>
                  <a:srgbClr val="F8C806"/>
                </a:solidFill>
                <a:latin typeface="Georgia"/>
              </a:rPr>
              <a:t>02</a:t>
            </a:r>
          </a:p>
        </p:txBody>
      </p:sp>
      <p:sp>
        <p:nvSpPr>
          <p:cNvPr id="16" name="TextBox 15"/>
          <p:cNvSpPr txBox="1"/>
          <p:nvPr/>
        </p:nvSpPr>
        <p:spPr>
          <a:xfrm>
            <a:off x="4325112" y="2468880"/>
            <a:ext cx="3200400" cy="685800"/>
          </a:xfrm>
          <a:prstGeom prst="rect">
            <a:avLst/>
          </a:prstGeom>
          <a:noFill/>
        </p:spPr>
        <p:txBody>
          <a:bodyPr wrap="square" lIns="0" rIns="0" tIns="0" bIns="0">
            <a:noAutofit/>
          </a:bodyPr>
          <a:lstStyle/>
          <a:p>
            <a:pPr algn="l"/>
            <a:r>
              <a:rPr sz="1450" b="1" i="0">
                <a:solidFill>
                  <a:srgbClr val="FFFFFF"/>
                </a:solidFill>
                <a:latin typeface="Arial"/>
              </a:rPr>
              <a:t>A Fast 100 debut raises the bar</a:t>
            </a:r>
          </a:p>
        </p:txBody>
      </p:sp>
      <p:sp>
        <p:nvSpPr>
          <p:cNvPr id="17" name="TextBox 16"/>
          <p:cNvSpPr txBox="1"/>
          <p:nvPr/>
        </p:nvSpPr>
        <p:spPr>
          <a:xfrm>
            <a:off x="4325112" y="3200400"/>
            <a:ext cx="3200400" cy="2377440"/>
          </a:xfrm>
          <a:prstGeom prst="rect">
            <a:avLst/>
          </a:prstGeom>
          <a:noFill/>
        </p:spPr>
        <p:txBody>
          <a:bodyPr wrap="square" lIns="0" rIns="0" tIns="0" bIns="0">
            <a:noAutofit/>
          </a:bodyPr>
          <a:lstStyle/>
          <a:p>
            <a:pPr algn="l">
              <a:lnSpc>
                <a:spcPct val="112000"/>
              </a:lnSpc>
            </a:pPr>
            <a:r>
              <a:rPr sz="1050" b="0" i="0">
                <a:solidFill>
                  <a:srgbClr val="FFFFFF"/>
                </a:solidFill>
                <a:latin typeface="Arial"/>
              </a:rPr>
              <a:t>Sniip's AFR Fast 100 2025 debut confirms revenue growth strong enough to clear the five million dollar threshold on a three year view. Lists like this draw investor and partner attention. Converting that attention well means board grade numbers are ready on request, not assembled after the fact.</a:t>
            </a:r>
          </a:p>
        </p:txBody>
      </p:sp>
      <p:sp>
        <p:nvSpPr>
          <p:cNvPr id="18" name="Rectangle 17"/>
          <p:cNvSpPr/>
          <p:nvPr/>
        </p:nvSpPr>
        <p:spPr>
          <a:xfrm>
            <a:off x="7872984" y="1600200"/>
            <a:ext cx="3657600"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1783080"/>
            <a:ext cx="3200400" cy="594360"/>
          </a:xfrm>
          <a:prstGeom prst="rect">
            <a:avLst/>
          </a:prstGeom>
          <a:noFill/>
        </p:spPr>
        <p:txBody>
          <a:bodyPr wrap="square" lIns="0" rIns="0" tIns="0" bIns="0">
            <a:noAutofit/>
          </a:bodyPr>
          <a:lstStyle/>
          <a:p>
            <a:pPr algn="l"/>
            <a:r>
              <a:rPr sz="3000" b="1" i="0">
                <a:solidFill>
                  <a:srgbClr val="000000"/>
                </a:solidFill>
                <a:latin typeface="Georgia"/>
              </a:rPr>
              <a:t>03</a:t>
            </a:r>
          </a:p>
        </p:txBody>
      </p:sp>
      <p:sp>
        <p:nvSpPr>
          <p:cNvPr id="20" name="TextBox 19"/>
          <p:cNvSpPr txBox="1"/>
          <p:nvPr/>
        </p:nvSpPr>
        <p:spPr>
          <a:xfrm>
            <a:off x="8101584" y="2468880"/>
            <a:ext cx="3200400" cy="685800"/>
          </a:xfrm>
          <a:prstGeom prst="rect">
            <a:avLst/>
          </a:prstGeom>
          <a:noFill/>
        </p:spPr>
        <p:txBody>
          <a:bodyPr wrap="square" lIns="0" rIns="0" tIns="0" bIns="0">
            <a:noAutofit/>
          </a:bodyPr>
          <a:lstStyle/>
          <a:p>
            <a:pPr algn="l"/>
            <a:r>
              <a:rPr sz="1450" b="1" i="0">
                <a:solidFill>
                  <a:srgbClr val="000000"/>
                </a:solidFill>
                <a:latin typeface="Arial"/>
              </a:rPr>
              <a:t>A rewards liability needs a steady hand</a:t>
            </a:r>
          </a:p>
        </p:txBody>
      </p:sp>
      <p:sp>
        <p:nvSpPr>
          <p:cNvPr id="21" name="TextBox 20"/>
          <p:cNvSpPr txBox="1"/>
          <p:nvPr/>
        </p:nvSpPr>
        <p:spPr>
          <a:xfrm>
            <a:off x="8101584" y="3200400"/>
            <a:ext cx="3200400" cy="2377440"/>
          </a:xfrm>
          <a:prstGeom prst="rect">
            <a:avLst/>
          </a:prstGeom>
          <a:noFill/>
        </p:spPr>
        <p:txBody>
          <a:bodyPr wrap="square" lIns="0" rIns="0" tIns="0" bIns="0">
            <a:noAutofit/>
          </a:bodyPr>
          <a:lstStyle/>
          <a:p>
            <a:pPr algn="l">
              <a:lnSpc>
                <a:spcPct val="112000"/>
              </a:lnSpc>
            </a:pPr>
            <a:r>
              <a:rPr sz="1050" b="0" i="0">
                <a:solidFill>
                  <a:srgbClr val="000000"/>
                </a:solidFill>
                <a:latin typeface="Arial"/>
              </a:rPr>
              <a:t>Every bill paid can earn points across Qantas, Virgin and Amex programs. That is a growing liability sitting behind a fast growing transaction base. A monthly Fractional CFO Partnership keeps cash position, partner economics and the management pack as sharp as the product roadmap.</a:t>
            </a:r>
          </a:p>
        </p:txBody>
      </p:sp>
      <p:sp>
        <p:nvSpPr>
          <p:cNvPr id="22" name="TextBox 21"/>
          <p:cNvSpPr txBox="1"/>
          <p:nvPr/>
        </p:nvSpPr>
        <p:spPr>
          <a:xfrm>
            <a:off x="320040" y="5870448"/>
            <a:ext cx="11521440" cy="502920"/>
          </a:xfrm>
          <a:prstGeom prst="rect">
            <a:avLst/>
          </a:prstGeom>
          <a:noFill/>
        </p:spPr>
        <p:txBody>
          <a:bodyPr wrap="square" lIns="0" rIns="0" tIns="0" bIns="0">
            <a:noAutofit/>
          </a:bodyPr>
          <a:lstStyle/>
          <a:p>
            <a:pPr algn="l"/>
            <a:r>
              <a:rPr sz="1050" b="0" i="1">
                <a:solidFill>
                  <a:srgbClr val="000000"/>
                </a:solidFill>
                <a:latin typeface="Arial"/>
              </a:rPr>
              <a:t>These observations are offered in good faith. Sniip has built something genuinely impressive. The question is simply whether the financial architecture keeps pace with the partnership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chor="ctr" lIns="0" rIns="0" tIns="0" bIns="0">
            <a:noAutofit/>
          </a:bodyPr>
          <a:lstStyle/>
          <a:p>
            <a:pPr algn="l"/>
            <a:r>
              <a:rPr sz="1200" b="1" i="0">
                <a:solidFill>
                  <a:srgbClr val="E6E5DE"/>
                </a:solidFill>
                <a:latin typeface="Arial"/>
              </a:rPr>
              <a:t>THE RECOMMENDATION</a:t>
            </a:r>
          </a:p>
        </p:txBody>
      </p:sp>
      <p:sp>
        <p:nvSpPr>
          <p:cNvPr id="5" name="TextBox 4"/>
          <p:cNvSpPr txBox="1"/>
          <p:nvPr/>
        </p:nvSpPr>
        <p:spPr>
          <a:xfrm>
            <a:off x="8229600" y="292608"/>
            <a:ext cx="3657600" cy="365760"/>
          </a:xfrm>
          <a:prstGeom prst="rect">
            <a:avLst/>
          </a:prstGeom>
          <a:noFill/>
        </p:spPr>
        <p:txBody>
          <a:bodyPr wrap="square" anchor="ctr" lIns="0" rIns="0" tIns="0" bIns="0">
            <a:noAutofit/>
          </a:bodyPr>
          <a:lstStyle/>
          <a:p>
            <a:pPr algn="r"/>
            <a:r>
              <a:rPr sz="1300" b="1" i="0">
                <a:solidFill>
                  <a:srgbClr val="01A296"/>
                </a:solidFill>
                <a:latin typeface="Arial"/>
              </a:rPr>
              <a:t>SNIIP</a:t>
            </a:r>
          </a:p>
        </p:txBody>
      </p:sp>
      <p:sp>
        <p:nvSpPr>
          <p:cNvPr id="6" name="Rectangle 5"/>
          <p:cNvSpPr/>
          <p:nvPr/>
        </p:nvSpPr>
        <p:spPr>
          <a:xfrm>
            <a:off x="320040" y="6428232"/>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lIns="0" rIns="0" tIns="0" bIns="0">
            <a:noAutofit/>
          </a:bodyPr>
          <a:lstStyle/>
          <a:p>
            <a:pPr algn="r"/>
            <a:r>
              <a:rPr sz="800" b="0" i="0">
                <a:solidFill>
                  <a:srgbClr val="000000"/>
                </a:solidFill>
                <a:latin typeface="Arial"/>
              </a:rPr>
              <a:t>19 Aug 2026</a:t>
            </a:r>
          </a:p>
        </p:txBody>
      </p:sp>
      <p:sp>
        <p:nvSpPr>
          <p:cNvPr id="9" name="TextBox 8"/>
          <p:cNvSpPr txBox="1"/>
          <p:nvPr/>
        </p:nvSpPr>
        <p:spPr>
          <a:xfrm>
            <a:off x="320040" y="1097280"/>
            <a:ext cx="6675120" cy="502920"/>
          </a:xfrm>
          <a:prstGeom prst="rect">
            <a:avLst/>
          </a:prstGeom>
          <a:noFill/>
        </p:spPr>
        <p:txBody>
          <a:bodyPr wrap="square" lIns="0" rIns="0" tIns="0" bIns="0">
            <a:noAutofit/>
          </a:bodyPr>
          <a:lstStyle/>
          <a:p>
            <a:pPr algn="l"/>
            <a:r>
              <a:rPr sz="2400" b="1" i="0">
                <a:solidFill>
                  <a:srgbClr val="000000"/>
                </a:solidFill>
                <a:latin typeface="Georgia"/>
              </a:rPr>
              <a:t>Fractional CFO Partnership</a:t>
            </a:r>
          </a:p>
        </p:txBody>
      </p:sp>
      <p:sp>
        <p:nvSpPr>
          <p:cNvPr id="10" name="TextBox 9"/>
          <p:cNvSpPr txBox="1"/>
          <p:nvPr/>
        </p:nvSpPr>
        <p:spPr>
          <a:xfrm>
            <a:off x="320040" y="1627632"/>
            <a:ext cx="6675120" cy="365760"/>
          </a:xfrm>
          <a:prstGeom prst="rect">
            <a:avLst/>
          </a:prstGeom>
          <a:noFill/>
        </p:spPr>
        <p:txBody>
          <a:bodyPr wrap="square" lIns="0" rIns="0" tIns="0" bIns="0">
            <a:noAutofit/>
          </a:bodyPr>
          <a:lstStyle/>
          <a:p>
            <a:pPr algn="l"/>
            <a:r>
              <a:rPr sz="1600" b="1" i="0">
                <a:solidFill>
                  <a:srgbClr val="01A296"/>
                </a:solidFill>
                <a:latin typeface="Arial"/>
              </a:rPr>
              <a:t>$4,950 per month</a:t>
            </a:r>
          </a:p>
        </p:txBody>
      </p:sp>
      <p:sp>
        <p:nvSpPr>
          <p:cNvPr id="11" name="TextBox 10"/>
          <p:cNvSpPr txBox="1"/>
          <p:nvPr/>
        </p:nvSpPr>
        <p:spPr>
          <a:xfrm>
            <a:off x="320040" y="1975104"/>
            <a:ext cx="6675120" cy="274320"/>
          </a:xfrm>
          <a:prstGeom prst="rect">
            <a:avLst/>
          </a:prstGeom>
          <a:noFill/>
        </p:spPr>
        <p:txBody>
          <a:bodyPr wrap="square" lIns="0" rIns="0" tIns="0" bIns="0">
            <a:noAutofit/>
          </a:bodyPr>
          <a:lstStyle/>
          <a:p>
            <a:pPr algn="l"/>
            <a:r>
              <a:rPr sz="950" b="0" i="1">
                <a:solidFill>
                  <a:srgbClr val="000000"/>
                </a:solidFill>
                <a:latin typeface="Arial"/>
              </a:rPr>
              <a:t>ProfitPulse verified price. The questionnaire confirms the exact fit for Sniip.</a:t>
            </a:r>
          </a:p>
        </p:txBody>
      </p:sp>
      <p:sp>
        <p:nvSpPr>
          <p:cNvPr id="12" name="TextBox 11"/>
          <p:cNvSpPr txBox="1"/>
          <p:nvPr/>
        </p:nvSpPr>
        <p:spPr>
          <a:xfrm>
            <a:off x="320040" y="2286000"/>
            <a:ext cx="6675120" cy="548640"/>
          </a:xfrm>
          <a:prstGeom prst="rect">
            <a:avLst/>
          </a:prstGeom>
          <a:noFill/>
        </p:spPr>
        <p:txBody>
          <a:bodyPr wrap="square" lIns="0" rIns="0" tIns="0" bIns="0">
            <a:noAutofit/>
          </a:bodyPr>
          <a:lstStyle/>
          <a:p>
            <a:pPr algn="l"/>
            <a:r>
              <a:rPr sz="1150" b="0" i="0">
                <a:solidFill>
                  <a:srgbClr val="000000"/>
                </a:solidFill>
                <a:latin typeface="Arial"/>
              </a:rPr>
              <a:t>A senior financial partner at the table each month: management pack, quarterly board grade review, and support as new partnerships add complexity.</a:t>
            </a:r>
          </a:p>
        </p:txBody>
      </p:sp>
      <p:sp>
        <p:nvSpPr>
          <p:cNvPr id="13" name="Rectangle 12"/>
          <p:cNvSpPr/>
          <p:nvPr/>
        </p:nvSpPr>
        <p:spPr>
          <a:xfrm>
            <a:off x="320040" y="2971800"/>
            <a:ext cx="6675120" cy="123444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108960"/>
            <a:ext cx="6309360" cy="320040"/>
          </a:xfrm>
          <a:prstGeom prst="rect">
            <a:avLst/>
          </a:prstGeom>
          <a:noFill/>
        </p:spPr>
        <p:txBody>
          <a:bodyPr wrap="square" lIns="0" rIns="0" tIns="0" bIns="0">
            <a:noAutofit/>
          </a:bodyPr>
          <a:lstStyle/>
          <a:p>
            <a:pPr algn="l"/>
            <a:r>
              <a:rPr sz="1250" b="1" i="0">
                <a:solidFill>
                  <a:srgbClr val="000000"/>
                </a:solidFill>
                <a:latin typeface="Arial"/>
              </a:rPr>
              <a:t>Step one, answer a few quick questions</a:t>
            </a:r>
          </a:p>
        </p:txBody>
      </p:sp>
      <p:sp>
        <p:nvSpPr>
          <p:cNvPr id="15" name="TextBox 14"/>
          <p:cNvSpPr txBox="1"/>
          <p:nvPr/>
        </p:nvSpPr>
        <p:spPr>
          <a:xfrm>
            <a:off x="502920" y="3456432"/>
            <a:ext cx="6309360" cy="274320"/>
          </a:xfrm>
          <a:prstGeom prst="rect">
            <a:avLst/>
          </a:prstGeom>
          <a:noFill/>
        </p:spPr>
        <p:txBody>
          <a:bodyPr wrap="square" lIns="0" rIns="0" tIns="0" bIns="0">
            <a:noAutofit/>
          </a:bodyPr>
          <a:lstStyle/>
          <a:p>
            <a:pPr algn="l"/>
            <a:r>
              <a:rPr sz="1050" b="0" i="0">
                <a:solidFill>
                  <a:srgbClr val="000000"/>
                </a:solidFill>
                <a:latin typeface="Arial"/>
              </a:rPr>
              <a:t>See the solutions matched to your size and industry.</a:t>
            </a:r>
          </a:p>
        </p:txBody>
      </p:sp>
      <p:sp>
        <p:nvSpPr>
          <p:cNvPr id="16" name="TextBox 15"/>
          <p:cNvSpPr txBox="1"/>
          <p:nvPr/>
        </p:nvSpPr>
        <p:spPr>
          <a:xfrm>
            <a:off x="502920" y="3749039"/>
            <a:ext cx="6309360" cy="320040"/>
          </a:xfrm>
          <a:prstGeom prst="rect">
            <a:avLst/>
          </a:prstGeom>
          <a:noFill/>
        </p:spPr>
        <p:txBody>
          <a:bodyPr wrap="square" lIns="0" rIns="0" tIns="0" bIns="0">
            <a:noAutofit/>
          </a:bodyPr>
          <a:lstStyle/>
          <a:p>
            <a:pPr algn="l"/>
            <a:r>
              <a:rPr sz="1200" b="1" i="0">
                <a:solidFill>
                  <a:srgbClr val="01A296"/>
                </a:solidFill>
                <a:latin typeface="Arial"/>
              </a:rPr>
              <a:t>profit-pulse.com.au/services/find-your-fit</a:t>
            </a:r>
          </a:p>
        </p:txBody>
      </p:sp>
      <p:sp>
        <p:nvSpPr>
          <p:cNvPr id="17" name="Rectangle 16"/>
          <p:cNvSpPr/>
          <p:nvPr/>
        </p:nvSpPr>
        <p:spPr>
          <a:xfrm>
            <a:off x="320040" y="4434840"/>
            <a:ext cx="6675120" cy="56692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4434840"/>
            <a:ext cx="6675120" cy="566928"/>
          </a:xfrm>
          <a:prstGeom prst="rect">
            <a:avLst/>
          </a:prstGeom>
          <a:noFill/>
        </p:spPr>
        <p:txBody>
          <a:bodyPr wrap="square" anchor="ctr" lIns="0" rIns="0" tIns="0" bIns="0">
            <a:noAutofit/>
          </a:bodyPr>
          <a:lstStyle/>
          <a:p>
            <a:pPr algn="ctr"/>
            <a:r>
              <a:rPr sz="1300" b="1" i="0">
                <a:solidFill>
                  <a:srgbClr val="FFFFFF"/>
                </a:solidFill>
                <a:latin typeface="Arial"/>
              </a:rPr>
              <a:t>Purchase the suggested product now to get started</a:t>
            </a:r>
          </a:p>
        </p:txBody>
      </p:sp>
      <p:sp>
        <p:nvSpPr>
          <p:cNvPr id="19" name="TextBox 18"/>
          <p:cNvSpPr txBox="1"/>
          <p:nvPr/>
        </p:nvSpPr>
        <p:spPr>
          <a:xfrm>
            <a:off x="320040" y="5166360"/>
            <a:ext cx="6675120" cy="274320"/>
          </a:xfrm>
          <a:prstGeom prst="rect">
            <a:avLst/>
          </a:prstGeom>
          <a:noFill/>
        </p:spPr>
        <p:txBody>
          <a:bodyPr wrap="square" lIns="0" rIns="0" tIns="0" bIns="0">
            <a:noAutofit/>
          </a:bodyPr>
          <a:lstStyle/>
          <a:p>
            <a:pPr algn="l"/>
            <a:r>
              <a:rPr sz="1050" b="0" i="0">
                <a:solidFill>
                  <a:srgbClr val="000000"/>
                </a:solidFill>
                <a:latin typeface="Arial"/>
              </a:rPr>
              <a:t>Prefer a conversation first?</a:t>
            </a:r>
          </a:p>
        </p:txBody>
      </p:sp>
      <p:sp>
        <p:nvSpPr>
          <p:cNvPr id="20" name="TextBox 19"/>
          <p:cNvSpPr txBox="1"/>
          <p:nvPr/>
        </p:nvSpPr>
        <p:spPr>
          <a:xfrm>
            <a:off x="320040" y="5440680"/>
            <a:ext cx="6675120" cy="320040"/>
          </a:xfrm>
          <a:prstGeom prst="rect">
            <a:avLst/>
          </a:prstGeom>
          <a:noFill/>
        </p:spPr>
        <p:txBody>
          <a:bodyPr wrap="square" lIns="0" rIns="0" tIns="0" bIns="0">
            <a:noAutofit/>
          </a:bodyPr>
          <a:lstStyle/>
          <a:p>
            <a:pPr algn="l"/>
            <a:r>
              <a:rPr sz="1200" b="1" i="0">
                <a:solidFill>
                  <a:srgbClr val="F6A102"/>
                </a:solidFill>
                <a:latin typeface="Arial"/>
              </a:rPr>
              <a:t>Book a complimentary discovery call</a:t>
            </a:r>
          </a:p>
        </p:txBody>
      </p:sp>
      <p:sp>
        <p:nvSpPr>
          <p:cNvPr id="21" name="Rectangle 20"/>
          <p:cNvSpPr/>
          <p:nvPr/>
        </p:nvSpPr>
        <p:spPr>
          <a:xfrm>
            <a:off x="7269480" y="1097280"/>
            <a:ext cx="4599432" cy="4663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1097280"/>
            <a:ext cx="459943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0" y="1298448"/>
            <a:ext cx="4142232" cy="365760"/>
          </a:xfrm>
          <a:prstGeom prst="rect">
            <a:avLst/>
          </a:prstGeom>
          <a:noFill/>
        </p:spPr>
        <p:txBody>
          <a:bodyPr wrap="square" lIns="0" rIns="0" tIns="0" bIns="0">
            <a:noAutofit/>
          </a:bodyPr>
          <a:lstStyle/>
          <a:p>
            <a:pPr algn="l"/>
            <a:r>
              <a:rPr sz="1700" b="1" i="0">
                <a:solidFill>
                  <a:srgbClr val="F8C806"/>
                </a:solidFill>
                <a:latin typeface="Georgia"/>
              </a:rPr>
              <a:t>Nitesh Roopa</a:t>
            </a:r>
          </a:p>
        </p:txBody>
      </p:sp>
      <p:sp>
        <p:nvSpPr>
          <p:cNvPr id="24" name="TextBox 23"/>
          <p:cNvSpPr txBox="1"/>
          <p:nvPr/>
        </p:nvSpPr>
        <p:spPr>
          <a:xfrm>
            <a:off x="7498080" y="1664208"/>
            <a:ext cx="4142232" cy="274320"/>
          </a:xfrm>
          <a:prstGeom prst="rect">
            <a:avLst/>
          </a:prstGeom>
          <a:noFill/>
        </p:spPr>
        <p:txBody>
          <a:bodyPr wrap="square" lIns="0" rIns="0" tIns="0" bIns="0">
            <a:noAutofit/>
          </a:bodyPr>
          <a:lstStyle/>
          <a:p>
            <a:pPr algn="l"/>
            <a:r>
              <a:rPr sz="1100" b="0" i="0">
                <a:solidFill>
                  <a:srgbClr val="E6E5DE"/>
                </a:solidFill>
                <a:latin typeface="Arial"/>
              </a:rPr>
              <a:t>CA, Managing Partner, ProfitPulse</a:t>
            </a:r>
          </a:p>
        </p:txBody>
      </p:sp>
      <p:sp>
        <p:nvSpPr>
          <p:cNvPr id="25" name="TextBox 24"/>
          <p:cNvSpPr txBox="1"/>
          <p:nvPr/>
        </p:nvSpPr>
        <p:spPr>
          <a:xfrm>
            <a:off x="7498080" y="2103120"/>
            <a:ext cx="4142232" cy="1371600"/>
          </a:xfrm>
          <a:prstGeom prst="rect">
            <a:avLst/>
          </a:prstGeom>
          <a:noFill/>
        </p:spPr>
        <p:txBody>
          <a:bodyPr wrap="square" lIns="0" rIns="0" tIns="0" bIns="0">
            <a:noAutofit/>
          </a:bodyPr>
          <a:lstStyle/>
          <a:p>
            <a:pPr algn="l">
              <a:spcAft>
                <a:spcPts val="700"/>
              </a:spcAft>
            </a:pPr>
            <a:r>
              <a:rPr sz="1050" b="0" i="0">
                <a:solidFill>
                  <a:srgbClr val="E6E5DE"/>
                </a:solidFill>
                <a:latin typeface="Arial"/>
              </a:rPr>
              <a:t>•  16 years across 4 countries</a:t>
            </a:r>
          </a:p>
          <a:p>
            <a:pPr algn="l">
              <a:spcAft>
                <a:spcPts val="700"/>
              </a:spcAft>
            </a:pPr>
            <a:r>
              <a:rPr sz="1050" b="0" i="0">
                <a:solidFill>
                  <a:srgbClr val="E6E5DE"/>
                </a:solidFill>
                <a:latin typeface="Arial"/>
              </a:rPr>
              <a:t>•  52 deals executed and managed</a:t>
            </a:r>
          </a:p>
          <a:p>
            <a:pPr algn="l">
              <a:spcAft>
                <a:spcPts val="700"/>
              </a:spcAft>
            </a:pPr>
            <a:r>
              <a:rPr sz="1050" b="0" i="0">
                <a:solidFill>
                  <a:srgbClr val="E6E5DE"/>
                </a:solidFill>
                <a:latin typeface="Arial"/>
              </a:rPr>
              <a:t>•  Largest single deal USD 1.3 billion, Cahora Bassa</a:t>
            </a:r>
          </a:p>
          <a:p>
            <a:pPr algn="l">
              <a:spcAft>
                <a:spcPts val="700"/>
              </a:spcAft>
            </a:pPr>
            <a:r>
              <a:rPr sz="1050" b="0" i="0">
                <a:solidFill>
                  <a:srgbClr val="E6E5DE"/>
                </a:solidFill>
                <a:latin typeface="Arial"/>
              </a:rPr>
              <a:t>•  AUD 10 billion GRBT project value in Queensland</a:t>
            </a:r>
          </a:p>
        </p:txBody>
      </p:sp>
      <p:sp>
        <p:nvSpPr>
          <p:cNvPr id="26" name="Rectangle 25"/>
          <p:cNvSpPr/>
          <p:nvPr/>
        </p:nvSpPr>
        <p:spPr>
          <a:xfrm>
            <a:off x="7498080" y="3611880"/>
            <a:ext cx="4142232"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0" y="3794760"/>
            <a:ext cx="4142232" cy="1463040"/>
          </a:xfrm>
          <a:prstGeom prst="rect">
            <a:avLst/>
          </a:prstGeom>
          <a:noFill/>
        </p:spPr>
        <p:txBody>
          <a:bodyPr wrap="square" lIns="0" rIns="0" tIns="0" bIns="0">
            <a:noAutofit/>
          </a:bodyPr>
          <a:lstStyle/>
          <a:p>
            <a:pPr algn="l">
              <a:spcAft>
                <a:spcPts val="600"/>
              </a:spcAft>
            </a:pPr>
            <a:r>
              <a:rPr sz="1100" b="0" i="0">
                <a:solidFill>
                  <a:srgbClr val="E6E5DE"/>
                </a:solidFill>
                <a:latin typeface="Arial"/>
              </a:rPr>
              <a:t>Profit-Pulse.com.au</a:t>
            </a:r>
          </a:p>
          <a:p>
            <a:pPr algn="l">
              <a:spcAft>
                <a:spcPts val="600"/>
              </a:spcAft>
            </a:pPr>
            <a:r>
              <a:rPr sz="1100" b="0" i="0">
                <a:solidFill>
                  <a:srgbClr val="01A296"/>
                </a:solidFill>
                <a:latin typeface="Arial"/>
              </a:rPr>
              <a:t>Nitesh@Profit-Pulse.com.au</a:t>
            </a:r>
          </a:p>
          <a:p>
            <a:pPr algn="l">
              <a:spcAft>
                <a:spcPts val="600"/>
              </a:spcAft>
            </a:pPr>
            <a:r>
              <a:rPr sz="1100" b="0" i="0">
                <a:solidFill>
                  <a:srgbClr val="E6E5DE"/>
                </a:solidFill>
                <a:latin typeface="Arial"/>
              </a:rPr>
              <a:t>+61 411 876 267</a:t>
            </a:r>
          </a:p>
          <a:p>
            <a:pPr algn="l">
              <a:spcAft>
                <a:spcPts val="600"/>
              </a:spcAft>
            </a:pPr>
            <a:r>
              <a:rPr sz="950" b="0" i="0">
                <a:solidFill>
                  <a:srgbClr val="E6E5DE"/>
                </a:solidFill>
                <a:latin typeface="Arial"/>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