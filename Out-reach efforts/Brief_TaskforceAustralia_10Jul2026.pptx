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bJe00kc5agKQepG0ZV3ks1x"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Calibri"/>
              </a:rPr>
              <a:t>COMMERCIAL INTELLIGENCE BRIEF</a:t>
            </a:r>
          </a:p>
        </p:txBody>
      </p:sp>
      <p:sp>
        <p:nvSpPr>
          <p:cNvPr id="5" name="TextBox 4"/>
          <p:cNvSpPr txBox="1"/>
          <p:nvPr/>
        </p:nvSpPr>
        <p:spPr>
          <a:xfrm>
            <a:off x="8229600" y="292608"/>
            <a:ext cx="3657600" cy="365760"/>
          </a:xfrm>
          <a:prstGeom prst="rect">
            <a:avLst/>
          </a:prstGeom>
          <a:noFill/>
        </p:spPr>
        <p:txBody>
          <a:bodyPr wrap="square" lIns="0" rIns="0" tIns="0" bIns="0">
            <a:noAutofit/>
          </a:bodyPr>
          <a:lstStyle/>
          <a:p>
            <a:pPr algn="r"/>
            <a:r>
              <a:rPr sz="1200" b="1" i="0">
                <a:solidFill>
                  <a:srgbClr val="FFFFFF"/>
                </a:solidFill>
                <a:latin typeface="Calibri"/>
              </a:rPr>
              <a:t>PROFITPULSE</a:t>
            </a:r>
          </a:p>
        </p:txBody>
      </p:sp>
      <p:sp>
        <p:nvSpPr>
          <p:cNvPr id="6" name="Rectangle 5"/>
          <p:cNvSpPr/>
          <p:nvPr/>
        </p:nvSpPr>
        <p:spPr>
          <a:xfrm>
            <a:off x="320040" y="6446520"/>
            <a:ext cx="11521440" cy="9525"/>
          </a:xfrm>
          <a:prstGeom prst="rect">
            <a:avLst/>
          </a:prstGeom>
          <a:solidFill>
            <a:srgbClr val="01A296"/>
          </a:solidFill>
          <a:ln>
            <a:noFill/>
          </a:ln>
          <a:effectLst/>
        </p:spPr>
        <p:txBody>
          <a:bodyPr rtlCol="0" anchor="ctr"/>
          <a:lstStyle/>
          <a:p>
            <a:pPr algn="ctr"/>
          </a:p>
        </p:txBody>
      </p:sp>
      <p:sp>
        <p:nvSpPr>
          <p:cNvPr id="7" name="TextBox 6"/>
          <p:cNvSpPr txBox="1"/>
          <p:nvPr/>
        </p:nvSpPr>
        <p:spPr>
          <a:xfrm>
            <a:off x="320040" y="6528816"/>
            <a:ext cx="8229600" cy="274320"/>
          </a:xfrm>
          <a:prstGeom prst="rect">
            <a:avLst/>
          </a:prstGeom>
          <a:noFill/>
        </p:spPr>
        <p:txBody>
          <a:bodyPr wrap="square" lIns="0" rIns="0" tIns="0" bIns="0">
            <a:noAutofit/>
          </a:bodyPr>
          <a:lstStyle/>
          <a:p>
            <a:pPr algn="l"/>
            <a:r>
              <a:rPr sz="800" b="0" i="0">
                <a:solidFill>
                  <a:srgbClr val="000000"/>
                </a:solidFill>
                <a:latin typeface="Calibri"/>
              </a:rPr>
              <a:t>Prepared by Nitesh Roopa CA, Managing Partner, ProfitPulse, Profit-Pulse.com.au</a:t>
            </a:r>
          </a:p>
        </p:txBody>
      </p:sp>
      <p:sp>
        <p:nvSpPr>
          <p:cNvPr id="8" name="TextBox 7"/>
          <p:cNvSpPr txBox="1"/>
          <p:nvPr/>
        </p:nvSpPr>
        <p:spPr>
          <a:xfrm>
            <a:off x="8778240" y="6528816"/>
            <a:ext cx="3063240" cy="274320"/>
          </a:xfrm>
          <a:prstGeom prst="rect">
            <a:avLst/>
          </a:prstGeom>
          <a:noFill/>
        </p:spPr>
        <p:txBody>
          <a:bodyPr wrap="square" lIns="0" rIns="0" tIns="0" bIns="0">
            <a:noAutofit/>
          </a:bodyPr>
          <a:lstStyle/>
          <a:p>
            <a:pPr algn="r"/>
            <a:r>
              <a:rPr sz="800" b="0" i="0">
                <a:solidFill>
                  <a:srgbClr val="000000"/>
                </a:solidFill>
                <a:latin typeface="Calibri"/>
              </a:rPr>
              <a:t>10 Jul 2026</a:t>
            </a:r>
          </a:p>
        </p:txBody>
      </p:sp>
      <p:sp>
        <p:nvSpPr>
          <p:cNvPr id="9" name="TextBox 8"/>
          <p:cNvSpPr txBox="1"/>
          <p:nvPr/>
        </p:nvSpPr>
        <p:spPr>
          <a:xfrm>
            <a:off x="320040" y="1097280"/>
            <a:ext cx="8229600" cy="685800"/>
          </a:xfrm>
          <a:prstGeom prst="rect">
            <a:avLst/>
          </a:prstGeom>
          <a:noFill/>
        </p:spPr>
        <p:txBody>
          <a:bodyPr wrap="square" lIns="0" rIns="0" tIns="0" bIns="0">
            <a:noAutofit/>
          </a:bodyPr>
          <a:lstStyle/>
          <a:p>
            <a:pPr algn="l"/>
            <a:r>
              <a:rPr sz="4000" b="1" i="0">
                <a:solidFill>
                  <a:srgbClr val="000000"/>
                </a:solidFill>
                <a:latin typeface="Cambria"/>
              </a:rPr>
              <a:t>Taskforce Australia</a:t>
            </a:r>
          </a:p>
        </p:txBody>
      </p:sp>
      <p:sp>
        <p:nvSpPr>
          <p:cNvPr id="10" name="TextBox 9"/>
          <p:cNvSpPr txBox="1"/>
          <p:nvPr/>
        </p:nvSpPr>
        <p:spPr>
          <a:xfrm>
            <a:off x="320040" y="1783080"/>
            <a:ext cx="11521440" cy="320040"/>
          </a:xfrm>
          <a:prstGeom prst="rect">
            <a:avLst/>
          </a:prstGeom>
          <a:noFill/>
        </p:spPr>
        <p:txBody>
          <a:bodyPr wrap="square" lIns="0" rIns="0" tIns="0" bIns="0">
            <a:noAutofit/>
          </a:bodyPr>
          <a:lstStyle/>
          <a:p>
            <a:pPr algn="l"/>
            <a:r>
              <a:rPr sz="1300" b="0" i="0">
                <a:solidFill>
                  <a:srgbClr val="01A296"/>
                </a:solidFill>
                <a:latin typeface="Calibri"/>
              </a:rPr>
              <a:t>Trade dispatch and property compliance platform, Melbourne VIC</a:t>
            </a:r>
          </a:p>
        </p:txBody>
      </p:sp>
      <p:sp>
        <p:nvSpPr>
          <p:cNvPr id="11" name="Rectangle 10"/>
          <p:cNvSpPr/>
          <p:nvPr/>
        </p:nvSpPr>
        <p:spPr>
          <a:xfrm>
            <a:off x="320040" y="2194560"/>
            <a:ext cx="1810969" cy="1463040"/>
          </a:xfrm>
          <a:prstGeom prst="rect">
            <a:avLst/>
          </a:prstGeom>
          <a:solidFill>
            <a:srgbClr val="000000"/>
          </a:solidFill>
          <a:ln>
            <a:noFill/>
          </a:ln>
          <a:effectLst/>
        </p:spPr>
        <p:txBody>
          <a:bodyPr rtlCol="0" anchor="ctr"/>
          <a:lstStyle/>
          <a:p>
            <a:pPr algn="ctr"/>
          </a:p>
        </p:txBody>
      </p:sp>
      <p:sp>
        <p:nvSpPr>
          <p:cNvPr id="12" name="Rectangle 11"/>
          <p:cNvSpPr/>
          <p:nvPr/>
        </p:nvSpPr>
        <p:spPr>
          <a:xfrm>
            <a:off x="320040" y="2194560"/>
            <a:ext cx="1810969" cy="50800"/>
          </a:xfrm>
          <a:prstGeom prst="rect">
            <a:avLst/>
          </a:prstGeom>
          <a:solidFill>
            <a:srgbClr val="01A296"/>
          </a:solidFill>
          <a:ln>
            <a:noFill/>
          </a:ln>
          <a:effectLst/>
        </p:spPr>
        <p:txBody>
          <a:bodyPr rtlCol="0" anchor="ctr"/>
          <a:lstStyle/>
          <a:p>
            <a:pPr algn="ctr"/>
          </a:p>
        </p:txBody>
      </p:sp>
      <p:sp>
        <p:nvSpPr>
          <p:cNvPr id="13" name="TextBox 12"/>
          <p:cNvSpPr txBox="1"/>
          <p:nvPr/>
        </p:nvSpPr>
        <p:spPr>
          <a:xfrm>
            <a:off x="429768" y="2322576"/>
            <a:ext cx="1591513" cy="457200"/>
          </a:xfrm>
          <a:prstGeom prst="rect">
            <a:avLst/>
          </a:prstGeom>
          <a:noFill/>
        </p:spPr>
        <p:txBody>
          <a:bodyPr wrap="square" lIns="0" rIns="0" tIns="0" bIns="0">
            <a:noAutofit/>
          </a:bodyPr>
          <a:lstStyle/>
          <a:p>
            <a:pPr algn="l"/>
            <a:r>
              <a:rPr sz="2700" b="1" i="0">
                <a:solidFill>
                  <a:srgbClr val="F8C806"/>
                </a:solidFill>
                <a:latin typeface="Cambria"/>
              </a:rPr>
              <a:t>$12.8M</a:t>
            </a:r>
          </a:p>
        </p:txBody>
      </p:sp>
      <p:sp>
        <p:nvSpPr>
          <p:cNvPr id="14" name="TextBox 13"/>
          <p:cNvSpPr txBox="1"/>
          <p:nvPr/>
        </p:nvSpPr>
        <p:spPr>
          <a:xfrm>
            <a:off x="429768" y="2816352"/>
            <a:ext cx="1591513" cy="502920"/>
          </a:xfrm>
          <a:prstGeom prst="rect">
            <a:avLst/>
          </a:prstGeom>
          <a:noFill/>
        </p:spPr>
        <p:txBody>
          <a:bodyPr wrap="square" lIns="0" rIns="0" tIns="0" bIns="0">
            <a:noAutofit/>
          </a:bodyPr>
          <a:lstStyle/>
          <a:p>
            <a:pPr algn="l">
              <a:lnSpc>
                <a:spcPct val="100000"/>
              </a:lnSpc>
            </a:pPr>
            <a:r>
              <a:rPr sz="1050" b="0" i="0">
                <a:solidFill>
                  <a:srgbClr val="E6E5DE"/>
                </a:solidFill>
                <a:latin typeface="Calibri"/>
              </a:rPr>
              <a:t>FY2025 revenue</a:t>
            </a:r>
          </a:p>
        </p:txBody>
      </p:sp>
      <p:sp>
        <p:nvSpPr>
          <p:cNvPr id="15" name="TextBox 14"/>
          <p:cNvSpPr txBox="1"/>
          <p:nvPr/>
        </p:nvSpPr>
        <p:spPr>
          <a:xfrm>
            <a:off x="429768" y="3364992"/>
            <a:ext cx="1591513" cy="256032"/>
          </a:xfrm>
          <a:prstGeom prst="rect">
            <a:avLst/>
          </a:prstGeom>
          <a:noFill/>
        </p:spPr>
        <p:txBody>
          <a:bodyPr wrap="square" lIns="0" rIns="0" tIns="0" bIns="0">
            <a:noAutofit/>
          </a:bodyPr>
          <a:lstStyle/>
          <a:p>
            <a:pPr algn="l"/>
            <a:r>
              <a:rPr sz="750" b="0" i="1">
                <a:solidFill>
                  <a:srgbClr val="E6E5DE"/>
                </a:solidFill>
                <a:latin typeface="Calibri"/>
              </a:rPr>
              <a:t>SmartCompany Smart50 2025</a:t>
            </a:r>
          </a:p>
        </p:txBody>
      </p:sp>
      <p:sp>
        <p:nvSpPr>
          <p:cNvPr id="16" name="Rectangle 15"/>
          <p:cNvSpPr/>
          <p:nvPr/>
        </p:nvSpPr>
        <p:spPr>
          <a:xfrm>
            <a:off x="2268169" y="2194560"/>
            <a:ext cx="1810969" cy="1463040"/>
          </a:xfrm>
          <a:prstGeom prst="rect">
            <a:avLst/>
          </a:prstGeom>
          <a:solidFill>
            <a:srgbClr val="000000"/>
          </a:solidFill>
          <a:ln>
            <a:noFill/>
          </a:ln>
          <a:effectLst/>
        </p:spPr>
        <p:txBody>
          <a:bodyPr rtlCol="0" anchor="ctr"/>
          <a:lstStyle/>
          <a:p>
            <a:pPr algn="ctr"/>
          </a:p>
        </p:txBody>
      </p:sp>
      <p:sp>
        <p:nvSpPr>
          <p:cNvPr id="17" name="Rectangle 16"/>
          <p:cNvSpPr/>
          <p:nvPr/>
        </p:nvSpPr>
        <p:spPr>
          <a:xfrm>
            <a:off x="2268169" y="2194560"/>
            <a:ext cx="1810969" cy="50800"/>
          </a:xfrm>
          <a:prstGeom prst="rect">
            <a:avLst/>
          </a:prstGeom>
          <a:solidFill>
            <a:srgbClr val="01A296"/>
          </a:solidFill>
          <a:ln>
            <a:noFill/>
          </a:ln>
          <a:effectLst/>
        </p:spPr>
        <p:txBody>
          <a:bodyPr rtlCol="0" anchor="ctr"/>
          <a:lstStyle/>
          <a:p>
            <a:pPr algn="ctr"/>
          </a:p>
        </p:txBody>
      </p:sp>
      <p:sp>
        <p:nvSpPr>
          <p:cNvPr id="18" name="TextBox 17"/>
          <p:cNvSpPr txBox="1"/>
          <p:nvPr/>
        </p:nvSpPr>
        <p:spPr>
          <a:xfrm>
            <a:off x="2377897" y="2322576"/>
            <a:ext cx="1591513" cy="457200"/>
          </a:xfrm>
          <a:prstGeom prst="rect">
            <a:avLst/>
          </a:prstGeom>
          <a:noFill/>
        </p:spPr>
        <p:txBody>
          <a:bodyPr wrap="square" lIns="0" rIns="0" tIns="0" bIns="0">
            <a:noAutofit/>
          </a:bodyPr>
          <a:lstStyle/>
          <a:p>
            <a:pPr algn="l"/>
            <a:r>
              <a:rPr sz="2700" b="1" i="0">
                <a:solidFill>
                  <a:srgbClr val="F8C806"/>
                </a:solidFill>
                <a:latin typeface="Cambria"/>
              </a:rPr>
              <a:t>19</a:t>
            </a:r>
          </a:p>
        </p:txBody>
      </p:sp>
      <p:sp>
        <p:nvSpPr>
          <p:cNvPr id="19" name="TextBox 18"/>
          <p:cNvSpPr txBox="1"/>
          <p:nvPr/>
        </p:nvSpPr>
        <p:spPr>
          <a:xfrm>
            <a:off x="2377897" y="2816352"/>
            <a:ext cx="1591513" cy="502920"/>
          </a:xfrm>
          <a:prstGeom prst="rect">
            <a:avLst/>
          </a:prstGeom>
          <a:noFill/>
        </p:spPr>
        <p:txBody>
          <a:bodyPr wrap="square" lIns="0" rIns="0" tIns="0" bIns="0">
            <a:noAutofit/>
          </a:bodyPr>
          <a:lstStyle/>
          <a:p>
            <a:pPr algn="l">
              <a:lnSpc>
                <a:spcPct val="100000"/>
              </a:lnSpc>
            </a:pPr>
            <a:r>
              <a:rPr sz="1050" b="0" i="0">
                <a:solidFill>
                  <a:srgbClr val="E6E5DE"/>
                </a:solidFill>
                <a:latin typeface="Calibri"/>
              </a:rPr>
              <a:t>Team size, FY2025</a:t>
            </a:r>
          </a:p>
        </p:txBody>
      </p:sp>
      <p:sp>
        <p:nvSpPr>
          <p:cNvPr id="20" name="TextBox 19"/>
          <p:cNvSpPr txBox="1"/>
          <p:nvPr/>
        </p:nvSpPr>
        <p:spPr>
          <a:xfrm>
            <a:off x="2377897" y="3364992"/>
            <a:ext cx="1591513" cy="256032"/>
          </a:xfrm>
          <a:prstGeom prst="rect">
            <a:avLst/>
          </a:prstGeom>
          <a:noFill/>
        </p:spPr>
        <p:txBody>
          <a:bodyPr wrap="square" lIns="0" rIns="0" tIns="0" bIns="0">
            <a:noAutofit/>
          </a:bodyPr>
          <a:lstStyle/>
          <a:p>
            <a:pPr algn="l"/>
            <a:r>
              <a:rPr sz="750" b="0" i="1">
                <a:solidFill>
                  <a:srgbClr val="E6E5DE"/>
                </a:solidFill>
                <a:latin typeface="Calibri"/>
              </a:rPr>
              <a:t>SmartCompany Smart50 2025</a:t>
            </a:r>
          </a:p>
        </p:txBody>
      </p:sp>
      <p:sp>
        <p:nvSpPr>
          <p:cNvPr id="21" name="Rectangle 20"/>
          <p:cNvSpPr/>
          <p:nvPr/>
        </p:nvSpPr>
        <p:spPr>
          <a:xfrm>
            <a:off x="4216298" y="2194560"/>
            <a:ext cx="1810969" cy="1463040"/>
          </a:xfrm>
          <a:prstGeom prst="rect">
            <a:avLst/>
          </a:prstGeom>
          <a:solidFill>
            <a:srgbClr val="000000"/>
          </a:solidFill>
          <a:ln>
            <a:noFill/>
          </a:ln>
          <a:effectLst/>
        </p:spPr>
        <p:txBody>
          <a:bodyPr rtlCol="0" anchor="ctr"/>
          <a:lstStyle/>
          <a:p>
            <a:pPr algn="ctr"/>
          </a:p>
        </p:txBody>
      </p:sp>
      <p:sp>
        <p:nvSpPr>
          <p:cNvPr id="22" name="Rectangle 21"/>
          <p:cNvSpPr/>
          <p:nvPr/>
        </p:nvSpPr>
        <p:spPr>
          <a:xfrm>
            <a:off x="4216298" y="2194560"/>
            <a:ext cx="1810969" cy="50800"/>
          </a:xfrm>
          <a:prstGeom prst="rect">
            <a:avLst/>
          </a:prstGeom>
          <a:solidFill>
            <a:srgbClr val="01A296"/>
          </a:solidFill>
          <a:ln>
            <a:noFill/>
          </a:ln>
          <a:effectLst/>
        </p:spPr>
        <p:txBody>
          <a:bodyPr rtlCol="0" anchor="ctr"/>
          <a:lstStyle/>
          <a:p>
            <a:pPr algn="ctr"/>
          </a:p>
        </p:txBody>
      </p:sp>
      <p:sp>
        <p:nvSpPr>
          <p:cNvPr id="23" name="TextBox 22"/>
          <p:cNvSpPr txBox="1"/>
          <p:nvPr/>
        </p:nvSpPr>
        <p:spPr>
          <a:xfrm>
            <a:off x="4326026" y="2322576"/>
            <a:ext cx="1591513" cy="457200"/>
          </a:xfrm>
          <a:prstGeom prst="rect">
            <a:avLst/>
          </a:prstGeom>
          <a:noFill/>
        </p:spPr>
        <p:txBody>
          <a:bodyPr wrap="square" lIns="0" rIns="0" tIns="0" bIns="0">
            <a:noAutofit/>
          </a:bodyPr>
          <a:lstStyle/>
          <a:p>
            <a:pPr algn="l"/>
            <a:r>
              <a:rPr sz="2700" b="1" i="0">
                <a:solidFill>
                  <a:srgbClr val="F8C806"/>
                </a:solidFill>
                <a:latin typeface="Cambria"/>
              </a:rPr>
              <a:t>2014</a:t>
            </a:r>
          </a:p>
        </p:txBody>
      </p:sp>
      <p:sp>
        <p:nvSpPr>
          <p:cNvPr id="24" name="TextBox 23"/>
          <p:cNvSpPr txBox="1"/>
          <p:nvPr/>
        </p:nvSpPr>
        <p:spPr>
          <a:xfrm>
            <a:off x="4326026" y="2816352"/>
            <a:ext cx="1591513" cy="502920"/>
          </a:xfrm>
          <a:prstGeom prst="rect">
            <a:avLst/>
          </a:prstGeom>
          <a:noFill/>
        </p:spPr>
        <p:txBody>
          <a:bodyPr wrap="square" lIns="0" rIns="0" tIns="0" bIns="0">
            <a:noAutofit/>
          </a:bodyPr>
          <a:lstStyle/>
          <a:p>
            <a:pPr algn="l">
              <a:lnSpc>
                <a:spcPct val="100000"/>
              </a:lnSpc>
            </a:pPr>
            <a:r>
              <a:rPr sz="1050" b="0" i="0">
                <a:solidFill>
                  <a:srgbClr val="E6E5DE"/>
                </a:solidFill>
                <a:latin typeface="Calibri"/>
              </a:rPr>
              <a:t>Founded by Jason Bright</a:t>
            </a:r>
          </a:p>
        </p:txBody>
      </p:sp>
      <p:sp>
        <p:nvSpPr>
          <p:cNvPr id="25" name="TextBox 24"/>
          <p:cNvSpPr txBox="1"/>
          <p:nvPr/>
        </p:nvSpPr>
        <p:spPr>
          <a:xfrm>
            <a:off x="4326026" y="3364992"/>
            <a:ext cx="1591513" cy="256032"/>
          </a:xfrm>
          <a:prstGeom prst="rect">
            <a:avLst/>
          </a:prstGeom>
          <a:noFill/>
        </p:spPr>
        <p:txBody>
          <a:bodyPr wrap="square" lIns="0" rIns="0" tIns="0" bIns="0">
            <a:noAutofit/>
          </a:bodyPr>
          <a:lstStyle/>
          <a:p>
            <a:pPr algn="l"/>
            <a:r>
              <a:rPr sz="750" b="0" i="1">
                <a:solidFill>
                  <a:srgbClr val="E6E5DE"/>
                </a:solidFill>
                <a:latin typeface="Calibri"/>
              </a:rPr>
              <a:t>Taskforce, ProptechAU site</a:t>
            </a:r>
          </a:p>
        </p:txBody>
      </p:sp>
      <p:sp>
        <p:nvSpPr>
          <p:cNvPr id="26" name="Rectangle 25"/>
          <p:cNvSpPr/>
          <p:nvPr/>
        </p:nvSpPr>
        <p:spPr>
          <a:xfrm>
            <a:off x="6164427" y="2194560"/>
            <a:ext cx="1810969" cy="1463040"/>
          </a:xfrm>
          <a:prstGeom prst="rect">
            <a:avLst/>
          </a:prstGeom>
          <a:solidFill>
            <a:srgbClr val="000000"/>
          </a:solidFill>
          <a:ln>
            <a:noFill/>
          </a:ln>
          <a:effectLst/>
        </p:spPr>
        <p:txBody>
          <a:bodyPr rtlCol="0" anchor="ctr"/>
          <a:lstStyle/>
          <a:p>
            <a:pPr algn="ctr"/>
          </a:p>
        </p:txBody>
      </p:sp>
      <p:sp>
        <p:nvSpPr>
          <p:cNvPr id="27" name="Rectangle 26"/>
          <p:cNvSpPr/>
          <p:nvPr/>
        </p:nvSpPr>
        <p:spPr>
          <a:xfrm>
            <a:off x="6164427" y="2194560"/>
            <a:ext cx="1810969" cy="50800"/>
          </a:xfrm>
          <a:prstGeom prst="rect">
            <a:avLst/>
          </a:prstGeom>
          <a:solidFill>
            <a:srgbClr val="01A296"/>
          </a:solidFill>
          <a:ln>
            <a:noFill/>
          </a:ln>
          <a:effectLst/>
        </p:spPr>
        <p:txBody>
          <a:bodyPr rtlCol="0" anchor="ctr"/>
          <a:lstStyle/>
          <a:p>
            <a:pPr algn="ctr"/>
          </a:p>
        </p:txBody>
      </p:sp>
      <p:sp>
        <p:nvSpPr>
          <p:cNvPr id="28" name="TextBox 27"/>
          <p:cNvSpPr txBox="1"/>
          <p:nvPr/>
        </p:nvSpPr>
        <p:spPr>
          <a:xfrm>
            <a:off x="6274155" y="2322576"/>
            <a:ext cx="1591513" cy="457200"/>
          </a:xfrm>
          <a:prstGeom prst="rect">
            <a:avLst/>
          </a:prstGeom>
          <a:noFill/>
        </p:spPr>
        <p:txBody>
          <a:bodyPr wrap="square" lIns="0" rIns="0" tIns="0" bIns="0">
            <a:noAutofit/>
          </a:bodyPr>
          <a:lstStyle/>
          <a:p>
            <a:pPr algn="l"/>
            <a:r>
              <a:rPr sz="2700" b="1" i="0">
                <a:solidFill>
                  <a:srgbClr val="F8C806"/>
                </a:solidFill>
                <a:latin typeface="Cambria"/>
              </a:rPr>
              <a:t>37th</a:t>
            </a:r>
          </a:p>
        </p:txBody>
      </p:sp>
      <p:sp>
        <p:nvSpPr>
          <p:cNvPr id="29" name="TextBox 28"/>
          <p:cNvSpPr txBox="1"/>
          <p:nvPr/>
        </p:nvSpPr>
        <p:spPr>
          <a:xfrm>
            <a:off x="6274155" y="2816352"/>
            <a:ext cx="1591513" cy="502920"/>
          </a:xfrm>
          <a:prstGeom prst="rect">
            <a:avLst/>
          </a:prstGeom>
          <a:noFill/>
        </p:spPr>
        <p:txBody>
          <a:bodyPr wrap="square" lIns="0" rIns="0" tIns="0" bIns="0">
            <a:noAutofit/>
          </a:bodyPr>
          <a:lstStyle/>
          <a:p>
            <a:pPr algn="l">
              <a:lnSpc>
                <a:spcPct val="100000"/>
              </a:lnSpc>
            </a:pPr>
            <a:r>
              <a:rPr sz="1050" b="0" i="0">
                <a:solidFill>
                  <a:srgbClr val="E6E5DE"/>
                </a:solidFill>
                <a:latin typeface="Calibri"/>
              </a:rPr>
              <a:t>Smart50 2025 national rank</a:t>
            </a:r>
          </a:p>
        </p:txBody>
      </p:sp>
      <p:sp>
        <p:nvSpPr>
          <p:cNvPr id="30" name="TextBox 29"/>
          <p:cNvSpPr txBox="1"/>
          <p:nvPr/>
        </p:nvSpPr>
        <p:spPr>
          <a:xfrm>
            <a:off x="6274155" y="3364992"/>
            <a:ext cx="1591513" cy="256032"/>
          </a:xfrm>
          <a:prstGeom prst="rect">
            <a:avLst/>
          </a:prstGeom>
          <a:noFill/>
        </p:spPr>
        <p:txBody>
          <a:bodyPr wrap="square" lIns="0" rIns="0" tIns="0" bIns="0">
            <a:noAutofit/>
          </a:bodyPr>
          <a:lstStyle/>
          <a:p>
            <a:pPr algn="l"/>
            <a:r>
              <a:rPr sz="750" b="0" i="1">
                <a:solidFill>
                  <a:srgbClr val="E6E5DE"/>
                </a:solidFill>
                <a:latin typeface="Calibri"/>
              </a:rPr>
              <a:t>SmartCompany, Nov 2025</a:t>
            </a:r>
          </a:p>
        </p:txBody>
      </p:sp>
      <p:sp>
        <p:nvSpPr>
          <p:cNvPr id="31" name="Rectangle 30"/>
          <p:cNvSpPr/>
          <p:nvPr/>
        </p:nvSpPr>
        <p:spPr>
          <a:xfrm>
            <a:off x="8112556" y="2194560"/>
            <a:ext cx="1810969" cy="1463040"/>
          </a:xfrm>
          <a:prstGeom prst="rect">
            <a:avLst/>
          </a:prstGeom>
          <a:solidFill>
            <a:srgbClr val="000000"/>
          </a:solidFill>
          <a:ln>
            <a:noFill/>
          </a:ln>
          <a:effectLst/>
        </p:spPr>
        <p:txBody>
          <a:bodyPr rtlCol="0" anchor="ctr"/>
          <a:lstStyle/>
          <a:p>
            <a:pPr algn="ctr"/>
          </a:p>
        </p:txBody>
      </p:sp>
      <p:sp>
        <p:nvSpPr>
          <p:cNvPr id="32" name="Rectangle 31"/>
          <p:cNvSpPr/>
          <p:nvPr/>
        </p:nvSpPr>
        <p:spPr>
          <a:xfrm>
            <a:off x="8112556" y="2194560"/>
            <a:ext cx="1810969" cy="50800"/>
          </a:xfrm>
          <a:prstGeom prst="rect">
            <a:avLst/>
          </a:prstGeom>
          <a:solidFill>
            <a:srgbClr val="01A296"/>
          </a:solidFill>
          <a:ln>
            <a:noFill/>
          </a:ln>
          <a:effectLst/>
        </p:spPr>
        <p:txBody>
          <a:bodyPr rtlCol="0" anchor="ctr"/>
          <a:lstStyle/>
          <a:p>
            <a:pPr algn="ctr"/>
          </a:p>
        </p:txBody>
      </p:sp>
      <p:sp>
        <p:nvSpPr>
          <p:cNvPr id="33" name="TextBox 32"/>
          <p:cNvSpPr txBox="1"/>
          <p:nvPr/>
        </p:nvSpPr>
        <p:spPr>
          <a:xfrm>
            <a:off x="8222284" y="2322576"/>
            <a:ext cx="1591513" cy="457200"/>
          </a:xfrm>
          <a:prstGeom prst="rect">
            <a:avLst/>
          </a:prstGeom>
          <a:noFill/>
        </p:spPr>
        <p:txBody>
          <a:bodyPr wrap="square" lIns="0" rIns="0" tIns="0" bIns="0">
            <a:noAutofit/>
          </a:bodyPr>
          <a:lstStyle/>
          <a:p>
            <a:pPr algn="l"/>
            <a:r>
              <a:rPr sz="2700" b="1" i="0">
                <a:solidFill>
                  <a:srgbClr val="F8C806"/>
                </a:solidFill>
                <a:latin typeface="Cambria"/>
              </a:rPr>
              <a:t>5,000+</a:t>
            </a:r>
          </a:p>
        </p:txBody>
      </p:sp>
      <p:sp>
        <p:nvSpPr>
          <p:cNvPr id="34" name="TextBox 33"/>
          <p:cNvSpPr txBox="1"/>
          <p:nvPr/>
        </p:nvSpPr>
        <p:spPr>
          <a:xfrm>
            <a:off x="8222284" y="2816352"/>
            <a:ext cx="1591513" cy="502920"/>
          </a:xfrm>
          <a:prstGeom prst="rect">
            <a:avLst/>
          </a:prstGeom>
          <a:noFill/>
        </p:spPr>
        <p:txBody>
          <a:bodyPr wrap="square" lIns="0" rIns="0" tIns="0" bIns="0">
            <a:noAutofit/>
          </a:bodyPr>
          <a:lstStyle/>
          <a:p>
            <a:pPr algn="l">
              <a:lnSpc>
                <a:spcPct val="100000"/>
              </a:lnSpc>
            </a:pPr>
            <a:r>
              <a:rPr sz="1050" b="0" i="0">
                <a:solidFill>
                  <a:srgbClr val="E6E5DE"/>
                </a:solidFill>
                <a:latin typeface="Calibri"/>
              </a:rPr>
              <a:t>Tradespeople nationally</a:t>
            </a:r>
          </a:p>
        </p:txBody>
      </p:sp>
      <p:sp>
        <p:nvSpPr>
          <p:cNvPr id="35" name="TextBox 34"/>
          <p:cNvSpPr txBox="1"/>
          <p:nvPr/>
        </p:nvSpPr>
        <p:spPr>
          <a:xfrm>
            <a:off x="8222284" y="3364992"/>
            <a:ext cx="1591513" cy="256032"/>
          </a:xfrm>
          <a:prstGeom prst="rect">
            <a:avLst/>
          </a:prstGeom>
          <a:noFill/>
        </p:spPr>
        <p:txBody>
          <a:bodyPr wrap="square" lIns="0" rIns="0" tIns="0" bIns="0">
            <a:noAutofit/>
          </a:bodyPr>
          <a:lstStyle/>
          <a:p>
            <a:pPr algn="l"/>
            <a:r>
              <a:rPr sz="750" b="0" i="1">
                <a:solidFill>
                  <a:srgbClr val="E6E5DE"/>
                </a:solidFill>
                <a:latin typeface="Calibri"/>
              </a:rPr>
              <a:t>ProptechAustralia profile</a:t>
            </a:r>
          </a:p>
        </p:txBody>
      </p:sp>
      <p:sp>
        <p:nvSpPr>
          <p:cNvPr id="36" name="Rectangle 35"/>
          <p:cNvSpPr/>
          <p:nvPr/>
        </p:nvSpPr>
        <p:spPr>
          <a:xfrm>
            <a:off x="10060685" y="2194560"/>
            <a:ext cx="1810969" cy="1463040"/>
          </a:xfrm>
          <a:prstGeom prst="rect">
            <a:avLst/>
          </a:prstGeom>
          <a:solidFill>
            <a:srgbClr val="000000"/>
          </a:solidFill>
          <a:ln>
            <a:noFill/>
          </a:ln>
          <a:effectLst/>
        </p:spPr>
        <p:txBody>
          <a:bodyPr rtlCol="0" anchor="ctr"/>
          <a:lstStyle/>
          <a:p>
            <a:pPr algn="ctr"/>
          </a:p>
        </p:txBody>
      </p:sp>
      <p:sp>
        <p:nvSpPr>
          <p:cNvPr id="37" name="Rectangle 36"/>
          <p:cNvSpPr/>
          <p:nvPr/>
        </p:nvSpPr>
        <p:spPr>
          <a:xfrm>
            <a:off x="10060685" y="2194560"/>
            <a:ext cx="1810969" cy="50800"/>
          </a:xfrm>
          <a:prstGeom prst="rect">
            <a:avLst/>
          </a:prstGeom>
          <a:solidFill>
            <a:srgbClr val="01A296"/>
          </a:solidFill>
          <a:ln>
            <a:noFill/>
          </a:ln>
          <a:effectLst/>
        </p:spPr>
        <p:txBody>
          <a:bodyPr rtlCol="0" anchor="ctr"/>
          <a:lstStyle/>
          <a:p>
            <a:pPr algn="ctr"/>
          </a:p>
        </p:txBody>
      </p:sp>
      <p:sp>
        <p:nvSpPr>
          <p:cNvPr id="38" name="TextBox 37"/>
          <p:cNvSpPr txBox="1"/>
          <p:nvPr/>
        </p:nvSpPr>
        <p:spPr>
          <a:xfrm>
            <a:off x="10170413" y="2322576"/>
            <a:ext cx="1591513" cy="457200"/>
          </a:xfrm>
          <a:prstGeom prst="rect">
            <a:avLst/>
          </a:prstGeom>
          <a:noFill/>
        </p:spPr>
        <p:txBody>
          <a:bodyPr wrap="square" lIns="0" rIns="0" tIns="0" bIns="0">
            <a:noAutofit/>
          </a:bodyPr>
          <a:lstStyle/>
          <a:p>
            <a:pPr algn="l"/>
            <a:r>
              <a:rPr sz="2700" b="1" i="0">
                <a:solidFill>
                  <a:srgbClr val="F8C806"/>
                </a:solidFill>
                <a:latin typeface="Cambria"/>
              </a:rPr>
              <a:t>$1.5M</a:t>
            </a:r>
          </a:p>
        </p:txBody>
      </p:sp>
      <p:sp>
        <p:nvSpPr>
          <p:cNvPr id="39" name="TextBox 38"/>
          <p:cNvSpPr txBox="1"/>
          <p:nvPr/>
        </p:nvSpPr>
        <p:spPr>
          <a:xfrm>
            <a:off x="10170413" y="2816352"/>
            <a:ext cx="1591513" cy="502920"/>
          </a:xfrm>
          <a:prstGeom prst="rect">
            <a:avLst/>
          </a:prstGeom>
          <a:noFill/>
        </p:spPr>
        <p:txBody>
          <a:bodyPr wrap="square" lIns="0" rIns="0" tIns="0" bIns="0">
            <a:noAutofit/>
          </a:bodyPr>
          <a:lstStyle/>
          <a:p>
            <a:pPr algn="l">
              <a:lnSpc>
                <a:spcPct val="100000"/>
              </a:lnSpc>
            </a:pPr>
            <a:r>
              <a:rPr sz="1050" b="0" i="0">
                <a:solidFill>
                  <a:srgbClr val="E6E5DE"/>
                </a:solidFill>
                <a:latin typeface="Calibri"/>
              </a:rPr>
              <a:t>Funding raised, 2019</a:t>
            </a:r>
          </a:p>
        </p:txBody>
      </p:sp>
      <p:sp>
        <p:nvSpPr>
          <p:cNvPr id="40" name="TextBox 39"/>
          <p:cNvSpPr txBox="1"/>
          <p:nvPr/>
        </p:nvSpPr>
        <p:spPr>
          <a:xfrm>
            <a:off x="10170413" y="3364992"/>
            <a:ext cx="1591513" cy="256032"/>
          </a:xfrm>
          <a:prstGeom prst="rect">
            <a:avLst/>
          </a:prstGeom>
          <a:noFill/>
        </p:spPr>
        <p:txBody>
          <a:bodyPr wrap="square" lIns="0" rIns="0" tIns="0" bIns="0">
            <a:noAutofit/>
          </a:bodyPr>
          <a:lstStyle/>
          <a:p>
            <a:pPr algn="l"/>
            <a:r>
              <a:rPr sz="750" b="0" i="1">
                <a:solidFill>
                  <a:srgbClr val="E6E5DE"/>
                </a:solidFill>
                <a:latin typeface="Calibri"/>
              </a:rPr>
              <a:t>SmartCompany, StartupSmart</a:t>
            </a:r>
          </a:p>
        </p:txBody>
      </p:sp>
      <p:sp>
        <p:nvSpPr>
          <p:cNvPr id="41" name="TextBox 40"/>
          <p:cNvSpPr txBox="1"/>
          <p:nvPr/>
        </p:nvSpPr>
        <p:spPr>
          <a:xfrm>
            <a:off x="320040" y="3913632"/>
            <a:ext cx="5486400" cy="274320"/>
          </a:xfrm>
          <a:prstGeom prst="rect">
            <a:avLst/>
          </a:prstGeom>
          <a:noFill/>
        </p:spPr>
        <p:txBody>
          <a:bodyPr wrap="square" lIns="0" rIns="0" tIns="0" bIns="0">
            <a:noAutofit/>
          </a:bodyPr>
          <a:lstStyle/>
          <a:p>
            <a:pPr algn="l"/>
            <a:r>
              <a:rPr sz="1200" b="1" i="0">
                <a:solidFill>
                  <a:srgbClr val="01A296"/>
                </a:solidFill>
                <a:latin typeface="Calibri"/>
              </a:rPr>
              <a:t>KEY COMMERCIAL SIGNALS</a:t>
            </a:r>
          </a:p>
        </p:txBody>
      </p:sp>
      <p:sp>
        <p:nvSpPr>
          <p:cNvPr id="42" name="TextBox 41"/>
          <p:cNvSpPr txBox="1"/>
          <p:nvPr/>
        </p:nvSpPr>
        <p:spPr>
          <a:xfrm>
            <a:off x="320040" y="4279392"/>
            <a:ext cx="11521440" cy="1965960"/>
          </a:xfrm>
          <a:prstGeom prst="rect">
            <a:avLst/>
          </a:prstGeom>
          <a:noFill/>
        </p:spPr>
        <p:txBody>
          <a:bodyPr wrap="square" lIns="0" rIns="0" tIns="0" bIns="0">
            <a:noAutofit/>
          </a:bodyPr>
          <a:lstStyle/>
          <a:p>
            <a:pPr algn="l">
              <a:lnSpc>
                <a:spcPct val="105000"/>
              </a:lnSpc>
              <a:spcAft>
                <a:spcPts val="600"/>
              </a:spcAft>
            </a:pPr>
            <a:r>
              <a:rPr sz="1150" b="0" i="0">
                <a:solidFill>
                  <a:srgbClr val="000000"/>
                </a:solidFill>
                <a:latin typeface="Calibri"/>
              </a:rPr>
              <a:t>•  Revenue grew from 7.43 million to 9.7 million to 12.8 million across FY2023 to FY2025, per SmartCompany Smart50 citations.</a:t>
            </a:r>
          </a:p>
          <a:p>
            <a:pPr algn="l">
              <a:lnSpc>
                <a:spcPct val="105000"/>
              </a:lnSpc>
              <a:spcAft>
                <a:spcPts val="600"/>
              </a:spcAft>
            </a:pPr>
            <a:r>
              <a:rPr sz="1150" b="0" i="0">
                <a:solidFill>
                  <a:srgbClr val="000000"/>
                </a:solidFill>
                <a:latin typeface="Calibri"/>
              </a:rPr>
              <a:t>•  Telstra Best of Business Awards 2024, Victorian State Winner in the Outstanding Growth category, telstra.com.au alumni page.</a:t>
            </a:r>
          </a:p>
          <a:p>
            <a:pPr algn="l">
              <a:lnSpc>
                <a:spcPct val="105000"/>
              </a:lnSpc>
              <a:spcAft>
                <a:spcPts val="600"/>
              </a:spcAft>
            </a:pPr>
            <a:r>
              <a:rPr sz="1150" b="0" i="0">
                <a:solidFill>
                  <a:srgbClr val="000000"/>
                </a:solidFill>
                <a:latin typeface="Calibri"/>
              </a:rPr>
              <a:t>•  Coordinates over 5,000 licensed tradespeople across more than 140,000 jobs a year, ProptechAustralia member profile.</a:t>
            </a:r>
          </a:p>
          <a:p>
            <a:pPr algn="l">
              <a:lnSpc>
                <a:spcPct val="105000"/>
              </a:lnSpc>
              <a:spcAft>
                <a:spcPts val="600"/>
              </a:spcAft>
            </a:pPr>
            <a:r>
              <a:rPr sz="1150" b="0" i="0">
                <a:solidFill>
                  <a:srgbClr val="000000"/>
                </a:solidFill>
                <a:latin typeface="Calibri"/>
              </a:rPr>
              <a:t>•  Serves 300 plus real estate offices, 180 plus real estate brands, and 20 major consumer brands nationally.</a:t>
            </a:r>
          </a:p>
          <a:p>
            <a:pPr algn="l">
              <a:lnSpc>
                <a:spcPct val="105000"/>
              </a:lnSpc>
              <a:spcAft>
                <a:spcPts val="600"/>
              </a:spcAft>
            </a:pPr>
            <a:r>
              <a:rPr sz="1150" b="0" i="0">
                <a:solidFill>
                  <a:srgbClr val="000000"/>
                </a:solidFill>
                <a:latin typeface="Calibri"/>
              </a:rPr>
              <a:t>•  Launched RentRepair, a subscription maintenance product from 59 dollars a month, per Taskforce's own published material.</a:t>
            </a:r>
          </a:p>
          <a:p>
            <a:pPr algn="l">
              <a:lnSpc>
                <a:spcPct val="105000"/>
              </a:lnSpc>
              <a:spcAft>
                <a:spcPts val="600"/>
              </a:spcAft>
            </a:pPr>
            <a:r>
              <a:rPr sz="1150" b="0" i="0">
                <a:solidFill>
                  <a:srgbClr val="000000"/>
                </a:solidFill>
                <a:latin typeface="Calibri"/>
              </a:rPr>
              <a:t>•  Team held near flat at 19 to 20 people across the Smart50 2024 and 2025 profiles while revenue nearly doubled.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Calibri"/>
              </a:rPr>
              <a:t>THE OPPORTUNITY</a:t>
            </a:r>
          </a:p>
        </p:txBody>
      </p:sp>
      <p:sp>
        <p:nvSpPr>
          <p:cNvPr id="5" name="TextBox 4"/>
          <p:cNvSpPr txBox="1"/>
          <p:nvPr/>
        </p:nvSpPr>
        <p:spPr>
          <a:xfrm>
            <a:off x="8229600" y="292608"/>
            <a:ext cx="3657600" cy="365760"/>
          </a:xfrm>
          <a:prstGeom prst="rect">
            <a:avLst/>
          </a:prstGeom>
          <a:noFill/>
        </p:spPr>
        <p:txBody>
          <a:bodyPr wrap="square" lIns="0" rIns="0" tIns="0" bIns="0">
            <a:noAutofit/>
          </a:bodyPr>
          <a:lstStyle/>
          <a:p>
            <a:pPr algn="r"/>
            <a:r>
              <a:rPr sz="1200" b="1" i="0">
                <a:solidFill>
                  <a:srgbClr val="FFFFFF"/>
                </a:solidFill>
                <a:latin typeface="Calibri"/>
              </a:rPr>
              <a:t>Taskforce Australia</a:t>
            </a:r>
          </a:p>
        </p:txBody>
      </p:sp>
      <p:sp>
        <p:nvSpPr>
          <p:cNvPr id="6" name="Rectangle 5"/>
          <p:cNvSpPr/>
          <p:nvPr/>
        </p:nvSpPr>
        <p:spPr>
          <a:xfrm>
            <a:off x="320040" y="6446520"/>
            <a:ext cx="11521440" cy="9525"/>
          </a:xfrm>
          <a:prstGeom prst="rect">
            <a:avLst/>
          </a:prstGeom>
          <a:solidFill>
            <a:srgbClr val="01A296"/>
          </a:solidFill>
          <a:ln>
            <a:noFill/>
          </a:ln>
          <a:effectLst/>
        </p:spPr>
        <p:txBody>
          <a:bodyPr rtlCol="0" anchor="ctr"/>
          <a:lstStyle/>
          <a:p>
            <a:pPr algn="ctr"/>
          </a:p>
        </p:txBody>
      </p:sp>
      <p:sp>
        <p:nvSpPr>
          <p:cNvPr id="7" name="TextBox 6"/>
          <p:cNvSpPr txBox="1"/>
          <p:nvPr/>
        </p:nvSpPr>
        <p:spPr>
          <a:xfrm>
            <a:off x="320040" y="6528816"/>
            <a:ext cx="8229600" cy="274320"/>
          </a:xfrm>
          <a:prstGeom prst="rect">
            <a:avLst/>
          </a:prstGeom>
          <a:noFill/>
        </p:spPr>
        <p:txBody>
          <a:bodyPr wrap="square" lIns="0" rIns="0" tIns="0" bIns="0">
            <a:noAutofit/>
          </a:bodyPr>
          <a:lstStyle/>
          <a:p>
            <a:pPr algn="l"/>
            <a:r>
              <a:rPr sz="800" b="0" i="0">
                <a:solidFill>
                  <a:srgbClr val="000000"/>
                </a:solidFill>
                <a:latin typeface="Calibri"/>
              </a:rPr>
              <a:t>Prepared by Nitesh Roopa CA, Managing Partner, ProfitPulse, Profit-Pulse.com.au</a:t>
            </a:r>
          </a:p>
        </p:txBody>
      </p:sp>
      <p:sp>
        <p:nvSpPr>
          <p:cNvPr id="8" name="TextBox 7"/>
          <p:cNvSpPr txBox="1"/>
          <p:nvPr/>
        </p:nvSpPr>
        <p:spPr>
          <a:xfrm>
            <a:off x="8778240" y="6528816"/>
            <a:ext cx="3063240" cy="274320"/>
          </a:xfrm>
          <a:prstGeom prst="rect">
            <a:avLst/>
          </a:prstGeom>
          <a:noFill/>
        </p:spPr>
        <p:txBody>
          <a:bodyPr wrap="square" lIns="0" rIns="0" tIns="0" bIns="0">
            <a:noAutofit/>
          </a:bodyPr>
          <a:lstStyle/>
          <a:p>
            <a:pPr algn="r"/>
            <a:r>
              <a:rPr sz="800" b="0" i="0">
                <a:solidFill>
                  <a:srgbClr val="000000"/>
                </a:solidFill>
                <a:latin typeface="Calibri"/>
              </a:rPr>
              <a:t>10 Jul 2026</a:t>
            </a:r>
          </a:p>
        </p:txBody>
      </p:sp>
      <p:sp>
        <p:nvSpPr>
          <p:cNvPr id="9" name="TextBox 8"/>
          <p:cNvSpPr txBox="1"/>
          <p:nvPr/>
        </p:nvSpPr>
        <p:spPr>
          <a:xfrm>
            <a:off x="320040" y="932688"/>
            <a:ext cx="8229600" cy="274320"/>
          </a:xfrm>
          <a:prstGeom prst="rect">
            <a:avLst/>
          </a:prstGeom>
          <a:noFill/>
        </p:spPr>
        <p:txBody>
          <a:bodyPr wrap="square" lIns="0" rIns="0" tIns="0" bIns="0">
            <a:noAutofit/>
          </a:bodyPr>
          <a:lstStyle/>
          <a:p>
            <a:pPr algn="l"/>
            <a:r>
              <a:rPr sz="1200" b="0" i="1">
                <a:solidFill>
                  <a:srgbClr val="000000"/>
                </a:solidFill>
                <a:latin typeface="Calibri"/>
              </a:rPr>
              <a:t>Three commercial observations from ProfitPulse</a:t>
            </a:r>
          </a:p>
        </p:txBody>
      </p:sp>
      <p:sp>
        <p:nvSpPr>
          <p:cNvPr id="10" name="Rectangle 9"/>
          <p:cNvSpPr/>
          <p:nvPr/>
        </p:nvSpPr>
        <p:spPr>
          <a:xfrm>
            <a:off x="320040" y="1298448"/>
            <a:ext cx="3777386" cy="4526280"/>
          </a:xfrm>
          <a:prstGeom prst="rect">
            <a:avLst/>
          </a:prstGeom>
          <a:solidFill>
            <a:srgbClr val="01A296"/>
          </a:solidFill>
          <a:ln>
            <a:noFill/>
          </a:ln>
          <a:effectLst/>
        </p:spPr>
        <p:txBody>
          <a:bodyPr rtlCol="0" anchor="ctr"/>
          <a:lstStyle/>
          <a:p>
            <a:pPr algn="ctr"/>
          </a:p>
        </p:txBody>
      </p:sp>
      <p:sp>
        <p:nvSpPr>
          <p:cNvPr id="11" name="TextBox 10"/>
          <p:cNvSpPr txBox="1"/>
          <p:nvPr/>
        </p:nvSpPr>
        <p:spPr>
          <a:xfrm>
            <a:off x="502920" y="1463040"/>
            <a:ext cx="3411626" cy="640080"/>
          </a:xfrm>
          <a:prstGeom prst="rect">
            <a:avLst/>
          </a:prstGeom>
          <a:noFill/>
        </p:spPr>
        <p:txBody>
          <a:bodyPr wrap="square" lIns="0" rIns="0" tIns="0" bIns="0">
            <a:noAutofit/>
          </a:bodyPr>
          <a:lstStyle/>
          <a:p>
            <a:pPr algn="l"/>
            <a:r>
              <a:rPr sz="3400" b="1" i="0">
                <a:solidFill>
                  <a:srgbClr val="FFFFFF"/>
                </a:solidFill>
                <a:latin typeface="Cambria"/>
              </a:rPr>
              <a:t>01</a:t>
            </a:r>
          </a:p>
        </p:txBody>
      </p:sp>
      <p:sp>
        <p:nvSpPr>
          <p:cNvPr id="12" name="TextBox 11"/>
          <p:cNvSpPr txBox="1"/>
          <p:nvPr/>
        </p:nvSpPr>
        <p:spPr>
          <a:xfrm>
            <a:off x="502920" y="2167128"/>
            <a:ext cx="3411626" cy="685800"/>
          </a:xfrm>
          <a:prstGeom prst="rect">
            <a:avLst/>
          </a:prstGeom>
          <a:noFill/>
        </p:spPr>
        <p:txBody>
          <a:bodyPr wrap="square" lIns="0" rIns="0" tIns="0" bIns="0">
            <a:noAutofit/>
          </a:bodyPr>
          <a:lstStyle/>
          <a:p>
            <a:pPr algn="l">
              <a:lnSpc>
                <a:spcPct val="100000"/>
              </a:lnSpc>
            </a:pPr>
            <a:r>
              <a:rPr sz="1400" b="1" i="0">
                <a:solidFill>
                  <a:srgbClr val="000000"/>
                </a:solidFill>
                <a:latin typeface="Calibri"/>
              </a:rPr>
              <a:t>Three product lines, one flat team</a:t>
            </a:r>
          </a:p>
        </p:txBody>
      </p:sp>
      <p:sp>
        <p:nvSpPr>
          <p:cNvPr id="13" name="TextBox 12"/>
          <p:cNvSpPr txBox="1"/>
          <p:nvPr/>
        </p:nvSpPr>
        <p:spPr>
          <a:xfrm>
            <a:off x="502920" y="2944368"/>
            <a:ext cx="3411626" cy="2743200"/>
          </a:xfrm>
          <a:prstGeom prst="rect">
            <a:avLst/>
          </a:prstGeom>
          <a:noFill/>
        </p:spPr>
        <p:txBody>
          <a:bodyPr wrap="square" lIns="0" rIns="0" tIns="0" bIns="0">
            <a:noAutofit/>
          </a:bodyPr>
          <a:lstStyle/>
          <a:p>
            <a:pPr algn="l">
              <a:lnSpc>
                <a:spcPct val="108000"/>
              </a:lnSpc>
            </a:pPr>
            <a:r>
              <a:rPr sz="1050" b="0" i="0">
                <a:solidFill>
                  <a:srgbClr val="000000"/>
                </a:solidFill>
                <a:latin typeface="Calibri"/>
              </a:rPr>
              <a:t>RentSafe compliance checks, the RentRepair subscription from 59 dollars a month, and manufacturer installation work for brands such as Brilliant Lighting and Universal Fans are three genuinely different businesses inside Taskforce. Each likely carries its own margin, coordination cost, and growth curve. Without a line by line view, the fastest growing line and the most profitable line can quietly turn out to be two different lines.</a:t>
            </a:r>
          </a:p>
        </p:txBody>
      </p:sp>
      <p:sp>
        <p:nvSpPr>
          <p:cNvPr id="14" name="Rectangle 13"/>
          <p:cNvSpPr/>
          <p:nvPr/>
        </p:nvSpPr>
        <p:spPr>
          <a:xfrm>
            <a:off x="4207154" y="1298448"/>
            <a:ext cx="3777386" cy="4526280"/>
          </a:xfrm>
          <a:prstGeom prst="rect">
            <a:avLst/>
          </a:prstGeom>
          <a:solidFill>
            <a:srgbClr val="000000"/>
          </a:solidFill>
          <a:ln>
            <a:noFill/>
          </a:ln>
          <a:effectLst/>
        </p:spPr>
        <p:txBody>
          <a:bodyPr rtlCol="0" anchor="ctr"/>
          <a:lstStyle/>
          <a:p>
            <a:pPr algn="ctr"/>
          </a:p>
        </p:txBody>
      </p:sp>
      <p:sp>
        <p:nvSpPr>
          <p:cNvPr id="15" name="TextBox 14"/>
          <p:cNvSpPr txBox="1"/>
          <p:nvPr/>
        </p:nvSpPr>
        <p:spPr>
          <a:xfrm>
            <a:off x="4390034" y="1463040"/>
            <a:ext cx="3411626" cy="640080"/>
          </a:xfrm>
          <a:prstGeom prst="rect">
            <a:avLst/>
          </a:prstGeom>
          <a:noFill/>
        </p:spPr>
        <p:txBody>
          <a:bodyPr wrap="square" lIns="0" rIns="0" tIns="0" bIns="0">
            <a:noAutofit/>
          </a:bodyPr>
          <a:lstStyle/>
          <a:p>
            <a:pPr algn="l"/>
            <a:r>
              <a:rPr sz="3400" b="1" i="0">
                <a:solidFill>
                  <a:srgbClr val="F8C806"/>
                </a:solidFill>
                <a:latin typeface="Cambria"/>
              </a:rPr>
              <a:t>02</a:t>
            </a:r>
          </a:p>
        </p:txBody>
      </p:sp>
      <p:sp>
        <p:nvSpPr>
          <p:cNvPr id="16" name="TextBox 15"/>
          <p:cNvSpPr txBox="1"/>
          <p:nvPr/>
        </p:nvSpPr>
        <p:spPr>
          <a:xfrm>
            <a:off x="4390034" y="2167128"/>
            <a:ext cx="3411626" cy="685800"/>
          </a:xfrm>
          <a:prstGeom prst="rect">
            <a:avLst/>
          </a:prstGeom>
          <a:noFill/>
        </p:spPr>
        <p:txBody>
          <a:bodyPr wrap="square" lIns="0" rIns="0" tIns="0" bIns="0">
            <a:noAutofit/>
          </a:bodyPr>
          <a:lstStyle/>
          <a:p>
            <a:pPr algn="l">
              <a:lnSpc>
                <a:spcPct val="100000"/>
              </a:lnSpc>
            </a:pPr>
            <a:r>
              <a:rPr sz="1400" b="1" i="0">
                <a:solidFill>
                  <a:srgbClr val="E6E5DE"/>
                </a:solidFill>
                <a:latin typeface="Calibri"/>
              </a:rPr>
              <a:t>Revenue nearly doubled, headcount barely moved</a:t>
            </a:r>
          </a:p>
        </p:txBody>
      </p:sp>
      <p:sp>
        <p:nvSpPr>
          <p:cNvPr id="17" name="TextBox 16"/>
          <p:cNvSpPr txBox="1"/>
          <p:nvPr/>
        </p:nvSpPr>
        <p:spPr>
          <a:xfrm>
            <a:off x="4390034" y="2944368"/>
            <a:ext cx="3411626" cy="2743200"/>
          </a:xfrm>
          <a:prstGeom prst="rect">
            <a:avLst/>
          </a:prstGeom>
          <a:noFill/>
        </p:spPr>
        <p:txBody>
          <a:bodyPr wrap="square" lIns="0" rIns="0" tIns="0" bIns="0">
            <a:noAutofit/>
          </a:bodyPr>
          <a:lstStyle/>
          <a:p>
            <a:pPr algn="l">
              <a:lnSpc>
                <a:spcPct val="108000"/>
              </a:lnSpc>
            </a:pPr>
            <a:r>
              <a:rPr sz="1050" b="0" i="0">
                <a:solidFill>
                  <a:srgbClr val="E6E5DE"/>
                </a:solidFill>
                <a:latin typeface="Calibri"/>
              </a:rPr>
              <a:t>Revenue rose from 7.43 million to 12.8 million across FY2023 to FY2025 while the publicly disclosed team held at 19 to 20 people, per successive SmartCompany Smart50 profiles. That is exceptional leverage, and it is also the exact condition under which workforce capacity and operational bottlenecks become hardest to see from the inside.</a:t>
            </a:r>
          </a:p>
        </p:txBody>
      </p:sp>
      <p:sp>
        <p:nvSpPr>
          <p:cNvPr id="18" name="Rectangle 17"/>
          <p:cNvSpPr/>
          <p:nvPr/>
        </p:nvSpPr>
        <p:spPr>
          <a:xfrm>
            <a:off x="8094268" y="1298448"/>
            <a:ext cx="3777386" cy="4526280"/>
          </a:xfrm>
          <a:prstGeom prst="rect">
            <a:avLst/>
          </a:prstGeom>
          <a:solidFill>
            <a:srgbClr val="E3A712"/>
          </a:solidFill>
          <a:ln>
            <a:noFill/>
          </a:ln>
          <a:effectLst/>
        </p:spPr>
        <p:txBody>
          <a:bodyPr rtlCol="0" anchor="ctr"/>
          <a:lstStyle/>
          <a:p>
            <a:pPr algn="ctr"/>
          </a:p>
        </p:txBody>
      </p:sp>
      <p:sp>
        <p:nvSpPr>
          <p:cNvPr id="19" name="TextBox 18"/>
          <p:cNvSpPr txBox="1"/>
          <p:nvPr/>
        </p:nvSpPr>
        <p:spPr>
          <a:xfrm>
            <a:off x="8277148" y="1463040"/>
            <a:ext cx="3411626" cy="640080"/>
          </a:xfrm>
          <a:prstGeom prst="rect">
            <a:avLst/>
          </a:prstGeom>
          <a:noFill/>
        </p:spPr>
        <p:txBody>
          <a:bodyPr wrap="square" lIns="0" rIns="0" tIns="0" bIns="0">
            <a:noAutofit/>
          </a:bodyPr>
          <a:lstStyle/>
          <a:p>
            <a:pPr algn="l"/>
            <a:r>
              <a:rPr sz="3400" b="1" i="0">
                <a:solidFill>
                  <a:srgbClr val="FFFFFF"/>
                </a:solidFill>
                <a:latin typeface="Cambria"/>
              </a:rPr>
              <a:t>03</a:t>
            </a:r>
          </a:p>
        </p:txBody>
      </p:sp>
      <p:sp>
        <p:nvSpPr>
          <p:cNvPr id="20" name="TextBox 19"/>
          <p:cNvSpPr txBox="1"/>
          <p:nvPr/>
        </p:nvSpPr>
        <p:spPr>
          <a:xfrm>
            <a:off x="8277148" y="2167128"/>
            <a:ext cx="3411626" cy="685800"/>
          </a:xfrm>
          <a:prstGeom prst="rect">
            <a:avLst/>
          </a:prstGeom>
          <a:noFill/>
        </p:spPr>
        <p:txBody>
          <a:bodyPr wrap="square" lIns="0" rIns="0" tIns="0" bIns="0">
            <a:noAutofit/>
          </a:bodyPr>
          <a:lstStyle/>
          <a:p>
            <a:pPr algn="l">
              <a:lnSpc>
                <a:spcPct val="100000"/>
              </a:lnSpc>
            </a:pPr>
            <a:r>
              <a:rPr sz="1400" b="1" i="0">
                <a:solidFill>
                  <a:srgbClr val="000000"/>
                </a:solidFill>
                <a:latin typeface="Calibri"/>
              </a:rPr>
              <a:t>A 5,000 strong trade network to coordinate</a:t>
            </a:r>
          </a:p>
        </p:txBody>
      </p:sp>
      <p:sp>
        <p:nvSpPr>
          <p:cNvPr id="21" name="TextBox 20"/>
          <p:cNvSpPr txBox="1"/>
          <p:nvPr/>
        </p:nvSpPr>
        <p:spPr>
          <a:xfrm>
            <a:off x="8277148" y="2944368"/>
            <a:ext cx="3411626" cy="2743200"/>
          </a:xfrm>
          <a:prstGeom prst="rect">
            <a:avLst/>
          </a:prstGeom>
          <a:noFill/>
        </p:spPr>
        <p:txBody>
          <a:bodyPr wrap="square" lIns="0" rIns="0" tIns="0" bIns="0">
            <a:noAutofit/>
          </a:bodyPr>
          <a:lstStyle/>
          <a:p>
            <a:pPr algn="l">
              <a:lnSpc>
                <a:spcPct val="108000"/>
              </a:lnSpc>
            </a:pPr>
            <a:r>
              <a:rPr sz="1050" b="0" i="0">
                <a:solidFill>
                  <a:srgbClr val="000000"/>
                </a:solidFill>
                <a:latin typeface="Calibri"/>
              </a:rPr>
              <a:t>Taskforce dispatches more than 5,000 licensed tradespeople across over 140,000 jobs a year for 300 plus real estate offices and 20 major consumer brands. At this scale, the businesses that thrive are the ones that can see customer concentration, service line margin, workforce capacity, and operational bottlenecks in one place, not four separate reports.</a:t>
            </a:r>
          </a:p>
        </p:txBody>
      </p:sp>
      <p:sp>
        <p:nvSpPr>
          <p:cNvPr id="22" name="TextBox 21"/>
          <p:cNvSpPr txBox="1"/>
          <p:nvPr/>
        </p:nvSpPr>
        <p:spPr>
          <a:xfrm>
            <a:off x="320040" y="5943600"/>
            <a:ext cx="11521440" cy="411480"/>
          </a:xfrm>
          <a:prstGeom prst="rect">
            <a:avLst/>
          </a:prstGeom>
          <a:noFill/>
        </p:spPr>
        <p:txBody>
          <a:bodyPr wrap="square" lIns="0" rIns="0" tIns="0" bIns="0">
            <a:noAutofit/>
          </a:bodyPr>
          <a:lstStyle/>
          <a:p>
            <a:pPr algn="l"/>
            <a:r>
              <a:rPr sz="1050" b="0" i="1">
                <a:solidFill>
                  <a:srgbClr val="000000"/>
                </a:solidFill>
                <a:latin typeface="Calibri"/>
              </a:rPr>
              <a:t>These observations are offered in good faith. Taskforce has built a genuinely impressive network in a short time. The question is simply whether the operating view keeps pace with the growth.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Calibri"/>
              </a:rPr>
              <a:t>THE RECOMMENDATION</a:t>
            </a:r>
          </a:p>
        </p:txBody>
      </p:sp>
      <p:sp>
        <p:nvSpPr>
          <p:cNvPr id="5" name="TextBox 4"/>
          <p:cNvSpPr txBox="1"/>
          <p:nvPr/>
        </p:nvSpPr>
        <p:spPr>
          <a:xfrm>
            <a:off x="8229600" y="292608"/>
            <a:ext cx="3657600" cy="365760"/>
          </a:xfrm>
          <a:prstGeom prst="rect">
            <a:avLst/>
          </a:prstGeom>
          <a:noFill/>
        </p:spPr>
        <p:txBody>
          <a:bodyPr wrap="square" lIns="0" rIns="0" tIns="0" bIns="0">
            <a:noAutofit/>
          </a:bodyPr>
          <a:lstStyle/>
          <a:p>
            <a:pPr algn="r"/>
            <a:r>
              <a:rPr sz="1200" b="1" i="0">
                <a:solidFill>
                  <a:srgbClr val="FFFFFF"/>
                </a:solidFill>
                <a:latin typeface="Calibri"/>
              </a:rPr>
              <a:t>Taskforce Australia</a:t>
            </a:r>
          </a:p>
        </p:txBody>
      </p:sp>
      <p:sp>
        <p:nvSpPr>
          <p:cNvPr id="6" name="Rectangle 5"/>
          <p:cNvSpPr/>
          <p:nvPr/>
        </p:nvSpPr>
        <p:spPr>
          <a:xfrm>
            <a:off x="320040" y="6446520"/>
            <a:ext cx="11521440" cy="9525"/>
          </a:xfrm>
          <a:prstGeom prst="rect">
            <a:avLst/>
          </a:prstGeom>
          <a:solidFill>
            <a:srgbClr val="01A296"/>
          </a:solidFill>
          <a:ln>
            <a:noFill/>
          </a:ln>
          <a:effectLst/>
        </p:spPr>
        <p:txBody>
          <a:bodyPr rtlCol="0" anchor="ctr"/>
          <a:lstStyle/>
          <a:p>
            <a:pPr algn="ctr"/>
          </a:p>
        </p:txBody>
      </p:sp>
      <p:sp>
        <p:nvSpPr>
          <p:cNvPr id="7" name="TextBox 6"/>
          <p:cNvSpPr txBox="1"/>
          <p:nvPr/>
        </p:nvSpPr>
        <p:spPr>
          <a:xfrm>
            <a:off x="320040" y="6528816"/>
            <a:ext cx="8229600" cy="274320"/>
          </a:xfrm>
          <a:prstGeom prst="rect">
            <a:avLst/>
          </a:prstGeom>
          <a:noFill/>
        </p:spPr>
        <p:txBody>
          <a:bodyPr wrap="square" lIns="0" rIns="0" tIns="0" bIns="0">
            <a:noAutofit/>
          </a:bodyPr>
          <a:lstStyle/>
          <a:p>
            <a:pPr algn="l"/>
            <a:r>
              <a:rPr sz="800" b="0" i="0">
                <a:solidFill>
                  <a:srgbClr val="000000"/>
                </a:solidFill>
                <a:latin typeface="Calibri"/>
              </a:rPr>
              <a:t>Prepared by Nitesh Roopa CA, Managing Partner, ProfitPulse, Profit-Pulse.com.au</a:t>
            </a:r>
          </a:p>
        </p:txBody>
      </p:sp>
      <p:sp>
        <p:nvSpPr>
          <p:cNvPr id="8" name="TextBox 7"/>
          <p:cNvSpPr txBox="1"/>
          <p:nvPr/>
        </p:nvSpPr>
        <p:spPr>
          <a:xfrm>
            <a:off x="8778240" y="6528816"/>
            <a:ext cx="3063240" cy="274320"/>
          </a:xfrm>
          <a:prstGeom prst="rect">
            <a:avLst/>
          </a:prstGeom>
          <a:noFill/>
        </p:spPr>
        <p:txBody>
          <a:bodyPr wrap="square" lIns="0" rIns="0" tIns="0" bIns="0">
            <a:noAutofit/>
          </a:bodyPr>
          <a:lstStyle/>
          <a:p>
            <a:pPr algn="r"/>
            <a:r>
              <a:rPr sz="800" b="0" i="0">
                <a:solidFill>
                  <a:srgbClr val="000000"/>
                </a:solidFill>
                <a:latin typeface="Calibri"/>
              </a:rPr>
              <a:t>10 Jul 2026</a:t>
            </a:r>
          </a:p>
        </p:txBody>
      </p:sp>
      <p:sp>
        <p:nvSpPr>
          <p:cNvPr id="9" name="TextBox 8"/>
          <p:cNvSpPr txBox="1"/>
          <p:nvPr/>
        </p:nvSpPr>
        <p:spPr>
          <a:xfrm>
            <a:off x="320040" y="1143000"/>
            <a:ext cx="6858000" cy="594360"/>
          </a:xfrm>
          <a:prstGeom prst="rect">
            <a:avLst/>
          </a:prstGeom>
          <a:noFill/>
        </p:spPr>
        <p:txBody>
          <a:bodyPr wrap="square" lIns="0" rIns="0" tIns="0" bIns="0">
            <a:noAutofit/>
          </a:bodyPr>
          <a:lstStyle/>
          <a:p>
            <a:pPr algn="l"/>
            <a:r>
              <a:rPr sz="2200" b="1" i="0">
                <a:solidFill>
                  <a:srgbClr val="000000"/>
                </a:solidFill>
                <a:latin typeface="Cambria"/>
              </a:rPr>
              <a:t>Operational Intelligence Review</a:t>
            </a:r>
          </a:p>
        </p:txBody>
      </p:sp>
      <p:sp>
        <p:nvSpPr>
          <p:cNvPr id="10" name="TextBox 9"/>
          <p:cNvSpPr txBox="1"/>
          <p:nvPr/>
        </p:nvSpPr>
        <p:spPr>
          <a:xfrm>
            <a:off x="320040" y="1737360"/>
            <a:ext cx="6858000" cy="365760"/>
          </a:xfrm>
          <a:prstGeom prst="rect">
            <a:avLst/>
          </a:prstGeom>
          <a:noFill/>
        </p:spPr>
        <p:txBody>
          <a:bodyPr wrap="square" lIns="0" rIns="0" tIns="0" bIns="0">
            <a:noAutofit/>
          </a:bodyPr>
          <a:lstStyle/>
          <a:p>
            <a:pPr algn="l"/>
            <a:r>
              <a:rPr sz="1500" b="1" i="0">
                <a:solidFill>
                  <a:srgbClr val="F6A102"/>
                </a:solidFill>
                <a:latin typeface="Calibri"/>
              </a:rPr>
              <a:t>$6,500 one off</a:t>
            </a:r>
          </a:p>
        </p:txBody>
      </p:sp>
      <p:sp>
        <p:nvSpPr>
          <p:cNvPr id="11" name="TextBox 10"/>
          <p:cNvSpPr txBox="1"/>
          <p:nvPr/>
        </p:nvSpPr>
        <p:spPr>
          <a:xfrm>
            <a:off x="320040" y="2148840"/>
            <a:ext cx="6858000" cy="914400"/>
          </a:xfrm>
          <a:prstGeom prst="rect">
            <a:avLst/>
          </a:prstGeom>
          <a:noFill/>
        </p:spPr>
        <p:txBody>
          <a:bodyPr wrap="square" lIns="0" rIns="0" tIns="0" bIns="0">
            <a:noAutofit/>
          </a:bodyPr>
          <a:lstStyle/>
          <a:p>
            <a:pPr algn="l">
              <a:lnSpc>
                <a:spcPct val="110000"/>
              </a:lnSpc>
            </a:pPr>
            <a:r>
              <a:rPr sz="1100" b="0" i="0">
                <a:solidFill>
                  <a:srgbClr val="000000"/>
                </a:solidFill>
                <a:latin typeface="Calibri"/>
              </a:rPr>
              <a:t>A six week deep dive across four lenses, customer concentration and profitability, product and service line margin, workforce capacity, and operational bottlenecks.</a:t>
            </a:r>
          </a:p>
        </p:txBody>
      </p:sp>
      <p:sp>
        <p:nvSpPr>
          <p:cNvPr id="12" name="Rectangle 11"/>
          <p:cNvSpPr/>
          <p:nvPr/>
        </p:nvSpPr>
        <p:spPr>
          <a:xfrm>
            <a:off x="320040" y="3200400"/>
            <a:ext cx="6858000" cy="1234440"/>
          </a:xfrm>
          <a:prstGeom prst="rect">
            <a:avLst/>
          </a:prstGeom>
          <a:solidFill>
            <a:srgbClr val="01A296"/>
          </a:solidFill>
          <a:ln>
            <a:noFill/>
          </a:ln>
          <a:effectLst/>
        </p:spPr>
        <p:txBody>
          <a:bodyPr rtlCol="0" anchor="ctr"/>
          <a:lstStyle/>
          <a:p>
            <a:pPr algn="ctr"/>
          </a:p>
        </p:txBody>
      </p:sp>
      <p:sp>
        <p:nvSpPr>
          <p:cNvPr id="13" name="TextBox 12"/>
          <p:cNvSpPr txBox="1"/>
          <p:nvPr/>
        </p:nvSpPr>
        <p:spPr>
          <a:xfrm>
            <a:off x="502920" y="3310128"/>
            <a:ext cx="6492240" cy="274320"/>
          </a:xfrm>
          <a:prstGeom prst="rect">
            <a:avLst/>
          </a:prstGeom>
          <a:noFill/>
        </p:spPr>
        <p:txBody>
          <a:bodyPr wrap="square" lIns="0" rIns="0" tIns="0" bIns="0">
            <a:noAutofit/>
          </a:bodyPr>
          <a:lstStyle/>
          <a:p>
            <a:pPr algn="l"/>
            <a:r>
              <a:rPr sz="1100" b="1" i="0">
                <a:solidFill>
                  <a:srgbClr val="000000"/>
                </a:solidFill>
                <a:latin typeface="Calibri"/>
              </a:rPr>
              <a:t>STEP ONE, ANSWER A FEW QUICK QUESTIONS</a:t>
            </a:r>
          </a:p>
        </p:txBody>
      </p:sp>
      <p:sp>
        <p:nvSpPr>
          <p:cNvPr id="14" name="TextBox 13"/>
          <p:cNvSpPr txBox="1"/>
          <p:nvPr/>
        </p:nvSpPr>
        <p:spPr>
          <a:xfrm>
            <a:off x="502920" y="3611880"/>
            <a:ext cx="6492240" cy="274320"/>
          </a:xfrm>
          <a:prstGeom prst="rect">
            <a:avLst/>
          </a:prstGeom>
          <a:noFill/>
        </p:spPr>
        <p:txBody>
          <a:bodyPr wrap="square" lIns="0" rIns="0" tIns="0" bIns="0">
            <a:noAutofit/>
          </a:bodyPr>
          <a:lstStyle/>
          <a:p>
            <a:pPr algn="l"/>
            <a:r>
              <a:rPr sz="1050" b="0" i="0">
                <a:solidFill>
                  <a:srgbClr val="000000"/>
                </a:solidFill>
                <a:latin typeface="Calibri"/>
              </a:rPr>
              <a:t>See the solutions matched to your size and industry.</a:t>
            </a:r>
          </a:p>
        </p:txBody>
      </p:sp>
      <p:sp>
        <p:nvSpPr>
          <p:cNvPr id="15" name="TextBox 14"/>
          <p:cNvSpPr txBox="1"/>
          <p:nvPr/>
        </p:nvSpPr>
        <p:spPr>
          <a:xfrm>
            <a:off x="502920" y="3931920"/>
            <a:ext cx="6492240" cy="365760"/>
          </a:xfrm>
          <a:prstGeom prst="rect">
            <a:avLst/>
          </a:prstGeom>
          <a:noFill/>
        </p:spPr>
        <p:txBody>
          <a:bodyPr wrap="square" lIns="0" rIns="0" tIns="0" bIns="0">
            <a:noAutofit/>
          </a:bodyPr>
          <a:lstStyle/>
          <a:p>
            <a:pPr algn="l"/>
            <a:r>
              <a:rPr sz="1200" b="1" i="0">
                <a:solidFill>
                  <a:srgbClr val="000000"/>
                </a:solidFill>
                <a:latin typeface="Calibri"/>
                <a:hlinkClick r:id="rId2"/>
              </a:rPr>
              <a:t>profit-pulse.com.au/services/find-your-fit</a:t>
            </a:r>
          </a:p>
        </p:txBody>
      </p:sp>
      <p:sp>
        <p:nvSpPr>
          <p:cNvPr id="16" name="Rectangle 15"/>
          <p:cNvSpPr/>
          <p:nvPr/>
        </p:nvSpPr>
        <p:spPr>
          <a:xfrm>
            <a:off x="320040" y="4617720"/>
            <a:ext cx="4206240" cy="502920"/>
          </a:xfrm>
          <a:prstGeom prst="rect">
            <a:avLst/>
          </a:prstGeom>
          <a:solidFill>
            <a:srgbClr val="F6A102"/>
          </a:solidFill>
          <a:ln>
            <a:noFill/>
          </a:ln>
          <a:effectLst/>
        </p:spPr>
        <p:txBody>
          <a:bodyPr rtlCol="0" anchor="ctr"/>
          <a:lstStyle/>
          <a:p>
            <a:pPr algn="ctr"/>
          </a:p>
        </p:txBody>
      </p:sp>
      <p:sp>
        <p:nvSpPr>
          <p:cNvPr id="17" name="TextBox 16"/>
          <p:cNvSpPr txBox="1"/>
          <p:nvPr/>
        </p:nvSpPr>
        <p:spPr>
          <a:xfrm>
            <a:off x="457200" y="4736592"/>
            <a:ext cx="3931920" cy="292608"/>
          </a:xfrm>
          <a:prstGeom prst="rect">
            <a:avLst/>
          </a:prstGeom>
          <a:noFill/>
        </p:spPr>
        <p:txBody>
          <a:bodyPr wrap="square" lIns="0" rIns="0" tIns="0" bIns="0">
            <a:noAutofit/>
          </a:bodyPr>
          <a:lstStyle/>
          <a:p>
            <a:pPr algn="l"/>
            <a:r>
              <a:rPr sz="1050" b="1" i="0">
                <a:solidFill>
                  <a:srgbClr val="000000"/>
                </a:solidFill>
                <a:latin typeface="Calibri"/>
                <a:hlinkClick r:id="rId3"/>
              </a:rPr>
              <a:t>Purchase the suggested product now to get started</a:t>
            </a:r>
          </a:p>
        </p:txBody>
      </p:sp>
      <p:sp>
        <p:nvSpPr>
          <p:cNvPr id="18" name="TextBox 17"/>
          <p:cNvSpPr txBox="1"/>
          <p:nvPr/>
        </p:nvSpPr>
        <p:spPr>
          <a:xfrm>
            <a:off x="320040" y="5349240"/>
            <a:ext cx="6858000" cy="320040"/>
          </a:xfrm>
          <a:prstGeom prst="rect">
            <a:avLst/>
          </a:prstGeom>
          <a:noFill/>
        </p:spPr>
        <p:txBody>
          <a:bodyPr wrap="square" lIns="0" rIns="0" tIns="0" bIns="0">
            <a:noAutofit/>
          </a:bodyPr>
          <a:lstStyle/>
          <a:p>
            <a:pPr algn="l"/>
            <a:r>
              <a:rPr sz="1050" b="0" i="0">
                <a:solidFill>
                  <a:srgbClr val="000000"/>
                </a:solidFill>
                <a:latin typeface="Calibri"/>
              </a:rPr>
              <a:t>Prefer a conversation first? Book a complimentary discovery call.</a:t>
            </a:r>
          </a:p>
        </p:txBody>
      </p:sp>
      <p:sp>
        <p:nvSpPr>
          <p:cNvPr id="19" name="TextBox 18"/>
          <p:cNvSpPr txBox="1"/>
          <p:nvPr/>
        </p:nvSpPr>
        <p:spPr>
          <a:xfrm>
            <a:off x="320040" y="5650992"/>
            <a:ext cx="6858000" cy="320040"/>
          </a:xfrm>
          <a:prstGeom prst="rect">
            <a:avLst/>
          </a:prstGeom>
          <a:noFill/>
        </p:spPr>
        <p:txBody>
          <a:bodyPr wrap="square" lIns="0" rIns="0" tIns="0" bIns="0">
            <a:noAutofit/>
          </a:bodyPr>
          <a:lstStyle/>
          <a:p>
            <a:pPr algn="l"/>
            <a:r>
              <a:rPr sz="1100" b="1" i="0">
                <a:solidFill>
                  <a:srgbClr val="01A296"/>
                </a:solidFill>
                <a:latin typeface="Calibri"/>
                <a:hlinkClick r:id="rId4"/>
              </a:rPr>
              <a:t>Book a complimentary discovery call</a:t>
            </a:r>
          </a:p>
        </p:txBody>
      </p:sp>
      <p:sp>
        <p:nvSpPr>
          <p:cNvPr id="20" name="Rectangle 19"/>
          <p:cNvSpPr/>
          <p:nvPr/>
        </p:nvSpPr>
        <p:spPr>
          <a:xfrm>
            <a:off x="7635240" y="1143000"/>
            <a:ext cx="4206240" cy="5029200"/>
          </a:xfrm>
          <a:prstGeom prst="rect">
            <a:avLst/>
          </a:prstGeom>
          <a:solidFill>
            <a:srgbClr val="000000"/>
          </a:solidFill>
          <a:ln>
            <a:noFill/>
          </a:ln>
          <a:effectLst/>
        </p:spPr>
        <p:txBody>
          <a:bodyPr rtlCol="0" anchor="ctr"/>
          <a:lstStyle/>
          <a:p>
            <a:pPr algn="ctr"/>
          </a:p>
        </p:txBody>
      </p:sp>
      <p:sp>
        <p:nvSpPr>
          <p:cNvPr id="21" name="TextBox 20"/>
          <p:cNvSpPr txBox="1"/>
          <p:nvPr/>
        </p:nvSpPr>
        <p:spPr>
          <a:xfrm>
            <a:off x="7863840" y="1325880"/>
            <a:ext cx="3749040" cy="365760"/>
          </a:xfrm>
          <a:prstGeom prst="rect">
            <a:avLst/>
          </a:prstGeom>
          <a:noFill/>
        </p:spPr>
        <p:txBody>
          <a:bodyPr wrap="square" lIns="0" rIns="0" tIns="0" bIns="0">
            <a:noAutofit/>
          </a:bodyPr>
          <a:lstStyle/>
          <a:p>
            <a:pPr algn="l"/>
            <a:r>
              <a:rPr sz="1700" b="1" i="0">
                <a:solidFill>
                  <a:srgbClr val="F8C806"/>
                </a:solidFill>
                <a:latin typeface="Cambria"/>
              </a:rPr>
              <a:t>NITESH ROOPA</a:t>
            </a:r>
          </a:p>
        </p:txBody>
      </p:sp>
      <p:sp>
        <p:nvSpPr>
          <p:cNvPr id="22" name="TextBox 21"/>
          <p:cNvSpPr txBox="1"/>
          <p:nvPr/>
        </p:nvSpPr>
        <p:spPr>
          <a:xfrm>
            <a:off x="7863840" y="1719072"/>
            <a:ext cx="3749040" cy="320040"/>
          </a:xfrm>
          <a:prstGeom prst="rect">
            <a:avLst/>
          </a:prstGeom>
          <a:noFill/>
        </p:spPr>
        <p:txBody>
          <a:bodyPr wrap="square" lIns="0" rIns="0" tIns="0" bIns="0">
            <a:noAutofit/>
          </a:bodyPr>
          <a:lstStyle/>
          <a:p>
            <a:pPr algn="l"/>
            <a:r>
              <a:rPr sz="1200" b="0" i="0">
                <a:solidFill>
                  <a:srgbClr val="FFFFFF"/>
                </a:solidFill>
                <a:latin typeface="Calibri"/>
              </a:rPr>
              <a:t>CA, Managing Partner, ProfitPulse</a:t>
            </a:r>
          </a:p>
        </p:txBody>
      </p:sp>
      <p:sp>
        <p:nvSpPr>
          <p:cNvPr id="23" name="Rectangle 22"/>
          <p:cNvSpPr/>
          <p:nvPr/>
        </p:nvSpPr>
        <p:spPr>
          <a:xfrm>
            <a:off x="7863840" y="2084831"/>
            <a:ext cx="3566160" cy="19050"/>
          </a:xfrm>
          <a:prstGeom prst="rect">
            <a:avLst/>
          </a:prstGeom>
          <a:solidFill>
            <a:srgbClr val="01A296"/>
          </a:solidFill>
          <a:ln>
            <a:noFill/>
          </a:ln>
          <a:effectLst/>
        </p:spPr>
        <p:txBody>
          <a:bodyPr rtlCol="0" anchor="ctr"/>
          <a:lstStyle/>
          <a:p>
            <a:pPr algn="ctr"/>
          </a:p>
        </p:txBody>
      </p:sp>
      <p:sp>
        <p:nvSpPr>
          <p:cNvPr id="24" name="TextBox 23"/>
          <p:cNvSpPr txBox="1"/>
          <p:nvPr/>
        </p:nvSpPr>
        <p:spPr>
          <a:xfrm>
            <a:off x="7863840" y="2240280"/>
            <a:ext cx="3749040" cy="1554480"/>
          </a:xfrm>
          <a:prstGeom prst="rect">
            <a:avLst/>
          </a:prstGeom>
          <a:noFill/>
        </p:spPr>
        <p:txBody>
          <a:bodyPr wrap="square" lIns="0" rIns="0" tIns="0" bIns="0">
            <a:noAutofit/>
          </a:bodyPr>
          <a:lstStyle/>
          <a:p>
            <a:pPr algn="l">
              <a:lnSpc>
                <a:spcPct val="105000"/>
              </a:lnSpc>
              <a:spcAft>
                <a:spcPts val="500"/>
              </a:spcAft>
            </a:pPr>
            <a:r>
              <a:rPr sz="1100" b="0" i="0">
                <a:solidFill>
                  <a:srgbClr val="E6E5DE"/>
                </a:solidFill>
                <a:latin typeface="Calibri"/>
              </a:rPr>
              <a:t>16 years across 4 countries</a:t>
            </a:r>
          </a:p>
          <a:p>
            <a:pPr algn="l">
              <a:lnSpc>
                <a:spcPct val="105000"/>
              </a:lnSpc>
              <a:spcAft>
                <a:spcPts val="500"/>
              </a:spcAft>
            </a:pPr>
            <a:r>
              <a:rPr sz="1100" b="0" i="0">
                <a:solidFill>
                  <a:srgbClr val="E6E5DE"/>
                </a:solidFill>
                <a:latin typeface="Calibri"/>
              </a:rPr>
              <a:t>52 deals executed and managed</a:t>
            </a:r>
          </a:p>
          <a:p>
            <a:pPr algn="l">
              <a:lnSpc>
                <a:spcPct val="105000"/>
              </a:lnSpc>
              <a:spcAft>
                <a:spcPts val="500"/>
              </a:spcAft>
            </a:pPr>
            <a:r>
              <a:rPr sz="1100" b="0" i="0">
                <a:solidFill>
                  <a:srgbClr val="E6E5DE"/>
                </a:solidFill>
                <a:latin typeface="Calibri"/>
              </a:rPr>
              <a:t>Largest single deal, USD 1.3 billion, Cahora Bassa</a:t>
            </a:r>
          </a:p>
          <a:p>
            <a:pPr algn="l">
              <a:lnSpc>
                <a:spcPct val="105000"/>
              </a:lnSpc>
              <a:spcAft>
                <a:spcPts val="500"/>
              </a:spcAft>
            </a:pPr>
            <a:r>
              <a:rPr sz="1100" b="0" i="0">
                <a:solidFill>
                  <a:srgbClr val="E6E5DE"/>
                </a:solidFill>
                <a:latin typeface="Calibri"/>
              </a:rPr>
              <a:t>Total GRBT project value over AUD 10 billion</a:t>
            </a:r>
          </a:p>
        </p:txBody>
      </p:sp>
      <p:sp>
        <p:nvSpPr>
          <p:cNvPr id="25" name="TextBox 24"/>
          <p:cNvSpPr txBox="1"/>
          <p:nvPr/>
        </p:nvSpPr>
        <p:spPr>
          <a:xfrm>
            <a:off x="7863840" y="3977639"/>
            <a:ext cx="3749040" cy="1463040"/>
          </a:xfrm>
          <a:prstGeom prst="rect">
            <a:avLst/>
          </a:prstGeom>
          <a:noFill/>
        </p:spPr>
        <p:txBody>
          <a:bodyPr wrap="square" lIns="0" rIns="0" tIns="0" bIns="0">
            <a:noAutofit/>
          </a:bodyPr>
          <a:lstStyle/>
          <a:p>
            <a:pPr algn="l">
              <a:lnSpc>
                <a:spcPct val="110000"/>
              </a:lnSpc>
              <a:spcAft>
                <a:spcPts val="600"/>
              </a:spcAft>
            </a:pPr>
            <a:r>
              <a:rPr sz="1150" b="0" i="0">
                <a:solidFill>
                  <a:srgbClr val="01A296"/>
                </a:solidFill>
                <a:latin typeface="Calibri"/>
              </a:rPr>
              <a:t>Profit-Pulse.com.au</a:t>
            </a:r>
          </a:p>
          <a:p>
            <a:pPr algn="l">
              <a:lnSpc>
                <a:spcPct val="110000"/>
              </a:lnSpc>
              <a:spcAft>
                <a:spcPts val="600"/>
              </a:spcAft>
            </a:pPr>
            <a:r>
              <a:rPr sz="1150" b="0" i="0">
                <a:solidFill>
                  <a:srgbClr val="01A296"/>
                </a:solidFill>
                <a:latin typeface="Calibri"/>
              </a:rPr>
              <a:t>Nitesh@Profit-Pulse.com.au</a:t>
            </a:r>
          </a:p>
          <a:p>
            <a:pPr algn="l">
              <a:lnSpc>
                <a:spcPct val="110000"/>
              </a:lnSpc>
              <a:spcAft>
                <a:spcPts val="600"/>
              </a:spcAft>
            </a:pPr>
            <a:r>
              <a:rPr sz="1150" b="0" i="0">
                <a:solidFill>
                  <a:srgbClr val="E6E5DE"/>
                </a:solidFill>
                <a:latin typeface="Calibri"/>
              </a:rPr>
              <a:t>+61 411 876 267</a:t>
            </a:r>
          </a:p>
          <a:p>
            <a:pPr algn="l">
              <a:lnSpc>
                <a:spcPct val="110000"/>
              </a:lnSpc>
              <a:spcAft>
                <a:spcPts val="600"/>
              </a:spcAft>
            </a:pPr>
            <a:r>
              <a:rPr sz="105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