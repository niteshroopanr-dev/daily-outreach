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profit-pulse.com.au/services/find-your-fit/" TargetMode="External"/><Relationship Id="rId2" Type="http://schemas.openxmlformats.org/officeDocument/2006/relationships/hyperlink" Target="https://buy.stripe.com/14A3cwc5a66c4P6dMH3ks1G" TargetMode="External"/><Relationship Id="rId3" Type="http://schemas.openxmlformats.org/officeDocument/2006/relationships/hyperlink" Target="https://bookings.cloud.microsoft/book/ProfitPulse1@profit-pulse.com.au/?ismsaljsauthenabled=true" TargetMode="External"/><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F6A102"/>
          </a:solidFill>
          <a:ln/>
        </p:spPr>
      </p:sp>
      <p:sp>
        <p:nvSpPr>
          <p:cNvPr id="3" name="Shape 1"/>
          <p:cNvSpPr/>
          <p:nvPr/>
        </p:nvSpPr>
        <p:spPr>
          <a:xfrm>
            <a:off x="0" y="0"/>
            <a:ext cx="12191695" cy="914400"/>
          </a:xfrm>
          <a:prstGeom prst="rect">
            <a:avLst/>
          </a:prstGeom>
          <a:solidFill>
            <a:srgbClr val="000000"/>
          </a:solidFill>
          <a:ln/>
        </p:spPr>
      </p:sp>
      <p:sp>
        <p:nvSpPr>
          <p:cNvPr id="4" name="Text 2"/>
          <p:cNvSpPr/>
          <p:nvPr/>
        </p:nvSpPr>
        <p:spPr>
          <a:xfrm>
            <a:off x="320040" y="292608"/>
            <a:ext cx="7772400" cy="365760"/>
          </a:xfrm>
          <a:prstGeom prst="rect">
            <a:avLst/>
          </a:prstGeom>
          <a:noFill/>
          <a:ln/>
        </p:spPr>
        <p:txBody>
          <a:bodyPr wrap="square" lIns="0" tIns="0" rIns="0" bIns="0" rtlCol="0" anchor="ctr"/>
          <a:lstStyle/>
          <a:p>
            <a:pPr algn="l" indent="0" marL="0">
              <a:buNone/>
            </a:pPr>
            <a:r>
              <a:rPr lang="en-US" sz="1200" b="1" spc="100" kern="0" dirty="0">
                <a:solidFill>
                  <a:srgbClr val="E6E5DE"/>
                </a:solidFill>
                <a:latin typeface="Calibri" pitchFamily="34" charset="0"/>
                <a:ea typeface="Calibri" pitchFamily="34" charset="-122"/>
                <a:cs typeface="Calibri" pitchFamily="34" charset="-120"/>
              </a:rPr>
              <a:t>COMMERCIAL INTELLIGENCE BRIEF</a:t>
            </a:r>
            <a:endParaRPr lang="en-US" sz="1200" dirty="0"/>
          </a:p>
        </p:txBody>
      </p:sp>
      <p:sp>
        <p:nvSpPr>
          <p:cNvPr id="5" name="Text 3"/>
          <p:cNvSpPr/>
          <p:nvPr/>
        </p:nvSpPr>
        <p:spPr>
          <a:xfrm>
            <a:off x="8214055" y="292608"/>
            <a:ext cx="3657600"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alibri" pitchFamily="34" charset="0"/>
                <a:ea typeface="Calibri" pitchFamily="34" charset="-122"/>
                <a:cs typeface="Calibri" pitchFamily="34" charset="-120"/>
              </a:rPr>
              <a:t>PROFITPULSE</a:t>
            </a:r>
            <a:endParaRPr lang="en-US" sz="1300" dirty="0"/>
          </a:p>
        </p:txBody>
      </p:sp>
      <p:sp>
        <p:nvSpPr>
          <p:cNvPr id="6" name="Text 4"/>
          <p:cNvSpPr/>
          <p:nvPr/>
        </p:nvSpPr>
        <p:spPr>
          <a:xfrm>
            <a:off x="320040" y="6473952"/>
            <a:ext cx="7772400" cy="274320"/>
          </a:xfrm>
          <a:prstGeom prst="rect">
            <a:avLst/>
          </a:prstGeom>
          <a:noFill/>
          <a:ln/>
        </p:spPr>
        <p:txBody>
          <a:bodyPr wrap="square" lIns="0" tIns="0" rIns="0" bIns="0" rtlCol="0" anchor="ctr"/>
          <a:lstStyle/>
          <a:p>
            <a:pPr algn="l" indent="0" marL="0">
              <a:buNone/>
            </a:pPr>
            <a:r>
              <a:rPr lang="en-US" sz="800" dirty="0">
                <a:solidFill>
                  <a:srgbClr val="01A296"/>
                </a:solidFill>
                <a:latin typeface="Calibri" pitchFamily="34" charset="0"/>
                <a:ea typeface="Calibri" pitchFamily="34" charset="-122"/>
                <a:cs typeface="Calibri" pitchFamily="34" charset="-120"/>
              </a:rPr>
              <a:t>Prepared by Nitesh Roopa CA, Managing Partner, ProfitPulse, Profit-Pulse.com.au</a:t>
            </a:r>
            <a:endParaRPr lang="en-US" sz="800" dirty="0"/>
          </a:p>
        </p:txBody>
      </p:sp>
      <p:sp>
        <p:nvSpPr>
          <p:cNvPr id="7" name="Text 5"/>
          <p:cNvSpPr/>
          <p:nvPr/>
        </p:nvSpPr>
        <p:spPr>
          <a:xfrm>
            <a:off x="9585655" y="6473952"/>
            <a:ext cx="2286000" cy="274320"/>
          </a:xfrm>
          <a:prstGeom prst="rect">
            <a:avLst/>
          </a:prstGeom>
          <a:noFill/>
          <a:ln/>
        </p:spPr>
        <p:txBody>
          <a:bodyPr wrap="square" lIns="0" tIns="0" rIns="0" bIns="0" rtlCol="0" anchor="ctr"/>
          <a:lstStyle/>
          <a:p>
            <a:pPr algn="r" indent="0" marL="0">
              <a:buNone/>
            </a:pPr>
            <a:r>
              <a:rPr lang="en-US" sz="800" dirty="0">
                <a:solidFill>
                  <a:srgbClr val="01A296"/>
                </a:solidFill>
                <a:latin typeface="Calibri" pitchFamily="34" charset="0"/>
                <a:ea typeface="Calibri" pitchFamily="34" charset="-122"/>
                <a:cs typeface="Calibri" pitchFamily="34" charset="-120"/>
              </a:rPr>
              <a:t>29 Jul 2026</a:t>
            </a:r>
            <a:endParaRPr lang="en-US" sz="800" dirty="0"/>
          </a:p>
        </p:txBody>
      </p:sp>
      <p:sp>
        <p:nvSpPr>
          <p:cNvPr id="8" name="Text 6"/>
          <p:cNvSpPr/>
          <p:nvPr/>
        </p:nvSpPr>
        <p:spPr>
          <a:xfrm>
            <a:off x="320040" y="1051560"/>
            <a:ext cx="7315200" cy="685800"/>
          </a:xfrm>
          <a:prstGeom prst="rect">
            <a:avLst/>
          </a:prstGeom>
          <a:noFill/>
          <a:ln/>
        </p:spPr>
        <p:txBody>
          <a:bodyPr wrap="square" lIns="0" tIns="0" rIns="0" bIns="0" rtlCol="0" anchor="ctr"/>
          <a:lstStyle/>
          <a:p>
            <a:pPr algn="l" indent="0" marL="0">
              <a:buNone/>
            </a:pPr>
            <a:r>
              <a:rPr lang="en-US" sz="4000" b="1" dirty="0">
                <a:solidFill>
                  <a:srgbClr val="01A296"/>
                </a:solidFill>
                <a:latin typeface="Cambria" pitchFamily="34" charset="0"/>
                <a:ea typeface="Cambria" pitchFamily="34" charset="-122"/>
                <a:cs typeface="Cambria" pitchFamily="34" charset="-120"/>
              </a:rPr>
              <a:t>iCatalyst</a:t>
            </a:r>
            <a:endParaRPr lang="en-US" sz="4000" dirty="0"/>
          </a:p>
        </p:txBody>
      </p:sp>
      <p:sp>
        <p:nvSpPr>
          <p:cNvPr id="9" name="Text 7"/>
          <p:cNvSpPr/>
          <p:nvPr/>
        </p:nvSpPr>
        <p:spPr>
          <a:xfrm>
            <a:off x="320040" y="1719072"/>
            <a:ext cx="9144000" cy="320040"/>
          </a:xfrm>
          <a:prstGeom prst="rect">
            <a:avLst/>
          </a:prstGeom>
          <a:noFill/>
          <a:ln/>
        </p:spPr>
        <p:txBody>
          <a:bodyPr wrap="square" lIns="0" tIns="0" rIns="0" bIns="0" rtlCol="0" anchor="ctr"/>
          <a:lstStyle/>
          <a:p>
            <a:pPr algn="l" indent="0" marL="0">
              <a:buNone/>
            </a:pPr>
            <a:r>
              <a:rPr lang="en-US" sz="1300" dirty="0">
                <a:solidFill>
                  <a:srgbClr val="000000"/>
                </a:solidFill>
                <a:latin typeface="Calibri" pitchFamily="34" charset="0"/>
                <a:ea typeface="Calibri" pitchFamily="34" charset="-122"/>
                <a:cs typeface="Calibri" pitchFamily="34" charset="-120"/>
              </a:rPr>
              <a:t>Microsoft Dynamics 365 consultancy, Subiaco, Perth WA</a:t>
            </a:r>
            <a:endParaRPr lang="en-US" sz="1300" dirty="0"/>
          </a:p>
        </p:txBody>
      </p:sp>
      <p:sp>
        <p:nvSpPr>
          <p:cNvPr id="10" name="Shape 8"/>
          <p:cNvSpPr/>
          <p:nvPr/>
        </p:nvSpPr>
        <p:spPr>
          <a:xfrm>
            <a:off x="320040" y="2194560"/>
            <a:ext cx="2200595" cy="1463040"/>
          </a:xfrm>
          <a:prstGeom prst="rect">
            <a:avLst/>
          </a:prstGeom>
          <a:solidFill>
            <a:srgbClr val="000000"/>
          </a:solidFill>
          <a:ln/>
        </p:spPr>
      </p:sp>
      <p:sp>
        <p:nvSpPr>
          <p:cNvPr id="11" name="Shape 9"/>
          <p:cNvSpPr/>
          <p:nvPr/>
        </p:nvSpPr>
        <p:spPr>
          <a:xfrm>
            <a:off x="320040" y="2194560"/>
            <a:ext cx="2200595" cy="64008"/>
          </a:xfrm>
          <a:prstGeom prst="rect">
            <a:avLst/>
          </a:prstGeom>
          <a:solidFill>
            <a:srgbClr val="01A296"/>
          </a:solidFill>
          <a:ln/>
        </p:spPr>
      </p:sp>
      <p:sp>
        <p:nvSpPr>
          <p:cNvPr id="12" name="Text 10"/>
          <p:cNvSpPr/>
          <p:nvPr/>
        </p:nvSpPr>
        <p:spPr>
          <a:xfrm>
            <a:off x="429768" y="2395728"/>
            <a:ext cx="1981139" cy="502920"/>
          </a:xfrm>
          <a:prstGeom prst="rect">
            <a:avLst/>
          </a:prstGeom>
          <a:noFill/>
          <a:ln/>
        </p:spPr>
        <p:txBody>
          <a:bodyPr wrap="square" lIns="0" tIns="0" rIns="0" bIns="0" rtlCol="0" anchor="ctr"/>
          <a:lstStyle/>
          <a:p>
            <a:pPr algn="l" indent="0" marL="0">
              <a:buNone/>
            </a:pPr>
            <a:r>
              <a:rPr lang="en-US" sz="2700" b="1" dirty="0">
                <a:solidFill>
                  <a:srgbClr val="F8C806"/>
                </a:solidFill>
                <a:latin typeface="Cambria" pitchFamily="34" charset="0"/>
                <a:ea typeface="Cambria" pitchFamily="34" charset="-122"/>
                <a:cs typeface="Cambria" pitchFamily="34" charset="-120"/>
              </a:rPr>
              <a:t>$13.5M</a:t>
            </a:r>
            <a:endParaRPr lang="en-US" sz="2700" dirty="0"/>
          </a:p>
        </p:txBody>
      </p:sp>
      <p:sp>
        <p:nvSpPr>
          <p:cNvPr id="13" name="Text 11"/>
          <p:cNvSpPr/>
          <p:nvPr/>
        </p:nvSpPr>
        <p:spPr>
          <a:xfrm>
            <a:off x="429768" y="2907792"/>
            <a:ext cx="1981139" cy="457200"/>
          </a:xfrm>
          <a:prstGeom prst="rect">
            <a:avLst/>
          </a:prstGeom>
          <a:noFill/>
          <a:ln/>
        </p:spPr>
        <p:txBody>
          <a:bodyPr wrap="square" lIns="0" tIns="0" rIns="0" bIns="0" rtlCol="0" anchor="ctr"/>
          <a:lstStyle/>
          <a:p>
            <a:pPr algn="l" indent="0" marL="0">
              <a:lnSpc>
                <a:spcPts val="1200"/>
              </a:lnSpc>
              <a:buNone/>
            </a:pPr>
            <a:r>
              <a:rPr lang="en-US" sz="1050" dirty="0">
                <a:solidFill>
                  <a:srgbClr val="E6E5DE"/>
                </a:solidFill>
                <a:latin typeface="Calibri" pitchFamily="34" charset="0"/>
                <a:ea typeface="Calibri" pitchFamily="34" charset="-122"/>
                <a:cs typeface="Calibri" pitchFamily="34" charset="-120"/>
              </a:rPr>
              <a:t>FY2025</a:t>
            </a:r>
            <a:endParaRPr lang="en-US" sz="1050" dirty="0"/>
          </a:p>
          <a:p>
            <a:pPr algn="l" indent="0" marL="0">
              <a:lnSpc>
                <a:spcPts val="1200"/>
              </a:lnSpc>
              <a:buNone/>
            </a:pPr>
            <a:r>
              <a:rPr lang="en-US" sz="1050" dirty="0">
                <a:solidFill>
                  <a:srgbClr val="E6E5DE"/>
                </a:solidFill>
                <a:latin typeface="Calibri" pitchFamily="34" charset="0"/>
                <a:ea typeface="Calibri" pitchFamily="34" charset="-122"/>
                <a:cs typeface="Calibri" pitchFamily="34" charset="-120"/>
              </a:rPr>
              <a:t>revenue</a:t>
            </a:r>
            <a:endParaRPr lang="en-US" sz="1050" dirty="0"/>
          </a:p>
        </p:txBody>
      </p:sp>
      <p:sp>
        <p:nvSpPr>
          <p:cNvPr id="14" name="Text 12"/>
          <p:cNvSpPr/>
          <p:nvPr/>
        </p:nvSpPr>
        <p:spPr>
          <a:xfrm>
            <a:off x="429768" y="3383280"/>
            <a:ext cx="1981139" cy="228600"/>
          </a:xfrm>
          <a:prstGeom prst="rect">
            <a:avLst/>
          </a:prstGeom>
          <a:noFill/>
          <a:ln/>
        </p:spPr>
        <p:txBody>
          <a:bodyPr wrap="square" lIns="0" tIns="0" rIns="0" bIns="0" rtlCol="0" anchor="ctr"/>
          <a:lstStyle/>
          <a:p>
            <a:pPr algn="l" indent="0" marL="0">
              <a:buNone/>
            </a:pPr>
            <a:r>
              <a:rPr lang="en-US" sz="700" i="1" dirty="0">
                <a:solidFill>
                  <a:srgbClr val="01A296"/>
                </a:solidFill>
                <a:latin typeface="Calibri" pitchFamily="34" charset="0"/>
                <a:ea typeface="Calibri" pitchFamily="34" charset="-122"/>
                <a:cs typeface="Calibri" pitchFamily="34" charset="-120"/>
              </a:rPr>
              <a:t>SmartCompany Smart50 2025</a:t>
            </a:r>
            <a:endParaRPr lang="en-US" sz="700" dirty="0"/>
          </a:p>
        </p:txBody>
      </p:sp>
      <p:sp>
        <p:nvSpPr>
          <p:cNvPr id="15" name="Shape 13"/>
          <p:cNvSpPr/>
          <p:nvPr/>
        </p:nvSpPr>
        <p:spPr>
          <a:xfrm>
            <a:off x="2657795" y="2194560"/>
            <a:ext cx="2200595" cy="1463040"/>
          </a:xfrm>
          <a:prstGeom prst="rect">
            <a:avLst/>
          </a:prstGeom>
          <a:solidFill>
            <a:srgbClr val="000000"/>
          </a:solidFill>
          <a:ln/>
        </p:spPr>
      </p:sp>
      <p:sp>
        <p:nvSpPr>
          <p:cNvPr id="16" name="Shape 14"/>
          <p:cNvSpPr/>
          <p:nvPr/>
        </p:nvSpPr>
        <p:spPr>
          <a:xfrm>
            <a:off x="2657795" y="2194560"/>
            <a:ext cx="2200595" cy="64008"/>
          </a:xfrm>
          <a:prstGeom prst="rect">
            <a:avLst/>
          </a:prstGeom>
          <a:solidFill>
            <a:srgbClr val="01A296"/>
          </a:solidFill>
          <a:ln/>
        </p:spPr>
      </p:sp>
      <p:sp>
        <p:nvSpPr>
          <p:cNvPr id="17" name="Text 15"/>
          <p:cNvSpPr/>
          <p:nvPr/>
        </p:nvSpPr>
        <p:spPr>
          <a:xfrm>
            <a:off x="2767523" y="2395728"/>
            <a:ext cx="1981139" cy="502920"/>
          </a:xfrm>
          <a:prstGeom prst="rect">
            <a:avLst/>
          </a:prstGeom>
          <a:noFill/>
          <a:ln/>
        </p:spPr>
        <p:txBody>
          <a:bodyPr wrap="square" lIns="0" tIns="0" rIns="0" bIns="0" rtlCol="0" anchor="ctr"/>
          <a:lstStyle/>
          <a:p>
            <a:pPr algn="l" indent="0" marL="0">
              <a:buNone/>
            </a:pPr>
            <a:r>
              <a:rPr lang="en-US" sz="2700" b="1" dirty="0">
                <a:solidFill>
                  <a:srgbClr val="F8C806"/>
                </a:solidFill>
                <a:latin typeface="Cambria" pitchFamily="34" charset="0"/>
                <a:ea typeface="Cambria" pitchFamily="34" charset="-122"/>
                <a:cs typeface="Cambria" pitchFamily="34" charset="-120"/>
              </a:rPr>
              <a:t>50</a:t>
            </a:r>
            <a:endParaRPr lang="en-US" sz="2700" dirty="0"/>
          </a:p>
        </p:txBody>
      </p:sp>
      <p:sp>
        <p:nvSpPr>
          <p:cNvPr id="18" name="Text 16"/>
          <p:cNvSpPr/>
          <p:nvPr/>
        </p:nvSpPr>
        <p:spPr>
          <a:xfrm>
            <a:off x="2767523" y="2907792"/>
            <a:ext cx="1981139" cy="457200"/>
          </a:xfrm>
          <a:prstGeom prst="rect">
            <a:avLst/>
          </a:prstGeom>
          <a:noFill/>
          <a:ln/>
        </p:spPr>
        <p:txBody>
          <a:bodyPr wrap="square" lIns="0" tIns="0" rIns="0" bIns="0" rtlCol="0" anchor="ctr"/>
          <a:lstStyle/>
          <a:p>
            <a:pPr algn="l" indent="0" marL="0">
              <a:lnSpc>
                <a:spcPts val="1200"/>
              </a:lnSpc>
              <a:buNone/>
            </a:pPr>
            <a:r>
              <a:rPr lang="en-US" sz="1050" dirty="0">
                <a:solidFill>
                  <a:srgbClr val="E6E5DE"/>
                </a:solidFill>
                <a:latin typeface="Calibri" pitchFamily="34" charset="0"/>
                <a:ea typeface="Calibri" pitchFamily="34" charset="-122"/>
                <a:cs typeface="Calibri" pitchFamily="34" charset="-120"/>
              </a:rPr>
              <a:t>People,</a:t>
            </a:r>
            <a:endParaRPr lang="en-US" sz="1050" dirty="0"/>
          </a:p>
          <a:p>
            <a:pPr algn="l" indent="0" marL="0">
              <a:lnSpc>
                <a:spcPts val="1200"/>
              </a:lnSpc>
              <a:buNone/>
            </a:pPr>
            <a:r>
              <a:rPr lang="en-US" sz="1050" dirty="0">
                <a:solidFill>
                  <a:srgbClr val="E6E5DE"/>
                </a:solidFill>
                <a:latin typeface="Calibri" pitchFamily="34" charset="0"/>
                <a:ea typeface="Calibri" pitchFamily="34" charset="-122"/>
                <a:cs typeface="Calibri" pitchFamily="34" charset="-120"/>
              </a:rPr>
              <a:t>FY2025</a:t>
            </a:r>
            <a:endParaRPr lang="en-US" sz="1050" dirty="0"/>
          </a:p>
        </p:txBody>
      </p:sp>
      <p:sp>
        <p:nvSpPr>
          <p:cNvPr id="19" name="Text 17"/>
          <p:cNvSpPr/>
          <p:nvPr/>
        </p:nvSpPr>
        <p:spPr>
          <a:xfrm>
            <a:off x="2767523" y="3383280"/>
            <a:ext cx="1981139" cy="228600"/>
          </a:xfrm>
          <a:prstGeom prst="rect">
            <a:avLst/>
          </a:prstGeom>
          <a:noFill/>
          <a:ln/>
        </p:spPr>
        <p:txBody>
          <a:bodyPr wrap="square" lIns="0" tIns="0" rIns="0" bIns="0" rtlCol="0" anchor="ctr"/>
          <a:lstStyle/>
          <a:p>
            <a:pPr algn="l" indent="0" marL="0">
              <a:buNone/>
            </a:pPr>
            <a:r>
              <a:rPr lang="en-US" sz="700" i="1" dirty="0">
                <a:solidFill>
                  <a:srgbClr val="01A296"/>
                </a:solidFill>
                <a:latin typeface="Calibri" pitchFamily="34" charset="0"/>
                <a:ea typeface="Calibri" pitchFamily="34" charset="-122"/>
                <a:cs typeface="Calibri" pitchFamily="34" charset="-120"/>
              </a:rPr>
              <a:t>SmartCompany Smart50 2025</a:t>
            </a:r>
            <a:endParaRPr lang="en-US" sz="700" dirty="0"/>
          </a:p>
        </p:txBody>
      </p:sp>
      <p:sp>
        <p:nvSpPr>
          <p:cNvPr id="20" name="Shape 18"/>
          <p:cNvSpPr/>
          <p:nvPr/>
        </p:nvSpPr>
        <p:spPr>
          <a:xfrm>
            <a:off x="4995550" y="2194560"/>
            <a:ext cx="2200595" cy="1463040"/>
          </a:xfrm>
          <a:prstGeom prst="rect">
            <a:avLst/>
          </a:prstGeom>
          <a:solidFill>
            <a:srgbClr val="000000"/>
          </a:solidFill>
          <a:ln/>
        </p:spPr>
      </p:sp>
      <p:sp>
        <p:nvSpPr>
          <p:cNvPr id="21" name="Shape 19"/>
          <p:cNvSpPr/>
          <p:nvPr/>
        </p:nvSpPr>
        <p:spPr>
          <a:xfrm>
            <a:off x="4995550" y="2194560"/>
            <a:ext cx="2200595" cy="64008"/>
          </a:xfrm>
          <a:prstGeom prst="rect">
            <a:avLst/>
          </a:prstGeom>
          <a:solidFill>
            <a:srgbClr val="01A296"/>
          </a:solidFill>
          <a:ln/>
        </p:spPr>
      </p:sp>
      <p:sp>
        <p:nvSpPr>
          <p:cNvPr id="22" name="Text 20"/>
          <p:cNvSpPr/>
          <p:nvPr/>
        </p:nvSpPr>
        <p:spPr>
          <a:xfrm>
            <a:off x="5105278" y="2395728"/>
            <a:ext cx="1981139" cy="502920"/>
          </a:xfrm>
          <a:prstGeom prst="rect">
            <a:avLst/>
          </a:prstGeom>
          <a:noFill/>
          <a:ln/>
        </p:spPr>
        <p:txBody>
          <a:bodyPr wrap="square" lIns="0" tIns="0" rIns="0" bIns="0" rtlCol="0" anchor="ctr"/>
          <a:lstStyle/>
          <a:p>
            <a:pPr algn="l" indent="0" marL="0">
              <a:buNone/>
            </a:pPr>
            <a:r>
              <a:rPr lang="en-US" sz="2700" b="1" dirty="0">
                <a:solidFill>
                  <a:srgbClr val="F8C806"/>
                </a:solidFill>
                <a:latin typeface="Cambria" pitchFamily="34" charset="0"/>
                <a:ea typeface="Cambria" pitchFamily="34" charset="-122"/>
                <a:cs typeface="Cambria" pitchFamily="34" charset="-120"/>
              </a:rPr>
              <a:t>16th</a:t>
            </a:r>
            <a:endParaRPr lang="en-US" sz="2700" dirty="0"/>
          </a:p>
        </p:txBody>
      </p:sp>
      <p:sp>
        <p:nvSpPr>
          <p:cNvPr id="23" name="Text 21"/>
          <p:cNvSpPr/>
          <p:nvPr/>
        </p:nvSpPr>
        <p:spPr>
          <a:xfrm>
            <a:off x="5105278" y="2907792"/>
            <a:ext cx="1981139" cy="457200"/>
          </a:xfrm>
          <a:prstGeom prst="rect">
            <a:avLst/>
          </a:prstGeom>
          <a:noFill/>
          <a:ln/>
        </p:spPr>
        <p:txBody>
          <a:bodyPr wrap="square" lIns="0" tIns="0" rIns="0" bIns="0" rtlCol="0" anchor="ctr"/>
          <a:lstStyle/>
          <a:p>
            <a:pPr algn="l" indent="0" marL="0">
              <a:lnSpc>
                <a:spcPts val="1200"/>
              </a:lnSpc>
              <a:buNone/>
            </a:pPr>
            <a:r>
              <a:rPr lang="en-US" sz="1050" dirty="0">
                <a:solidFill>
                  <a:srgbClr val="E6E5DE"/>
                </a:solidFill>
                <a:latin typeface="Calibri" pitchFamily="34" charset="0"/>
                <a:ea typeface="Calibri" pitchFamily="34" charset="-122"/>
                <a:cs typeface="Calibri" pitchFamily="34" charset="-120"/>
              </a:rPr>
              <a:t>Smart50 2025</a:t>
            </a:r>
            <a:endParaRPr lang="en-US" sz="1050" dirty="0"/>
          </a:p>
          <a:p>
            <a:pPr algn="l" indent="0" marL="0">
              <a:lnSpc>
                <a:spcPts val="1200"/>
              </a:lnSpc>
              <a:buNone/>
            </a:pPr>
            <a:r>
              <a:rPr lang="en-US" sz="1050" dirty="0">
                <a:solidFill>
                  <a:srgbClr val="E6E5DE"/>
                </a:solidFill>
                <a:latin typeface="Calibri" pitchFamily="34" charset="0"/>
                <a:ea typeface="Calibri" pitchFamily="34" charset="-122"/>
                <a:cs typeface="Calibri" pitchFamily="34" charset="-120"/>
              </a:rPr>
              <a:t>ranking</a:t>
            </a:r>
            <a:endParaRPr lang="en-US" sz="1050" dirty="0"/>
          </a:p>
        </p:txBody>
      </p:sp>
      <p:sp>
        <p:nvSpPr>
          <p:cNvPr id="24" name="Text 22"/>
          <p:cNvSpPr/>
          <p:nvPr/>
        </p:nvSpPr>
        <p:spPr>
          <a:xfrm>
            <a:off x="5105278" y="3383280"/>
            <a:ext cx="1981139" cy="228600"/>
          </a:xfrm>
          <a:prstGeom prst="rect">
            <a:avLst/>
          </a:prstGeom>
          <a:noFill/>
          <a:ln/>
        </p:spPr>
        <p:txBody>
          <a:bodyPr wrap="square" lIns="0" tIns="0" rIns="0" bIns="0" rtlCol="0" anchor="ctr"/>
          <a:lstStyle/>
          <a:p>
            <a:pPr algn="l" indent="0" marL="0">
              <a:buNone/>
            </a:pPr>
            <a:r>
              <a:rPr lang="en-US" sz="700" i="1" dirty="0">
                <a:solidFill>
                  <a:srgbClr val="01A296"/>
                </a:solidFill>
                <a:latin typeface="Calibri" pitchFamily="34" charset="0"/>
                <a:ea typeface="Calibri" pitchFamily="34" charset="-122"/>
                <a:cs typeface="Calibri" pitchFamily="34" charset="-120"/>
              </a:rPr>
              <a:t>SmartCompany Smart50 2025</a:t>
            </a:r>
            <a:endParaRPr lang="en-US" sz="700" dirty="0"/>
          </a:p>
        </p:txBody>
      </p:sp>
      <p:sp>
        <p:nvSpPr>
          <p:cNvPr id="25" name="Shape 23"/>
          <p:cNvSpPr/>
          <p:nvPr/>
        </p:nvSpPr>
        <p:spPr>
          <a:xfrm>
            <a:off x="7333305" y="2194560"/>
            <a:ext cx="2200595" cy="1463040"/>
          </a:xfrm>
          <a:prstGeom prst="rect">
            <a:avLst/>
          </a:prstGeom>
          <a:solidFill>
            <a:srgbClr val="000000"/>
          </a:solidFill>
          <a:ln/>
        </p:spPr>
      </p:sp>
      <p:sp>
        <p:nvSpPr>
          <p:cNvPr id="26" name="Shape 24"/>
          <p:cNvSpPr/>
          <p:nvPr/>
        </p:nvSpPr>
        <p:spPr>
          <a:xfrm>
            <a:off x="7333305" y="2194560"/>
            <a:ext cx="2200595" cy="64008"/>
          </a:xfrm>
          <a:prstGeom prst="rect">
            <a:avLst/>
          </a:prstGeom>
          <a:solidFill>
            <a:srgbClr val="01A296"/>
          </a:solidFill>
          <a:ln/>
        </p:spPr>
      </p:sp>
      <p:sp>
        <p:nvSpPr>
          <p:cNvPr id="27" name="Text 25"/>
          <p:cNvSpPr/>
          <p:nvPr/>
        </p:nvSpPr>
        <p:spPr>
          <a:xfrm>
            <a:off x="7443033" y="2395728"/>
            <a:ext cx="1981139" cy="502920"/>
          </a:xfrm>
          <a:prstGeom prst="rect">
            <a:avLst/>
          </a:prstGeom>
          <a:noFill/>
          <a:ln/>
        </p:spPr>
        <p:txBody>
          <a:bodyPr wrap="square" lIns="0" tIns="0" rIns="0" bIns="0" rtlCol="0" anchor="ctr"/>
          <a:lstStyle/>
          <a:p>
            <a:pPr algn="l" indent="0" marL="0">
              <a:buNone/>
            </a:pPr>
            <a:r>
              <a:rPr lang="en-US" sz="2700" b="1" dirty="0">
                <a:solidFill>
                  <a:srgbClr val="F8C806"/>
                </a:solidFill>
                <a:latin typeface="Cambria" pitchFamily="34" charset="0"/>
                <a:ea typeface="Cambria" pitchFamily="34" charset="-122"/>
                <a:cs typeface="Cambria" pitchFamily="34" charset="-120"/>
              </a:rPr>
              <a:t>2020</a:t>
            </a:r>
            <a:endParaRPr lang="en-US" sz="2700" dirty="0"/>
          </a:p>
        </p:txBody>
      </p:sp>
      <p:sp>
        <p:nvSpPr>
          <p:cNvPr id="28" name="Text 26"/>
          <p:cNvSpPr/>
          <p:nvPr/>
        </p:nvSpPr>
        <p:spPr>
          <a:xfrm>
            <a:off x="7443033" y="2907792"/>
            <a:ext cx="1981139" cy="457200"/>
          </a:xfrm>
          <a:prstGeom prst="rect">
            <a:avLst/>
          </a:prstGeom>
          <a:noFill/>
          <a:ln/>
        </p:spPr>
        <p:txBody>
          <a:bodyPr wrap="square" lIns="0" tIns="0" rIns="0" bIns="0" rtlCol="0" anchor="ctr"/>
          <a:lstStyle/>
          <a:p>
            <a:pPr algn="l" indent="0" marL="0">
              <a:lnSpc>
                <a:spcPts val="1200"/>
              </a:lnSpc>
              <a:buNone/>
            </a:pPr>
            <a:r>
              <a:rPr lang="en-US" sz="1050" dirty="0">
                <a:solidFill>
                  <a:srgbClr val="E6E5DE"/>
                </a:solidFill>
                <a:latin typeface="Calibri" pitchFamily="34" charset="0"/>
                <a:ea typeface="Calibri" pitchFamily="34" charset="-122"/>
                <a:cs typeface="Calibri" pitchFamily="34" charset="-120"/>
              </a:rPr>
              <a:t>Year</a:t>
            </a:r>
            <a:endParaRPr lang="en-US" sz="1050" dirty="0"/>
          </a:p>
          <a:p>
            <a:pPr algn="l" indent="0" marL="0">
              <a:lnSpc>
                <a:spcPts val="1200"/>
              </a:lnSpc>
              <a:buNone/>
            </a:pPr>
            <a:r>
              <a:rPr lang="en-US" sz="1050" dirty="0">
                <a:solidFill>
                  <a:srgbClr val="E6E5DE"/>
                </a:solidFill>
                <a:latin typeface="Calibri" pitchFamily="34" charset="0"/>
                <a:ea typeface="Calibri" pitchFamily="34" charset="-122"/>
                <a:cs typeface="Calibri" pitchFamily="34" charset="-120"/>
              </a:rPr>
              <a:t>founded</a:t>
            </a:r>
            <a:endParaRPr lang="en-US" sz="1050" dirty="0"/>
          </a:p>
        </p:txBody>
      </p:sp>
      <p:sp>
        <p:nvSpPr>
          <p:cNvPr id="29" name="Text 27"/>
          <p:cNvSpPr/>
          <p:nvPr/>
        </p:nvSpPr>
        <p:spPr>
          <a:xfrm>
            <a:off x="7443033" y="3383280"/>
            <a:ext cx="1981139" cy="228600"/>
          </a:xfrm>
          <a:prstGeom prst="rect">
            <a:avLst/>
          </a:prstGeom>
          <a:noFill/>
          <a:ln/>
        </p:spPr>
        <p:txBody>
          <a:bodyPr wrap="square" lIns="0" tIns="0" rIns="0" bIns="0" rtlCol="0" anchor="ctr"/>
          <a:lstStyle/>
          <a:p>
            <a:pPr algn="l" indent="0" marL="0">
              <a:buNone/>
            </a:pPr>
            <a:r>
              <a:rPr lang="en-US" sz="700" i="1" dirty="0">
                <a:solidFill>
                  <a:srgbClr val="01A296"/>
                </a:solidFill>
                <a:latin typeface="Calibri" pitchFamily="34" charset="0"/>
                <a:ea typeface="Calibri" pitchFamily="34" charset="-122"/>
                <a:cs typeface="Calibri" pitchFamily="34" charset="-120"/>
              </a:rPr>
              <a:t>iCatalyst About Us page</a:t>
            </a:r>
            <a:endParaRPr lang="en-US" sz="700" dirty="0"/>
          </a:p>
        </p:txBody>
      </p:sp>
      <p:sp>
        <p:nvSpPr>
          <p:cNvPr id="30" name="Shape 28"/>
          <p:cNvSpPr/>
          <p:nvPr/>
        </p:nvSpPr>
        <p:spPr>
          <a:xfrm>
            <a:off x="9671060" y="2194560"/>
            <a:ext cx="2200595" cy="1463040"/>
          </a:xfrm>
          <a:prstGeom prst="rect">
            <a:avLst/>
          </a:prstGeom>
          <a:solidFill>
            <a:srgbClr val="000000"/>
          </a:solidFill>
          <a:ln/>
        </p:spPr>
      </p:sp>
      <p:sp>
        <p:nvSpPr>
          <p:cNvPr id="31" name="Shape 29"/>
          <p:cNvSpPr/>
          <p:nvPr/>
        </p:nvSpPr>
        <p:spPr>
          <a:xfrm>
            <a:off x="9671060" y="2194560"/>
            <a:ext cx="2200595" cy="64008"/>
          </a:xfrm>
          <a:prstGeom prst="rect">
            <a:avLst/>
          </a:prstGeom>
          <a:solidFill>
            <a:srgbClr val="01A296"/>
          </a:solidFill>
          <a:ln/>
        </p:spPr>
      </p:sp>
      <p:sp>
        <p:nvSpPr>
          <p:cNvPr id="32" name="Text 30"/>
          <p:cNvSpPr/>
          <p:nvPr/>
        </p:nvSpPr>
        <p:spPr>
          <a:xfrm>
            <a:off x="9780788" y="2395728"/>
            <a:ext cx="1981139" cy="502920"/>
          </a:xfrm>
          <a:prstGeom prst="rect">
            <a:avLst/>
          </a:prstGeom>
          <a:noFill/>
          <a:ln/>
        </p:spPr>
        <p:txBody>
          <a:bodyPr wrap="square" lIns="0" tIns="0" rIns="0" bIns="0" rtlCol="0" anchor="ctr"/>
          <a:lstStyle/>
          <a:p>
            <a:pPr algn="l" indent="0" marL="0">
              <a:buNone/>
            </a:pPr>
            <a:r>
              <a:rPr lang="en-US" sz="2700" b="1" dirty="0">
                <a:solidFill>
                  <a:srgbClr val="F8C806"/>
                </a:solidFill>
                <a:latin typeface="Cambria" pitchFamily="34" charset="0"/>
                <a:ea typeface="Cambria" pitchFamily="34" charset="-122"/>
                <a:cs typeface="Cambria" pitchFamily="34" charset="-120"/>
              </a:rPr>
              <a:t>162%</a:t>
            </a:r>
            <a:endParaRPr lang="en-US" sz="2700" dirty="0"/>
          </a:p>
        </p:txBody>
      </p:sp>
      <p:sp>
        <p:nvSpPr>
          <p:cNvPr id="33" name="Text 31"/>
          <p:cNvSpPr/>
          <p:nvPr/>
        </p:nvSpPr>
        <p:spPr>
          <a:xfrm>
            <a:off x="9780788" y="2907792"/>
            <a:ext cx="1981139" cy="457200"/>
          </a:xfrm>
          <a:prstGeom prst="rect">
            <a:avLst/>
          </a:prstGeom>
          <a:noFill/>
          <a:ln/>
        </p:spPr>
        <p:txBody>
          <a:bodyPr wrap="square" lIns="0" tIns="0" rIns="0" bIns="0" rtlCol="0" anchor="ctr"/>
          <a:lstStyle/>
          <a:p>
            <a:pPr algn="l" indent="0" marL="0">
              <a:lnSpc>
                <a:spcPts val="1200"/>
              </a:lnSpc>
              <a:buNone/>
            </a:pPr>
            <a:r>
              <a:rPr lang="en-US" sz="1050" dirty="0">
                <a:solidFill>
                  <a:srgbClr val="E6E5DE"/>
                </a:solidFill>
                <a:latin typeface="Calibri" pitchFamily="34" charset="0"/>
                <a:ea typeface="Calibri" pitchFamily="34" charset="-122"/>
                <a:cs typeface="Calibri" pitchFamily="34" charset="-120"/>
              </a:rPr>
              <a:t>2024 year on</a:t>
            </a:r>
            <a:endParaRPr lang="en-US" sz="1050" dirty="0"/>
          </a:p>
          <a:p>
            <a:pPr algn="l" indent="0" marL="0">
              <a:lnSpc>
                <a:spcPts val="1200"/>
              </a:lnSpc>
              <a:buNone/>
            </a:pPr>
            <a:r>
              <a:rPr lang="en-US" sz="1050" dirty="0">
                <a:solidFill>
                  <a:srgbClr val="E6E5DE"/>
                </a:solidFill>
                <a:latin typeface="Calibri" pitchFamily="34" charset="0"/>
                <a:ea typeface="Calibri" pitchFamily="34" charset="-122"/>
                <a:cs typeface="Calibri" pitchFamily="34" charset="-120"/>
              </a:rPr>
              <a:t>year growth</a:t>
            </a:r>
            <a:endParaRPr lang="en-US" sz="1050" dirty="0"/>
          </a:p>
        </p:txBody>
      </p:sp>
      <p:sp>
        <p:nvSpPr>
          <p:cNvPr id="34" name="Text 32"/>
          <p:cNvSpPr/>
          <p:nvPr/>
        </p:nvSpPr>
        <p:spPr>
          <a:xfrm>
            <a:off x="9780788" y="3383280"/>
            <a:ext cx="1981139" cy="228600"/>
          </a:xfrm>
          <a:prstGeom prst="rect">
            <a:avLst/>
          </a:prstGeom>
          <a:noFill/>
          <a:ln/>
        </p:spPr>
        <p:txBody>
          <a:bodyPr wrap="square" lIns="0" tIns="0" rIns="0" bIns="0" rtlCol="0" anchor="ctr"/>
          <a:lstStyle/>
          <a:p>
            <a:pPr algn="l" indent="0" marL="0">
              <a:buNone/>
            </a:pPr>
            <a:r>
              <a:rPr lang="en-US" sz="700" i="1" dirty="0">
                <a:solidFill>
                  <a:srgbClr val="01A296"/>
                </a:solidFill>
                <a:latin typeface="Calibri" pitchFamily="34" charset="0"/>
                <a:ea typeface="Calibri" pitchFamily="34" charset="-122"/>
                <a:cs typeface="Calibri" pitchFamily="34" charset="-120"/>
              </a:rPr>
              <a:t>SmartCompany Smart50 2024</a:t>
            </a:r>
            <a:endParaRPr lang="en-US" sz="700" dirty="0"/>
          </a:p>
        </p:txBody>
      </p:sp>
      <p:sp>
        <p:nvSpPr>
          <p:cNvPr id="35" name="Text 33"/>
          <p:cNvSpPr/>
          <p:nvPr/>
        </p:nvSpPr>
        <p:spPr>
          <a:xfrm>
            <a:off x="320040" y="3886200"/>
            <a:ext cx="7315200" cy="274320"/>
          </a:xfrm>
          <a:prstGeom prst="rect">
            <a:avLst/>
          </a:prstGeom>
          <a:noFill/>
          <a:ln/>
        </p:spPr>
        <p:txBody>
          <a:bodyPr wrap="square" lIns="0" tIns="0" rIns="0" bIns="0" rtlCol="0" anchor="ctr"/>
          <a:lstStyle/>
          <a:p>
            <a:pPr algn="l" indent="0" marL="0">
              <a:buNone/>
            </a:pPr>
            <a:r>
              <a:rPr lang="en-US" sz="1200" b="1" spc="100" kern="0" dirty="0">
                <a:solidFill>
                  <a:srgbClr val="01A296"/>
                </a:solidFill>
                <a:latin typeface="Calibri" pitchFamily="34" charset="0"/>
                <a:ea typeface="Calibri" pitchFamily="34" charset="-122"/>
                <a:cs typeface="Calibri" pitchFamily="34" charset="-120"/>
              </a:rPr>
              <a:t>KEY COMMERCIAL SIGNALS</a:t>
            </a:r>
            <a:endParaRPr lang="en-US" sz="1200" dirty="0"/>
          </a:p>
        </p:txBody>
      </p:sp>
      <p:sp>
        <p:nvSpPr>
          <p:cNvPr id="36" name="Text 34"/>
          <p:cNvSpPr/>
          <p:nvPr/>
        </p:nvSpPr>
        <p:spPr>
          <a:xfrm>
            <a:off x="320040" y="4206240"/>
            <a:ext cx="11551615" cy="2194560"/>
          </a:xfrm>
          <a:prstGeom prst="rect">
            <a:avLst/>
          </a:prstGeom>
          <a:noFill/>
          <a:ln/>
        </p:spPr>
        <p:txBody>
          <a:bodyPr wrap="square" lIns="0" tIns="0" rIns="0" bIns="0" rtlCol="0" anchor="t"/>
          <a:lstStyle/>
          <a:p>
            <a:pPr marL="342900" indent="-342900">
              <a:spcAft>
                <a:spcPts val="1300"/>
              </a:spcAft>
              <a:buSzPct val="100000"/>
              <a:buChar char="●"/>
            </a:pPr>
            <a:r>
              <a:rPr lang="en-US" sz="1350" dirty="0">
                <a:solidFill>
                  <a:srgbClr val="000000"/>
                </a:solidFill>
                <a:latin typeface="Calibri" pitchFamily="34" charset="0"/>
                <a:ea typeface="Calibri" pitchFamily="34" charset="-122"/>
                <a:cs typeface="Calibri" pitchFamily="34" charset="-120"/>
              </a:rPr>
              <a:t>Revenue grew from $5.22M in 2023 to $13.5M in 2025, per Smart50 citations.</a:t>
            </a:r>
            <a:endParaRPr lang="en-US" sz="1350" dirty="0"/>
          </a:p>
          <a:p>
            <a:pPr marL="342900" indent="-342900">
              <a:spcAft>
                <a:spcPts val="1300"/>
              </a:spcAft>
              <a:buSzPct val="100000"/>
              <a:buChar char="●"/>
            </a:pPr>
            <a:r>
              <a:rPr lang="en-US" sz="1350" dirty="0">
                <a:solidFill>
                  <a:srgbClr val="000000"/>
                </a:solidFill>
                <a:latin typeface="Calibri" pitchFamily="34" charset="0"/>
                <a:ea typeface="Calibri" pitchFamily="34" charset="-122"/>
                <a:cs typeface="Calibri" pitchFamily="34" charset="-120"/>
              </a:rPr>
              <a:t>Acquired Brisbane firm Beyond CRM in June 2026 to expand nationally.</a:t>
            </a:r>
            <a:endParaRPr lang="en-US" sz="1350" dirty="0"/>
          </a:p>
          <a:p>
            <a:pPr marL="342900" indent="-342900">
              <a:spcAft>
                <a:spcPts val="1300"/>
              </a:spcAft>
              <a:buSzPct val="100000"/>
              <a:buChar char="●"/>
            </a:pPr>
            <a:r>
              <a:rPr lang="en-US" sz="1350" dirty="0">
                <a:solidFill>
                  <a:srgbClr val="000000"/>
                </a:solidFill>
                <a:latin typeface="Calibri" pitchFamily="34" charset="0"/>
                <a:ea typeface="Calibri" pitchFamily="34" charset="-122"/>
                <a:cs typeface="Calibri" pitchFamily="34" charset="-120"/>
              </a:rPr>
              <a:t>Appointed two senior Delivery Executives in Perth and Melbourne, May 2026.</a:t>
            </a:r>
            <a:endParaRPr lang="en-US" sz="1350" dirty="0"/>
          </a:p>
          <a:p>
            <a:pPr marL="342900" indent="-342900">
              <a:spcAft>
                <a:spcPts val="1300"/>
              </a:spcAft>
              <a:buSzPct val="100000"/>
              <a:buChar char="●"/>
            </a:pPr>
            <a:r>
              <a:rPr lang="en-US" sz="1350" dirty="0">
                <a:solidFill>
                  <a:srgbClr val="000000"/>
                </a:solidFill>
                <a:latin typeface="Calibri" pitchFamily="34" charset="0"/>
                <a:ea typeface="Calibri" pitchFamily="34" charset="-122"/>
                <a:cs typeface="Calibri" pitchFamily="34" charset="-120"/>
              </a:rPr>
              <a:t>Consultants now cover Perth, Victoria, Queensland and New South Wales.</a:t>
            </a:r>
            <a:endParaRPr lang="en-US" sz="1350" dirty="0"/>
          </a:p>
          <a:p>
            <a:pPr marL="342900" indent="-342900">
              <a:spcAft>
                <a:spcPts val="1300"/>
              </a:spcAft>
              <a:buSzPct val="100000"/>
              <a:buChar char="●"/>
            </a:pPr>
            <a:r>
              <a:rPr lang="en-US" sz="1350" dirty="0">
                <a:solidFill>
                  <a:srgbClr val="000000"/>
                </a:solidFill>
                <a:latin typeface="Calibri" pitchFamily="34" charset="0"/>
                <a:ea typeface="Calibri" pitchFamily="34" charset="-122"/>
                <a:cs typeface="Calibri" pitchFamily="34" charset="-120"/>
              </a:rPr>
              <a:t>Partnered with SIS to deliver SIS Construct 365 to construction clients.</a:t>
            </a:r>
            <a:endParaRPr lang="en-US" sz="1350" dirty="0"/>
          </a:p>
          <a:p>
            <a:pPr marL="342900" indent="-342900">
              <a:spcAft>
                <a:spcPts val="1300"/>
              </a:spcAft>
              <a:buSzPct val="100000"/>
              <a:buChar char="●"/>
            </a:pPr>
            <a:r>
              <a:rPr lang="en-US" sz="1350" dirty="0">
                <a:solidFill>
                  <a:srgbClr val="000000"/>
                </a:solidFill>
                <a:latin typeface="Calibri" pitchFamily="34" charset="0"/>
                <a:ea typeface="Calibri" pitchFamily="34" charset="-122"/>
                <a:cs typeface="Calibri" pitchFamily="34" charset="-120"/>
              </a:rPr>
              <a:t>Grew from 33 to 50 people between 2023 and 2025, per Smart50 filings.</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F6A102"/>
          </a:solidFill>
          <a:ln/>
        </p:spPr>
      </p:sp>
      <p:sp>
        <p:nvSpPr>
          <p:cNvPr id="3" name="Shape 1"/>
          <p:cNvSpPr/>
          <p:nvPr/>
        </p:nvSpPr>
        <p:spPr>
          <a:xfrm>
            <a:off x="0" y="0"/>
            <a:ext cx="12191695" cy="914400"/>
          </a:xfrm>
          <a:prstGeom prst="rect">
            <a:avLst/>
          </a:prstGeom>
          <a:solidFill>
            <a:srgbClr val="000000"/>
          </a:solidFill>
          <a:ln/>
        </p:spPr>
      </p:sp>
      <p:sp>
        <p:nvSpPr>
          <p:cNvPr id="4" name="Text 2"/>
          <p:cNvSpPr/>
          <p:nvPr/>
        </p:nvSpPr>
        <p:spPr>
          <a:xfrm>
            <a:off x="320040" y="292608"/>
            <a:ext cx="7772400" cy="365760"/>
          </a:xfrm>
          <a:prstGeom prst="rect">
            <a:avLst/>
          </a:prstGeom>
          <a:noFill/>
          <a:ln/>
        </p:spPr>
        <p:txBody>
          <a:bodyPr wrap="square" lIns="0" tIns="0" rIns="0" bIns="0" rtlCol="0" anchor="ctr"/>
          <a:lstStyle/>
          <a:p>
            <a:pPr algn="l" indent="0" marL="0">
              <a:buNone/>
            </a:pPr>
            <a:r>
              <a:rPr lang="en-US" sz="1200" b="1" spc="100" kern="0" dirty="0">
                <a:solidFill>
                  <a:srgbClr val="E6E5DE"/>
                </a:solidFill>
                <a:latin typeface="Calibri" pitchFamily="34" charset="0"/>
                <a:ea typeface="Calibri" pitchFamily="34" charset="-122"/>
                <a:cs typeface="Calibri" pitchFamily="34" charset="-120"/>
              </a:rPr>
              <a:t>THE OPPORTUNITY</a:t>
            </a:r>
            <a:endParaRPr lang="en-US" sz="1200" dirty="0"/>
          </a:p>
        </p:txBody>
      </p:sp>
      <p:sp>
        <p:nvSpPr>
          <p:cNvPr id="5" name="Text 3"/>
          <p:cNvSpPr/>
          <p:nvPr/>
        </p:nvSpPr>
        <p:spPr>
          <a:xfrm>
            <a:off x="8214055" y="292608"/>
            <a:ext cx="3657600"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alibri" pitchFamily="34" charset="0"/>
                <a:ea typeface="Calibri" pitchFamily="34" charset="-122"/>
                <a:cs typeface="Calibri" pitchFamily="34" charset="-120"/>
              </a:rPr>
              <a:t>PROFITPULSE</a:t>
            </a:r>
            <a:endParaRPr lang="en-US" sz="1300" dirty="0"/>
          </a:p>
        </p:txBody>
      </p:sp>
      <p:sp>
        <p:nvSpPr>
          <p:cNvPr id="6" name="Text 4"/>
          <p:cNvSpPr/>
          <p:nvPr/>
        </p:nvSpPr>
        <p:spPr>
          <a:xfrm>
            <a:off x="320040" y="6473952"/>
            <a:ext cx="7772400" cy="274320"/>
          </a:xfrm>
          <a:prstGeom prst="rect">
            <a:avLst/>
          </a:prstGeom>
          <a:noFill/>
          <a:ln/>
        </p:spPr>
        <p:txBody>
          <a:bodyPr wrap="square" lIns="0" tIns="0" rIns="0" bIns="0" rtlCol="0" anchor="ctr"/>
          <a:lstStyle/>
          <a:p>
            <a:pPr algn="l" indent="0" marL="0">
              <a:buNone/>
            </a:pPr>
            <a:r>
              <a:rPr lang="en-US" sz="800" dirty="0">
                <a:solidFill>
                  <a:srgbClr val="01A296"/>
                </a:solidFill>
                <a:latin typeface="Calibri" pitchFamily="34" charset="0"/>
                <a:ea typeface="Calibri" pitchFamily="34" charset="-122"/>
                <a:cs typeface="Calibri" pitchFamily="34" charset="-120"/>
              </a:rPr>
              <a:t>Prepared by Nitesh Roopa CA, Managing Partner, ProfitPulse, Profit-Pulse.com.au</a:t>
            </a:r>
            <a:endParaRPr lang="en-US" sz="800" dirty="0"/>
          </a:p>
        </p:txBody>
      </p:sp>
      <p:sp>
        <p:nvSpPr>
          <p:cNvPr id="7" name="Text 5"/>
          <p:cNvSpPr/>
          <p:nvPr/>
        </p:nvSpPr>
        <p:spPr>
          <a:xfrm>
            <a:off x="9585655" y="6473952"/>
            <a:ext cx="2286000" cy="274320"/>
          </a:xfrm>
          <a:prstGeom prst="rect">
            <a:avLst/>
          </a:prstGeom>
          <a:noFill/>
          <a:ln/>
        </p:spPr>
        <p:txBody>
          <a:bodyPr wrap="square" lIns="0" tIns="0" rIns="0" bIns="0" rtlCol="0" anchor="ctr"/>
          <a:lstStyle/>
          <a:p>
            <a:pPr algn="r" indent="0" marL="0">
              <a:buNone/>
            </a:pPr>
            <a:r>
              <a:rPr lang="en-US" sz="800" dirty="0">
                <a:solidFill>
                  <a:srgbClr val="01A296"/>
                </a:solidFill>
                <a:latin typeface="Calibri" pitchFamily="34" charset="0"/>
                <a:ea typeface="Calibri" pitchFamily="34" charset="-122"/>
                <a:cs typeface="Calibri" pitchFamily="34" charset="-120"/>
              </a:rPr>
              <a:t>29 Jul 2026</a:t>
            </a:r>
            <a:endParaRPr lang="en-US" sz="800" dirty="0"/>
          </a:p>
        </p:txBody>
      </p:sp>
      <p:sp>
        <p:nvSpPr>
          <p:cNvPr id="8" name="Text 6"/>
          <p:cNvSpPr/>
          <p:nvPr/>
        </p:nvSpPr>
        <p:spPr>
          <a:xfrm>
            <a:off x="320040" y="1024128"/>
            <a:ext cx="11551615" cy="365760"/>
          </a:xfrm>
          <a:prstGeom prst="rect">
            <a:avLst/>
          </a:prstGeom>
          <a:noFill/>
          <a:ln/>
        </p:spPr>
        <p:txBody>
          <a:bodyPr wrap="square" lIns="0" tIns="0" rIns="0" bIns="0" rtlCol="0" anchor="ctr"/>
          <a:lstStyle/>
          <a:p>
            <a:pPr algn="l" indent="0" marL="0">
              <a:buNone/>
            </a:pPr>
            <a:r>
              <a:rPr lang="en-US" sz="1700" b="1" dirty="0">
                <a:solidFill>
                  <a:srgbClr val="000000"/>
                </a:solidFill>
                <a:latin typeface="Cambria" pitchFamily="34" charset="0"/>
                <a:ea typeface="Cambria" pitchFamily="34" charset="-122"/>
                <a:cs typeface="Cambria" pitchFamily="34" charset="-120"/>
              </a:rPr>
              <a:t>iCatalyst: </a:t>
            </a:r>
            <a:pPr algn="l" indent="0" marL="0">
              <a:buNone/>
            </a:pPr>
            <a:r>
              <a:rPr lang="en-US" sz="1700" dirty="0">
                <a:solidFill>
                  <a:srgbClr val="000000"/>
                </a:solidFill>
                <a:latin typeface="Cambria" pitchFamily="34" charset="0"/>
                <a:ea typeface="Cambria" pitchFamily="34" charset="-122"/>
                <a:cs typeface="Cambria" pitchFamily="34" charset="-120"/>
              </a:rPr>
              <a:t>Three commercial observations from ProfitPulse</a:t>
            </a:r>
            <a:endParaRPr lang="en-US" sz="1700" dirty="0"/>
          </a:p>
        </p:txBody>
      </p:sp>
      <p:sp>
        <p:nvSpPr>
          <p:cNvPr id="9" name="Shape 7"/>
          <p:cNvSpPr/>
          <p:nvPr/>
        </p:nvSpPr>
        <p:spPr>
          <a:xfrm>
            <a:off x="320040" y="1508760"/>
            <a:ext cx="3728618" cy="3794760"/>
          </a:xfrm>
          <a:prstGeom prst="rect">
            <a:avLst/>
          </a:prstGeom>
          <a:solidFill>
            <a:srgbClr val="01A296"/>
          </a:solidFill>
          <a:ln/>
        </p:spPr>
      </p:sp>
      <p:sp>
        <p:nvSpPr>
          <p:cNvPr id="10" name="Text 8"/>
          <p:cNvSpPr/>
          <p:nvPr/>
        </p:nvSpPr>
        <p:spPr>
          <a:xfrm>
            <a:off x="521208" y="1673352"/>
            <a:ext cx="3326282" cy="50292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01</a:t>
            </a:r>
            <a:endParaRPr lang="en-US" sz="3000" dirty="0"/>
          </a:p>
        </p:txBody>
      </p:sp>
      <p:sp>
        <p:nvSpPr>
          <p:cNvPr id="11" name="Text 9"/>
          <p:cNvSpPr/>
          <p:nvPr/>
        </p:nvSpPr>
        <p:spPr>
          <a:xfrm>
            <a:off x="521208" y="2221992"/>
            <a:ext cx="3326282" cy="685800"/>
          </a:xfrm>
          <a:prstGeom prst="rect">
            <a:avLst/>
          </a:prstGeom>
          <a:noFill/>
          <a:ln/>
        </p:spPr>
        <p:txBody>
          <a:bodyPr wrap="square" lIns="0" tIns="0" rIns="0" bIns="0" rtlCol="0" anchor="ctr"/>
          <a:lstStyle/>
          <a:p>
            <a:pPr algn="l" indent="0" marL="0">
              <a:lnSpc>
                <a:spcPts val="1700"/>
              </a:lnSpc>
              <a:buNone/>
            </a:pPr>
            <a:r>
              <a:rPr lang="en-US" sz="1500" b="1" dirty="0">
                <a:solidFill>
                  <a:srgbClr val="000000"/>
                </a:solidFill>
                <a:latin typeface="Cambria" pitchFamily="34" charset="0"/>
                <a:ea typeface="Cambria" pitchFamily="34" charset="-122"/>
                <a:cs typeface="Cambria" pitchFamily="34" charset="-120"/>
              </a:rPr>
              <a:t>Delivery capacity is outpacing visibility</a:t>
            </a:r>
            <a:endParaRPr lang="en-US" sz="1500" dirty="0"/>
          </a:p>
        </p:txBody>
      </p:sp>
      <p:sp>
        <p:nvSpPr>
          <p:cNvPr id="12" name="Text 10"/>
          <p:cNvSpPr/>
          <p:nvPr/>
        </p:nvSpPr>
        <p:spPr>
          <a:xfrm>
            <a:off x="521208" y="2990088"/>
            <a:ext cx="3326282" cy="1828800"/>
          </a:xfrm>
          <a:prstGeom prst="rect">
            <a:avLst/>
          </a:prstGeom>
          <a:noFill/>
          <a:ln/>
        </p:spPr>
        <p:txBody>
          <a:bodyPr wrap="square" lIns="0" tIns="0" rIns="0" bIns="0" rtlCol="0" anchor="t"/>
          <a:lstStyle/>
          <a:p>
            <a:pPr algn="l" indent="0" marL="0">
              <a:lnSpc>
                <a:spcPts val="1450"/>
              </a:lnSpc>
              <a:buNone/>
            </a:pPr>
            <a:r>
              <a:rPr lang="en-US" sz="1100" dirty="0">
                <a:solidFill>
                  <a:srgbClr val="000000"/>
                </a:solidFill>
                <a:latin typeface="Calibri" pitchFamily="34" charset="0"/>
                <a:ea typeface="Calibri" pitchFamily="34" charset="-122"/>
                <a:cs typeface="Calibri" pitchFamily="34" charset="-120"/>
              </a:rPr>
              <a:t>iCatalyst grew from 33 to 50 people while revenue rose from $5.22M to $13.5M, then added two senior Delivery Executives in May 2026 to run larger projects. The natural next question is whether billable time across a now multi state team is converting into margin as cleanly as headcount is converting into cost.</a:t>
            </a:r>
            <a:endParaRPr lang="en-US" sz="1100" dirty="0"/>
          </a:p>
        </p:txBody>
      </p:sp>
      <p:sp>
        <p:nvSpPr>
          <p:cNvPr id="13" name="Text 11"/>
          <p:cNvSpPr/>
          <p:nvPr/>
        </p:nvSpPr>
        <p:spPr>
          <a:xfrm>
            <a:off x="521208" y="4919472"/>
            <a:ext cx="3326282" cy="274320"/>
          </a:xfrm>
          <a:prstGeom prst="rect">
            <a:avLst/>
          </a:prstGeom>
          <a:noFill/>
          <a:ln/>
        </p:spPr>
        <p:txBody>
          <a:bodyPr wrap="square" lIns="0" tIns="0" rIns="0" bIns="0" rtlCol="0" anchor="ctr"/>
          <a:lstStyle/>
          <a:p>
            <a:pPr algn="l" indent="0" marL="0">
              <a:buNone/>
            </a:pPr>
            <a:r>
              <a:rPr lang="en-US" sz="850" i="1" dirty="0">
                <a:solidFill>
                  <a:srgbClr val="000000"/>
                </a:solidFill>
                <a:latin typeface="Calibri" pitchFamily="34" charset="0"/>
                <a:ea typeface="Calibri" pitchFamily="34" charset="-122"/>
                <a:cs typeface="Calibri" pitchFamily="34" charset="-120"/>
              </a:rPr>
              <a:t>Smart50 2023, 2024, 2025 citations</a:t>
            </a:r>
            <a:endParaRPr lang="en-US" sz="850" dirty="0"/>
          </a:p>
        </p:txBody>
      </p:sp>
      <p:sp>
        <p:nvSpPr>
          <p:cNvPr id="14" name="Shape 12"/>
          <p:cNvSpPr/>
          <p:nvPr/>
        </p:nvSpPr>
        <p:spPr>
          <a:xfrm>
            <a:off x="4231538" y="1508760"/>
            <a:ext cx="3728618" cy="3794760"/>
          </a:xfrm>
          <a:prstGeom prst="rect">
            <a:avLst/>
          </a:prstGeom>
          <a:solidFill>
            <a:srgbClr val="000000"/>
          </a:solidFill>
          <a:ln/>
        </p:spPr>
      </p:sp>
      <p:sp>
        <p:nvSpPr>
          <p:cNvPr id="15" name="Text 13"/>
          <p:cNvSpPr/>
          <p:nvPr/>
        </p:nvSpPr>
        <p:spPr>
          <a:xfrm>
            <a:off x="4432706" y="1673352"/>
            <a:ext cx="3326282" cy="502920"/>
          </a:xfrm>
          <a:prstGeom prst="rect">
            <a:avLst/>
          </a:prstGeom>
          <a:noFill/>
          <a:ln/>
        </p:spPr>
        <p:txBody>
          <a:bodyPr wrap="square" lIns="0" tIns="0" rIns="0" bIns="0" rtlCol="0" anchor="ctr"/>
          <a:lstStyle/>
          <a:p>
            <a:pPr algn="l" indent="0" marL="0">
              <a:buNone/>
            </a:pPr>
            <a:r>
              <a:rPr lang="en-US" sz="3000" b="1" dirty="0">
                <a:solidFill>
                  <a:srgbClr val="F8C806"/>
                </a:solidFill>
                <a:latin typeface="Cambria" pitchFamily="34" charset="0"/>
                <a:ea typeface="Cambria" pitchFamily="34" charset="-122"/>
                <a:cs typeface="Cambria" pitchFamily="34" charset="-120"/>
              </a:rPr>
              <a:t>02</a:t>
            </a:r>
            <a:endParaRPr lang="en-US" sz="3000" dirty="0"/>
          </a:p>
        </p:txBody>
      </p:sp>
      <p:sp>
        <p:nvSpPr>
          <p:cNvPr id="16" name="Text 14"/>
          <p:cNvSpPr/>
          <p:nvPr/>
        </p:nvSpPr>
        <p:spPr>
          <a:xfrm>
            <a:off x="4432706" y="2221992"/>
            <a:ext cx="3326282" cy="685800"/>
          </a:xfrm>
          <a:prstGeom prst="rect">
            <a:avLst/>
          </a:prstGeom>
          <a:noFill/>
          <a:ln/>
        </p:spPr>
        <p:txBody>
          <a:bodyPr wrap="square" lIns="0" tIns="0" rIns="0" bIns="0" rtlCol="0" anchor="ctr"/>
          <a:lstStyle/>
          <a:p>
            <a:pPr algn="l" indent="0" marL="0">
              <a:lnSpc>
                <a:spcPts val="1700"/>
              </a:lnSpc>
              <a:buNone/>
            </a:pPr>
            <a:r>
              <a:rPr lang="en-US" sz="1500" b="1" dirty="0">
                <a:solidFill>
                  <a:srgbClr val="FFFFFF"/>
                </a:solidFill>
                <a:latin typeface="Cambria" pitchFamily="34" charset="0"/>
                <a:ea typeface="Cambria" pitchFamily="34" charset="-122"/>
                <a:cs typeface="Cambria" pitchFamily="34" charset="-120"/>
              </a:rPr>
              <a:t>One acquisition, two different margins</a:t>
            </a:r>
            <a:endParaRPr lang="en-US" sz="1500" dirty="0"/>
          </a:p>
        </p:txBody>
      </p:sp>
      <p:sp>
        <p:nvSpPr>
          <p:cNvPr id="17" name="Text 15"/>
          <p:cNvSpPr/>
          <p:nvPr/>
        </p:nvSpPr>
        <p:spPr>
          <a:xfrm>
            <a:off x="4432706" y="2990088"/>
            <a:ext cx="3326282" cy="1828800"/>
          </a:xfrm>
          <a:prstGeom prst="rect">
            <a:avLst/>
          </a:prstGeom>
          <a:noFill/>
          <a:ln/>
        </p:spPr>
        <p:txBody>
          <a:bodyPr wrap="square" lIns="0" tIns="0" rIns="0" bIns="0" rtlCol="0" anchor="t"/>
          <a:lstStyle/>
          <a:p>
            <a:pPr algn="l" indent="0" marL="0">
              <a:lnSpc>
                <a:spcPts val="1450"/>
              </a:lnSpc>
              <a:buNone/>
            </a:pPr>
            <a:r>
              <a:rPr lang="en-US" sz="1100" dirty="0">
                <a:solidFill>
                  <a:srgbClr val="FFFFFF"/>
                </a:solidFill>
                <a:latin typeface="Calibri" pitchFamily="34" charset="0"/>
                <a:ea typeface="Calibri" pitchFamily="34" charset="-122"/>
                <a:cs typeface="Calibri" pitchFamily="34" charset="-120"/>
              </a:rPr>
              <a:t>The June 2026 acquisition of Beyond CRM brings a second Dynamics practice, a Brisbane office and a new client base into the group. Two service businesses combined almost always carry two different margins by client and by project. Knowing which engagements now drive the group's real profitability matters before Perth and Brisbane are assumed to perform alike.</a:t>
            </a:r>
            <a:endParaRPr lang="en-US" sz="1100" dirty="0"/>
          </a:p>
        </p:txBody>
      </p:sp>
      <p:sp>
        <p:nvSpPr>
          <p:cNvPr id="18" name="Text 16"/>
          <p:cNvSpPr/>
          <p:nvPr/>
        </p:nvSpPr>
        <p:spPr>
          <a:xfrm>
            <a:off x="4432706" y="4919472"/>
            <a:ext cx="3326282" cy="274320"/>
          </a:xfrm>
          <a:prstGeom prst="rect">
            <a:avLst/>
          </a:prstGeom>
          <a:noFill/>
          <a:ln/>
        </p:spPr>
        <p:txBody>
          <a:bodyPr wrap="square" lIns="0" tIns="0" rIns="0" bIns="0" rtlCol="0" anchor="ctr"/>
          <a:lstStyle/>
          <a:p>
            <a:pPr algn="l" indent="0" marL="0">
              <a:buNone/>
            </a:pPr>
            <a:r>
              <a:rPr lang="en-US" sz="850" i="1" dirty="0">
                <a:solidFill>
                  <a:srgbClr val="E6E5DE"/>
                </a:solidFill>
                <a:latin typeface="Calibri" pitchFamily="34" charset="0"/>
                <a:ea typeface="Calibri" pitchFamily="34" charset="-122"/>
                <a:cs typeface="Calibri" pitchFamily="34" charset="-120"/>
              </a:rPr>
              <a:t>itbrief.com.au, itwire.com, June 2026</a:t>
            </a:r>
            <a:endParaRPr lang="en-US" sz="850" dirty="0"/>
          </a:p>
        </p:txBody>
      </p:sp>
      <p:sp>
        <p:nvSpPr>
          <p:cNvPr id="19" name="Shape 17"/>
          <p:cNvSpPr/>
          <p:nvPr/>
        </p:nvSpPr>
        <p:spPr>
          <a:xfrm>
            <a:off x="8143037" y="1508760"/>
            <a:ext cx="3728618" cy="3794760"/>
          </a:xfrm>
          <a:prstGeom prst="rect">
            <a:avLst/>
          </a:prstGeom>
          <a:solidFill>
            <a:srgbClr val="E3A712"/>
          </a:solidFill>
          <a:ln/>
        </p:spPr>
      </p:sp>
      <p:sp>
        <p:nvSpPr>
          <p:cNvPr id="20" name="Text 18"/>
          <p:cNvSpPr/>
          <p:nvPr/>
        </p:nvSpPr>
        <p:spPr>
          <a:xfrm>
            <a:off x="8344205" y="1673352"/>
            <a:ext cx="3326282" cy="50292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03</a:t>
            </a:r>
            <a:endParaRPr lang="en-US" sz="3000" dirty="0"/>
          </a:p>
        </p:txBody>
      </p:sp>
      <p:sp>
        <p:nvSpPr>
          <p:cNvPr id="21" name="Text 19"/>
          <p:cNvSpPr/>
          <p:nvPr/>
        </p:nvSpPr>
        <p:spPr>
          <a:xfrm>
            <a:off x="8344205" y="2221992"/>
            <a:ext cx="3326282" cy="685800"/>
          </a:xfrm>
          <a:prstGeom prst="rect">
            <a:avLst/>
          </a:prstGeom>
          <a:noFill/>
          <a:ln/>
        </p:spPr>
        <p:txBody>
          <a:bodyPr wrap="square" lIns="0" tIns="0" rIns="0" bIns="0" rtlCol="0" anchor="ctr"/>
          <a:lstStyle/>
          <a:p>
            <a:pPr algn="l" indent="0" marL="0">
              <a:lnSpc>
                <a:spcPts val="1700"/>
              </a:lnSpc>
              <a:buNone/>
            </a:pPr>
            <a:r>
              <a:rPr lang="en-US" sz="1500" b="1" dirty="0">
                <a:solidFill>
                  <a:srgbClr val="000000"/>
                </a:solidFill>
                <a:latin typeface="Cambria" pitchFamily="34" charset="0"/>
                <a:ea typeface="Cambria" pitchFamily="34" charset="-122"/>
                <a:cs typeface="Cambria" pitchFamily="34" charset="-120"/>
              </a:rPr>
              <a:t>Expansion is a capital allocation choice</a:t>
            </a:r>
            <a:endParaRPr lang="en-US" sz="1500" dirty="0"/>
          </a:p>
        </p:txBody>
      </p:sp>
      <p:sp>
        <p:nvSpPr>
          <p:cNvPr id="22" name="Text 20"/>
          <p:cNvSpPr/>
          <p:nvPr/>
        </p:nvSpPr>
        <p:spPr>
          <a:xfrm>
            <a:off x="8344205" y="2990088"/>
            <a:ext cx="3326282" cy="1828800"/>
          </a:xfrm>
          <a:prstGeom prst="rect">
            <a:avLst/>
          </a:prstGeom>
          <a:noFill/>
          <a:ln/>
        </p:spPr>
        <p:txBody>
          <a:bodyPr wrap="square" lIns="0" tIns="0" rIns="0" bIns="0" rtlCol="0" anchor="t"/>
          <a:lstStyle/>
          <a:p>
            <a:pPr algn="l" indent="0" marL="0">
              <a:lnSpc>
                <a:spcPts val="1450"/>
              </a:lnSpc>
              <a:buNone/>
            </a:pPr>
            <a:r>
              <a:rPr lang="en-US" sz="1100" dirty="0">
                <a:solidFill>
                  <a:srgbClr val="000000"/>
                </a:solidFill>
                <a:latin typeface="Calibri" pitchFamily="34" charset="0"/>
                <a:ea typeface="Calibri" pitchFamily="34" charset="-122"/>
                <a:cs typeface="Calibri" pitchFamily="34" charset="-120"/>
              </a:rPr>
              <a:t>Consultants now sit in Perth, Victoria, Queensland and New South Wales, built on project wins rather than one announcement. Three straight Smart50 rankings, 40th, then 4th, then 16th, show sustained growth. The open question for any board is where the next dollar of reinvestment, people, delivery capacity or further acquisitions earns the best return.</a:t>
            </a:r>
            <a:endParaRPr lang="en-US" sz="1100" dirty="0"/>
          </a:p>
        </p:txBody>
      </p:sp>
      <p:sp>
        <p:nvSpPr>
          <p:cNvPr id="23" name="Text 21"/>
          <p:cNvSpPr/>
          <p:nvPr/>
        </p:nvSpPr>
        <p:spPr>
          <a:xfrm>
            <a:off x="8344205" y="4919472"/>
            <a:ext cx="3326282" cy="274320"/>
          </a:xfrm>
          <a:prstGeom prst="rect">
            <a:avLst/>
          </a:prstGeom>
          <a:noFill/>
          <a:ln/>
        </p:spPr>
        <p:txBody>
          <a:bodyPr wrap="square" lIns="0" tIns="0" rIns="0" bIns="0" rtlCol="0" anchor="ctr"/>
          <a:lstStyle/>
          <a:p>
            <a:pPr algn="l" indent="0" marL="0">
              <a:buNone/>
            </a:pPr>
            <a:r>
              <a:rPr lang="en-US" sz="850" i="1" dirty="0">
                <a:solidFill>
                  <a:srgbClr val="000000"/>
                </a:solidFill>
                <a:latin typeface="Calibri" pitchFamily="34" charset="0"/>
                <a:ea typeface="Calibri" pitchFamily="34" charset="-122"/>
                <a:cs typeface="Calibri" pitchFamily="34" charset="-120"/>
              </a:rPr>
              <a:t>techpartner.news; Smart50 citations</a:t>
            </a:r>
            <a:endParaRPr lang="en-US" sz="850" dirty="0"/>
          </a:p>
        </p:txBody>
      </p:sp>
      <p:sp>
        <p:nvSpPr>
          <p:cNvPr id="24" name="Text 22"/>
          <p:cNvSpPr/>
          <p:nvPr/>
        </p:nvSpPr>
        <p:spPr>
          <a:xfrm>
            <a:off x="320040" y="5504688"/>
            <a:ext cx="11551615" cy="502920"/>
          </a:xfrm>
          <a:prstGeom prst="rect">
            <a:avLst/>
          </a:prstGeom>
          <a:noFill/>
          <a:ln/>
        </p:spPr>
        <p:txBody>
          <a:bodyPr wrap="square" lIns="0" tIns="0" rIns="0" bIns="0" rtlCol="0" anchor="ctr"/>
          <a:lstStyle/>
          <a:p>
            <a:pPr algn="l" indent="0" marL="0">
              <a:buNone/>
            </a:pPr>
            <a:r>
              <a:rPr lang="en-US" sz="1100" i="1" dirty="0">
                <a:solidFill>
                  <a:srgbClr val="01A296"/>
                </a:solidFill>
                <a:latin typeface="Calibri" pitchFamily="34" charset="0"/>
                <a:ea typeface="Calibri" pitchFamily="34" charset="-122"/>
                <a:cs typeface="Calibri" pitchFamily="34" charset="-120"/>
              </a:rPr>
              <a:t>These are observations offered in good faith. iCatalyst has built something genuinely impressive. The question is simply whether the financial architecture is keeping pace with the ambition.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F6A102"/>
          </a:solidFill>
          <a:ln/>
        </p:spPr>
      </p:sp>
      <p:sp>
        <p:nvSpPr>
          <p:cNvPr id="3" name="Shape 1"/>
          <p:cNvSpPr/>
          <p:nvPr/>
        </p:nvSpPr>
        <p:spPr>
          <a:xfrm>
            <a:off x="0" y="0"/>
            <a:ext cx="12191695" cy="914400"/>
          </a:xfrm>
          <a:prstGeom prst="rect">
            <a:avLst/>
          </a:prstGeom>
          <a:solidFill>
            <a:srgbClr val="000000"/>
          </a:solidFill>
          <a:ln/>
        </p:spPr>
      </p:sp>
      <p:sp>
        <p:nvSpPr>
          <p:cNvPr id="4" name="Text 2"/>
          <p:cNvSpPr/>
          <p:nvPr/>
        </p:nvSpPr>
        <p:spPr>
          <a:xfrm>
            <a:off x="320040" y="292608"/>
            <a:ext cx="7772400" cy="365760"/>
          </a:xfrm>
          <a:prstGeom prst="rect">
            <a:avLst/>
          </a:prstGeom>
          <a:noFill/>
          <a:ln/>
        </p:spPr>
        <p:txBody>
          <a:bodyPr wrap="square" lIns="0" tIns="0" rIns="0" bIns="0" rtlCol="0" anchor="ctr"/>
          <a:lstStyle/>
          <a:p>
            <a:pPr algn="l" indent="0" marL="0">
              <a:buNone/>
            </a:pPr>
            <a:r>
              <a:rPr lang="en-US" sz="1200" b="1" spc="100" kern="0" dirty="0">
                <a:solidFill>
                  <a:srgbClr val="E6E5DE"/>
                </a:solidFill>
                <a:latin typeface="Calibri" pitchFamily="34" charset="0"/>
                <a:ea typeface="Calibri" pitchFamily="34" charset="-122"/>
                <a:cs typeface="Calibri" pitchFamily="34" charset="-120"/>
              </a:rPr>
              <a:t>THE RECOMMENDATION</a:t>
            </a:r>
            <a:endParaRPr lang="en-US" sz="1200" dirty="0"/>
          </a:p>
        </p:txBody>
      </p:sp>
      <p:sp>
        <p:nvSpPr>
          <p:cNvPr id="5" name="Text 3"/>
          <p:cNvSpPr/>
          <p:nvPr/>
        </p:nvSpPr>
        <p:spPr>
          <a:xfrm>
            <a:off x="8214055" y="292608"/>
            <a:ext cx="3657600"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alibri" pitchFamily="34" charset="0"/>
                <a:ea typeface="Calibri" pitchFamily="34" charset="-122"/>
                <a:cs typeface="Calibri" pitchFamily="34" charset="-120"/>
              </a:rPr>
              <a:t>PROFITPULSE</a:t>
            </a:r>
            <a:endParaRPr lang="en-US" sz="1300" dirty="0"/>
          </a:p>
        </p:txBody>
      </p:sp>
      <p:sp>
        <p:nvSpPr>
          <p:cNvPr id="6" name="Text 4"/>
          <p:cNvSpPr/>
          <p:nvPr/>
        </p:nvSpPr>
        <p:spPr>
          <a:xfrm>
            <a:off x="320040" y="6473952"/>
            <a:ext cx="7772400" cy="274320"/>
          </a:xfrm>
          <a:prstGeom prst="rect">
            <a:avLst/>
          </a:prstGeom>
          <a:noFill/>
          <a:ln/>
        </p:spPr>
        <p:txBody>
          <a:bodyPr wrap="square" lIns="0" tIns="0" rIns="0" bIns="0" rtlCol="0" anchor="ctr"/>
          <a:lstStyle/>
          <a:p>
            <a:pPr algn="l" indent="0" marL="0">
              <a:buNone/>
            </a:pPr>
            <a:r>
              <a:rPr lang="en-US" sz="800" dirty="0">
                <a:solidFill>
                  <a:srgbClr val="01A296"/>
                </a:solidFill>
                <a:latin typeface="Calibri" pitchFamily="34" charset="0"/>
                <a:ea typeface="Calibri" pitchFamily="34" charset="-122"/>
                <a:cs typeface="Calibri" pitchFamily="34" charset="-120"/>
              </a:rPr>
              <a:t>Prepared by Nitesh Roopa CA, Managing Partner, ProfitPulse, Profit-Pulse.com.au</a:t>
            </a:r>
            <a:endParaRPr lang="en-US" sz="800" dirty="0"/>
          </a:p>
        </p:txBody>
      </p:sp>
      <p:sp>
        <p:nvSpPr>
          <p:cNvPr id="7" name="Text 5"/>
          <p:cNvSpPr/>
          <p:nvPr/>
        </p:nvSpPr>
        <p:spPr>
          <a:xfrm>
            <a:off x="9585655" y="6473952"/>
            <a:ext cx="2286000" cy="274320"/>
          </a:xfrm>
          <a:prstGeom prst="rect">
            <a:avLst/>
          </a:prstGeom>
          <a:noFill/>
          <a:ln/>
        </p:spPr>
        <p:txBody>
          <a:bodyPr wrap="square" lIns="0" tIns="0" rIns="0" bIns="0" rtlCol="0" anchor="ctr"/>
          <a:lstStyle/>
          <a:p>
            <a:pPr algn="r" indent="0" marL="0">
              <a:buNone/>
            </a:pPr>
            <a:r>
              <a:rPr lang="en-US" sz="800" dirty="0">
                <a:solidFill>
                  <a:srgbClr val="01A296"/>
                </a:solidFill>
                <a:latin typeface="Calibri" pitchFamily="34" charset="0"/>
                <a:ea typeface="Calibri" pitchFamily="34" charset="-122"/>
                <a:cs typeface="Calibri" pitchFamily="34" charset="-120"/>
              </a:rPr>
              <a:t>29 Jul 2026</a:t>
            </a:r>
            <a:endParaRPr lang="en-US" sz="800" dirty="0"/>
          </a:p>
        </p:txBody>
      </p:sp>
      <p:sp>
        <p:nvSpPr>
          <p:cNvPr id="8" name="Text 6"/>
          <p:cNvSpPr/>
          <p:nvPr/>
        </p:nvSpPr>
        <p:spPr>
          <a:xfrm>
            <a:off x="320040" y="1097280"/>
            <a:ext cx="7040880" cy="502920"/>
          </a:xfrm>
          <a:prstGeom prst="rect">
            <a:avLst/>
          </a:prstGeom>
          <a:noFill/>
          <a:ln/>
        </p:spPr>
        <p:txBody>
          <a:bodyPr wrap="square" lIns="0" tIns="0" rIns="0" bIns="0" rtlCol="0" anchor="ctr"/>
          <a:lstStyle/>
          <a:p>
            <a:pPr algn="l" indent="0" marL="0">
              <a:buNone/>
            </a:pPr>
            <a:r>
              <a:rPr lang="en-US" sz="2100" b="1" dirty="0">
                <a:solidFill>
                  <a:srgbClr val="01A296"/>
                </a:solidFill>
                <a:latin typeface="Cambria" pitchFamily="34" charset="0"/>
                <a:ea typeface="Cambria" pitchFamily="34" charset="-122"/>
                <a:cs typeface="Cambria" pitchFamily="34" charset="-120"/>
              </a:rPr>
              <a:t>Workforce Capacity and Utilisation Review</a:t>
            </a:r>
            <a:endParaRPr lang="en-US" sz="2100" dirty="0"/>
          </a:p>
        </p:txBody>
      </p:sp>
      <p:sp>
        <p:nvSpPr>
          <p:cNvPr id="9" name="Text 7"/>
          <p:cNvSpPr/>
          <p:nvPr/>
        </p:nvSpPr>
        <p:spPr>
          <a:xfrm>
            <a:off x="320040" y="1664208"/>
            <a:ext cx="7040880" cy="365760"/>
          </a:xfrm>
          <a:prstGeom prst="rect">
            <a:avLst/>
          </a:prstGeom>
          <a:noFill/>
          <a:ln/>
        </p:spPr>
        <p:txBody>
          <a:bodyPr wrap="square" lIns="0" tIns="0" rIns="0" bIns="0" rtlCol="0" anchor="ctr"/>
          <a:lstStyle/>
          <a:p>
            <a:pPr algn="l" indent="0" marL="0">
              <a:buNone/>
            </a:pPr>
            <a:r>
              <a:rPr lang="en-US" sz="1800" b="1" dirty="0">
                <a:solidFill>
                  <a:srgbClr val="000000"/>
                </a:solidFill>
                <a:latin typeface="Calibri" pitchFamily="34" charset="0"/>
                <a:ea typeface="Calibri" pitchFamily="34" charset="-122"/>
                <a:cs typeface="Calibri" pitchFamily="34" charset="-120"/>
              </a:rPr>
              <a:t>$5,000 one off</a:t>
            </a:r>
            <a:endParaRPr lang="en-US" sz="1800" dirty="0"/>
          </a:p>
        </p:txBody>
      </p:sp>
      <p:sp>
        <p:nvSpPr>
          <p:cNvPr id="10" name="Text 8"/>
          <p:cNvSpPr/>
          <p:nvPr/>
        </p:nvSpPr>
        <p:spPr>
          <a:xfrm>
            <a:off x="320040" y="2121408"/>
            <a:ext cx="7040880" cy="777240"/>
          </a:xfrm>
          <a:prstGeom prst="rect">
            <a:avLst/>
          </a:prstGeom>
          <a:noFill/>
          <a:ln/>
        </p:spPr>
        <p:txBody>
          <a:bodyPr wrap="square" lIns="0" tIns="0" rIns="0" bIns="0" rtlCol="0" anchor="ctr"/>
          <a:lstStyle/>
          <a:p>
            <a:pPr algn="l" indent="0" marL="0">
              <a:lnSpc>
                <a:spcPts val="1600"/>
              </a:lnSpc>
              <a:buNone/>
            </a:pPr>
            <a:r>
              <a:rPr lang="en-US" sz="1200" dirty="0">
                <a:solidFill>
                  <a:srgbClr val="000000"/>
                </a:solidFill>
                <a:latin typeface="Calibri" pitchFamily="34" charset="0"/>
                <a:ea typeface="Calibri" pitchFamily="34" charset="-122"/>
                <a:cs typeface="Calibri" pitchFamily="34" charset="-120"/>
              </a:rPr>
              <a:t>Reviews how team time and capacity convert into revenue and margin, measuring billable mix, revenue per employee and capacity headroom across a growing, multi state delivery team.</a:t>
            </a:r>
            <a:endParaRPr lang="en-US" sz="1200" dirty="0"/>
          </a:p>
        </p:txBody>
      </p:sp>
      <p:sp>
        <p:nvSpPr>
          <p:cNvPr id="11" name="Shape 9"/>
          <p:cNvSpPr/>
          <p:nvPr/>
        </p:nvSpPr>
        <p:spPr>
          <a:xfrm>
            <a:off x="320040" y="3127248"/>
            <a:ext cx="7040880" cy="1280160"/>
          </a:xfrm>
          <a:prstGeom prst="rect">
            <a:avLst/>
          </a:prstGeom>
          <a:solidFill>
            <a:srgbClr val="01A296"/>
          </a:solidFill>
          <a:ln/>
        </p:spPr>
      </p:sp>
      <p:sp>
        <p:nvSpPr>
          <p:cNvPr id="12" name="Text 10"/>
          <p:cNvSpPr/>
          <p:nvPr/>
        </p:nvSpPr>
        <p:spPr>
          <a:xfrm>
            <a:off x="521208" y="3273552"/>
            <a:ext cx="6638544" cy="347472"/>
          </a:xfrm>
          <a:prstGeom prst="rect">
            <a:avLst/>
          </a:prstGeom>
          <a:noFill/>
          <a:ln/>
        </p:spPr>
        <p:txBody>
          <a:bodyPr wrap="square" lIns="0" tIns="0" rIns="0" bIns="0" rtlCol="0" anchor="ctr"/>
          <a:lstStyle/>
          <a:p>
            <a:pPr algn="l" indent="0" marL="0">
              <a:buNone/>
            </a:pPr>
            <a:r>
              <a:rPr lang="en-US" sz="1350" b="1" dirty="0">
                <a:solidFill>
                  <a:srgbClr val="000000"/>
                </a:solidFill>
                <a:latin typeface="Calibri" pitchFamily="34" charset="0"/>
                <a:ea typeface="Calibri" pitchFamily="34" charset="-122"/>
                <a:cs typeface="Calibri" pitchFamily="34" charset="-120"/>
              </a:rPr>
              <a:t>Step one, answer a few quick questions</a:t>
            </a:r>
            <a:endParaRPr lang="en-US" sz="1350" dirty="0"/>
          </a:p>
        </p:txBody>
      </p:sp>
      <p:sp>
        <p:nvSpPr>
          <p:cNvPr id="13" name="Text 11"/>
          <p:cNvSpPr/>
          <p:nvPr/>
        </p:nvSpPr>
        <p:spPr>
          <a:xfrm>
            <a:off x="521208" y="3639312"/>
            <a:ext cx="6638544" cy="310896"/>
          </a:xfrm>
          <a:prstGeom prst="rect">
            <a:avLst/>
          </a:prstGeom>
          <a:noFill/>
          <a:ln/>
        </p:spPr>
        <p:txBody>
          <a:bodyPr wrap="square" lIns="0" tIns="0" rIns="0" bIns="0" rtlCol="0" anchor="ctr"/>
          <a:lstStyle/>
          <a:p>
            <a:pPr algn="l" indent="0" marL="0">
              <a:buNone/>
            </a:pPr>
            <a:r>
              <a:rPr lang="en-US" sz="1150" dirty="0">
                <a:solidFill>
                  <a:srgbClr val="000000"/>
                </a:solidFill>
                <a:latin typeface="Calibri" pitchFamily="34" charset="0"/>
                <a:ea typeface="Calibri" pitchFamily="34" charset="-122"/>
                <a:cs typeface="Calibri" pitchFamily="34" charset="-120"/>
              </a:rPr>
              <a:t>See the solutions matched to your size and industry.</a:t>
            </a:r>
            <a:endParaRPr lang="en-US" sz="1150" dirty="0"/>
          </a:p>
        </p:txBody>
      </p:sp>
      <p:sp>
        <p:nvSpPr>
          <p:cNvPr id="14" name="Text 12">
            <a:hlinkClick r:id="rId1" tooltip=""/>
          </p:cNvPr>
          <p:cNvSpPr/>
          <p:nvPr/>
        </p:nvSpPr>
        <p:spPr>
          <a:xfrm>
            <a:off x="521208" y="3986784"/>
            <a:ext cx="6638544" cy="347472"/>
          </a:xfrm>
          <a:prstGeom prst="rect">
            <a:avLst/>
          </a:prstGeom>
          <a:noFill/>
          <a:ln/>
        </p:spPr>
        <p:txBody>
          <a:bodyPr wrap="square" lIns="0" tIns="0" rIns="0" bIns="0" rtlCol="0" anchor="ctr"/>
          <a:lstStyle/>
          <a:p>
            <a:pPr algn="l" indent="0" marL="0">
              <a:buNone/>
            </a:pPr>
            <a:r>
              <a:rPr lang="en-US" sz="1250" b="1" u="sng" dirty="0">
                <a:solidFill>
                  <a:srgbClr val="000000"/>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profit-pulse.com.au/services/find-your-fit</a:t>
            </a:r>
            <a:endParaRPr lang="en-US" sz="1250" dirty="0"/>
          </a:p>
        </p:txBody>
      </p:sp>
      <p:sp>
        <p:nvSpPr>
          <p:cNvPr id="15" name="Shape 13"/>
          <p:cNvSpPr/>
          <p:nvPr/>
        </p:nvSpPr>
        <p:spPr>
          <a:xfrm>
            <a:off x="320040" y="4590288"/>
            <a:ext cx="7040880" cy="594360"/>
          </a:xfrm>
          <a:prstGeom prst="rect">
            <a:avLst/>
          </a:prstGeom>
          <a:solidFill>
            <a:srgbClr val="F6A102"/>
          </a:solidFill>
          <a:ln/>
        </p:spPr>
      </p:sp>
      <p:sp>
        <p:nvSpPr>
          <p:cNvPr id="16" name="Text 14">
            <a:hlinkClick r:id="rId2" tooltip=""/>
          </p:cNvPr>
          <p:cNvSpPr/>
          <p:nvPr/>
        </p:nvSpPr>
        <p:spPr>
          <a:xfrm>
            <a:off x="320040" y="4590288"/>
            <a:ext cx="7040880" cy="594360"/>
          </a:xfrm>
          <a:prstGeom prst="rect">
            <a:avLst/>
          </a:prstGeom>
          <a:noFill/>
          <a:ln/>
        </p:spPr>
        <p:txBody>
          <a:bodyPr wrap="square" lIns="0" tIns="0" rIns="0" bIns="0" rtlCol="0" anchor="ctr"/>
          <a:lstStyle/>
          <a:p>
            <a:pPr algn="ctr" indent="0" marL="0">
              <a:buNone/>
            </a:pPr>
            <a:r>
              <a:rPr lang="en-US" sz="1350" b="1" u="sng" dirty="0">
                <a:solidFill>
                  <a:srgbClr val="000000"/>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Purchase the suggested product now to get started</a:t>
            </a:r>
            <a:endParaRPr lang="en-US" sz="1350" dirty="0"/>
          </a:p>
        </p:txBody>
      </p:sp>
      <p:sp>
        <p:nvSpPr>
          <p:cNvPr id="17" name="Text 15"/>
          <p:cNvSpPr/>
          <p:nvPr/>
        </p:nvSpPr>
        <p:spPr>
          <a:xfrm>
            <a:off x="320040" y="5413248"/>
            <a:ext cx="7040880" cy="292608"/>
          </a:xfrm>
          <a:prstGeom prst="rect">
            <a:avLst/>
          </a:prstGeom>
          <a:noFill/>
          <a:ln/>
        </p:spPr>
        <p:txBody>
          <a:bodyPr wrap="square" lIns="0" tIns="0" rIns="0" bIns="0" rtlCol="0" anchor="ctr"/>
          <a:lstStyle/>
          <a:p>
            <a:pPr algn="l" indent="0" marL="0">
              <a:buNone/>
            </a:pPr>
            <a:r>
              <a:rPr lang="en-US" sz="1200" dirty="0">
                <a:solidFill>
                  <a:srgbClr val="000000"/>
                </a:solidFill>
                <a:latin typeface="Calibri" pitchFamily="34" charset="0"/>
                <a:ea typeface="Calibri" pitchFamily="34" charset="-122"/>
                <a:cs typeface="Calibri" pitchFamily="34" charset="-120"/>
              </a:rPr>
              <a:t>Prefer a conversation first?</a:t>
            </a:r>
            <a:endParaRPr lang="en-US" sz="1200" dirty="0"/>
          </a:p>
        </p:txBody>
      </p:sp>
      <p:sp>
        <p:nvSpPr>
          <p:cNvPr id="18" name="Text 16">
            <a:hlinkClick r:id="rId3" tooltip=""/>
          </p:cNvPr>
          <p:cNvSpPr/>
          <p:nvPr/>
        </p:nvSpPr>
        <p:spPr>
          <a:xfrm>
            <a:off x="320040" y="5724144"/>
            <a:ext cx="7040880" cy="310896"/>
          </a:xfrm>
          <a:prstGeom prst="rect">
            <a:avLst/>
          </a:prstGeom>
          <a:noFill/>
          <a:ln/>
        </p:spPr>
        <p:txBody>
          <a:bodyPr wrap="square" lIns="0" tIns="0" rIns="0" bIns="0" rtlCol="0" anchor="ctr"/>
          <a:lstStyle/>
          <a:p>
            <a:pPr algn="l" indent="0" marL="0">
              <a:buNone/>
            </a:pPr>
            <a:r>
              <a:rPr lang="en-US" sz="1300" b="1" u="sng" dirty="0">
                <a:solidFill>
                  <a:srgbClr val="01A296"/>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Book a complimentary discovery call</a:t>
            </a:r>
            <a:endParaRPr lang="en-US" sz="1300" dirty="0"/>
          </a:p>
        </p:txBody>
      </p:sp>
      <p:sp>
        <p:nvSpPr>
          <p:cNvPr id="19" name="Shape 17"/>
          <p:cNvSpPr/>
          <p:nvPr/>
        </p:nvSpPr>
        <p:spPr>
          <a:xfrm>
            <a:off x="7635240" y="1051560"/>
            <a:ext cx="4236415" cy="5074920"/>
          </a:xfrm>
          <a:prstGeom prst="rect">
            <a:avLst/>
          </a:prstGeom>
          <a:solidFill>
            <a:srgbClr val="000000"/>
          </a:solidFill>
          <a:ln/>
        </p:spPr>
      </p:sp>
      <p:sp>
        <p:nvSpPr>
          <p:cNvPr id="20" name="Text 18"/>
          <p:cNvSpPr/>
          <p:nvPr/>
        </p:nvSpPr>
        <p:spPr>
          <a:xfrm>
            <a:off x="7836408" y="1207008"/>
            <a:ext cx="3834079" cy="365760"/>
          </a:xfrm>
          <a:prstGeom prst="rect">
            <a:avLst/>
          </a:prstGeom>
          <a:noFill/>
          <a:ln/>
        </p:spPr>
        <p:txBody>
          <a:bodyPr wrap="square" lIns="0" tIns="0" rIns="0" bIns="0" rtlCol="0" anchor="ctr"/>
          <a:lstStyle/>
          <a:p>
            <a:pPr algn="l" indent="0" marL="0">
              <a:buNone/>
            </a:pPr>
            <a:r>
              <a:rPr lang="en-US" sz="1600" b="1" dirty="0">
                <a:solidFill>
                  <a:srgbClr val="F8C806"/>
                </a:solidFill>
                <a:latin typeface="Cambria" pitchFamily="34" charset="0"/>
                <a:ea typeface="Cambria" pitchFamily="34" charset="-122"/>
                <a:cs typeface="Cambria" pitchFamily="34" charset="-120"/>
              </a:rPr>
              <a:t>NITESH ROOPA</a:t>
            </a:r>
            <a:endParaRPr lang="en-US" sz="1600" dirty="0"/>
          </a:p>
        </p:txBody>
      </p:sp>
      <p:sp>
        <p:nvSpPr>
          <p:cNvPr id="21" name="Text 19"/>
          <p:cNvSpPr/>
          <p:nvPr/>
        </p:nvSpPr>
        <p:spPr>
          <a:xfrm>
            <a:off x="7836408" y="1572768"/>
            <a:ext cx="3834079" cy="32004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CA, Managing Partner, ProfitPulse</a:t>
            </a:r>
            <a:endParaRPr lang="en-US" sz="1200" dirty="0"/>
          </a:p>
        </p:txBody>
      </p:sp>
      <p:sp>
        <p:nvSpPr>
          <p:cNvPr id="22" name="Text 20"/>
          <p:cNvSpPr/>
          <p:nvPr/>
        </p:nvSpPr>
        <p:spPr>
          <a:xfrm>
            <a:off x="7836408" y="2011680"/>
            <a:ext cx="3834079" cy="1554480"/>
          </a:xfrm>
          <a:prstGeom prst="rect">
            <a:avLst/>
          </a:prstGeom>
          <a:noFill/>
          <a:ln/>
        </p:spPr>
        <p:txBody>
          <a:bodyPr wrap="square" lIns="0" tIns="0" rIns="0" bIns="0" rtlCol="0" anchor="t"/>
          <a:lstStyle/>
          <a:p>
            <a:pPr marL="342900" indent="-342900">
              <a:spcAft>
                <a:spcPts val="700"/>
              </a:spcAft>
              <a:buSzPct val="100000"/>
              <a:buChar char="●"/>
            </a:pPr>
            <a:r>
              <a:rPr lang="en-US" sz="1050" dirty="0">
                <a:solidFill>
                  <a:srgbClr val="E6E5DE"/>
                </a:solidFill>
                <a:latin typeface="Calibri" pitchFamily="34" charset="0"/>
                <a:ea typeface="Calibri" pitchFamily="34" charset="-122"/>
                <a:cs typeface="Calibri" pitchFamily="34" charset="-120"/>
              </a:rPr>
              <a:t>16 years across 4 countries</a:t>
            </a:r>
            <a:endParaRPr lang="en-US" sz="1050" dirty="0"/>
          </a:p>
          <a:p>
            <a:pPr marL="342900" indent="-342900">
              <a:spcAft>
                <a:spcPts val="700"/>
              </a:spcAft>
              <a:buSzPct val="100000"/>
              <a:buChar char="●"/>
            </a:pPr>
            <a:r>
              <a:rPr lang="en-US" sz="1050" dirty="0">
                <a:solidFill>
                  <a:srgbClr val="E6E5DE"/>
                </a:solidFill>
                <a:latin typeface="Calibri" pitchFamily="34" charset="0"/>
                <a:ea typeface="Calibri" pitchFamily="34" charset="-122"/>
                <a:cs typeface="Calibri" pitchFamily="34" charset="-120"/>
              </a:rPr>
              <a:t>52 deals executed and managed</a:t>
            </a:r>
            <a:endParaRPr lang="en-US" sz="1050" dirty="0"/>
          </a:p>
          <a:p>
            <a:pPr marL="342900" indent="-342900">
              <a:spcAft>
                <a:spcPts val="700"/>
              </a:spcAft>
              <a:buSzPct val="100000"/>
              <a:buChar char="●"/>
            </a:pPr>
            <a:r>
              <a:rPr lang="en-US" sz="1050" dirty="0">
                <a:solidFill>
                  <a:srgbClr val="E6E5DE"/>
                </a:solidFill>
                <a:latin typeface="Calibri" pitchFamily="34" charset="0"/>
                <a:ea typeface="Calibri" pitchFamily="34" charset="-122"/>
                <a:cs typeface="Calibri" pitchFamily="34" charset="-120"/>
              </a:rPr>
              <a:t>Largest deal, USD 1.3 billion, Cahora Bassa Hydro, Mozambique</a:t>
            </a:r>
            <a:endParaRPr lang="en-US" sz="1050" dirty="0"/>
          </a:p>
          <a:p>
            <a:pPr marL="342900" indent="-342900">
              <a:spcAft>
                <a:spcPts val="700"/>
              </a:spcAft>
              <a:buSzPct val="100000"/>
              <a:buChar char="●"/>
            </a:pPr>
            <a:r>
              <a:rPr lang="en-US" sz="1050" dirty="0">
                <a:solidFill>
                  <a:srgbClr val="E6E5DE"/>
                </a:solidFill>
                <a:latin typeface="Calibri" pitchFamily="34" charset="0"/>
                <a:ea typeface="Calibri" pitchFamily="34" charset="-122"/>
                <a:cs typeface="Calibri" pitchFamily="34" charset="-120"/>
              </a:rPr>
              <a:t>GRBT project value over AUD 10 billion in Queensland</a:t>
            </a:r>
            <a:endParaRPr lang="en-US" sz="1050" dirty="0"/>
          </a:p>
        </p:txBody>
      </p:sp>
      <p:sp>
        <p:nvSpPr>
          <p:cNvPr id="23" name="Shape 21"/>
          <p:cNvSpPr/>
          <p:nvPr/>
        </p:nvSpPr>
        <p:spPr>
          <a:xfrm>
            <a:off x="7836408" y="3703320"/>
            <a:ext cx="3834079" cy="0"/>
          </a:xfrm>
          <a:prstGeom prst="line">
            <a:avLst/>
          </a:prstGeom>
          <a:noFill/>
          <a:ln w="12700">
            <a:solidFill>
              <a:srgbClr val="01A296"/>
            </a:solidFill>
            <a:prstDash val="solid"/>
          </a:ln>
        </p:spPr>
      </p:sp>
      <p:sp>
        <p:nvSpPr>
          <p:cNvPr id="24" name="Text 22"/>
          <p:cNvSpPr/>
          <p:nvPr/>
        </p:nvSpPr>
        <p:spPr>
          <a:xfrm>
            <a:off x="7836408" y="3886200"/>
            <a:ext cx="3834079" cy="1188720"/>
          </a:xfrm>
          <a:prstGeom prst="rect">
            <a:avLst/>
          </a:prstGeom>
          <a:noFill/>
          <a:ln/>
        </p:spPr>
        <p:txBody>
          <a:bodyPr wrap="square" lIns="0" tIns="0" rIns="0" bIns="0" rtlCol="0" anchor="t"/>
          <a:lstStyle/>
          <a:p>
            <a:pPr indent="0" marL="0">
              <a:spcAft>
                <a:spcPts val="600"/>
              </a:spcAft>
              <a:buNone/>
            </a:pPr>
            <a:r>
              <a:rPr lang="en-US" sz="1100" dirty="0">
                <a:solidFill>
                  <a:srgbClr val="FFFFFF"/>
                </a:solidFill>
                <a:latin typeface="Calibri" pitchFamily="34" charset="0"/>
                <a:ea typeface="Calibri" pitchFamily="34" charset="-122"/>
                <a:cs typeface="Calibri" pitchFamily="34" charset="-120"/>
              </a:rPr>
              <a:t>Profit-Pulse.com.au</a:t>
            </a:r>
            <a:endParaRPr lang="en-US" sz="1100" dirty="0"/>
          </a:p>
          <a:p>
            <a:pPr indent="0" marL="0">
              <a:spcAft>
                <a:spcPts val="600"/>
              </a:spcAft>
              <a:buNone/>
            </a:pPr>
            <a:r>
              <a:rPr lang="en-US" sz="1100" dirty="0">
                <a:solidFill>
                  <a:srgbClr val="01A296"/>
                </a:solidFill>
                <a:latin typeface="Calibri" pitchFamily="34" charset="0"/>
                <a:ea typeface="Calibri" pitchFamily="34" charset="-122"/>
                <a:cs typeface="Calibri" pitchFamily="34" charset="-120"/>
              </a:rPr>
              <a:t>Nitesh@Profit-Pulse.com.au</a:t>
            </a:r>
            <a:endParaRPr lang="en-US" sz="1100" dirty="0"/>
          </a:p>
          <a:p>
            <a:pPr indent="0" marL="0">
              <a:spcAft>
                <a:spcPts val="600"/>
              </a:spcAft>
              <a:buNone/>
            </a:pPr>
            <a:r>
              <a:rPr lang="en-US" sz="1100" dirty="0">
                <a:solidFill>
                  <a:srgbClr val="FFFFFF"/>
                </a:solidFill>
                <a:latin typeface="Calibri" pitchFamily="34" charset="0"/>
                <a:ea typeface="Calibri" pitchFamily="34" charset="-122"/>
                <a:cs typeface="Calibri" pitchFamily="34" charset="-120"/>
              </a:rPr>
              <a:t>+61 411 876 267</a:t>
            </a:r>
            <a:endParaRPr lang="en-US" sz="1100" dirty="0"/>
          </a:p>
          <a:p>
            <a:pPr indent="0" marL="0">
              <a:spcAft>
                <a:spcPts val="600"/>
              </a:spcAft>
              <a:buNone/>
            </a:pPr>
            <a:r>
              <a:rPr lang="en-US" sz="1050" dirty="0">
                <a:solidFill>
                  <a:srgbClr val="01A296"/>
                </a:solidFill>
                <a:latin typeface="Calibri" pitchFamily="34" charset="0"/>
                <a:ea typeface="Calibri" pitchFamily="34" charset="-122"/>
                <a:cs typeface="Calibri" pitchFamily="34" charset="-120"/>
              </a:rPr>
              <a:t>linkedin.com/in/nitesh-roopa-77594163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2026-07-28T13:18:39Z</dcterms:created>
  <dcterms:modified xsi:type="dcterms:W3CDTF">2026-07-28T13:18:39Z</dcterms:modified>
</cp:coreProperties>
</file>