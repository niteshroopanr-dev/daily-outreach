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73152"/>
            <a:ext cx="5486400" cy="320040"/>
          </a:xfrm>
          <a:prstGeom prst="rect">
            <a:avLst/>
          </a:prstGeom>
          <a:noFill/>
        </p:spPr>
        <p:txBody>
          <a:bodyPr wrap="square"/>
          <a:lstStyle/>
          <a:p>
            <a:pPr algn="l"/>
            <a:r>
              <a:rPr sz="1100" b="1" i="0">
                <a:solidFill>
                  <a:srgbClr val="E6E5DE"/>
                </a:solidFill>
                <a:latin typeface="Calibri"/>
              </a:rPr>
              <a:t>COMMERCIAL INTELLIGENCE BRIEF</a:t>
            </a:r>
          </a:p>
        </p:txBody>
      </p:sp>
      <p:sp>
        <p:nvSpPr>
          <p:cNvPr id="5" name="TextBox 4"/>
          <p:cNvSpPr txBox="1"/>
          <p:nvPr/>
        </p:nvSpPr>
        <p:spPr>
          <a:xfrm>
            <a:off x="8686800" y="54864"/>
            <a:ext cx="3291840" cy="320040"/>
          </a:xfrm>
          <a:prstGeom prst="rect">
            <a:avLst/>
          </a:prstGeom>
          <a:noFill/>
        </p:spPr>
        <p:txBody>
          <a:bodyPr wrap="square"/>
          <a:lstStyle/>
          <a:p>
            <a:pPr algn="r"/>
            <a:r>
              <a:rPr sz="1100" b="1" i="0">
                <a:solidFill>
                  <a:srgbClr val="01A296"/>
                </a:solidFill>
                <a:latin typeface="Calibri"/>
              </a:rPr>
              <a:t>PROFITPULSE</a:t>
            </a:r>
          </a:p>
        </p:txBody>
      </p:sp>
      <p:sp>
        <p:nvSpPr>
          <p:cNvPr id="6" name="TextBox 5"/>
          <p:cNvSpPr txBox="1"/>
          <p:nvPr/>
        </p:nvSpPr>
        <p:spPr>
          <a:xfrm>
            <a:off x="228600" y="960120"/>
            <a:ext cx="7315200" cy="777240"/>
          </a:xfrm>
          <a:prstGeom prst="rect">
            <a:avLst/>
          </a:prstGeom>
          <a:noFill/>
        </p:spPr>
        <p:txBody>
          <a:bodyPr wrap="square"/>
          <a:lstStyle/>
          <a:p>
            <a:pPr algn="l"/>
            <a:r>
              <a:rPr sz="4000" b="1" i="0">
                <a:solidFill>
                  <a:srgbClr val="000000"/>
                </a:solidFill>
                <a:latin typeface="Georgia"/>
              </a:rPr>
              <a:t>National Media</a:t>
            </a:r>
          </a:p>
        </p:txBody>
      </p:sp>
      <p:sp>
        <p:nvSpPr>
          <p:cNvPr id="7" name="TextBox 6"/>
          <p:cNvSpPr txBox="1"/>
          <p:nvPr/>
        </p:nvSpPr>
        <p:spPr>
          <a:xfrm>
            <a:off x="228600" y="1755648"/>
            <a:ext cx="8229600" cy="274320"/>
          </a:xfrm>
          <a:prstGeom prst="rect">
            <a:avLst/>
          </a:prstGeom>
          <a:noFill/>
        </p:spPr>
        <p:txBody>
          <a:bodyPr wrap="square"/>
          <a:lstStyle/>
          <a:p>
            <a:pPr algn="l"/>
            <a:r>
              <a:rPr sz="1200" b="0" i="0">
                <a:solidFill>
                  <a:srgbClr val="444444"/>
                </a:solidFill>
                <a:latin typeface="Calibri"/>
              </a:rPr>
              <a:t>B2B exhibitions and events company  |  Bundall, Gold Coast QLD</a:t>
            </a:r>
          </a:p>
        </p:txBody>
      </p:sp>
      <p:sp>
        <p:nvSpPr>
          <p:cNvPr id="8" name="TextBox 7"/>
          <p:cNvSpPr txBox="1"/>
          <p:nvPr/>
        </p:nvSpPr>
        <p:spPr>
          <a:xfrm>
            <a:off x="228600" y="2103120"/>
            <a:ext cx="3657600" cy="228600"/>
          </a:xfrm>
          <a:prstGeom prst="rect">
            <a:avLst/>
          </a:prstGeom>
          <a:noFill/>
        </p:spPr>
        <p:txBody>
          <a:bodyPr wrap="square"/>
          <a:lstStyle/>
          <a:p>
            <a:pPr algn="l"/>
            <a:r>
              <a:rPr sz="1100" b="1" i="0">
                <a:solidFill>
                  <a:srgbClr val="01A296"/>
                </a:solidFill>
                <a:latin typeface="Calibri"/>
              </a:rPr>
              <a:t>VERIFIED METRICS</a:t>
            </a:r>
          </a:p>
        </p:txBody>
      </p:sp>
      <p:sp>
        <p:nvSpPr>
          <p:cNvPr id="9" name="Rectangle 8"/>
          <p:cNvSpPr/>
          <p:nvPr/>
        </p:nvSpPr>
        <p:spPr>
          <a:xfrm>
            <a:off x="228600" y="2359152"/>
            <a:ext cx="193852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2359152"/>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2486152"/>
            <a:ext cx="1719072" cy="502920"/>
          </a:xfrm>
          <a:prstGeom prst="rect">
            <a:avLst/>
          </a:prstGeom>
          <a:noFill/>
        </p:spPr>
        <p:txBody>
          <a:bodyPr wrap="square"/>
          <a:lstStyle/>
          <a:p>
            <a:pPr algn="l"/>
            <a:r>
              <a:rPr sz="2600" b="1" i="0">
                <a:solidFill>
                  <a:srgbClr val="F8C806"/>
                </a:solidFill>
                <a:latin typeface="Georgia"/>
              </a:rPr>
              <a:t>$18.4M</a:t>
            </a:r>
          </a:p>
        </p:txBody>
      </p:sp>
      <p:sp>
        <p:nvSpPr>
          <p:cNvPr id="12" name="TextBox 11"/>
          <p:cNvSpPr txBox="1"/>
          <p:nvPr/>
        </p:nvSpPr>
        <p:spPr>
          <a:xfrm>
            <a:off x="338328" y="2926080"/>
            <a:ext cx="1719072" cy="411480"/>
          </a:xfrm>
          <a:prstGeom prst="rect">
            <a:avLst/>
          </a:prstGeom>
          <a:noFill/>
        </p:spPr>
        <p:txBody>
          <a:bodyPr wrap="square">
            <a:spAutoFit/>
          </a:bodyPr>
          <a:lstStyle/>
          <a:p>
            <a:pPr algn="l"/>
            <a:r>
              <a:rPr sz="1000" b="0" i="0">
                <a:solidFill>
                  <a:srgbClr val="E6E5DE"/>
                </a:solidFill>
                <a:latin typeface="Calibri"/>
              </a:rPr>
              <a:t>Annual Revenue</a:t>
            </a:r>
          </a:p>
        </p:txBody>
      </p:sp>
      <p:sp>
        <p:nvSpPr>
          <p:cNvPr id="13" name="TextBox 12"/>
          <p:cNvSpPr txBox="1"/>
          <p:nvPr/>
        </p:nvSpPr>
        <p:spPr>
          <a:xfrm>
            <a:off x="338328" y="3346704"/>
            <a:ext cx="1719072" cy="274320"/>
          </a:xfrm>
          <a:prstGeom prst="rect">
            <a:avLst/>
          </a:prstGeom>
          <a:noFill/>
        </p:spPr>
        <p:txBody>
          <a:bodyPr wrap="square"/>
          <a:lstStyle/>
          <a:p>
            <a:pPr algn="l"/>
            <a:r>
              <a:rPr sz="700" b="0" i="1">
                <a:solidFill>
                  <a:srgbClr val="888888"/>
                </a:solidFill>
                <a:latin typeface="Calibri"/>
              </a:rPr>
              <a:t>Smart50 2025 citation, Nov 2025</a:t>
            </a:r>
          </a:p>
        </p:txBody>
      </p:sp>
      <p:sp>
        <p:nvSpPr>
          <p:cNvPr id="14" name="Rectangle 13"/>
          <p:cNvSpPr/>
          <p:nvPr/>
        </p:nvSpPr>
        <p:spPr>
          <a:xfrm>
            <a:off x="2221992" y="2359152"/>
            <a:ext cx="193852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21992" y="2359152"/>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31720" y="2486152"/>
            <a:ext cx="1719072" cy="502920"/>
          </a:xfrm>
          <a:prstGeom prst="rect">
            <a:avLst/>
          </a:prstGeom>
          <a:noFill/>
        </p:spPr>
        <p:txBody>
          <a:bodyPr wrap="square"/>
          <a:lstStyle/>
          <a:p>
            <a:pPr algn="l"/>
            <a:r>
              <a:rPr sz="2600" b="1" i="0">
                <a:solidFill>
                  <a:srgbClr val="F8C806"/>
                </a:solidFill>
                <a:latin typeface="Georgia"/>
              </a:rPr>
              <a:t>42%</a:t>
            </a:r>
          </a:p>
        </p:txBody>
      </p:sp>
      <p:sp>
        <p:nvSpPr>
          <p:cNvPr id="17" name="TextBox 16"/>
          <p:cNvSpPr txBox="1"/>
          <p:nvPr/>
        </p:nvSpPr>
        <p:spPr>
          <a:xfrm>
            <a:off x="2331720" y="2926080"/>
            <a:ext cx="1719072" cy="411480"/>
          </a:xfrm>
          <a:prstGeom prst="rect">
            <a:avLst/>
          </a:prstGeom>
          <a:noFill/>
        </p:spPr>
        <p:txBody>
          <a:bodyPr wrap="square">
            <a:spAutoFit/>
          </a:bodyPr>
          <a:lstStyle/>
          <a:p>
            <a:pPr algn="l"/>
            <a:r>
              <a:rPr sz="1000" b="0" i="0">
                <a:solidFill>
                  <a:srgbClr val="E6E5DE"/>
                </a:solidFill>
                <a:latin typeface="Calibri"/>
              </a:rPr>
              <a:t>3 Year Avg Growth</a:t>
            </a:r>
          </a:p>
        </p:txBody>
      </p:sp>
      <p:sp>
        <p:nvSpPr>
          <p:cNvPr id="18" name="TextBox 17"/>
          <p:cNvSpPr txBox="1"/>
          <p:nvPr/>
        </p:nvSpPr>
        <p:spPr>
          <a:xfrm>
            <a:off x="2331720" y="3346704"/>
            <a:ext cx="1719072" cy="274320"/>
          </a:xfrm>
          <a:prstGeom prst="rect">
            <a:avLst/>
          </a:prstGeom>
          <a:noFill/>
        </p:spPr>
        <p:txBody>
          <a:bodyPr wrap="square"/>
          <a:lstStyle/>
          <a:p>
            <a:pPr algn="l"/>
            <a:r>
              <a:rPr sz="700" b="0" i="1">
                <a:solidFill>
                  <a:srgbClr val="888888"/>
                </a:solidFill>
                <a:latin typeface="Calibri"/>
              </a:rPr>
              <a:t>Smart50 2025, published Nov 2025</a:t>
            </a:r>
          </a:p>
        </p:txBody>
      </p:sp>
      <p:sp>
        <p:nvSpPr>
          <p:cNvPr id="19" name="Rectangle 18"/>
          <p:cNvSpPr/>
          <p:nvPr/>
        </p:nvSpPr>
        <p:spPr>
          <a:xfrm>
            <a:off x="4215384" y="2359152"/>
            <a:ext cx="193852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15384" y="2359152"/>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5112" y="2486152"/>
            <a:ext cx="1719072" cy="502920"/>
          </a:xfrm>
          <a:prstGeom prst="rect">
            <a:avLst/>
          </a:prstGeom>
          <a:noFill/>
        </p:spPr>
        <p:txBody>
          <a:bodyPr wrap="square"/>
          <a:lstStyle/>
          <a:p>
            <a:pPr algn="l"/>
            <a:r>
              <a:rPr sz="2600" b="1" i="0">
                <a:solidFill>
                  <a:srgbClr val="F8C806"/>
                </a:solidFill>
                <a:latin typeface="Georgia"/>
              </a:rPr>
              <a:t>48</a:t>
            </a:r>
          </a:p>
        </p:txBody>
      </p:sp>
      <p:sp>
        <p:nvSpPr>
          <p:cNvPr id="22" name="TextBox 21"/>
          <p:cNvSpPr txBox="1"/>
          <p:nvPr/>
        </p:nvSpPr>
        <p:spPr>
          <a:xfrm>
            <a:off x="4325112" y="2926080"/>
            <a:ext cx="1719072" cy="411480"/>
          </a:xfrm>
          <a:prstGeom prst="rect">
            <a:avLst/>
          </a:prstGeom>
          <a:noFill/>
        </p:spPr>
        <p:txBody>
          <a:bodyPr wrap="square">
            <a:spAutoFit/>
          </a:bodyPr>
          <a:lstStyle/>
          <a:p>
            <a:pPr algn="l"/>
            <a:r>
              <a:rPr sz="1000" b="0" i="0">
                <a:solidFill>
                  <a:srgbClr val="E6E5DE"/>
                </a:solidFill>
                <a:latin typeface="Calibri"/>
              </a:rPr>
              <a:t>Employees</a:t>
            </a:r>
          </a:p>
        </p:txBody>
      </p:sp>
      <p:sp>
        <p:nvSpPr>
          <p:cNvPr id="23" name="TextBox 22"/>
          <p:cNvSpPr txBox="1"/>
          <p:nvPr/>
        </p:nvSpPr>
        <p:spPr>
          <a:xfrm>
            <a:off x="4325112" y="3346704"/>
            <a:ext cx="1719072" cy="274320"/>
          </a:xfrm>
          <a:prstGeom prst="rect">
            <a:avLst/>
          </a:prstGeom>
          <a:noFill/>
        </p:spPr>
        <p:txBody>
          <a:bodyPr wrap="square"/>
          <a:lstStyle/>
          <a:p>
            <a:pPr algn="l"/>
            <a:r>
              <a:rPr sz="700" b="0" i="1">
                <a:solidFill>
                  <a:srgbClr val="888888"/>
                </a:solidFill>
                <a:latin typeface="Calibri"/>
              </a:rPr>
              <a:t>Smart50 2025 profile</a:t>
            </a:r>
          </a:p>
        </p:txBody>
      </p:sp>
      <p:sp>
        <p:nvSpPr>
          <p:cNvPr id="24" name="Rectangle 23"/>
          <p:cNvSpPr/>
          <p:nvPr/>
        </p:nvSpPr>
        <p:spPr>
          <a:xfrm>
            <a:off x="6208776" y="2359152"/>
            <a:ext cx="193852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2359152"/>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8504" y="2486152"/>
            <a:ext cx="1719072" cy="502920"/>
          </a:xfrm>
          <a:prstGeom prst="rect">
            <a:avLst/>
          </a:prstGeom>
          <a:noFill/>
        </p:spPr>
        <p:txBody>
          <a:bodyPr wrap="square"/>
          <a:lstStyle/>
          <a:p>
            <a:pPr algn="l"/>
            <a:r>
              <a:rPr sz="2600" b="1" i="0">
                <a:solidFill>
                  <a:srgbClr val="F8C806"/>
                </a:solidFill>
                <a:latin typeface="Georgia"/>
              </a:rPr>
              <a:t>13</a:t>
            </a:r>
          </a:p>
        </p:txBody>
      </p:sp>
      <p:sp>
        <p:nvSpPr>
          <p:cNvPr id="27" name="TextBox 26"/>
          <p:cNvSpPr txBox="1"/>
          <p:nvPr/>
        </p:nvSpPr>
        <p:spPr>
          <a:xfrm>
            <a:off x="6318504" y="2926080"/>
            <a:ext cx="1719072" cy="411480"/>
          </a:xfrm>
          <a:prstGeom prst="rect">
            <a:avLst/>
          </a:prstGeom>
          <a:noFill/>
        </p:spPr>
        <p:txBody>
          <a:bodyPr wrap="square">
            <a:spAutoFit/>
          </a:bodyPr>
          <a:lstStyle/>
          <a:p>
            <a:pPr algn="l"/>
            <a:r>
              <a:rPr sz="1000" b="0" i="0">
                <a:solidFill>
                  <a:srgbClr val="E6E5DE"/>
                </a:solidFill>
                <a:latin typeface="Calibri"/>
              </a:rPr>
              <a:t>National Events</a:t>
            </a:r>
          </a:p>
        </p:txBody>
      </p:sp>
      <p:sp>
        <p:nvSpPr>
          <p:cNvPr id="28" name="TextBox 27"/>
          <p:cNvSpPr txBox="1"/>
          <p:nvPr/>
        </p:nvSpPr>
        <p:spPr>
          <a:xfrm>
            <a:off x="6318504" y="3346704"/>
            <a:ext cx="1719072" cy="274320"/>
          </a:xfrm>
          <a:prstGeom prst="rect">
            <a:avLst/>
          </a:prstGeom>
          <a:noFill/>
        </p:spPr>
        <p:txBody>
          <a:bodyPr wrap="square"/>
          <a:lstStyle/>
          <a:p>
            <a:pPr algn="l"/>
            <a:r>
              <a:rPr sz="700" b="0" i="1">
                <a:solidFill>
                  <a:srgbClr val="888888"/>
                </a:solidFill>
                <a:latin typeface="Calibri"/>
              </a:rPr>
              <a:t>Exhibition Industry News, Nov 2025</a:t>
            </a:r>
          </a:p>
        </p:txBody>
      </p:sp>
      <p:sp>
        <p:nvSpPr>
          <p:cNvPr id="29" name="Rectangle 28"/>
          <p:cNvSpPr/>
          <p:nvPr/>
        </p:nvSpPr>
        <p:spPr>
          <a:xfrm>
            <a:off x="8202168" y="2359152"/>
            <a:ext cx="193852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02168" y="2359152"/>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11896" y="2486152"/>
            <a:ext cx="1719072" cy="502920"/>
          </a:xfrm>
          <a:prstGeom prst="rect">
            <a:avLst/>
          </a:prstGeom>
          <a:noFill/>
        </p:spPr>
        <p:txBody>
          <a:bodyPr wrap="square"/>
          <a:lstStyle/>
          <a:p>
            <a:pPr algn="l"/>
            <a:r>
              <a:rPr sz="2600" b="1" i="0">
                <a:solidFill>
                  <a:srgbClr val="F8C806"/>
                </a:solidFill>
                <a:latin typeface="Georgia"/>
              </a:rPr>
              <a:t>#28</a:t>
            </a:r>
          </a:p>
        </p:txBody>
      </p:sp>
      <p:sp>
        <p:nvSpPr>
          <p:cNvPr id="32" name="TextBox 31"/>
          <p:cNvSpPr txBox="1"/>
          <p:nvPr/>
        </p:nvSpPr>
        <p:spPr>
          <a:xfrm>
            <a:off x="8311896" y="2926080"/>
            <a:ext cx="1719072" cy="411480"/>
          </a:xfrm>
          <a:prstGeom prst="rect">
            <a:avLst/>
          </a:prstGeom>
          <a:noFill/>
        </p:spPr>
        <p:txBody>
          <a:bodyPr wrap="square">
            <a:spAutoFit/>
          </a:bodyPr>
          <a:lstStyle/>
          <a:p>
            <a:pPr algn="l"/>
            <a:r>
              <a:rPr sz="1000" b="0" i="0">
                <a:solidFill>
                  <a:srgbClr val="E6E5DE"/>
                </a:solidFill>
                <a:latin typeface="Calibri"/>
              </a:rPr>
              <a:t>Smart50 2025 Rank</a:t>
            </a:r>
          </a:p>
        </p:txBody>
      </p:sp>
      <p:sp>
        <p:nvSpPr>
          <p:cNvPr id="33" name="TextBox 32"/>
          <p:cNvSpPr txBox="1"/>
          <p:nvPr/>
        </p:nvSpPr>
        <p:spPr>
          <a:xfrm>
            <a:off x="8311896" y="3346704"/>
            <a:ext cx="1719072" cy="274320"/>
          </a:xfrm>
          <a:prstGeom prst="rect">
            <a:avLst/>
          </a:prstGeom>
          <a:noFill/>
        </p:spPr>
        <p:txBody>
          <a:bodyPr wrap="square"/>
          <a:lstStyle/>
          <a:p>
            <a:pPr algn="l"/>
            <a:r>
              <a:rPr sz="700" b="0" i="1">
                <a:solidFill>
                  <a:srgbClr val="888888"/>
                </a:solidFill>
                <a:latin typeface="Calibri"/>
              </a:rPr>
              <a:t>SmartCompany Smart50 Awards 2025</a:t>
            </a:r>
          </a:p>
        </p:txBody>
      </p:sp>
      <p:sp>
        <p:nvSpPr>
          <p:cNvPr id="34" name="Rectangle 33"/>
          <p:cNvSpPr/>
          <p:nvPr/>
        </p:nvSpPr>
        <p:spPr>
          <a:xfrm>
            <a:off x="10195560" y="2359152"/>
            <a:ext cx="1938528"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195560" y="2359152"/>
            <a:ext cx="1938528"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05288" y="2486152"/>
            <a:ext cx="1719072" cy="502920"/>
          </a:xfrm>
          <a:prstGeom prst="rect">
            <a:avLst/>
          </a:prstGeom>
          <a:noFill/>
        </p:spPr>
        <p:txBody>
          <a:bodyPr wrap="square"/>
          <a:lstStyle/>
          <a:p>
            <a:pPr algn="l"/>
            <a:r>
              <a:rPr sz="2600" b="1" i="0">
                <a:solidFill>
                  <a:srgbClr val="F8C806"/>
                </a:solidFill>
                <a:latin typeface="Georgia"/>
              </a:rPr>
              <a:t>#62</a:t>
            </a:r>
          </a:p>
        </p:txBody>
      </p:sp>
      <p:sp>
        <p:nvSpPr>
          <p:cNvPr id="37" name="TextBox 36"/>
          <p:cNvSpPr txBox="1"/>
          <p:nvPr/>
        </p:nvSpPr>
        <p:spPr>
          <a:xfrm>
            <a:off x="10305288" y="2926080"/>
            <a:ext cx="1719072" cy="411480"/>
          </a:xfrm>
          <a:prstGeom prst="rect">
            <a:avLst/>
          </a:prstGeom>
          <a:noFill/>
        </p:spPr>
        <p:txBody>
          <a:bodyPr wrap="square">
            <a:spAutoFit/>
          </a:bodyPr>
          <a:lstStyle/>
          <a:p>
            <a:pPr algn="l"/>
            <a:r>
              <a:rPr sz="1000" b="0" i="0">
                <a:solidFill>
                  <a:srgbClr val="E6E5DE"/>
                </a:solidFill>
                <a:latin typeface="Calibri"/>
              </a:rPr>
              <a:t>AFR Fast 100 2025 Rank</a:t>
            </a:r>
          </a:p>
        </p:txBody>
      </p:sp>
      <p:sp>
        <p:nvSpPr>
          <p:cNvPr id="38" name="TextBox 37"/>
          <p:cNvSpPr txBox="1"/>
          <p:nvPr/>
        </p:nvSpPr>
        <p:spPr>
          <a:xfrm>
            <a:off x="10305288" y="3346704"/>
            <a:ext cx="1719072" cy="274320"/>
          </a:xfrm>
          <a:prstGeom prst="rect">
            <a:avLst/>
          </a:prstGeom>
          <a:noFill/>
        </p:spPr>
        <p:txBody>
          <a:bodyPr wrap="square"/>
          <a:lstStyle/>
          <a:p>
            <a:pPr algn="l"/>
            <a:r>
              <a:rPr sz="700" b="0" i="1">
                <a:solidFill>
                  <a:srgbClr val="888888"/>
                </a:solidFill>
                <a:latin typeface="Calibri"/>
              </a:rPr>
              <a:t>Australian Financial Review Fast 100 2025</a:t>
            </a:r>
          </a:p>
        </p:txBody>
      </p:sp>
      <p:sp>
        <p:nvSpPr>
          <p:cNvPr id="39" name="TextBox 38"/>
          <p:cNvSpPr txBox="1"/>
          <p:nvPr/>
        </p:nvSpPr>
        <p:spPr>
          <a:xfrm>
            <a:off x="228600" y="3767328"/>
            <a:ext cx="4572000" cy="228600"/>
          </a:xfrm>
          <a:prstGeom prst="rect">
            <a:avLst/>
          </a:prstGeom>
          <a:noFill/>
        </p:spPr>
        <p:txBody>
          <a:bodyPr wrap="square"/>
          <a:lstStyle/>
          <a:p>
            <a:pPr algn="l"/>
            <a:r>
              <a:rPr sz="1100" b="1" i="0">
                <a:solidFill>
                  <a:srgbClr val="01A296"/>
                </a:solidFill>
                <a:latin typeface="Calibri"/>
              </a:rPr>
              <a:t>KEY COMMERCIAL SIGNALS</a:t>
            </a:r>
          </a:p>
        </p:txBody>
      </p:sp>
      <p:sp>
        <p:nvSpPr>
          <p:cNvPr id="40" name="TextBox 39"/>
          <p:cNvSpPr txBox="1"/>
          <p:nvPr/>
        </p:nvSpPr>
        <p:spPr>
          <a:xfrm>
            <a:off x="320040" y="4041648"/>
            <a:ext cx="11704320" cy="256032"/>
          </a:xfrm>
          <a:prstGeom prst="rect">
            <a:avLst/>
          </a:prstGeom>
          <a:noFill/>
        </p:spPr>
        <p:txBody>
          <a:bodyPr wrap="square">
            <a:spAutoFit/>
          </a:bodyPr>
          <a:lstStyle/>
          <a:p>
            <a:pPr algn="l"/>
            <a:r>
              <a:rPr sz="1000" b="0" i="0">
                <a:solidFill>
                  <a:srgbClr val="000000"/>
                </a:solidFill>
                <a:latin typeface="Calibri"/>
              </a:rPr>
              <a:t>Revenue doubled in the past year through organic growth and three acquisition programmes  (Exhibition Industry News, Nov 2025)</a:t>
            </a:r>
          </a:p>
        </p:txBody>
      </p:sp>
      <p:sp>
        <p:nvSpPr>
          <p:cNvPr id="41" name="TextBox 40"/>
          <p:cNvSpPr txBox="1"/>
          <p:nvPr/>
        </p:nvSpPr>
        <p:spPr>
          <a:xfrm>
            <a:off x="320040" y="4315968"/>
            <a:ext cx="11704320" cy="256032"/>
          </a:xfrm>
          <a:prstGeom prst="rect">
            <a:avLst/>
          </a:prstGeom>
          <a:noFill/>
        </p:spPr>
        <p:txBody>
          <a:bodyPr wrap="square">
            <a:spAutoFit/>
          </a:bodyPr>
          <a:lstStyle/>
          <a:p>
            <a:pPr algn="l"/>
            <a:r>
              <a:rPr sz="1000" b="0" i="0">
                <a:solidFill>
                  <a:srgbClr val="000000"/>
                </a:solidFill>
                <a:latin typeface="Calibri"/>
              </a:rPr>
              <a:t>Three acquisitions confirmed: Workplace Health and Safety Shows, Foodservice Australia portfolio, Cafe Culture and Cafe Biz Expo  (press releases, 2024 to 2025)</a:t>
            </a:r>
          </a:p>
        </p:txBody>
      </p:sp>
      <p:sp>
        <p:nvSpPr>
          <p:cNvPr id="42" name="TextBox 41"/>
          <p:cNvSpPr txBox="1"/>
          <p:nvPr/>
        </p:nvSpPr>
        <p:spPr>
          <a:xfrm>
            <a:off x="320040" y="4590288"/>
            <a:ext cx="11704320" cy="256032"/>
          </a:xfrm>
          <a:prstGeom prst="rect">
            <a:avLst/>
          </a:prstGeom>
          <a:noFill/>
        </p:spPr>
        <p:txBody>
          <a:bodyPr wrap="square">
            <a:spAutoFit/>
          </a:bodyPr>
          <a:lstStyle/>
          <a:p>
            <a:pPr algn="l"/>
            <a:r>
              <a:rPr sz="1000" b="0" i="0">
                <a:solidFill>
                  <a:srgbClr val="000000"/>
                </a:solidFill>
                <a:latin typeface="Calibri"/>
              </a:rPr>
              <a:t>Dual award recognition: Smart50 rank 28 and AFR Fast 100 rank 62 in the same year  (SmartCompany and AFR, Nov 2025)</a:t>
            </a:r>
          </a:p>
        </p:txBody>
      </p:sp>
      <p:sp>
        <p:nvSpPr>
          <p:cNvPr id="43" name="TextBox 42"/>
          <p:cNvSpPr txBox="1"/>
          <p:nvPr/>
        </p:nvSpPr>
        <p:spPr>
          <a:xfrm>
            <a:off x="320040" y="4864608"/>
            <a:ext cx="11704320" cy="256032"/>
          </a:xfrm>
          <a:prstGeom prst="rect">
            <a:avLst/>
          </a:prstGeom>
          <a:noFill/>
        </p:spPr>
        <p:txBody>
          <a:bodyPr wrap="square">
            <a:spAutoFit/>
          </a:bodyPr>
          <a:lstStyle/>
          <a:p>
            <a:pPr algn="l"/>
            <a:r>
              <a:rPr sz="1000" b="0" i="0">
                <a:solidFill>
                  <a:srgbClr val="000000"/>
                </a:solidFill>
                <a:latin typeface="Calibri"/>
              </a:rPr>
              <a:t>13 national events across 10 brands now operating across food, hospitality, safety, fitness, architecture, and accommodation  (Exhibition Industry News)</a:t>
            </a:r>
          </a:p>
        </p:txBody>
      </p:sp>
      <p:sp>
        <p:nvSpPr>
          <p:cNvPr id="44" name="TextBox 43"/>
          <p:cNvSpPr txBox="1"/>
          <p:nvPr/>
        </p:nvSpPr>
        <p:spPr>
          <a:xfrm>
            <a:off x="320040" y="5138928"/>
            <a:ext cx="11704320" cy="256032"/>
          </a:xfrm>
          <a:prstGeom prst="rect">
            <a:avLst/>
          </a:prstGeom>
          <a:noFill/>
        </p:spPr>
        <p:txBody>
          <a:bodyPr wrap="square">
            <a:spAutoFit/>
          </a:bodyPr>
          <a:lstStyle/>
          <a:p>
            <a:pPr algn="l"/>
            <a:r>
              <a:rPr sz="1000" b="0" i="0">
                <a:solidFill>
                  <a:srgbClr val="000000"/>
                </a:solidFill>
                <a:latin typeface="Calibri"/>
              </a:rPr>
              <a:t>Founded 1993, over 30 years in B2B exhibitions, now one of Australia's largest independent event organisers  (National Media, nationalmedia.com.au)</a:t>
            </a:r>
          </a:p>
        </p:txBody>
      </p:sp>
      <p:sp>
        <p:nvSpPr>
          <p:cNvPr id="45" name="Rectangle 44"/>
          <p:cNvSpPr/>
          <p:nvPr/>
        </p:nvSpPr>
        <p:spPr>
          <a:xfrm>
            <a:off x="228600" y="6565392"/>
            <a:ext cx="11795760" cy="63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8600" y="6620256"/>
            <a:ext cx="8229600" cy="201168"/>
          </a:xfrm>
          <a:prstGeom prst="rect">
            <a:avLst/>
          </a:prstGeom>
          <a:noFill/>
        </p:spPr>
        <p:txBody>
          <a:bodyPr wrap="square"/>
          <a:lstStyle/>
          <a:p>
            <a:pPr algn="l"/>
            <a:r>
              <a:rPr sz="800" b="0" i="0">
                <a:solidFill>
                  <a:srgbClr val="444444"/>
                </a:solidFill>
                <a:latin typeface="Calibri"/>
              </a:rPr>
              <a:t>Prepared by Nitesh Roopa CA, Managing Partner and Founder, ProfitPulse  |  Profit-Pulse.com.au</a:t>
            </a:r>
          </a:p>
        </p:txBody>
      </p:sp>
      <p:sp>
        <p:nvSpPr>
          <p:cNvPr id="47" name="TextBox 46"/>
          <p:cNvSpPr txBox="1"/>
          <p:nvPr/>
        </p:nvSpPr>
        <p:spPr>
          <a:xfrm>
            <a:off x="9601200" y="6620256"/>
            <a:ext cx="2377440" cy="201168"/>
          </a:xfrm>
          <a:prstGeom prst="rect">
            <a:avLst/>
          </a:prstGeom>
          <a:noFill/>
        </p:spPr>
        <p:txBody>
          <a:bodyPr wrap="square"/>
          <a:lstStyle/>
          <a:p>
            <a:pPr algn="r"/>
            <a:r>
              <a:rPr sz="800" b="0" i="0">
                <a:solidFill>
                  <a:srgbClr val="444444"/>
                </a:solidFill>
                <a:latin typeface="Calibri"/>
              </a:rPr>
              <a:t>30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73152"/>
            <a:ext cx="4572000" cy="320040"/>
          </a:xfrm>
          <a:prstGeom prst="rect">
            <a:avLst/>
          </a:prstGeom>
          <a:noFill/>
        </p:spPr>
        <p:txBody>
          <a:bodyPr wrap="square"/>
          <a:lstStyle/>
          <a:p>
            <a:pPr algn="l"/>
            <a:r>
              <a:rPr sz="1100" b="1" i="0">
                <a:solidFill>
                  <a:srgbClr val="F8C806"/>
                </a:solidFill>
                <a:latin typeface="Calibri"/>
              </a:rPr>
              <a:t>THE OPPORTUNITY</a:t>
            </a:r>
          </a:p>
        </p:txBody>
      </p:sp>
      <p:sp>
        <p:nvSpPr>
          <p:cNvPr id="5" name="TextBox 4"/>
          <p:cNvSpPr txBox="1"/>
          <p:nvPr/>
        </p:nvSpPr>
        <p:spPr>
          <a:xfrm>
            <a:off x="228600" y="420624"/>
            <a:ext cx="8229600" cy="310896"/>
          </a:xfrm>
          <a:prstGeom prst="rect">
            <a:avLst/>
          </a:prstGeom>
          <a:noFill/>
        </p:spPr>
        <p:txBody>
          <a:bodyPr wrap="square"/>
          <a:lstStyle/>
          <a:p>
            <a:pPr algn="l"/>
            <a:r>
              <a:rPr sz="1200" b="0" i="0">
                <a:solidFill>
                  <a:srgbClr val="E6E5DE"/>
                </a:solidFill>
                <a:latin typeface="Calibri"/>
              </a:rPr>
              <a:t>National Media  |  Three commercial observations from ProfitPulse</a:t>
            </a:r>
          </a:p>
        </p:txBody>
      </p:sp>
      <p:sp>
        <p:nvSpPr>
          <p:cNvPr id="6" name="TextBox 5"/>
          <p:cNvSpPr txBox="1"/>
          <p:nvPr/>
        </p:nvSpPr>
        <p:spPr>
          <a:xfrm>
            <a:off x="8686800" y="54864"/>
            <a:ext cx="3291840" cy="320040"/>
          </a:xfrm>
          <a:prstGeom prst="rect">
            <a:avLst/>
          </a:prstGeom>
          <a:noFill/>
        </p:spPr>
        <p:txBody>
          <a:bodyPr wrap="square"/>
          <a:lstStyle/>
          <a:p>
            <a:pPr algn="r"/>
            <a:r>
              <a:rPr sz="1100" b="1" i="0">
                <a:solidFill>
                  <a:srgbClr val="01A296"/>
                </a:solidFill>
                <a:latin typeface="Calibri"/>
              </a:rPr>
              <a:t>PROFITPULSE</a:t>
            </a:r>
          </a:p>
        </p:txBody>
      </p:sp>
      <p:sp>
        <p:nvSpPr>
          <p:cNvPr id="7" name="Rectangle 6"/>
          <p:cNvSpPr/>
          <p:nvPr/>
        </p:nvSpPr>
        <p:spPr>
          <a:xfrm>
            <a:off x="228600" y="960120"/>
            <a:ext cx="3886200" cy="54864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124712"/>
            <a:ext cx="914400" cy="548640"/>
          </a:xfrm>
          <a:prstGeom prst="rect">
            <a:avLst/>
          </a:prstGeom>
          <a:noFill/>
        </p:spPr>
        <p:txBody>
          <a:bodyPr wrap="square"/>
          <a:lstStyle/>
          <a:p>
            <a:pPr algn="l"/>
            <a:r>
              <a:rPr sz="3600" b="1" i="0">
                <a:solidFill>
                  <a:srgbClr val="FFFFFF"/>
                </a:solidFill>
                <a:latin typeface="Georgia"/>
              </a:rPr>
              <a:t>01</a:t>
            </a:r>
          </a:p>
        </p:txBody>
      </p:sp>
      <p:sp>
        <p:nvSpPr>
          <p:cNvPr id="9" name="TextBox 8"/>
          <p:cNvSpPr txBox="1"/>
          <p:nvPr/>
        </p:nvSpPr>
        <p:spPr>
          <a:xfrm>
            <a:off x="393192" y="1737360"/>
            <a:ext cx="3557016" cy="685800"/>
          </a:xfrm>
          <a:prstGeom prst="rect">
            <a:avLst/>
          </a:prstGeom>
          <a:noFill/>
        </p:spPr>
        <p:txBody>
          <a:bodyPr wrap="square">
            <a:spAutoFit/>
          </a:bodyPr>
          <a:lstStyle/>
          <a:p>
            <a:pPr algn="l"/>
            <a:r>
              <a:rPr sz="1200" b="1" i="0">
                <a:solidFill>
                  <a:srgbClr val="FFFFFF"/>
                </a:solidFill>
                <a:latin typeface="Georgia"/>
              </a:rPr>
              <a:t>Revenue doubled in one year. The financial architecture needs to keep pace.</a:t>
            </a:r>
          </a:p>
        </p:txBody>
      </p:sp>
      <p:sp>
        <p:nvSpPr>
          <p:cNvPr id="10" name="TextBox 9"/>
          <p:cNvSpPr txBox="1"/>
          <p:nvPr/>
        </p:nvSpPr>
        <p:spPr>
          <a:xfrm>
            <a:off x="393192" y="2496312"/>
            <a:ext cx="3557016" cy="3520440"/>
          </a:xfrm>
          <a:prstGeom prst="rect">
            <a:avLst/>
          </a:prstGeom>
          <a:noFill/>
        </p:spPr>
        <p:txBody>
          <a:bodyPr wrap="square">
            <a:spAutoFit/>
          </a:bodyPr>
          <a:lstStyle/>
          <a:p>
            <a:pPr algn="l"/>
            <a:r>
              <a:rPr sz="1000" b="0" i="0">
                <a:solidFill>
                  <a:srgbClr val="FFFFFF"/>
                </a:solidFill>
                <a:latin typeface="Calibri"/>
              </a:rPr>
              <a:t>National Media grew from roughly $9 million to $18.4 million in a single year. That kind of velocity is remarkable. It also means that the financial reporting cadence, the management pack structure, and the capital allocation framework were likely built for a smaller and simpler business. At $18.4 million across 10 brands, the P and L story becomes harder to read without a clear framework. ProfitPulse works with growing businesses to build that reporting layer before the complexity outpaces the visibility.</a:t>
            </a:r>
          </a:p>
        </p:txBody>
      </p:sp>
      <p:sp>
        <p:nvSpPr>
          <p:cNvPr id="11" name="Rectangle 10"/>
          <p:cNvSpPr/>
          <p:nvPr/>
        </p:nvSpPr>
        <p:spPr>
          <a:xfrm>
            <a:off x="4206240" y="960120"/>
            <a:ext cx="3886200"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2" y="1124712"/>
            <a:ext cx="914400" cy="548640"/>
          </a:xfrm>
          <a:prstGeom prst="rect">
            <a:avLst/>
          </a:prstGeom>
          <a:noFill/>
        </p:spPr>
        <p:txBody>
          <a:bodyPr wrap="square"/>
          <a:lstStyle/>
          <a:p>
            <a:pPr algn="l"/>
            <a:r>
              <a:rPr sz="3600" b="1" i="0">
                <a:solidFill>
                  <a:srgbClr val="F8C806"/>
                </a:solidFill>
                <a:latin typeface="Georgia"/>
              </a:rPr>
              <a:t>02</a:t>
            </a:r>
          </a:p>
        </p:txBody>
      </p:sp>
      <p:sp>
        <p:nvSpPr>
          <p:cNvPr id="13" name="TextBox 12"/>
          <p:cNvSpPr txBox="1"/>
          <p:nvPr/>
        </p:nvSpPr>
        <p:spPr>
          <a:xfrm>
            <a:off x="4370832" y="1737360"/>
            <a:ext cx="3557016" cy="685800"/>
          </a:xfrm>
          <a:prstGeom prst="rect">
            <a:avLst/>
          </a:prstGeom>
          <a:noFill/>
        </p:spPr>
        <p:txBody>
          <a:bodyPr wrap="square">
            <a:spAutoFit/>
          </a:bodyPr>
          <a:lstStyle/>
          <a:p>
            <a:pPr algn="l"/>
            <a:r>
              <a:rPr sz="1200" b="1" i="0">
                <a:solidFill>
                  <a:srgbClr val="F8C806"/>
                </a:solidFill>
                <a:latin typeface="Georgia"/>
              </a:rPr>
              <a:t>Three acquisitions in 18 months. Integration economics need a disciplined framework.</a:t>
            </a:r>
          </a:p>
        </p:txBody>
      </p:sp>
      <p:sp>
        <p:nvSpPr>
          <p:cNvPr id="14" name="TextBox 13"/>
          <p:cNvSpPr txBox="1"/>
          <p:nvPr/>
        </p:nvSpPr>
        <p:spPr>
          <a:xfrm>
            <a:off x="4370832" y="2496312"/>
            <a:ext cx="3557016" cy="3520440"/>
          </a:xfrm>
          <a:prstGeom prst="rect">
            <a:avLst/>
          </a:prstGeom>
          <a:noFill/>
        </p:spPr>
        <p:txBody>
          <a:bodyPr wrap="square">
            <a:spAutoFit/>
          </a:bodyPr>
          <a:lstStyle/>
          <a:p>
            <a:pPr algn="l"/>
            <a:r>
              <a:rPr sz="1000" b="0" i="0">
                <a:solidFill>
                  <a:srgbClr val="E6E5DE"/>
                </a:solidFill>
                <a:latin typeface="Calibri"/>
              </a:rPr>
              <a:t>National Media has executed three separate acquisition programmes: the Workplace Health and Safety Shows, the Foodservice Australia portfolio from Specialised Events, and the Cafe Culture and Cafe Biz Expo brands. Each carries its own cost base, revenue model, and integration risk. Without a formal framework for modelling acquisition returns and tracking integration milestones against plan, the risk is that the acquisitions look successful by revenue but unclear by margin. A senior financial partner with transaction experience closes that gap.</a:t>
            </a:r>
          </a:p>
        </p:txBody>
      </p:sp>
      <p:sp>
        <p:nvSpPr>
          <p:cNvPr id="15" name="Rectangle 14"/>
          <p:cNvSpPr/>
          <p:nvPr/>
        </p:nvSpPr>
        <p:spPr>
          <a:xfrm>
            <a:off x="8183880" y="960120"/>
            <a:ext cx="3886200" cy="548640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1124712"/>
            <a:ext cx="914400" cy="548640"/>
          </a:xfrm>
          <a:prstGeom prst="rect">
            <a:avLst/>
          </a:prstGeom>
          <a:noFill/>
        </p:spPr>
        <p:txBody>
          <a:bodyPr wrap="square"/>
          <a:lstStyle/>
          <a:p>
            <a:pPr algn="l"/>
            <a:r>
              <a:rPr sz="3600" b="1" i="0">
                <a:solidFill>
                  <a:srgbClr val="000000"/>
                </a:solidFill>
                <a:latin typeface="Georgia"/>
              </a:rPr>
              <a:t>03</a:t>
            </a:r>
          </a:p>
        </p:txBody>
      </p:sp>
      <p:sp>
        <p:nvSpPr>
          <p:cNvPr id="17" name="TextBox 16"/>
          <p:cNvSpPr txBox="1"/>
          <p:nvPr/>
        </p:nvSpPr>
        <p:spPr>
          <a:xfrm>
            <a:off x="8348472" y="1737360"/>
            <a:ext cx="3557016" cy="685800"/>
          </a:xfrm>
          <a:prstGeom prst="rect">
            <a:avLst/>
          </a:prstGeom>
          <a:noFill/>
        </p:spPr>
        <p:txBody>
          <a:bodyPr wrap="square">
            <a:spAutoFit/>
          </a:bodyPr>
          <a:lstStyle/>
          <a:p>
            <a:pPr algn="l"/>
            <a:r>
              <a:rPr sz="1200" b="1" i="0">
                <a:solidFill>
                  <a:srgbClr val="000000"/>
                </a:solidFill>
                <a:latin typeface="Georgia"/>
              </a:rPr>
              <a:t>10 brands across 6 sectors. Which exhibitions deliver the real margin?</a:t>
            </a:r>
          </a:p>
        </p:txBody>
      </p:sp>
      <p:sp>
        <p:nvSpPr>
          <p:cNvPr id="18" name="TextBox 17"/>
          <p:cNvSpPr txBox="1"/>
          <p:nvPr/>
        </p:nvSpPr>
        <p:spPr>
          <a:xfrm>
            <a:off x="8348472" y="2496312"/>
            <a:ext cx="3557016" cy="3520440"/>
          </a:xfrm>
          <a:prstGeom prst="rect">
            <a:avLst/>
          </a:prstGeom>
          <a:noFill/>
        </p:spPr>
        <p:txBody>
          <a:bodyPr wrap="square">
            <a:spAutoFit/>
          </a:bodyPr>
          <a:lstStyle/>
          <a:p>
            <a:pPr algn="l"/>
            <a:r>
              <a:rPr sz="1000" b="0" i="0">
                <a:solidFill>
                  <a:srgbClr val="000000"/>
                </a:solidFill>
                <a:latin typeface="Calibri"/>
              </a:rPr>
              <a:t>National Media runs exhibitions in food service, hospitality, workplace safety, fitness, architecture and design, and accommodation. The shows vary in size, exhibitor mix, and operational cost. At this portfolio scale, the critical financial question is which shows generate the highest margin after full cost allocation and which are consuming disproportionate team capacity. ProfitPulse's Fractional CFO Partnership builds the monthly reporting infrastructure to answer that question, enabling faster and more capital-efficient decisions across the portfolio.</a:t>
            </a:r>
          </a:p>
        </p:txBody>
      </p:sp>
      <p:sp>
        <p:nvSpPr>
          <p:cNvPr id="19" name="TextBox 18"/>
          <p:cNvSpPr txBox="1"/>
          <p:nvPr/>
        </p:nvSpPr>
        <p:spPr>
          <a:xfrm>
            <a:off x="228600" y="6483096"/>
            <a:ext cx="11795760" cy="256032"/>
          </a:xfrm>
          <a:prstGeom prst="rect">
            <a:avLst/>
          </a:prstGeom>
          <a:noFill/>
        </p:spPr>
        <p:txBody>
          <a:bodyPr wrap="square"/>
          <a:lstStyle/>
          <a:p>
            <a:pPr algn="ctr"/>
            <a:r>
              <a:rPr sz="900" b="0" i="1">
                <a:solidFill>
                  <a:srgbClr val="444444"/>
                </a:solidFill>
                <a:latin typeface="Calibri"/>
              </a:rPr>
              <a:t>These are observations offered in good faith. National Media has built something genuinely impressive. The question is simply whether the financial architecture matches the ambition.</a:t>
            </a:r>
          </a:p>
        </p:txBody>
      </p:sp>
      <p:sp>
        <p:nvSpPr>
          <p:cNvPr id="20" name="Rectangle 19"/>
          <p:cNvSpPr/>
          <p:nvPr/>
        </p:nvSpPr>
        <p:spPr>
          <a:xfrm>
            <a:off x="228600" y="6739128"/>
            <a:ext cx="11795760" cy="63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 y="6775704"/>
            <a:ext cx="8229600" cy="201168"/>
          </a:xfrm>
          <a:prstGeom prst="rect">
            <a:avLst/>
          </a:prstGeom>
          <a:noFill/>
        </p:spPr>
        <p:txBody>
          <a:bodyPr wrap="square"/>
          <a:lstStyle/>
          <a:p>
            <a:pPr algn="l"/>
            <a:r>
              <a:rPr sz="800" b="0" i="0">
                <a:solidFill>
                  <a:srgbClr val="444444"/>
                </a:solidFill>
                <a:latin typeface="Calibri"/>
              </a:rPr>
              <a:t>Prepared by Nitesh Roopa CA, Managing Partner, ProfitPulse  |  Profit-Pulse.com.au</a:t>
            </a:r>
          </a:p>
        </p:txBody>
      </p:sp>
      <p:sp>
        <p:nvSpPr>
          <p:cNvPr id="22" name="TextBox 21"/>
          <p:cNvSpPr txBox="1"/>
          <p:nvPr/>
        </p:nvSpPr>
        <p:spPr>
          <a:xfrm>
            <a:off x="9601200" y="6775704"/>
            <a:ext cx="2377440" cy="201168"/>
          </a:xfrm>
          <a:prstGeom prst="rect">
            <a:avLst/>
          </a:prstGeom>
          <a:noFill/>
        </p:spPr>
        <p:txBody>
          <a:bodyPr wrap="square"/>
          <a:lstStyle/>
          <a:p>
            <a:pPr algn="r"/>
            <a:r>
              <a:rPr sz="800" b="0" i="0">
                <a:solidFill>
                  <a:srgbClr val="444444"/>
                </a:solidFill>
                <a:latin typeface="Calibri"/>
              </a:rPr>
              <a:t>30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73152"/>
            <a:ext cx="5486400" cy="320040"/>
          </a:xfrm>
          <a:prstGeom prst="rect">
            <a:avLst/>
          </a:prstGeom>
          <a:noFill/>
        </p:spPr>
        <p:txBody>
          <a:bodyPr wrap="square"/>
          <a:lstStyle/>
          <a:p>
            <a:pPr algn="l"/>
            <a:r>
              <a:rPr sz="1100" b="1" i="0">
                <a:solidFill>
                  <a:srgbClr val="F8C806"/>
                </a:solidFill>
                <a:latin typeface="Calibri"/>
              </a:rPr>
              <a:t>THE RECOMMENDATION</a:t>
            </a:r>
          </a:p>
        </p:txBody>
      </p:sp>
      <p:sp>
        <p:nvSpPr>
          <p:cNvPr id="5" name="TextBox 4"/>
          <p:cNvSpPr txBox="1"/>
          <p:nvPr/>
        </p:nvSpPr>
        <p:spPr>
          <a:xfrm>
            <a:off x="8686800" y="54864"/>
            <a:ext cx="3291840" cy="320040"/>
          </a:xfrm>
          <a:prstGeom prst="rect">
            <a:avLst/>
          </a:prstGeom>
          <a:noFill/>
        </p:spPr>
        <p:txBody>
          <a:bodyPr wrap="square"/>
          <a:lstStyle/>
          <a:p>
            <a:pPr algn="r"/>
            <a:r>
              <a:rPr sz="1100" b="1" i="0">
                <a:solidFill>
                  <a:srgbClr val="01A296"/>
                </a:solidFill>
                <a:latin typeface="Calibri"/>
              </a:rPr>
              <a:t>PROFITPULSE</a:t>
            </a:r>
          </a:p>
        </p:txBody>
      </p:sp>
      <p:sp>
        <p:nvSpPr>
          <p:cNvPr id="6" name="TextBox 5"/>
          <p:cNvSpPr txBox="1"/>
          <p:nvPr/>
        </p:nvSpPr>
        <p:spPr>
          <a:xfrm>
            <a:off x="228600" y="438912"/>
            <a:ext cx="6400800" cy="310896"/>
          </a:xfrm>
          <a:prstGeom prst="rect">
            <a:avLst/>
          </a:prstGeom>
          <a:noFill/>
        </p:spPr>
        <p:txBody>
          <a:bodyPr wrap="square"/>
          <a:lstStyle/>
          <a:p>
            <a:pPr algn="l"/>
            <a:r>
              <a:rPr sz="1200" b="0" i="0">
                <a:solidFill>
                  <a:srgbClr val="E6E5DE"/>
                </a:solidFill>
                <a:latin typeface="Calibri"/>
              </a:rPr>
              <a:t>National Media</a:t>
            </a:r>
          </a:p>
        </p:txBody>
      </p:sp>
      <p:sp>
        <p:nvSpPr>
          <p:cNvPr id="7" name="TextBox 6"/>
          <p:cNvSpPr txBox="1"/>
          <p:nvPr/>
        </p:nvSpPr>
        <p:spPr>
          <a:xfrm>
            <a:off x="228600" y="1005840"/>
            <a:ext cx="6858000" cy="502920"/>
          </a:xfrm>
          <a:prstGeom prst="rect">
            <a:avLst/>
          </a:prstGeom>
          <a:noFill/>
        </p:spPr>
        <p:txBody>
          <a:bodyPr wrap="square"/>
          <a:lstStyle/>
          <a:p>
            <a:pPr algn="l"/>
            <a:r>
              <a:rPr sz="2200" b="1" i="0">
                <a:solidFill>
                  <a:srgbClr val="000000"/>
                </a:solidFill>
                <a:latin typeface="Georgia"/>
              </a:rPr>
              <a:t>Fractional CFO Partnership</a:t>
            </a:r>
          </a:p>
        </p:txBody>
      </p:sp>
      <p:sp>
        <p:nvSpPr>
          <p:cNvPr id="8" name="TextBox 7"/>
          <p:cNvSpPr txBox="1"/>
          <p:nvPr/>
        </p:nvSpPr>
        <p:spPr>
          <a:xfrm>
            <a:off x="228600" y="1536192"/>
            <a:ext cx="6858000" cy="274320"/>
          </a:xfrm>
          <a:prstGeom prst="rect">
            <a:avLst/>
          </a:prstGeom>
          <a:noFill/>
        </p:spPr>
        <p:txBody>
          <a:bodyPr wrap="square"/>
          <a:lstStyle/>
          <a:p>
            <a:pPr algn="l"/>
            <a:r>
              <a:rPr sz="1300" b="0" i="0">
                <a:solidFill>
                  <a:srgbClr val="01A296"/>
                </a:solidFill>
                <a:latin typeface="Calibri"/>
              </a:rPr>
              <a:t>$4,950 per month  |  ProfitPulse verified price</a:t>
            </a:r>
          </a:p>
        </p:txBody>
      </p:sp>
      <p:sp>
        <p:nvSpPr>
          <p:cNvPr id="9" name="TextBox 8"/>
          <p:cNvSpPr txBox="1"/>
          <p:nvPr/>
        </p:nvSpPr>
        <p:spPr>
          <a:xfrm>
            <a:off x="228600" y="1874520"/>
            <a:ext cx="6858000" cy="777240"/>
          </a:xfrm>
          <a:prstGeom prst="rect">
            <a:avLst/>
          </a:prstGeom>
          <a:noFill/>
        </p:spPr>
        <p:txBody>
          <a:bodyPr wrap="square">
            <a:spAutoFit/>
          </a:bodyPr>
          <a:lstStyle/>
          <a:p>
            <a:pPr algn="l"/>
            <a:r>
              <a:rPr sz="1100" b="0" i="0">
                <a:solidFill>
                  <a:srgbClr val="444444"/>
                </a:solidFill>
                <a:latin typeface="Calibri"/>
              </a:rPr>
              <a:t>A senior financial partner at the table on a monthly cadence. Includes monthly management pack, quarterly board grade review, ad hoc decision support, and a single annual deep dive. For National Media, this means acquisition economics modelling, portfolio capital allocation, integration milestone tracking, and a reporting cadence that turns 10 brands into a clear P and L story.</a:t>
            </a:r>
          </a:p>
        </p:txBody>
      </p:sp>
      <p:sp>
        <p:nvSpPr>
          <p:cNvPr id="10" name="Rectangle 9"/>
          <p:cNvSpPr/>
          <p:nvPr/>
        </p:nvSpPr>
        <p:spPr>
          <a:xfrm>
            <a:off x="228600" y="2697480"/>
            <a:ext cx="6858000"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2788920"/>
            <a:ext cx="6858000" cy="292608"/>
          </a:xfrm>
          <a:prstGeom prst="rect">
            <a:avLst/>
          </a:prstGeom>
          <a:noFill/>
        </p:spPr>
        <p:txBody>
          <a:bodyPr wrap="square"/>
          <a:lstStyle/>
          <a:p>
            <a:pPr algn="l"/>
            <a:r>
              <a:rPr sz="1200" b="1" i="0">
                <a:solidFill>
                  <a:srgbClr val="000000"/>
                </a:solidFill>
                <a:latin typeface="Calibri"/>
              </a:rPr>
              <a:t>Step one: answer a few quick questions</a:t>
            </a:r>
          </a:p>
        </p:txBody>
      </p:sp>
      <p:sp>
        <p:nvSpPr>
          <p:cNvPr id="12" name="TextBox 11"/>
          <p:cNvSpPr txBox="1"/>
          <p:nvPr/>
        </p:nvSpPr>
        <p:spPr>
          <a:xfrm>
            <a:off x="228600" y="3108960"/>
            <a:ext cx="6858000" cy="256032"/>
          </a:xfrm>
          <a:prstGeom prst="rect">
            <a:avLst/>
          </a:prstGeom>
          <a:noFill/>
        </p:spPr>
        <p:txBody>
          <a:bodyPr wrap="square"/>
          <a:lstStyle/>
          <a:p>
            <a:pPr algn="l"/>
            <a:r>
              <a:rPr sz="1100" b="0" i="0">
                <a:solidFill>
                  <a:srgbClr val="444444"/>
                </a:solidFill>
                <a:latin typeface="Calibri"/>
              </a:rPr>
              <a:t>See the solutions matched to your size and industry</a:t>
            </a:r>
          </a:p>
        </p:txBody>
      </p:sp>
      <p:sp>
        <p:nvSpPr>
          <p:cNvPr id="13" name="TextBox 12"/>
          <p:cNvSpPr txBox="1"/>
          <p:nvPr/>
        </p:nvSpPr>
        <p:spPr>
          <a:xfrm>
            <a:off x="228600" y="3401568"/>
            <a:ext cx="6858000" cy="274320"/>
          </a:xfrm>
          <a:prstGeom prst="rect">
            <a:avLst/>
          </a:prstGeom>
          <a:noFill/>
        </p:spPr>
        <p:txBody>
          <a:bodyPr wrap="square"/>
          <a:lstStyle/>
          <a:p>
            <a:pPr algn="l"/>
            <a:r>
              <a:rPr sz="1200" b="1" i="0">
                <a:solidFill>
                  <a:srgbClr val="01A296"/>
                </a:solidFill>
                <a:latin typeface="Calibri"/>
              </a:rPr>
              <a:t>profit-pulse.com.au/full-suite-of-products</a:t>
            </a:r>
          </a:p>
        </p:txBody>
      </p:sp>
      <p:sp>
        <p:nvSpPr>
          <p:cNvPr id="14" name="Rectangle 13"/>
          <p:cNvSpPr/>
          <p:nvPr/>
        </p:nvSpPr>
        <p:spPr>
          <a:xfrm>
            <a:off x="228600" y="3749040"/>
            <a:ext cx="6858000" cy="127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 y="3840480"/>
            <a:ext cx="6858000" cy="292608"/>
          </a:xfrm>
          <a:prstGeom prst="rect">
            <a:avLst/>
          </a:prstGeom>
          <a:noFill/>
        </p:spPr>
        <p:txBody>
          <a:bodyPr wrap="square"/>
          <a:lstStyle/>
          <a:p>
            <a:pPr algn="l"/>
            <a:r>
              <a:rPr sz="1200" b="1" i="0">
                <a:solidFill>
                  <a:srgbClr val="F6A102"/>
                </a:solidFill>
                <a:latin typeface="Calibri"/>
                <a:hlinkClick/>
              </a:rPr>
              <a:t>Purchase the suggested product now to get started</a:t>
            </a:r>
          </a:p>
        </p:txBody>
      </p:sp>
      <p:sp>
        <p:nvSpPr>
          <p:cNvPr id="16" name="TextBox 15"/>
          <p:cNvSpPr txBox="1"/>
          <p:nvPr/>
        </p:nvSpPr>
        <p:spPr>
          <a:xfrm>
            <a:off x="228600" y="4251960"/>
            <a:ext cx="6858000" cy="256032"/>
          </a:xfrm>
          <a:prstGeom prst="rect">
            <a:avLst/>
          </a:prstGeom>
          <a:noFill/>
        </p:spPr>
        <p:txBody>
          <a:bodyPr wrap="square"/>
          <a:lstStyle/>
          <a:p>
            <a:pPr algn="l"/>
            <a:r>
              <a:rPr sz="1100" b="0" i="0">
                <a:solidFill>
                  <a:srgbClr val="444444"/>
                </a:solidFill>
                <a:latin typeface="Calibri"/>
              </a:rPr>
              <a:t>Prefer a conversation first?</a:t>
            </a:r>
          </a:p>
        </p:txBody>
      </p:sp>
      <p:sp>
        <p:nvSpPr>
          <p:cNvPr id="17" name="TextBox 16"/>
          <p:cNvSpPr txBox="1"/>
          <p:nvPr/>
        </p:nvSpPr>
        <p:spPr>
          <a:xfrm>
            <a:off x="228600" y="4553712"/>
            <a:ext cx="6858000" cy="256032"/>
          </a:xfrm>
          <a:prstGeom prst="rect">
            <a:avLst/>
          </a:prstGeom>
          <a:noFill/>
        </p:spPr>
        <p:txBody>
          <a:bodyPr wrap="square"/>
          <a:lstStyle/>
          <a:p>
            <a:pPr algn="l"/>
            <a:r>
              <a:rPr sz="1100" b="1" i="0">
                <a:solidFill>
                  <a:srgbClr val="01A296"/>
                </a:solidFill>
                <a:latin typeface="Calibri"/>
              </a:rPr>
              <a:t>Book a complimentary discovery call</a:t>
            </a:r>
          </a:p>
        </p:txBody>
      </p:sp>
      <p:sp>
        <p:nvSpPr>
          <p:cNvPr id="18" name="Rectangle 17"/>
          <p:cNvSpPr/>
          <p:nvPr/>
        </p:nvSpPr>
        <p:spPr>
          <a:xfrm>
            <a:off x="7360920" y="1005840"/>
            <a:ext cx="4572000" cy="5486400"/>
          </a:xfrm>
          <a:prstGeom prst="rect">
            <a:avLst/>
          </a:prstGeom>
          <a:solidFill>
            <a:srgbClr val="F0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1170432"/>
            <a:ext cx="4206240" cy="457200"/>
          </a:xfrm>
          <a:prstGeom prst="rect">
            <a:avLst/>
          </a:prstGeom>
          <a:noFill/>
        </p:spPr>
        <p:txBody>
          <a:bodyPr wrap="square"/>
          <a:lstStyle/>
          <a:p>
            <a:pPr algn="l"/>
            <a:r>
              <a:rPr sz="2000" b="1" i="0">
                <a:solidFill>
                  <a:srgbClr val="000000"/>
                </a:solidFill>
                <a:latin typeface="Georgia"/>
              </a:rPr>
              <a:t>Nitesh Roopa</a:t>
            </a:r>
          </a:p>
        </p:txBody>
      </p:sp>
      <p:sp>
        <p:nvSpPr>
          <p:cNvPr id="20" name="TextBox 19"/>
          <p:cNvSpPr txBox="1"/>
          <p:nvPr/>
        </p:nvSpPr>
        <p:spPr>
          <a:xfrm>
            <a:off x="7543800" y="1664208"/>
            <a:ext cx="4206240" cy="256032"/>
          </a:xfrm>
          <a:prstGeom prst="rect">
            <a:avLst/>
          </a:prstGeom>
          <a:noFill/>
        </p:spPr>
        <p:txBody>
          <a:bodyPr wrap="square"/>
          <a:lstStyle/>
          <a:p>
            <a:pPr algn="l"/>
            <a:r>
              <a:rPr sz="1100" b="0" i="0">
                <a:solidFill>
                  <a:srgbClr val="01A296"/>
                </a:solidFill>
                <a:latin typeface="Calibri"/>
              </a:rPr>
              <a:t>CA, Managing Partner  |  ProfitPulse</a:t>
            </a:r>
          </a:p>
        </p:txBody>
      </p:sp>
      <p:sp>
        <p:nvSpPr>
          <p:cNvPr id="21" name="Rectangle 20"/>
          <p:cNvSpPr/>
          <p:nvPr/>
        </p:nvSpPr>
        <p:spPr>
          <a:xfrm>
            <a:off x="7543800" y="1965960"/>
            <a:ext cx="4206240"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2084832"/>
            <a:ext cx="4206240" cy="256032"/>
          </a:xfrm>
          <a:prstGeom prst="rect">
            <a:avLst/>
          </a:prstGeom>
          <a:noFill/>
        </p:spPr>
        <p:txBody>
          <a:bodyPr wrap="square">
            <a:spAutoFit/>
          </a:bodyPr>
          <a:lstStyle/>
          <a:p>
            <a:pPr algn="l"/>
            <a:r>
              <a:rPr sz="900" b="0" i="0">
                <a:solidFill>
                  <a:srgbClr val="444444"/>
                </a:solidFill>
                <a:latin typeface="Calibri"/>
              </a:rPr>
              <a:t>16 years of commercial finance experience across 4 countries</a:t>
            </a:r>
          </a:p>
        </p:txBody>
      </p:sp>
      <p:sp>
        <p:nvSpPr>
          <p:cNvPr id="23" name="TextBox 22"/>
          <p:cNvSpPr txBox="1"/>
          <p:nvPr/>
        </p:nvSpPr>
        <p:spPr>
          <a:xfrm>
            <a:off x="7543800" y="2432304"/>
            <a:ext cx="4206240" cy="256032"/>
          </a:xfrm>
          <a:prstGeom prst="rect">
            <a:avLst/>
          </a:prstGeom>
          <a:noFill/>
        </p:spPr>
        <p:txBody>
          <a:bodyPr wrap="square">
            <a:spAutoFit/>
          </a:bodyPr>
          <a:lstStyle/>
          <a:p>
            <a:pPr algn="l"/>
            <a:r>
              <a:rPr sz="900" b="0" i="0">
                <a:solidFill>
                  <a:srgbClr val="444444"/>
                </a:solidFill>
                <a:latin typeface="Calibri"/>
              </a:rPr>
              <a:t>52 deals executed and managed across the career</a:t>
            </a:r>
          </a:p>
        </p:txBody>
      </p:sp>
      <p:sp>
        <p:nvSpPr>
          <p:cNvPr id="24" name="TextBox 23"/>
          <p:cNvSpPr txBox="1"/>
          <p:nvPr/>
        </p:nvSpPr>
        <p:spPr>
          <a:xfrm>
            <a:off x="7543800" y="2779776"/>
            <a:ext cx="4206240" cy="256032"/>
          </a:xfrm>
          <a:prstGeom prst="rect">
            <a:avLst/>
          </a:prstGeom>
          <a:noFill/>
        </p:spPr>
        <p:txBody>
          <a:bodyPr wrap="square">
            <a:spAutoFit/>
          </a:bodyPr>
          <a:lstStyle/>
          <a:p>
            <a:pPr algn="l"/>
            <a:r>
              <a:rPr sz="900" b="0" i="0">
                <a:solidFill>
                  <a:srgbClr val="444444"/>
                </a:solidFill>
                <a:latin typeface="Calibri"/>
              </a:rPr>
              <a:t>Largest single deal: USD 1.3 billion, Cahora Bassa, Mozambique Government, Hydro</a:t>
            </a:r>
          </a:p>
        </p:txBody>
      </p:sp>
      <p:sp>
        <p:nvSpPr>
          <p:cNvPr id="25" name="TextBox 24"/>
          <p:cNvSpPr txBox="1"/>
          <p:nvPr/>
        </p:nvSpPr>
        <p:spPr>
          <a:xfrm>
            <a:off x="7543800" y="3127248"/>
            <a:ext cx="4206240" cy="256032"/>
          </a:xfrm>
          <a:prstGeom prst="rect">
            <a:avLst/>
          </a:prstGeom>
          <a:noFill/>
        </p:spPr>
        <p:txBody>
          <a:bodyPr wrap="square">
            <a:spAutoFit/>
          </a:bodyPr>
          <a:lstStyle/>
          <a:p>
            <a:pPr algn="l"/>
            <a:r>
              <a:rPr sz="900" b="0" i="0">
                <a:solidFill>
                  <a:srgbClr val="444444"/>
                </a:solidFill>
                <a:latin typeface="Calibri"/>
              </a:rPr>
              <a:t>Total GRBT project value in Queensland: over AUD 10 billion</a:t>
            </a:r>
          </a:p>
        </p:txBody>
      </p:sp>
      <p:sp>
        <p:nvSpPr>
          <p:cNvPr id="26" name="TextBox 25"/>
          <p:cNvSpPr txBox="1"/>
          <p:nvPr/>
        </p:nvSpPr>
        <p:spPr>
          <a:xfrm>
            <a:off x="7543800" y="3474720"/>
            <a:ext cx="4206240" cy="256032"/>
          </a:xfrm>
          <a:prstGeom prst="rect">
            <a:avLst/>
          </a:prstGeom>
          <a:noFill/>
        </p:spPr>
        <p:txBody>
          <a:bodyPr wrap="square">
            <a:spAutoFit/>
          </a:bodyPr>
          <a:lstStyle/>
          <a:p>
            <a:pPr algn="l"/>
            <a:r>
              <a:rPr sz="900" b="0" i="0">
                <a:solidFill>
                  <a:srgbClr val="444444"/>
                </a:solidFill>
                <a:latin typeface="Calibri"/>
              </a:rPr>
              <a:t>QIC 2023 to 2025: Finance and Commercial Lead, AUD 10B Gympie Road Bypass Tunnel</a:t>
            </a:r>
          </a:p>
        </p:txBody>
      </p:sp>
      <p:sp>
        <p:nvSpPr>
          <p:cNvPr id="27" name="TextBox 26"/>
          <p:cNvSpPr txBox="1"/>
          <p:nvPr/>
        </p:nvSpPr>
        <p:spPr>
          <a:xfrm>
            <a:off x="7543800" y="3822192"/>
            <a:ext cx="4206240" cy="256032"/>
          </a:xfrm>
          <a:prstGeom prst="rect">
            <a:avLst/>
          </a:prstGeom>
          <a:noFill/>
        </p:spPr>
        <p:txBody>
          <a:bodyPr wrap="square">
            <a:spAutoFit/>
          </a:bodyPr>
          <a:lstStyle/>
          <a:p>
            <a:pPr algn="l"/>
            <a:r>
              <a:rPr sz="900" b="0" i="0">
                <a:solidFill>
                  <a:srgbClr val="444444"/>
                </a:solidFill>
                <a:latin typeface="Calibri"/>
              </a:rPr>
              <a:t>Nedbank CIB 2015 to 2022: Energy Finance and Principal and Equity Finance</a:t>
            </a:r>
          </a:p>
        </p:txBody>
      </p:sp>
      <p:sp>
        <p:nvSpPr>
          <p:cNvPr id="28" name="TextBox 27"/>
          <p:cNvSpPr txBox="1"/>
          <p:nvPr/>
        </p:nvSpPr>
        <p:spPr>
          <a:xfrm>
            <a:off x="7543800" y="4169664"/>
            <a:ext cx="4206240" cy="256032"/>
          </a:xfrm>
          <a:prstGeom prst="rect">
            <a:avLst/>
          </a:prstGeom>
          <a:noFill/>
        </p:spPr>
        <p:txBody>
          <a:bodyPr wrap="square">
            <a:spAutoFit/>
          </a:bodyPr>
          <a:lstStyle/>
          <a:p>
            <a:pPr algn="l"/>
            <a:r>
              <a:rPr sz="900" b="0" i="0">
                <a:solidFill>
                  <a:srgbClr val="444444"/>
                </a:solidFill>
                <a:latin typeface="Calibri"/>
              </a:rPr>
              <a:t>PwC South Africa 2010 to 2014: CA traineeship and Audit Manager</a:t>
            </a:r>
          </a:p>
        </p:txBody>
      </p:sp>
      <p:sp>
        <p:nvSpPr>
          <p:cNvPr id="29" name="Rectangle 28"/>
          <p:cNvSpPr/>
          <p:nvPr/>
        </p:nvSpPr>
        <p:spPr>
          <a:xfrm>
            <a:off x="7543800" y="4517136"/>
            <a:ext cx="4206240"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3800" y="4626864"/>
            <a:ext cx="4206240" cy="237744"/>
          </a:xfrm>
          <a:prstGeom prst="rect">
            <a:avLst/>
          </a:prstGeom>
          <a:noFill/>
        </p:spPr>
        <p:txBody>
          <a:bodyPr wrap="square"/>
          <a:lstStyle/>
          <a:p>
            <a:pPr algn="l"/>
            <a:r>
              <a:rPr sz="900" b="0" i="0">
                <a:solidFill>
                  <a:srgbClr val="444444"/>
                </a:solidFill>
                <a:latin typeface="Calibri"/>
              </a:rPr>
              <a:t>Profit-Pulse.com.au</a:t>
            </a:r>
          </a:p>
        </p:txBody>
      </p:sp>
      <p:sp>
        <p:nvSpPr>
          <p:cNvPr id="31" name="TextBox 30"/>
          <p:cNvSpPr txBox="1"/>
          <p:nvPr/>
        </p:nvSpPr>
        <p:spPr>
          <a:xfrm>
            <a:off x="7543800" y="4882896"/>
            <a:ext cx="4206240" cy="237744"/>
          </a:xfrm>
          <a:prstGeom prst="rect">
            <a:avLst/>
          </a:prstGeom>
          <a:noFill/>
        </p:spPr>
        <p:txBody>
          <a:bodyPr wrap="square"/>
          <a:lstStyle/>
          <a:p>
            <a:pPr algn="l"/>
            <a:r>
              <a:rPr sz="900" b="0" i="0">
                <a:solidFill>
                  <a:srgbClr val="01A296"/>
                </a:solidFill>
                <a:latin typeface="Calibri"/>
              </a:rPr>
              <a:t>Nitesh@Profit-Pulse.com.au</a:t>
            </a:r>
          </a:p>
        </p:txBody>
      </p:sp>
      <p:sp>
        <p:nvSpPr>
          <p:cNvPr id="32" name="TextBox 31"/>
          <p:cNvSpPr txBox="1"/>
          <p:nvPr/>
        </p:nvSpPr>
        <p:spPr>
          <a:xfrm>
            <a:off x="7543800" y="5138928"/>
            <a:ext cx="4206240" cy="237744"/>
          </a:xfrm>
          <a:prstGeom prst="rect">
            <a:avLst/>
          </a:prstGeom>
          <a:noFill/>
        </p:spPr>
        <p:txBody>
          <a:bodyPr wrap="square"/>
          <a:lstStyle/>
          <a:p>
            <a:pPr algn="l"/>
            <a:r>
              <a:rPr sz="900" b="0" i="0">
                <a:solidFill>
                  <a:srgbClr val="444444"/>
                </a:solidFill>
                <a:latin typeface="Calibri"/>
              </a:rPr>
              <a:t>+61 411 876 267</a:t>
            </a:r>
          </a:p>
        </p:txBody>
      </p:sp>
      <p:sp>
        <p:nvSpPr>
          <p:cNvPr id="33" name="TextBox 32"/>
          <p:cNvSpPr txBox="1"/>
          <p:nvPr/>
        </p:nvSpPr>
        <p:spPr>
          <a:xfrm>
            <a:off x="7543800" y="5394960"/>
            <a:ext cx="4206240" cy="237744"/>
          </a:xfrm>
          <a:prstGeom prst="rect">
            <a:avLst/>
          </a:prstGeom>
          <a:noFill/>
        </p:spPr>
        <p:txBody>
          <a:bodyPr wrap="square"/>
          <a:lstStyle/>
          <a:p>
            <a:pPr algn="l"/>
            <a:r>
              <a:rPr sz="900" b="0" i="0">
                <a:solidFill>
                  <a:srgbClr val="888888"/>
                </a:solidFill>
                <a:latin typeface="Calibri"/>
              </a:rPr>
              <a:t>linkedin.com/in/nitesh-roopa-77594163</a:t>
            </a:r>
          </a:p>
        </p:txBody>
      </p:sp>
      <p:sp>
        <p:nvSpPr>
          <p:cNvPr id="34" name="Rectangle 33"/>
          <p:cNvSpPr/>
          <p:nvPr/>
        </p:nvSpPr>
        <p:spPr>
          <a:xfrm>
            <a:off x="228600" y="6739128"/>
            <a:ext cx="11795760" cy="63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8600" y="6775704"/>
            <a:ext cx="8229600" cy="201168"/>
          </a:xfrm>
          <a:prstGeom prst="rect">
            <a:avLst/>
          </a:prstGeom>
          <a:noFill/>
        </p:spPr>
        <p:txBody>
          <a:bodyPr wrap="square"/>
          <a:lstStyle/>
          <a:p>
            <a:pPr algn="l"/>
            <a:r>
              <a:rPr sz="800" b="0" i="0">
                <a:solidFill>
                  <a:srgbClr val="444444"/>
                </a:solidFill>
                <a:latin typeface="Calibri"/>
              </a:rPr>
              <a:t>Prepared by Nitesh Roopa CA, Managing Partner, ProfitPulse  |  Profit-Pulse.com.au</a:t>
            </a:r>
          </a:p>
        </p:txBody>
      </p:sp>
      <p:sp>
        <p:nvSpPr>
          <p:cNvPr id="36" name="TextBox 35"/>
          <p:cNvSpPr txBox="1"/>
          <p:nvPr/>
        </p:nvSpPr>
        <p:spPr>
          <a:xfrm>
            <a:off x="9601200" y="6775704"/>
            <a:ext cx="2377440" cy="201168"/>
          </a:xfrm>
          <a:prstGeom prst="rect">
            <a:avLst/>
          </a:prstGeom>
          <a:noFill/>
        </p:spPr>
        <p:txBody>
          <a:bodyPr wrap="square"/>
          <a:lstStyle/>
          <a:p>
            <a:pPr algn="r"/>
            <a:r>
              <a:rPr sz="800" b="0" i="0">
                <a:solidFill>
                  <a:srgbClr val="444444"/>
                </a:solidFill>
                <a:latin typeface="Calibri"/>
              </a:rPr>
              <a:t>30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