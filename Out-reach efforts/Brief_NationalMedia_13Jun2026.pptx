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full-suite-of-products" TargetMode="External"/><Relationship Id="rId3" Type="http://schemas.openxmlformats.org/officeDocument/2006/relationships/hyperlink" Target="https://buy.stripe.com/28EbJ2edi0LSbdugYT3ks1D"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8686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64592"/>
            <a:ext cx="7315200" cy="411480"/>
          </a:xfrm>
          <a:prstGeom prst="rect">
            <a:avLst/>
          </a:prstGeom>
          <a:noFill/>
        </p:spPr>
        <p:txBody>
          <a:bodyPr wrap="square">
            <a:spAutoFit/>
          </a:bodyPr>
          <a:lstStyle/>
          <a:p>
            <a:pPr algn="l"/>
            <a:r>
              <a:rPr sz="1100" b="1" i="0">
                <a:solidFill>
                  <a:srgbClr val="E6E5DE"/>
                </a:solidFill>
                <a:latin typeface="Arial"/>
              </a:rPr>
              <a:t>COMMERCIAL INTELLIGENCE BRIEF</a:t>
            </a:r>
          </a:p>
        </p:txBody>
      </p:sp>
      <p:sp>
        <p:nvSpPr>
          <p:cNvPr id="5" name="TextBox 4"/>
          <p:cNvSpPr txBox="1"/>
          <p:nvPr/>
        </p:nvSpPr>
        <p:spPr>
          <a:xfrm>
            <a:off x="8229600" y="164592"/>
            <a:ext cx="3749039" cy="411480"/>
          </a:xfrm>
          <a:prstGeom prst="rect">
            <a:avLst/>
          </a:prstGeom>
          <a:noFill/>
        </p:spPr>
        <p:txBody>
          <a:bodyPr wrap="square">
            <a:spAutoFit/>
          </a:bodyPr>
          <a:lstStyle/>
          <a:p>
            <a:pPr algn="r"/>
            <a:r>
              <a:rPr sz="1300" b="1" i="0">
                <a:solidFill>
                  <a:srgbClr val="01A296"/>
                </a:solidFill>
                <a:latin typeface="Arial"/>
              </a:rPr>
              <a:t>NATIONAL MEDIA</a:t>
            </a:r>
          </a:p>
        </p:txBody>
      </p:sp>
      <p:sp>
        <p:nvSpPr>
          <p:cNvPr id="6" name="TextBox 5"/>
          <p:cNvSpPr txBox="1"/>
          <p:nvPr/>
        </p:nvSpPr>
        <p:spPr>
          <a:xfrm>
            <a:off x="274320" y="932688"/>
            <a:ext cx="8686800" cy="777240"/>
          </a:xfrm>
          <a:prstGeom prst="rect">
            <a:avLst/>
          </a:prstGeom>
          <a:noFill/>
        </p:spPr>
        <p:txBody>
          <a:bodyPr wrap="square">
            <a:spAutoFit/>
          </a:bodyPr>
          <a:lstStyle/>
          <a:p>
            <a:pPr algn="l"/>
            <a:r>
              <a:rPr sz="4000" b="1" i="0">
                <a:solidFill>
                  <a:srgbClr val="000000"/>
                </a:solidFill>
                <a:latin typeface="Georgia"/>
              </a:rPr>
              <a:t>NATIONAL MEDIA</a:t>
            </a:r>
          </a:p>
        </p:txBody>
      </p:sp>
      <p:sp>
        <p:nvSpPr>
          <p:cNvPr id="7" name="TextBox 6"/>
          <p:cNvSpPr txBox="1"/>
          <p:nvPr/>
        </p:nvSpPr>
        <p:spPr>
          <a:xfrm>
            <a:off x="274320" y="1709928"/>
            <a:ext cx="10058400" cy="347472"/>
          </a:xfrm>
          <a:prstGeom prst="rect">
            <a:avLst/>
          </a:prstGeom>
          <a:noFill/>
        </p:spPr>
        <p:txBody>
          <a:bodyPr wrap="square">
            <a:spAutoFit/>
          </a:bodyPr>
          <a:lstStyle/>
          <a:p>
            <a:pPr algn="l"/>
            <a:r>
              <a:rPr sz="1300" b="0" i="0">
                <a:solidFill>
                  <a:srgbClr val="01A296"/>
                </a:solidFill>
                <a:latin typeface="Arial"/>
              </a:rPr>
              <a:t>B2B Trade Exhibitions and Events Producer, Bundall, Gold Coast QLD</a:t>
            </a:r>
          </a:p>
        </p:txBody>
      </p:sp>
      <p:sp>
        <p:nvSpPr>
          <p:cNvPr id="8" name="Rectangle 7"/>
          <p:cNvSpPr/>
          <p:nvPr/>
        </p:nvSpPr>
        <p:spPr>
          <a:xfrm>
            <a:off x="274320" y="2130552"/>
            <a:ext cx="1874519" cy="10515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2130552"/>
            <a:ext cx="1874519"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2221992"/>
            <a:ext cx="1691639" cy="384048"/>
          </a:xfrm>
          <a:prstGeom prst="rect">
            <a:avLst/>
          </a:prstGeom>
          <a:noFill/>
        </p:spPr>
        <p:txBody>
          <a:bodyPr wrap="square">
            <a:spAutoFit/>
          </a:bodyPr>
          <a:lstStyle/>
          <a:p>
            <a:pPr algn="l"/>
            <a:r>
              <a:rPr sz="2200" b="1" i="0">
                <a:solidFill>
                  <a:srgbClr val="E6E5DE"/>
                </a:solidFill>
                <a:latin typeface="Arial"/>
              </a:rPr>
              <a:t>$18.4M</a:t>
            </a:r>
          </a:p>
        </p:txBody>
      </p:sp>
      <p:sp>
        <p:nvSpPr>
          <p:cNvPr id="11" name="TextBox 10"/>
          <p:cNvSpPr txBox="1"/>
          <p:nvPr/>
        </p:nvSpPr>
        <p:spPr>
          <a:xfrm>
            <a:off x="384048" y="2624328"/>
            <a:ext cx="1691639" cy="201168"/>
          </a:xfrm>
          <a:prstGeom prst="rect">
            <a:avLst/>
          </a:prstGeom>
          <a:noFill/>
        </p:spPr>
        <p:txBody>
          <a:bodyPr wrap="square">
            <a:spAutoFit/>
          </a:bodyPr>
          <a:lstStyle/>
          <a:p>
            <a:pPr algn="l"/>
            <a:r>
              <a:rPr sz="1000" b="0" i="0">
                <a:solidFill>
                  <a:srgbClr val="E6E5DE"/>
                </a:solidFill>
                <a:latin typeface="Arial"/>
              </a:rPr>
              <a:t>Revenue</a:t>
            </a:r>
          </a:p>
        </p:txBody>
      </p:sp>
      <p:sp>
        <p:nvSpPr>
          <p:cNvPr id="12" name="TextBox 11"/>
          <p:cNvSpPr txBox="1"/>
          <p:nvPr/>
        </p:nvSpPr>
        <p:spPr>
          <a:xfrm>
            <a:off x="384048" y="2807208"/>
            <a:ext cx="1691639" cy="201168"/>
          </a:xfrm>
          <a:prstGeom prst="rect">
            <a:avLst/>
          </a:prstGeom>
          <a:noFill/>
        </p:spPr>
        <p:txBody>
          <a:bodyPr wrap="square">
            <a:spAutoFit/>
          </a:bodyPr>
          <a:lstStyle/>
          <a:p>
            <a:pPr algn="l"/>
            <a:r>
              <a:rPr sz="1000" b="0" i="0">
                <a:solidFill>
                  <a:srgbClr val="888888"/>
                </a:solidFill>
                <a:latin typeface="Arial"/>
              </a:rPr>
              <a:t>FY2025</a:t>
            </a:r>
          </a:p>
        </p:txBody>
      </p:sp>
      <p:sp>
        <p:nvSpPr>
          <p:cNvPr id="13" name="TextBox 12"/>
          <p:cNvSpPr txBox="1"/>
          <p:nvPr/>
        </p:nvSpPr>
        <p:spPr>
          <a:xfrm>
            <a:off x="384048" y="2999232"/>
            <a:ext cx="1691639" cy="164592"/>
          </a:xfrm>
          <a:prstGeom prst="rect">
            <a:avLst/>
          </a:prstGeom>
          <a:noFill/>
        </p:spPr>
        <p:txBody>
          <a:bodyPr wrap="square">
            <a:spAutoFit/>
          </a:bodyPr>
          <a:lstStyle/>
          <a:p>
            <a:pPr algn="l"/>
            <a:r>
              <a:rPr sz="700" b="0" i="1">
                <a:solidFill>
                  <a:srgbClr val="01A296"/>
                </a:solidFill>
                <a:latin typeface="Arial"/>
              </a:rPr>
              <a:t>Smart50 2025 award citation</a:t>
            </a:r>
          </a:p>
        </p:txBody>
      </p:sp>
      <p:sp>
        <p:nvSpPr>
          <p:cNvPr id="14" name="Rectangle 13"/>
          <p:cNvSpPr/>
          <p:nvPr/>
        </p:nvSpPr>
        <p:spPr>
          <a:xfrm>
            <a:off x="2231135" y="2130552"/>
            <a:ext cx="1874519" cy="10515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31135" y="2130552"/>
            <a:ext cx="1874519"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40863" y="2221992"/>
            <a:ext cx="1691639" cy="384048"/>
          </a:xfrm>
          <a:prstGeom prst="rect">
            <a:avLst/>
          </a:prstGeom>
          <a:noFill/>
        </p:spPr>
        <p:txBody>
          <a:bodyPr wrap="square">
            <a:spAutoFit/>
          </a:bodyPr>
          <a:lstStyle/>
          <a:p>
            <a:pPr algn="l"/>
            <a:r>
              <a:rPr sz="2200" b="1" i="0">
                <a:solidFill>
                  <a:srgbClr val="E6E5DE"/>
                </a:solidFill>
                <a:latin typeface="Arial"/>
              </a:rPr>
              <a:t>42%</a:t>
            </a:r>
          </a:p>
        </p:txBody>
      </p:sp>
      <p:sp>
        <p:nvSpPr>
          <p:cNvPr id="17" name="TextBox 16"/>
          <p:cNvSpPr txBox="1"/>
          <p:nvPr/>
        </p:nvSpPr>
        <p:spPr>
          <a:xfrm>
            <a:off x="2340863" y="2624328"/>
            <a:ext cx="1691639" cy="201168"/>
          </a:xfrm>
          <a:prstGeom prst="rect">
            <a:avLst/>
          </a:prstGeom>
          <a:noFill/>
        </p:spPr>
        <p:txBody>
          <a:bodyPr wrap="square">
            <a:spAutoFit/>
          </a:bodyPr>
          <a:lstStyle/>
          <a:p>
            <a:pPr algn="l"/>
            <a:r>
              <a:rPr sz="1000" b="0" i="0">
                <a:solidFill>
                  <a:srgbClr val="E6E5DE"/>
                </a:solidFill>
                <a:latin typeface="Arial"/>
              </a:rPr>
              <a:t>Three Year</a:t>
            </a:r>
          </a:p>
        </p:txBody>
      </p:sp>
      <p:sp>
        <p:nvSpPr>
          <p:cNvPr id="18" name="TextBox 17"/>
          <p:cNvSpPr txBox="1"/>
          <p:nvPr/>
        </p:nvSpPr>
        <p:spPr>
          <a:xfrm>
            <a:off x="2340863" y="2807208"/>
            <a:ext cx="1691639" cy="201168"/>
          </a:xfrm>
          <a:prstGeom prst="rect">
            <a:avLst/>
          </a:prstGeom>
          <a:noFill/>
        </p:spPr>
        <p:txBody>
          <a:bodyPr wrap="square">
            <a:spAutoFit/>
          </a:bodyPr>
          <a:lstStyle/>
          <a:p>
            <a:pPr algn="l"/>
            <a:r>
              <a:rPr sz="1000" b="0" i="0">
                <a:solidFill>
                  <a:srgbClr val="888888"/>
                </a:solidFill>
                <a:latin typeface="Arial"/>
              </a:rPr>
              <a:t>Average Growth</a:t>
            </a:r>
          </a:p>
        </p:txBody>
      </p:sp>
      <p:sp>
        <p:nvSpPr>
          <p:cNvPr id="19" name="TextBox 18"/>
          <p:cNvSpPr txBox="1"/>
          <p:nvPr/>
        </p:nvSpPr>
        <p:spPr>
          <a:xfrm>
            <a:off x="2340863" y="2999232"/>
            <a:ext cx="1691639" cy="164592"/>
          </a:xfrm>
          <a:prstGeom prst="rect">
            <a:avLst/>
          </a:prstGeom>
          <a:noFill/>
        </p:spPr>
        <p:txBody>
          <a:bodyPr wrap="square">
            <a:spAutoFit/>
          </a:bodyPr>
          <a:lstStyle/>
          <a:p>
            <a:pPr algn="l"/>
            <a:r>
              <a:rPr sz="700" b="0" i="1">
                <a:solidFill>
                  <a:srgbClr val="01A296"/>
                </a:solidFill>
                <a:latin typeface="Arial"/>
              </a:rPr>
              <a:t>Smart50 2025 award citation</a:t>
            </a:r>
          </a:p>
        </p:txBody>
      </p:sp>
      <p:sp>
        <p:nvSpPr>
          <p:cNvPr id="20" name="Rectangle 19"/>
          <p:cNvSpPr/>
          <p:nvPr/>
        </p:nvSpPr>
        <p:spPr>
          <a:xfrm>
            <a:off x="4187950" y="2130552"/>
            <a:ext cx="1874519" cy="10515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87950" y="2130552"/>
            <a:ext cx="1874519"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78" y="2221992"/>
            <a:ext cx="1691639" cy="384048"/>
          </a:xfrm>
          <a:prstGeom prst="rect">
            <a:avLst/>
          </a:prstGeom>
          <a:noFill/>
        </p:spPr>
        <p:txBody>
          <a:bodyPr wrap="square">
            <a:spAutoFit/>
          </a:bodyPr>
          <a:lstStyle/>
          <a:p>
            <a:pPr algn="l"/>
            <a:r>
              <a:rPr sz="2200" b="1" i="0">
                <a:solidFill>
                  <a:srgbClr val="E6E5DE"/>
                </a:solidFill>
                <a:latin typeface="Arial"/>
              </a:rPr>
              <a:t>Rank 28</a:t>
            </a:r>
          </a:p>
        </p:txBody>
      </p:sp>
      <p:sp>
        <p:nvSpPr>
          <p:cNvPr id="23" name="TextBox 22"/>
          <p:cNvSpPr txBox="1"/>
          <p:nvPr/>
        </p:nvSpPr>
        <p:spPr>
          <a:xfrm>
            <a:off x="4297678" y="2624328"/>
            <a:ext cx="1691639" cy="201168"/>
          </a:xfrm>
          <a:prstGeom prst="rect">
            <a:avLst/>
          </a:prstGeom>
          <a:noFill/>
        </p:spPr>
        <p:txBody>
          <a:bodyPr wrap="square">
            <a:spAutoFit/>
          </a:bodyPr>
          <a:lstStyle/>
          <a:p>
            <a:pPr algn="l"/>
            <a:r>
              <a:rPr sz="1000" b="0" i="0">
                <a:solidFill>
                  <a:srgbClr val="E6E5DE"/>
                </a:solidFill>
                <a:latin typeface="Arial"/>
              </a:rPr>
              <a:t>Smart50</a:t>
            </a:r>
          </a:p>
        </p:txBody>
      </p:sp>
      <p:sp>
        <p:nvSpPr>
          <p:cNvPr id="24" name="TextBox 23"/>
          <p:cNvSpPr txBox="1"/>
          <p:nvPr/>
        </p:nvSpPr>
        <p:spPr>
          <a:xfrm>
            <a:off x="4297678" y="2807208"/>
            <a:ext cx="1691639" cy="201168"/>
          </a:xfrm>
          <a:prstGeom prst="rect">
            <a:avLst/>
          </a:prstGeom>
          <a:noFill/>
        </p:spPr>
        <p:txBody>
          <a:bodyPr wrap="square">
            <a:spAutoFit/>
          </a:bodyPr>
          <a:lstStyle/>
          <a:p>
            <a:pPr algn="l"/>
            <a:r>
              <a:rPr sz="1000" b="0" i="0">
                <a:solidFill>
                  <a:srgbClr val="888888"/>
                </a:solidFill>
                <a:latin typeface="Arial"/>
              </a:rPr>
              <a:t>Australia 2025</a:t>
            </a:r>
          </a:p>
        </p:txBody>
      </p:sp>
      <p:sp>
        <p:nvSpPr>
          <p:cNvPr id="25" name="TextBox 24"/>
          <p:cNvSpPr txBox="1"/>
          <p:nvPr/>
        </p:nvSpPr>
        <p:spPr>
          <a:xfrm>
            <a:off x="4297678" y="2999232"/>
            <a:ext cx="1691639" cy="164592"/>
          </a:xfrm>
          <a:prstGeom prst="rect">
            <a:avLst/>
          </a:prstGeom>
          <a:noFill/>
        </p:spPr>
        <p:txBody>
          <a:bodyPr wrap="square">
            <a:spAutoFit/>
          </a:bodyPr>
          <a:lstStyle/>
          <a:p>
            <a:pPr algn="l"/>
            <a:r>
              <a:rPr sz="700" b="0" i="1">
                <a:solidFill>
                  <a:srgbClr val="01A296"/>
                </a:solidFill>
                <a:latin typeface="Arial"/>
              </a:rPr>
              <a:t>SmartCompany Smart50 2025</a:t>
            </a:r>
          </a:p>
        </p:txBody>
      </p:sp>
      <p:sp>
        <p:nvSpPr>
          <p:cNvPr id="26" name="Rectangle 25"/>
          <p:cNvSpPr/>
          <p:nvPr/>
        </p:nvSpPr>
        <p:spPr>
          <a:xfrm>
            <a:off x="6144765" y="2130552"/>
            <a:ext cx="1874519" cy="10515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5" y="2130552"/>
            <a:ext cx="1874519"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54493" y="2221992"/>
            <a:ext cx="1691639" cy="384048"/>
          </a:xfrm>
          <a:prstGeom prst="rect">
            <a:avLst/>
          </a:prstGeom>
          <a:noFill/>
        </p:spPr>
        <p:txBody>
          <a:bodyPr wrap="square">
            <a:spAutoFit/>
          </a:bodyPr>
          <a:lstStyle/>
          <a:p>
            <a:pPr algn="l"/>
            <a:r>
              <a:rPr sz="2200" b="1" i="0">
                <a:solidFill>
                  <a:srgbClr val="E6E5DE"/>
                </a:solidFill>
                <a:latin typeface="Arial"/>
              </a:rPr>
              <a:t>48</a:t>
            </a:r>
          </a:p>
        </p:txBody>
      </p:sp>
      <p:sp>
        <p:nvSpPr>
          <p:cNvPr id="29" name="TextBox 28"/>
          <p:cNvSpPr txBox="1"/>
          <p:nvPr/>
        </p:nvSpPr>
        <p:spPr>
          <a:xfrm>
            <a:off x="6254493" y="2624328"/>
            <a:ext cx="1691639" cy="201168"/>
          </a:xfrm>
          <a:prstGeom prst="rect">
            <a:avLst/>
          </a:prstGeom>
          <a:noFill/>
        </p:spPr>
        <p:txBody>
          <a:bodyPr wrap="square">
            <a:spAutoFit/>
          </a:bodyPr>
          <a:lstStyle/>
          <a:p>
            <a:pPr algn="l"/>
            <a:r>
              <a:rPr sz="1000" b="0" i="0">
                <a:solidFill>
                  <a:srgbClr val="E6E5DE"/>
                </a:solidFill>
                <a:latin typeface="Arial"/>
              </a:rPr>
              <a:t>Team Members</a:t>
            </a:r>
          </a:p>
        </p:txBody>
      </p:sp>
      <p:sp>
        <p:nvSpPr>
          <p:cNvPr id="30" name="TextBox 29"/>
          <p:cNvSpPr txBox="1"/>
          <p:nvPr/>
        </p:nvSpPr>
        <p:spPr>
          <a:xfrm>
            <a:off x="6254493" y="2999232"/>
            <a:ext cx="1691639" cy="164592"/>
          </a:xfrm>
          <a:prstGeom prst="rect">
            <a:avLst/>
          </a:prstGeom>
          <a:noFill/>
        </p:spPr>
        <p:txBody>
          <a:bodyPr wrap="square">
            <a:spAutoFit/>
          </a:bodyPr>
          <a:lstStyle/>
          <a:p>
            <a:pPr algn="l"/>
            <a:r>
              <a:rPr sz="700" b="0" i="1">
                <a:solidFill>
                  <a:srgbClr val="01A296"/>
                </a:solidFill>
                <a:latin typeface="Arial"/>
              </a:rPr>
              <a:t>Smart50 2025 award citation</a:t>
            </a:r>
          </a:p>
        </p:txBody>
      </p:sp>
      <p:sp>
        <p:nvSpPr>
          <p:cNvPr id="31" name="Rectangle 30"/>
          <p:cNvSpPr/>
          <p:nvPr/>
        </p:nvSpPr>
        <p:spPr>
          <a:xfrm>
            <a:off x="8101580" y="2130552"/>
            <a:ext cx="1874519" cy="10515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01580" y="2130552"/>
            <a:ext cx="1874519"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1308" y="2221992"/>
            <a:ext cx="1691639" cy="384048"/>
          </a:xfrm>
          <a:prstGeom prst="rect">
            <a:avLst/>
          </a:prstGeom>
          <a:noFill/>
        </p:spPr>
        <p:txBody>
          <a:bodyPr wrap="square">
            <a:spAutoFit/>
          </a:bodyPr>
          <a:lstStyle/>
          <a:p>
            <a:pPr algn="l"/>
            <a:r>
              <a:rPr sz="2200" b="1" i="0">
                <a:solidFill>
                  <a:srgbClr val="E6E5DE"/>
                </a:solidFill>
                <a:latin typeface="Arial"/>
              </a:rPr>
              <a:t>9+</a:t>
            </a:r>
          </a:p>
        </p:txBody>
      </p:sp>
      <p:sp>
        <p:nvSpPr>
          <p:cNvPr id="34" name="TextBox 33"/>
          <p:cNvSpPr txBox="1"/>
          <p:nvPr/>
        </p:nvSpPr>
        <p:spPr>
          <a:xfrm>
            <a:off x="8211308" y="2624328"/>
            <a:ext cx="1691639" cy="201168"/>
          </a:xfrm>
          <a:prstGeom prst="rect">
            <a:avLst/>
          </a:prstGeom>
          <a:noFill/>
        </p:spPr>
        <p:txBody>
          <a:bodyPr wrap="square">
            <a:spAutoFit/>
          </a:bodyPr>
          <a:lstStyle/>
          <a:p>
            <a:pPr algn="l"/>
            <a:r>
              <a:rPr sz="1000" b="0" i="0">
                <a:solidFill>
                  <a:srgbClr val="E6E5DE"/>
                </a:solidFill>
                <a:latin typeface="Arial"/>
              </a:rPr>
              <a:t>Live Event</a:t>
            </a:r>
          </a:p>
        </p:txBody>
      </p:sp>
      <p:sp>
        <p:nvSpPr>
          <p:cNvPr id="35" name="TextBox 34"/>
          <p:cNvSpPr txBox="1"/>
          <p:nvPr/>
        </p:nvSpPr>
        <p:spPr>
          <a:xfrm>
            <a:off x="8211308" y="2807208"/>
            <a:ext cx="1691639" cy="201168"/>
          </a:xfrm>
          <a:prstGeom prst="rect">
            <a:avLst/>
          </a:prstGeom>
          <a:noFill/>
        </p:spPr>
        <p:txBody>
          <a:bodyPr wrap="square">
            <a:spAutoFit/>
          </a:bodyPr>
          <a:lstStyle/>
          <a:p>
            <a:pPr algn="l"/>
            <a:r>
              <a:rPr sz="1000" b="0" i="0">
                <a:solidFill>
                  <a:srgbClr val="888888"/>
                </a:solidFill>
                <a:latin typeface="Arial"/>
              </a:rPr>
              <a:t>Brands</a:t>
            </a:r>
          </a:p>
        </p:txBody>
      </p:sp>
      <p:sp>
        <p:nvSpPr>
          <p:cNvPr id="36" name="TextBox 35"/>
          <p:cNvSpPr txBox="1"/>
          <p:nvPr/>
        </p:nvSpPr>
        <p:spPr>
          <a:xfrm>
            <a:off x="8211308" y="2999232"/>
            <a:ext cx="1691639" cy="164592"/>
          </a:xfrm>
          <a:prstGeom prst="rect">
            <a:avLst/>
          </a:prstGeom>
          <a:noFill/>
        </p:spPr>
        <p:txBody>
          <a:bodyPr wrap="square">
            <a:spAutoFit/>
          </a:bodyPr>
          <a:lstStyle/>
          <a:p>
            <a:pPr algn="l"/>
            <a:r>
              <a:rPr sz="700" b="0" i="1">
                <a:solidFill>
                  <a:srgbClr val="01A296"/>
                </a:solidFill>
                <a:latin typeface="Arial"/>
              </a:rPr>
              <a:t>nationalmedia.com.au</a:t>
            </a:r>
          </a:p>
        </p:txBody>
      </p:sp>
      <p:sp>
        <p:nvSpPr>
          <p:cNvPr id="37" name="Rectangle 36"/>
          <p:cNvSpPr/>
          <p:nvPr/>
        </p:nvSpPr>
        <p:spPr>
          <a:xfrm>
            <a:off x="10058395" y="2130552"/>
            <a:ext cx="1874519" cy="10515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058395" y="2130552"/>
            <a:ext cx="1874519"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68123" y="2221992"/>
            <a:ext cx="1691639" cy="384048"/>
          </a:xfrm>
          <a:prstGeom prst="rect">
            <a:avLst/>
          </a:prstGeom>
          <a:noFill/>
        </p:spPr>
        <p:txBody>
          <a:bodyPr wrap="square">
            <a:spAutoFit/>
          </a:bodyPr>
          <a:lstStyle/>
          <a:p>
            <a:pPr algn="l"/>
            <a:r>
              <a:rPr sz="2200" b="1" i="0">
                <a:solidFill>
                  <a:srgbClr val="E6E5DE"/>
                </a:solidFill>
                <a:latin typeface="Arial"/>
              </a:rPr>
              <a:t>550+</a:t>
            </a:r>
          </a:p>
        </p:txBody>
      </p:sp>
      <p:sp>
        <p:nvSpPr>
          <p:cNvPr id="40" name="TextBox 39"/>
          <p:cNvSpPr txBox="1"/>
          <p:nvPr/>
        </p:nvSpPr>
        <p:spPr>
          <a:xfrm>
            <a:off x="10168123" y="2624328"/>
            <a:ext cx="1691639" cy="201168"/>
          </a:xfrm>
          <a:prstGeom prst="rect">
            <a:avLst/>
          </a:prstGeom>
          <a:noFill/>
        </p:spPr>
        <p:txBody>
          <a:bodyPr wrap="square">
            <a:spAutoFit/>
          </a:bodyPr>
          <a:lstStyle/>
          <a:p>
            <a:pPr algn="l"/>
            <a:r>
              <a:rPr sz="1000" b="0" i="0">
                <a:solidFill>
                  <a:srgbClr val="E6E5DE"/>
                </a:solidFill>
                <a:latin typeface="Arial"/>
              </a:rPr>
              <a:t>Combined WHS</a:t>
            </a:r>
          </a:p>
        </p:txBody>
      </p:sp>
      <p:sp>
        <p:nvSpPr>
          <p:cNvPr id="41" name="TextBox 40"/>
          <p:cNvSpPr txBox="1"/>
          <p:nvPr/>
        </p:nvSpPr>
        <p:spPr>
          <a:xfrm>
            <a:off x="10168123" y="2807208"/>
            <a:ext cx="1691639" cy="201168"/>
          </a:xfrm>
          <a:prstGeom prst="rect">
            <a:avLst/>
          </a:prstGeom>
          <a:noFill/>
        </p:spPr>
        <p:txBody>
          <a:bodyPr wrap="square">
            <a:spAutoFit/>
          </a:bodyPr>
          <a:lstStyle/>
          <a:p>
            <a:pPr algn="l"/>
            <a:r>
              <a:rPr sz="1000" b="0" i="0">
                <a:solidFill>
                  <a:srgbClr val="888888"/>
                </a:solidFill>
                <a:latin typeface="Arial"/>
              </a:rPr>
              <a:t>Show Exhibitors</a:t>
            </a:r>
          </a:p>
        </p:txBody>
      </p:sp>
      <p:sp>
        <p:nvSpPr>
          <p:cNvPr id="42" name="TextBox 41"/>
          <p:cNvSpPr txBox="1"/>
          <p:nvPr/>
        </p:nvSpPr>
        <p:spPr>
          <a:xfrm>
            <a:off x="10168123" y="2999232"/>
            <a:ext cx="1691639" cy="164592"/>
          </a:xfrm>
          <a:prstGeom prst="rect">
            <a:avLst/>
          </a:prstGeom>
          <a:noFill/>
        </p:spPr>
        <p:txBody>
          <a:bodyPr wrap="square">
            <a:spAutoFit/>
          </a:bodyPr>
          <a:lstStyle/>
          <a:p>
            <a:pPr algn="l"/>
            <a:r>
              <a:rPr sz="700" b="0" i="1">
                <a:solidFill>
                  <a:srgbClr val="01A296"/>
                </a:solidFill>
                <a:latin typeface="Arial"/>
              </a:rPr>
              <a:t>nationalmedia.com.au</a:t>
            </a:r>
          </a:p>
        </p:txBody>
      </p:sp>
      <p:sp>
        <p:nvSpPr>
          <p:cNvPr id="43" name="TextBox 42"/>
          <p:cNvSpPr txBox="1"/>
          <p:nvPr/>
        </p:nvSpPr>
        <p:spPr>
          <a:xfrm>
            <a:off x="274320" y="3310128"/>
            <a:ext cx="10972800" cy="274320"/>
          </a:xfrm>
          <a:prstGeom prst="rect">
            <a:avLst/>
          </a:prstGeom>
          <a:noFill/>
        </p:spPr>
        <p:txBody>
          <a:bodyPr wrap="square">
            <a:spAutoFit/>
          </a:bodyPr>
          <a:lstStyle/>
          <a:p>
            <a:pPr algn="l"/>
            <a:r>
              <a:rPr sz="1100" b="1" i="0">
                <a:solidFill>
                  <a:srgbClr val="01A296"/>
                </a:solidFill>
                <a:latin typeface="Arial"/>
              </a:rPr>
              <a:t>KEY COMMERCIAL SIGNALS</a:t>
            </a:r>
          </a:p>
        </p:txBody>
      </p:sp>
      <p:sp>
        <p:nvSpPr>
          <p:cNvPr id="44" name="Rectangle 43"/>
          <p:cNvSpPr/>
          <p:nvPr/>
        </p:nvSpPr>
        <p:spPr>
          <a:xfrm>
            <a:off x="274320" y="3584448"/>
            <a:ext cx="11521440" cy="1524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4320" y="3657600"/>
            <a:ext cx="11521440" cy="365760"/>
          </a:xfrm>
          <a:prstGeom prst="rect">
            <a:avLst/>
          </a:prstGeom>
          <a:noFill/>
        </p:spPr>
        <p:txBody>
          <a:bodyPr wrap="square">
            <a:spAutoFit/>
          </a:bodyPr>
          <a:lstStyle/>
          <a:p>
            <a:pPr algn="l"/>
            <a:r>
              <a:rPr sz="1000" b="0" i="0">
                <a:solidFill>
                  <a:srgbClr val="000000"/>
                </a:solidFill>
                <a:latin typeface="Arial"/>
              </a:rPr>
              <a:t>FutureBuild Australia launched 11 to 13 June 2026 at ICC Sydney: new event brand debut confirmed</a:t>
            </a:r>
          </a:p>
          <a:p>
            <a:pPr algn="l"/>
            <a:r>
              <a:rPr sz="700" b="0" i="1">
                <a:solidFill>
                  <a:srgbClr val="888888"/>
                </a:solidFill>
                <a:latin typeface="Arial"/>
              </a:rPr>
              <a:t>Source: nationalmedia.com.au</a:t>
            </a:r>
          </a:p>
        </p:txBody>
      </p:sp>
      <p:sp>
        <p:nvSpPr>
          <p:cNvPr id="46" name="TextBox 45"/>
          <p:cNvSpPr txBox="1"/>
          <p:nvPr/>
        </p:nvSpPr>
        <p:spPr>
          <a:xfrm>
            <a:off x="274320" y="4105656"/>
            <a:ext cx="11521440" cy="365760"/>
          </a:xfrm>
          <a:prstGeom prst="rect">
            <a:avLst/>
          </a:prstGeom>
          <a:noFill/>
        </p:spPr>
        <p:txBody>
          <a:bodyPr wrap="square">
            <a:spAutoFit/>
          </a:bodyPr>
          <a:lstStyle/>
          <a:p>
            <a:pPr algn="l"/>
            <a:r>
              <a:rPr sz="1000" b="0" i="0">
                <a:solidFill>
                  <a:srgbClr val="000000"/>
                </a:solidFill>
                <a:latin typeface="Arial"/>
              </a:rPr>
              <a:t>Mark Harvey presented at SISO CEO Summit on Organic Growth via Launches: expansion strategy from the founder confirmed</a:t>
            </a:r>
          </a:p>
          <a:p>
            <a:pPr algn="l"/>
            <a:r>
              <a:rPr sz="700" b="0" i="1">
                <a:solidFill>
                  <a:srgbClr val="888888"/>
                </a:solidFill>
                <a:latin typeface="Arial"/>
              </a:rPr>
              <a:t>Source: LinkedIn public profile, public search results</a:t>
            </a:r>
          </a:p>
        </p:txBody>
      </p:sp>
      <p:sp>
        <p:nvSpPr>
          <p:cNvPr id="47" name="TextBox 46"/>
          <p:cNvSpPr txBox="1"/>
          <p:nvPr/>
        </p:nvSpPr>
        <p:spPr>
          <a:xfrm>
            <a:off x="274320" y="4553712"/>
            <a:ext cx="11521440" cy="365760"/>
          </a:xfrm>
          <a:prstGeom prst="rect">
            <a:avLst/>
          </a:prstGeom>
          <a:noFill/>
        </p:spPr>
        <p:txBody>
          <a:bodyPr wrap="square">
            <a:spAutoFit/>
          </a:bodyPr>
          <a:lstStyle/>
          <a:p>
            <a:pPr algn="l"/>
            <a:r>
              <a:rPr sz="1000" b="0" i="0">
                <a:solidFill>
                  <a:srgbClr val="000000"/>
                </a:solidFill>
                <a:latin typeface="Arial"/>
              </a:rPr>
              <a:t>Workplace Health and Safety Show runs three state editions: 550 plus exhibitors across NSW, QLD, and VIC editions combined</a:t>
            </a:r>
          </a:p>
          <a:p>
            <a:pPr algn="l"/>
            <a:r>
              <a:rPr sz="700" b="0" i="1">
                <a:solidFill>
                  <a:srgbClr val="888888"/>
                </a:solidFill>
                <a:latin typeface="Arial"/>
              </a:rPr>
              <a:t>Source: nationalmedia.com.au</a:t>
            </a:r>
          </a:p>
        </p:txBody>
      </p:sp>
      <p:sp>
        <p:nvSpPr>
          <p:cNvPr id="48" name="TextBox 47"/>
          <p:cNvSpPr txBox="1"/>
          <p:nvPr/>
        </p:nvSpPr>
        <p:spPr>
          <a:xfrm>
            <a:off x="274320" y="5001768"/>
            <a:ext cx="11521440" cy="365760"/>
          </a:xfrm>
          <a:prstGeom prst="rect">
            <a:avLst/>
          </a:prstGeom>
          <a:noFill/>
        </p:spPr>
        <p:txBody>
          <a:bodyPr wrap="square">
            <a:spAutoFit/>
          </a:bodyPr>
          <a:lstStyle/>
          <a:p>
            <a:pPr algn="l"/>
            <a:r>
              <a:rPr sz="1000" b="0" i="0">
                <a:solidFill>
                  <a:srgbClr val="000000"/>
                </a:solidFill>
                <a:latin typeface="Arial"/>
              </a:rPr>
              <a:t>Food and Hospitality Week bundles four separate trade shows under one venue: Restaurant and Foodservice Show, Pizza Pasta and Italian Food Show, Cafe and Coffee Show, and RESTECH</a:t>
            </a:r>
          </a:p>
          <a:p>
            <a:pPr algn="l"/>
            <a:r>
              <a:rPr sz="700" b="0" i="1">
                <a:solidFill>
                  <a:srgbClr val="888888"/>
                </a:solidFill>
                <a:latin typeface="Arial"/>
              </a:rPr>
              <a:t>Source: nationalmedia.com.au</a:t>
            </a:r>
          </a:p>
        </p:txBody>
      </p:sp>
      <p:sp>
        <p:nvSpPr>
          <p:cNvPr id="49" name="TextBox 48"/>
          <p:cNvSpPr txBox="1"/>
          <p:nvPr/>
        </p:nvSpPr>
        <p:spPr>
          <a:xfrm>
            <a:off x="274320" y="5449824"/>
            <a:ext cx="11521440" cy="365760"/>
          </a:xfrm>
          <a:prstGeom prst="rect">
            <a:avLst/>
          </a:prstGeom>
          <a:noFill/>
        </p:spPr>
        <p:txBody>
          <a:bodyPr wrap="square">
            <a:spAutoFit/>
          </a:bodyPr>
          <a:lstStyle/>
          <a:p>
            <a:pPr algn="l"/>
            <a:r>
              <a:rPr sz="1000" b="0" i="0">
                <a:solidFill>
                  <a:srgbClr val="000000"/>
                </a:solidFill>
                <a:latin typeface="Arial"/>
              </a:rPr>
              <a:t>Smart50 2025 rank 28 of 50: revenue independently verified at $18.4 million, 42 percent three year average growth</a:t>
            </a:r>
          </a:p>
          <a:p>
            <a:pPr algn="l"/>
            <a:r>
              <a:rPr sz="700" b="0" i="1">
                <a:solidFill>
                  <a:srgbClr val="888888"/>
                </a:solidFill>
                <a:latin typeface="Arial"/>
              </a:rPr>
              <a:t>Source: SmartCompany Smart50 2025 award citation</a:t>
            </a:r>
          </a:p>
        </p:txBody>
      </p:sp>
      <p:sp>
        <p:nvSpPr>
          <p:cNvPr id="50" name="TextBox 49"/>
          <p:cNvSpPr txBox="1"/>
          <p:nvPr/>
        </p:nvSpPr>
        <p:spPr>
          <a:xfrm>
            <a:off x="274320" y="5897880"/>
            <a:ext cx="11521440" cy="365760"/>
          </a:xfrm>
          <a:prstGeom prst="rect">
            <a:avLst/>
          </a:prstGeom>
          <a:noFill/>
        </p:spPr>
        <p:txBody>
          <a:bodyPr wrap="square">
            <a:spAutoFit/>
          </a:bodyPr>
          <a:lstStyle/>
          <a:p>
            <a:pPr algn="l"/>
            <a:r>
              <a:rPr sz="1000" b="0" i="0">
                <a:solidFill>
                  <a:srgbClr val="000000"/>
                </a:solidFill>
                <a:latin typeface="Arial"/>
              </a:rPr>
              <a:t>Founded 1993, over three decades of operations from Bundall, Gold Coast QLD, serving multiple Australian industries</a:t>
            </a:r>
          </a:p>
          <a:p>
            <a:pPr algn="l"/>
            <a:r>
              <a:rPr sz="700" b="0" i="1">
                <a:solidFill>
                  <a:srgbClr val="888888"/>
                </a:solidFill>
                <a:latin typeface="Arial"/>
              </a:rPr>
              <a:t>Source: nationalmedia.com.au</a:t>
            </a:r>
          </a:p>
        </p:txBody>
      </p:sp>
      <p:sp>
        <p:nvSpPr>
          <p:cNvPr id="51" name="TextBox 50"/>
          <p:cNvSpPr txBox="1"/>
          <p:nvPr/>
        </p:nvSpPr>
        <p:spPr>
          <a:xfrm>
            <a:off x="274320" y="6492240"/>
            <a:ext cx="8686800" cy="320040"/>
          </a:xfrm>
          <a:prstGeom prst="rect">
            <a:avLst/>
          </a:prstGeom>
          <a:noFill/>
        </p:spPr>
        <p:txBody>
          <a:bodyPr wrap="square">
            <a:spAutoFit/>
          </a:bodyPr>
          <a:lstStyle/>
          <a:p>
            <a:pPr algn="l"/>
            <a:r>
              <a:rPr sz="900" b="0" i="0">
                <a:solidFill>
                  <a:srgbClr val="444444"/>
                </a:solidFill>
                <a:latin typeface="Arial"/>
              </a:rPr>
              <a:t>Prepared by Nitesh Roopa CA, Managing Partner and Founder, ProfitPulse, Profit-Pulse.com.au</a:t>
            </a:r>
          </a:p>
        </p:txBody>
      </p:sp>
      <p:sp>
        <p:nvSpPr>
          <p:cNvPr id="52" name="TextBox 51"/>
          <p:cNvSpPr txBox="1"/>
          <p:nvPr/>
        </p:nvSpPr>
        <p:spPr>
          <a:xfrm>
            <a:off x="9326880" y="6492240"/>
            <a:ext cx="2651760" cy="320040"/>
          </a:xfrm>
          <a:prstGeom prst="rect">
            <a:avLst/>
          </a:prstGeom>
          <a:noFill/>
        </p:spPr>
        <p:txBody>
          <a:bodyPr wrap="square">
            <a:spAutoFit/>
          </a:bodyPr>
          <a:lstStyle/>
          <a:p>
            <a:pPr algn="r"/>
            <a:r>
              <a:rPr sz="900" b="0" i="0">
                <a:solidFill>
                  <a:srgbClr val="444444"/>
                </a:solidFill>
                <a:latin typeface="Arial"/>
              </a:rPr>
              <a:t>13 Jun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8686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64592"/>
            <a:ext cx="7315200" cy="411480"/>
          </a:xfrm>
          <a:prstGeom prst="rect">
            <a:avLst/>
          </a:prstGeom>
          <a:noFill/>
        </p:spPr>
        <p:txBody>
          <a:bodyPr wrap="square">
            <a:spAutoFit/>
          </a:bodyPr>
          <a:lstStyle/>
          <a:p>
            <a:pPr algn="l"/>
            <a:r>
              <a:rPr sz="1100" b="1" i="0">
                <a:solidFill>
                  <a:srgbClr val="E6E5DE"/>
                </a:solidFill>
                <a:latin typeface="Arial"/>
              </a:rPr>
              <a:t>THE OPPORTUNITY</a:t>
            </a:r>
          </a:p>
        </p:txBody>
      </p:sp>
      <p:sp>
        <p:nvSpPr>
          <p:cNvPr id="5" name="TextBox 4"/>
          <p:cNvSpPr txBox="1"/>
          <p:nvPr/>
        </p:nvSpPr>
        <p:spPr>
          <a:xfrm>
            <a:off x="8229600" y="164592"/>
            <a:ext cx="3749039" cy="411480"/>
          </a:xfrm>
          <a:prstGeom prst="rect">
            <a:avLst/>
          </a:prstGeom>
          <a:noFill/>
        </p:spPr>
        <p:txBody>
          <a:bodyPr wrap="square">
            <a:spAutoFit/>
          </a:bodyPr>
          <a:lstStyle/>
          <a:p>
            <a:pPr algn="r"/>
            <a:r>
              <a:rPr sz="1300" b="1" i="0">
                <a:solidFill>
                  <a:srgbClr val="01A296"/>
                </a:solidFill>
                <a:latin typeface="Arial"/>
              </a:rPr>
              <a:t>NATIONAL MEDIA</a:t>
            </a:r>
          </a:p>
        </p:txBody>
      </p:sp>
      <p:sp>
        <p:nvSpPr>
          <p:cNvPr id="6" name="TextBox 5"/>
          <p:cNvSpPr txBox="1"/>
          <p:nvPr/>
        </p:nvSpPr>
        <p:spPr>
          <a:xfrm>
            <a:off x="274320" y="914400"/>
            <a:ext cx="11704320" cy="320040"/>
          </a:xfrm>
          <a:prstGeom prst="rect">
            <a:avLst/>
          </a:prstGeom>
          <a:noFill/>
        </p:spPr>
        <p:txBody>
          <a:bodyPr wrap="square">
            <a:spAutoFit/>
          </a:bodyPr>
          <a:lstStyle/>
          <a:p>
            <a:pPr algn="l"/>
            <a:r>
              <a:rPr sz="1200" b="0" i="1">
                <a:solidFill>
                  <a:srgbClr val="444444"/>
                </a:solidFill>
                <a:latin typeface="Arial"/>
              </a:rPr>
              <a:t>National Media: Three commercial observations from ProfitPulse</a:t>
            </a:r>
          </a:p>
        </p:txBody>
      </p:sp>
      <p:sp>
        <p:nvSpPr>
          <p:cNvPr id="7" name="Rectangle 6"/>
          <p:cNvSpPr/>
          <p:nvPr/>
        </p:nvSpPr>
        <p:spPr>
          <a:xfrm>
            <a:off x="91440" y="1261872"/>
            <a:ext cx="4033418" cy="475488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1426464"/>
            <a:ext cx="3759098" cy="502920"/>
          </a:xfrm>
          <a:prstGeom prst="rect">
            <a:avLst/>
          </a:prstGeom>
          <a:noFill/>
        </p:spPr>
        <p:txBody>
          <a:bodyPr wrap="square">
            <a:spAutoFit/>
          </a:bodyPr>
          <a:lstStyle/>
          <a:p>
            <a:pPr algn="l"/>
            <a:r>
              <a:rPr sz="3000" b="1" i="0">
                <a:solidFill>
                  <a:srgbClr val="000000"/>
                </a:solidFill>
                <a:latin typeface="Georgia"/>
              </a:rPr>
              <a:t>01</a:t>
            </a:r>
          </a:p>
        </p:txBody>
      </p:sp>
      <p:sp>
        <p:nvSpPr>
          <p:cNvPr id="9" name="TextBox 8"/>
          <p:cNvSpPr txBox="1"/>
          <p:nvPr/>
        </p:nvSpPr>
        <p:spPr>
          <a:xfrm>
            <a:off x="256032" y="1975104"/>
            <a:ext cx="3759098" cy="502920"/>
          </a:xfrm>
          <a:prstGeom prst="rect">
            <a:avLst/>
          </a:prstGeom>
          <a:noFill/>
        </p:spPr>
        <p:txBody>
          <a:bodyPr wrap="square">
            <a:spAutoFit/>
          </a:bodyPr>
          <a:lstStyle/>
          <a:p>
            <a:pPr algn="l"/>
            <a:r>
              <a:rPr sz="1300" b="1" i="0">
                <a:solidFill>
                  <a:srgbClr val="000000"/>
                </a:solidFill>
                <a:latin typeface="Arial"/>
              </a:rPr>
              <a:t>Nine event brands, one financial picture</a:t>
            </a:r>
          </a:p>
        </p:txBody>
      </p:sp>
      <p:sp>
        <p:nvSpPr>
          <p:cNvPr id="10" name="TextBox 9"/>
          <p:cNvSpPr txBox="1"/>
          <p:nvPr/>
        </p:nvSpPr>
        <p:spPr>
          <a:xfrm>
            <a:off x="256032" y="2523744"/>
            <a:ext cx="3759098" cy="3383280"/>
          </a:xfrm>
          <a:prstGeom prst="rect">
            <a:avLst/>
          </a:prstGeom>
          <a:noFill/>
        </p:spPr>
        <p:txBody>
          <a:bodyPr wrap="square">
            <a:spAutoFit/>
          </a:bodyPr>
          <a:lstStyle/>
          <a:p>
            <a:pPr algn="l"/>
            <a:r>
              <a:rPr sz="1000" b="0" i="0">
                <a:solidFill>
                  <a:srgbClr val="000000"/>
                </a:solidFill>
                <a:latin typeface="Arial"/>
              </a:rPr>
              <a:t>National Media runs nine or more distinct event brands across food and hospitality, workplace health and safety, construction, and accommodation technology. With $18.4 million in revenue across this portfolio, the aggregate 42 percent growth headline looks strong. The question that matters at this stage is whether that growth is distributed evenly or concentrated in a few events carrying the rest. In most multi brand businesses, two or three products generate the bulk of the real margin while others absorb shared overhead without full visibility.</a:t>
            </a:r>
          </a:p>
        </p:txBody>
      </p:sp>
      <p:sp>
        <p:nvSpPr>
          <p:cNvPr id="11" name="Rectangle 10"/>
          <p:cNvSpPr/>
          <p:nvPr/>
        </p:nvSpPr>
        <p:spPr>
          <a:xfrm>
            <a:off x="4124858" y="1261872"/>
            <a:ext cx="4033418" cy="4754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89450" y="1426464"/>
            <a:ext cx="3759098" cy="502920"/>
          </a:xfrm>
          <a:prstGeom prst="rect">
            <a:avLst/>
          </a:prstGeom>
          <a:noFill/>
        </p:spPr>
        <p:txBody>
          <a:bodyPr wrap="square">
            <a:spAutoFit/>
          </a:bodyPr>
          <a:lstStyle/>
          <a:p>
            <a:pPr algn="l"/>
            <a:r>
              <a:rPr sz="3000" b="1" i="0">
                <a:solidFill>
                  <a:srgbClr val="E6E5DE"/>
                </a:solidFill>
                <a:latin typeface="Georgia"/>
              </a:rPr>
              <a:t>02</a:t>
            </a:r>
          </a:p>
        </p:txBody>
      </p:sp>
      <p:sp>
        <p:nvSpPr>
          <p:cNvPr id="13" name="TextBox 12"/>
          <p:cNvSpPr txBox="1"/>
          <p:nvPr/>
        </p:nvSpPr>
        <p:spPr>
          <a:xfrm>
            <a:off x="4289450" y="1975104"/>
            <a:ext cx="3759098" cy="502920"/>
          </a:xfrm>
          <a:prstGeom prst="rect">
            <a:avLst/>
          </a:prstGeom>
          <a:noFill/>
        </p:spPr>
        <p:txBody>
          <a:bodyPr wrap="square">
            <a:spAutoFit/>
          </a:bodyPr>
          <a:lstStyle/>
          <a:p>
            <a:pPr algn="l"/>
            <a:r>
              <a:rPr sz="1300" b="1" i="0">
                <a:solidFill>
                  <a:srgbClr val="E6E5DE"/>
                </a:solidFill>
                <a:latin typeface="Arial"/>
              </a:rPr>
              <a:t>Each new launch commits capital before revenue arrives</a:t>
            </a:r>
          </a:p>
        </p:txBody>
      </p:sp>
      <p:sp>
        <p:nvSpPr>
          <p:cNvPr id="14" name="TextBox 13"/>
          <p:cNvSpPr txBox="1"/>
          <p:nvPr/>
        </p:nvSpPr>
        <p:spPr>
          <a:xfrm>
            <a:off x="4289450" y="2523744"/>
            <a:ext cx="3759098" cy="3383280"/>
          </a:xfrm>
          <a:prstGeom prst="rect">
            <a:avLst/>
          </a:prstGeom>
          <a:noFill/>
        </p:spPr>
        <p:txBody>
          <a:bodyPr wrap="square">
            <a:spAutoFit/>
          </a:bodyPr>
          <a:lstStyle/>
          <a:p>
            <a:pPr algn="l"/>
            <a:r>
              <a:rPr sz="1000" b="0" i="0">
                <a:solidFill>
                  <a:srgbClr val="E6E5DE"/>
                </a:solidFill>
                <a:latin typeface="Arial"/>
              </a:rPr>
              <a:t>Mark Harvey's strategy of organic growth via new event launches, stated publicly at the SISO CEO Summit, means the portfolio is actively expanding. FutureBuild Australia at ICC Sydney in June 2026 is the most recent addition. Each launch commits venue deposits, exhibitor acquisition spend, and team time before the first stand is sold. Without a clear view of which existing events produce the strongest returns, capital allocation for new launches defaults to experience and instinct rather than evidence. That is a solvable problem.</a:t>
            </a:r>
          </a:p>
        </p:txBody>
      </p:sp>
      <p:sp>
        <p:nvSpPr>
          <p:cNvPr id="15" name="Rectangle 14"/>
          <p:cNvSpPr/>
          <p:nvPr/>
        </p:nvSpPr>
        <p:spPr>
          <a:xfrm>
            <a:off x="8158276" y="1261872"/>
            <a:ext cx="4033418" cy="4754880"/>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2868" y="1426464"/>
            <a:ext cx="3759098" cy="502920"/>
          </a:xfrm>
          <a:prstGeom prst="rect">
            <a:avLst/>
          </a:prstGeom>
          <a:noFill/>
        </p:spPr>
        <p:txBody>
          <a:bodyPr wrap="square">
            <a:spAutoFit/>
          </a:bodyPr>
          <a:lstStyle/>
          <a:p>
            <a:pPr algn="l"/>
            <a:r>
              <a:rPr sz="3000" b="1" i="0">
                <a:solidFill>
                  <a:srgbClr val="000000"/>
                </a:solidFill>
                <a:latin typeface="Georgia"/>
              </a:rPr>
              <a:t>03</a:t>
            </a:r>
          </a:p>
        </p:txBody>
      </p:sp>
      <p:sp>
        <p:nvSpPr>
          <p:cNvPr id="17" name="TextBox 16"/>
          <p:cNvSpPr txBox="1"/>
          <p:nvPr/>
        </p:nvSpPr>
        <p:spPr>
          <a:xfrm>
            <a:off x="8322868" y="1975104"/>
            <a:ext cx="3759098" cy="502920"/>
          </a:xfrm>
          <a:prstGeom prst="rect">
            <a:avLst/>
          </a:prstGeom>
          <a:noFill/>
        </p:spPr>
        <p:txBody>
          <a:bodyPr wrap="square">
            <a:spAutoFit/>
          </a:bodyPr>
          <a:lstStyle/>
          <a:p>
            <a:pPr algn="l"/>
            <a:r>
              <a:rPr sz="1300" b="1" i="0">
                <a:solidFill>
                  <a:srgbClr val="000000"/>
                </a:solidFill>
                <a:latin typeface="Arial"/>
              </a:rPr>
              <a:t>The next 42 percent requires deliberate capital allocation</a:t>
            </a:r>
          </a:p>
        </p:txBody>
      </p:sp>
      <p:sp>
        <p:nvSpPr>
          <p:cNvPr id="18" name="TextBox 17"/>
          <p:cNvSpPr txBox="1"/>
          <p:nvPr/>
        </p:nvSpPr>
        <p:spPr>
          <a:xfrm>
            <a:off x="8322868" y="2523744"/>
            <a:ext cx="3759098" cy="3383280"/>
          </a:xfrm>
          <a:prstGeom prst="rect">
            <a:avLst/>
          </a:prstGeom>
          <a:noFill/>
        </p:spPr>
        <p:txBody>
          <a:bodyPr wrap="square">
            <a:spAutoFit/>
          </a:bodyPr>
          <a:lstStyle/>
          <a:p>
            <a:pPr algn="l"/>
            <a:r>
              <a:rPr sz="1000" b="0" i="0">
                <a:solidFill>
                  <a:srgbClr val="000000"/>
                </a:solidFill>
                <a:latin typeface="Arial"/>
              </a:rPr>
              <a:t>With nine or more event brands running across three states and an active launch strategy, the financial complexity of the portfolio is rising. Deciding which shows to scale, which to price more assertively, and which to rationalise requires an objective ranking of every event by gross margin and contribution. The Product and Service Line Profitability review produces exactly that: every brand ranked by financial performance in three weeks, built from management accounts, delivered as a clear action list.</a:t>
            </a:r>
          </a:p>
        </p:txBody>
      </p:sp>
      <p:sp>
        <p:nvSpPr>
          <p:cNvPr id="19" name="TextBox 18"/>
          <p:cNvSpPr txBox="1"/>
          <p:nvPr/>
        </p:nvSpPr>
        <p:spPr>
          <a:xfrm>
            <a:off x="274320" y="6080760"/>
            <a:ext cx="11704320" cy="365760"/>
          </a:xfrm>
          <a:prstGeom prst="rect">
            <a:avLst/>
          </a:prstGeom>
          <a:noFill/>
        </p:spPr>
        <p:txBody>
          <a:bodyPr wrap="square">
            <a:spAutoFit/>
          </a:bodyPr>
          <a:lstStyle/>
          <a:p>
            <a:pPr algn="ctr"/>
            <a:r>
              <a:rPr sz="1000" b="0" i="1">
                <a:solidFill>
                  <a:srgbClr val="444444"/>
                </a:solidFill>
                <a:latin typeface="Arial"/>
              </a:rPr>
              <a:t>These observations are offered in the spirit of a genuine commercial conversation. National Media has built something impressive over three decades. The question is simply whether the financial intelligence behind the portfolio matches the ambition of the growth strategy.</a:t>
            </a:r>
          </a:p>
        </p:txBody>
      </p:sp>
      <p:sp>
        <p:nvSpPr>
          <p:cNvPr id="20" name="TextBox 19"/>
          <p:cNvSpPr txBox="1"/>
          <p:nvPr/>
        </p:nvSpPr>
        <p:spPr>
          <a:xfrm>
            <a:off x="274320" y="6492240"/>
            <a:ext cx="8686800" cy="320040"/>
          </a:xfrm>
          <a:prstGeom prst="rect">
            <a:avLst/>
          </a:prstGeom>
          <a:noFill/>
        </p:spPr>
        <p:txBody>
          <a:bodyPr wrap="square">
            <a:spAutoFit/>
          </a:bodyPr>
          <a:lstStyle/>
          <a:p>
            <a:pPr algn="l"/>
            <a:r>
              <a:rPr sz="900" b="0" i="0">
                <a:solidFill>
                  <a:srgbClr val="444444"/>
                </a:solidFill>
                <a:latin typeface="Arial"/>
              </a:rPr>
              <a:t>Prepared by Nitesh Roopa CA, Managing Partner and Founder, ProfitPulse, Profit-Pulse.com.au</a:t>
            </a:r>
          </a:p>
        </p:txBody>
      </p:sp>
      <p:sp>
        <p:nvSpPr>
          <p:cNvPr id="21" name="TextBox 20"/>
          <p:cNvSpPr txBox="1"/>
          <p:nvPr/>
        </p:nvSpPr>
        <p:spPr>
          <a:xfrm>
            <a:off x="9326880" y="6492240"/>
            <a:ext cx="2651760" cy="320040"/>
          </a:xfrm>
          <a:prstGeom prst="rect">
            <a:avLst/>
          </a:prstGeom>
          <a:noFill/>
        </p:spPr>
        <p:txBody>
          <a:bodyPr wrap="square">
            <a:spAutoFit/>
          </a:bodyPr>
          <a:lstStyle/>
          <a:p>
            <a:pPr algn="r"/>
            <a:r>
              <a:rPr sz="900" b="0" i="0">
                <a:solidFill>
                  <a:srgbClr val="444444"/>
                </a:solidFill>
                <a:latin typeface="Arial"/>
              </a:rPr>
              <a:t>13 Jun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8686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64592"/>
            <a:ext cx="7315200" cy="411480"/>
          </a:xfrm>
          <a:prstGeom prst="rect">
            <a:avLst/>
          </a:prstGeom>
          <a:noFill/>
        </p:spPr>
        <p:txBody>
          <a:bodyPr wrap="square">
            <a:spAutoFit/>
          </a:bodyPr>
          <a:lstStyle/>
          <a:p>
            <a:pPr algn="l"/>
            <a:r>
              <a:rPr sz="1100" b="1" i="0">
                <a:solidFill>
                  <a:srgbClr val="E6E5DE"/>
                </a:solidFill>
                <a:latin typeface="Arial"/>
              </a:rPr>
              <a:t>THE RECOMMENDATION</a:t>
            </a:r>
          </a:p>
        </p:txBody>
      </p:sp>
      <p:sp>
        <p:nvSpPr>
          <p:cNvPr id="5" name="TextBox 4"/>
          <p:cNvSpPr txBox="1"/>
          <p:nvPr/>
        </p:nvSpPr>
        <p:spPr>
          <a:xfrm>
            <a:off x="8229600" y="164592"/>
            <a:ext cx="3749039" cy="411480"/>
          </a:xfrm>
          <a:prstGeom prst="rect">
            <a:avLst/>
          </a:prstGeom>
          <a:noFill/>
        </p:spPr>
        <p:txBody>
          <a:bodyPr wrap="square">
            <a:spAutoFit/>
          </a:bodyPr>
          <a:lstStyle/>
          <a:p>
            <a:pPr algn="r"/>
            <a:r>
              <a:rPr sz="1300" b="1" i="0">
                <a:solidFill>
                  <a:srgbClr val="01A296"/>
                </a:solidFill>
                <a:latin typeface="Arial"/>
              </a:rPr>
              <a:t>NATIONAL MEDIA</a:t>
            </a:r>
          </a:p>
        </p:txBody>
      </p:sp>
      <p:sp>
        <p:nvSpPr>
          <p:cNvPr id="6" name="TextBox 5"/>
          <p:cNvSpPr txBox="1"/>
          <p:nvPr/>
        </p:nvSpPr>
        <p:spPr>
          <a:xfrm>
            <a:off x="228600" y="987552"/>
            <a:ext cx="7223760" cy="640080"/>
          </a:xfrm>
          <a:prstGeom prst="rect">
            <a:avLst/>
          </a:prstGeom>
          <a:noFill/>
        </p:spPr>
        <p:txBody>
          <a:bodyPr wrap="square">
            <a:spAutoFit/>
          </a:bodyPr>
          <a:lstStyle/>
          <a:p>
            <a:pPr algn="l"/>
            <a:r>
              <a:rPr sz="2200" b="1" i="0">
                <a:solidFill>
                  <a:srgbClr val="000000"/>
                </a:solidFill>
                <a:latin typeface="Georgia"/>
              </a:rPr>
              <a:t>Product and Service Line Profitability</a:t>
            </a:r>
          </a:p>
        </p:txBody>
      </p:sp>
      <p:sp>
        <p:nvSpPr>
          <p:cNvPr id="7" name="TextBox 6"/>
          <p:cNvSpPr txBox="1"/>
          <p:nvPr/>
        </p:nvSpPr>
        <p:spPr>
          <a:xfrm>
            <a:off x="228600" y="1645920"/>
            <a:ext cx="7223760" cy="347472"/>
          </a:xfrm>
          <a:prstGeom prst="rect">
            <a:avLst/>
          </a:prstGeom>
          <a:noFill/>
        </p:spPr>
        <p:txBody>
          <a:bodyPr wrap="square">
            <a:spAutoFit/>
          </a:bodyPr>
          <a:lstStyle/>
          <a:p>
            <a:pPr algn="l"/>
            <a:r>
              <a:rPr sz="1600" b="1" i="0">
                <a:solidFill>
                  <a:srgbClr val="F6A102"/>
                </a:solidFill>
                <a:latin typeface="Arial"/>
              </a:rPr>
              <a:t>$3,950 one off</a:t>
            </a:r>
          </a:p>
        </p:txBody>
      </p:sp>
      <p:sp>
        <p:nvSpPr>
          <p:cNvPr id="8" name="TextBox 7"/>
          <p:cNvSpPr txBox="1"/>
          <p:nvPr/>
        </p:nvSpPr>
        <p:spPr>
          <a:xfrm>
            <a:off x="228600" y="2029967"/>
            <a:ext cx="7223760" cy="841248"/>
          </a:xfrm>
          <a:prstGeom prst="rect">
            <a:avLst/>
          </a:prstGeom>
          <a:noFill/>
        </p:spPr>
        <p:txBody>
          <a:bodyPr wrap="square">
            <a:spAutoFit/>
          </a:bodyPr>
          <a:lstStyle/>
          <a:p>
            <a:pPr algn="l"/>
            <a:r>
              <a:rPr sz="1100" b="0" i="0">
                <a:solidFill>
                  <a:srgbClr val="000000"/>
                </a:solidFill>
                <a:latin typeface="Arial"/>
              </a:rPr>
              <a:t>A three week project ranking every event brand by gross margin, contribution margin, and operational drag. For a nine brand events business growing at 42 percent, this identifies which shows to scale, which to reprice, and which to rationalise. Verified ProfitPulse price. The questionnaire confirms the exact fit for your size and industry.</a:t>
            </a:r>
          </a:p>
        </p:txBody>
      </p:sp>
      <p:sp>
        <p:nvSpPr>
          <p:cNvPr id="9" name="Rectangle 8"/>
          <p:cNvSpPr/>
          <p:nvPr/>
        </p:nvSpPr>
        <p:spPr>
          <a:xfrm>
            <a:off x="228600" y="2944368"/>
            <a:ext cx="7223760" cy="14630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3017520"/>
            <a:ext cx="6949440" cy="292608"/>
          </a:xfrm>
          <a:prstGeom prst="rect">
            <a:avLst/>
          </a:prstGeom>
          <a:noFill/>
        </p:spPr>
        <p:txBody>
          <a:bodyPr wrap="square">
            <a:spAutoFit/>
          </a:bodyPr>
          <a:lstStyle/>
          <a:p>
            <a:pPr algn="l"/>
            <a:r>
              <a:rPr sz="1100" b="1" i="0">
                <a:solidFill>
                  <a:srgbClr val="01A296"/>
                </a:solidFill>
                <a:latin typeface="Arial"/>
              </a:rPr>
              <a:t>STEP ONE: ANSWER A FEW QUICK QUESTIONS</a:t>
            </a:r>
          </a:p>
        </p:txBody>
      </p:sp>
      <p:sp>
        <p:nvSpPr>
          <p:cNvPr id="11" name="TextBox 10"/>
          <p:cNvSpPr txBox="1"/>
          <p:nvPr/>
        </p:nvSpPr>
        <p:spPr>
          <a:xfrm>
            <a:off x="365760" y="3328416"/>
            <a:ext cx="6949440" cy="256032"/>
          </a:xfrm>
          <a:prstGeom prst="rect">
            <a:avLst/>
          </a:prstGeom>
          <a:noFill/>
        </p:spPr>
        <p:txBody>
          <a:bodyPr wrap="square">
            <a:spAutoFit/>
          </a:bodyPr>
          <a:lstStyle/>
          <a:p>
            <a:pPr algn="l"/>
            <a:r>
              <a:rPr sz="1100" b="0" i="0">
                <a:solidFill>
                  <a:srgbClr val="000000"/>
                </a:solidFill>
                <a:latin typeface="Arial"/>
              </a:rPr>
              <a:t>See the solutions matched to your size and industry.</a:t>
            </a:r>
          </a:p>
        </p:txBody>
      </p:sp>
      <p:sp>
        <p:nvSpPr>
          <p:cNvPr id="12" name="TextBox 11"/>
          <p:cNvSpPr txBox="1"/>
          <p:nvPr/>
        </p:nvSpPr>
        <p:spPr>
          <a:xfrm>
            <a:off x="365760" y="3602736"/>
            <a:ext cx="6949440" cy="274320"/>
          </a:xfrm>
          <a:prstGeom prst="rect">
            <a:avLst/>
          </a:prstGeom>
          <a:noFill/>
        </p:spPr>
        <p:txBody>
          <a:bodyPr wrap="square">
            <a:spAutoFit/>
          </a:bodyPr>
          <a:lstStyle/>
          <a:p>
            <a:pPr algn="l"/>
            <a:r>
              <a:rPr sz="1200" b="0">
                <a:solidFill>
                  <a:srgbClr val="01A296"/>
                </a:solidFill>
                <a:latin typeface="Arial"/>
                <a:hlinkClick r:id="rId2"/>
              </a:rPr>
              <a:t>profit-pulse.com.au/full-suite-of-products</a:t>
            </a:r>
          </a:p>
        </p:txBody>
      </p:sp>
      <p:sp>
        <p:nvSpPr>
          <p:cNvPr id="13" name="Rectangle 12"/>
          <p:cNvSpPr/>
          <p:nvPr/>
        </p:nvSpPr>
        <p:spPr>
          <a:xfrm>
            <a:off x="228600" y="4480560"/>
            <a:ext cx="7223760" cy="475488"/>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4535424"/>
            <a:ext cx="6858000" cy="384048"/>
          </a:xfrm>
          <a:prstGeom prst="rect">
            <a:avLst/>
          </a:prstGeom>
          <a:noFill/>
        </p:spPr>
        <p:txBody>
          <a:bodyPr wrap="square">
            <a:spAutoFit/>
          </a:bodyPr>
          <a:lstStyle/>
          <a:p>
            <a:pPr algn="ctr"/>
            <a:r>
              <a:rPr sz="1300" b="1">
                <a:solidFill>
                  <a:srgbClr val="000000"/>
                </a:solidFill>
                <a:latin typeface="Arial"/>
                <a:hlinkClick r:id="rId3"/>
              </a:rPr>
              <a:t>Purchase the suggested product now to get started</a:t>
            </a:r>
          </a:p>
        </p:txBody>
      </p:sp>
      <p:sp>
        <p:nvSpPr>
          <p:cNvPr id="15" name="TextBox 14"/>
          <p:cNvSpPr txBox="1"/>
          <p:nvPr/>
        </p:nvSpPr>
        <p:spPr>
          <a:xfrm>
            <a:off x="228600" y="5047488"/>
            <a:ext cx="7223760" cy="256032"/>
          </a:xfrm>
          <a:prstGeom prst="rect">
            <a:avLst/>
          </a:prstGeom>
          <a:noFill/>
        </p:spPr>
        <p:txBody>
          <a:bodyPr wrap="square">
            <a:spAutoFit/>
          </a:bodyPr>
          <a:lstStyle/>
          <a:p>
            <a:pPr algn="l"/>
            <a:r>
              <a:rPr sz="1100" b="0" i="0">
                <a:solidFill>
                  <a:srgbClr val="000000"/>
                </a:solidFill>
                <a:latin typeface="Arial"/>
              </a:rPr>
              <a:t>Prefer a conversation first?</a:t>
            </a:r>
          </a:p>
        </p:txBody>
      </p:sp>
      <p:sp>
        <p:nvSpPr>
          <p:cNvPr id="16" name="TextBox 15"/>
          <p:cNvSpPr txBox="1"/>
          <p:nvPr/>
        </p:nvSpPr>
        <p:spPr>
          <a:xfrm>
            <a:off x="228600" y="5303520"/>
            <a:ext cx="7223760" cy="274320"/>
          </a:xfrm>
          <a:prstGeom prst="rect">
            <a:avLst/>
          </a:prstGeom>
          <a:noFill/>
        </p:spPr>
        <p:txBody>
          <a:bodyPr wrap="square">
            <a:spAutoFit/>
          </a:bodyPr>
          <a:lstStyle/>
          <a:p>
            <a:pPr algn="l"/>
            <a:r>
              <a:rPr sz="1100" b="1">
                <a:solidFill>
                  <a:srgbClr val="01A296"/>
                </a:solidFill>
                <a:latin typeface="Arial"/>
                <a:hlinkClick r:id="rId4"/>
              </a:rPr>
              <a:t>Book a complimentary discovery call</a:t>
            </a:r>
          </a:p>
        </p:txBody>
      </p:sp>
      <p:sp>
        <p:nvSpPr>
          <p:cNvPr id="17" name="Rectangle 16"/>
          <p:cNvSpPr/>
          <p:nvPr/>
        </p:nvSpPr>
        <p:spPr>
          <a:xfrm>
            <a:off x="7680960" y="987552"/>
            <a:ext cx="4279392" cy="5486400"/>
          </a:xfrm>
          <a:prstGeom prst="rect">
            <a:avLst/>
          </a:prstGeom>
          <a:solidFill>
            <a:srgbClr val="000000"/>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0" y="1170432"/>
            <a:ext cx="3913632" cy="457200"/>
          </a:xfrm>
          <a:prstGeom prst="rect">
            <a:avLst/>
          </a:prstGeom>
          <a:noFill/>
        </p:spPr>
        <p:txBody>
          <a:bodyPr wrap="square">
            <a:spAutoFit/>
          </a:bodyPr>
          <a:lstStyle/>
          <a:p>
            <a:pPr algn="l"/>
            <a:r>
              <a:rPr sz="1800" b="1" i="0">
                <a:solidFill>
                  <a:srgbClr val="F8C806"/>
                </a:solidFill>
                <a:latin typeface="Arial"/>
              </a:rPr>
              <a:t>NITESH ROOPA</a:t>
            </a:r>
          </a:p>
        </p:txBody>
      </p:sp>
      <p:sp>
        <p:nvSpPr>
          <p:cNvPr id="19" name="TextBox 18"/>
          <p:cNvSpPr txBox="1"/>
          <p:nvPr/>
        </p:nvSpPr>
        <p:spPr>
          <a:xfrm>
            <a:off x="7863840" y="1645920"/>
            <a:ext cx="3913632" cy="292608"/>
          </a:xfrm>
          <a:prstGeom prst="rect">
            <a:avLst/>
          </a:prstGeom>
          <a:noFill/>
        </p:spPr>
        <p:txBody>
          <a:bodyPr wrap="square">
            <a:spAutoFit/>
          </a:bodyPr>
          <a:lstStyle/>
          <a:p>
            <a:pPr algn="l"/>
            <a:r>
              <a:rPr sz="1200" b="0" i="0">
                <a:solidFill>
                  <a:srgbClr val="FFFFFF"/>
                </a:solidFill>
                <a:latin typeface="Arial"/>
              </a:rPr>
              <a:t>CA, Managing Partner</a:t>
            </a:r>
          </a:p>
        </p:txBody>
      </p:sp>
      <p:sp>
        <p:nvSpPr>
          <p:cNvPr id="20" name="TextBox 19"/>
          <p:cNvSpPr txBox="1"/>
          <p:nvPr/>
        </p:nvSpPr>
        <p:spPr>
          <a:xfrm>
            <a:off x="7863840" y="1947672"/>
            <a:ext cx="3913632" cy="384048"/>
          </a:xfrm>
          <a:prstGeom prst="rect">
            <a:avLst/>
          </a:prstGeom>
          <a:noFill/>
        </p:spPr>
        <p:txBody>
          <a:bodyPr wrap="square">
            <a:spAutoFit/>
          </a:bodyPr>
          <a:lstStyle/>
          <a:p>
            <a:pPr algn="l"/>
            <a:r>
              <a:rPr sz="1800" b="1" i="0">
                <a:solidFill>
                  <a:srgbClr val="01A296"/>
                </a:solidFill>
                <a:latin typeface="Arial"/>
              </a:rPr>
              <a:t>ProfitPulse</a:t>
            </a:r>
          </a:p>
        </p:txBody>
      </p:sp>
      <p:sp>
        <p:nvSpPr>
          <p:cNvPr id="21" name="Rectangle 20"/>
          <p:cNvSpPr/>
          <p:nvPr/>
        </p:nvSpPr>
        <p:spPr>
          <a:xfrm>
            <a:off x="7863840" y="2359152"/>
            <a:ext cx="3913632"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2432304"/>
            <a:ext cx="3913632" cy="3931920"/>
          </a:xfrm>
          <a:prstGeom prst="rect">
            <a:avLst/>
          </a:prstGeom>
          <a:noFill/>
        </p:spPr>
        <p:txBody>
          <a:bodyPr wrap="square">
            <a:spAutoFit/>
          </a:bodyPr>
          <a:lstStyle/>
          <a:p>
            <a:pPr algn="l">
              <a:spcAft>
                <a:spcPts val="100"/>
              </a:spcAft>
            </a:pPr>
            <a:r>
              <a:rPr sz="1100" b="0" i="0">
                <a:solidFill>
                  <a:srgbClr val="E6E5DE"/>
                </a:solidFill>
                <a:latin typeface="Arial"/>
              </a:rPr>
              <a:t>Profit-Pulse.com.au</a:t>
            </a:r>
          </a:p>
          <a:p>
            <a:pPr algn="l">
              <a:spcAft>
                <a:spcPts val="100"/>
              </a:spcAft>
            </a:pPr>
            <a:r>
              <a:rPr sz="1100" b="0" i="0">
                <a:solidFill>
                  <a:srgbClr val="01A296"/>
                </a:solidFill>
                <a:latin typeface="Arial"/>
              </a:rPr>
              <a:t>Nitesh@Profit-Pulse.com.au</a:t>
            </a:r>
          </a:p>
          <a:p>
            <a:pPr algn="l">
              <a:spcAft>
                <a:spcPts val="100"/>
              </a:spcAft>
            </a:pPr>
            <a:r>
              <a:rPr sz="1100" b="0" i="0">
                <a:solidFill>
                  <a:srgbClr val="E6E5DE"/>
                </a:solidFill>
                <a:latin typeface="Arial"/>
              </a:rPr>
              <a:t>+61 411 876 267</a:t>
            </a:r>
          </a:p>
          <a:p>
            <a:pPr algn="l">
              <a:spcAft>
                <a:spcPts val="100"/>
              </a:spcAft>
            </a:pPr>
            <a:r>
              <a:rPr sz="600" b="0" i="0">
                <a:solidFill>
                  <a:srgbClr val="FFFFFF"/>
                </a:solidFill>
                <a:latin typeface="Arial"/>
              </a:rPr>
              <a:t/>
            </a:r>
          </a:p>
          <a:p>
            <a:pPr algn="l">
              <a:spcAft>
                <a:spcPts val="100"/>
              </a:spcAft>
            </a:pPr>
            <a:r>
              <a:rPr sz="1000" b="0" i="0">
                <a:solidFill>
                  <a:srgbClr val="888888"/>
                </a:solidFill>
                <a:latin typeface="Arial"/>
              </a:rPr>
              <a:t>16 years across 4 countries</a:t>
            </a:r>
          </a:p>
          <a:p>
            <a:pPr algn="l">
              <a:spcAft>
                <a:spcPts val="100"/>
              </a:spcAft>
            </a:pPr>
            <a:r>
              <a:rPr sz="1000" b="0" i="0">
                <a:solidFill>
                  <a:srgbClr val="888888"/>
                </a:solidFill>
                <a:latin typeface="Arial"/>
              </a:rPr>
              <a:t>52 deals executed and managed</a:t>
            </a:r>
          </a:p>
          <a:p>
            <a:pPr algn="l">
              <a:spcAft>
                <a:spcPts val="100"/>
              </a:spcAft>
            </a:pPr>
            <a:r>
              <a:rPr sz="1000" b="0" i="0">
                <a:solidFill>
                  <a:srgbClr val="888888"/>
                </a:solidFill>
                <a:latin typeface="Arial"/>
              </a:rPr>
              <a:t>Largest single deal USD 1.3 billion Cahora Bassa</a:t>
            </a:r>
          </a:p>
          <a:p>
            <a:pPr algn="l">
              <a:spcAft>
                <a:spcPts val="100"/>
              </a:spcAft>
            </a:pPr>
            <a:r>
              <a:rPr sz="1000" b="0" i="0">
                <a:solidFill>
                  <a:srgbClr val="888888"/>
                </a:solidFill>
                <a:latin typeface="Arial"/>
              </a:rPr>
              <a:t>Total GRBT project value over AUD 10 billion</a:t>
            </a:r>
          </a:p>
          <a:p>
            <a:pPr algn="l">
              <a:spcAft>
                <a:spcPts val="100"/>
              </a:spcAft>
            </a:pPr>
            <a:r>
              <a:rPr sz="600" b="0" i="0">
                <a:solidFill>
                  <a:srgbClr val="FFFFFF"/>
                </a:solidFill>
                <a:latin typeface="Arial"/>
              </a:rPr>
              <a:t/>
            </a:r>
          </a:p>
          <a:p>
            <a:pPr algn="l">
              <a:spcAft>
                <a:spcPts val="100"/>
              </a:spcAft>
            </a:pPr>
            <a:r>
              <a:rPr sz="900" b="0" i="0">
                <a:solidFill>
                  <a:srgbClr val="444444"/>
                </a:solidFill>
                <a:latin typeface="Arial"/>
              </a:rPr>
              <a:t>linkedin.com/in/nitesh-roopa-77594163</a:t>
            </a:r>
          </a:p>
        </p:txBody>
      </p:sp>
      <p:sp>
        <p:nvSpPr>
          <p:cNvPr id="23" name="TextBox 22"/>
          <p:cNvSpPr txBox="1"/>
          <p:nvPr/>
        </p:nvSpPr>
        <p:spPr>
          <a:xfrm>
            <a:off x="274320" y="6492240"/>
            <a:ext cx="8686800" cy="320040"/>
          </a:xfrm>
          <a:prstGeom prst="rect">
            <a:avLst/>
          </a:prstGeom>
          <a:noFill/>
        </p:spPr>
        <p:txBody>
          <a:bodyPr wrap="square">
            <a:spAutoFit/>
          </a:bodyPr>
          <a:lstStyle/>
          <a:p>
            <a:pPr algn="l"/>
            <a:r>
              <a:rPr sz="900" b="0" i="0">
                <a:solidFill>
                  <a:srgbClr val="444444"/>
                </a:solidFill>
                <a:latin typeface="Arial"/>
              </a:rPr>
              <a:t>Prepared by Nitesh Roopa CA, Managing Partner and Founder, ProfitPulse, Profit-Pulse.com.au</a:t>
            </a:r>
          </a:p>
        </p:txBody>
      </p:sp>
      <p:sp>
        <p:nvSpPr>
          <p:cNvPr id="24" name="TextBox 23"/>
          <p:cNvSpPr txBox="1"/>
          <p:nvPr/>
        </p:nvSpPr>
        <p:spPr>
          <a:xfrm>
            <a:off x="9326880" y="6492240"/>
            <a:ext cx="2651760" cy="320040"/>
          </a:xfrm>
          <a:prstGeom prst="rect">
            <a:avLst/>
          </a:prstGeom>
          <a:noFill/>
        </p:spPr>
        <p:txBody>
          <a:bodyPr wrap="square">
            <a:spAutoFit/>
          </a:bodyPr>
          <a:lstStyle/>
          <a:p>
            <a:pPr algn="r"/>
            <a:r>
              <a:rPr sz="900" b="0" i="0">
                <a:solidFill>
                  <a:srgbClr val="444444"/>
                </a:solidFill>
                <a:latin typeface="Arial"/>
              </a:rPr>
              <a:t>13 Jun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