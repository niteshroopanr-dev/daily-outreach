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00w4gA7OUfGM5TadMH3ks0z"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47472"/>
            <a:ext cx="6400800" cy="320040"/>
          </a:xfrm>
          <a:prstGeom prst="rect">
            <a:avLst/>
          </a:prstGeom>
          <a:noFill/>
        </p:spPr>
        <p:txBody>
          <a:bodyPr wrap="square" lIns="0" rIns="0" tIns="0" bIns="0">
            <a:noAutofit/>
          </a:bodyPr>
          <a:lstStyle/>
          <a:p>
            <a:pPr algn="l"/>
            <a:r>
              <a:rPr sz="1200" b="1" i="0">
                <a:solidFill>
                  <a:srgbClr val="E6E5DE"/>
                </a:solidFill>
                <a:latin typeface="Calibri"/>
              </a:rPr>
              <a:t>COMMERCIAL INTELLIGENCE BRIEF</a:t>
            </a:r>
          </a:p>
        </p:txBody>
      </p:sp>
      <p:sp>
        <p:nvSpPr>
          <p:cNvPr id="5" name="TextBox 4"/>
          <p:cNvSpPr txBox="1"/>
          <p:nvPr/>
        </p:nvSpPr>
        <p:spPr>
          <a:xfrm>
            <a:off x="7772400" y="274320"/>
            <a:ext cx="4142232" cy="411480"/>
          </a:xfrm>
          <a:prstGeom prst="rect">
            <a:avLst/>
          </a:prstGeom>
          <a:noFill/>
        </p:spPr>
        <p:txBody>
          <a:bodyPr wrap="square" lIns="0" rIns="0" tIns="0" bIns="0">
            <a:noAutofit/>
          </a:bodyPr>
          <a:lstStyle/>
          <a:p>
            <a:pPr algn="r"/>
            <a:r>
              <a:rPr sz="1500" b="1" i="0">
                <a:solidFill>
                  <a:srgbClr val="01A296"/>
                </a:solidFill>
                <a:latin typeface="Georgia"/>
              </a:rPr>
              <a:t>Orbitkey</a:t>
            </a:r>
          </a:p>
        </p:txBody>
      </p:sp>
      <p:sp>
        <p:nvSpPr>
          <p:cNvPr id="6" name="TextBox 5"/>
          <p:cNvSpPr txBox="1"/>
          <p:nvPr/>
        </p:nvSpPr>
        <p:spPr>
          <a:xfrm>
            <a:off x="274320" y="6446520"/>
            <a:ext cx="8686800" cy="274320"/>
          </a:xfrm>
          <a:prstGeom prst="rect">
            <a:avLst/>
          </a:prstGeom>
          <a:noFill/>
        </p:spPr>
        <p:txBody>
          <a:bodyPr wrap="square" lIns="0" rIns="0" tIns="0" bIns="0">
            <a:noAutofit/>
          </a:bodyPr>
          <a:lstStyle/>
          <a:p>
            <a:pPr algn="l"/>
            <a:r>
              <a:rPr sz="800" b="0" i="0">
                <a:solidFill>
                  <a:srgbClr val="666666"/>
                </a:solidFill>
                <a:latin typeface="Calibri"/>
              </a:rPr>
              <a:t>Prepared by Nitesh Roopa CA, Managing Partner and Founder, ProfitPulse, Profit-Pulse.com.au</a:t>
            </a:r>
          </a:p>
        </p:txBody>
      </p:sp>
      <p:sp>
        <p:nvSpPr>
          <p:cNvPr id="7" name="TextBox 6"/>
          <p:cNvSpPr txBox="1"/>
          <p:nvPr/>
        </p:nvSpPr>
        <p:spPr>
          <a:xfrm>
            <a:off x="10515600" y="6446520"/>
            <a:ext cx="1399032" cy="274320"/>
          </a:xfrm>
          <a:prstGeom prst="rect">
            <a:avLst/>
          </a:prstGeom>
          <a:noFill/>
        </p:spPr>
        <p:txBody>
          <a:bodyPr wrap="square" lIns="0" rIns="0" tIns="0" bIns="0">
            <a:noAutofit/>
          </a:bodyPr>
          <a:lstStyle/>
          <a:p>
            <a:pPr algn="r"/>
            <a:r>
              <a:rPr sz="800" b="0" i="0">
                <a:solidFill>
                  <a:srgbClr val="666666"/>
                </a:solidFill>
                <a:latin typeface="Calibri"/>
              </a:rPr>
              <a:t>05 Aug 2026</a:t>
            </a:r>
          </a:p>
        </p:txBody>
      </p:sp>
      <p:sp>
        <p:nvSpPr>
          <p:cNvPr id="8" name="TextBox 7"/>
          <p:cNvSpPr txBox="1"/>
          <p:nvPr/>
        </p:nvSpPr>
        <p:spPr>
          <a:xfrm>
            <a:off x="274320" y="1051560"/>
            <a:ext cx="8686800" cy="640080"/>
          </a:xfrm>
          <a:prstGeom prst="rect">
            <a:avLst/>
          </a:prstGeom>
          <a:noFill/>
        </p:spPr>
        <p:txBody>
          <a:bodyPr wrap="square" lIns="0" rIns="0" tIns="0" bIns="0">
            <a:noAutofit/>
          </a:bodyPr>
          <a:lstStyle/>
          <a:p>
            <a:pPr algn="l"/>
            <a:r>
              <a:rPr sz="4000" b="1" i="0">
                <a:solidFill>
                  <a:srgbClr val="000000"/>
                </a:solidFill>
                <a:latin typeface="Georgia"/>
              </a:rPr>
              <a:t>Orbitkey</a:t>
            </a:r>
          </a:p>
        </p:txBody>
      </p:sp>
      <p:sp>
        <p:nvSpPr>
          <p:cNvPr id="9" name="TextBox 8"/>
          <p:cNvSpPr txBox="1"/>
          <p:nvPr/>
        </p:nvSpPr>
        <p:spPr>
          <a:xfrm>
            <a:off x="274320" y="1828800"/>
            <a:ext cx="10515600" cy="365760"/>
          </a:xfrm>
          <a:prstGeom prst="rect">
            <a:avLst/>
          </a:prstGeom>
          <a:noFill/>
        </p:spPr>
        <p:txBody>
          <a:bodyPr wrap="square" lIns="0" rIns="0" tIns="0" bIns="0">
            <a:noAutofit/>
          </a:bodyPr>
          <a:lstStyle/>
          <a:p>
            <a:pPr algn="l"/>
            <a:r>
              <a:rPr sz="1400" b="0" i="0">
                <a:solidFill>
                  <a:srgbClr val="333333"/>
                </a:solidFill>
                <a:latin typeface="Calibri"/>
              </a:rPr>
              <a:t>Design led everyday carry accessories brand, Richmond, Melbourne VIC</a:t>
            </a:r>
          </a:p>
        </p:txBody>
      </p:sp>
      <p:sp>
        <p:nvSpPr>
          <p:cNvPr id="10" name="Rectangle 9"/>
          <p:cNvSpPr/>
          <p:nvPr/>
        </p:nvSpPr>
        <p:spPr>
          <a:xfrm>
            <a:off x="27432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359152"/>
            <a:ext cx="1828800" cy="457200"/>
          </a:xfrm>
          <a:prstGeom prst="rect">
            <a:avLst/>
          </a:prstGeom>
          <a:noFill/>
        </p:spPr>
        <p:txBody>
          <a:bodyPr wrap="square" lIns="0" rIns="0" tIns="0" bIns="0">
            <a:noAutofit/>
          </a:bodyPr>
          <a:lstStyle/>
          <a:p>
            <a:pPr algn="l"/>
            <a:r>
              <a:rPr sz="2800" b="1" i="0">
                <a:solidFill>
                  <a:srgbClr val="F8C806"/>
                </a:solidFill>
                <a:latin typeface="Georgia"/>
              </a:rPr>
              <a:t>$24.6M</a:t>
            </a:r>
          </a:p>
        </p:txBody>
      </p:sp>
      <p:sp>
        <p:nvSpPr>
          <p:cNvPr id="13" name="TextBox 12"/>
          <p:cNvSpPr txBox="1"/>
          <p:nvPr/>
        </p:nvSpPr>
        <p:spPr>
          <a:xfrm>
            <a:off x="411480" y="2907792"/>
            <a:ext cx="1828800" cy="457200"/>
          </a:xfrm>
          <a:prstGeom prst="rect">
            <a:avLst/>
          </a:prstGeom>
          <a:noFill/>
        </p:spPr>
        <p:txBody>
          <a:bodyPr wrap="square" lIns="0" rIns="0" tIns="0" bIns="0">
            <a:noAutofit/>
          </a:bodyPr>
          <a:lstStyle/>
          <a:p>
            <a:pPr algn="l">
              <a:lnSpc>
                <a:spcPct val="100000"/>
              </a:lnSpc>
            </a:pPr>
            <a:r>
              <a:rPr sz="1100" b="0" i="0">
                <a:solidFill>
                  <a:srgbClr val="FFFFFF"/>
                </a:solidFill>
                <a:latin typeface="Calibri"/>
              </a:rPr>
              <a:t>Annual revenue</a:t>
            </a:r>
          </a:p>
        </p:txBody>
      </p:sp>
      <p:sp>
        <p:nvSpPr>
          <p:cNvPr id="14" name="TextBox 13"/>
          <p:cNvSpPr txBox="1"/>
          <p:nvPr/>
        </p:nvSpPr>
        <p:spPr>
          <a:xfrm>
            <a:off x="411480" y="3419856"/>
            <a:ext cx="1828800" cy="201168"/>
          </a:xfrm>
          <a:prstGeom prst="rect">
            <a:avLst/>
          </a:prstGeom>
          <a:noFill/>
        </p:spPr>
        <p:txBody>
          <a:bodyPr wrap="square" lIns="0" rIns="0" tIns="0" bIns="0">
            <a:noAutofit/>
          </a:bodyPr>
          <a:lstStyle/>
          <a:p>
            <a:pPr algn="l"/>
            <a:r>
              <a:rPr sz="800" b="0" i="1">
                <a:solidFill>
                  <a:srgbClr val="AAAAAA"/>
                </a:solidFill>
                <a:latin typeface="Calibri"/>
              </a:rPr>
              <a:t>Smart50 2025 award</a:t>
            </a:r>
          </a:p>
        </p:txBody>
      </p:sp>
      <p:sp>
        <p:nvSpPr>
          <p:cNvPr id="15" name="Rectangle 14"/>
          <p:cNvSpPr/>
          <p:nvPr/>
        </p:nvSpPr>
        <p:spPr>
          <a:xfrm>
            <a:off x="251460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460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51760" y="2359152"/>
            <a:ext cx="1828800" cy="457200"/>
          </a:xfrm>
          <a:prstGeom prst="rect">
            <a:avLst/>
          </a:prstGeom>
          <a:noFill/>
        </p:spPr>
        <p:txBody>
          <a:bodyPr wrap="square" lIns="0" rIns="0" tIns="0" bIns="0">
            <a:noAutofit/>
          </a:bodyPr>
          <a:lstStyle/>
          <a:p>
            <a:pPr algn="l"/>
            <a:r>
              <a:rPr sz="2800" b="1" i="0">
                <a:solidFill>
                  <a:srgbClr val="F8C806"/>
                </a:solidFill>
                <a:latin typeface="Georgia"/>
              </a:rPr>
              <a:t>44</a:t>
            </a:r>
          </a:p>
        </p:txBody>
      </p:sp>
      <p:sp>
        <p:nvSpPr>
          <p:cNvPr id="18" name="TextBox 17"/>
          <p:cNvSpPr txBox="1"/>
          <p:nvPr/>
        </p:nvSpPr>
        <p:spPr>
          <a:xfrm>
            <a:off x="2651760" y="2907792"/>
            <a:ext cx="1828800" cy="457200"/>
          </a:xfrm>
          <a:prstGeom prst="rect">
            <a:avLst/>
          </a:prstGeom>
          <a:noFill/>
        </p:spPr>
        <p:txBody>
          <a:bodyPr wrap="square" lIns="0" rIns="0" tIns="0" bIns="0">
            <a:noAutofit/>
          </a:bodyPr>
          <a:lstStyle/>
          <a:p>
            <a:pPr algn="l">
              <a:lnSpc>
                <a:spcPct val="100000"/>
              </a:lnSpc>
            </a:pPr>
            <a:r>
              <a:rPr sz="1100" b="0" i="0">
                <a:solidFill>
                  <a:srgbClr val="FFFFFF"/>
                </a:solidFill>
                <a:latin typeface="Calibri"/>
              </a:rPr>
              <a:t>Team members</a:t>
            </a:r>
          </a:p>
        </p:txBody>
      </p:sp>
      <p:sp>
        <p:nvSpPr>
          <p:cNvPr id="19" name="TextBox 18"/>
          <p:cNvSpPr txBox="1"/>
          <p:nvPr/>
        </p:nvSpPr>
        <p:spPr>
          <a:xfrm>
            <a:off x="2651760" y="3419856"/>
            <a:ext cx="1828800" cy="201168"/>
          </a:xfrm>
          <a:prstGeom prst="rect">
            <a:avLst/>
          </a:prstGeom>
          <a:noFill/>
        </p:spPr>
        <p:txBody>
          <a:bodyPr wrap="square" lIns="0" rIns="0" tIns="0" bIns="0">
            <a:noAutofit/>
          </a:bodyPr>
          <a:lstStyle/>
          <a:p>
            <a:pPr algn="l"/>
            <a:r>
              <a:rPr sz="800" b="0" i="1">
                <a:solidFill>
                  <a:srgbClr val="AAAAAA"/>
                </a:solidFill>
                <a:latin typeface="Calibri"/>
              </a:rPr>
              <a:t>Smart50 2025 award</a:t>
            </a:r>
          </a:p>
        </p:txBody>
      </p:sp>
      <p:sp>
        <p:nvSpPr>
          <p:cNvPr id="20" name="Rectangle 19"/>
          <p:cNvSpPr/>
          <p:nvPr/>
        </p:nvSpPr>
        <p:spPr>
          <a:xfrm>
            <a:off x="475488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5488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92040" y="2359152"/>
            <a:ext cx="1828800" cy="457200"/>
          </a:xfrm>
          <a:prstGeom prst="rect">
            <a:avLst/>
          </a:prstGeom>
          <a:noFill/>
        </p:spPr>
        <p:txBody>
          <a:bodyPr wrap="square" lIns="0" rIns="0" tIns="0" bIns="0">
            <a:noAutofit/>
          </a:bodyPr>
          <a:lstStyle/>
          <a:p>
            <a:pPr algn="l"/>
            <a:r>
              <a:rPr sz="2800" b="1" i="0">
                <a:solidFill>
                  <a:srgbClr val="F8C806"/>
                </a:solidFill>
                <a:latin typeface="Georgia"/>
              </a:rPr>
              <a:t>40%</a:t>
            </a:r>
          </a:p>
        </p:txBody>
      </p:sp>
      <p:sp>
        <p:nvSpPr>
          <p:cNvPr id="23" name="TextBox 22"/>
          <p:cNvSpPr txBox="1"/>
          <p:nvPr/>
        </p:nvSpPr>
        <p:spPr>
          <a:xfrm>
            <a:off x="4892040" y="2907792"/>
            <a:ext cx="1828800" cy="457200"/>
          </a:xfrm>
          <a:prstGeom prst="rect">
            <a:avLst/>
          </a:prstGeom>
          <a:noFill/>
        </p:spPr>
        <p:txBody>
          <a:bodyPr wrap="square" lIns="0" rIns="0" tIns="0" bIns="0">
            <a:noAutofit/>
          </a:bodyPr>
          <a:lstStyle/>
          <a:p>
            <a:pPr algn="l">
              <a:lnSpc>
                <a:spcPct val="100000"/>
              </a:lnSpc>
            </a:pPr>
            <a:r>
              <a:rPr sz="1100" b="0" i="0">
                <a:solidFill>
                  <a:srgbClr val="FFFFFF"/>
                </a:solidFill>
                <a:latin typeface="Calibri"/>
              </a:rPr>
              <a:t>3 year revenue growth</a:t>
            </a:r>
          </a:p>
        </p:txBody>
      </p:sp>
      <p:sp>
        <p:nvSpPr>
          <p:cNvPr id="24" name="TextBox 23"/>
          <p:cNvSpPr txBox="1"/>
          <p:nvPr/>
        </p:nvSpPr>
        <p:spPr>
          <a:xfrm>
            <a:off x="4892040" y="3419856"/>
            <a:ext cx="1828800" cy="201168"/>
          </a:xfrm>
          <a:prstGeom prst="rect">
            <a:avLst/>
          </a:prstGeom>
          <a:noFill/>
        </p:spPr>
        <p:txBody>
          <a:bodyPr wrap="square" lIns="0" rIns="0" tIns="0" bIns="0">
            <a:noAutofit/>
          </a:bodyPr>
          <a:lstStyle/>
          <a:p>
            <a:pPr algn="l"/>
            <a:r>
              <a:rPr sz="800" b="0" i="1">
                <a:solidFill>
                  <a:srgbClr val="AAAAAA"/>
                </a:solidFill>
                <a:latin typeface="Calibri"/>
              </a:rPr>
              <a:t>Export Awards 2025</a:t>
            </a:r>
          </a:p>
        </p:txBody>
      </p:sp>
      <p:sp>
        <p:nvSpPr>
          <p:cNvPr id="25" name="Rectangle 24"/>
          <p:cNvSpPr/>
          <p:nvPr/>
        </p:nvSpPr>
        <p:spPr>
          <a:xfrm>
            <a:off x="699516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9516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0" y="2359152"/>
            <a:ext cx="1828800" cy="457200"/>
          </a:xfrm>
          <a:prstGeom prst="rect">
            <a:avLst/>
          </a:prstGeom>
          <a:noFill/>
        </p:spPr>
        <p:txBody>
          <a:bodyPr wrap="square" lIns="0" rIns="0" tIns="0" bIns="0">
            <a:noAutofit/>
          </a:bodyPr>
          <a:lstStyle/>
          <a:p>
            <a:pPr algn="l"/>
            <a:r>
              <a:rPr sz="2800" b="1" i="0">
                <a:solidFill>
                  <a:srgbClr val="F8C806"/>
                </a:solidFill>
                <a:latin typeface="Georgia"/>
              </a:rPr>
              <a:t>100+</a:t>
            </a:r>
          </a:p>
        </p:txBody>
      </p:sp>
      <p:sp>
        <p:nvSpPr>
          <p:cNvPr id="28" name="TextBox 27"/>
          <p:cNvSpPr txBox="1"/>
          <p:nvPr/>
        </p:nvSpPr>
        <p:spPr>
          <a:xfrm>
            <a:off x="7132320" y="2907792"/>
            <a:ext cx="1828800" cy="457200"/>
          </a:xfrm>
          <a:prstGeom prst="rect">
            <a:avLst/>
          </a:prstGeom>
          <a:noFill/>
        </p:spPr>
        <p:txBody>
          <a:bodyPr wrap="square" lIns="0" rIns="0" tIns="0" bIns="0">
            <a:noAutofit/>
          </a:bodyPr>
          <a:lstStyle/>
          <a:p>
            <a:pPr algn="l">
              <a:lnSpc>
                <a:spcPct val="100000"/>
              </a:lnSpc>
            </a:pPr>
            <a:r>
              <a:rPr sz="1100" b="0" i="0">
                <a:solidFill>
                  <a:srgbClr val="FFFFFF"/>
                </a:solidFill>
                <a:latin typeface="Calibri"/>
              </a:rPr>
              <a:t>Countries exported to</a:t>
            </a:r>
          </a:p>
        </p:txBody>
      </p:sp>
      <p:sp>
        <p:nvSpPr>
          <p:cNvPr id="29" name="TextBox 28"/>
          <p:cNvSpPr txBox="1"/>
          <p:nvPr/>
        </p:nvSpPr>
        <p:spPr>
          <a:xfrm>
            <a:off x="7132320" y="3419856"/>
            <a:ext cx="1828800" cy="201168"/>
          </a:xfrm>
          <a:prstGeom prst="rect">
            <a:avLst/>
          </a:prstGeom>
          <a:noFill/>
        </p:spPr>
        <p:txBody>
          <a:bodyPr wrap="square" lIns="0" rIns="0" tIns="0" bIns="0">
            <a:noAutofit/>
          </a:bodyPr>
          <a:lstStyle/>
          <a:p>
            <a:pPr algn="l"/>
            <a:r>
              <a:rPr sz="800" b="0" i="1">
                <a:solidFill>
                  <a:srgbClr val="AAAAAA"/>
                </a:solidFill>
                <a:latin typeface="Calibri"/>
              </a:rPr>
              <a:t>Export Awards 2025</a:t>
            </a:r>
          </a:p>
        </p:txBody>
      </p:sp>
      <p:sp>
        <p:nvSpPr>
          <p:cNvPr id="30" name="Rectangle 29"/>
          <p:cNvSpPr/>
          <p:nvPr/>
        </p:nvSpPr>
        <p:spPr>
          <a:xfrm>
            <a:off x="923544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3544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72600" y="2359152"/>
            <a:ext cx="1828800" cy="457200"/>
          </a:xfrm>
          <a:prstGeom prst="rect">
            <a:avLst/>
          </a:prstGeom>
          <a:noFill/>
        </p:spPr>
        <p:txBody>
          <a:bodyPr wrap="square" lIns="0" rIns="0" tIns="0" bIns="0">
            <a:noAutofit/>
          </a:bodyPr>
          <a:lstStyle/>
          <a:p>
            <a:pPr algn="l"/>
            <a:r>
              <a:rPr sz="2800" b="1" i="0">
                <a:solidFill>
                  <a:srgbClr val="F8C806"/>
                </a:solidFill>
                <a:latin typeface="Georgia"/>
              </a:rPr>
              <a:t>2013</a:t>
            </a:r>
          </a:p>
        </p:txBody>
      </p:sp>
      <p:sp>
        <p:nvSpPr>
          <p:cNvPr id="33" name="TextBox 32"/>
          <p:cNvSpPr txBox="1"/>
          <p:nvPr/>
        </p:nvSpPr>
        <p:spPr>
          <a:xfrm>
            <a:off x="9372600" y="2907792"/>
            <a:ext cx="1828800" cy="457200"/>
          </a:xfrm>
          <a:prstGeom prst="rect">
            <a:avLst/>
          </a:prstGeom>
          <a:noFill/>
        </p:spPr>
        <p:txBody>
          <a:bodyPr wrap="square" lIns="0" rIns="0" tIns="0" bIns="0">
            <a:noAutofit/>
          </a:bodyPr>
          <a:lstStyle/>
          <a:p>
            <a:pPr algn="l">
              <a:lnSpc>
                <a:spcPct val="100000"/>
              </a:lnSpc>
            </a:pPr>
            <a:r>
              <a:rPr sz="1100" b="0" i="0">
                <a:solidFill>
                  <a:srgbClr val="FFFFFF"/>
                </a:solidFill>
                <a:latin typeface="Calibri"/>
              </a:rPr>
              <a:t>Founded</a:t>
            </a:r>
          </a:p>
        </p:txBody>
      </p:sp>
      <p:sp>
        <p:nvSpPr>
          <p:cNvPr id="34" name="TextBox 33"/>
          <p:cNvSpPr txBox="1"/>
          <p:nvPr/>
        </p:nvSpPr>
        <p:spPr>
          <a:xfrm>
            <a:off x="9372600" y="3419856"/>
            <a:ext cx="1828800" cy="201168"/>
          </a:xfrm>
          <a:prstGeom prst="rect">
            <a:avLst/>
          </a:prstGeom>
          <a:noFill/>
        </p:spPr>
        <p:txBody>
          <a:bodyPr wrap="square" lIns="0" rIns="0" tIns="0" bIns="0">
            <a:noAutofit/>
          </a:bodyPr>
          <a:lstStyle/>
          <a:p>
            <a:pPr algn="l"/>
            <a:r>
              <a:rPr sz="800" b="0" i="1">
                <a:solidFill>
                  <a:srgbClr val="AAAAAA"/>
                </a:solidFill>
                <a:latin typeface="Calibri"/>
              </a:rPr>
              <a:t>SmartCompany history</a:t>
            </a:r>
          </a:p>
        </p:txBody>
      </p:sp>
      <p:sp>
        <p:nvSpPr>
          <p:cNvPr id="35" name="TextBox 34"/>
          <p:cNvSpPr txBox="1"/>
          <p:nvPr/>
        </p:nvSpPr>
        <p:spPr>
          <a:xfrm>
            <a:off x="274320" y="3931920"/>
            <a:ext cx="5486400" cy="274320"/>
          </a:xfrm>
          <a:prstGeom prst="rect">
            <a:avLst/>
          </a:prstGeom>
          <a:noFill/>
        </p:spPr>
        <p:txBody>
          <a:bodyPr wrap="square" lIns="0" rIns="0" tIns="0" bIns="0">
            <a:noAutofit/>
          </a:bodyPr>
          <a:lstStyle/>
          <a:p>
            <a:pPr algn="l"/>
            <a:r>
              <a:rPr sz="1200" b="1" i="0">
                <a:solidFill>
                  <a:srgbClr val="01A296"/>
                </a:solidFill>
                <a:latin typeface="Calibri"/>
              </a:rPr>
              <a:t>KEY COMMERCIAL SIGNALS</a:t>
            </a:r>
          </a:p>
        </p:txBody>
      </p:sp>
      <p:sp>
        <p:nvSpPr>
          <p:cNvPr id="36" name="Rectangle 35"/>
          <p:cNvSpPr/>
          <p:nvPr/>
        </p:nvSpPr>
        <p:spPr>
          <a:xfrm>
            <a:off x="274320" y="4352544"/>
            <a:ext cx="73152" cy="73152"/>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 y="4279392"/>
            <a:ext cx="11247120" cy="292608"/>
          </a:xfrm>
          <a:prstGeom prst="rect">
            <a:avLst/>
          </a:prstGeom>
          <a:noFill/>
        </p:spPr>
        <p:txBody>
          <a:bodyPr wrap="square" lIns="0" rIns="0" tIns="0" bIns="0">
            <a:noAutofit/>
          </a:bodyPr>
          <a:lstStyle/>
          <a:p>
            <a:pPr algn="l"/>
            <a:r>
              <a:rPr sz="1100" b="0" i="0">
                <a:solidFill>
                  <a:srgbClr val="222222"/>
                </a:solidFill>
                <a:latin typeface="Calibri"/>
              </a:rPr>
              <a:t>Ranked 50th nationally, 2025 Smart50 Awards, fastest growing small businesses (SmartCompany).</a:t>
            </a:r>
          </a:p>
        </p:txBody>
      </p:sp>
      <p:sp>
        <p:nvSpPr>
          <p:cNvPr id="38" name="Rectangle 37"/>
          <p:cNvSpPr/>
          <p:nvPr/>
        </p:nvSpPr>
        <p:spPr>
          <a:xfrm>
            <a:off x="274320" y="4681728"/>
            <a:ext cx="73152" cy="73152"/>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4608576"/>
            <a:ext cx="11247120" cy="292608"/>
          </a:xfrm>
          <a:prstGeom prst="rect">
            <a:avLst/>
          </a:prstGeom>
          <a:noFill/>
        </p:spPr>
        <p:txBody>
          <a:bodyPr wrap="square" lIns="0" rIns="0" tIns="0" bIns="0">
            <a:noAutofit/>
          </a:bodyPr>
          <a:lstStyle/>
          <a:p>
            <a:pPr algn="l"/>
            <a:r>
              <a:rPr sz="1100" b="0" i="0">
                <a:solidFill>
                  <a:srgbClr val="222222"/>
                </a:solidFill>
                <a:latin typeface="Calibri"/>
              </a:rPr>
              <a:t>Winner, Creative Industries, Australian Export Awards 2025, Victorian state final (Export Awards).</a:t>
            </a:r>
          </a:p>
        </p:txBody>
      </p:sp>
      <p:sp>
        <p:nvSpPr>
          <p:cNvPr id="40" name="Rectangle 39"/>
          <p:cNvSpPr/>
          <p:nvPr/>
        </p:nvSpPr>
        <p:spPr>
          <a:xfrm>
            <a:off x="274320" y="5010912"/>
            <a:ext cx="73152" cy="73152"/>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8" y="4937760"/>
            <a:ext cx="11247120" cy="292608"/>
          </a:xfrm>
          <a:prstGeom prst="rect">
            <a:avLst/>
          </a:prstGeom>
          <a:noFill/>
        </p:spPr>
        <p:txBody>
          <a:bodyPr wrap="square" lIns="0" rIns="0" tIns="0" bIns="0">
            <a:noAutofit/>
          </a:bodyPr>
          <a:lstStyle/>
          <a:p>
            <a:pPr algn="l"/>
            <a:r>
              <a:rPr sz="1100" b="0" i="0">
                <a:solidFill>
                  <a:srgbClr val="222222"/>
                </a:solidFill>
                <a:latin typeface="Calibri"/>
              </a:rPr>
              <a:t>Ships from five third party logistics warehouses to over 100 export countries (Export Awards 2025).</a:t>
            </a:r>
          </a:p>
        </p:txBody>
      </p:sp>
      <p:sp>
        <p:nvSpPr>
          <p:cNvPr id="42" name="Rectangle 41"/>
          <p:cNvSpPr/>
          <p:nvPr/>
        </p:nvSpPr>
        <p:spPr>
          <a:xfrm>
            <a:off x="274320" y="5340096"/>
            <a:ext cx="73152" cy="73152"/>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 y="5266944"/>
            <a:ext cx="11247120" cy="292608"/>
          </a:xfrm>
          <a:prstGeom prst="rect">
            <a:avLst/>
          </a:prstGeom>
          <a:noFill/>
        </p:spPr>
        <p:txBody>
          <a:bodyPr wrap="square" lIns="0" rIns="0" tIns="0" bIns="0">
            <a:noAutofit/>
          </a:bodyPr>
          <a:lstStyle/>
          <a:p>
            <a:pPr algn="l"/>
            <a:r>
              <a:rPr sz="1100" b="0" i="0">
                <a:solidFill>
                  <a:srgbClr val="222222"/>
                </a:solidFill>
                <a:latin typeface="Calibri"/>
              </a:rPr>
              <a:t>Raised over USD 3.25 million across six Kickstarter campaigns from 47,068 backers (SmartCompany).</a:t>
            </a:r>
          </a:p>
        </p:txBody>
      </p:sp>
      <p:sp>
        <p:nvSpPr>
          <p:cNvPr id="44" name="Rectangle 43"/>
          <p:cNvSpPr/>
          <p:nvPr/>
        </p:nvSpPr>
        <p:spPr>
          <a:xfrm>
            <a:off x="274320" y="5669280"/>
            <a:ext cx="73152" cy="73152"/>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5488" y="5596128"/>
            <a:ext cx="11247120" cy="292608"/>
          </a:xfrm>
          <a:prstGeom prst="rect">
            <a:avLst/>
          </a:prstGeom>
          <a:noFill/>
        </p:spPr>
        <p:txBody>
          <a:bodyPr wrap="square" lIns="0" rIns="0" tIns="0" bIns="0">
            <a:noAutofit/>
          </a:bodyPr>
          <a:lstStyle/>
          <a:p>
            <a:pPr algn="l"/>
            <a:r>
              <a:rPr sz="1100" b="0" i="0">
                <a:solidFill>
                  <a:srgbClr val="222222"/>
                </a:solidFill>
                <a:latin typeface="Calibri"/>
              </a:rPr>
              <a:t>Registered as Orbitkey Pty Ltd, ABN 15 634 506 059, Richmond VIC (ASIC public register).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47472"/>
            <a:ext cx="6400800" cy="320040"/>
          </a:xfrm>
          <a:prstGeom prst="rect">
            <a:avLst/>
          </a:prstGeom>
          <a:noFill/>
        </p:spPr>
        <p:txBody>
          <a:bodyPr wrap="square" lIns="0" rIns="0" tIns="0" bIns="0">
            <a:noAutofit/>
          </a:bodyPr>
          <a:lstStyle/>
          <a:p>
            <a:pPr algn="l"/>
            <a:r>
              <a:rPr sz="1200" b="1" i="0">
                <a:solidFill>
                  <a:srgbClr val="E6E5DE"/>
                </a:solidFill>
                <a:latin typeface="Calibri"/>
              </a:rPr>
              <a:t>THE OPPORTUNITY</a:t>
            </a:r>
          </a:p>
        </p:txBody>
      </p:sp>
      <p:sp>
        <p:nvSpPr>
          <p:cNvPr id="5" name="TextBox 4"/>
          <p:cNvSpPr txBox="1"/>
          <p:nvPr/>
        </p:nvSpPr>
        <p:spPr>
          <a:xfrm>
            <a:off x="7772400" y="274320"/>
            <a:ext cx="4142232" cy="411480"/>
          </a:xfrm>
          <a:prstGeom prst="rect">
            <a:avLst/>
          </a:prstGeom>
          <a:noFill/>
        </p:spPr>
        <p:txBody>
          <a:bodyPr wrap="square" lIns="0" rIns="0" tIns="0" bIns="0">
            <a:noAutofit/>
          </a:bodyPr>
          <a:lstStyle/>
          <a:p>
            <a:pPr algn="r"/>
            <a:r>
              <a:rPr sz="1500" b="1" i="0">
                <a:solidFill>
                  <a:srgbClr val="01A296"/>
                </a:solidFill>
                <a:latin typeface="Georgia"/>
              </a:rPr>
              <a:t>Orbitkey</a:t>
            </a:r>
          </a:p>
        </p:txBody>
      </p:sp>
      <p:sp>
        <p:nvSpPr>
          <p:cNvPr id="6" name="TextBox 5"/>
          <p:cNvSpPr txBox="1"/>
          <p:nvPr/>
        </p:nvSpPr>
        <p:spPr>
          <a:xfrm>
            <a:off x="274320" y="6446520"/>
            <a:ext cx="8686800" cy="274320"/>
          </a:xfrm>
          <a:prstGeom prst="rect">
            <a:avLst/>
          </a:prstGeom>
          <a:noFill/>
        </p:spPr>
        <p:txBody>
          <a:bodyPr wrap="square" lIns="0" rIns="0" tIns="0" bIns="0">
            <a:noAutofit/>
          </a:bodyPr>
          <a:lstStyle/>
          <a:p>
            <a:pPr algn="l"/>
            <a:r>
              <a:rPr sz="800" b="0" i="0">
                <a:solidFill>
                  <a:srgbClr val="666666"/>
                </a:solidFill>
                <a:latin typeface="Calibri"/>
              </a:rPr>
              <a:t>Prepared by Nitesh Roopa CA, Managing Partner and Founder, ProfitPulse, Profit-Pulse.com.au</a:t>
            </a:r>
          </a:p>
        </p:txBody>
      </p:sp>
      <p:sp>
        <p:nvSpPr>
          <p:cNvPr id="7" name="TextBox 6"/>
          <p:cNvSpPr txBox="1"/>
          <p:nvPr/>
        </p:nvSpPr>
        <p:spPr>
          <a:xfrm>
            <a:off x="10515600" y="6446520"/>
            <a:ext cx="1399032" cy="274320"/>
          </a:xfrm>
          <a:prstGeom prst="rect">
            <a:avLst/>
          </a:prstGeom>
          <a:noFill/>
        </p:spPr>
        <p:txBody>
          <a:bodyPr wrap="square" lIns="0" rIns="0" tIns="0" bIns="0">
            <a:noAutofit/>
          </a:bodyPr>
          <a:lstStyle/>
          <a:p>
            <a:pPr algn="r"/>
            <a:r>
              <a:rPr sz="800" b="0" i="0">
                <a:solidFill>
                  <a:srgbClr val="666666"/>
                </a:solidFill>
                <a:latin typeface="Calibri"/>
              </a:rPr>
              <a:t>05 Aug 2026</a:t>
            </a:r>
          </a:p>
        </p:txBody>
      </p:sp>
      <p:sp>
        <p:nvSpPr>
          <p:cNvPr id="8" name="TextBox 7"/>
          <p:cNvSpPr txBox="1"/>
          <p:nvPr/>
        </p:nvSpPr>
        <p:spPr>
          <a:xfrm>
            <a:off x="274320" y="1051560"/>
            <a:ext cx="10515600" cy="365760"/>
          </a:xfrm>
          <a:prstGeom prst="rect">
            <a:avLst/>
          </a:prstGeom>
          <a:noFill/>
        </p:spPr>
        <p:txBody>
          <a:bodyPr wrap="square" lIns="0" rIns="0" tIns="0" bIns="0">
            <a:noAutofit/>
          </a:bodyPr>
          <a:lstStyle/>
          <a:p>
            <a:pPr algn="l"/>
            <a:r>
              <a:rPr sz="1600" b="1" i="0">
                <a:solidFill>
                  <a:srgbClr val="000000"/>
                </a:solidFill>
                <a:latin typeface="Georgia"/>
              </a:rPr>
              <a:t>Orbitkey. Three commercial observations from ProfitPulse.</a:t>
            </a:r>
          </a:p>
        </p:txBody>
      </p:sp>
      <p:sp>
        <p:nvSpPr>
          <p:cNvPr id="9" name="Rectangle 8"/>
          <p:cNvSpPr/>
          <p:nvPr/>
        </p:nvSpPr>
        <p:spPr>
          <a:xfrm>
            <a:off x="274320" y="1600200"/>
            <a:ext cx="3794760" cy="45720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783080"/>
            <a:ext cx="3337560" cy="548640"/>
          </a:xfrm>
          <a:prstGeom prst="rect">
            <a:avLst/>
          </a:prstGeom>
          <a:noFill/>
        </p:spPr>
        <p:txBody>
          <a:bodyPr wrap="square" lIns="0" rIns="0" tIns="0" bIns="0">
            <a:noAutofit/>
          </a:bodyPr>
          <a:lstStyle/>
          <a:p>
            <a:pPr algn="l"/>
            <a:r>
              <a:rPr sz="2800" b="1" i="0">
                <a:solidFill>
                  <a:srgbClr val="FFFFFF"/>
                </a:solidFill>
                <a:latin typeface="Georgia"/>
              </a:rPr>
              <a:t>01</a:t>
            </a:r>
          </a:p>
        </p:txBody>
      </p:sp>
      <p:sp>
        <p:nvSpPr>
          <p:cNvPr id="11" name="TextBox 10"/>
          <p:cNvSpPr txBox="1"/>
          <p:nvPr/>
        </p:nvSpPr>
        <p:spPr>
          <a:xfrm>
            <a:off x="502920" y="2377440"/>
            <a:ext cx="3337560" cy="685800"/>
          </a:xfrm>
          <a:prstGeom prst="rect">
            <a:avLst/>
          </a:prstGeom>
          <a:noFill/>
        </p:spPr>
        <p:txBody>
          <a:bodyPr wrap="square" lIns="0" rIns="0" tIns="0" bIns="0">
            <a:noAutofit/>
          </a:bodyPr>
          <a:lstStyle/>
          <a:p>
            <a:pPr algn="l">
              <a:lnSpc>
                <a:spcPct val="105000"/>
              </a:lnSpc>
            </a:pPr>
            <a:r>
              <a:rPr sz="1400" b="1" i="0">
                <a:solidFill>
                  <a:srgbClr val="FFFFFF"/>
                </a:solidFill>
                <a:latin typeface="Calibri"/>
              </a:rPr>
              <a:t>Serial crowdfunding signals a cash gap</a:t>
            </a:r>
          </a:p>
        </p:txBody>
      </p:sp>
      <p:sp>
        <p:nvSpPr>
          <p:cNvPr id="12" name="TextBox 11"/>
          <p:cNvSpPr txBox="1"/>
          <p:nvPr/>
        </p:nvSpPr>
        <p:spPr>
          <a:xfrm>
            <a:off x="502920" y="3108960"/>
            <a:ext cx="3337560" cy="2834640"/>
          </a:xfrm>
          <a:prstGeom prst="rect">
            <a:avLst/>
          </a:prstGeom>
          <a:noFill/>
        </p:spPr>
        <p:txBody>
          <a:bodyPr wrap="square" lIns="0" rIns="0" tIns="0" bIns="0">
            <a:noAutofit/>
          </a:bodyPr>
          <a:lstStyle/>
          <a:p>
            <a:pPr algn="l">
              <a:lnSpc>
                <a:spcPct val="110000"/>
              </a:lnSpc>
            </a:pPr>
            <a:r>
              <a:rPr sz="1050" b="0" i="0">
                <a:solidFill>
                  <a:srgbClr val="FFFFFF"/>
                </a:solidFill>
                <a:latin typeface="Calibri"/>
              </a:rPr>
              <a:t>Orbitkey's own founders say Kickstarter helps fund new products and manage cash flow around production. That is a direct signal that cash tied up in inventory, debtors and supplier terms across five global warehouses deserves a closer look.</a:t>
            </a:r>
          </a:p>
          <a:p>
            <a:pPr algn="l">
              <a:lnSpc>
                <a:spcPct val="110000"/>
              </a:lnSpc>
            </a:pPr>
            <a:r>
              <a:rPr sz="1050" b="0" i="0">
                <a:solidFill>
                  <a:srgbClr val="FFFFFF"/>
                </a:solidFill>
                <a:latin typeface="Calibri"/>
              </a:rPr>
              <a:t/>
            </a:r>
          </a:p>
          <a:p>
            <a:pPr algn="l">
              <a:lnSpc>
                <a:spcPct val="110000"/>
              </a:lnSpc>
            </a:pPr>
            <a:r>
              <a:rPr sz="1050" b="0" i="0">
                <a:solidFill>
                  <a:srgbClr val="FFFFFF"/>
                </a:solidFill>
                <a:latin typeface="Calibri"/>
              </a:rPr>
              <a:t>Working Capital Unlock maps exactly this: cash trapped in stock, work in progress and terms, with a prioritised release plan. Comparable clients typically release 8 to 15 percent of revenue in freed up cash.</a:t>
            </a:r>
          </a:p>
        </p:txBody>
      </p:sp>
      <p:sp>
        <p:nvSpPr>
          <p:cNvPr id="13" name="Rectangle 12"/>
          <p:cNvSpPr/>
          <p:nvPr/>
        </p:nvSpPr>
        <p:spPr>
          <a:xfrm>
            <a:off x="4142232" y="1600200"/>
            <a:ext cx="3794760" cy="4572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1783080"/>
            <a:ext cx="3337560" cy="548640"/>
          </a:xfrm>
          <a:prstGeom prst="rect">
            <a:avLst/>
          </a:prstGeom>
          <a:noFill/>
        </p:spPr>
        <p:txBody>
          <a:bodyPr wrap="square" lIns="0" rIns="0" tIns="0" bIns="0">
            <a:noAutofit/>
          </a:bodyPr>
          <a:lstStyle/>
          <a:p>
            <a:pPr algn="l"/>
            <a:r>
              <a:rPr sz="2800" b="1" i="0">
                <a:solidFill>
                  <a:srgbClr val="E6E5DE"/>
                </a:solidFill>
                <a:latin typeface="Georgia"/>
              </a:rPr>
              <a:t>02</a:t>
            </a:r>
          </a:p>
        </p:txBody>
      </p:sp>
      <p:sp>
        <p:nvSpPr>
          <p:cNvPr id="15" name="TextBox 14"/>
          <p:cNvSpPr txBox="1"/>
          <p:nvPr/>
        </p:nvSpPr>
        <p:spPr>
          <a:xfrm>
            <a:off x="4370832" y="2377440"/>
            <a:ext cx="3337560" cy="685800"/>
          </a:xfrm>
          <a:prstGeom prst="rect">
            <a:avLst/>
          </a:prstGeom>
          <a:noFill/>
        </p:spPr>
        <p:txBody>
          <a:bodyPr wrap="square" lIns="0" rIns="0" tIns="0" bIns="0">
            <a:noAutofit/>
          </a:bodyPr>
          <a:lstStyle/>
          <a:p>
            <a:pPr algn="l">
              <a:lnSpc>
                <a:spcPct val="105000"/>
              </a:lnSpc>
            </a:pPr>
            <a:r>
              <a:rPr sz="1400" b="1" i="0">
                <a:solidFill>
                  <a:srgbClr val="E6E5DE"/>
                </a:solidFill>
                <a:latin typeface="Calibri"/>
              </a:rPr>
              <a:t>Three product lines, one margin picture</a:t>
            </a:r>
          </a:p>
        </p:txBody>
      </p:sp>
      <p:sp>
        <p:nvSpPr>
          <p:cNvPr id="16" name="TextBox 15"/>
          <p:cNvSpPr txBox="1"/>
          <p:nvPr/>
        </p:nvSpPr>
        <p:spPr>
          <a:xfrm>
            <a:off x="4370832" y="3108960"/>
            <a:ext cx="3337560" cy="2834640"/>
          </a:xfrm>
          <a:prstGeom prst="rect">
            <a:avLst/>
          </a:prstGeom>
          <a:noFill/>
        </p:spPr>
        <p:txBody>
          <a:bodyPr wrap="square" lIns="0" rIns="0" tIns="0" bIns="0">
            <a:noAutofit/>
          </a:bodyPr>
          <a:lstStyle/>
          <a:p>
            <a:pPr algn="l">
              <a:lnSpc>
                <a:spcPct val="110000"/>
              </a:lnSpc>
            </a:pPr>
            <a:r>
              <a:rPr sz="1050" b="0" i="0">
                <a:solidFill>
                  <a:srgbClr val="E6E5DE"/>
                </a:solidFill>
                <a:latin typeface="Calibri"/>
              </a:rPr>
              <a:t>Orbitkey sells across Everyday Carry, Travel and Bag Organisation, and Work Organisation, through direct to consumer, Kickstarter and wholesale to over a thousand European stores. Three channels and three product families rarely carry identical margin.</a:t>
            </a:r>
          </a:p>
          <a:p>
            <a:pPr algn="l">
              <a:lnSpc>
                <a:spcPct val="110000"/>
              </a:lnSpc>
            </a:pPr>
            <a:r>
              <a:rPr sz="1050" b="0" i="0">
                <a:solidFill>
                  <a:srgbClr val="E6E5DE"/>
                </a:solidFill>
                <a:latin typeface="Calibri"/>
              </a:rPr>
              <a:t/>
            </a:r>
          </a:p>
          <a:p>
            <a:pPr algn="l">
              <a:lnSpc>
                <a:spcPct val="110000"/>
              </a:lnSpc>
            </a:pPr>
            <a:r>
              <a:rPr sz="1050" b="0" i="0">
                <a:solidFill>
                  <a:srgbClr val="E6E5DE"/>
                </a:solidFill>
                <a:latin typeface="Calibri"/>
              </a:rPr>
              <a:t>A line by line profitability view would show which products and channels are genuinely funding the growth, and which are being carried by the others.</a:t>
            </a:r>
          </a:p>
        </p:txBody>
      </p:sp>
      <p:sp>
        <p:nvSpPr>
          <p:cNvPr id="17" name="Rectangle 16"/>
          <p:cNvSpPr/>
          <p:nvPr/>
        </p:nvSpPr>
        <p:spPr>
          <a:xfrm>
            <a:off x="8010144" y="1600200"/>
            <a:ext cx="3794760" cy="457200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1783080"/>
            <a:ext cx="3337560" cy="548640"/>
          </a:xfrm>
          <a:prstGeom prst="rect">
            <a:avLst/>
          </a:prstGeom>
          <a:noFill/>
        </p:spPr>
        <p:txBody>
          <a:bodyPr wrap="square" lIns="0" rIns="0" tIns="0" bIns="0">
            <a:noAutofit/>
          </a:bodyPr>
          <a:lstStyle/>
          <a:p>
            <a:pPr algn="l"/>
            <a:r>
              <a:rPr sz="2800" b="1" i="0">
                <a:solidFill>
                  <a:srgbClr val="000000"/>
                </a:solidFill>
                <a:latin typeface="Georgia"/>
              </a:rPr>
              <a:t>03</a:t>
            </a:r>
          </a:p>
        </p:txBody>
      </p:sp>
      <p:sp>
        <p:nvSpPr>
          <p:cNvPr id="19" name="TextBox 18"/>
          <p:cNvSpPr txBox="1"/>
          <p:nvPr/>
        </p:nvSpPr>
        <p:spPr>
          <a:xfrm>
            <a:off x="8238744" y="2377440"/>
            <a:ext cx="3337560" cy="685800"/>
          </a:xfrm>
          <a:prstGeom prst="rect">
            <a:avLst/>
          </a:prstGeom>
          <a:noFill/>
        </p:spPr>
        <p:txBody>
          <a:bodyPr wrap="square" lIns="0" rIns="0" tIns="0" bIns="0">
            <a:noAutofit/>
          </a:bodyPr>
          <a:lstStyle/>
          <a:p>
            <a:pPr algn="l">
              <a:lnSpc>
                <a:spcPct val="105000"/>
              </a:lnSpc>
            </a:pPr>
            <a:r>
              <a:rPr sz="1400" b="1" i="0">
                <a:solidFill>
                  <a:srgbClr val="000000"/>
                </a:solidFill>
                <a:latin typeface="Calibri"/>
              </a:rPr>
              <a:t>Fast international growth needs a costed plan</a:t>
            </a:r>
          </a:p>
        </p:txBody>
      </p:sp>
      <p:sp>
        <p:nvSpPr>
          <p:cNvPr id="20" name="TextBox 19"/>
          <p:cNvSpPr txBox="1"/>
          <p:nvPr/>
        </p:nvSpPr>
        <p:spPr>
          <a:xfrm>
            <a:off x="8238744" y="3108960"/>
            <a:ext cx="3337560" cy="2834640"/>
          </a:xfrm>
          <a:prstGeom prst="rect">
            <a:avLst/>
          </a:prstGeom>
          <a:noFill/>
        </p:spPr>
        <p:txBody>
          <a:bodyPr wrap="square" lIns="0" rIns="0" tIns="0" bIns="0">
            <a:noAutofit/>
          </a:bodyPr>
          <a:lstStyle/>
          <a:p>
            <a:pPr algn="l">
              <a:lnSpc>
                <a:spcPct val="110000"/>
              </a:lnSpc>
            </a:pPr>
            <a:r>
              <a:rPr sz="1050" b="0" i="0">
                <a:solidFill>
                  <a:srgbClr val="000000"/>
                </a:solidFill>
                <a:latin typeface="Calibri"/>
              </a:rPr>
              <a:t>Revenue has grown 40 percent over three years and Orbitkey now exports to more than 100 countries from five logistics warehouses. That pace of expansion usually outruns the financial plan supporting it.</a:t>
            </a:r>
          </a:p>
          <a:p>
            <a:pPr algn="l">
              <a:lnSpc>
                <a:spcPct val="110000"/>
              </a:lnSpc>
            </a:pPr>
            <a:r>
              <a:rPr sz="1050" b="0" i="0">
                <a:solidFill>
                  <a:srgbClr val="000000"/>
                </a:solidFill>
                <a:latin typeface="Calibri"/>
              </a:rPr>
              <a:t/>
            </a:r>
          </a:p>
          <a:p>
            <a:pPr algn="l">
              <a:lnSpc>
                <a:spcPct val="110000"/>
              </a:lnSpc>
            </a:pPr>
            <a:r>
              <a:rPr sz="1050" b="0" i="0">
                <a:solidFill>
                  <a:srgbClr val="000000"/>
                </a:solidFill>
                <a:latin typeface="Calibri"/>
              </a:rPr>
              <a:t>A Strategic Growth Diagnostic would map revenue, capacity and margin headroom into a costed 12 month plan, so the next stage of growth is funded on purpose.</a:t>
            </a:r>
          </a:p>
        </p:txBody>
      </p:sp>
      <p:sp>
        <p:nvSpPr>
          <p:cNvPr id="21" name="TextBox 20"/>
          <p:cNvSpPr txBox="1"/>
          <p:nvPr/>
        </p:nvSpPr>
        <p:spPr>
          <a:xfrm>
            <a:off x="274320" y="6263640"/>
            <a:ext cx="11612880" cy="320040"/>
          </a:xfrm>
          <a:prstGeom prst="rect">
            <a:avLst/>
          </a:prstGeom>
          <a:noFill/>
        </p:spPr>
        <p:txBody>
          <a:bodyPr wrap="square" lIns="0" rIns="0" tIns="0" bIns="0">
            <a:noAutofit/>
          </a:bodyPr>
          <a:lstStyle/>
          <a:p>
            <a:pPr algn="l"/>
            <a:r>
              <a:rPr sz="1000" b="0" i="1">
                <a:solidFill>
                  <a:srgbClr val="444444"/>
                </a:solidFill>
                <a:latin typeface="Calibri"/>
              </a:rPr>
              <a:t>These are observations offered in good faith. Orbitkey has built something genuinely impressive. The question is simply whether the financial architecture matches the pace of the growth.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47472"/>
            <a:ext cx="6400800" cy="320040"/>
          </a:xfrm>
          <a:prstGeom prst="rect">
            <a:avLst/>
          </a:prstGeom>
          <a:noFill/>
        </p:spPr>
        <p:txBody>
          <a:bodyPr wrap="square" lIns="0" rIns="0" tIns="0" bIns="0">
            <a:noAutofit/>
          </a:bodyPr>
          <a:lstStyle/>
          <a:p>
            <a:pPr algn="l"/>
            <a:r>
              <a:rPr sz="1200" b="1" i="0">
                <a:solidFill>
                  <a:srgbClr val="E6E5DE"/>
                </a:solidFill>
                <a:latin typeface="Calibri"/>
              </a:rPr>
              <a:t>THE RECOMMENDATION</a:t>
            </a:r>
          </a:p>
        </p:txBody>
      </p:sp>
      <p:sp>
        <p:nvSpPr>
          <p:cNvPr id="5" name="TextBox 4"/>
          <p:cNvSpPr txBox="1"/>
          <p:nvPr/>
        </p:nvSpPr>
        <p:spPr>
          <a:xfrm>
            <a:off x="7772400" y="274320"/>
            <a:ext cx="4142232" cy="411480"/>
          </a:xfrm>
          <a:prstGeom prst="rect">
            <a:avLst/>
          </a:prstGeom>
          <a:noFill/>
        </p:spPr>
        <p:txBody>
          <a:bodyPr wrap="square" lIns="0" rIns="0" tIns="0" bIns="0">
            <a:noAutofit/>
          </a:bodyPr>
          <a:lstStyle/>
          <a:p>
            <a:pPr algn="r"/>
            <a:r>
              <a:rPr sz="1500" b="1" i="0">
                <a:solidFill>
                  <a:srgbClr val="01A296"/>
                </a:solidFill>
                <a:latin typeface="Georgia"/>
              </a:rPr>
              <a:t>Orbitkey</a:t>
            </a:r>
          </a:p>
        </p:txBody>
      </p:sp>
      <p:sp>
        <p:nvSpPr>
          <p:cNvPr id="6" name="TextBox 5"/>
          <p:cNvSpPr txBox="1"/>
          <p:nvPr/>
        </p:nvSpPr>
        <p:spPr>
          <a:xfrm>
            <a:off x="274320" y="6446520"/>
            <a:ext cx="8686800" cy="274320"/>
          </a:xfrm>
          <a:prstGeom prst="rect">
            <a:avLst/>
          </a:prstGeom>
          <a:noFill/>
        </p:spPr>
        <p:txBody>
          <a:bodyPr wrap="square" lIns="0" rIns="0" tIns="0" bIns="0">
            <a:noAutofit/>
          </a:bodyPr>
          <a:lstStyle/>
          <a:p>
            <a:pPr algn="l"/>
            <a:r>
              <a:rPr sz="800" b="0" i="0">
                <a:solidFill>
                  <a:srgbClr val="666666"/>
                </a:solidFill>
                <a:latin typeface="Calibri"/>
              </a:rPr>
              <a:t>Prepared by Nitesh Roopa CA, Managing Partner and Founder, ProfitPulse, Profit-Pulse.com.au</a:t>
            </a:r>
          </a:p>
        </p:txBody>
      </p:sp>
      <p:sp>
        <p:nvSpPr>
          <p:cNvPr id="7" name="TextBox 6"/>
          <p:cNvSpPr txBox="1"/>
          <p:nvPr/>
        </p:nvSpPr>
        <p:spPr>
          <a:xfrm>
            <a:off x="10515600" y="6446520"/>
            <a:ext cx="1399032" cy="274320"/>
          </a:xfrm>
          <a:prstGeom prst="rect">
            <a:avLst/>
          </a:prstGeom>
          <a:noFill/>
        </p:spPr>
        <p:txBody>
          <a:bodyPr wrap="square" lIns="0" rIns="0" tIns="0" bIns="0">
            <a:noAutofit/>
          </a:bodyPr>
          <a:lstStyle/>
          <a:p>
            <a:pPr algn="r"/>
            <a:r>
              <a:rPr sz="800" b="0" i="0">
                <a:solidFill>
                  <a:srgbClr val="666666"/>
                </a:solidFill>
                <a:latin typeface="Calibri"/>
              </a:rPr>
              <a:t>05 Aug 2026</a:t>
            </a:r>
          </a:p>
        </p:txBody>
      </p:sp>
      <p:sp>
        <p:nvSpPr>
          <p:cNvPr id="8" name="TextBox 7"/>
          <p:cNvSpPr txBox="1"/>
          <p:nvPr/>
        </p:nvSpPr>
        <p:spPr>
          <a:xfrm>
            <a:off x="274320" y="1097280"/>
            <a:ext cx="6949440" cy="457200"/>
          </a:xfrm>
          <a:prstGeom prst="rect">
            <a:avLst/>
          </a:prstGeom>
          <a:noFill/>
        </p:spPr>
        <p:txBody>
          <a:bodyPr wrap="square" lIns="0" rIns="0" tIns="0" bIns="0">
            <a:noAutofit/>
          </a:bodyPr>
          <a:lstStyle/>
          <a:p>
            <a:pPr algn="l"/>
            <a:r>
              <a:rPr sz="2400" b="1" i="0">
                <a:solidFill>
                  <a:srgbClr val="000000"/>
                </a:solidFill>
                <a:latin typeface="Georgia"/>
              </a:rPr>
              <a:t>Working Capital Unlock</a:t>
            </a:r>
          </a:p>
        </p:txBody>
      </p:sp>
      <p:sp>
        <p:nvSpPr>
          <p:cNvPr id="9" name="TextBox 8"/>
          <p:cNvSpPr txBox="1"/>
          <p:nvPr/>
        </p:nvSpPr>
        <p:spPr>
          <a:xfrm>
            <a:off x="274320" y="1600200"/>
            <a:ext cx="6949440" cy="320040"/>
          </a:xfrm>
          <a:prstGeom prst="rect">
            <a:avLst/>
          </a:prstGeom>
          <a:noFill/>
        </p:spPr>
        <p:txBody>
          <a:bodyPr wrap="square" lIns="0" rIns="0" tIns="0" bIns="0">
            <a:noAutofit/>
          </a:bodyPr>
          <a:lstStyle/>
          <a:p>
            <a:pPr algn="l"/>
            <a:r>
              <a:rPr sz="1500" b="1" i="0">
                <a:solidFill>
                  <a:srgbClr val="F6A102"/>
                </a:solidFill>
                <a:latin typeface="Calibri"/>
              </a:rPr>
              <a:t>$6,000 one off</a:t>
            </a:r>
          </a:p>
        </p:txBody>
      </p:sp>
      <p:sp>
        <p:nvSpPr>
          <p:cNvPr id="10" name="TextBox 9"/>
          <p:cNvSpPr txBox="1"/>
          <p:nvPr/>
        </p:nvSpPr>
        <p:spPr>
          <a:xfrm>
            <a:off x="274320" y="2011680"/>
            <a:ext cx="6949440" cy="868680"/>
          </a:xfrm>
          <a:prstGeom prst="rect">
            <a:avLst/>
          </a:prstGeom>
          <a:noFill/>
        </p:spPr>
        <p:txBody>
          <a:bodyPr wrap="square" lIns="0" rIns="0" tIns="0" bIns="0">
            <a:noAutofit/>
          </a:bodyPr>
          <a:lstStyle/>
          <a:p>
            <a:pPr algn="l">
              <a:lnSpc>
                <a:spcPct val="115000"/>
              </a:lnSpc>
            </a:pPr>
            <a:r>
              <a:rPr sz="1150" b="0" i="0">
                <a:solidFill>
                  <a:srgbClr val="222222"/>
                </a:solidFill>
                <a:latin typeface="Calibri"/>
              </a:rPr>
              <a:t>A four week project mapping cash trapped in debtors, inventory, work in progress, supplier terms and bank facilities across Orbitkey's global operation, with a prioritised action list to release cash back into the business.</a:t>
            </a:r>
          </a:p>
        </p:txBody>
      </p:sp>
      <p:sp>
        <p:nvSpPr>
          <p:cNvPr id="11" name="Rectangle 10"/>
          <p:cNvSpPr/>
          <p:nvPr/>
        </p:nvSpPr>
        <p:spPr>
          <a:xfrm>
            <a:off x="274320" y="3017520"/>
            <a:ext cx="6949440" cy="1417320"/>
          </a:xfrm>
          <a:prstGeom prst="rect">
            <a:avLst/>
          </a:prstGeom>
          <a:solidFill>
            <a:srgbClr val="F2F2F0"/>
          </a:solidFill>
          <a:ln w="12700">
            <a:solidFill>
              <a:srgbClr val="F6A1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154680"/>
            <a:ext cx="6583680" cy="320040"/>
          </a:xfrm>
          <a:prstGeom prst="rect">
            <a:avLst/>
          </a:prstGeom>
          <a:noFill/>
        </p:spPr>
        <p:txBody>
          <a:bodyPr wrap="square" lIns="0" rIns="0" tIns="0" bIns="0">
            <a:noAutofit/>
          </a:bodyPr>
          <a:lstStyle/>
          <a:p>
            <a:pPr algn="l"/>
            <a:r>
              <a:rPr sz="1300" b="1" i="0">
                <a:solidFill>
                  <a:srgbClr val="000000"/>
                </a:solidFill>
                <a:latin typeface="Calibri"/>
              </a:rPr>
              <a:t>Step one, answer a few quick questions</a:t>
            </a:r>
          </a:p>
        </p:txBody>
      </p:sp>
      <p:sp>
        <p:nvSpPr>
          <p:cNvPr id="13" name="TextBox 12"/>
          <p:cNvSpPr txBox="1"/>
          <p:nvPr/>
        </p:nvSpPr>
        <p:spPr>
          <a:xfrm>
            <a:off x="457200" y="3493008"/>
            <a:ext cx="6583680" cy="274320"/>
          </a:xfrm>
          <a:prstGeom prst="rect">
            <a:avLst/>
          </a:prstGeom>
          <a:noFill/>
        </p:spPr>
        <p:txBody>
          <a:bodyPr wrap="square" lIns="0" rIns="0" tIns="0" bIns="0">
            <a:noAutofit/>
          </a:bodyPr>
          <a:lstStyle/>
          <a:p>
            <a:pPr algn="l"/>
            <a:r>
              <a:rPr sz="1100" b="0" i="0">
                <a:solidFill>
                  <a:srgbClr val="333333"/>
                </a:solidFill>
                <a:latin typeface="Calibri"/>
              </a:rPr>
              <a:t>See the solutions matched to your size and industry.</a:t>
            </a:r>
          </a:p>
        </p:txBody>
      </p:sp>
      <p:sp>
        <p:nvSpPr>
          <p:cNvPr id="14" name="TextBox 13"/>
          <p:cNvSpPr txBox="1"/>
          <p:nvPr/>
        </p:nvSpPr>
        <p:spPr>
          <a:xfrm>
            <a:off x="457200" y="3840480"/>
            <a:ext cx="6583680" cy="320040"/>
          </a:xfrm>
          <a:prstGeom prst="rect">
            <a:avLst/>
          </a:prstGeom>
          <a:noFill/>
        </p:spPr>
        <p:txBody>
          <a:bodyPr wrap="square" lIns="0" rIns="0" tIns="0" bIns="0">
            <a:noAutofit/>
          </a:bodyPr>
          <a:lstStyle/>
          <a:p>
            <a:pPr algn="l"/>
            <a:r>
              <a:rPr sz="1200" b="1" i="0">
                <a:solidFill>
                  <a:srgbClr val="01A296"/>
                </a:solidFill>
                <a:latin typeface="Calibri"/>
                <a:hlinkClick r:id="rId2"/>
              </a:rPr>
              <a:t>profit-pulse.com.au/services/find-your-fit</a:t>
            </a:r>
          </a:p>
        </p:txBody>
      </p:sp>
      <p:sp>
        <p:nvSpPr>
          <p:cNvPr id="15" name="Rectangle 14"/>
          <p:cNvSpPr/>
          <p:nvPr/>
        </p:nvSpPr>
        <p:spPr>
          <a:xfrm>
            <a:off x="274320" y="4617720"/>
            <a:ext cx="6949440" cy="50292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754880"/>
            <a:ext cx="6949440" cy="274320"/>
          </a:xfrm>
          <a:prstGeom prst="rect">
            <a:avLst/>
          </a:prstGeom>
          <a:noFill/>
        </p:spPr>
        <p:txBody>
          <a:bodyPr wrap="square" lIns="0" rIns="0" tIns="0" bIns="0">
            <a:noAutofit/>
          </a:bodyPr>
          <a:lstStyle/>
          <a:p>
            <a:pPr algn="ctr"/>
            <a:r>
              <a:rPr sz="1200" b="1" i="0">
                <a:solidFill>
                  <a:srgbClr val="FFFFFF"/>
                </a:solidFill>
                <a:latin typeface="Calibri"/>
                <a:hlinkClick r:id="rId3"/>
              </a:rPr>
              <a:t>Purchase the suggested product now to get started</a:t>
            </a:r>
          </a:p>
        </p:txBody>
      </p:sp>
      <p:sp>
        <p:nvSpPr>
          <p:cNvPr id="17" name="TextBox 16"/>
          <p:cNvSpPr txBox="1"/>
          <p:nvPr/>
        </p:nvSpPr>
        <p:spPr>
          <a:xfrm>
            <a:off x="274320" y="5349240"/>
            <a:ext cx="6949440" cy="274320"/>
          </a:xfrm>
          <a:prstGeom prst="rect">
            <a:avLst/>
          </a:prstGeom>
          <a:noFill/>
        </p:spPr>
        <p:txBody>
          <a:bodyPr wrap="square" lIns="0" rIns="0" tIns="0" bIns="0">
            <a:noAutofit/>
          </a:bodyPr>
          <a:lstStyle/>
          <a:p>
            <a:pPr algn="l"/>
            <a:r>
              <a:rPr sz="1050" b="0" i="0">
                <a:solidFill>
                  <a:srgbClr val="333333"/>
                </a:solidFill>
                <a:latin typeface="Calibri"/>
              </a:rPr>
              <a:t>Prefer a conversation first? Book a complimentary discovery call.</a:t>
            </a:r>
          </a:p>
        </p:txBody>
      </p:sp>
      <p:sp>
        <p:nvSpPr>
          <p:cNvPr id="18" name="TextBox 17"/>
          <p:cNvSpPr txBox="1"/>
          <p:nvPr/>
        </p:nvSpPr>
        <p:spPr>
          <a:xfrm>
            <a:off x="274320" y="5623560"/>
            <a:ext cx="6949440" cy="274320"/>
          </a:xfrm>
          <a:prstGeom prst="rect">
            <a:avLst/>
          </a:prstGeom>
          <a:noFill/>
        </p:spPr>
        <p:txBody>
          <a:bodyPr wrap="square" lIns="0" rIns="0" tIns="0" bIns="0">
            <a:noAutofit/>
          </a:bodyPr>
          <a:lstStyle/>
          <a:p>
            <a:pPr algn="l"/>
            <a:r>
              <a:rPr sz="1050" b="1" i="0">
                <a:solidFill>
                  <a:srgbClr val="01A296"/>
                </a:solidFill>
                <a:latin typeface="Calibri"/>
                <a:hlinkClick r:id="rId4"/>
              </a:rPr>
              <a:t>Book a complimentary discovery call</a:t>
            </a:r>
          </a:p>
        </p:txBody>
      </p:sp>
      <p:sp>
        <p:nvSpPr>
          <p:cNvPr id="19" name="Rectangle 18"/>
          <p:cNvSpPr/>
          <p:nvPr/>
        </p:nvSpPr>
        <p:spPr>
          <a:xfrm>
            <a:off x="7406640" y="1097280"/>
            <a:ext cx="4507992" cy="5074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1280160"/>
            <a:ext cx="4050792" cy="411480"/>
          </a:xfrm>
          <a:prstGeom prst="rect">
            <a:avLst/>
          </a:prstGeom>
          <a:noFill/>
        </p:spPr>
        <p:txBody>
          <a:bodyPr wrap="square" lIns="0" rIns="0" tIns="0" bIns="0">
            <a:noAutofit/>
          </a:bodyPr>
          <a:lstStyle/>
          <a:p>
            <a:pPr algn="l"/>
            <a:r>
              <a:rPr sz="1700" b="1" i="0">
                <a:solidFill>
                  <a:srgbClr val="F8C806"/>
                </a:solidFill>
                <a:latin typeface="Georgia"/>
              </a:rPr>
              <a:t>Nitesh Roopa</a:t>
            </a:r>
          </a:p>
        </p:txBody>
      </p:sp>
      <p:sp>
        <p:nvSpPr>
          <p:cNvPr id="21" name="TextBox 20"/>
          <p:cNvSpPr txBox="1"/>
          <p:nvPr/>
        </p:nvSpPr>
        <p:spPr>
          <a:xfrm>
            <a:off x="7635240" y="1691640"/>
            <a:ext cx="4050792" cy="274320"/>
          </a:xfrm>
          <a:prstGeom prst="rect">
            <a:avLst/>
          </a:prstGeom>
          <a:noFill/>
        </p:spPr>
        <p:txBody>
          <a:bodyPr wrap="square" lIns="0" rIns="0" tIns="0" bIns="0">
            <a:noAutofit/>
          </a:bodyPr>
          <a:lstStyle/>
          <a:p>
            <a:pPr algn="l"/>
            <a:r>
              <a:rPr sz="1150" b="0" i="0">
                <a:solidFill>
                  <a:srgbClr val="E6E5DE"/>
                </a:solidFill>
                <a:latin typeface="Calibri"/>
              </a:rPr>
              <a:t>CA, Managing Partner, ProfitPulse</a:t>
            </a:r>
          </a:p>
        </p:txBody>
      </p:sp>
      <p:sp>
        <p:nvSpPr>
          <p:cNvPr id="22" name="Rectangle 21"/>
          <p:cNvSpPr/>
          <p:nvPr/>
        </p:nvSpPr>
        <p:spPr>
          <a:xfrm>
            <a:off x="7635240" y="2212848"/>
            <a:ext cx="64008"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2148840"/>
            <a:ext cx="3867912" cy="365760"/>
          </a:xfrm>
          <a:prstGeom prst="rect">
            <a:avLst/>
          </a:prstGeom>
          <a:noFill/>
        </p:spPr>
        <p:txBody>
          <a:bodyPr wrap="square" lIns="0" rIns="0" tIns="0" bIns="0">
            <a:noAutofit/>
          </a:bodyPr>
          <a:lstStyle/>
          <a:p>
            <a:pPr algn="l">
              <a:lnSpc>
                <a:spcPct val="105000"/>
              </a:lnSpc>
            </a:pPr>
            <a:r>
              <a:rPr sz="1050" b="0" i="0">
                <a:solidFill>
                  <a:srgbClr val="FFFFFF"/>
                </a:solidFill>
                <a:latin typeface="Calibri"/>
              </a:rPr>
              <a:t>16 years across 4 countries</a:t>
            </a:r>
          </a:p>
        </p:txBody>
      </p:sp>
      <p:sp>
        <p:nvSpPr>
          <p:cNvPr id="24" name="Rectangle 23"/>
          <p:cNvSpPr/>
          <p:nvPr/>
        </p:nvSpPr>
        <p:spPr>
          <a:xfrm>
            <a:off x="7635240" y="2670048"/>
            <a:ext cx="64008"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2606040"/>
            <a:ext cx="3867912" cy="365760"/>
          </a:xfrm>
          <a:prstGeom prst="rect">
            <a:avLst/>
          </a:prstGeom>
          <a:noFill/>
        </p:spPr>
        <p:txBody>
          <a:bodyPr wrap="square" lIns="0" rIns="0" tIns="0" bIns="0">
            <a:noAutofit/>
          </a:bodyPr>
          <a:lstStyle/>
          <a:p>
            <a:pPr algn="l">
              <a:lnSpc>
                <a:spcPct val="105000"/>
              </a:lnSpc>
            </a:pPr>
            <a:r>
              <a:rPr sz="1050" b="0" i="0">
                <a:solidFill>
                  <a:srgbClr val="FFFFFF"/>
                </a:solidFill>
                <a:latin typeface="Calibri"/>
              </a:rPr>
              <a:t>52 deals executed and managed</a:t>
            </a:r>
          </a:p>
        </p:txBody>
      </p:sp>
      <p:sp>
        <p:nvSpPr>
          <p:cNvPr id="26" name="Rectangle 25"/>
          <p:cNvSpPr/>
          <p:nvPr/>
        </p:nvSpPr>
        <p:spPr>
          <a:xfrm>
            <a:off x="7635240" y="3127248"/>
            <a:ext cx="64008"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3063240"/>
            <a:ext cx="3867912" cy="365760"/>
          </a:xfrm>
          <a:prstGeom prst="rect">
            <a:avLst/>
          </a:prstGeom>
          <a:noFill/>
        </p:spPr>
        <p:txBody>
          <a:bodyPr wrap="square" lIns="0" rIns="0" tIns="0" bIns="0">
            <a:noAutofit/>
          </a:bodyPr>
          <a:lstStyle/>
          <a:p>
            <a:pPr algn="l">
              <a:lnSpc>
                <a:spcPct val="105000"/>
              </a:lnSpc>
            </a:pPr>
            <a:r>
              <a:rPr sz="1050" b="0" i="0">
                <a:solidFill>
                  <a:srgbClr val="FFFFFF"/>
                </a:solidFill>
                <a:latin typeface="Calibri"/>
              </a:rPr>
              <a:t>Largest single deal USD 1.3 billion, Cahora Bassa</a:t>
            </a:r>
          </a:p>
        </p:txBody>
      </p:sp>
      <p:sp>
        <p:nvSpPr>
          <p:cNvPr id="28" name="Rectangle 27"/>
          <p:cNvSpPr/>
          <p:nvPr/>
        </p:nvSpPr>
        <p:spPr>
          <a:xfrm>
            <a:off x="7635240" y="3584448"/>
            <a:ext cx="64008" cy="64008"/>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18120" y="3520440"/>
            <a:ext cx="3867912" cy="365760"/>
          </a:xfrm>
          <a:prstGeom prst="rect">
            <a:avLst/>
          </a:prstGeom>
          <a:noFill/>
        </p:spPr>
        <p:txBody>
          <a:bodyPr wrap="square" lIns="0" rIns="0" tIns="0" bIns="0">
            <a:noAutofit/>
          </a:bodyPr>
          <a:lstStyle/>
          <a:p>
            <a:pPr algn="l">
              <a:lnSpc>
                <a:spcPct val="105000"/>
              </a:lnSpc>
            </a:pPr>
            <a:r>
              <a:rPr sz="1050" b="0" i="0">
                <a:solidFill>
                  <a:srgbClr val="FFFFFF"/>
                </a:solidFill>
                <a:latin typeface="Calibri"/>
              </a:rPr>
              <a:t>Total GRBT project value over AUD 10 billion</a:t>
            </a:r>
          </a:p>
        </p:txBody>
      </p:sp>
      <p:sp>
        <p:nvSpPr>
          <p:cNvPr id="30" name="Rectangle 29"/>
          <p:cNvSpPr/>
          <p:nvPr/>
        </p:nvSpPr>
        <p:spPr>
          <a:xfrm>
            <a:off x="7635240" y="4160520"/>
            <a:ext cx="4050792"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35240" y="4343400"/>
            <a:ext cx="4050792" cy="320040"/>
          </a:xfrm>
          <a:prstGeom prst="rect">
            <a:avLst/>
          </a:prstGeom>
          <a:noFill/>
        </p:spPr>
        <p:txBody>
          <a:bodyPr wrap="square" lIns="0" rIns="0" tIns="0" bIns="0">
            <a:noAutofit/>
          </a:bodyPr>
          <a:lstStyle/>
          <a:p>
            <a:pPr algn="l"/>
            <a:r>
              <a:rPr sz="1100" b="0" i="0">
                <a:solidFill>
                  <a:srgbClr val="E6E5DE"/>
                </a:solidFill>
                <a:latin typeface="Calibri"/>
              </a:rPr>
              <a:t>Profit-Pulse.com.au</a:t>
            </a:r>
          </a:p>
        </p:txBody>
      </p:sp>
      <p:sp>
        <p:nvSpPr>
          <p:cNvPr id="32" name="TextBox 31"/>
          <p:cNvSpPr txBox="1"/>
          <p:nvPr/>
        </p:nvSpPr>
        <p:spPr>
          <a:xfrm>
            <a:off x="7635240" y="4709160"/>
            <a:ext cx="4050792" cy="320040"/>
          </a:xfrm>
          <a:prstGeom prst="rect">
            <a:avLst/>
          </a:prstGeom>
          <a:noFill/>
        </p:spPr>
        <p:txBody>
          <a:bodyPr wrap="square" lIns="0" rIns="0" tIns="0" bIns="0">
            <a:noAutofit/>
          </a:bodyPr>
          <a:lstStyle/>
          <a:p>
            <a:pPr algn="l"/>
            <a:r>
              <a:rPr sz="1100" b="0" i="0">
                <a:solidFill>
                  <a:srgbClr val="E6E5DE"/>
                </a:solidFill>
                <a:latin typeface="Calibri"/>
              </a:rPr>
              <a:t>Nitesh@Profit-Pulse.com.au</a:t>
            </a:r>
          </a:p>
        </p:txBody>
      </p:sp>
      <p:sp>
        <p:nvSpPr>
          <p:cNvPr id="33" name="TextBox 32"/>
          <p:cNvSpPr txBox="1"/>
          <p:nvPr/>
        </p:nvSpPr>
        <p:spPr>
          <a:xfrm>
            <a:off x="7635240" y="5074920"/>
            <a:ext cx="4050792" cy="320040"/>
          </a:xfrm>
          <a:prstGeom prst="rect">
            <a:avLst/>
          </a:prstGeom>
          <a:noFill/>
        </p:spPr>
        <p:txBody>
          <a:bodyPr wrap="square" lIns="0" rIns="0" tIns="0" bIns="0">
            <a:noAutofit/>
          </a:bodyPr>
          <a:lstStyle/>
          <a:p>
            <a:pPr algn="l"/>
            <a:r>
              <a:rPr sz="1100" b="0" i="0">
                <a:solidFill>
                  <a:srgbClr val="E6E5DE"/>
                </a:solidFill>
                <a:latin typeface="Calibri"/>
              </a:rPr>
              <a:t>+61 411 876 267</a:t>
            </a:r>
          </a:p>
        </p:txBody>
      </p:sp>
      <p:sp>
        <p:nvSpPr>
          <p:cNvPr id="34" name="TextBox 33"/>
          <p:cNvSpPr txBox="1"/>
          <p:nvPr/>
        </p:nvSpPr>
        <p:spPr>
          <a:xfrm>
            <a:off x="7635240" y="5440680"/>
            <a:ext cx="4050792" cy="320040"/>
          </a:xfrm>
          <a:prstGeom prst="rect">
            <a:avLst/>
          </a:prstGeom>
          <a:noFill/>
        </p:spPr>
        <p:txBody>
          <a:bodyPr wrap="square" lIns="0" rIns="0" tIns="0" bIns="0">
            <a:noAutofit/>
          </a:bodyPr>
          <a:lstStyle/>
          <a:p>
            <a:pPr algn="l"/>
            <a:r>
              <a:rPr sz="110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